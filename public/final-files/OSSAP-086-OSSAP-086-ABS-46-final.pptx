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EBBE6BE3-5016-4E99-9BB0-85EF9BB2EC10}">
  <a:tblStyle styleId="{EBBE6BE3-5016-4E99-9BB0-85EF9BB2EC1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rgbClr val="5B9BD5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rgbClr val="5B9BD5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5B9BD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5B9BD5"/>
          </a:solidFill>
        </a:fill>
      </a:tcStyle>
    </a:firstRow>
    <a:neCell>
      <a:tcTxStyle/>
    </a:neCell>
    <a:nwCell>
      <a:tcTxStyle/>
    </a:nwCell>
  </a:tblStyle>
  <a:tblStyle styleId="{5C22544A-7EE6-4342-B048-85BDC9FD1C3B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rgbClr val="FFFFFF"/>
              </a:solidFill>
            </a:ln>
          </a:left>
          <a:right>
            <a:ln cmpd="sng" w="12700">
              <a:solidFill>
                <a:srgbClr val="FFFFFF"/>
              </a:solidFill>
            </a:ln>
          </a:right>
          <a:top>
            <a:ln cmpd="sng" w="12700">
              <a:solidFill>
                <a:srgbClr val="FFFFFF"/>
              </a:solidFill>
            </a:ln>
          </a:top>
          <a:bottom>
            <a:ln cmpd="sng" w="12700">
              <a:solidFill>
                <a:srgbClr val="FFFFFF"/>
              </a:solidFill>
            </a:ln>
          </a:bottom>
          <a:insideH>
            <a:ln cmpd="sng" w="12700">
              <a:solidFill>
                <a:srgbClr val="FFFFFF"/>
              </a:solidFill>
            </a:ln>
          </a:insideH>
          <a:insideV>
            <a:ln cmpd="sng" w="12700">
              <a:solidFill>
                <a:srgbClr val="FFFFFF"/>
              </a:solidFill>
            </a:ln>
          </a:insideV>
        </a:tcBdr>
        <a:fill>
          <a:solidFill>
            <a:srgbClr val="5B9BD5">
              <a:tint val="20000"/>
            </a:srgbClr>
          </a:solidFill>
        </a:fill>
      </a:tcStyle>
    </a:wholeTbl>
    <a:band1H>
      <a:tcStyle>
        <a:tcBdr/>
        <a:fill>
          <a:solidFill>
            <a:srgbClr val="5B9BD5">
              <a:tint val="40000"/>
            </a:srgbClr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5B9BD5">
              <a:tint val="40000"/>
            </a:srgb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rgbClr val="5B9BD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rgbClr val="5B9BD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rgbClr val="FFFFFF"/>
              </a:solidFill>
            </a:ln>
          </a:top>
        </a:tcBdr>
        <a:fill>
          <a:solidFill>
            <a:srgbClr val="5B9BD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rgbClr val="FFFFFF"/>
              </a:solidFill>
            </a:ln>
          </a:bottom>
        </a:tcBdr>
        <a:fill>
          <a:solidFill>
            <a:srgbClr val="5B9BD5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5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9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58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84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8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9.xml" Id="rId9" /><Relationship Type="http://schemas.openxmlformats.org/officeDocument/2006/relationships/image" Target="/ppt/media/image1.png" Id="rId12" /><Relationship Type="http://schemas.openxmlformats.org/officeDocument/2006/relationships/image" Target="/ppt/media/image2.png" Id="rId13" /><Relationship Type="http://schemas.openxmlformats.org/officeDocument/2006/relationships/image" Target="/ppt/media/image3.png" Id="rId14" /><Relationship Type="http://schemas.openxmlformats.org/officeDocument/2006/relationships/image" Target="/ppt/media/image4.png" Id="rId15" /><Relationship Type="http://schemas.openxmlformats.org/officeDocument/2006/relationships/theme" Target="/ppt/theme/theme1.xml" Id="rId1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"/>
          <p:cNvSpPr/>
          <p:nvPr userDrawn="1"/>
        </p:nvSpPr>
        <p:spPr>
          <a:xfrm>
            <a:off x="0" y="0"/>
            <a:ext cx="12191998" cy="1280156"/>
          </a:xfrm>
          <a:prstGeom prst="rect"/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9006884" y="74822"/>
            <a:ext cx="1043154" cy="1043154"/>
          </a:xfrm>
          <a:prstGeom prst="rect"/>
        </p:spPr>
      </p:pic>
      <p:pic>
        <p:nvPicPr>
          <p:cNvPr id="2097153" name="Picture 15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10947316" y="123390"/>
            <a:ext cx="884047" cy="884047"/>
          </a:xfrm>
          <a:prstGeom prst="rect"/>
        </p:spPr>
      </p:pic>
      <p:pic>
        <p:nvPicPr>
          <p:cNvPr id="2097154" name="Picture 16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10127893" y="192303"/>
            <a:ext cx="785940" cy="785940"/>
          </a:xfrm>
          <a:prstGeom prst="rect"/>
        </p:spPr>
      </p:pic>
      <p:sp>
        <p:nvSpPr>
          <p:cNvPr id="1048577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/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048578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/>
          <a:noFill/>
        </p:spPr>
        <p:txBody>
          <a:bodyPr wrap="square" rtlCol="0">
            <a:spAutoFit/>
          </a:bodyPr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1048579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/>
          <a:noFill/>
        </p:spPr>
        <p:txBody>
          <a:bodyPr wrap="square" rtlCol="0">
            <a:spAutoFit/>
          </a:bodyPr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1048580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ah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5"/>
            <a:stretch>
              <a:fillRect t="-9937" r="-4895" b="-10857"/>
            </a:stretch>
          </a:blipFill>
        </p:spPr>
        <p:txBody>
          <a:bodyPr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7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10" Type="http://schemas.openxmlformats.org/officeDocument/2006/relationships/image" Target="../media/image13.jpeg"/><Relationship Id="rId9" Type="http://schemas.openxmlformats.org/officeDocument/2006/relationships/image" Target="../media/image12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4.png" Id="rId1" /><Relationship Type="http://schemas.openxmlformats.org/officeDocument/2006/relationships/image" Target="/ppt/media/image15.png" Id="rId2" /><Relationship Type="http://schemas.openxmlformats.org/officeDocument/2006/relationships/image" Target="/ppt/media/image16.png" Id="rId3" /><Relationship Type="http://schemas.openxmlformats.org/officeDocument/2006/relationships/image" Target="/ppt/media/image17.png" Id="rId4" /><Relationship Type="http://schemas.openxmlformats.org/officeDocument/2006/relationships/image" Target="/ppt/media/image18.png" Id="rId5" /><Relationship Type="http://schemas.openxmlformats.org/officeDocument/2006/relationships/image" Target="/ppt/media/image19.png" Id="rId6" /><Relationship Type="http://schemas.openxmlformats.org/officeDocument/2006/relationships/image" Target="/ppt/media/image20.jpeg" Id="rId7" /><Relationship Type="http://schemas.openxmlformats.org/officeDocument/2006/relationships/image" Target="/ppt/media/image21.jpeg" Id="rId8" /><Relationship Type="http://schemas.openxmlformats.org/officeDocument/2006/relationships/image" Target="/ppt/media/image22.jpeg" Id="rId9" /><Relationship Type="http://schemas.openxmlformats.org/officeDocument/2006/relationships/image" Target="/ppt/media/image23.jpeg" Id="rId10" /><Relationship Type="http://schemas.openxmlformats.org/officeDocument/2006/relationships/image" Target="/ppt/media/image24.png" Id="rId11" /><Relationship Type="http://schemas.openxmlformats.org/officeDocument/2006/relationships/image" Target="/ppt/media/image25.png" Id="rId12" /><Relationship Type="http://schemas.openxmlformats.org/officeDocument/2006/relationships/image" Target="/ppt/media/image26.jpeg" Id="rId13" /><Relationship Type="http://schemas.openxmlformats.org/officeDocument/2006/relationships/image" Target="/ppt/media/image27.jpeg" Id="rId14" /><Relationship Type="http://schemas.openxmlformats.org/officeDocument/2006/relationships/image" Target="/ppt/media/image28.jpeg" Id="rId15" /><Relationship Type="http://schemas.openxmlformats.org/officeDocument/2006/relationships/image" Target="/ppt/media/image29.jpeg" Id="rId16" /><Relationship Type="http://schemas.openxmlformats.org/officeDocument/2006/relationships/slideLayout" Target="/ppt/slideLayouts/slideLayout7.xml" Id="rId17" 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06" name="Shape 419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07" name="Google Shape;4194307;p1"/>
          <p:cNvSpPr txBox="1"/>
          <p:nvPr/>
        </p:nvSpPr>
        <p:spPr>
          <a:xfrm>
            <a:off x="946373" y="1730881"/>
            <a:ext cx="98460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FUNCTIONAL OUTCOME OF DISPLACED MIDDLE THIRD CLAVICLE FRACTURES TREATED BY PLATE OSTEOSYNTHESIS </a:t>
            </a:r>
            <a:endParaRPr b="1" sz="28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08" name="Google Shape;4194308;p1"/>
          <p:cNvSpPr txBox="1"/>
          <p:nvPr/>
        </p:nvSpPr>
        <p:spPr>
          <a:xfrm>
            <a:off x="522573" y="3313175"/>
            <a:ext cx="26868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PRESENTER :</a:t>
            </a:r>
            <a:endParaRPr b="1" sz="2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09" name="Google Shape;4194309;p1"/>
          <p:cNvSpPr txBox="1"/>
          <p:nvPr/>
        </p:nvSpPr>
        <p:spPr>
          <a:xfrm>
            <a:off x="6240202" y="3362325"/>
            <a:ext cx="65673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GUIDE:</a:t>
            </a:r>
            <a:endParaRPr b="1" sz="2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10" name="Google Shape;4194310;p1"/>
          <p:cNvSpPr txBox="1"/>
          <p:nvPr/>
        </p:nvSpPr>
        <p:spPr>
          <a:xfrm>
            <a:off x="752440" y="3950627"/>
            <a:ext cx="57651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DR.  Y KARTHIK</a:t>
            </a:r>
            <a:endParaRPr sz="28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POST GRADUATE ,</a:t>
            </a:r>
            <a:endParaRPr sz="28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DEPARTMENT OF  ORTHOPAEDICS,</a:t>
            </a:r>
            <a:endParaRPr sz="28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DR. PSIMS &amp; RF.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4194311" name="Google Shape;4194311;p1"/>
          <p:cNvSpPr txBox="1"/>
          <p:nvPr/>
        </p:nvSpPr>
        <p:spPr>
          <a:xfrm>
            <a:off x="6685726" y="3836669"/>
            <a:ext cx="5159700" cy="23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 A SANDEEP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ASSOCIATE PROFESSOR, DEPARTMENT OF ORTHOPAEDICS,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DR.PSIMS &amp; RF.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12" name="Shape 4194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13" name="Google Shape;4194313;p2"/>
          <p:cNvSpPr txBox="1"/>
          <p:nvPr>
            <p:ph idx="2" type="body"/>
          </p:nvPr>
        </p:nvSpPr>
        <p:spPr>
          <a:xfrm>
            <a:off x="348595" y="1750178"/>
            <a:ext cx="11667300" cy="6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clavicle connects the thorax to the shoulder girdle and is essential for shoulder movement. </a:t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Clavicle fractures are common, accounting for 5–12% of all fractures, most frequently affecting the mid-shaft due to its narrow structure and biomechanical stresses.</a:t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Non-operative management of mid-shaft fractures may lead to delayed healing, neurological symptoms, cosmetic deformity, and reduced shoulder function. </a:t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Early surgical fixation, particularly in displaced mid-shaft fractures and active individuals, helps prevent complications, provides rapid pain relief, restores shoulder mechanics, and allows early functional recovery.</a:t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Surgical options include plating and intramedullary fixation methods. Among these, open reduction and internal fixation with plating offers rigid stabilization, early mobilization leading to improved overall shoulder function.</a:t>
            </a:r>
            <a:endParaRPr sz="2400"/>
          </a:p>
        </p:txBody>
      </p:sp>
      <p:sp>
        <p:nvSpPr>
          <p:cNvPr id="4194314" name="Google Shape;4194314;p2"/>
          <p:cNvSpPr txBox="1"/>
          <p:nvPr/>
        </p:nvSpPr>
        <p:spPr>
          <a:xfrm>
            <a:off x="348596" y="1298058"/>
            <a:ext cx="3999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Introduction:-</a:t>
            </a:r>
            <a:endParaRPr b="1" sz="28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15" name="Shape 4194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16" name="Google Shape;4194316;p3"/>
          <p:cNvSpPr txBox="1"/>
          <p:nvPr/>
        </p:nvSpPr>
        <p:spPr>
          <a:xfrm>
            <a:off x="657671" y="1374594"/>
            <a:ext cx="4572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accent2"/>
                </a:solidFill>
              </a:rPr>
              <a:t>AIM OF STUDY</a:t>
            </a:r>
            <a:r>
              <a:rPr b="1" lang="en-US" sz="2800" u="sng">
                <a:solidFill>
                  <a:srgbClr val="000000"/>
                </a:solidFill>
              </a:rPr>
              <a:t> </a:t>
            </a:r>
            <a:endParaRPr b="1" sz="2800" u="sng">
              <a:solidFill>
                <a:srgbClr val="000000"/>
              </a:solidFill>
            </a:endParaRPr>
          </a:p>
        </p:txBody>
      </p:sp>
      <p:sp>
        <p:nvSpPr>
          <p:cNvPr id="4194317" name="Google Shape;4194317;p3"/>
          <p:cNvSpPr txBox="1"/>
          <p:nvPr/>
        </p:nvSpPr>
        <p:spPr>
          <a:xfrm>
            <a:off x="667759" y="2270759"/>
            <a:ext cx="99267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i="0" lang="en-US" sz="2400">
                <a:solidFill>
                  <a:srgbClr val="000000"/>
                </a:solidFill>
              </a:rPr>
              <a:t>To evaluate the functional outcomes of open reduction and internal fixation (ORIF) using plate osteosynthesis in displaced middle-third clavicle fractures.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18" name="Shape 4194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19" name="Google Shape;4194319;p4"/>
          <p:cNvSpPr/>
          <p:nvPr/>
        </p:nvSpPr>
        <p:spPr>
          <a:xfrm>
            <a:off x="492365" y="2006473"/>
            <a:ext cx="9049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Prospective study (Nov 2022 – Nov 2024)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30 adult patients with displaced mid-third clavicle fractures</a:t>
            </a:r>
            <a:endParaRPr sz="2100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Treated with locking compression plate</a:t>
            </a:r>
            <a:endParaRPr sz="2100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Functional outcome assessed using Constant–Murley score</a:t>
            </a:r>
            <a:endParaRPr/>
          </a:p>
          <a:p>
            <a:pPr indent="-20955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72"/>
              </a:spcBef>
              <a:spcAft>
                <a:spcPts val="0"/>
              </a:spcAft>
              <a:buClr>
                <a:srgbClr val="000000"/>
              </a:buClr>
              <a:buSzPts val="2362"/>
              <a:buFont typeface="Arial"/>
              <a:buNone/>
            </a:pPr>
            <a:r>
              <a:rPr b="1" lang="en-US" sz="2362">
                <a:solidFill>
                  <a:srgbClr val="000000"/>
                </a:solidFill>
              </a:rPr>
              <a:t>Inclusion Criteria:</a:t>
            </a:r>
            <a:endParaRPr b="1" sz="2100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Age 18–60 years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Displacement &gt;2 cm / Shortening &gt;2 cm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Comminuted or segmental fractures</a:t>
            </a:r>
            <a:endParaRPr/>
          </a:p>
          <a:p>
            <a:pPr indent="-20955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72"/>
              </a:spcBef>
              <a:spcAft>
                <a:spcPts val="0"/>
              </a:spcAft>
              <a:buClr>
                <a:srgbClr val="000000"/>
              </a:buClr>
              <a:buSzPts val="2362"/>
              <a:buFont typeface="Arial"/>
              <a:buNone/>
            </a:pPr>
            <a:r>
              <a:rPr b="1" lang="en-US" sz="2362">
                <a:solidFill>
                  <a:srgbClr val="000000"/>
                </a:solidFill>
              </a:rPr>
              <a:t>Exclusion Criteria:</a:t>
            </a:r>
            <a:endParaRPr b="1" sz="2362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Age &lt;18 or &gt;60 years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Undisplaced fractures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-US" sz="2100">
                <a:solidFill>
                  <a:srgbClr val="000000"/>
                </a:solidFill>
              </a:rPr>
              <a:t>Medically unfit for surgery</a:t>
            </a:r>
            <a:endParaRPr/>
          </a:p>
        </p:txBody>
      </p:sp>
      <p:sp>
        <p:nvSpPr>
          <p:cNvPr id="4194320" name="Google Shape;4194320;p4"/>
          <p:cNvSpPr/>
          <p:nvPr/>
        </p:nvSpPr>
        <p:spPr>
          <a:xfrm>
            <a:off x="1590675" y="1036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</a:pPr>
            <a:r>
              <a:rPr b="1" lang="en-US" sz="4400" u="sng">
                <a:solidFill>
                  <a:schemeClr val="accent2"/>
                </a:solidFill>
              </a:rPr>
              <a:t>Methodology</a:t>
            </a:r>
            <a:endParaRPr b="1" sz="4400" u="sng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21" name="Shape 419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22" name="Google Shape;4194322;p5"/>
          <p:cNvSpPr/>
          <p:nvPr/>
        </p:nvSpPr>
        <p:spPr>
          <a:xfrm>
            <a:off x="2562242" y="1842489"/>
            <a:ext cx="2557500" cy="497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23" name="Google Shape;4194323;p5"/>
          <p:cNvSpPr/>
          <p:nvPr/>
        </p:nvSpPr>
        <p:spPr>
          <a:xfrm>
            <a:off x="-5935" y="1839848"/>
            <a:ext cx="2557500" cy="4971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24" name="Google Shape;4194324;p5"/>
          <p:cNvSpPr txBox="1"/>
          <p:nvPr/>
        </p:nvSpPr>
        <p:spPr>
          <a:xfrm>
            <a:off x="130544" y="1233209"/>
            <a:ext cx="3999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sz="28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4325" name="Google Shape;4194325;p5"/>
          <p:cNvPicPr preferRelativeResize="0"/>
          <p:nvPr/>
        </p:nvPicPr>
        <p:blipFill rotWithShape="1">
          <a:blip r:embed="rId2">
            <a:alphaModFix/>
          </a:blip>
          <a:srcRect b="13963" l="35201" r="32047" t="23532"/>
          <a:stretch/>
        </p:blipFill>
        <p:spPr>
          <a:xfrm>
            <a:off x="3038741" y="1908218"/>
            <a:ext cx="1598450" cy="152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26" name="Google Shape;4194326;p5"/>
          <p:cNvPicPr preferRelativeResize="0"/>
          <p:nvPr/>
        </p:nvPicPr>
        <p:blipFill rotWithShape="1">
          <a:blip r:embed="rId3">
            <a:alphaModFix/>
          </a:blip>
          <a:srcRect b="24235" l="32037" r="40144" t="21534"/>
          <a:stretch/>
        </p:blipFill>
        <p:spPr>
          <a:xfrm>
            <a:off x="387004" y="5195619"/>
            <a:ext cx="1771726" cy="158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27" name="Google Shape;4194327;p5"/>
          <p:cNvPicPr preferRelativeResize="0"/>
          <p:nvPr/>
        </p:nvPicPr>
        <p:blipFill rotWithShape="1">
          <a:blip r:embed="rId4">
            <a:alphaModFix/>
          </a:blip>
          <a:srcRect b="15555" l="23726" r="32164" t="27778"/>
          <a:stretch/>
        </p:blipFill>
        <p:spPr>
          <a:xfrm>
            <a:off x="130540" y="3517592"/>
            <a:ext cx="2083414" cy="16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28" name="Google Shape;4194328;p5"/>
          <p:cNvPicPr preferRelativeResize="0"/>
          <p:nvPr/>
        </p:nvPicPr>
        <p:blipFill rotWithShape="1">
          <a:blip r:embed="rId5">
            <a:alphaModFix/>
          </a:blip>
          <a:srcRect b="22982" l="18207" r="22982" t="18207"/>
          <a:stretch/>
        </p:blipFill>
        <p:spPr>
          <a:xfrm>
            <a:off x="28657" y="1849322"/>
            <a:ext cx="2516443" cy="169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29" name="Google Shape;4194329;p5"/>
          <p:cNvPicPr preferRelativeResize="0"/>
          <p:nvPr/>
        </p:nvPicPr>
        <p:blipFill rotWithShape="1">
          <a:blip r:embed="rId6">
            <a:alphaModFix/>
          </a:blip>
          <a:srcRect b="14181" l="11485" r="20431" t="13501"/>
          <a:stretch/>
        </p:blipFill>
        <p:spPr>
          <a:xfrm>
            <a:off x="2595580" y="3608503"/>
            <a:ext cx="2411777" cy="160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30" name="Google Shape;4194330;p5"/>
          <p:cNvPicPr preferRelativeResize="0"/>
          <p:nvPr/>
        </p:nvPicPr>
        <p:blipFill rotWithShape="1">
          <a:blip r:embed="rId7">
            <a:alphaModFix/>
          </a:blip>
          <a:srcRect b="22268" l="20339" r="22268" t="20339"/>
          <a:stretch/>
        </p:blipFill>
        <p:spPr>
          <a:xfrm>
            <a:off x="2595580" y="5230713"/>
            <a:ext cx="2494094" cy="155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31" name="Google Shape;4194331;p5"/>
          <p:cNvPicPr preferRelativeResize="0"/>
          <p:nvPr/>
        </p:nvPicPr>
        <p:blipFill rotWithShape="1">
          <a:blip r:embed="rId8">
            <a:alphaModFix/>
          </a:blip>
          <a:srcRect b="20016" l="12246" r="20016" t="12246"/>
          <a:stretch/>
        </p:blipFill>
        <p:spPr>
          <a:xfrm>
            <a:off x="5169584" y="1766288"/>
            <a:ext cx="3655685" cy="2283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32" name="Google Shape;4194332;p5"/>
          <p:cNvPicPr preferRelativeResize="0"/>
          <p:nvPr/>
        </p:nvPicPr>
        <p:blipFill rotWithShape="1">
          <a:blip r:embed="rId9">
            <a:alphaModFix/>
          </a:blip>
          <a:srcRect b="15811" l="8854" r="10940" t="15322"/>
          <a:stretch/>
        </p:blipFill>
        <p:spPr>
          <a:xfrm>
            <a:off x="8835098" y="1842489"/>
            <a:ext cx="3298903" cy="226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4333" name="Google Shape;4194333;p5"/>
          <p:cNvPicPr preferRelativeResize="0"/>
          <p:nvPr/>
        </p:nvPicPr>
        <p:blipFill rotWithShape="1">
          <a:blip r:embed="rId10">
            <a:alphaModFix/>
          </a:blip>
          <a:srcRect b="17236" l="10758" r="17231" t="21334"/>
          <a:stretch/>
        </p:blipFill>
        <p:spPr>
          <a:xfrm>
            <a:off x="9550450" y="3913297"/>
            <a:ext cx="2630210" cy="18098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94334" name="Google Shape;4194334;p5"/>
          <p:cNvGraphicFramePr/>
          <p:nvPr/>
        </p:nvGraphicFramePr>
        <p:xfrm>
          <a:off x="5160058" y="4015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{EBBE6BE3-5016-4E99-9BB0-85EF9BB2EC10}</a:tableStyleId>
              </a:tblPr>
              <a:tblGrid>
                <a:gridCol w="1463475"/>
                <a:gridCol w="1463475"/>
                <a:gridCol w="1463475"/>
              </a:tblGrid>
              <a:tr h="115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 u="none" cap="none" strike="noStrike"/>
                        <a:t>Number of patients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/>
                        <a:t>Constant and Murley score 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/>
                        <a:t>Result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5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/>
                        <a:t>30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/>
                        <a:t>90-100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US" sz="1800"/>
                        <a:t>Excellent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94335" name="Google Shape;4194335;p5"/>
          <p:cNvSpPr txBox="1"/>
          <p:nvPr/>
        </p:nvSpPr>
        <p:spPr>
          <a:xfrm>
            <a:off x="5245784" y="6038386"/>
            <a:ext cx="66612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In our research , all 30 patients treated with open reduction and internal fixation produced excellent functional outcome.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6333" t="9499" r="6747" b="15894"/>
          <a:stretch>
            <a:fillRect/>
          </a:stretch>
        </p:blipFill>
        <p:spPr>
          <a:xfrm>
            <a:off x="2144433" y="1903703"/>
            <a:ext cx="7230356" cy="4402047"/>
          </a:xfrm>
          <a:prstGeom prst="rect"/>
        </p:spPr>
      </p:pic>
      <p:pic>
        <p:nvPicPr>
          <p:cNvPr id="2097165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71022" t="19555" r="6747" b="15894"/>
          <a:stretch>
            <a:fillRect/>
          </a:stretch>
        </p:blipFill>
        <p:spPr>
          <a:xfrm rot="5400000">
            <a:off x="8335437" y="1702831"/>
            <a:ext cx="1739591" cy="3364276"/>
          </a:xfrm>
          <a:prstGeom prst="rect"/>
        </p:spPr>
      </p:pic>
      <p:pic>
        <p:nvPicPr>
          <p:cNvPr id="2097166" name=""/>
          <p:cNvPicPr>
            <a:picLocks/>
          </p:cNvPicPr>
          <p:nvPr/>
        </p:nvPicPr>
        <p:blipFill>
          <a:blip xmlns:r="http://schemas.openxmlformats.org/officeDocument/2006/relationships" r:embed="rId3"/>
          <a:srcRect l="71022" t="19555" r="6747" b="15894"/>
          <a:stretch>
            <a:fillRect/>
          </a:stretch>
        </p:blipFill>
        <p:spPr>
          <a:xfrm rot="5400000">
            <a:off x="8364571" y="3355968"/>
            <a:ext cx="1666648" cy="3364276"/>
          </a:xfrm>
          <a:prstGeom prst="rect"/>
        </p:spPr>
      </p:pic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4"/>
          <a:srcRect l="71017" t="9752" r="7057" b="80284"/>
          <a:stretch>
            <a:fillRect/>
          </a:stretch>
        </p:blipFill>
        <p:spPr>
          <a:xfrm rot="0">
            <a:off x="7555263" y="1917541"/>
            <a:ext cx="3338511" cy="611214"/>
          </a:xfrm>
          <a:prstGeom prst="rect"/>
        </p:spPr>
      </p:pic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5"/>
          <a:srcRect l="71017" t="9752" r="7057" b="80284"/>
          <a:stretch>
            <a:fillRect/>
          </a:stretch>
        </p:blipFill>
        <p:spPr>
          <a:xfrm rot="0">
            <a:off x="3944370" y="1917540"/>
            <a:ext cx="1808024" cy="611214"/>
          </a:xfrm>
          <a:prstGeom prst="rect"/>
        </p:spPr>
      </p:pic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6"/>
          <a:srcRect l="71017" t="9752" r="7057" b="80284"/>
          <a:stretch>
            <a:fillRect/>
          </a:stretch>
        </p:blipFill>
        <p:spPr>
          <a:xfrm rot="0">
            <a:off x="5730407" y="1917540"/>
            <a:ext cx="1863833" cy="611214"/>
          </a:xfrm>
          <a:prstGeom prst="rect"/>
        </p:spPr>
      </p:pic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7"/>
          <a:srcRect l="14266" t="36915" r="58822" b="28186"/>
          <a:stretch>
            <a:fillRect/>
          </a:stretch>
        </p:blipFill>
        <p:spPr>
          <a:xfrm rot="0">
            <a:off x="2351081" y="2787206"/>
            <a:ext cx="1442489" cy="1176905"/>
          </a:xfrm>
          <a:prstGeom prst="rect"/>
        </p:spPr>
      </p:pic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8"/>
          <a:srcRect l="57875" t="37207" r="15033" b="31446"/>
          <a:stretch>
            <a:fillRect/>
          </a:stretch>
        </p:blipFill>
        <p:spPr>
          <a:xfrm rot="0">
            <a:off x="4133067" y="2800555"/>
            <a:ext cx="1458542" cy="1180690"/>
          </a:xfrm>
          <a:prstGeom prst="rect"/>
        </p:spPr>
      </p:pic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9"/>
          <a:srcRect l="13590" t="35106" r="59874" b="32697"/>
          <a:stretch>
            <a:fillRect/>
          </a:stretch>
        </p:blipFill>
        <p:spPr>
          <a:xfrm rot="0">
            <a:off x="5918299" y="2792663"/>
            <a:ext cx="1470811" cy="1202956"/>
          </a:xfrm>
          <a:prstGeom prst="rect"/>
        </p:spPr>
      </p:pic>
      <p:pic>
        <p:nvPicPr>
          <p:cNvPr id="2097173" name=""/>
          <p:cNvPicPr>
            <a:picLocks/>
          </p:cNvPicPr>
          <p:nvPr/>
        </p:nvPicPr>
        <p:blipFill>
          <a:blip xmlns:r="http://schemas.openxmlformats.org/officeDocument/2006/relationships" r:embed="rId10"/>
          <a:srcRect l="12247" t="30411" r="25383" b="25034"/>
          <a:stretch>
            <a:fillRect/>
          </a:stretch>
        </p:blipFill>
        <p:spPr>
          <a:xfrm rot="0">
            <a:off x="7709053" y="2689098"/>
            <a:ext cx="2959695" cy="1376360"/>
          </a:xfrm>
          <a:prstGeom prst="rect"/>
        </p:spPr>
      </p:pic>
      <p:pic>
        <p:nvPicPr>
          <p:cNvPr id="2097174" name=""/>
          <p:cNvPicPr>
            <a:picLocks/>
          </p:cNvPicPr>
          <p:nvPr/>
        </p:nvPicPr>
        <p:blipFill>
          <a:blip xmlns:r="http://schemas.openxmlformats.org/officeDocument/2006/relationships" r:embed="rId11"/>
          <a:srcRect l="0" t="80273" r="28669" b="0"/>
          <a:stretch>
            <a:fillRect/>
          </a:stretch>
        </p:blipFill>
        <p:spPr>
          <a:xfrm rot="0">
            <a:off x="1614507" y="5698408"/>
            <a:ext cx="5939005" cy="996263"/>
          </a:xfrm>
          <a:prstGeom prst="rect"/>
        </p:spPr>
      </p:pic>
      <p:pic>
        <p:nvPicPr>
          <p:cNvPr id="2097175" name=""/>
          <p:cNvPicPr>
            <a:picLocks/>
          </p:cNvPicPr>
          <p:nvPr/>
        </p:nvPicPr>
        <p:blipFill>
          <a:blip xmlns:r="http://schemas.openxmlformats.org/officeDocument/2006/relationships" r:embed="rId12"/>
          <a:srcRect l="25051" t="83900" r="28669" b="0"/>
          <a:stretch>
            <a:fillRect/>
          </a:stretch>
        </p:blipFill>
        <p:spPr>
          <a:xfrm rot="0">
            <a:off x="7448152" y="5870640"/>
            <a:ext cx="3853274" cy="813070"/>
          </a:xfrm>
          <a:prstGeom prst="rect"/>
        </p:spPr>
      </p:pic>
      <p:pic>
        <p:nvPicPr>
          <p:cNvPr id="2097176" name=""/>
          <p:cNvPicPr>
            <a:picLocks/>
          </p:cNvPicPr>
          <p:nvPr/>
        </p:nvPicPr>
        <p:blipFill>
          <a:blip xmlns:r="http://schemas.openxmlformats.org/officeDocument/2006/relationships" r:embed="rId13"/>
          <a:srcRect l="14292" t="49814" r="59907" b="20869"/>
          <a:stretch>
            <a:fillRect/>
          </a:stretch>
        </p:blipFill>
        <p:spPr>
          <a:xfrm rot="0">
            <a:off x="2337089" y="4459009"/>
            <a:ext cx="1459385" cy="1158194"/>
          </a:xfrm>
          <a:prstGeom prst="rect"/>
        </p:spPr>
      </p:pic>
      <p:pic>
        <p:nvPicPr>
          <p:cNvPr id="2097177" name=""/>
          <p:cNvPicPr>
            <a:picLocks/>
          </p:cNvPicPr>
          <p:nvPr/>
        </p:nvPicPr>
        <p:blipFill>
          <a:blip xmlns:r="http://schemas.openxmlformats.org/officeDocument/2006/relationships" r:embed="rId14"/>
          <a:srcRect l="54260" t="51663" r="19705" b="21321"/>
          <a:stretch>
            <a:fillRect/>
          </a:stretch>
        </p:blipFill>
        <p:spPr>
          <a:xfrm rot="0">
            <a:off x="4123542" y="4459007"/>
            <a:ext cx="1464720" cy="1128833"/>
          </a:xfrm>
          <a:prstGeom prst="rect"/>
        </p:spPr>
      </p:pic>
      <p:pic>
        <p:nvPicPr>
          <p:cNvPr id="2097178" name=""/>
          <p:cNvPicPr>
            <a:picLocks/>
          </p:cNvPicPr>
          <p:nvPr/>
        </p:nvPicPr>
        <p:blipFill>
          <a:blip xmlns:r="http://schemas.openxmlformats.org/officeDocument/2006/relationships" r:embed="rId15"/>
          <a:srcRect l="12244" t="44398" r="57781" b="18415"/>
          <a:stretch>
            <a:fillRect/>
          </a:stretch>
        </p:blipFill>
        <p:spPr>
          <a:xfrm rot="0">
            <a:off x="5912681" y="4449482"/>
            <a:ext cx="1458179" cy="1156715"/>
          </a:xfrm>
          <a:prstGeom prst="rect"/>
        </p:spPr>
      </p:pic>
      <p:pic>
        <p:nvPicPr>
          <p:cNvPr id="2097179" name=""/>
          <p:cNvPicPr>
            <a:picLocks/>
          </p:cNvPicPr>
          <p:nvPr/>
        </p:nvPicPr>
        <p:blipFill>
          <a:blip xmlns:r="http://schemas.openxmlformats.org/officeDocument/2006/relationships" r:embed="rId16"/>
          <a:srcRect l="12948" t="23837" r="24802" b="29017"/>
          <a:stretch>
            <a:fillRect/>
          </a:stretch>
        </p:blipFill>
        <p:spPr>
          <a:xfrm rot="0">
            <a:off x="7688238" y="4374010"/>
            <a:ext cx="2959118" cy="1303535"/>
          </a:xfrm>
          <a:prstGeom prst="rect"/>
        </p:spPr>
      </p:pic>
      <p:sp>
        <p:nvSpPr>
          <p:cNvPr id="1048610" name=""/>
          <p:cNvSpPr txBox="1"/>
          <p:nvPr/>
        </p:nvSpPr>
        <p:spPr>
          <a:xfrm>
            <a:off x="2242730" y="2025026"/>
            <a:ext cx="1714770" cy="332741"/>
          </a:xfrm>
          <a:prstGeom prst="rect"/>
        </p:spPr>
        <p:txBody>
          <a:bodyPr rtlCol="0" wrap="square">
            <a:spAutoFit/>
          </a:bodyPr>
          <a:p>
            <a:pPr algn="ctr"/>
            <a:r>
              <a:rPr altLang="en-IN" sz="1600" lang="en-US">
                <a:solidFill>
                  <a:srgbClr val="FFFFFF"/>
                </a:solidFill>
              </a:rPr>
              <a:t>P</a:t>
            </a:r>
            <a:r>
              <a:rPr altLang="en-IN" sz="1600" lang="en-US">
                <a:solidFill>
                  <a:srgbClr val="FFFFFF"/>
                </a:solidFill>
              </a:rPr>
              <a:t>r</a:t>
            </a:r>
            <a:r>
              <a:rPr altLang="en-IN" sz="1600" lang="en-US">
                <a:solidFill>
                  <a:srgbClr val="FFFFFF"/>
                </a:solidFill>
              </a:rPr>
              <a:t>e</a:t>
            </a:r>
            <a:r>
              <a:rPr altLang="en-IN" sz="1600" lang="en-US">
                <a:solidFill>
                  <a:srgbClr val="FFFFFF"/>
                </a:solidFill>
              </a:rPr>
              <a:t>-</a:t>
            </a:r>
            <a:r>
              <a:rPr altLang="en-IN" sz="1600" lang="en-US">
                <a:solidFill>
                  <a:srgbClr val="FFFFFF"/>
                </a:solidFill>
              </a:rPr>
              <a:t>o</a:t>
            </a:r>
            <a:r>
              <a:rPr altLang="en-IN" sz="1600" lang="en-US">
                <a:solidFill>
                  <a:srgbClr val="FFFFFF"/>
                </a:solidFill>
              </a:rPr>
              <a:t>p</a:t>
            </a:r>
            <a:r>
              <a:rPr altLang="en-IN" sz="1600" lang="en-US">
                <a:solidFill>
                  <a:srgbClr val="FFFFFF"/>
                </a:solidFill>
              </a:rPr>
              <a:t> </a:t>
            </a:r>
            <a:r>
              <a:rPr altLang="en-IN" sz="1600" lang="en-US">
                <a:solidFill>
                  <a:srgbClr val="FFFFFF"/>
                </a:solidFill>
              </a:rPr>
              <a:t>X</a:t>
            </a:r>
            <a:r>
              <a:rPr altLang="en-IN" sz="1600" lang="en-US">
                <a:solidFill>
                  <a:srgbClr val="FFFFFF"/>
                </a:solidFill>
              </a:rPr>
              <a:t>r</a:t>
            </a:r>
            <a:r>
              <a:rPr altLang="en-IN" sz="1600" lang="en-US">
                <a:solidFill>
                  <a:srgbClr val="FFFFFF"/>
                </a:solidFill>
              </a:rPr>
              <a:t>a</a:t>
            </a:r>
            <a:r>
              <a:rPr altLang="en-IN" sz="1600" lang="en-US">
                <a:solidFill>
                  <a:srgbClr val="FFFFFF"/>
                </a:solidFill>
              </a:rPr>
              <a:t>y</a:t>
            </a:r>
            <a:endParaRPr sz="2800" lang="en-IN">
              <a:solidFill>
                <a:srgbClr val="FFFFFF"/>
              </a:solidFill>
            </a:endParaRPr>
          </a:p>
        </p:txBody>
      </p:sp>
      <p:sp>
        <p:nvSpPr>
          <p:cNvPr id="1048611" name=""/>
          <p:cNvSpPr txBox="1"/>
          <p:nvPr/>
        </p:nvSpPr>
        <p:spPr>
          <a:xfrm>
            <a:off x="3957498" y="1929775"/>
            <a:ext cx="1598897" cy="5740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IN" sz="16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m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m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d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e</a:t>
            </a:r>
            <a:endParaRPr sz="2800" lang="en-IN">
              <a:solidFill>
                <a:srgbClr val="FFFFFF"/>
              </a:solidFill>
            </a:endParaRPr>
          </a:p>
          <a:p>
            <a:pPr algn="ctr"/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-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X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y</a:t>
            </a:r>
            <a:endParaRPr sz="2800" lang="en-IN">
              <a:solidFill>
                <a:srgbClr val="FFFFFF"/>
              </a:solidFill>
            </a:endParaRPr>
          </a:p>
        </p:txBody>
      </p:sp>
      <p:sp>
        <p:nvSpPr>
          <p:cNvPr id="1048612" name=""/>
          <p:cNvSpPr txBox="1"/>
          <p:nvPr/>
        </p:nvSpPr>
        <p:spPr>
          <a:xfrm>
            <a:off x="5771962" y="1954715"/>
            <a:ext cx="1727884" cy="5740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IN" sz="1600" lang="en-US">
                <a:solidFill>
                  <a:srgbClr val="FFFFFF"/>
                </a:solidFill>
                <a:latin typeface="Arial"/>
              </a:rPr>
              <a:t>F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w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u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X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y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@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3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m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n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s</a:t>
            </a:r>
            <a:endParaRPr sz="2800" lang="en-IN">
              <a:solidFill>
                <a:srgbClr val="FFFFFF"/>
              </a:solidFill>
            </a:endParaRPr>
          </a:p>
        </p:txBody>
      </p:sp>
      <p:sp>
        <p:nvSpPr>
          <p:cNvPr id="1048613" name=""/>
          <p:cNvSpPr txBox="1"/>
          <p:nvPr/>
        </p:nvSpPr>
        <p:spPr>
          <a:xfrm>
            <a:off x="7646905" y="1941132"/>
            <a:ext cx="2629166" cy="5740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IN" sz="1600" lang="en-US">
                <a:solidFill>
                  <a:srgbClr val="FFFFFF"/>
                </a:solidFill>
                <a:latin typeface="Arial"/>
              </a:rPr>
              <a:t>F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w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u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M</a:t>
            </a:r>
            <a:endParaRPr sz="2800" lang="en-IN">
              <a:solidFill>
                <a:srgbClr val="FFFFFF"/>
              </a:solidFill>
            </a:endParaRPr>
          </a:p>
          <a:p>
            <a:pPr algn="ctr"/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@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3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m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n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en-IN" sz="1600" lang="en-US">
                <a:solidFill>
                  <a:srgbClr val="FFFFFF"/>
                </a:solidFill>
                <a:latin typeface="Arial"/>
              </a:rPr>
              <a:t>s</a:t>
            </a:r>
            <a:endParaRPr sz="2800" lang="en-IN">
              <a:solidFill>
                <a:srgbClr val="FFFFFF"/>
              </a:solidFill>
            </a:endParaRPr>
          </a:p>
        </p:txBody>
      </p:sp>
      <p:sp>
        <p:nvSpPr>
          <p:cNvPr id="1048614" name=""/>
          <p:cNvSpPr txBox="1"/>
          <p:nvPr/>
        </p:nvSpPr>
        <p:spPr>
          <a:xfrm>
            <a:off x="697231" y="4782835"/>
            <a:ext cx="1352541" cy="5105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2</a:t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615" name=""/>
          <p:cNvSpPr txBox="1"/>
          <p:nvPr/>
        </p:nvSpPr>
        <p:spPr>
          <a:xfrm>
            <a:off x="725806" y="3120387"/>
            <a:ext cx="1435948" cy="5105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C</a:t>
            </a:r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-</a:t>
            </a:r>
            <a:r>
              <a:rPr altLang="en-IN" sz="2800" lang="en-US">
                <a:solidFill>
                  <a:srgbClr val="000000"/>
                </a:solidFill>
              </a:rPr>
              <a:t>1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36" name="Shape 419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37" name="Google Shape;4194337;p6"/>
          <p:cNvSpPr txBox="1"/>
          <p:nvPr/>
        </p:nvSpPr>
        <p:spPr>
          <a:xfrm>
            <a:off x="411054" y="1818463"/>
            <a:ext cx="10372500" cy="3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Open reduction and internal fixation of displaced mid-shaft clavicle fractures provides high union rates with excellent functional outcomes.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The injury predominantly affects young males, with the right clavicle most commonly involved.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Road traffic accidents are the leading cause, and fall on an outstretched hand is the most frequent mechanism.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Robinson type 2B2 fractures are the commonest pattern, especially following RTAs.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Most fractures unite within 8–10 weeks, enabling return to work by ~12 weeks.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Complications are minimal and manageable, with no major adverse outcomes.</a:t>
            </a:r>
            <a:br>
              <a:rPr lang="en-US" sz="2000">
                <a:solidFill>
                  <a:srgbClr val="000000"/>
                </a:solidFill>
              </a:rPr>
            </a:br>
            <a:endParaRPr sz="2800">
              <a:solidFill>
                <a:srgbClr val="000000"/>
              </a:solidFill>
            </a:endParaRPr>
          </a:p>
        </p:txBody>
      </p:sp>
      <p:sp>
        <p:nvSpPr>
          <p:cNvPr id="4194338" name="Google Shape;4194338;p6"/>
          <p:cNvSpPr txBox="1"/>
          <p:nvPr/>
        </p:nvSpPr>
        <p:spPr>
          <a:xfrm>
            <a:off x="296754" y="1279348"/>
            <a:ext cx="3999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CONCLUSION :-</a:t>
            </a:r>
            <a:endParaRPr b="1" sz="28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339" name="Google Shape;4194339;p6"/>
          <p:cNvSpPr txBox="1"/>
          <p:nvPr/>
        </p:nvSpPr>
        <p:spPr>
          <a:xfrm>
            <a:off x="296754" y="5029835"/>
            <a:ext cx="115665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 :</a:t>
            </a:r>
            <a:r>
              <a:rPr b="0" lang="en-US" sz="2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sz="2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sample size,  absence of a comparison or control group, short follow-up period (3 months) preventing assessment of long-term results.</a:t>
            </a:r>
            <a:endParaRPr b="0" sz="2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4340" name="Shape 4194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341" name="Google Shape;4194341;p7"/>
          <p:cNvSpPr txBox="1"/>
          <p:nvPr/>
        </p:nvSpPr>
        <p:spPr>
          <a:xfrm>
            <a:off x="260211" y="2089355"/>
            <a:ext cx="112611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Biomechanical comparison of the Locking Compression superior anterior clavicle plate with seven and ten hole reconstruction plates in midshaft clavicle fracture stabilization. Lars Eden &amp; Stefani International Orthopedics Doht &amp; Sönk P. Frey. ; (SICOT) (2012)36:2537–2543e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Dr. Pinnamaneni Sankara Rao and Dr. SrikanthChoppara. Prospective study of middle 1/3rd clavicle fracture managed with clavicle contoured plates. International Journal of Orthopaedics Sciences 2017; 3(3): 06-09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Thomas D. Donnelly*, Robert J. MacFarlane.Fractures of the Clavicle: An Overview;The Open Orthopaedics Journal, 2013, 7, (Suppl 3: M6) 329-333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Elidrissi Mohammed, MD, H Mahadane  Functional Outcome of Midclavicular Fracture Fixation Utilising a Reconstruction Plate; Malays Orthop J 2013 Nov;6-9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Dhoju D, Shrestha D, Parajuli NP, Shrestha R, Sharma V  Operative Fixation of Displaced Middle Third Clavicle (Edinburg Type 2) Fracture with Superior Reconstruction Plate Osteosynthesis;  Kathmandu Univ J(KUMJ).2011OctDec ;9(36);286-90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I.R. Murray, BMedSci Risk Factors for Nonunion After Nonoperative Treatment of Displaced Midshaft Fractures of the Clavicle, Jbjs july 2013.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Charles A. Rockwood Jr., Frederick A. Matsen III(2017) The shoulder Pages 291-363.Elsevier </a:t>
            </a:r>
            <a:endParaRPr sz="1400">
              <a:solidFill>
                <a:srgbClr val="000000"/>
              </a:solidFill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eriod"/>
            </a:pPr>
            <a:r>
              <a:rPr lang="en-US" sz="1600">
                <a:solidFill>
                  <a:srgbClr val="000000"/>
                </a:solidFill>
              </a:rPr>
              <a:t>Michael D. Mcee (2015)Rockwood and Green’s Fractures in adults ,Wolters Kluwer 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4194342" name="Google Shape;4194342;p7"/>
          <p:cNvSpPr txBox="1"/>
          <p:nvPr/>
        </p:nvSpPr>
        <p:spPr>
          <a:xfrm>
            <a:off x="260211" y="1362138"/>
            <a:ext cx="3999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REFERENCES :-</a:t>
            </a:r>
            <a:endParaRPr b="1" sz="28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