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 id="263" r:id="rId10"/>
    <p:sldId id="264" r:id="rId11"/>
    <p:sldId id="265" r:id="rId12"/>
    <p:sldId id="266" r:id="rId13"/>
    <p:sldId id="267" r:id="rId14"/>
    <p:sldId id="271" r:id="rId15"/>
    <p:sldId id="268" r:id="rId16"/>
    <p:sldId id="269" r:id="rId17"/>
    <p:sldId id="270" r:id="rId18"/>
    <p:sldId id="272" r:id="rId19"/>
    <p:sldId id="273" r:id="rId20"/>
    <p:sldId id="275" r:id="rId21"/>
    <p:sldId id="276" r:id="rId22"/>
    <p:sldId id="277" r:id="rId23"/>
    <p:sldId id="278" r:id="rId24"/>
    <p:sldId id="274"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78" d="100"/>
          <a:sy n="78" d="100"/>
        </p:scale>
        <p:origin x="115" y="72"/>
      </p:cViewPr>
      <p:guideLst>
        <p:guide orient="horz" pos="219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IN"/>
              <a:t>LYSHOLM SCORE</a:t>
            </a:r>
            <a:endParaRPr lang="en-IN"/>
          </a:p>
        </c:rich>
      </c:tx>
      <c:layout/>
      <c:overlay val="0"/>
      <c:spPr>
        <a:noFill/>
        <a:ln>
          <a:noFill/>
        </a:ln>
        <a:effectLst/>
      </c:spPr>
    </c:title>
    <c:autoTitleDeleted val="0"/>
    <c:plotArea>
      <c:layout/>
      <c:barChart>
        <c:barDir val="col"/>
        <c:grouping val="clustered"/>
        <c:varyColors val="0"/>
        <c:ser>
          <c:idx val="0"/>
          <c:order val="0"/>
          <c:tx>
            <c:strRef>
              <c:f>Sheet1!$B$1</c:f>
              <c:strCache>
                <c:ptCount val="1"/>
                <c:pt idx="0">
                  <c:v>PREOP</c:v>
                </c:pt>
              </c:strCache>
            </c:strRef>
          </c:tx>
          <c:spPr>
            <a:solidFill>
              <a:schemeClr val="accent1"/>
            </a:solidFill>
            <a:ln>
              <a:noFill/>
            </a:ln>
            <a:effectLst/>
          </c:spPr>
          <c:invertIfNegative val="0"/>
          <c:dLbls>
            <c:delete val="1"/>
          </c:dLbls>
          <c:cat>
            <c:strRef>
              <c:f>Sheet1!$A$2:$A$3</c:f>
              <c:strCache>
                <c:ptCount val="2"/>
                <c:pt idx="0">
                  <c:v>GROUP A</c:v>
                </c:pt>
                <c:pt idx="1">
                  <c:v>GROUP B</c:v>
                </c:pt>
              </c:strCache>
            </c:strRef>
          </c:cat>
          <c:val>
            <c:numRef>
              <c:f>Sheet1!$B$2:$B$3</c:f>
              <c:numCache>
                <c:formatCode>General</c:formatCode>
                <c:ptCount val="2"/>
                <c:pt idx="0">
                  <c:v>52.6</c:v>
                </c:pt>
                <c:pt idx="1">
                  <c:v>53.4</c:v>
                </c:pt>
              </c:numCache>
            </c:numRef>
          </c:val>
        </c:ser>
        <c:ser>
          <c:idx val="1"/>
          <c:order val="1"/>
          <c:tx>
            <c:strRef>
              <c:f>Sheet1!$C$1</c:f>
              <c:strCache>
                <c:ptCount val="1"/>
                <c:pt idx="0">
                  <c:v>POSTOP</c:v>
                </c:pt>
              </c:strCache>
            </c:strRef>
          </c:tx>
          <c:spPr>
            <a:solidFill>
              <a:schemeClr val="accent2"/>
            </a:solidFill>
            <a:ln>
              <a:noFill/>
            </a:ln>
            <a:effectLst/>
          </c:spPr>
          <c:invertIfNegative val="0"/>
          <c:dLbls>
            <c:delete val="1"/>
          </c:dLbls>
          <c:cat>
            <c:strRef>
              <c:f>Sheet1!$A$2:$A$3</c:f>
              <c:strCache>
                <c:ptCount val="2"/>
                <c:pt idx="0">
                  <c:v>GROUP A</c:v>
                </c:pt>
                <c:pt idx="1">
                  <c:v>GROUP B</c:v>
                </c:pt>
              </c:strCache>
            </c:strRef>
          </c:cat>
          <c:val>
            <c:numRef>
              <c:f>Sheet1!$C$2:$C$3</c:f>
              <c:numCache>
                <c:formatCode>General</c:formatCode>
                <c:ptCount val="2"/>
                <c:pt idx="0">
                  <c:v>80.1</c:v>
                </c:pt>
                <c:pt idx="1">
                  <c:v>87.2</c:v>
                </c:pt>
              </c:numCache>
            </c:numRef>
          </c:val>
        </c:ser>
        <c:dLbls>
          <c:showLegendKey val="0"/>
          <c:showVal val="0"/>
          <c:showCatName val="0"/>
          <c:showSerName val="0"/>
          <c:showPercent val="0"/>
          <c:showBubbleSize val="0"/>
        </c:dLbls>
        <c:gapWidth val="219"/>
        <c:overlap val="-27"/>
        <c:axId val="199464992"/>
        <c:axId val="199468352"/>
      </c:barChart>
      <c:catAx>
        <c:axId val="199464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99468352"/>
        <c:crosses val="autoZero"/>
        <c:auto val="1"/>
        <c:lblAlgn val="ctr"/>
        <c:lblOffset val="100"/>
        <c:noMultiLvlLbl val="0"/>
      </c:catAx>
      <c:valAx>
        <c:axId val="1994683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9946499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4f3fbaa-6b28-4c85-8fb9-835d049ae4d6}"/>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IN"/>
              <a:t>KUJALA</a:t>
            </a:r>
            <a:r>
              <a:rPr lang="en-IN" baseline="0"/>
              <a:t> SCORE</a:t>
            </a:r>
            <a:endParaRPr lang="en-IN"/>
          </a:p>
        </c:rich>
      </c:tx>
      <c:layout/>
      <c:overlay val="0"/>
      <c:spPr>
        <a:noFill/>
        <a:ln>
          <a:noFill/>
        </a:ln>
        <a:effectLst/>
      </c:spPr>
    </c:title>
    <c:autoTitleDeleted val="0"/>
    <c:plotArea>
      <c:layout>
        <c:manualLayout>
          <c:layoutTarget val="inner"/>
          <c:xMode val="edge"/>
          <c:yMode val="edge"/>
          <c:x val="0.0996044765237679"/>
          <c:y val="0.24794994375703"/>
          <c:w val="0.89692330125401"/>
          <c:h val="0.669986564179478"/>
        </c:manualLayout>
      </c:layout>
      <c:barChart>
        <c:barDir val="col"/>
        <c:grouping val="clustered"/>
        <c:varyColors val="0"/>
        <c:ser>
          <c:idx val="0"/>
          <c:order val="0"/>
          <c:tx>
            <c:strRef>
              <c:f>Sheet1!$B$1</c:f>
              <c:strCache>
                <c:ptCount val="1"/>
                <c:pt idx="0">
                  <c:v>preop</c:v>
                </c:pt>
              </c:strCache>
            </c:strRef>
          </c:tx>
          <c:spPr>
            <a:solidFill>
              <a:schemeClr val="accent1"/>
            </a:solidFill>
            <a:ln>
              <a:noFill/>
            </a:ln>
            <a:effectLst/>
          </c:spPr>
          <c:invertIfNegative val="0"/>
          <c:dLbls>
            <c:delete val="1"/>
          </c:dLbls>
          <c:cat>
            <c:strRef>
              <c:f>Sheet1!$A$2:$A$5</c:f>
              <c:strCache>
                <c:ptCount val="2"/>
                <c:pt idx="0">
                  <c:v>Group A</c:v>
                </c:pt>
                <c:pt idx="1">
                  <c:v>Group B</c:v>
                </c:pt>
              </c:strCache>
            </c:strRef>
          </c:cat>
          <c:val>
            <c:numRef>
              <c:f>Sheet1!$B$2:$B$5</c:f>
              <c:numCache>
                <c:formatCode>General</c:formatCode>
                <c:ptCount val="2"/>
                <c:pt idx="0">
                  <c:v>54.2</c:v>
                </c:pt>
                <c:pt idx="1">
                  <c:v>55.1</c:v>
                </c:pt>
              </c:numCache>
            </c:numRef>
          </c:val>
        </c:ser>
        <c:ser>
          <c:idx val="1"/>
          <c:order val="1"/>
          <c:tx>
            <c:strRef>
              <c:f>Sheet1!$C$1</c:f>
              <c:strCache>
                <c:ptCount val="1"/>
                <c:pt idx="0">
                  <c:v>postop</c:v>
                </c:pt>
              </c:strCache>
            </c:strRef>
          </c:tx>
          <c:spPr>
            <a:solidFill>
              <a:schemeClr val="accent2"/>
            </a:solidFill>
            <a:ln>
              <a:noFill/>
            </a:ln>
            <a:effectLst/>
          </c:spPr>
          <c:invertIfNegative val="0"/>
          <c:dLbls>
            <c:delete val="1"/>
          </c:dLbls>
          <c:cat>
            <c:strRef>
              <c:f>Sheet1!$A$2:$A$5</c:f>
              <c:strCache>
                <c:ptCount val="2"/>
                <c:pt idx="0">
                  <c:v>Group A</c:v>
                </c:pt>
                <c:pt idx="1">
                  <c:v>Group B</c:v>
                </c:pt>
              </c:strCache>
            </c:strRef>
          </c:cat>
          <c:val>
            <c:numRef>
              <c:f>Sheet1!$C$2:$C$5</c:f>
              <c:numCache>
                <c:formatCode>General</c:formatCode>
                <c:ptCount val="2"/>
                <c:pt idx="0">
                  <c:v>82.4</c:v>
                </c:pt>
                <c:pt idx="1">
                  <c:v>88.6</c:v>
                </c:pt>
              </c:numCache>
            </c:numRef>
          </c:val>
        </c:ser>
        <c:ser>
          <c:idx val="2"/>
          <c:order val="2"/>
          <c:tx>
            <c:strRef>
              <c:f>Sheet1!$D$1</c:f>
              <c:strCache>
                <c:ptCount val="1"/>
                <c:pt idx="0">
                  <c:v>Column1</c:v>
                </c:pt>
              </c:strCache>
            </c:strRef>
          </c:tx>
          <c:spPr>
            <a:solidFill>
              <a:schemeClr val="accent3"/>
            </a:solidFill>
            <a:ln>
              <a:noFill/>
            </a:ln>
            <a:effectLst/>
          </c:spPr>
          <c:invertIfNegative val="0"/>
          <c:dLbls>
            <c:delete val="1"/>
          </c:dLbls>
          <c:cat>
            <c:strRef>
              <c:f>Sheet1!$A$2:$A$5</c:f>
              <c:strCache>
                <c:ptCount val="2"/>
                <c:pt idx="0">
                  <c:v>Group A</c:v>
                </c:pt>
                <c:pt idx="1">
                  <c:v>Group B</c:v>
                </c:pt>
              </c:strCache>
            </c:strRef>
          </c:cat>
          <c:val>
            <c:numRef>
              <c:f>Sheet1!$D$2:$D$5</c:f>
              <c:numCache>
                <c:formatCode>General</c:formatCode>
                <c:ptCount val="2"/>
              </c:numCache>
            </c:numRef>
          </c:val>
        </c:ser>
        <c:dLbls>
          <c:showLegendKey val="0"/>
          <c:showVal val="0"/>
          <c:showCatName val="0"/>
          <c:showSerName val="0"/>
          <c:showPercent val="0"/>
          <c:showBubbleSize val="0"/>
        </c:dLbls>
        <c:gapWidth val="219"/>
        <c:overlap val="-27"/>
        <c:axId val="101242032"/>
        <c:axId val="101242512"/>
      </c:barChart>
      <c:catAx>
        <c:axId val="101242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01242512"/>
        <c:crosses val="autoZero"/>
        <c:auto val="1"/>
        <c:lblAlgn val="ctr"/>
        <c:lblOffset val="100"/>
        <c:noMultiLvlLbl val="0"/>
      </c:catAx>
      <c:valAx>
        <c:axId val="101242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0124203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728e3d3f-dc8c-465a-ae59-71ff380941e0}"/>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63A1C593-65D0-4073-BCC9-577B9352EA97}" type="datetimeFigureOut">
              <a:rPr lang="en-US" smtClean="0"/>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9B618960-8005-486C-9A75-10CB2AAC16F9}"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9B618960-8005-486C-9A75-10CB2AAC16F9}"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p:txBody>
          <a:bodyPr/>
          <a:lstStyle/>
          <a:p>
            <a:fld id="{63A1C593-65D0-4073-BCC9-577B9352EA97}" type="datetimeFigureOut">
              <a:rPr lang="en-US" smtClean="0"/>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9B618960-8005-486C-9A75-10CB2AAC16F9}" type="slidenum">
              <a:rPr lang="en-US" smtClean="0"/>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9B618960-8005-486C-9A75-10CB2AAC16F9}" type="slidenum">
              <a:rPr lang="en-US" smtClean="0"/>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anose="02020404030301010803"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5pPr>
      <a:lvl6pPr marL="160020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6pPr>
      <a:lvl7pPr marL="1899920"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7pPr>
      <a:lvl8pPr marL="220027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8pPr>
      <a:lvl9pPr marL="2499995" indent="-228600" algn="l" defTabSz="914400" rtl="0" eaLnBrk="1" latinLnBrk="0" hangingPunct="1">
        <a:lnSpc>
          <a:spcPct val="100000"/>
        </a:lnSpc>
        <a:spcBef>
          <a:spcPts val="500"/>
        </a:spcBef>
        <a:buClr>
          <a:schemeClr val="tx1">
            <a:lumMod val="85000"/>
            <a:lumOff val="15000"/>
          </a:schemeClr>
        </a:buClr>
        <a:buFont typeface="Garamond" panose="02020404030301010803"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dirty="0"/>
              <a:t>COMPARATIVE ANALYSIS OF MPFL RECONSTRUCTION IN RECURRENT DISLOCATION OF PATELLA USING PERONEUS LONGUS GRAFT VERSUS SEMITENDINOSUS – A RETROSPECTIVE STUDY</a:t>
            </a:r>
            <a:endParaRPr lang="en-US" altLang="en-US" sz="3200" dirty="0"/>
          </a:p>
        </p:txBody>
      </p:sp>
      <p:sp>
        <p:nvSpPr>
          <p:cNvPr id="3" name="Subtitle 2"/>
          <p:cNvSpPr>
            <a:spLocks noGrp="1"/>
          </p:cNvSpPr>
          <p:nvPr>
            <p:ph type="subTitle" idx="1"/>
          </p:nvPr>
        </p:nvSpPr>
        <p:spPr>
          <a:xfrm>
            <a:off x="1561706" y="4453462"/>
            <a:ext cx="9070848" cy="457201"/>
          </a:xfrm>
        </p:spPr>
        <p:txBody>
          <a:bodyPr>
            <a:noAutofit/>
          </a:bodyPr>
          <a:lstStyle/>
          <a:p>
            <a:pPr algn="r"/>
            <a:r>
              <a:rPr lang="en-US" sz="2000" dirty="0"/>
              <a:t>AUTHOR:DR RAMKOUSHIK PARTHASARATHI-POSTGRADUATE</a:t>
            </a:r>
            <a:endParaRPr lang="en-US" sz="2000" dirty="0"/>
          </a:p>
          <a:p>
            <a:pPr algn="r"/>
            <a:r>
              <a:rPr lang="en-US" sz="2000" dirty="0"/>
              <a:t>CO AUTHOR : DR.V. NAGESWARA RAO –  PROF AND HOD</a:t>
            </a:r>
            <a:endParaRPr lang="en-US" sz="2000" dirty="0"/>
          </a:p>
          <a:p>
            <a:pPr algn="r"/>
            <a:r>
              <a:rPr lang="en-US" sz="2000" dirty="0"/>
              <a:t>GSL MEDICAL COLLEGE,RAJAHMUNDRY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endParaRPr lang="en-US"/>
          </a:p>
        </p:txBody>
      </p:sp>
      <p:sp>
        <p:nvSpPr>
          <p:cNvPr id="3" name="Content Placeholder 2"/>
          <p:cNvSpPr>
            <a:spLocks noGrp="1"/>
          </p:cNvSpPr>
          <p:nvPr>
            <p:ph idx="1"/>
          </p:nvPr>
        </p:nvSpPr>
        <p:spPr>
          <a:xfrm>
            <a:off x="838200" y="1986280"/>
            <a:ext cx="10515600" cy="4871720"/>
          </a:xfrm>
        </p:spPr>
        <p:txBody>
          <a:bodyPr>
            <a:normAutofit/>
          </a:bodyPr>
          <a:lstStyle/>
          <a:p>
            <a:r>
              <a:rPr lang="en-US" altLang="en-US" sz="2400" dirty="0"/>
              <a:t>Recurrent dislocation of the patella is a common cause of knee morbidity in young and active individuals. </a:t>
            </a:r>
            <a:endParaRPr lang="en-US" altLang="en-US" sz="2400" dirty="0"/>
          </a:p>
          <a:p>
            <a:r>
              <a:rPr lang="en-US" altLang="en-US" sz="2400" dirty="0"/>
              <a:t>The medial patellofemoral ligament (MPFL) is the primary passive restraint to lateral patellar translation in the first 20–30</a:t>
            </a:r>
            <a:r>
              <a:rPr lang="en-US" altLang="en-US" sz="2400" dirty="0"/>
              <a:t>°</a:t>
            </a:r>
            <a:r>
              <a:rPr lang="en-US" altLang="en-US" sz="2400" dirty="0"/>
              <a:t> of knee flexion, contributing nearly 50–60% of the restraining force. </a:t>
            </a:r>
            <a:endParaRPr lang="en-US" altLang="en-US" sz="2400" dirty="0"/>
          </a:p>
          <a:p>
            <a:r>
              <a:rPr lang="en-US" altLang="en-US" sz="2400" dirty="0"/>
              <a:t>Traumatic patellar dislocation invariably results in disruption of the MPFL, predisposing the patient to recurrent instability if not adequately addressed.</a:t>
            </a:r>
            <a:endParaRPr lang="en-US"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255" y="986155"/>
            <a:ext cx="11232515" cy="5706745"/>
          </a:xfrm>
        </p:spPr>
        <p:txBody>
          <a:bodyPr>
            <a:normAutofit/>
          </a:bodyPr>
          <a:lstStyle/>
          <a:p>
            <a:r>
              <a:rPr lang="en-US" altLang="en-US" sz="2400" dirty="0"/>
              <a:t>MPFL reconstruction has emerged as the standard surgical treatment for recurrent patellar instability in the absence of significant bony malalignment. </a:t>
            </a:r>
            <a:endParaRPr lang="en-US" altLang="en-US" sz="2400" dirty="0"/>
          </a:p>
          <a:p>
            <a:r>
              <a:rPr lang="en-US" altLang="en-US" sz="2400" dirty="0"/>
              <a:t>Various autografts have been described, among which semitendinosus tendon remains the most commonly used. However, concerns regarding hamstring weakness and donor-site morbidity have prompted evaluation of alternative grafts.</a:t>
            </a:r>
            <a:endParaRPr lang="en-US" altLang="en-US" sz="2400" dirty="0"/>
          </a:p>
          <a:p>
            <a:r>
              <a:rPr lang="en-US" altLang="en-US" sz="2400" dirty="0"/>
              <a:t> The peroneus longus tendon, with its high tensile strength, adequate length, and minimal functional deficit at the ankle, has been proposed as a viable alternative.</a:t>
            </a:r>
            <a:endParaRPr lang="en-US" altLang="en-US" sz="2400" dirty="0"/>
          </a:p>
          <a:p>
            <a:r>
              <a:rPr lang="en-US" altLang="en-US" sz="2400" dirty="0"/>
              <a:t>This retrospective study aims to compare the functional outcomes, complications, and donor-site morbidity of MPFL reconstruction using peroneus longus tendon graft versus semitendinosus tendon graft.</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968"/>
            <a:ext cx="10058400" cy="1371600"/>
          </a:xfrm>
        </p:spPr>
        <p:txBody>
          <a:bodyPr/>
          <a:lstStyle/>
          <a:p>
            <a:r>
              <a:rPr lang="en-US" altLang="en-US" dirty="0"/>
              <a:t>MATERIALS AND METHODS</a:t>
            </a:r>
            <a:endParaRPr lang="en-US" altLang="en-US" dirty="0"/>
          </a:p>
        </p:txBody>
      </p:sp>
      <p:sp>
        <p:nvSpPr>
          <p:cNvPr id="3" name="Content Placeholder 2"/>
          <p:cNvSpPr>
            <a:spLocks noGrp="1"/>
          </p:cNvSpPr>
          <p:nvPr>
            <p:ph idx="1"/>
          </p:nvPr>
        </p:nvSpPr>
        <p:spPr>
          <a:xfrm>
            <a:off x="838200" y="1351280"/>
            <a:ext cx="10515600" cy="4826000"/>
          </a:xfrm>
        </p:spPr>
        <p:txBody>
          <a:bodyPr>
            <a:noAutofit/>
          </a:bodyPr>
          <a:lstStyle/>
          <a:p>
            <a:r>
              <a:rPr lang="en-US" altLang="en-US" sz="2400" dirty="0"/>
              <a:t>This retrospective comparative study was conducted in GSL medical college and general </a:t>
            </a:r>
            <a:r>
              <a:rPr lang="en-US" altLang="en-US" sz="2400" dirty="0" err="1"/>
              <a:t>hospital,rajahmundry</a:t>
            </a:r>
            <a:r>
              <a:rPr lang="en-US" altLang="en-US" sz="2400" dirty="0"/>
              <a:t>. A total of 30 patients who underwent MPFL reconstruction for recurrent patellar dislocation between January 2022 and December 2024 were included.</a:t>
            </a:r>
            <a:endParaRPr lang="en-US" altLang="en-US" sz="2400" dirty="0"/>
          </a:p>
          <a:p>
            <a:r>
              <a:rPr lang="en-US" altLang="en-US" sz="2400" dirty="0"/>
              <a:t>Patients were divided into two groups:</a:t>
            </a:r>
            <a:endParaRPr lang="en-US" altLang="en-US" sz="2400" dirty="0"/>
          </a:p>
          <a:p>
            <a:pPr marL="0" indent="0">
              <a:buNone/>
            </a:pPr>
            <a:r>
              <a:rPr lang="en-US" altLang="en-US" sz="2400" dirty="0"/>
              <a:t>Group A (n = 15): MPFL reconstruction using semitendinosus    autograft</a:t>
            </a:r>
            <a:endParaRPr lang="en-US" altLang="en-US" sz="2400" dirty="0"/>
          </a:p>
          <a:p>
            <a:pPr marL="0" indent="0">
              <a:buNone/>
            </a:pPr>
            <a:r>
              <a:rPr lang="en-US" altLang="en-US" sz="2400" dirty="0"/>
              <a:t>Group B (n = 15): MPFL reconstruction using peroneus longus autograft</a:t>
            </a:r>
            <a:endParaRPr lang="en-US" altLang="en-US" sz="2400" dirty="0"/>
          </a:p>
          <a:p>
            <a:r>
              <a:rPr lang="en-US" altLang="en-US" sz="2400" dirty="0"/>
              <a:t>All surgeries were performed using a standardized technique. Minimum follow-up period was 12 months.</a:t>
            </a:r>
            <a:endParaRPr lang="en-US"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custDataLst>
              <p:tags r:id="rId1"/>
            </p:custDataLst>
          </p:nvPr>
        </p:nvGraphicFramePr>
        <p:xfrm>
          <a:off x="838200" y="621665"/>
          <a:ext cx="10515600" cy="5483543"/>
        </p:xfrm>
        <a:graphic>
          <a:graphicData uri="http://schemas.openxmlformats.org/drawingml/2006/table">
            <a:tbl>
              <a:tblPr firstRow="1" bandRow="1">
                <a:tableStyleId>{5C22544A-7EE6-4342-B048-85BDC9FD1C3A}</a:tableStyleId>
              </a:tblPr>
              <a:tblGrid>
                <a:gridCol w="5257800"/>
                <a:gridCol w="5257800"/>
              </a:tblGrid>
              <a:tr h="664210">
                <a:tc>
                  <a:txBody>
                    <a:bodyPr/>
                    <a:lstStyle/>
                    <a:p>
                      <a:pPr>
                        <a:buNone/>
                      </a:pPr>
                      <a:r>
                        <a:rPr lang="en-US" sz="3600"/>
                        <a:t>INCLUSION CRITERIA</a:t>
                      </a:r>
                      <a:endParaRPr lang="en-US" sz="3600"/>
                    </a:p>
                  </a:txBody>
                  <a:tcPr/>
                </a:tc>
                <a:tc>
                  <a:txBody>
                    <a:bodyPr/>
                    <a:lstStyle/>
                    <a:p>
                      <a:pPr>
                        <a:buNone/>
                      </a:pPr>
                      <a:r>
                        <a:rPr lang="en-US" sz="3600"/>
                        <a:t>EXCLUSION CRITERIA</a:t>
                      </a:r>
                      <a:endParaRPr lang="en-US" sz="3600"/>
                    </a:p>
                  </a:txBody>
                  <a:tcPr/>
                </a:tc>
              </a:tr>
              <a:tr h="2661285">
                <a:tc>
                  <a:txBody>
                    <a:bodyPr/>
                    <a:lstStyle/>
                    <a:p>
                      <a:pPr marL="285750" indent="-285750">
                        <a:lnSpc>
                          <a:spcPct val="220000"/>
                        </a:lnSpc>
                        <a:buFont typeface="Arial" panose="020B0604020202020204" pitchFamily="34" charset="0"/>
                        <a:buChar char="•"/>
                      </a:pPr>
                      <a:r>
                        <a:rPr lang="en-US" altLang="en-US" dirty="0"/>
                        <a:t>Age between 15 and 40 years</a:t>
                      </a:r>
                      <a:endParaRPr lang="en-US" altLang="en-US" dirty="0"/>
                    </a:p>
                    <a:p>
                      <a:pPr marL="285750" indent="-285750">
                        <a:lnSpc>
                          <a:spcPct val="220000"/>
                        </a:lnSpc>
                        <a:buFont typeface="Arial" panose="020B0604020202020204" pitchFamily="34" charset="0"/>
                        <a:buChar char="•"/>
                      </a:pPr>
                      <a:r>
                        <a:rPr lang="en-US" altLang="en-US" dirty="0"/>
                        <a:t>Recurrent lateral patellar dislocation (≥2 episodes)</a:t>
                      </a:r>
                      <a:endParaRPr lang="en-US" altLang="en-US" dirty="0"/>
                    </a:p>
                    <a:p>
                      <a:pPr marL="285750" indent="-285750">
                        <a:lnSpc>
                          <a:spcPct val="220000"/>
                        </a:lnSpc>
                        <a:buFont typeface="Arial" panose="020B0604020202020204" pitchFamily="34" charset="0"/>
                        <a:buChar char="•"/>
                      </a:pPr>
                      <a:r>
                        <a:rPr lang="en-US" altLang="en-US" dirty="0"/>
                        <a:t>Failure of conservative management</a:t>
                      </a:r>
                      <a:endParaRPr lang="en-US" altLang="en-US" dirty="0"/>
                    </a:p>
                    <a:p>
                      <a:pPr marL="285750" indent="-285750">
                        <a:lnSpc>
                          <a:spcPct val="220000"/>
                        </a:lnSpc>
                        <a:buFont typeface="Arial" panose="020B0604020202020204" pitchFamily="34" charset="0"/>
                        <a:buChar char="•"/>
                      </a:pPr>
                      <a:r>
                        <a:rPr lang="en-US" altLang="en-US" dirty="0"/>
                        <a:t>Normal TT–TG distance(&lt;20 mm)</a:t>
                      </a:r>
                      <a:endParaRPr lang="en-US" altLang="en-US" dirty="0"/>
                    </a:p>
                  </a:txBody>
                  <a:tcPr/>
                </a:tc>
                <a:tc>
                  <a:txBody>
                    <a:bodyPr/>
                    <a:lstStyle/>
                    <a:p>
                      <a:pPr marL="285750" indent="-285750">
                        <a:lnSpc>
                          <a:spcPct val="240000"/>
                        </a:lnSpc>
                        <a:buFont typeface="Arial" panose="020B0604020202020204" pitchFamily="34" charset="0"/>
                        <a:buChar char="•"/>
                      </a:pPr>
                      <a:r>
                        <a:rPr lang="en-US" altLang="en-US" dirty="0"/>
                        <a:t>Acute first-time patellar dislocation</a:t>
                      </a:r>
                      <a:endParaRPr lang="en-US" altLang="en-US" dirty="0"/>
                    </a:p>
                    <a:p>
                      <a:pPr marL="285750" indent="-285750">
                        <a:lnSpc>
                          <a:spcPct val="240000"/>
                        </a:lnSpc>
                        <a:buFont typeface="Arial" panose="020B0604020202020204" pitchFamily="34" charset="0"/>
                        <a:buChar char="•"/>
                      </a:pPr>
                      <a:r>
                        <a:rPr lang="en-US" altLang="en-US" dirty="0"/>
                        <a:t>Severe trochlear dysplasia </a:t>
                      </a:r>
                      <a:endParaRPr lang="en-US" altLang="en-US" dirty="0"/>
                    </a:p>
                    <a:p>
                      <a:pPr marL="285750" indent="-285750">
                        <a:lnSpc>
                          <a:spcPct val="240000"/>
                        </a:lnSpc>
                        <a:buFont typeface="Arial" panose="020B0604020202020204" pitchFamily="34" charset="0"/>
                        <a:buChar char="•"/>
                      </a:pPr>
                      <a:r>
                        <a:rPr lang="en-US" altLang="en-US" dirty="0"/>
                        <a:t>Patella </a:t>
                      </a:r>
                      <a:r>
                        <a:rPr lang="en-US" altLang="en-US" dirty="0" err="1"/>
                        <a:t>alta</a:t>
                      </a:r>
                      <a:r>
                        <a:rPr lang="en-US" altLang="en-US" dirty="0"/>
                        <a:t> requiring </a:t>
                      </a:r>
                      <a:r>
                        <a:rPr lang="en-US" altLang="en-US" dirty="0" err="1"/>
                        <a:t>distalization</a:t>
                      </a:r>
                      <a:endParaRPr lang="en-US" altLang="en-US" dirty="0"/>
                    </a:p>
                    <a:p>
                      <a:pPr marL="285750" indent="-285750">
                        <a:lnSpc>
                          <a:spcPct val="240000"/>
                        </a:lnSpc>
                        <a:buFont typeface="Arial" panose="020B0604020202020204" pitchFamily="34" charset="0"/>
                        <a:buChar char="•"/>
                      </a:pPr>
                      <a:r>
                        <a:rPr lang="en-US" altLang="en-US" dirty="0"/>
                        <a:t>Associated ligament injuries of the knee</a:t>
                      </a:r>
                      <a:endParaRPr lang="en-US" altLang="en-US" dirty="0"/>
                    </a:p>
                    <a:p>
                      <a:pPr marL="285750" indent="-285750">
                        <a:lnSpc>
                          <a:spcPct val="240000"/>
                        </a:lnSpc>
                        <a:buFont typeface="Arial" panose="020B0604020202020204" pitchFamily="34" charset="0"/>
                        <a:buChar char="•"/>
                      </a:pPr>
                      <a:r>
                        <a:rPr lang="en-US" altLang="en-US" dirty="0"/>
                        <a:t>Previous knee surgery</a:t>
                      </a:r>
                      <a:endParaRPr lang="en-US" altLang="en-US" dirty="0"/>
                    </a:p>
                    <a:p>
                      <a:pPr marL="285750" indent="-285750">
                        <a:lnSpc>
                          <a:spcPct val="240000"/>
                        </a:lnSpc>
                        <a:buFont typeface="Arial" panose="020B0604020202020204" pitchFamily="34" charset="0"/>
                        <a:buChar char="•"/>
                      </a:pPr>
                      <a:r>
                        <a:rPr lang="en-US" altLang="en-US" dirty="0"/>
                        <a:t>Generalized ligamentous laxity</a:t>
                      </a:r>
                      <a:endParaRPr lang="en-US" altLang="en-US"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 y="118745"/>
            <a:ext cx="10515600" cy="1325563"/>
          </a:xfrm>
        </p:spPr>
        <p:txBody>
          <a:bodyPr>
            <a:normAutofit/>
          </a:bodyPr>
          <a:lstStyle/>
          <a:p>
            <a:r>
              <a:rPr lang="en-US" sz="3200"/>
              <a:t>SURGICAL PROCEDURE </a:t>
            </a:r>
            <a:r>
              <a:rPr lang="en-US"/>
              <a:t>-</a:t>
            </a:r>
            <a:r>
              <a:rPr lang="en-US" altLang="en-US" sz="3600">
                <a:sym typeface="+mn-ea"/>
              </a:rPr>
              <a:t>GROUP A – SEMITENDINOSUS GRAFT</a:t>
            </a:r>
            <a:endParaRPr lang="en-US" sz="3600"/>
          </a:p>
        </p:txBody>
      </p:sp>
      <p:sp>
        <p:nvSpPr>
          <p:cNvPr id="3" name="Content Placeholder 2"/>
          <p:cNvSpPr>
            <a:spLocks noGrp="1"/>
          </p:cNvSpPr>
          <p:nvPr>
            <p:ph idx="1"/>
          </p:nvPr>
        </p:nvSpPr>
        <p:spPr>
          <a:xfrm>
            <a:off x="564515" y="1096010"/>
            <a:ext cx="11235690" cy="5181600"/>
          </a:xfrm>
        </p:spPr>
        <p:txBody>
          <a:bodyPr>
            <a:normAutofit lnSpcReduction="20000"/>
          </a:bodyPr>
          <a:lstStyle/>
          <a:p>
            <a:pPr marL="0" indent="0">
              <a:buNone/>
            </a:pPr>
            <a:endParaRPr lang="en-US" altLang="en-US" dirty="0"/>
          </a:p>
          <a:p>
            <a:r>
              <a:rPr lang="en-US" altLang="en-US" sz="2500" dirty="0"/>
              <a:t>The patient was positioned supine under spinal or general anesthesia with a thigh tourniquet.</a:t>
            </a:r>
            <a:endParaRPr lang="en-US" altLang="en-US" sz="2500" dirty="0"/>
          </a:p>
          <a:p>
            <a:r>
              <a:rPr lang="en-US" altLang="en-US" sz="2500" dirty="0"/>
              <a:t> The semitendinosus tendon was harvested through a 3–4 cm incision over the pes anserinus. Double strand graft of average 10cms was prepared.</a:t>
            </a:r>
            <a:endParaRPr lang="en-US" altLang="en-US" sz="2500" dirty="0"/>
          </a:p>
          <a:p>
            <a:r>
              <a:rPr lang="en-US" altLang="en-US" sz="2500" dirty="0"/>
              <a:t>A medial patellar incision was made, and a patellar tunnel was drilled at the junction of the upper and middle third of the patella. </a:t>
            </a:r>
            <a:endParaRPr lang="en-US" altLang="en-US" sz="2500" dirty="0"/>
          </a:p>
          <a:p>
            <a:r>
              <a:rPr lang="en-US" altLang="en-US" sz="2500" dirty="0"/>
              <a:t>Femoral tunnel placement was done at the anatomical MPFL insertion (</a:t>
            </a:r>
            <a:r>
              <a:rPr lang="en-US" altLang="en-US" sz="2500" dirty="0" err="1"/>
              <a:t>Schöttle’s</a:t>
            </a:r>
            <a:r>
              <a:rPr lang="en-US" altLang="en-US" sz="2500" dirty="0"/>
              <a:t> point) under fluoroscopic guidance. </a:t>
            </a:r>
            <a:endParaRPr lang="en-US" altLang="en-US" sz="2500" dirty="0"/>
          </a:p>
          <a:p>
            <a:r>
              <a:rPr lang="en-US" altLang="en-US" sz="2500" dirty="0"/>
              <a:t>The graft was passed in an extra-synovial plane and isometric point of MPFL was checked. Graft was fixed to the patella using transosseous tunnels and to the femur with an interference screw at 30</a:t>
            </a:r>
            <a:r>
              <a:rPr lang="en-US" altLang="en-US" sz="2500" dirty="0"/>
              <a:t>°</a:t>
            </a:r>
            <a:r>
              <a:rPr lang="en-US" altLang="en-US" sz="2500" dirty="0"/>
              <a:t> of knee flexion.</a:t>
            </a:r>
            <a:endParaRPr lang="en-US" altLang="en-US" sz="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rcRect l="7914" t="24048" r="11598" b="23347"/>
          <a:stretch>
            <a:fillRect/>
          </a:stretch>
        </p:blipFill>
        <p:spPr>
          <a:xfrm>
            <a:off x="254318" y="243840"/>
            <a:ext cx="3307715" cy="4563110"/>
          </a:xfrm>
          <a:prstGeom prst="rect">
            <a:avLst/>
          </a:prstGeom>
        </p:spPr>
      </p:pic>
      <p:sp>
        <p:nvSpPr>
          <p:cNvPr id="5" name="Text Box 4"/>
          <p:cNvSpPr txBox="1"/>
          <p:nvPr/>
        </p:nvSpPr>
        <p:spPr>
          <a:xfrm>
            <a:off x="177800" y="3500120"/>
            <a:ext cx="3690620" cy="549910"/>
          </a:xfrm>
          <a:prstGeom prst="rect">
            <a:avLst/>
          </a:prstGeom>
          <a:noFill/>
        </p:spPr>
        <p:txBody>
          <a:bodyPr wrap="square" rtlCol="0">
            <a:noAutofit/>
          </a:bodyPr>
          <a:lstStyle/>
          <a:p>
            <a:r>
              <a:rPr lang="en-US" sz="2000">
                <a:solidFill>
                  <a:schemeClr val="tx1"/>
                </a:solidFill>
                <a:highlight>
                  <a:srgbClr val="FF0000"/>
                </a:highlight>
              </a:rPr>
              <a:t>SEMITENDINOSUS GRAFT HARVEST</a:t>
            </a:r>
            <a:endParaRPr lang="en-US" sz="2000">
              <a:solidFill>
                <a:schemeClr val="tx1"/>
              </a:solidFill>
              <a:highlight>
                <a:srgbClr val="FF0000"/>
              </a:highlight>
            </a:endParaRPr>
          </a:p>
        </p:txBody>
      </p:sp>
      <p:sp>
        <p:nvSpPr>
          <p:cNvPr id="6" name="Right Arrow 5"/>
          <p:cNvSpPr/>
          <p:nvPr/>
        </p:nvSpPr>
        <p:spPr>
          <a:xfrm>
            <a:off x="3665220" y="1449705"/>
            <a:ext cx="1431925" cy="10756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rcRect t="23510" b="22188"/>
          <a:stretch>
            <a:fillRect/>
          </a:stretch>
        </p:blipFill>
        <p:spPr>
          <a:xfrm>
            <a:off x="5289755" y="243840"/>
            <a:ext cx="4262550" cy="3808096"/>
          </a:xfrm>
          <a:prstGeom prst="rect">
            <a:avLst/>
          </a:prstGeom>
        </p:spPr>
      </p:pic>
      <p:sp>
        <p:nvSpPr>
          <p:cNvPr id="8" name="Text Box 7"/>
          <p:cNvSpPr txBox="1"/>
          <p:nvPr/>
        </p:nvSpPr>
        <p:spPr>
          <a:xfrm>
            <a:off x="5488305" y="738505"/>
            <a:ext cx="4064000" cy="368300"/>
          </a:xfrm>
          <a:prstGeom prst="rect">
            <a:avLst/>
          </a:prstGeom>
          <a:noFill/>
        </p:spPr>
        <p:txBody>
          <a:bodyPr wrap="square" rtlCol="0">
            <a:spAutoFit/>
          </a:bodyPr>
          <a:lstStyle/>
          <a:p>
            <a:r>
              <a:rPr lang="en-US">
                <a:highlight>
                  <a:srgbClr val="FF0000"/>
                </a:highlight>
              </a:rPr>
              <a:t>PATELLA TRANSOSSEOUS FIXATION</a:t>
            </a:r>
            <a:r>
              <a:rPr lang="en-US"/>
              <a:t/>
            </a:r>
            <a:endParaRPr lang="en-US"/>
          </a:p>
        </p:txBody>
      </p:sp>
      <p:sp>
        <p:nvSpPr>
          <p:cNvPr id="9" name="Curved Left Arrow 8"/>
          <p:cNvSpPr/>
          <p:nvPr/>
        </p:nvSpPr>
        <p:spPr>
          <a:xfrm rot="400338">
            <a:off x="9507181" y="2647556"/>
            <a:ext cx="2234465" cy="3504607"/>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solidFill>
                <a:schemeClr val="tx1"/>
              </a:solidFill>
            </a:endParaRPr>
          </a:p>
        </p:txBody>
      </p:sp>
      <p:pic>
        <p:nvPicPr>
          <p:cNvPr id="10" name="Picture 9"/>
          <p:cNvPicPr>
            <a:picLocks noChangeAspect="1"/>
          </p:cNvPicPr>
          <p:nvPr/>
        </p:nvPicPr>
        <p:blipFill>
          <a:blip r:embed="rId3"/>
          <a:srcRect l="2204" t="33833" r="4704" b="29219"/>
          <a:stretch>
            <a:fillRect/>
          </a:stretch>
        </p:blipFill>
        <p:spPr>
          <a:xfrm>
            <a:off x="3665220" y="4050030"/>
            <a:ext cx="4741361" cy="2565441"/>
          </a:xfrm>
          <a:prstGeom prst="rect">
            <a:avLst/>
          </a:prstGeom>
        </p:spPr>
      </p:pic>
      <p:sp>
        <p:nvSpPr>
          <p:cNvPr id="11" name="Text Box 10"/>
          <p:cNvSpPr txBox="1"/>
          <p:nvPr/>
        </p:nvSpPr>
        <p:spPr>
          <a:xfrm>
            <a:off x="3742752" y="5969000"/>
            <a:ext cx="4476750" cy="645160"/>
          </a:xfrm>
          <a:prstGeom prst="rect">
            <a:avLst/>
          </a:prstGeom>
          <a:noFill/>
        </p:spPr>
        <p:txBody>
          <a:bodyPr wrap="square" rtlCol="0">
            <a:spAutoFit/>
          </a:bodyPr>
          <a:lstStyle/>
          <a:p>
            <a:r>
              <a:rPr lang="en-US" dirty="0">
                <a:highlight>
                  <a:srgbClr val="FF0000"/>
                </a:highlight>
              </a:rPr>
              <a:t>FIXATION OF GRAFT TO PATELLA AND SCHOTTLE POINT</a:t>
            </a:r>
            <a:endParaRPr lang="en-US" dirty="0">
              <a:highlight>
                <a:srgbClr val="FF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t>GROUP B – PERONEUS LONGUS GRAFT</a:t>
            </a:r>
            <a:endParaRPr lang="en-US" altLang="en-US"/>
          </a:p>
        </p:txBody>
      </p:sp>
      <p:sp>
        <p:nvSpPr>
          <p:cNvPr id="3" name="Content Placeholder 2"/>
          <p:cNvSpPr>
            <a:spLocks noGrp="1"/>
          </p:cNvSpPr>
          <p:nvPr>
            <p:ph idx="1"/>
          </p:nvPr>
        </p:nvSpPr>
        <p:spPr/>
        <p:txBody>
          <a:bodyPr>
            <a:normAutofit/>
          </a:bodyPr>
          <a:lstStyle/>
          <a:p>
            <a:r>
              <a:rPr lang="en-US" altLang="en-US" sz="2400" dirty="0"/>
              <a:t>In this group, the peroneus longus tendon was harvested through a small incision posterior to the lateral malleolus. The graft was prepared similarly.</a:t>
            </a:r>
            <a:endParaRPr lang="en-US" altLang="en-US" sz="2400" dirty="0"/>
          </a:p>
          <a:p>
            <a:r>
              <a:rPr lang="en-US" altLang="en-US" sz="2400" dirty="0"/>
              <a:t>The MPFL reconstruction technique, tunnel placement, and fixation method were identical to Group A to eliminate procedural bias. Care was taken to avoid graft over tensioning.</a:t>
            </a:r>
            <a:endParaRPr lang="en-US"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rcRect l="2375" t="6450" r="5987" b="27127"/>
          <a:stretch>
            <a:fillRect/>
          </a:stretch>
        </p:blipFill>
        <p:spPr>
          <a:xfrm>
            <a:off x="238760" y="223520"/>
            <a:ext cx="5316855" cy="2890520"/>
          </a:xfrm>
          <a:prstGeom prst="rect">
            <a:avLst/>
          </a:prstGeom>
        </p:spPr>
      </p:pic>
      <p:sp>
        <p:nvSpPr>
          <p:cNvPr id="5" name="Text Box 4"/>
          <p:cNvSpPr txBox="1"/>
          <p:nvPr/>
        </p:nvSpPr>
        <p:spPr>
          <a:xfrm>
            <a:off x="897890" y="647065"/>
            <a:ext cx="4064000" cy="368300"/>
          </a:xfrm>
          <a:prstGeom prst="rect">
            <a:avLst/>
          </a:prstGeom>
          <a:noFill/>
        </p:spPr>
        <p:txBody>
          <a:bodyPr wrap="square" rtlCol="0">
            <a:spAutoFit/>
          </a:bodyPr>
          <a:lstStyle/>
          <a:p>
            <a:r>
              <a:rPr lang="en-US">
                <a:solidFill>
                  <a:schemeClr val="tx1"/>
                </a:solidFill>
                <a:highlight>
                  <a:srgbClr val="FF0000"/>
                </a:highlight>
              </a:rPr>
              <a:t>PERONEUS LONGUS GRAFT HARVEST</a:t>
            </a:r>
            <a:endParaRPr lang="en-US">
              <a:solidFill>
                <a:schemeClr val="tx1"/>
              </a:solidFill>
              <a:highlight>
                <a:srgbClr val="FF0000"/>
              </a:highlight>
            </a:endParaRPr>
          </a:p>
        </p:txBody>
      </p:sp>
      <p:sp>
        <p:nvSpPr>
          <p:cNvPr id="7" name="Right Arrow 6"/>
          <p:cNvSpPr/>
          <p:nvPr/>
        </p:nvSpPr>
        <p:spPr>
          <a:xfrm rot="1560000">
            <a:off x="5940425" y="1704975"/>
            <a:ext cx="1769745" cy="8756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rcRect l="12222" t="27250" r="8691" b="29000"/>
          <a:stretch>
            <a:fillRect/>
          </a:stretch>
        </p:blipFill>
        <p:spPr>
          <a:xfrm>
            <a:off x="7885430" y="2160905"/>
            <a:ext cx="4067810" cy="3000375"/>
          </a:xfrm>
          <a:prstGeom prst="rect">
            <a:avLst/>
          </a:prstGeom>
        </p:spPr>
      </p:pic>
      <p:sp>
        <p:nvSpPr>
          <p:cNvPr id="9" name="Text Box 8"/>
          <p:cNvSpPr txBox="1"/>
          <p:nvPr/>
        </p:nvSpPr>
        <p:spPr>
          <a:xfrm>
            <a:off x="8047990" y="3181985"/>
            <a:ext cx="4064000" cy="368300"/>
          </a:xfrm>
          <a:prstGeom prst="rect">
            <a:avLst/>
          </a:prstGeom>
          <a:noFill/>
        </p:spPr>
        <p:txBody>
          <a:bodyPr wrap="square" rtlCol="0">
            <a:spAutoFit/>
          </a:bodyPr>
          <a:lstStyle/>
          <a:p>
            <a:r>
              <a:rPr lang="en-US">
                <a:solidFill>
                  <a:schemeClr val="tx1"/>
                </a:solidFill>
                <a:highlight>
                  <a:srgbClr val="FF0000"/>
                </a:highlight>
              </a:rPr>
              <a:t>TRANSPATELLAR FIXATION</a:t>
            </a:r>
            <a:endParaRPr lang="en-US">
              <a:solidFill>
                <a:schemeClr val="tx1"/>
              </a:solidFill>
              <a:highlight>
                <a:srgbClr val="FF0000"/>
              </a:highlight>
            </a:endParaRPr>
          </a:p>
        </p:txBody>
      </p:sp>
      <p:sp>
        <p:nvSpPr>
          <p:cNvPr id="10" name="Left Arrow 9"/>
          <p:cNvSpPr/>
          <p:nvPr/>
        </p:nvSpPr>
        <p:spPr>
          <a:xfrm rot="20160000">
            <a:off x="5815965" y="4206875"/>
            <a:ext cx="1738630" cy="89344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3"/>
          <a:srcRect l="37198" t="19852" r="926" b="20222"/>
          <a:stretch>
            <a:fillRect/>
          </a:stretch>
        </p:blipFill>
        <p:spPr>
          <a:xfrm>
            <a:off x="1364933" y="3537585"/>
            <a:ext cx="3556000" cy="3096895"/>
          </a:xfrm>
          <a:prstGeom prst="rect">
            <a:avLst/>
          </a:prstGeom>
        </p:spPr>
      </p:pic>
      <p:sp>
        <p:nvSpPr>
          <p:cNvPr id="13" name="Text Box 12"/>
          <p:cNvSpPr txBox="1"/>
          <p:nvPr/>
        </p:nvSpPr>
        <p:spPr>
          <a:xfrm>
            <a:off x="1232672" y="5989320"/>
            <a:ext cx="3688261" cy="645160"/>
          </a:xfrm>
          <a:prstGeom prst="rect">
            <a:avLst/>
          </a:prstGeom>
          <a:noFill/>
        </p:spPr>
        <p:txBody>
          <a:bodyPr wrap="square" rtlCol="0">
            <a:spAutoFit/>
          </a:bodyPr>
          <a:lstStyle/>
          <a:p>
            <a:r>
              <a:rPr lang="en-US" dirty="0">
                <a:highlight>
                  <a:srgbClr val="FF0000"/>
                </a:highlight>
              </a:rPr>
              <a:t>FIXATION OF GRAFT TO PATELLA AND SCHOTTLE POINT</a:t>
            </a:r>
            <a:endParaRPr lang="en-US" dirty="0">
              <a:highlight>
                <a:srgbClr val="FF00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POSTOPERATIVE PROTOCOL</a:t>
            </a:r>
            <a:endParaRPr lang="en-US"/>
          </a:p>
        </p:txBody>
      </p:sp>
      <p:sp>
        <p:nvSpPr>
          <p:cNvPr id="3" name="Content Placeholder 2"/>
          <p:cNvSpPr>
            <a:spLocks noGrp="1"/>
          </p:cNvSpPr>
          <p:nvPr>
            <p:ph idx="1"/>
          </p:nvPr>
        </p:nvSpPr>
        <p:spPr/>
        <p:txBody>
          <a:bodyPr>
            <a:normAutofit/>
          </a:bodyPr>
          <a:lstStyle/>
          <a:p>
            <a:r>
              <a:rPr lang="en-US" altLang="en-US" sz="2400" dirty="0"/>
              <a:t>Knee immobilizer for 2 weeks</a:t>
            </a:r>
            <a:endParaRPr lang="en-US" altLang="en-US" sz="2400" dirty="0"/>
          </a:p>
          <a:p>
            <a:r>
              <a:rPr lang="en-US" altLang="en-US" sz="2400" dirty="0"/>
              <a:t>Quadriceps strengthening from day 1</a:t>
            </a:r>
            <a:endParaRPr lang="en-US" altLang="en-US" sz="2400" dirty="0"/>
          </a:p>
          <a:p>
            <a:r>
              <a:rPr lang="en-US" altLang="en-US" sz="2400" dirty="0"/>
              <a:t>Passive range of motion initiated after 2 weeks</a:t>
            </a:r>
            <a:endParaRPr lang="en-US" altLang="en-US" sz="2400" dirty="0"/>
          </a:p>
          <a:p>
            <a:r>
              <a:rPr lang="en-US" altLang="en-US" sz="2400" dirty="0"/>
              <a:t>Partial weight bearing from 2 weeks, full weight bearing by 4–6 weeks</a:t>
            </a:r>
            <a:endParaRPr lang="en-US" altLang="en-US" sz="2400" dirty="0"/>
          </a:p>
          <a:p>
            <a:r>
              <a:rPr lang="en-US" altLang="en-US" sz="2400" dirty="0"/>
              <a:t>Sports activities allowed after 4–6 months</a:t>
            </a:r>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STATISTICAL ANALYSIS</a:t>
            </a:r>
            <a:endParaRPr lang="en-US"/>
          </a:p>
        </p:txBody>
      </p:sp>
      <p:sp>
        <p:nvSpPr>
          <p:cNvPr id="3" name="Content Placeholder 2"/>
          <p:cNvSpPr>
            <a:spLocks noGrp="1"/>
          </p:cNvSpPr>
          <p:nvPr>
            <p:ph idx="1"/>
          </p:nvPr>
        </p:nvSpPr>
        <p:spPr/>
        <p:txBody>
          <a:bodyPr>
            <a:normAutofit/>
          </a:bodyPr>
          <a:lstStyle/>
          <a:p>
            <a:r>
              <a:rPr lang="en-US" altLang="en-US" sz="2400" dirty="0"/>
              <a:t>Patient data were collected retrospectively from medical records. </a:t>
            </a:r>
            <a:endParaRPr lang="en-US" altLang="en-US" sz="2400" dirty="0"/>
          </a:p>
          <a:p>
            <a:r>
              <a:rPr lang="en-US" altLang="en-US" sz="2400" dirty="0"/>
              <a:t>Clinical outcomes were analyzed and compared between the two groups using KUJALA and LYSHOLM scores.</a:t>
            </a:r>
            <a:endParaRPr lang="en-US" altLang="en-US" sz="2400" dirty="0"/>
          </a:p>
          <a:p>
            <a:r>
              <a:rPr lang="en-US" altLang="en-US" sz="2400" dirty="0"/>
              <a:t> The data were compiled and </a:t>
            </a:r>
            <a:r>
              <a:rPr lang="en-US" altLang="en-US" sz="2400" dirty="0" err="1"/>
              <a:t>analysed</a:t>
            </a:r>
            <a:r>
              <a:rPr lang="en-US" altLang="en-US" sz="2400" dirty="0"/>
              <a:t> in Statistical package for </a:t>
            </a:r>
            <a:r>
              <a:rPr lang="en-US" altLang="en-US" sz="2400" dirty="0" err="1"/>
              <a:t>socialsciences</a:t>
            </a:r>
            <a:r>
              <a:rPr lang="en-US" altLang="en-US" sz="2400" dirty="0"/>
              <a:t> (SPSS) software version 26.0. </a:t>
            </a:r>
            <a:endParaRPr lang="en-US" altLang="en-US" sz="2400" dirty="0"/>
          </a:p>
          <a:p>
            <a:r>
              <a:rPr lang="en-US" altLang="en-US" sz="2400" dirty="0"/>
              <a:t>Quantitative data were described as means and standard deviation. </a:t>
            </a:r>
            <a:endParaRPr lang="en-US" altLang="en-US" sz="2400" dirty="0"/>
          </a:p>
          <a:p>
            <a:r>
              <a:rPr lang="en-US" altLang="en-US" sz="2400" dirty="0"/>
              <a:t>Students t test was done and p value less than 0.05 was considered statistically significant.</a:t>
            </a:r>
            <a:endParaRPr lang="en-US"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RESULTS </a:t>
            </a:r>
            <a:endParaRPr lang="en-US"/>
          </a:p>
        </p:txBody>
      </p:sp>
      <p:sp>
        <p:nvSpPr>
          <p:cNvPr id="3" name="Content Placeholder 2"/>
          <p:cNvSpPr>
            <a:spLocks noGrp="1"/>
          </p:cNvSpPr>
          <p:nvPr>
            <p:ph idx="1"/>
          </p:nvPr>
        </p:nvSpPr>
        <p:spPr/>
        <p:txBody>
          <a:bodyPr>
            <a:noAutofit/>
          </a:bodyPr>
          <a:lstStyle/>
          <a:p>
            <a:pPr marL="0" indent="0">
              <a:buNone/>
            </a:pPr>
            <a:r>
              <a:rPr lang="en-US" sz="2400" b="1" dirty="0">
                <a:sym typeface="+mn-ea"/>
              </a:rPr>
              <a:t>DEMOGRAPHIC PROFILE</a:t>
            </a:r>
            <a:endParaRPr lang="en-US" sz="2400" b="1" dirty="0"/>
          </a:p>
          <a:p>
            <a:r>
              <a:rPr lang="en-US" altLang="en-US" sz="2400" dirty="0"/>
              <a:t>Mean age in Group A: 24.6 ± 4.1 years</a:t>
            </a:r>
            <a:endParaRPr lang="en-US" altLang="en-US" sz="2400" dirty="0"/>
          </a:p>
          <a:p>
            <a:r>
              <a:rPr lang="en-US" altLang="en-US" sz="2400" dirty="0"/>
              <a:t>Mean age in Group B: 23.9 ± 3.8 years</a:t>
            </a:r>
            <a:endParaRPr lang="en-US" altLang="en-US" sz="2400" dirty="0"/>
          </a:p>
          <a:p>
            <a:r>
              <a:rPr lang="en-US" altLang="en-US" sz="2400" dirty="0"/>
              <a:t>No statistically significant difference (p = 0.71)</a:t>
            </a:r>
            <a:endParaRPr lang="en-US" altLang="en-US" sz="2400" dirty="0"/>
          </a:p>
          <a:p>
            <a:pPr marL="0" indent="0">
              <a:buNone/>
            </a:pPr>
            <a:r>
              <a:rPr lang="en-US" altLang="en-US" sz="2400" b="1" dirty="0"/>
              <a:t>INTRAOPERATIVE PARAMETERS</a:t>
            </a:r>
            <a:endParaRPr lang="en-US" altLang="en-US" sz="2400" b="1" dirty="0"/>
          </a:p>
          <a:p>
            <a:r>
              <a:rPr lang="en-US" altLang="en-US" sz="2400" dirty="0"/>
              <a:t>Mean operative time was significantly lower in Group B (65 ± 8 min) compared to Group A (78 ± 10 min) (p &lt; 0.01)</a:t>
            </a:r>
            <a:endParaRPr lang="en-US" altLang="en-US" sz="2400" dirty="0"/>
          </a:p>
          <a:p>
            <a:r>
              <a:rPr lang="en-US" altLang="en-US" sz="2400" dirty="0"/>
              <a:t>Mean intraoperative blood loss was significantly less in Group B (85 ± 15 ml) compared to Group A (120 ± 20 ml) (p &lt; 0.01)</a:t>
            </a:r>
            <a:endParaRPr lang="en-US"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TENDON LENGTH , DIAMETER,STRENGTH</a:t>
            </a:r>
            <a:endParaRPr lang="en-US"/>
          </a:p>
        </p:txBody>
      </p:sp>
      <p:graphicFrame>
        <p:nvGraphicFramePr>
          <p:cNvPr id="4" name="Content Placeholder 3"/>
          <p:cNvGraphicFramePr>
            <a:graphicFrameLocks noGrp="1"/>
          </p:cNvGraphicFramePr>
          <p:nvPr>
            <p:ph idx="1"/>
            <p:custDataLst>
              <p:tags r:id="rId1"/>
            </p:custDataLst>
          </p:nvPr>
        </p:nvGraphicFramePr>
        <p:xfrm>
          <a:off x="838200" y="2306115"/>
          <a:ext cx="10515600" cy="3111500"/>
        </p:xfrm>
        <a:graphic>
          <a:graphicData uri="http://schemas.openxmlformats.org/drawingml/2006/table">
            <a:tbl>
              <a:tblPr firstRow="1" bandRow="1">
                <a:tableStyleId>{5C22544A-7EE6-4342-B048-85BDC9FD1C3A}</a:tableStyleId>
              </a:tblPr>
              <a:tblGrid>
                <a:gridCol w="2173605"/>
                <a:gridCol w="4124960"/>
                <a:gridCol w="4217035"/>
              </a:tblGrid>
              <a:tr h="551180">
                <a:tc>
                  <a:txBody>
                    <a:bodyPr/>
                    <a:lstStyle/>
                    <a:p>
                      <a:pPr>
                        <a:buNone/>
                      </a:pPr>
                      <a:endParaRPr lang="en-US"/>
                    </a:p>
                  </a:txBody>
                  <a:tcPr/>
                </a:tc>
                <a:tc>
                  <a:txBody>
                    <a:bodyPr/>
                    <a:lstStyle/>
                    <a:p>
                      <a:pPr>
                        <a:buNone/>
                      </a:pPr>
                      <a:r>
                        <a:rPr lang="en-US"/>
                        <a:t>SEMITENDINOSUS GRAFT</a:t>
                      </a:r>
                      <a:endParaRPr lang="en-US"/>
                    </a:p>
                  </a:txBody>
                  <a:tcPr/>
                </a:tc>
                <a:tc>
                  <a:txBody>
                    <a:bodyPr/>
                    <a:lstStyle/>
                    <a:p>
                      <a:pPr>
                        <a:buNone/>
                      </a:pPr>
                      <a:r>
                        <a:rPr lang="en-US"/>
                        <a:t>PERONEUS LONGUS GRAFT</a:t>
                      </a:r>
                      <a:endParaRPr lang="en-US"/>
                    </a:p>
                  </a:txBody>
                  <a:tcPr/>
                </a:tc>
              </a:tr>
              <a:tr h="551180">
                <a:tc>
                  <a:txBody>
                    <a:bodyPr/>
                    <a:lstStyle/>
                    <a:p>
                      <a:pPr>
                        <a:buNone/>
                      </a:pPr>
                      <a:r>
                        <a:rPr lang="en-US"/>
                        <a:t>TENDON LENGTH</a:t>
                      </a:r>
                      <a:endParaRPr lang="en-US"/>
                    </a:p>
                  </a:txBody>
                  <a:tcPr/>
                </a:tc>
                <a:tc>
                  <a:txBody>
                    <a:bodyPr/>
                    <a:lstStyle/>
                    <a:p>
                      <a:pPr>
                        <a:buNone/>
                      </a:pPr>
                      <a:r>
                        <a:rPr lang="en-US"/>
                        <a:t>22-26 cms (average in our study-23.6cms)</a:t>
                      </a:r>
                      <a:endParaRPr lang="en-US"/>
                    </a:p>
                  </a:txBody>
                  <a:tcPr/>
                </a:tc>
                <a:tc>
                  <a:txBody>
                    <a:bodyPr/>
                    <a:lstStyle/>
                    <a:p>
                      <a:pPr>
                        <a:buNone/>
                      </a:pPr>
                      <a:r>
                        <a:rPr lang="en-US"/>
                        <a:t>28-32 cms(average -29.2cms)</a:t>
                      </a:r>
                      <a:endParaRPr lang="en-US"/>
                    </a:p>
                  </a:txBody>
                  <a:tcPr/>
                </a:tc>
              </a:tr>
              <a:tr h="551180">
                <a:tc>
                  <a:txBody>
                    <a:bodyPr/>
                    <a:lstStyle/>
                    <a:p>
                      <a:pPr>
                        <a:buNone/>
                      </a:pPr>
                      <a:r>
                        <a:rPr lang="en-US"/>
                        <a:t>TENDON DIAMETER</a:t>
                      </a:r>
                      <a:endParaRPr lang="en-US"/>
                    </a:p>
                  </a:txBody>
                  <a:tcPr/>
                </a:tc>
                <a:tc>
                  <a:txBody>
                    <a:bodyPr/>
                    <a:lstStyle/>
                    <a:p>
                      <a:pPr>
                        <a:buNone/>
                      </a:pPr>
                      <a:r>
                        <a:rPr lang="en-US" dirty="0"/>
                        <a:t>5-6 mm</a:t>
                      </a:r>
                      <a:endParaRPr lang="en-US" dirty="0"/>
                    </a:p>
                  </a:txBody>
                  <a:tcPr/>
                </a:tc>
                <a:tc>
                  <a:txBody>
                    <a:bodyPr/>
                    <a:lstStyle/>
                    <a:p>
                      <a:pPr>
                        <a:buNone/>
                      </a:pPr>
                      <a:r>
                        <a:rPr lang="en-US"/>
                        <a:t>4.5 to 5 mm</a:t>
                      </a:r>
                      <a:endParaRPr lang="en-US"/>
                    </a:p>
                  </a:txBody>
                  <a:tcPr/>
                </a:tc>
              </a:tr>
              <a:tr h="551180">
                <a:tc>
                  <a:txBody>
                    <a:bodyPr/>
                    <a:lstStyle/>
                    <a:p>
                      <a:pPr>
                        <a:buNone/>
                      </a:pPr>
                      <a:r>
                        <a:rPr lang="en-US"/>
                        <a:t>TENDON STRENGTH</a:t>
                      </a:r>
                      <a:endParaRPr lang="en-US"/>
                    </a:p>
                  </a:txBody>
                  <a:tcPr/>
                </a:tc>
                <a:tc>
                  <a:txBody>
                    <a:bodyPr/>
                    <a:lstStyle/>
                    <a:p>
                      <a:pPr>
                        <a:buNone/>
                      </a:pPr>
                      <a:r>
                        <a:rPr lang="en-US" altLang="en-US"/>
                        <a:t>~1216–2422 N</a:t>
                      </a:r>
                      <a:endParaRPr lang="en-US" altLang="en-US"/>
                    </a:p>
                  </a:txBody>
                  <a:tcPr/>
                </a:tc>
                <a:tc>
                  <a:txBody>
                    <a:bodyPr/>
                    <a:lstStyle/>
                    <a:p>
                      <a:pPr>
                        <a:buNone/>
                      </a:pPr>
                      <a:r>
                        <a:rPr lang="en-US" altLang="en-US"/>
                        <a:t>~1950–3224 N</a:t>
                      </a:r>
                      <a:endParaRPr lang="en-US" altLang="en-US"/>
                    </a:p>
                  </a:txBody>
                  <a:tcPr/>
                </a:tc>
              </a:tr>
              <a:tr h="551180">
                <a:tc>
                  <a:txBody>
                    <a:bodyPr/>
                    <a:lstStyle/>
                    <a:p>
                      <a:pPr>
                        <a:buNone/>
                      </a:pPr>
                      <a:r>
                        <a:rPr lang="en-US"/>
                        <a:t>TENDON STIFFNESS</a:t>
                      </a:r>
                      <a:endParaRPr lang="en-US"/>
                    </a:p>
                  </a:txBody>
                  <a:tcPr/>
                </a:tc>
                <a:tc>
                  <a:txBody>
                    <a:bodyPr/>
                    <a:lstStyle/>
                    <a:p>
                      <a:pPr>
                        <a:buNone/>
                      </a:pPr>
                      <a:r>
                        <a:rPr lang="en-US" altLang="en-US"/>
                        <a:t>~150–200 N/mm</a:t>
                      </a:r>
                      <a:endParaRPr lang="en-US" altLang="en-US"/>
                    </a:p>
                  </a:txBody>
                  <a:tcPr/>
                </a:tc>
                <a:tc>
                  <a:txBody>
                    <a:bodyPr/>
                    <a:lstStyle/>
                    <a:p>
                      <a:pPr>
                        <a:buNone/>
                      </a:pPr>
                      <a:r>
                        <a:rPr lang="en-US" altLang="en-US" dirty="0"/>
                        <a:t>~180–220 N/mm</a:t>
                      </a:r>
                      <a:endParaRPr lang="en-US" altLang="en-US"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6994"/>
            <a:ext cx="10058400" cy="1371600"/>
          </a:xfrm>
        </p:spPr>
        <p:txBody>
          <a:bodyPr/>
          <a:lstStyle/>
          <a:p>
            <a:r>
              <a:rPr lang="en-US"/>
              <a:t>KUJALA AND LYSHOLM SCORES</a:t>
            </a:r>
            <a:endParaRPr lang="en-US"/>
          </a:p>
        </p:txBody>
      </p:sp>
      <p:graphicFrame>
        <p:nvGraphicFramePr>
          <p:cNvPr id="4" name="Content Placeholder 3"/>
          <p:cNvGraphicFramePr>
            <a:graphicFrameLocks noGrp="1"/>
          </p:cNvGraphicFramePr>
          <p:nvPr>
            <p:ph idx="1"/>
            <p:custDataLst>
              <p:tags r:id="rId1"/>
            </p:custDataLst>
          </p:nvPr>
        </p:nvGraphicFramePr>
        <p:xfrm>
          <a:off x="2218055" y="1658620"/>
          <a:ext cx="7755890" cy="4359910"/>
        </p:xfrm>
        <a:graphic>
          <a:graphicData uri="http://schemas.openxmlformats.org/drawingml/2006/table">
            <a:tbl>
              <a:tblPr firstRow="1" bandRow="1">
                <a:tableStyleId>{5C22544A-7EE6-4342-B048-85BDC9FD1C3A}</a:tableStyleId>
              </a:tblPr>
              <a:tblGrid>
                <a:gridCol w="1381125"/>
                <a:gridCol w="2497455"/>
                <a:gridCol w="1938655"/>
                <a:gridCol w="1938655"/>
              </a:tblGrid>
              <a:tr h="1771650">
                <a:tc>
                  <a:txBody>
                    <a:bodyPr/>
                    <a:lstStyle/>
                    <a:p>
                      <a:pPr>
                        <a:buNone/>
                      </a:pPr>
                      <a:endParaRPr lang="en-US"/>
                    </a:p>
                  </a:txBody>
                  <a:tcPr/>
                </a:tc>
                <a:tc>
                  <a:txBody>
                    <a:bodyPr/>
                    <a:lstStyle/>
                    <a:p>
                      <a:pPr>
                        <a:buNone/>
                      </a:pPr>
                      <a:r>
                        <a:rPr lang="en-US" altLang="en-US"/>
                        <a:t>Semitendinosus (Group A)</a:t>
                      </a:r>
                      <a:endParaRPr lang="en-US" altLang="en-US"/>
                    </a:p>
                  </a:txBody>
                  <a:tcPr/>
                </a:tc>
                <a:tc>
                  <a:txBody>
                    <a:bodyPr/>
                    <a:lstStyle/>
                    <a:p>
                      <a:pPr>
                        <a:buNone/>
                      </a:pPr>
                      <a:r>
                        <a:rPr lang="en-US" altLang="en-US"/>
                        <a:t>Peroneus Longus (Group B)</a:t>
                      </a:r>
                      <a:endParaRPr lang="en-US" altLang="en-US"/>
                    </a:p>
                  </a:txBody>
                  <a:tcPr/>
                </a:tc>
                <a:tc>
                  <a:txBody>
                    <a:bodyPr/>
                    <a:lstStyle/>
                    <a:p>
                      <a:pPr>
                        <a:buNone/>
                      </a:pPr>
                      <a:r>
                        <a:rPr lang="en-US" altLang="en-US"/>
                        <a:t>P value,t score</a:t>
                      </a:r>
                      <a:endParaRPr lang="en-US" altLang="en-US"/>
                    </a:p>
                  </a:txBody>
                  <a:tcPr/>
                </a:tc>
              </a:tr>
              <a:tr h="1165225">
                <a:tc>
                  <a:txBody>
                    <a:bodyPr/>
                    <a:lstStyle/>
                    <a:p>
                      <a:pPr>
                        <a:buNone/>
                      </a:pPr>
                      <a:r>
                        <a:rPr lang="en-US" altLang="en-US"/>
                        <a:t>Post-op Kujala</a:t>
                      </a:r>
                      <a:endParaRPr lang="en-US" altLang="en-US"/>
                    </a:p>
                  </a:txBody>
                  <a:tcPr/>
                </a:tc>
                <a:tc>
                  <a:txBody>
                    <a:bodyPr/>
                    <a:lstStyle/>
                    <a:p>
                      <a:pPr>
                        <a:buNone/>
                      </a:pPr>
                      <a:r>
                        <a:rPr lang="en-US" altLang="en-US" dirty="0"/>
                        <a:t>82.4 ± 4.9</a:t>
                      </a:r>
                      <a:endParaRPr lang="en-US" altLang="en-US" dirty="0"/>
                    </a:p>
                  </a:txBody>
                  <a:tcPr/>
                </a:tc>
                <a:tc>
                  <a:txBody>
                    <a:bodyPr/>
                    <a:lstStyle/>
                    <a:p>
                      <a:pPr>
                        <a:buNone/>
                      </a:pPr>
                      <a:r>
                        <a:rPr lang="en-US" altLang="en-US"/>
                        <a:t>88.6 ± 4.2</a:t>
                      </a:r>
                      <a:endParaRPr lang="en-US" altLang="en-US"/>
                    </a:p>
                  </a:txBody>
                  <a:tcPr/>
                </a:tc>
                <a:tc>
                  <a:txBody>
                    <a:bodyPr/>
                    <a:lstStyle/>
                    <a:p>
                      <a:pPr>
                        <a:buNone/>
                      </a:pPr>
                      <a:r>
                        <a:rPr lang="en-US" altLang="en-US"/>
                        <a:t>&lt;0.001,3.77</a:t>
                      </a:r>
                      <a:endParaRPr lang="en-US" altLang="en-US"/>
                    </a:p>
                  </a:txBody>
                  <a:tcPr/>
                </a:tc>
              </a:tr>
              <a:tr h="1423035">
                <a:tc>
                  <a:txBody>
                    <a:bodyPr/>
                    <a:lstStyle/>
                    <a:p>
                      <a:pPr>
                        <a:buNone/>
                      </a:pPr>
                      <a:r>
                        <a:rPr lang="en-US" altLang="en-US"/>
                        <a:t>Post-op Lysholm</a:t>
                      </a:r>
                      <a:endParaRPr lang="en-US" altLang="en-US"/>
                    </a:p>
                  </a:txBody>
                  <a:tcPr/>
                </a:tc>
                <a:tc>
                  <a:txBody>
                    <a:bodyPr/>
                    <a:lstStyle/>
                    <a:p>
                      <a:pPr>
                        <a:buNone/>
                      </a:pPr>
                      <a:r>
                        <a:rPr lang="en-US" altLang="en-US" dirty="0"/>
                        <a:t>80.1 ± 5.7</a:t>
                      </a:r>
                      <a:endParaRPr lang="en-US" altLang="en-US" dirty="0"/>
                    </a:p>
                  </a:txBody>
                  <a:tcPr/>
                </a:tc>
                <a:tc>
                  <a:txBody>
                    <a:bodyPr/>
                    <a:lstStyle/>
                    <a:p>
                      <a:pPr>
                        <a:buNone/>
                      </a:pPr>
                      <a:r>
                        <a:rPr lang="en-US" altLang="en-US" dirty="0"/>
                        <a:t>87.2 ± 4.8</a:t>
                      </a:r>
                      <a:endParaRPr lang="en-US" altLang="en-US" dirty="0"/>
                    </a:p>
                  </a:txBody>
                  <a:tcPr/>
                </a:tc>
                <a:tc>
                  <a:txBody>
                    <a:bodyPr/>
                    <a:lstStyle/>
                    <a:p>
                      <a:pPr>
                        <a:buNone/>
                      </a:pPr>
                      <a:r>
                        <a:rPr lang="en-US" altLang="en-US" dirty="0"/>
                        <a:t>&lt;0.001, 3.67</a:t>
                      </a:r>
                      <a:endParaRPr lang="en-US" alt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5320408" name="Chart 3"/>
          <p:cNvGraphicFramePr/>
          <p:nvPr/>
        </p:nvGraphicFramePr>
        <p:xfrm>
          <a:off x="514350" y="1968500"/>
          <a:ext cx="5053330" cy="32531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09155292" name="Chart 2"/>
          <p:cNvGraphicFramePr/>
          <p:nvPr/>
        </p:nvGraphicFramePr>
        <p:xfrm>
          <a:off x="5826760" y="1969135"/>
          <a:ext cx="5999480" cy="325183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DONOR SITE MORBIDITY</a:t>
            </a:r>
            <a:endParaRPr lang="en-US"/>
          </a:p>
        </p:txBody>
      </p:sp>
      <p:sp>
        <p:nvSpPr>
          <p:cNvPr id="3" name="Content Placeholder 2"/>
          <p:cNvSpPr>
            <a:spLocks noGrp="1"/>
          </p:cNvSpPr>
          <p:nvPr>
            <p:ph idx="1"/>
          </p:nvPr>
        </p:nvSpPr>
        <p:spPr/>
        <p:txBody>
          <a:bodyPr>
            <a:normAutofit/>
          </a:bodyPr>
          <a:lstStyle/>
          <a:p>
            <a:r>
              <a:rPr lang="en-US" altLang="en-US" sz="2400" dirty="0"/>
              <a:t>Knee flexor weakness noted in 4 patients (26.6%) in Group A</a:t>
            </a:r>
            <a:endParaRPr lang="en-US" altLang="en-US" sz="2400" dirty="0"/>
          </a:p>
          <a:p>
            <a:r>
              <a:rPr lang="en-US" altLang="en-US" sz="2400" dirty="0"/>
              <a:t>Hypoesthesia to anterolateral part of lower leg seen in 2 patients due to IPBSN injury seen in Group A </a:t>
            </a:r>
            <a:endParaRPr lang="en-US" altLang="en-US" sz="2400" dirty="0"/>
          </a:p>
          <a:p>
            <a:r>
              <a:rPr lang="en-US" altLang="en-US" sz="2400" dirty="0"/>
              <a:t>No significant ankle weakness noted in group B</a:t>
            </a:r>
            <a:endParaRPr lang="en-US"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DISCUSSION</a:t>
            </a:r>
            <a:endParaRPr lang="en-US"/>
          </a:p>
        </p:txBody>
      </p:sp>
      <p:sp>
        <p:nvSpPr>
          <p:cNvPr id="3" name="Content Placeholder 2"/>
          <p:cNvSpPr>
            <a:spLocks noGrp="1"/>
          </p:cNvSpPr>
          <p:nvPr>
            <p:ph idx="1"/>
          </p:nvPr>
        </p:nvSpPr>
        <p:spPr/>
        <p:txBody>
          <a:bodyPr>
            <a:normAutofit/>
          </a:bodyPr>
          <a:lstStyle/>
          <a:p>
            <a:r>
              <a:rPr lang="en-US" altLang="en-US" sz="2400" dirty="0"/>
              <a:t>MPFL reconstruction has consistently demonstrated excellent outcomes in treating recurrent patellar instability when anatomical reconstruction principles are followed. The choice of graft plays a critical role in postoperative function, rehabilitation, and patient satisfaction.</a:t>
            </a:r>
            <a:endParaRPr lang="en-US" altLang="en-US" sz="2400" dirty="0"/>
          </a:p>
          <a:p>
            <a:r>
              <a:rPr lang="en-US" altLang="en-US" sz="2400" i="1" dirty="0" err="1">
                <a:solidFill>
                  <a:srgbClr val="FF0000"/>
                </a:solidFill>
              </a:rPr>
              <a:t>Camanho</a:t>
            </a:r>
            <a:r>
              <a:rPr lang="en-US" altLang="en-US" sz="2400" i="1" dirty="0">
                <a:solidFill>
                  <a:srgbClr val="FF0000"/>
                </a:solidFill>
              </a:rPr>
              <a:t> et al.</a:t>
            </a:r>
            <a:r>
              <a:rPr lang="en-US" altLang="en-US" sz="2400" i="1" dirty="0">
                <a:solidFill>
                  <a:schemeClr val="tx1"/>
                </a:solidFill>
              </a:rPr>
              <a:t/>
            </a:r>
            <a:r>
              <a:rPr lang="en-US" altLang="en-US" sz="2400" dirty="0">
                <a:solidFill>
                  <a:schemeClr val="tx1"/>
                </a:solidFill>
              </a:rPr>
              <a:t>demonstrated that specific MPFL reconstruction after the dislocation episode leads to more favorable results when compared with conservative treatment, with lower chance of recurrence.</a:t>
            </a:r>
            <a:endParaRPr lang="en-US" altLang="en-US" sz="24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860" y="372745"/>
            <a:ext cx="10822940" cy="5804535"/>
          </a:xfrm>
        </p:spPr>
        <p:txBody>
          <a:bodyPr>
            <a:normAutofit/>
          </a:bodyPr>
          <a:lstStyle/>
          <a:p>
            <a:r>
              <a:rPr lang="en-US" altLang="en-US" sz="2400" i="1" dirty="0">
                <a:sym typeface="+mn-ea"/>
              </a:rPr>
              <a:t>Semitendinosus tendon</a:t>
            </a:r>
            <a:r>
              <a:rPr lang="en-US" altLang="en-US" sz="2400" dirty="0">
                <a:sym typeface="+mn-ea"/>
              </a:rPr>
              <a:t> has been widely used due to ease of harvest and reliable strength. However, studies have reported hamstring weakness, saphenous nerve injury, and delayed rehabilitation. In our study, 20 % patients in the semitendinosus group demonstrated knee flexor weakness, which impacted </a:t>
            </a:r>
            <a:r>
              <a:rPr lang="en-US" altLang="en-US" sz="2400" i="1" dirty="0">
                <a:solidFill>
                  <a:srgbClr val="FF0000"/>
                </a:solidFill>
                <a:sym typeface="+mn-ea"/>
              </a:rPr>
              <a:t>early functional recovery and satisfaction.</a:t>
            </a:r>
            <a:endParaRPr lang="en-US" altLang="en-US" sz="2400" i="1" dirty="0">
              <a:solidFill>
                <a:srgbClr val="FF0000"/>
              </a:solidFill>
            </a:endParaRPr>
          </a:p>
          <a:p>
            <a:endParaRPr lang="en-US" altLang="en-US" sz="2400" dirty="0"/>
          </a:p>
          <a:p>
            <a:r>
              <a:rPr lang="en-US" altLang="en-US" sz="2400" i="1" dirty="0"/>
              <a:t>Peroneus longus tendon</a:t>
            </a:r>
            <a:r>
              <a:rPr lang="en-US" altLang="en-US" sz="2400" dirty="0"/>
              <a:t> offers several biomechanical advantages. Its tensile strength exceeds that of native MPFL and partial harvest does not compromise ankle stability or gait mechanics. Our findings demonstrated superior Kujala and Lysholm scores in the peroneus longus group in early </a:t>
            </a:r>
            <a:r>
              <a:rPr lang="en-US" altLang="en-US" sz="2400" dirty="0" err="1"/>
              <a:t>followup</a:t>
            </a:r>
            <a:r>
              <a:rPr lang="en-US" altLang="en-US" sz="2400" dirty="0"/>
              <a:t>, reflecting better patellofemoral function and pain relief.</a:t>
            </a:r>
            <a:endParaRPr lang="en-US"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225" y="435610"/>
            <a:ext cx="11395710" cy="6038215"/>
          </a:xfrm>
        </p:spPr>
        <p:txBody>
          <a:bodyPr>
            <a:normAutofit/>
          </a:bodyPr>
          <a:lstStyle/>
          <a:p>
            <a:endParaRPr lang="en-US" altLang="en-US" dirty="0"/>
          </a:p>
          <a:p>
            <a:endParaRPr lang="en-US" altLang="en-US" i="1" dirty="0">
              <a:solidFill>
                <a:srgbClr val="FF0000"/>
              </a:solidFill>
            </a:endParaRPr>
          </a:p>
          <a:p>
            <a:r>
              <a:rPr lang="en-US" altLang="en-US" sz="2400" i="1" dirty="0">
                <a:solidFill>
                  <a:srgbClr val="FF0000"/>
                </a:solidFill>
              </a:rPr>
              <a:t>Wang Q et al</a:t>
            </a:r>
            <a:r>
              <a:rPr lang="en-US" altLang="en-US" sz="2400" dirty="0"/>
              <a:t> found that single and double bundle MPFL reconstruction can improve the stability of the </a:t>
            </a:r>
            <a:r>
              <a:rPr lang="en-US" altLang="en-US" sz="2400" dirty="0" err="1"/>
              <a:t>patella,but</a:t>
            </a:r>
            <a:r>
              <a:rPr lang="en-US" altLang="en-US" sz="2400" dirty="0"/>
              <a:t> the double bundle has an angular synergistic effect, simulating the wide footprint of MPFL in the patella, which makes it have a stronger ability to resist patellar dislocation</a:t>
            </a:r>
            <a:endParaRPr lang="en-US" altLang="en-US" sz="2400" dirty="0"/>
          </a:p>
          <a:p>
            <a:endParaRPr lang="en-US" altLang="en-US" sz="2400" dirty="0"/>
          </a:p>
          <a:p>
            <a:endParaRPr lang="en-US" altLang="en-US" sz="2400" dirty="0"/>
          </a:p>
          <a:p>
            <a:r>
              <a:rPr lang="en-US" altLang="en-US" sz="2400" dirty="0"/>
              <a:t>The load to failure of the MPFL in biomechanical studies was 178 ± 46 N, while the AHPLT showed an average failure load of 322.35 ± 63.18 N, similar to the semitendinosus tendon (334.1 ± 49.0 N) and higher than the </a:t>
            </a:r>
            <a:r>
              <a:rPr lang="en-US" altLang="en-US" sz="2400" dirty="0" err="1"/>
              <a:t>gracilis</a:t>
            </a:r>
            <a:r>
              <a:rPr lang="en-US" altLang="en-US" sz="2400" dirty="0"/>
              <a:t> tendon (225.4 ± 43.9 N) failure loads, both of which are commonly used for MPFL reconstruction.</a:t>
            </a:r>
            <a:endParaRPr lang="en-US"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5930" y="1040765"/>
            <a:ext cx="11300460" cy="5125720"/>
          </a:xfrm>
        </p:spPr>
        <p:txBody>
          <a:bodyPr/>
          <a:lstStyle/>
          <a:p>
            <a:r>
              <a:rPr lang="en-US" altLang="en-US" sz="2400" i="1" dirty="0" err="1">
                <a:solidFill>
                  <a:srgbClr val="FF0000"/>
                </a:solidFill>
              </a:rPr>
              <a:t>Mingzhan</a:t>
            </a:r>
            <a:r>
              <a:rPr lang="en-US" altLang="en-US" sz="2400" i="1" dirty="0">
                <a:solidFill>
                  <a:srgbClr val="FF0000"/>
                </a:solidFill>
              </a:rPr>
              <a:t> Han et al  </a:t>
            </a:r>
            <a:r>
              <a:rPr lang="en-US" altLang="en-US" sz="2400" dirty="0">
                <a:solidFill>
                  <a:schemeClr val="tx1"/>
                </a:solidFill>
              </a:rPr>
              <a:t>conducted study on MPFL reconstruction with semitendinosus and peroneus longus tendon and found that Whether autologous PLT or ST double bundle reconstruction of MPFL, both can effectively treat </a:t>
            </a:r>
            <a:r>
              <a:rPr lang="en-US" altLang="en-US" sz="2400" dirty="0" err="1">
                <a:solidFill>
                  <a:schemeClr val="tx1"/>
                </a:solidFill>
              </a:rPr>
              <a:t>RPD,significantly</a:t>
            </a:r>
            <a:r>
              <a:rPr lang="en-US" altLang="en-US" sz="2400" dirty="0">
                <a:solidFill>
                  <a:schemeClr val="tx1"/>
                </a:solidFill>
              </a:rPr>
              <a:t> improve the patellar tilt angle and patellar concentration angle, improve the Kujala score of the affected knee, reduce the wear of patellar joint, and delay the development of patellar arthritis.</a:t>
            </a:r>
            <a:endParaRPr lang="en-US" altLang="en-US" sz="2400" dirty="0">
              <a:solidFill>
                <a:schemeClr val="tx1"/>
              </a:solidFill>
            </a:endParaRPr>
          </a:p>
          <a:p>
            <a:pPr marL="0" indent="0">
              <a:buNone/>
            </a:pPr>
            <a:endParaRPr lang="en-US" altLang="en-US" sz="2400" dirty="0">
              <a:solidFill>
                <a:schemeClr val="tx1"/>
              </a:solidFill>
            </a:endParaRPr>
          </a:p>
          <a:p>
            <a:r>
              <a:rPr lang="en-US" altLang="en-US" sz="2400" dirty="0">
                <a:solidFill>
                  <a:schemeClr val="tx1"/>
                </a:solidFill>
              </a:rPr>
              <a:t>However, the tendon incision in ST group will cause </a:t>
            </a:r>
            <a:r>
              <a:rPr lang="en-US" altLang="en-US" sz="2400" dirty="0" err="1">
                <a:solidFill>
                  <a:schemeClr val="tx1"/>
                </a:solidFill>
              </a:rPr>
              <a:t>isbsn</a:t>
            </a:r>
            <a:r>
              <a:rPr lang="en-US" altLang="en-US" sz="2400" dirty="0">
                <a:solidFill>
                  <a:schemeClr val="tx1"/>
                </a:solidFill>
              </a:rPr>
              <a:t> injury and sensory impairment of anterolateral skin of lower leg. Therefore, the incision should be reduced to avoid damaging IPBSN</a:t>
            </a:r>
            <a:r>
              <a:rPr lang="en-US" altLang="en-US" dirty="0">
                <a:solidFill>
                  <a:schemeClr val="tx1"/>
                </a:solidFill>
              </a:rPr>
              <a:t>.</a:t>
            </a:r>
            <a:endParaRPr lang="en-US" altLang="en-US"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LIMITATIONS OF THE STUDY</a:t>
            </a:r>
            <a:endParaRPr lang="en-US"/>
          </a:p>
        </p:txBody>
      </p:sp>
      <p:sp>
        <p:nvSpPr>
          <p:cNvPr id="3" name="Content Placeholder 2"/>
          <p:cNvSpPr>
            <a:spLocks noGrp="1"/>
          </p:cNvSpPr>
          <p:nvPr>
            <p:ph idx="1"/>
          </p:nvPr>
        </p:nvSpPr>
        <p:spPr/>
        <p:txBody>
          <a:bodyPr>
            <a:normAutofit/>
          </a:bodyPr>
          <a:lstStyle/>
          <a:p>
            <a:r>
              <a:rPr lang="en-US" altLang="en-US" sz="2400" i="1" dirty="0">
                <a:solidFill>
                  <a:srgbClr val="FF0000"/>
                </a:solidFill>
              </a:rPr>
              <a:t>Small Sample Size</a:t>
            </a:r>
            <a:r>
              <a:rPr lang="en-US" altLang="en-US" sz="2400" dirty="0"/>
              <a:t>-Each group consisted of only 15 patients, which limits the statistical power and generalizability of results</a:t>
            </a:r>
            <a:endParaRPr lang="en-US" altLang="en-US" sz="2400" dirty="0"/>
          </a:p>
          <a:p>
            <a:r>
              <a:rPr lang="en-US" altLang="en-US" sz="2400" i="1" dirty="0">
                <a:solidFill>
                  <a:srgbClr val="FF0000"/>
                </a:solidFill>
              </a:rPr>
              <a:t>Short Follow-up Period-</a:t>
            </a:r>
            <a:r>
              <a:rPr lang="en-US" altLang="en-US" sz="2400" dirty="0"/>
              <a:t>Minimum follow-up was 12 months, which may not adequately reflect long-term graft survivorship, late instability, or degenerative changes.</a:t>
            </a:r>
            <a:endParaRPr lang="en-US" altLang="en-US" sz="2400" dirty="0"/>
          </a:p>
          <a:p>
            <a:r>
              <a:rPr lang="en-US" altLang="en-US" sz="2400" i="1" dirty="0">
                <a:solidFill>
                  <a:srgbClr val="FF0000"/>
                </a:solidFill>
              </a:rPr>
              <a:t>Retrospective Study Design</a:t>
            </a:r>
            <a:r>
              <a:rPr lang="en-US" altLang="en-US" sz="2400" dirty="0"/>
              <a:t>-Randomization and blinding were not possible.</a:t>
            </a:r>
            <a:endParaRPr lang="en-US" altLang="en-US" sz="2400" dirty="0"/>
          </a:p>
          <a:p>
            <a:r>
              <a:rPr lang="en-US" altLang="en-US" sz="2400" i="1" dirty="0">
                <a:solidFill>
                  <a:srgbClr val="FF0000"/>
                </a:solidFill>
              </a:rPr>
              <a:t>Single-Center Study</a:t>
            </a:r>
            <a:r>
              <a:rPr lang="en-US" altLang="en-US" sz="2400" dirty="0"/>
              <a:t>-Results may reflect institutional surgical expertise and rehabilitation protocols, limiting external validity</a:t>
            </a:r>
            <a:endParaRPr lang="en-US"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a:t>
            </a:r>
            <a:endParaRPr lang="en-US"/>
          </a:p>
        </p:txBody>
      </p:sp>
      <p:sp>
        <p:nvSpPr>
          <p:cNvPr id="3" name="Content Placeholder 2"/>
          <p:cNvSpPr>
            <a:spLocks noGrp="1"/>
          </p:cNvSpPr>
          <p:nvPr>
            <p:ph idx="1"/>
          </p:nvPr>
        </p:nvSpPr>
        <p:spPr/>
        <p:txBody>
          <a:bodyPr/>
          <a:lstStyle/>
          <a:p>
            <a:r>
              <a:rPr lang="en-US" altLang="en-US" sz="2400" dirty="0"/>
              <a:t>Both semitendinosus and peroneus longus grafts provide good to excellent outcomes in MPFL reconstruction for recurrent patellar dislocation. </a:t>
            </a:r>
            <a:endParaRPr lang="en-US" altLang="en-US" sz="2400" dirty="0"/>
          </a:p>
          <a:p>
            <a:r>
              <a:rPr lang="en-US" altLang="en-US" sz="2400" dirty="0"/>
              <a:t>However, peroneus longus graft demonstrated superior functional scores with minimal donor-site morbidity and no knee flexor weakness and early recovery. It is a safe, effective, and promising alternative to semitendinosus tendon for MPFL reconstruction</a:t>
            </a:r>
            <a:r>
              <a:rPr lang="en-US" altLang="en-US" dirty="0"/>
              <a:t>.</a:t>
            </a: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032" y="213995"/>
            <a:ext cx="10058400" cy="1371600"/>
          </a:xfrm>
        </p:spPr>
        <p:txBody>
          <a:bodyPr/>
          <a:lstStyle/>
          <a:p>
            <a:r>
              <a:rPr lang="en-US" dirty="0"/>
              <a:t>REFERRENCES</a:t>
            </a:r>
            <a:endParaRPr lang="en-US" dirty="0"/>
          </a:p>
        </p:txBody>
      </p:sp>
      <p:sp>
        <p:nvSpPr>
          <p:cNvPr id="3" name="Content Placeholder 2"/>
          <p:cNvSpPr>
            <a:spLocks noGrp="1"/>
          </p:cNvSpPr>
          <p:nvPr>
            <p:ph idx="1"/>
          </p:nvPr>
        </p:nvSpPr>
        <p:spPr>
          <a:xfrm>
            <a:off x="710565" y="1316355"/>
            <a:ext cx="11184255" cy="5327650"/>
          </a:xfrm>
        </p:spPr>
        <p:txBody>
          <a:bodyPr>
            <a:normAutofit fontScale="92500" lnSpcReduction="20000"/>
          </a:bodyPr>
          <a:lstStyle/>
          <a:p>
            <a:pPr marL="457200" indent="-457200">
              <a:buFont typeface="+mj-lt"/>
              <a:buAutoNum type="arabicPeriod"/>
            </a:pPr>
            <a:r>
              <a:rPr lang="en-US" altLang="en-US" sz="2000"/>
              <a:t>Camanho G.L., Viegas A.C., Bitar A.C., Demange M.K., Hernandez A.J. Conservative versus surgical treatment for repair of the medial patellofemoral ligament in acute dislocations of the patella. Arthroscopy. 2009;25(6):620–625. doi: 10.1016/j.arthro.2008.12.005</a:t>
            </a:r>
            <a:endParaRPr lang="en-US" altLang="en-US" sz="2000"/>
          </a:p>
          <a:p>
            <a:pPr marL="457200" indent="-457200">
              <a:buFont typeface="+mj-lt"/>
              <a:buAutoNum type="arabicPeriod"/>
            </a:pPr>
            <a:r>
              <a:rPr lang="en-US" altLang="en-US" sz="2000"/>
              <a:t>LaPrade MD, Kallenbach SL, Aman ZS, et al. Biomechanical evaluation of the medial stabilizers of the patella. Am J Sports Med. 2018;46(7):1575-1582. doi: 10.1177/0363546518758654</a:t>
            </a:r>
            <a:endParaRPr lang="en-US" altLang="en-US" sz="2000"/>
          </a:p>
          <a:p>
            <a:pPr marL="457200" indent="-457200">
              <a:buFont typeface="+mj-lt"/>
              <a:buAutoNum type="arabicPeriod"/>
            </a:pPr>
            <a:r>
              <a:rPr lang="en-US" altLang="en-US" sz="2000"/>
              <a:t>Wang Q, Huang W, Cai D, et al. Biomechanical comparison of single- and double-bundle medialpatellofemoral ligament reconstruction[J]. J Orthop Surg Res, 2017, 12(1): 29.</a:t>
            </a:r>
            <a:endParaRPr lang="en-US" altLang="en-US" sz="2000"/>
          </a:p>
          <a:p>
            <a:pPr marL="457200" indent="-457200">
              <a:buFont typeface="+mj-lt"/>
              <a:buAutoNum type="arabicPeriod"/>
            </a:pPr>
            <a:r>
              <a:rPr lang="en-US" altLang="en-US" sz="2000"/>
              <a:t> Nomura E, Horiuchi Y, Inoue M. Correlation of MR imaging findings and open exploration of medial patellofemoral ligament injuries in acute patellar dislocations. Knee. 2002;9(2):139–143.</a:t>
            </a:r>
            <a:endParaRPr lang="en-US" altLang="en-US" sz="2000"/>
          </a:p>
          <a:p>
            <a:pPr marL="457200" indent="-457200">
              <a:buFont typeface="+mj-lt"/>
              <a:buAutoNum type="arabicPeriod"/>
            </a:pPr>
            <a:r>
              <a:rPr lang="en-US" altLang="en-US" sz="2000"/>
              <a:t>Dejour D, Saggin P. The sulcus deepening trochleoplasty—the Lyon’s procedure. Int Orthop. 2010;34(2):311–316.</a:t>
            </a:r>
            <a:endParaRPr lang="en-US" altLang="en-US" sz="2000"/>
          </a:p>
          <a:p>
            <a:pPr marL="457200" indent="-457200">
              <a:buFont typeface="+mj-lt"/>
              <a:buAutoNum type="arabicPeriod"/>
            </a:pPr>
            <a:r>
              <a:rPr lang="en-US" altLang="en-US" sz="2000"/>
              <a:t> Ellera Gomes JL. Medial patellofemoral ligament reconstruction for recurrent dislocation of the patella: a preliminary report. Arthroscopy. 1992;8(3):335–340.</a:t>
            </a:r>
            <a:endParaRPr lang="en-US" altLang="en-US" sz="2000"/>
          </a:p>
          <a:p>
            <a:pPr marL="457200" indent="-457200">
              <a:buFont typeface="+mj-lt"/>
              <a:buAutoNum type="arabicPeriod"/>
            </a:pPr>
            <a:r>
              <a:rPr lang="en-US" altLang="en-US" sz="2000"/>
              <a:t>Mountney J, Senavongse W, Amis AA, Thomas NP. Tensile strength of the medial patellofemoral ligament before and after repair or reconstruction. J Bone Joint Surg Br. 2005;87(1):36–40.</a:t>
            </a:r>
            <a:endParaRPr lang="en-US"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040" y="340360"/>
            <a:ext cx="10779760" cy="5836920"/>
          </a:xfrm>
        </p:spPr>
        <p:txBody>
          <a:bodyPr/>
          <a:lstStyle/>
          <a:p>
            <a:r>
              <a:rPr lang="en-US" altLang="en-US" sz="2000"/>
              <a:t>Han M, Zhang Q, Chen W, et al. Reconstruction of the medial patellofemoral ligament with autologous peroneal longus tendon versus semitendinosus tendon. Int Orthop. 2022;46:1341–1349.</a:t>
            </a:r>
            <a:endParaRPr lang="en-US" altLang="en-US" sz="2000"/>
          </a:p>
          <a:p>
            <a:r>
              <a:rPr lang="en-US" altLang="en-US" sz="2000"/>
              <a:t>Migliorini F, Trivellas A, Driessen A, et al. Graft choice for isolated MPFL reconstruction: gracilis versus semitendinosus. Eur J Orthop Surg Traumatol. 2020;30:763–770.</a:t>
            </a:r>
            <a:endParaRPr lang="en-US" altLang="en-US" sz="2000"/>
          </a:p>
          <a:p>
            <a:r>
              <a:rPr lang="en-US" altLang="en-US" sz="2000"/>
              <a:t>Kyung HS, Kim HJ. Medial patellofemoral ligament reconstruction: a comprehensive review. Knee Surg Relat Res. 2015;27(3):133–140.</a:t>
            </a:r>
            <a:endParaRPr lang="en-US" altLang="en-US" sz="2000"/>
          </a:p>
          <a:p>
            <a:r>
              <a:rPr lang="en-US" altLang="en-US" sz="2000"/>
              <a:t>Wylie JD, Burks RT. Medial patellofemoral ligament reconstruction with semitendinosus autograft. Arthrosc Tech. 2013;2(4):e417–e421.</a:t>
            </a:r>
            <a:endParaRPr lang="en-US" altLang="en-US" sz="2000"/>
          </a:p>
          <a:p>
            <a:r>
              <a:rPr lang="en-US" altLang="en-US" sz="2000"/>
              <a:t>Laprade M D, Kallenbach S L, Aman Z S, et al. Biomechanical Evaluation of the Medial Stabilizers of the Patella[J]. Am J Sports Med, 2018, 46(7): 1575-1582.</a:t>
            </a:r>
            <a:endParaRPr lang="en-US" altLang="en-US" sz="2000"/>
          </a:p>
          <a:p>
            <a:r>
              <a:rPr lang="en-US" altLang="en-US" sz="2000"/>
              <a:t> Zhao J, Huangfu X. The biomechanical and clinical application of using the anterior half of theperoneus longus tendon as an autograft source[J]. Am J Sports Med, 2012, 40(3): 662-71.</a:t>
            </a:r>
            <a:endParaRPr lang="en-US" altLang="en-US" sz="2000"/>
          </a:p>
          <a:p>
            <a:r>
              <a:rPr lang="en-US" altLang="en-US" sz="2000"/>
              <a:t>Shao X, Shi L L, Bluman E M, et al. Satisfactory functional and MRI outcomes at the foot and ankle following harvesting of full thickness peroneus longus tendon graft[J].</a:t>
            </a:r>
            <a:endParaRPr lang="en-US" altLang="en-US" sz="2000"/>
          </a:p>
        </p:txBody>
      </p:sp>
    </p:spTree>
  </p:cSld>
  <p:clrMapOvr>
    <a:masterClrMapping/>
  </p:clrMapOvr>
</p:sld>
</file>

<file path=ppt/tags/tag1.xml><?xml version="1.0" encoding="utf-8"?>
<p:tagLst xmlns:p="http://schemas.openxmlformats.org/presentationml/2006/main">
  <p:tag name="TABLE_ENDDRAG_ORIGIN_RECT" val="828*419"/>
  <p:tag name="TABLE_ENDDRAG_RECT" val="66*48*828*419"/>
</p:tagLst>
</file>

<file path=ppt/tags/tag2.xml><?xml version="1.0" encoding="utf-8"?>
<p:tagLst xmlns:p="http://schemas.openxmlformats.org/presentationml/2006/main">
  <p:tag name="TABLE_ENDDRAG_ORIGIN_RECT" val="828*216"/>
  <p:tag name="TABLE_ENDDRAG_RECT" val="53*142*828*216"/>
</p:tagLst>
</file>

<file path=ppt/tags/tag3.xml><?xml version="1.0" encoding="utf-8"?>
<p:tagLst xmlns:p="http://schemas.openxmlformats.org/presentationml/2006/main">
  <p:tag name="TABLE_ENDDRAG_ORIGIN_RECT" val="610*343"/>
  <p:tag name="TABLE_ENDDRAG_RECT" val="265*113*610*343"/>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0</TotalTime>
  <Words>11207</Words>
  <Application>WPS Presentation</Application>
  <PresentationFormat>Widescreen</PresentationFormat>
  <Paragraphs>201</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SimSun</vt:lpstr>
      <vt:lpstr>Wingdings</vt:lpstr>
      <vt:lpstr>Garamond</vt:lpstr>
      <vt:lpstr>Century Gothic</vt:lpstr>
      <vt:lpstr>Microsoft YaHei</vt:lpstr>
      <vt:lpstr>Arial Unicode MS</vt:lpstr>
      <vt:lpstr>Calibri</vt:lpstr>
      <vt:lpstr>Savon</vt:lpstr>
      <vt:lpstr>COMPARATIVE ANALYSIS OF MPFL RECONSTRUCTION IN RECURRENT DISLOCATION OF PATELLA USING PERONEUS LONGUS GRAFT VERSUS SEMITENDINOSUS – A RETROSPECTIVE STUDY</vt:lpstr>
      <vt:lpstr>INTRODUCTION</vt:lpstr>
      <vt:lpstr>PowerPoint 演示文稿</vt:lpstr>
      <vt:lpstr>MATERIALS AND METHODS</vt:lpstr>
      <vt:lpstr>PowerPoint 演示文稿</vt:lpstr>
      <vt:lpstr>SURGICAL PROCEDURE -GROUP A – SEMITENDINOSUS GRAFT</vt:lpstr>
      <vt:lpstr>PowerPoint 演示文稿</vt:lpstr>
      <vt:lpstr>GROUP B – PERONEUS LONGUS GRAFT</vt:lpstr>
      <vt:lpstr>PowerPoint 演示文稿</vt:lpstr>
      <vt:lpstr>POSTOPERATIVE PROTOCOL</vt:lpstr>
      <vt:lpstr>STATISTICAL ANALYSIS</vt:lpstr>
      <vt:lpstr>RESULTS </vt:lpstr>
      <vt:lpstr>TENDON LENGTH , DIAMETER,STRENGTH</vt:lpstr>
      <vt:lpstr>KUJALA AND LYSHOLM SCORES</vt:lpstr>
      <vt:lpstr>PowerPoint 演示文稿</vt:lpstr>
      <vt:lpstr>DONOR SITE MORBIDITY</vt:lpstr>
      <vt:lpstr>DISCUSSION</vt:lpstr>
      <vt:lpstr>PowerPoint 演示文稿</vt:lpstr>
      <vt:lpstr>PowerPoint 演示文稿</vt:lpstr>
      <vt:lpstr>PowerPoint 演示文稿</vt:lpstr>
      <vt:lpstr>LIMITATIONS OF THE STUDY</vt:lpstr>
      <vt:lpstr>CONCLUSION</vt:lpstr>
      <vt:lpstr>REFERRENCES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ram koushik</cp:lastModifiedBy>
  <cp:revision>8</cp:revision>
  <dcterms:created xsi:type="dcterms:W3CDTF">2025-07-23T00:59:00Z</dcterms:created>
  <dcterms:modified xsi:type="dcterms:W3CDTF">2026-02-02T05:15:36Z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6E0A6D65795645F99B630CCFD76C019C_11</vt:lpwstr>
  </property>
  <property fmtid="{D5CDD505-2E9C-101B-9397-08002B2CF9AE}" pid="3" name="KSOProductBuildVer">
    <vt:lpwstr>1033-12.2.0.23196</vt:lpwstr>
  </property>
</Properties>
</file>