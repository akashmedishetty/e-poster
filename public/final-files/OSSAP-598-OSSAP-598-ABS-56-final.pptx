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1982C-731D-4A1E-ADB5-4F2687795287}" v="3828" dt="2026-02-13T11:52:19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-11723" y="-82061"/>
            <a:ext cx="12197860" cy="1379801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946" y="63099"/>
            <a:ext cx="585954" cy="5918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993" y="-29010"/>
            <a:ext cx="596832" cy="6026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093" y="-6989"/>
            <a:ext cx="709740" cy="7097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452158" y="-83944"/>
            <a:ext cx="7393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454680" y="536666"/>
            <a:ext cx="630749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Gordita "/>
              </a:rPr>
              <a:t>Short term study of one staged procedure of DDH by opne reduction + Varus deroation osteotomy +pelvic osteotomy by anterior approach.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4497834" y="995401"/>
            <a:ext cx="7114032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Gordita "/>
              </a:rPr>
              <a:t>AUTHOR : DR NAJMAL ISMAIL ( POST GRADUATE ) 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80168" y="-73668"/>
            <a:ext cx="1118700" cy="1256711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-11723" y="1297742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4506905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64397" y="45030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2699F-BF75-F50D-14CA-3D24738CFAE7}"/>
              </a:ext>
            </a:extLst>
          </p:cNvPr>
          <p:cNvSpPr txBox="1"/>
          <p:nvPr/>
        </p:nvSpPr>
        <p:spPr>
          <a:xfrm>
            <a:off x="77214" y="1673803"/>
            <a:ext cx="294932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Developmental dysplasia of hip</a:t>
            </a:r>
          </a:p>
          <a:p>
            <a:r>
              <a:rPr lang="en-US" sz="1400" dirty="0"/>
              <a:t> is a condition characterized by an abnormal shallow acetabulum with resulting subluxation/dislocation of the femoral head in turn causing dysplasia of the same overtime resulting in a malformed and dislocated 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38FAF9-932F-36EF-75F2-99D4401F62AB}"/>
              </a:ext>
            </a:extLst>
          </p:cNvPr>
          <p:cNvSpPr txBox="1"/>
          <p:nvPr/>
        </p:nvSpPr>
        <p:spPr>
          <a:xfrm>
            <a:off x="77497" y="5078099"/>
            <a:ext cx="3048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A 4 yr old female child </a:t>
            </a:r>
            <a:r>
              <a:rPr lang="en-US" sz="1400" err="1"/>
              <a:t>presesnted</a:t>
            </a:r>
            <a:r>
              <a:rPr lang="en-US" sz="1400" dirty="0"/>
              <a:t> with abnormal walking since when she started to </a:t>
            </a:r>
            <a:r>
              <a:rPr lang="en-US" sz="1400" err="1"/>
              <a:t>walk,unable</a:t>
            </a:r>
            <a:r>
              <a:rPr lang="en-US" sz="1400" dirty="0"/>
              <a:t> </a:t>
            </a:r>
            <a:r>
              <a:rPr lang="en-US" sz="1400" err="1"/>
              <a:t>wt</a:t>
            </a:r>
            <a:r>
              <a:rPr lang="en-US" sz="1400" dirty="0"/>
              <a:t> bear on right </a:t>
            </a:r>
            <a:r>
              <a:rPr lang="en-US" sz="1400" err="1"/>
              <a:t>hip.O</a:t>
            </a:r>
            <a:r>
              <a:rPr lang="en-US" sz="1400" dirty="0"/>
              <a:t>/E-right head of femur was palpable anteriorly ,high up with </a:t>
            </a:r>
            <a:r>
              <a:rPr lang="en-US" sz="1400"/>
              <a:t>increased internal rotation</a:t>
            </a:r>
            <a:endParaRPr lang="en-US"/>
          </a:p>
          <a:p>
            <a:r>
              <a:rPr lang="en-US" sz="1400"/>
              <a:t>.Xray</a:t>
            </a:r>
            <a:r>
              <a:rPr lang="en-US" sz="1400" dirty="0"/>
              <a:t> -right dislocated hip with shallow acetabulum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96898C-65D3-5D52-239F-092EFF667C51}"/>
              </a:ext>
            </a:extLst>
          </p:cNvPr>
          <p:cNvSpPr txBox="1"/>
          <p:nvPr/>
        </p:nvSpPr>
        <p:spPr>
          <a:xfrm>
            <a:off x="3179568" y="1699424"/>
            <a:ext cx="309185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A single staged procedure was </a:t>
            </a:r>
            <a:r>
              <a:rPr lang="en-US" sz="1400" err="1"/>
              <a:t>executed.smith</a:t>
            </a:r>
            <a:r>
              <a:rPr lang="en-US" sz="1400" dirty="0"/>
              <a:t> </a:t>
            </a:r>
            <a:r>
              <a:rPr lang="en-US" sz="1400" err="1"/>
              <a:t>peterson</a:t>
            </a:r>
            <a:r>
              <a:rPr lang="en-US" sz="1400" dirty="0"/>
              <a:t> approach was taken and soft tissue in the acetabulum released .varus </a:t>
            </a:r>
            <a:r>
              <a:rPr lang="en-US" sz="1400" err="1"/>
              <a:t>derotation</a:t>
            </a:r>
            <a:r>
              <a:rPr lang="en-US" sz="1400" dirty="0"/>
              <a:t> osteotomy was </a:t>
            </a:r>
            <a:r>
              <a:rPr lang="en-US" sz="1400" err="1"/>
              <a:t>performed.derotation</a:t>
            </a:r>
            <a:r>
              <a:rPr lang="en-US" sz="1400" dirty="0"/>
              <a:t> secured with plate and hip </a:t>
            </a:r>
            <a:r>
              <a:rPr lang="en-US" sz="1400" err="1"/>
              <a:t>reduced,secured</a:t>
            </a:r>
            <a:r>
              <a:rPr lang="en-US" sz="1400" dirty="0"/>
              <a:t> with k </a:t>
            </a:r>
            <a:r>
              <a:rPr lang="en-US" sz="1400" err="1"/>
              <a:t>wire.Degas</a:t>
            </a:r>
            <a:r>
              <a:rPr lang="en-US" sz="1400" dirty="0"/>
              <a:t> pelvic osteotomy done and secured with graft.1 and half hip spica applied.</a:t>
            </a:r>
          </a:p>
        </p:txBody>
      </p:sp>
      <p:pic>
        <p:nvPicPr>
          <p:cNvPr id="25" name="Picture 24" descr="X-ray of a human body&#10;&#10;AI-generated content may be incorrect.">
            <a:extLst>
              <a:ext uri="{FF2B5EF4-FFF2-40B4-BE49-F238E27FC236}">
                <a16:creationId xmlns:a16="http://schemas.microsoft.com/office/drawing/2014/main" id="{6024D082-FE88-9915-3740-1BBB7FA53A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4" y="3418424"/>
            <a:ext cx="2895983" cy="1054154"/>
          </a:xfrm>
          <a:prstGeom prst="rect">
            <a:avLst/>
          </a:prstGeom>
        </p:spPr>
      </p:pic>
      <p:pic>
        <p:nvPicPr>
          <p:cNvPr id="26" name="Picture 25" descr="A collage of several images of a person&amp;#39;s body&#10;&#10;AI-generated content may be incorrect.">
            <a:extLst>
              <a:ext uri="{FF2B5EF4-FFF2-40B4-BE49-F238E27FC236}">
                <a16:creationId xmlns:a16="http://schemas.microsoft.com/office/drawing/2014/main" id="{B32C22AF-4D02-698A-BD9D-B3B5A463D6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483" y="3813295"/>
            <a:ext cx="3087325" cy="158317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54573B6-C199-D966-2A78-7B58FA07779A}"/>
              </a:ext>
            </a:extLst>
          </p:cNvPr>
          <p:cNvSpPr txBox="1"/>
          <p:nvPr/>
        </p:nvSpPr>
        <p:spPr>
          <a:xfrm>
            <a:off x="6396372" y="1720593"/>
            <a:ext cx="5811145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DDH presenting after walking age often</a:t>
            </a:r>
            <a:r>
              <a:rPr lang="en-US" sz="1400" dirty="0"/>
              <a:t> require combined procedures to achieve stable reduction.</a:t>
            </a:r>
          </a:p>
          <a:p>
            <a:r>
              <a:rPr lang="en-US" sz="1400" dirty="0"/>
              <a:t>Important surgical principles </a:t>
            </a:r>
          </a:p>
          <a:p>
            <a:r>
              <a:rPr lang="en-US" sz="1400" dirty="0"/>
              <a:t>•adequate soft tissue release</a:t>
            </a:r>
          </a:p>
          <a:p>
            <a:r>
              <a:rPr lang="en-US" sz="1400" dirty="0"/>
              <a:t>•concentric reduction</a:t>
            </a:r>
          </a:p>
          <a:p>
            <a:r>
              <a:rPr lang="en-US" sz="1400"/>
              <a:t>•correction of femoral anteversion</a:t>
            </a:r>
          </a:p>
          <a:p>
            <a:r>
              <a:rPr lang="en-US" sz="1400" dirty="0"/>
              <a:t>•improvement of acetabular coverage</a:t>
            </a:r>
          </a:p>
          <a:p>
            <a:r>
              <a:rPr lang="en-US" sz="1400" dirty="0"/>
              <a:t>In children above 3 yrs open reduction alone is insufficent .combined femoral and pelvic osteotomy improves outcomes.Degas osteotomy </a:t>
            </a:r>
            <a:r>
              <a:rPr lang="en-US" sz="1400"/>
              <a:t>provide anterolateral coverage , stable containment , better remodelling </a:t>
            </a:r>
            <a:r>
              <a:rPr lang="en-US" sz="1400" dirty="0"/>
              <a:t>potential.femoral shortening reduces pressure on the femoral head and decrease risk of avascular necrosis.early concentric reduction is the most importasnt prognostic factor.</a:t>
            </a:r>
          </a:p>
        </p:txBody>
      </p:sp>
      <p:pic>
        <p:nvPicPr>
          <p:cNvPr id="34" name="Picture 33" descr="A collage of x-ray images&#10;&#10;AI-generated content may be incorrect.">
            <a:extLst>
              <a:ext uri="{FF2B5EF4-FFF2-40B4-BE49-F238E27FC236}">
                <a16:creationId xmlns:a16="http://schemas.microsoft.com/office/drawing/2014/main" id="{2FC2770B-6A53-3B46-2118-633F1AFE98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3808" y="5405804"/>
            <a:ext cx="3084633" cy="144486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D507E24-D33B-8FF5-F770-48B3A3B99A77}"/>
              </a:ext>
            </a:extLst>
          </p:cNvPr>
          <p:cNvSpPr txBox="1"/>
          <p:nvPr/>
        </p:nvSpPr>
        <p:spPr>
          <a:xfrm>
            <a:off x="6412522" y="5216769"/>
            <a:ext cx="57443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6 weeks follow up showed head of femur still reduced .k wire removed </a:t>
            </a:r>
            <a:r>
              <a:rPr lang="en-US" sz="1400"/>
              <a:t>1and half hip spica reapplied in reduced position of the hip.  </a:t>
            </a:r>
            <a:endParaRPr lang="en-US" sz="1400" dirty="0"/>
          </a:p>
        </p:txBody>
      </p:sp>
      <p:pic>
        <p:nvPicPr>
          <p:cNvPr id="37" name="Picture 36" descr="X-ray images of a person&amp;#39;s leg&#10;&#10;AI-generated content may be incorrect.">
            <a:extLst>
              <a:ext uri="{FF2B5EF4-FFF2-40B4-BE49-F238E27FC236}">
                <a16:creationId xmlns:a16="http://schemas.microsoft.com/office/drawing/2014/main" id="{021EDF0B-14BE-2F39-2C0F-2F1E30721C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3948" y="5761160"/>
            <a:ext cx="3175489" cy="11210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208981C-C9BC-3842-074B-6FA0B7CB0029}"/>
              </a:ext>
            </a:extLst>
          </p:cNvPr>
          <p:cNvSpPr txBox="1"/>
          <p:nvPr/>
        </p:nvSpPr>
        <p:spPr>
          <a:xfrm>
            <a:off x="9706707" y="5756031"/>
            <a:ext cx="246184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Combined approach provide stable reduction,improved </a:t>
            </a:r>
            <a:r>
              <a:rPr lang="en-US" sz="1400"/>
              <a:t>acetabular coverage and good radiological outcome.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4CD1DD-B05B-5C55-957D-F23558574982}"/>
              </a:ext>
            </a:extLst>
          </p:cNvPr>
          <p:cNvSpPr txBox="1"/>
          <p:nvPr/>
        </p:nvSpPr>
        <p:spPr>
          <a:xfrm>
            <a:off x="9038492" y="808892"/>
            <a:ext cx="21570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OSAP-598</a:t>
            </a: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Virinchi Vinay</dc:creator>
  <cp:lastModifiedBy>Najmal Ismail</cp:lastModifiedBy>
  <cp:revision>1294</cp:revision>
  <dcterms:created xsi:type="dcterms:W3CDTF">2026-01-11T06:24:43Z</dcterms:created>
  <dcterms:modified xsi:type="dcterms:W3CDTF">2026-02-13T11:52:46Z</dcterms:modified>
</cp:coreProperties>
</file>