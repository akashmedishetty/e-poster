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444" autoAdjust="0"/>
  </p:normalViewPr>
  <p:slideViewPr>
    <p:cSldViewPr snapToGrid="0">
      <p:cViewPr varScale="1">
        <p:scale>
          <a:sx n="69" d="100"/>
          <a:sy n="69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94978-CC18-41BE-8FCE-F2E79DB8E3E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325B0-B886-4FDF-8F33-630720F0B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96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325B0-B886-4FDF-8F33-630720F0BC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5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72BCCA-09F4-9D91-AE26-B5E437D7714E}"/>
              </a:ext>
            </a:extLst>
          </p:cNvPr>
          <p:cNvSpPr/>
          <p:nvPr/>
        </p:nvSpPr>
        <p:spPr>
          <a:xfrm>
            <a:off x="196644" y="177328"/>
            <a:ext cx="11995353" cy="1102828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56484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750" y="44267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6BB7B0-D981-FEB6-4479-7A49704B2B87}"/>
              </a:ext>
            </a:extLst>
          </p:cNvPr>
          <p:cNvSpPr txBox="1"/>
          <p:nvPr/>
        </p:nvSpPr>
        <p:spPr>
          <a:xfrm>
            <a:off x="2364726" y="-61064"/>
            <a:ext cx="6281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sz="1200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Orthopedic Surgeon Society of Andhra Pradesh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1F608A-7742-BF27-09EC-3BB7CA324D68}"/>
              </a:ext>
            </a:extLst>
          </p:cNvPr>
          <p:cNvSpPr txBox="1"/>
          <p:nvPr/>
        </p:nvSpPr>
        <p:spPr>
          <a:xfrm>
            <a:off x="2627188" y="289683"/>
            <a:ext cx="6281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20– 22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616687-624D-607B-6F85-335EE46873F1}"/>
              </a:ext>
            </a:extLst>
          </p:cNvPr>
          <p:cNvSpPr txBox="1"/>
          <p:nvPr/>
        </p:nvSpPr>
        <p:spPr>
          <a:xfrm>
            <a:off x="2616038" y="418392"/>
            <a:ext cx="71800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F401C6F-33A3-A415-AD1A-709059E901BF}"/>
              </a:ext>
            </a:extLst>
          </p:cNvPr>
          <p:cNvSpPr/>
          <p:nvPr/>
        </p:nvSpPr>
        <p:spPr>
          <a:xfrm>
            <a:off x="560568" y="-17497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F9D5A-1DDA-4BC3-63F3-F36226B86C87}"/>
              </a:ext>
            </a:extLst>
          </p:cNvPr>
          <p:cNvSpPr/>
          <p:nvPr/>
        </p:nvSpPr>
        <p:spPr>
          <a:xfrm>
            <a:off x="0" y="1674796"/>
            <a:ext cx="3108960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94F03-F93B-9B6D-7C11-87F9C75E6ABB}"/>
              </a:ext>
            </a:extLst>
          </p:cNvPr>
          <p:cNvSpPr/>
          <p:nvPr/>
        </p:nvSpPr>
        <p:spPr>
          <a:xfrm>
            <a:off x="-11181" y="5005136"/>
            <a:ext cx="3108960" cy="190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47E9-312C-D04A-D368-EE96CE32C982}"/>
              </a:ext>
            </a:extLst>
          </p:cNvPr>
          <p:cNvSpPr/>
          <p:nvPr/>
        </p:nvSpPr>
        <p:spPr>
          <a:xfrm>
            <a:off x="3137836" y="1280157"/>
            <a:ext cx="3185962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874B9-B8E1-A36B-AA38-6FCC7D5D8F32}"/>
              </a:ext>
            </a:extLst>
          </p:cNvPr>
          <p:cNvSpPr/>
          <p:nvPr/>
        </p:nvSpPr>
        <p:spPr>
          <a:xfrm>
            <a:off x="6352674" y="1477475"/>
            <a:ext cx="5839326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FC2BB9-1938-0DF3-F424-CAC28C6D9880}"/>
              </a:ext>
            </a:extLst>
          </p:cNvPr>
          <p:cNvSpPr/>
          <p:nvPr/>
        </p:nvSpPr>
        <p:spPr>
          <a:xfrm>
            <a:off x="6352673" y="4989023"/>
            <a:ext cx="5839327" cy="19207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C050E-DD7C-3885-8EBF-D74C223C0531}"/>
              </a:ext>
            </a:extLst>
          </p:cNvPr>
          <p:cNvSpPr/>
          <p:nvPr/>
        </p:nvSpPr>
        <p:spPr>
          <a:xfrm>
            <a:off x="0" y="1280157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BCB5-BB50-7945-E88B-86122853702B}"/>
              </a:ext>
            </a:extLst>
          </p:cNvPr>
          <p:cNvSpPr/>
          <p:nvPr/>
        </p:nvSpPr>
        <p:spPr>
          <a:xfrm>
            <a:off x="3137836" y="1280157"/>
            <a:ext cx="3185962" cy="24137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DCDE1-7E85-0646-3543-9C1638CEB9CA}"/>
              </a:ext>
            </a:extLst>
          </p:cNvPr>
          <p:cNvSpPr/>
          <p:nvPr/>
        </p:nvSpPr>
        <p:spPr>
          <a:xfrm>
            <a:off x="6352673" y="1280157"/>
            <a:ext cx="5839325" cy="23850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30820-FF42-EA8A-339B-145E1FC668F5}"/>
              </a:ext>
            </a:extLst>
          </p:cNvPr>
          <p:cNvSpPr/>
          <p:nvPr/>
        </p:nvSpPr>
        <p:spPr>
          <a:xfrm>
            <a:off x="-9212" y="4932737"/>
            <a:ext cx="3108960" cy="2134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633B59-00B8-9FD5-0D31-D1688B16556B}"/>
              </a:ext>
            </a:extLst>
          </p:cNvPr>
          <p:cNvSpPr/>
          <p:nvPr/>
        </p:nvSpPr>
        <p:spPr>
          <a:xfrm>
            <a:off x="6352674" y="4807817"/>
            <a:ext cx="5839324" cy="19731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C3B047-32A0-C466-0FF4-FBFA3CCF1F32}"/>
              </a:ext>
            </a:extLst>
          </p:cNvPr>
          <p:cNvSpPr txBox="1"/>
          <p:nvPr/>
        </p:nvSpPr>
        <p:spPr>
          <a:xfrm>
            <a:off x="10498142" y="825441"/>
            <a:ext cx="2005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OSSAP ID -588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952885-33AF-2095-C057-5AC9A0D8D9CD}"/>
              </a:ext>
            </a:extLst>
          </p:cNvPr>
          <p:cNvSpPr txBox="1"/>
          <p:nvPr/>
        </p:nvSpPr>
        <p:spPr>
          <a:xfrm>
            <a:off x="1839950" y="628879"/>
            <a:ext cx="99914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A RARE CASE OF KAPLAN DISLOCATION BY COMBINED OPEN  DORSAL AND VOLAR APPROACH</a:t>
            </a:r>
          </a:p>
          <a:p>
            <a:r>
              <a:rPr lang="en-US" sz="1200" dirty="0">
                <a:solidFill>
                  <a:srgbClr val="FFC000"/>
                </a:solidFill>
              </a:rPr>
              <a:t>                                                                              AUTHOR: DR ATHUL K – POST GRADUATE                                                                                                                            </a:t>
            </a:r>
            <a:endParaRPr lang="en-US" sz="4800" dirty="0">
              <a:solidFill>
                <a:srgbClr val="FFC000"/>
              </a:solidFill>
            </a:endParaRPr>
          </a:p>
          <a:p>
            <a:r>
              <a:rPr lang="en-US" sz="1100" dirty="0">
                <a:solidFill>
                  <a:srgbClr val="FFC000"/>
                </a:solidFill>
              </a:rPr>
              <a:t>  GUIDE: DR  J H VIDYASAGAR( ASSISTANT PROFFESOR),DR TANZEEL MUNAWAR ( ASSISTANT PROFFESOR) ,  OSMANIA MEDICAL COLLEGE</a:t>
            </a:r>
          </a:p>
          <a:p>
            <a:r>
              <a:rPr lang="en-US" sz="1200" dirty="0">
                <a:solidFill>
                  <a:srgbClr val="FFC000"/>
                </a:solidFill>
              </a:rPr>
              <a:t>                   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99CF35C-12A3-109B-D52B-0A01D2738E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834" y="4668196"/>
            <a:ext cx="1543581" cy="21923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0E3EE71-D504-34F5-35F7-E0652CF876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757" y="3244443"/>
            <a:ext cx="2992241" cy="156966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98444AA-4BF8-C5AF-3F56-55EF6F56BB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417" y="4687859"/>
            <a:ext cx="1618329" cy="215777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E711DC2-BF4D-B35E-B1E0-F11260D729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799" y="3246789"/>
            <a:ext cx="2875958" cy="156966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669E3D4-A346-2B4C-25DA-F44BAE8BD82F}"/>
              </a:ext>
            </a:extLst>
          </p:cNvPr>
          <p:cNvSpPr txBox="1"/>
          <p:nvPr/>
        </p:nvSpPr>
        <p:spPr>
          <a:xfrm>
            <a:off x="17696" y="1664515"/>
            <a:ext cx="310895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Kaplan’s dislocation is a rare and complex form of dorsal dislocation of first MCP Joint.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It is characterized by interposition of volar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plate,sesamoids,flexor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tendons and surrounding soft tissues which prevent successful closed reduction.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These injuries are uncommon in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paediatric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population and often require open reduction.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Early recognition and appropriate surgical approach are essential to restore joint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congruity,stability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function.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1D1973-4E83-F6A3-3CA6-68DEBA52AEBA}"/>
              </a:ext>
            </a:extLst>
          </p:cNvPr>
          <p:cNvSpPr txBox="1"/>
          <p:nvPr/>
        </p:nvSpPr>
        <p:spPr>
          <a:xfrm>
            <a:off x="33735" y="4983705"/>
            <a:ext cx="3185963" cy="197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 11 year old boy presented 3 weeks following  trauma to right hand.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Clinical findings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Swelling and tenderness over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firstMCP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Dorsal deformity of thumb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Painful and restricted ROM</a:t>
            </a:r>
            <a:r>
              <a:rPr lang="en-US" sz="1200" dirty="0"/>
              <a:t>.</a:t>
            </a:r>
          </a:p>
          <a:p>
            <a:r>
              <a:rPr lang="en-US" sz="1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Radiological Evaluation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 AP and oblique radiographs of the right hand confirmed dorsal dislocation of the first MCP joint. </a:t>
            </a:r>
            <a:endParaRPr 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79260D-4CDD-32EC-2DCD-BA7035ED754D}"/>
              </a:ext>
            </a:extLst>
          </p:cNvPr>
          <p:cNvSpPr txBox="1"/>
          <p:nvPr/>
        </p:nvSpPr>
        <p:spPr>
          <a:xfrm>
            <a:off x="6352673" y="5077536"/>
            <a:ext cx="58055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Kaplan dislocation of first MCP Joint is rare and usually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complex,particularly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paediatric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patients.Closed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reduction should be avoided in suspected complex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dislocations.A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combined dorsal and volar approach provides superior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visualization,enables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safe release of interposed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structures,and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ensures stable anatomical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reduction,leading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to good functional outcomes.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9C84B9-5D70-0FD7-50D3-D4FB08941D00}"/>
              </a:ext>
            </a:extLst>
          </p:cNvPr>
          <p:cNvSpPr txBox="1"/>
          <p:nvPr/>
        </p:nvSpPr>
        <p:spPr>
          <a:xfrm>
            <a:off x="3079943" y="1587515"/>
            <a:ext cx="343438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Open reduction was performed using a         combined dorsal and volar approach. 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</a:t>
            </a:r>
            <a:r>
              <a:rPr lang="en-US" sz="1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ntra‑operative observations included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Interposition of the volar plate within the joint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Sesamoid complex entrapped between articular surfaces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Tight flexor pollicis longus tendon acting as a noose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obstructing structures were carefully released. Reduction was achieved under direct visualization fixed with K wire, restoring joint congruity. Stability of the MCP joint was confirmed intra‑operatively, and immobilization was provided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post procedure. </a:t>
            </a:r>
            <a:endParaRPr 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355B9B-E56B-8CC0-54C0-256C1E1DCA61}"/>
              </a:ext>
            </a:extLst>
          </p:cNvPr>
          <p:cNvSpPr txBox="1"/>
          <p:nvPr/>
        </p:nvSpPr>
        <p:spPr>
          <a:xfrm>
            <a:off x="6299746" y="1479891"/>
            <a:ext cx="58585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Kaplan’s dislocation differs from simple MCP dislocations due to soft‑tissue interposition that blocks closed reduction. The volar plate, natatory ligament, sesamoids, and flexor tendons form a constricting ring around the metacarpal head</a:t>
            </a:r>
          </a:p>
          <a:p>
            <a:r>
              <a:rPr lang="en-US" sz="1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Key discussion points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• Closed reduction attempts may worsen soft‑tissue interposition</a:t>
            </a:r>
          </a:p>
          <a:p>
            <a:r>
              <a:rPr 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• Delayed presentations are more likely to require open reduction</a:t>
            </a:r>
          </a:p>
          <a:p>
            <a:r>
              <a:rPr 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• Dorsal approach provides good visualization of joint surfaces.</a:t>
            </a:r>
          </a:p>
          <a:p>
            <a:r>
              <a:rPr 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• Volar approach allows safe release of the volar plate and sesamoids.</a:t>
            </a:r>
          </a:p>
          <a:p>
            <a:r>
              <a:rPr 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• A combined approach offers comprehensive exposure facilitating accurate reduction .</a:t>
            </a:r>
          </a:p>
        </p:txBody>
      </p:sp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455</Words>
  <Application>Microsoft Office PowerPoint</Application>
  <PresentationFormat>Widescreen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Gordita 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Athul Rajagopal</cp:lastModifiedBy>
  <cp:revision>17</cp:revision>
  <dcterms:created xsi:type="dcterms:W3CDTF">2026-01-11T06:24:43Z</dcterms:created>
  <dcterms:modified xsi:type="dcterms:W3CDTF">2026-02-10T19:22:33Z</dcterms:modified>
</cp:coreProperties>
</file>