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8" d="100"/>
          <a:sy n="88" d="100"/>
        </p:scale>
        <p:origin x="53"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1/26/2026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474892"/>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7019" y="7086"/>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1318" y="89522"/>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2628" y="133034"/>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2164546" y="27424"/>
            <a:ext cx="6744165" cy="338554"/>
          </a:xfrm>
          <a:prstGeom prst="rect">
            <a:avLst/>
          </a:prstGeom>
          <a:noFill/>
        </p:spPr>
        <p:txBody>
          <a:bodyPr wrap="square" rtlCol="0">
            <a:spAutoFit/>
          </a:bodyPr>
          <a:lstStyle/>
          <a:p>
            <a:r>
              <a:rPr lang="en-US" sz="1600" b="1" dirty="0">
                <a:solidFill>
                  <a:schemeClr val="bg1"/>
                </a:solidFill>
                <a:latin typeface="Gordita "/>
              </a:rPr>
              <a:t>55</a:t>
            </a:r>
            <a:r>
              <a:rPr lang="en-US" sz="1600" b="1" baseline="30000" dirty="0">
                <a:solidFill>
                  <a:schemeClr val="bg1"/>
                </a:solidFill>
                <a:latin typeface="Gordita "/>
              </a:rPr>
              <a:t>th</a:t>
            </a:r>
            <a:r>
              <a:rPr lang="en-US" sz="1600" b="1" dirty="0">
                <a:solidFill>
                  <a:schemeClr val="bg1"/>
                </a:solidFill>
                <a:latin typeface="Gordita "/>
              </a:rPr>
              <a:t>   Annual Conference of  Orthopedic Surgeon Society of Andhra Pradesh</a:t>
            </a:r>
          </a:p>
        </p:txBody>
      </p:sp>
      <p:sp>
        <p:nvSpPr>
          <p:cNvPr id="19" name="TextBox 18">
            <a:extLst>
              <a:ext uri="{FF2B5EF4-FFF2-40B4-BE49-F238E27FC236}">
                <a16:creationId xmlns:a16="http://schemas.microsoft.com/office/drawing/2014/main" id="{CF1F608A-7742-BF27-09EC-3BB7CA324D68}"/>
              </a:ext>
            </a:extLst>
          </p:cNvPr>
          <p:cNvSpPr txBox="1"/>
          <p:nvPr/>
        </p:nvSpPr>
        <p:spPr>
          <a:xfrm>
            <a:off x="2164546" y="273233"/>
            <a:ext cx="6307494" cy="646331"/>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a:p>
            <a:r>
              <a:rPr lang="en-US" sz="1200" b="1" dirty="0">
                <a:solidFill>
                  <a:schemeClr val="bg1"/>
                </a:solidFill>
                <a:latin typeface="Gordita "/>
              </a:rPr>
              <a:t>Organized by : Department of Orthopaedics, Kurnool Medical College Kurnool</a:t>
            </a:r>
          </a:p>
          <a:p>
            <a:endParaRPr lang="en-US" sz="1200" b="1" dirty="0">
              <a:solidFill>
                <a:schemeClr val="bg1"/>
              </a:solidFill>
              <a:latin typeface="Gordita "/>
            </a:endParaRPr>
          </a:p>
        </p:txBody>
      </p:sp>
      <p:sp>
        <p:nvSpPr>
          <p:cNvPr id="20" name="TextBox 19">
            <a:extLst>
              <a:ext uri="{FF2B5EF4-FFF2-40B4-BE49-F238E27FC236}">
                <a16:creationId xmlns:a16="http://schemas.microsoft.com/office/drawing/2014/main" id="{C0616687-624D-607B-6F85-335EE46873F1}"/>
              </a:ext>
            </a:extLst>
          </p:cNvPr>
          <p:cNvSpPr txBox="1"/>
          <p:nvPr/>
        </p:nvSpPr>
        <p:spPr>
          <a:xfrm>
            <a:off x="2159512" y="710977"/>
            <a:ext cx="7302943" cy="800219"/>
          </a:xfrm>
          <a:prstGeom prst="rect">
            <a:avLst/>
          </a:prstGeom>
          <a:noFill/>
        </p:spPr>
        <p:txBody>
          <a:bodyPr wrap="square" rtlCol="0">
            <a:spAutoFit/>
          </a:bodyPr>
          <a:lstStyle/>
          <a:p>
            <a:r>
              <a:rPr lang="en-US" sz="1600" b="1" dirty="0">
                <a:solidFill>
                  <a:schemeClr val="bg1"/>
                </a:solidFill>
              </a:rPr>
              <a:t>Double Endobutton Technique for Repair of Complete Acromioclavicular Joint and Coracoclavicular Joint Dislocations</a:t>
            </a:r>
          </a:p>
          <a:p>
            <a:r>
              <a:rPr lang="en-US" sz="1400" b="1" dirty="0">
                <a:solidFill>
                  <a:schemeClr val="bg1"/>
                </a:solidFill>
                <a:latin typeface="Gordita "/>
              </a:rPr>
              <a:t>Presenter – Dr. Pranabesh Mondal (2</a:t>
            </a:r>
            <a:r>
              <a:rPr lang="en-US" sz="1400" b="1" baseline="30000" dirty="0">
                <a:solidFill>
                  <a:schemeClr val="bg1"/>
                </a:solidFill>
                <a:latin typeface="Gordita "/>
              </a:rPr>
              <a:t>nd</a:t>
            </a:r>
            <a:r>
              <a:rPr lang="en-US" sz="1400" b="1" dirty="0">
                <a:solidFill>
                  <a:schemeClr val="bg1"/>
                </a:solidFill>
                <a:latin typeface="Gordita "/>
              </a:rPr>
              <a:t> Year PGT, Government Medical College, Srikakulam</a:t>
            </a:r>
            <a:endParaRPr lang="en-US" sz="1050" b="1" dirty="0">
              <a:solidFill>
                <a:schemeClr val="bg1"/>
              </a:solidFill>
              <a:latin typeface="Gordita "/>
            </a:endParaRP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52218" y="1682969"/>
            <a:ext cx="3108960" cy="28232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52254" y="4498083"/>
            <a:ext cx="3108960" cy="23599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474893"/>
            <a:ext cx="3185962" cy="53831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732157"/>
            <a:ext cx="5839326" cy="29805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6097533"/>
            <a:ext cx="5839326" cy="7604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52216" y="1482356"/>
            <a:ext cx="3108960" cy="257262"/>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483357"/>
            <a:ext cx="3185962" cy="257263"/>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483358"/>
            <a:ext cx="5839325" cy="264253"/>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53080" y="4339758"/>
            <a:ext cx="3084720" cy="257262"/>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47668" y="5900483"/>
            <a:ext cx="5844331" cy="227354"/>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 name="TextBox 1">
            <a:extLst>
              <a:ext uri="{FF2B5EF4-FFF2-40B4-BE49-F238E27FC236}">
                <a16:creationId xmlns:a16="http://schemas.microsoft.com/office/drawing/2014/main" id="{ABFDDD9E-AEDC-A253-72EA-7902BCA141CB}"/>
              </a:ext>
            </a:extLst>
          </p:cNvPr>
          <p:cNvSpPr txBox="1"/>
          <p:nvPr/>
        </p:nvSpPr>
        <p:spPr>
          <a:xfrm>
            <a:off x="13716" y="1720954"/>
            <a:ext cx="3185960" cy="2677656"/>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Traumatic separation of the AC joint is common, particularly in the athletic population. Complete rupture of the Coracoclavicular ligament is common to all of the more severe grades of injury (Rockwood Type III or greater). The weight of the arm places constant deforming force on the fixation construct during biologic healing. In the acute setting, there is a robust healing response after ligament rupture, and additional grafting may not be necessary as long as the initial fixation can remain stable during the healing process. In the chronic setting, it is necessary to add biologic graft material to the fixation construct to ensure long-term stability and function. A Novel technique for repairing or reconstructing the Coracoclavicular ligament using a device, the Endobutton Continuous loop, which has a long successful track record in Anterior Cruciate Ligament reconstructions. The device is modified for use in the shoulder by adding a second Endobutton to the construct, creating a knotless fixation. The Endobutton is placed through holes in the clavicle and Coracoid, reproducing the normal course of the Conoid portion of the Coracoclavicular ligament. The device may be used alone or in conjunction with a variety of biologic materials depending on whether the surgery is being performed in the acute or chronic setting.</a:t>
            </a:r>
            <a:endParaRPr lang="en-IN" sz="8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1356D992-E1A4-8572-4E86-A4F3A5E2FC00}"/>
              </a:ext>
            </a:extLst>
          </p:cNvPr>
          <p:cNvSpPr txBox="1"/>
          <p:nvPr/>
        </p:nvSpPr>
        <p:spPr>
          <a:xfrm>
            <a:off x="13716" y="4573856"/>
            <a:ext cx="3185962" cy="2316019"/>
          </a:xfrm>
          <a:prstGeom prst="rect">
            <a:avLst/>
          </a:prstGeom>
          <a:noFill/>
        </p:spPr>
        <p:txBody>
          <a:bodyPr wrap="square" rtlCol="0">
            <a:spAutoFit/>
          </a:bodyPr>
          <a:lstStyle/>
          <a:p>
            <a:pPr lvl="0" fontAlgn="base"/>
            <a:r>
              <a:rPr lang="en-US" sz="850" dirty="0">
                <a:latin typeface="Arial" panose="020B0604020202020204" pitchFamily="34" charset="0"/>
                <a:cs typeface="Arial" panose="020B0604020202020204" pitchFamily="34" charset="0"/>
              </a:rPr>
              <a:t>A 27 years Male patient presented to OPD with alleged complaints of Pain over Left shoulder region due to fall from bike 2 days back.</a:t>
            </a:r>
            <a:r>
              <a:rPr lang="en-IN" sz="850" dirty="0">
                <a:latin typeface="Arial" panose="020B0604020202020204" pitchFamily="34" charset="0"/>
                <a:cs typeface="Arial" panose="020B0604020202020204" pitchFamily="34" charset="0"/>
              </a:rPr>
              <a:t> </a:t>
            </a:r>
            <a:r>
              <a:rPr lang="en-US" sz="850" dirty="0">
                <a:latin typeface="Arial" panose="020B0604020202020204" pitchFamily="34" charset="0"/>
                <a:cs typeface="Arial" panose="020B0604020202020204" pitchFamily="34" charset="0"/>
              </a:rPr>
              <a:t>After fall pain started suddenly and he could not abduct his left arm, he applied ice pack for 2 days and taken over the counter analgesics for pain.</a:t>
            </a:r>
            <a:r>
              <a:rPr lang="en-IN" sz="850" dirty="0">
                <a:latin typeface="Arial" panose="020B0604020202020204" pitchFamily="34" charset="0"/>
                <a:cs typeface="Arial" panose="020B0604020202020204" pitchFamily="34" charset="0"/>
              </a:rPr>
              <a:t> </a:t>
            </a:r>
            <a:r>
              <a:rPr lang="en-US" sz="850" dirty="0">
                <a:latin typeface="Arial" panose="020B0604020202020204" pitchFamily="34" charset="0"/>
                <a:cs typeface="Arial" panose="020B0604020202020204" pitchFamily="34" charset="0"/>
              </a:rPr>
              <a:t>Tenderness was present over left shoulder with prominent bony swelling over Left shoulder, Scarf test and O’Brian’s tests were Positive.</a:t>
            </a:r>
            <a:r>
              <a:rPr lang="en-IN" sz="850" dirty="0">
                <a:latin typeface="Arial" panose="020B0604020202020204" pitchFamily="34" charset="0"/>
                <a:cs typeface="Arial" panose="020B0604020202020204" pitchFamily="34" charset="0"/>
              </a:rPr>
              <a:t> </a:t>
            </a:r>
            <a:r>
              <a:rPr lang="en-US" sz="850" dirty="0">
                <a:latin typeface="Arial" panose="020B0604020202020204" pitchFamily="34" charset="0"/>
                <a:cs typeface="Arial" panose="020B0604020202020204" pitchFamily="34" charset="0"/>
              </a:rPr>
              <a:t>Xray – Avulsion of Lateral end of Left Clavicle with 16 mm widening of Acromioclavicular joint and Superior displacement of the clavicle indicating disruption.</a:t>
            </a:r>
            <a:r>
              <a:rPr lang="en-IN" sz="850" dirty="0">
                <a:latin typeface="Arial" panose="020B0604020202020204" pitchFamily="34" charset="0"/>
                <a:cs typeface="Arial" panose="020B0604020202020204" pitchFamily="34" charset="0"/>
              </a:rPr>
              <a:t> </a:t>
            </a:r>
            <a:r>
              <a:rPr lang="en-US" sz="850" dirty="0">
                <a:latin typeface="Arial" panose="020B0604020202020204" pitchFamily="34" charset="0"/>
                <a:cs typeface="Arial" panose="020B0604020202020204" pitchFamily="34" charset="0"/>
              </a:rPr>
              <a:t>MRI  – Displaced fracture of Lateral end of Clavicle with fluid filled gap of 1.7 × 0.6 cm with lateral end of clavicle displaced superiorly with Disruption of Coracoclavicular ligament with </a:t>
            </a:r>
            <a:r>
              <a:rPr lang="en-IN" sz="850" dirty="0">
                <a:latin typeface="Arial" panose="020B0604020202020204" pitchFamily="34" charset="0"/>
                <a:cs typeface="Arial" panose="020B0604020202020204" pitchFamily="34" charset="0"/>
              </a:rPr>
              <a:t> </a:t>
            </a:r>
            <a:r>
              <a:rPr lang="en-US" sz="850" dirty="0">
                <a:latin typeface="Arial" panose="020B0604020202020204" pitchFamily="34" charset="0"/>
                <a:cs typeface="Arial" panose="020B0604020202020204" pitchFamily="34" charset="0"/>
              </a:rPr>
              <a:t>Supraspinatus , Infraspinatus and Teres Minor muscle Normal and Soft tissue edema of superior Deltoid fibers.</a:t>
            </a:r>
            <a:r>
              <a:rPr lang="en-IN" sz="850" dirty="0">
                <a:latin typeface="Arial" panose="020B0604020202020204" pitchFamily="34" charset="0"/>
                <a:cs typeface="Arial" panose="020B0604020202020204" pitchFamily="34" charset="0"/>
              </a:rPr>
              <a:t> </a:t>
            </a:r>
            <a:r>
              <a:rPr lang="en-US" sz="850" dirty="0">
                <a:latin typeface="Arial" panose="020B0604020202020204" pitchFamily="34" charset="0"/>
                <a:cs typeface="Arial" panose="020B0604020202020204" pitchFamily="34" charset="0"/>
              </a:rPr>
              <a:t>Thus, patient is Diagnosed as Closed Rockwood Type III Injury of Left Acromioclavicular Joint Disruption.</a:t>
            </a:r>
            <a:endParaRPr lang="en-IN" sz="85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163D0D26-6165-3179-498A-D63D15ACEB79}"/>
              </a:ext>
            </a:extLst>
          </p:cNvPr>
          <p:cNvSpPr txBox="1"/>
          <p:nvPr/>
        </p:nvSpPr>
        <p:spPr>
          <a:xfrm>
            <a:off x="6352673" y="1712775"/>
            <a:ext cx="5839324" cy="1569660"/>
          </a:xfrm>
          <a:prstGeom prst="rect">
            <a:avLst/>
          </a:prstGeom>
          <a:noFill/>
        </p:spPr>
        <p:txBody>
          <a:bodyPr wrap="square" rtlCol="0">
            <a:spAutoFit/>
          </a:bodyPr>
          <a:lstStyle/>
          <a:p>
            <a:pPr lvl="0" fontAlgn="base"/>
            <a:r>
              <a:rPr lang="en-US" sz="800" dirty="0">
                <a:latin typeface="Arial" panose="020B0604020202020204" pitchFamily="34" charset="0"/>
                <a:cs typeface="Arial" panose="020B0604020202020204" pitchFamily="34" charset="0"/>
              </a:rPr>
              <a:t>A novel technique for the reconstruction of complete Acromioclavicular joint separation by using an Endobutton Continuous Loop that has been modified for use in the shoulder. The device is placed through holes in the Coracoid and Clavicle reproducing the course of the Conoid portion of the Coracoclavicular ligament. The Endobutton Continuous Loop material has been shown to have both strength and stiffness in excess of the native anatomy, ensuring a stable reduction. The procedure is simple, has low morbidity, and can be easily adapted.</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Other available procedures maybe –</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Open reduction and Clavicular Hook Plate fixation</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ligament reconstruction techniques (like Weaver-Dunn or using grafts/tape)</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other fixation devices like Surgilig / DogBone</a:t>
            </a:r>
            <a:endParaRPr lang="en-IN"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All procedures aiming to restore the coracoclavicular (CC) ligaments and stabilize the joint, with options varying by injury severity (Rockwood Type III-VI) and surgeon preference.</a:t>
            </a:r>
            <a:endParaRPr lang="en-IN" sz="800" dirty="0">
              <a:latin typeface="Arial" panose="020B0604020202020204" pitchFamily="34" charset="0"/>
              <a:cs typeface="Arial" panose="020B0604020202020204" pitchFamily="34" charset="0"/>
            </a:endParaRPr>
          </a:p>
          <a:p>
            <a:endParaRPr lang="en-IN" sz="800" dirty="0"/>
          </a:p>
        </p:txBody>
      </p:sp>
      <p:sp>
        <p:nvSpPr>
          <p:cNvPr id="23" name="Rectangle 4">
            <a:extLst>
              <a:ext uri="{FF2B5EF4-FFF2-40B4-BE49-F238E27FC236}">
                <a16:creationId xmlns:a16="http://schemas.microsoft.com/office/drawing/2014/main" id="{EEC4CD15-9B49-1B60-DD1F-47747D89CCE2}"/>
              </a:ext>
            </a:extLst>
          </p:cNvPr>
          <p:cNvSpPr>
            <a:spLocks noChangeArrowheads="1"/>
          </p:cNvSpPr>
          <p:nvPr/>
        </p:nvSpPr>
        <p:spPr bwMode="auto">
          <a:xfrm>
            <a:off x="9980164" y="3021874"/>
            <a:ext cx="3949239" cy="5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pSp>
        <p:nvGrpSpPr>
          <p:cNvPr id="24" name="Group 3624">
            <a:extLst>
              <a:ext uri="{FF2B5EF4-FFF2-40B4-BE49-F238E27FC236}">
                <a16:creationId xmlns:a16="http://schemas.microsoft.com/office/drawing/2014/main" id="{DBD8089C-E0A5-1025-7FB8-DEA3BE62EEBE}"/>
              </a:ext>
            </a:extLst>
          </p:cNvPr>
          <p:cNvGrpSpPr>
            <a:grpSpLocks/>
          </p:cNvGrpSpPr>
          <p:nvPr/>
        </p:nvGrpSpPr>
        <p:grpSpPr bwMode="auto">
          <a:xfrm>
            <a:off x="6421521" y="3100018"/>
            <a:ext cx="2426228" cy="1440759"/>
            <a:chOff x="0" y="0"/>
            <a:chExt cx="80010" cy="48569"/>
          </a:xfrm>
        </p:grpSpPr>
        <p:pic>
          <p:nvPicPr>
            <p:cNvPr id="232" name="Picture 232">
              <a:extLst>
                <a:ext uri="{FF2B5EF4-FFF2-40B4-BE49-F238E27FC236}">
                  <a16:creationId xmlns:a16="http://schemas.microsoft.com/office/drawing/2014/main" id="{F2D8B30E-F057-E4DF-8394-C6E6E9DF9F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39715" cy="48569"/>
            </a:xfrm>
            <a:prstGeom prst="rect">
              <a:avLst/>
            </a:prstGeom>
            <a:noFill/>
            <a:extLst>
              <a:ext uri="{909E8E84-426E-40DD-AFC4-6F175D3DCCD1}">
                <a14:hiddenFill xmlns:a14="http://schemas.microsoft.com/office/drawing/2010/main">
                  <a:solidFill>
                    <a:srgbClr val="FFFFFF"/>
                  </a:solidFill>
                </a14:hiddenFill>
              </a:ext>
            </a:extLst>
          </p:spPr>
        </p:pic>
        <p:pic>
          <p:nvPicPr>
            <p:cNvPr id="234" name="Picture 234">
              <a:extLst>
                <a:ext uri="{FF2B5EF4-FFF2-40B4-BE49-F238E27FC236}">
                  <a16:creationId xmlns:a16="http://schemas.microsoft.com/office/drawing/2014/main" id="{8D769910-7C7F-43E2-7E94-45DB7BBBCC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37" y="0"/>
              <a:ext cx="38573" cy="48569"/>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TextBox 24">
            <a:extLst>
              <a:ext uri="{FF2B5EF4-FFF2-40B4-BE49-F238E27FC236}">
                <a16:creationId xmlns:a16="http://schemas.microsoft.com/office/drawing/2014/main" id="{7C555951-849A-F741-405D-99FCEF9EC763}"/>
              </a:ext>
            </a:extLst>
          </p:cNvPr>
          <p:cNvSpPr txBox="1"/>
          <p:nvPr/>
        </p:nvSpPr>
        <p:spPr>
          <a:xfrm>
            <a:off x="6456356" y="4497232"/>
            <a:ext cx="2426228" cy="215444"/>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       Pre op xray	                   Post op xray</a:t>
            </a:r>
            <a:endParaRPr lang="en-IN" sz="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217E3209-26AE-5EB6-569A-E418C5CED171}"/>
              </a:ext>
            </a:extLst>
          </p:cNvPr>
          <p:cNvSpPr txBox="1"/>
          <p:nvPr/>
        </p:nvSpPr>
        <p:spPr>
          <a:xfrm>
            <a:off x="8821782" y="3056473"/>
            <a:ext cx="3439061" cy="1815882"/>
          </a:xfrm>
          <a:prstGeom prst="rect">
            <a:avLst/>
          </a:prstGeom>
          <a:noFill/>
        </p:spPr>
        <p:txBody>
          <a:bodyPr wrap="square" rtlCol="0">
            <a:spAutoFit/>
          </a:bodyPr>
          <a:lstStyle/>
          <a:p>
            <a:pPr lvl="0" fontAlgn="base"/>
            <a:r>
              <a:rPr lang="en-US" sz="800" b="1" u="sng" dirty="0">
                <a:latin typeface="Arial" panose="020B0604020202020204" pitchFamily="34" charset="0"/>
                <a:cs typeface="Arial" panose="020B0604020202020204" pitchFamily="34" charset="0"/>
              </a:rPr>
              <a:t>Follow up - </a:t>
            </a:r>
            <a:r>
              <a:rPr lang="en-US" sz="800" dirty="0">
                <a:latin typeface="Arial" panose="020B0604020202020204" pitchFamily="34" charset="0"/>
                <a:cs typeface="Arial" panose="020B0604020202020204" pitchFamily="34" charset="0"/>
              </a:rPr>
              <a:t>Immediate post op - Patient was advised for immobilization in Arm sling pouch.</a:t>
            </a:r>
            <a:r>
              <a:rPr lang="en-IN"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Gentle exercises for the hand, wrist, and elbow are permitted. Pendulum exercises started in 5</a:t>
            </a:r>
            <a:r>
              <a:rPr lang="en-US" sz="800" baseline="30000" dirty="0">
                <a:latin typeface="Arial" panose="020B0604020202020204" pitchFamily="34" charset="0"/>
                <a:cs typeface="Arial" panose="020B0604020202020204" pitchFamily="34" charset="0"/>
              </a:rPr>
              <a:t>th </a:t>
            </a:r>
            <a:r>
              <a:rPr lang="en-US" sz="800" dirty="0">
                <a:latin typeface="Arial" panose="020B0604020202020204" pitchFamily="34" charset="0"/>
                <a:cs typeface="Arial" panose="020B0604020202020204" pitchFamily="34" charset="0"/>
              </a:rPr>
              <a:t>to 7</a:t>
            </a:r>
            <a:r>
              <a:rPr lang="en-US" sz="800" baseline="30000" dirty="0">
                <a:latin typeface="Arial" panose="020B0604020202020204" pitchFamily="34" charset="0"/>
                <a:cs typeface="Arial" panose="020B0604020202020204" pitchFamily="34" charset="0"/>
              </a:rPr>
              <a:t>th </a:t>
            </a:r>
            <a:r>
              <a:rPr lang="en-US" sz="800" dirty="0">
                <a:latin typeface="Arial" panose="020B0604020202020204" pitchFamily="34" charset="0"/>
                <a:cs typeface="Arial" panose="020B0604020202020204" pitchFamily="34" charset="0"/>
              </a:rPr>
              <a:t>day post-op, but active shoulder motion was not allowed.</a:t>
            </a:r>
            <a:r>
              <a:rPr lang="en-IN"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Pain subsided on 4</a:t>
            </a:r>
            <a:r>
              <a:rPr lang="en-US" sz="800" baseline="30000" dirty="0">
                <a:latin typeface="Arial" panose="020B0604020202020204" pitchFamily="34" charset="0"/>
                <a:cs typeface="Arial" panose="020B0604020202020204" pitchFamily="34" charset="0"/>
              </a:rPr>
              <a:t>th </a:t>
            </a:r>
            <a:r>
              <a:rPr lang="en-US" sz="800" dirty="0">
                <a:latin typeface="Arial" panose="020B0604020202020204" pitchFamily="34" charset="0"/>
                <a:cs typeface="Arial" panose="020B0604020202020204" pitchFamily="34" charset="0"/>
              </a:rPr>
              <a:t>week follow up visit and patient allowed passive abduction of 90 degree without pain.</a:t>
            </a:r>
            <a:r>
              <a:rPr lang="en-IN"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Active-assisted and gentle passive ROM exercises allowed after  4</a:t>
            </a:r>
            <a:r>
              <a:rPr lang="en-US" sz="800" baseline="30000" dirty="0">
                <a:latin typeface="Arial" panose="020B0604020202020204" pitchFamily="34" charset="0"/>
                <a:cs typeface="Arial" panose="020B0604020202020204" pitchFamily="34" charset="0"/>
              </a:rPr>
              <a:t>th </a:t>
            </a:r>
            <a:r>
              <a:rPr lang="en-US" sz="800" dirty="0">
                <a:latin typeface="Arial" panose="020B0604020202020204" pitchFamily="34" charset="0"/>
                <a:cs typeface="Arial" panose="020B0604020202020204" pitchFamily="34" charset="0"/>
              </a:rPr>
              <a:t>week, including overhead elevation after 6</a:t>
            </a:r>
            <a:r>
              <a:rPr lang="en-US" sz="800" baseline="30000" dirty="0">
                <a:latin typeface="Arial" panose="020B0604020202020204" pitchFamily="34" charset="0"/>
                <a:cs typeface="Arial" panose="020B0604020202020204" pitchFamily="34" charset="0"/>
              </a:rPr>
              <a:t>th </a:t>
            </a:r>
            <a:r>
              <a:rPr lang="en-US" sz="800" dirty="0">
                <a:latin typeface="Arial" panose="020B0604020202020204" pitchFamily="34" charset="0"/>
                <a:cs typeface="Arial" panose="020B0604020202020204" pitchFamily="34" charset="0"/>
              </a:rPr>
              <a:t>week. The goal is to restore normal glenohumeral and scapulothoracic motion. Thus, strengthening exercises implemented after repeat xray seen and reduction confirmed on follow up visit.</a:t>
            </a:r>
            <a:r>
              <a:rPr lang="en-IN"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Rotator cuff strengthening with resistance bands is initiated for the patient to work toward achieving full, pain-free active ROM at 9</a:t>
            </a:r>
            <a:r>
              <a:rPr lang="en-US" sz="800" baseline="30000" dirty="0">
                <a:latin typeface="Arial" panose="020B0604020202020204" pitchFamily="34" charset="0"/>
                <a:cs typeface="Arial" panose="020B0604020202020204" pitchFamily="34" charset="0"/>
              </a:rPr>
              <a:t>th </a:t>
            </a:r>
            <a:r>
              <a:rPr lang="en-US" sz="800" dirty="0">
                <a:latin typeface="Arial" panose="020B0604020202020204" pitchFamily="34" charset="0"/>
                <a:cs typeface="Arial" panose="020B0604020202020204" pitchFamily="34" charset="0"/>
              </a:rPr>
              <a:t>week</a:t>
            </a:r>
            <a:r>
              <a:rPr lang="en-IN"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Patient was advised to avoid Contact / collision sports or heavy weight lifting until 6 to 12</a:t>
            </a:r>
            <a:r>
              <a:rPr lang="en-US" sz="800" baseline="30000" dirty="0">
                <a:latin typeface="Arial" panose="020B0604020202020204" pitchFamily="34" charset="0"/>
                <a:cs typeface="Arial" panose="020B0604020202020204" pitchFamily="34" charset="0"/>
              </a:rPr>
              <a:t>th </a:t>
            </a:r>
            <a:r>
              <a:rPr lang="en-US" sz="800" dirty="0">
                <a:latin typeface="Arial" panose="020B0604020202020204" pitchFamily="34" charset="0"/>
                <a:cs typeface="Arial" panose="020B0604020202020204" pitchFamily="34" charset="0"/>
              </a:rPr>
              <a:t>month.</a:t>
            </a:r>
            <a:endParaRPr lang="en-IN" sz="800" dirty="0">
              <a:latin typeface="Arial" panose="020B0604020202020204" pitchFamily="34" charset="0"/>
              <a:cs typeface="Arial" panose="020B0604020202020204" pitchFamily="34" charset="0"/>
            </a:endParaRPr>
          </a:p>
          <a:p>
            <a:endParaRPr lang="en-IN" sz="800" dirty="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4E22F93-FCA4-9CCF-F4C1-C998AFC4B347}"/>
              </a:ext>
            </a:extLst>
          </p:cNvPr>
          <p:cNvSpPr txBox="1"/>
          <p:nvPr/>
        </p:nvSpPr>
        <p:spPr>
          <a:xfrm>
            <a:off x="6340263" y="6173202"/>
            <a:ext cx="5771230" cy="830997"/>
          </a:xfrm>
          <a:prstGeom prst="rect">
            <a:avLst/>
          </a:prstGeom>
          <a:noFill/>
        </p:spPr>
        <p:txBody>
          <a:bodyPr wrap="square" rtlCol="0">
            <a:spAutoFit/>
          </a:bodyPr>
          <a:lstStyle/>
          <a:p>
            <a:pPr lvl="0" fontAlgn="base"/>
            <a:r>
              <a:rPr lang="en-US" sz="800" dirty="0">
                <a:latin typeface="Arial" panose="020B0604020202020204" pitchFamily="34" charset="0"/>
                <a:cs typeface="Arial" panose="020B0604020202020204" pitchFamily="34" charset="0"/>
              </a:rPr>
              <a:t>When compared with traditional hook plate fixation and ligament reconstruction procedures, the double Endobutton technique demonstrates comparable or </a:t>
            </a:r>
            <a:r>
              <a:rPr lang="en-IN"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superior stability, reduced implant-related complications, and improved patient comfort.</a:t>
            </a:r>
            <a:r>
              <a:rPr lang="en-IN" sz="800" dirty="0">
                <a:latin typeface="Arial" panose="020B0604020202020204" pitchFamily="34" charset="0"/>
                <a:cs typeface="Arial" panose="020B0604020202020204" pitchFamily="34" charset="0"/>
              </a:rPr>
              <a:t> </a:t>
            </a:r>
            <a:r>
              <a:rPr lang="en-US" sz="800" dirty="0">
                <a:latin typeface="Arial" panose="020B0604020202020204" pitchFamily="34" charset="0"/>
                <a:cs typeface="Arial" panose="020B0604020202020204" pitchFamily="34" charset="0"/>
              </a:rPr>
              <a:t>It restores native coracoclavicular biomechanics, avoids subacromial impingement, and allows early rehabilitation.</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This method provides stable anatomical fixation without the need for implant removal, resulting in better functional recovery and lower morbidity</a:t>
            </a:r>
            <a:endParaRPr lang="en-IN" sz="800" dirty="0">
              <a:latin typeface="Arial" panose="020B0604020202020204" pitchFamily="34" charset="0"/>
              <a:cs typeface="Arial" panose="020B0604020202020204" pitchFamily="34" charset="0"/>
            </a:endParaRPr>
          </a:p>
          <a:p>
            <a:endParaRPr lang="en-IN" sz="800" dirty="0">
              <a:latin typeface="Arial" panose="020B06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8C582576-5ADE-EA90-6B0A-B4414EE92F94}"/>
              </a:ext>
            </a:extLst>
          </p:cNvPr>
          <p:cNvSpPr/>
          <p:nvPr/>
        </p:nvSpPr>
        <p:spPr>
          <a:xfrm>
            <a:off x="6352674" y="4732059"/>
            <a:ext cx="5839326" cy="11677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Rectangle 28">
            <a:extLst>
              <a:ext uri="{FF2B5EF4-FFF2-40B4-BE49-F238E27FC236}">
                <a16:creationId xmlns:a16="http://schemas.microsoft.com/office/drawing/2014/main" id="{2EAE61ED-82B0-79CC-9711-EB1639DA4E4A}"/>
              </a:ext>
            </a:extLst>
          </p:cNvPr>
          <p:cNvSpPr/>
          <p:nvPr/>
        </p:nvSpPr>
        <p:spPr>
          <a:xfrm>
            <a:off x="6352675" y="4692447"/>
            <a:ext cx="5839325" cy="264253"/>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INTRA OP PICTURES</a:t>
            </a:r>
          </a:p>
        </p:txBody>
      </p:sp>
      <p:grpSp>
        <p:nvGrpSpPr>
          <p:cNvPr id="30" name="Group 3492">
            <a:extLst>
              <a:ext uri="{FF2B5EF4-FFF2-40B4-BE49-F238E27FC236}">
                <a16:creationId xmlns:a16="http://schemas.microsoft.com/office/drawing/2014/main" id="{588681C8-497A-5BB3-8608-B6046ED94E87}"/>
              </a:ext>
            </a:extLst>
          </p:cNvPr>
          <p:cNvGrpSpPr>
            <a:grpSpLocks/>
          </p:cNvGrpSpPr>
          <p:nvPr/>
        </p:nvGrpSpPr>
        <p:grpSpPr bwMode="auto">
          <a:xfrm>
            <a:off x="6357230" y="4940918"/>
            <a:ext cx="5834750" cy="966405"/>
            <a:chOff x="7071316" y="4935043"/>
            <a:chExt cx="5834510" cy="966498"/>
          </a:xfrm>
        </p:grpSpPr>
        <p:pic>
          <p:nvPicPr>
            <p:cNvPr id="247" name="Picture 247">
              <a:extLst>
                <a:ext uri="{FF2B5EF4-FFF2-40B4-BE49-F238E27FC236}">
                  <a16:creationId xmlns:a16="http://schemas.microsoft.com/office/drawing/2014/main" id="{FC2BAA84-8AA0-B875-6F92-CD04A86ED4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71316" y="4935043"/>
              <a:ext cx="1104430" cy="966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9" name="Picture 249">
              <a:extLst>
                <a:ext uri="{FF2B5EF4-FFF2-40B4-BE49-F238E27FC236}">
                  <a16:creationId xmlns:a16="http://schemas.microsoft.com/office/drawing/2014/main" id="{44E60499-C8B8-BEA8-FFAB-C82616C2E02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74413" y="4945102"/>
              <a:ext cx="1069532" cy="93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251">
              <a:extLst>
                <a:ext uri="{FF2B5EF4-FFF2-40B4-BE49-F238E27FC236}">
                  <a16:creationId xmlns:a16="http://schemas.microsoft.com/office/drawing/2014/main" id="{A1C9042D-7B01-F836-74FD-01E020F60DB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10800001">
              <a:off x="10250419" y="4953918"/>
              <a:ext cx="1332356" cy="947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 name="Picture 253">
              <a:extLst>
                <a:ext uri="{FF2B5EF4-FFF2-40B4-BE49-F238E27FC236}">
                  <a16:creationId xmlns:a16="http://schemas.microsoft.com/office/drawing/2014/main" id="{828C07E2-3F48-9C33-7D77-17BEC9D6866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16200001">
              <a:off x="11775091" y="4751343"/>
              <a:ext cx="939930" cy="1321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5" name="Picture 255">
              <a:extLst>
                <a:ext uri="{FF2B5EF4-FFF2-40B4-BE49-F238E27FC236}">
                  <a16:creationId xmlns:a16="http://schemas.microsoft.com/office/drawing/2014/main" id="{3E191929-4E4C-95E3-5599-587FF9D25E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43945" y="4945577"/>
              <a:ext cx="1014133" cy="936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 name="TextBox 30">
            <a:extLst>
              <a:ext uri="{FF2B5EF4-FFF2-40B4-BE49-F238E27FC236}">
                <a16:creationId xmlns:a16="http://schemas.microsoft.com/office/drawing/2014/main" id="{C5344367-7A53-73A0-396B-F1ED4BCA8D00}"/>
              </a:ext>
            </a:extLst>
          </p:cNvPr>
          <p:cNvSpPr txBox="1"/>
          <p:nvPr/>
        </p:nvSpPr>
        <p:spPr>
          <a:xfrm>
            <a:off x="3161176" y="1732157"/>
            <a:ext cx="3151657" cy="4770537"/>
          </a:xfrm>
          <a:prstGeom prst="rect">
            <a:avLst/>
          </a:prstGeom>
          <a:noFill/>
        </p:spPr>
        <p:txBody>
          <a:bodyPr wrap="square" rtlCol="0">
            <a:spAutoFit/>
          </a:bodyPr>
          <a:lstStyle/>
          <a:p>
            <a:pPr lvl="0" fontAlgn="base"/>
            <a:r>
              <a:rPr lang="en-US" sz="800" dirty="0">
                <a:latin typeface="Arial" panose="020B0604020202020204" pitchFamily="34" charset="0"/>
                <a:cs typeface="Arial" panose="020B0604020202020204" pitchFamily="34" charset="0"/>
              </a:rPr>
              <a:t>Patient in beach-chair position with head secured.</a:t>
            </a:r>
          </a:p>
          <a:p>
            <a:pPr lvl="0" fontAlgn="base"/>
            <a:r>
              <a:rPr lang="en-US" sz="800" dirty="0">
                <a:latin typeface="Arial" panose="020B0604020202020204" pitchFamily="34" charset="0"/>
                <a:cs typeface="Arial" panose="020B0604020202020204" pitchFamily="34" charset="0"/>
              </a:rPr>
              <a:t>Affected shoulder and clavicle fully exposed and draped.</a:t>
            </a:r>
          </a:p>
          <a:p>
            <a:pPr lvl="0" fontAlgn="base"/>
            <a:r>
              <a:rPr lang="en-US" sz="800" dirty="0">
                <a:latin typeface="Arial" panose="020B0604020202020204" pitchFamily="34" charset="0"/>
                <a:cs typeface="Arial" panose="020B0604020202020204" pitchFamily="34" charset="0"/>
              </a:rPr>
              <a:t>Image intensifier positioned for true AP &amp; Zanca views.</a:t>
            </a:r>
          </a:p>
          <a:p>
            <a:pPr lvl="0" fontAlgn="base"/>
            <a:r>
              <a:rPr lang="en-US" sz="800" dirty="0">
                <a:latin typeface="Arial" panose="020B0604020202020204" pitchFamily="34" charset="0"/>
                <a:cs typeface="Arial" panose="020B0604020202020204" pitchFamily="34" charset="0"/>
              </a:rPr>
              <a:t>A Superior or Saber cut approach is a straight incision running directly from front to back over the Coracoid and Clavicle is given, soft tissue is dissected and Deltoid is split in line with its fibers are periosteum is elevated over the lateral end of Clavicle and Coracoid.</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A drill hole is made over lateral Clavicle directed over the base of the coracoid, and the drill should be aimed slightly anteriorly. After drilling through the clavicle, the guide wire is easily passed in between the clavicle and coracoid. Once the tip of the guide wire is confirmed to be entering the coracoid well centered between the medial and lateral edges, The 4-mm Endobutton drill is now used to ream over the drill tip guide wire. With the clavicle well reduced, the Endobutton depth gauge is used to determine the channel length.</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Next Endobuttons are prepared – The Fiber wire is passed through the Middle two holes of the Endobutton and next passed through the end holes on both sides securing the 1</a:t>
            </a:r>
            <a:r>
              <a:rPr lang="en-US" sz="800" baseline="30000" dirty="0">
                <a:latin typeface="Arial" panose="020B0604020202020204" pitchFamily="34" charset="0"/>
                <a:cs typeface="Arial" panose="020B0604020202020204" pitchFamily="34" charset="0"/>
              </a:rPr>
              <a:t>st </a:t>
            </a:r>
            <a:r>
              <a:rPr lang="en-US" sz="800" dirty="0">
                <a:latin typeface="Arial" panose="020B0604020202020204" pitchFamily="34" charset="0"/>
                <a:cs typeface="Arial" panose="020B0604020202020204" pitchFamily="34" charset="0"/>
              </a:rPr>
              <a:t>Endobutton in middle of the Fiber wire . </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The First Endobutton is passed through the Clavicle hole that was made using Endobutton passer and next passed through the Coracoid and checked under C-arm guidance for confirmation.</a:t>
            </a:r>
            <a:endParaRPr lang="en-IN" sz="800" dirty="0">
              <a:latin typeface="Arial" panose="020B0604020202020204" pitchFamily="34" charset="0"/>
              <a:cs typeface="Arial" panose="020B0604020202020204" pitchFamily="34" charset="0"/>
            </a:endParaRPr>
          </a:p>
          <a:p>
            <a:pPr lvl="0" fontAlgn="base"/>
            <a:r>
              <a:rPr lang="en-US" sz="800" dirty="0">
                <a:latin typeface="Arial" panose="020B0604020202020204" pitchFamily="34" charset="0"/>
                <a:cs typeface="Arial" panose="020B0604020202020204" pitchFamily="34" charset="0"/>
              </a:rPr>
              <a:t>Next with the suture holder holding the second </a:t>
            </a:r>
            <a:endParaRPr lang="en-IN"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Endobutton, the Ends of Fiber wires are passed through the middle two holes and next through the lateral two holes. Now second Endobutton is turned over so that it lays flat on the Clavicle bone. Tie the sutures on top of the Endobutton loop. This now locks the loop in place and completes the reconstruction of the conoid portion of the coracoclavicular ligament.</a:t>
            </a:r>
          </a:p>
          <a:p>
            <a:r>
              <a:rPr lang="en-US" sz="800" dirty="0">
                <a:latin typeface="Arial" panose="020B0604020202020204" pitchFamily="34" charset="0"/>
                <a:cs typeface="Arial" panose="020B0604020202020204" pitchFamily="34" charset="0"/>
              </a:rPr>
              <a:t>Reduction  confirmed under fluoroscopy Sequential tightening of sutures maintaining reduction.</a:t>
            </a:r>
          </a:p>
          <a:p>
            <a:r>
              <a:rPr lang="en-US" sz="800" dirty="0">
                <a:latin typeface="Arial" panose="020B0604020202020204" pitchFamily="34" charset="0"/>
                <a:cs typeface="Arial" panose="020B0604020202020204" pitchFamily="34" charset="0"/>
              </a:rPr>
              <a:t>Next vertical and horizontal stability is checked.</a:t>
            </a:r>
          </a:p>
          <a:p>
            <a:r>
              <a:rPr lang="en-US" sz="800" dirty="0">
                <a:latin typeface="Arial" panose="020B0604020202020204" pitchFamily="34" charset="0"/>
                <a:cs typeface="Arial" panose="020B0604020202020204" pitchFamily="34" charset="0"/>
              </a:rPr>
              <a:t>Subcutaneous tissue and skin closed in layers.</a:t>
            </a:r>
          </a:p>
          <a:p>
            <a:r>
              <a:rPr lang="en-US" sz="800" dirty="0">
                <a:latin typeface="Arial" panose="020B0604020202020204" pitchFamily="34" charset="0"/>
                <a:cs typeface="Arial" panose="020B0604020202020204" pitchFamily="34" charset="0"/>
              </a:rPr>
              <a:t>Sterile dressing and arm sling applied.</a:t>
            </a:r>
            <a:endParaRPr lang="en-IN" sz="800" dirty="0">
              <a:latin typeface="Arial" panose="020B0604020202020204" pitchFamily="34" charset="0"/>
              <a:cs typeface="Arial" panose="020B0604020202020204" pitchFamily="34" charset="0"/>
            </a:endParaRPr>
          </a:p>
          <a:p>
            <a:endParaRPr lang="en-IN"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1207</Words>
  <Application>Microsoft Office PowerPoint</Application>
  <PresentationFormat>Widescreen</PresentationFormat>
  <Paragraphs>36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Pranabesh Mondal</cp:lastModifiedBy>
  <cp:revision>13</cp:revision>
  <dcterms:created xsi:type="dcterms:W3CDTF">2026-01-11T06:24:43Z</dcterms:created>
  <dcterms:modified xsi:type="dcterms:W3CDTF">2026-01-26T17:23:58Z</dcterms:modified>
</cp:coreProperties>
</file>