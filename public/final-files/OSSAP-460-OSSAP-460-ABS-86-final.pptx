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embeddedFontLst>
    <p:embeddedFont>
      <p:font typeface="Play"/>
      <p:regular r:id="rId13"/>
      <p:bold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Play-regular.fnt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font" Target="fonts/Play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5" name="Google Shape;8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4bff096a458cc4cf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4bff096a458cc4cf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4a51e1f13ae1f395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4a51e1f13ae1f39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73179ad658604b9f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73179ad658604b9f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4a51e1f13ae1f395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4a51e1f13ae1f395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4e812a3a1a2e5fbb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4e812a3a1a2e5fbb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73179ad658604b9f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73179ad658604b9f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4bff096a458cc4cf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4bff096a458cc4cf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b="0" i="0" sz="6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b="0" i="0" sz="6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" name="Google Shape;36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" name="Google Shape;45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b="0" i="0" sz="3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b="0" i="0" sz="3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" name="Google Shape;73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" name="Google Shape;74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5" name="Google Shape;75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9" name="Google Shape;79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0" name="Google Shape;80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1" name="Google Shape;81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7.xml"/><Relationship Id="rId10" Type="http://schemas.openxmlformats.org/officeDocument/2006/relationships/slideLayout" Target="../slideLayouts/slideLayout6.xml"/><Relationship Id="rId13" Type="http://schemas.openxmlformats.org/officeDocument/2006/relationships/slideLayout" Target="../slideLayouts/slideLayout9.xml"/><Relationship Id="rId12" Type="http://schemas.openxmlformats.org/officeDocument/2006/relationships/slideLayout" Target="../slideLayouts/slideLayout8.xml"/><Relationship Id="rId1" Type="http://schemas.openxmlformats.org/officeDocument/2006/relationships/image" Target="../media/image7.png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0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1.xml"/><Relationship Id="rId6" Type="http://schemas.openxmlformats.org/officeDocument/2006/relationships/slideLayout" Target="../slideLayouts/slideLayout2.xml"/><Relationship Id="rId7" Type="http://schemas.openxmlformats.org/officeDocument/2006/relationships/slideLayout" Target="../slideLayouts/slideLayout3.xml"/><Relationship Id="rId8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0"/>
            <a:ext cx="12191998" cy="1280156"/>
          </a:xfrm>
          <a:prstGeom prst="rect">
            <a:avLst/>
          </a:prstGeom>
          <a:solidFill>
            <a:srgbClr val="01234D"/>
          </a:solidFill>
          <a:ln cap="flat" cmpd="sng" w="19050">
            <a:solidFill>
              <a:srgbClr val="52575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Google Shape;7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006884" y="74822"/>
            <a:ext cx="1043154" cy="104315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947316" y="123390"/>
            <a:ext cx="884047" cy="884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27893" y="192303"/>
            <a:ext cx="785940" cy="7859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"/>
          <p:cNvSpPr txBox="1"/>
          <p:nvPr/>
        </p:nvSpPr>
        <p:spPr>
          <a:xfrm>
            <a:off x="2575249" y="27424"/>
            <a:ext cx="599834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55</a:t>
            </a:r>
            <a:r>
              <a:rPr b="1" baseline="3000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Annual Conference of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Orthopedic Surgeon Society of Andhra Pradesh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2601218" y="653897"/>
            <a:ext cx="63074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Date 6 – 8 February,2026, Venue : Kurnool Medical College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2575249" y="913340"/>
            <a:ext cx="711403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Organized by : Department of Orthopaedics, Kurnool Medical College Kurnool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560814" y="14255"/>
            <a:ext cx="1505561" cy="1280157"/>
          </a:xfrm>
          <a:custGeom>
            <a:rect b="b" l="l" r="r" t="t"/>
            <a:pathLst>
              <a:path extrusionOk="0" h="1957865" w="2254612">
                <a:moveTo>
                  <a:pt x="0" y="0"/>
                </a:moveTo>
                <a:lnTo>
                  <a:pt x="2254612" y="0"/>
                </a:lnTo>
                <a:lnTo>
                  <a:pt x="2254612" y="1957865"/>
                </a:lnTo>
                <a:lnTo>
                  <a:pt x="0" y="19578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0854" l="0" r="-4892" t="-993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5"/>
    <p:sldLayoutId id="2147483649" r:id="rId6"/>
    <p:sldLayoutId id="2147483650" r:id="rId7"/>
    <p:sldLayoutId id="2147483651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57" r:id="rId14"/>
    <p:sldLayoutId id="2147483658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jpg"/><Relationship Id="rId4" Type="http://schemas.openxmlformats.org/officeDocument/2006/relationships/image" Target="../media/image10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jpg"/><Relationship Id="rId4" Type="http://schemas.openxmlformats.org/officeDocument/2006/relationships/image" Target="../media/image11.jpg"/><Relationship Id="rId5" Type="http://schemas.openxmlformats.org/officeDocument/2006/relationships/image" Target="../media/image1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/>
          <p:nvPr/>
        </p:nvSpPr>
        <p:spPr>
          <a:xfrm>
            <a:off x="0" y="0"/>
            <a:ext cx="12192000" cy="1280100"/>
          </a:xfrm>
          <a:prstGeom prst="rect">
            <a:avLst/>
          </a:prstGeom>
          <a:solidFill>
            <a:srgbClr val="01234D"/>
          </a:solidFill>
          <a:ln cap="flat" cmpd="sng" w="19050">
            <a:solidFill>
              <a:srgbClr val="52575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" name="Google Shape;8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06884" y="74822"/>
            <a:ext cx="1043154" cy="1043154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47316" y="123390"/>
            <a:ext cx="884048" cy="884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27893" y="192303"/>
            <a:ext cx="785940" cy="78594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/>
        </p:nvSpPr>
        <p:spPr>
          <a:xfrm>
            <a:off x="2286010" y="0"/>
            <a:ext cx="72603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700">
                <a:solidFill>
                  <a:srgbClr val="FFFFFF"/>
                </a:solidFill>
              </a:rPr>
              <a:t>FUNCTIONAL OUTCOME OF CROSS PINNING </a:t>
            </a:r>
            <a:r>
              <a:rPr lang="en-US" sz="1700">
                <a:solidFill>
                  <a:srgbClr val="FFFFFF"/>
                </a:solidFill>
              </a:rPr>
              <a:t>VERSUS</a:t>
            </a:r>
            <a:r>
              <a:rPr lang="en-US" sz="1700">
                <a:solidFill>
                  <a:srgbClr val="FFFFFF"/>
                </a:solidFill>
              </a:rPr>
              <a:t> LATERAL PINNING IN SUPRACONDYLAR FRACTURES OF HUMERUS IN CHILDREN</a:t>
            </a:r>
            <a:endParaRPr b="0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3889147" y="703150"/>
            <a:ext cx="30969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Presenter : Dr. G Phanikumar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3889147" y="871500"/>
            <a:ext cx="37944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Guide : Dr. SCV Srikanth, MS Ortho, </a:t>
            </a:r>
            <a:r>
              <a:rPr b="1" lang="en-US" sz="1200">
                <a:solidFill>
                  <a:schemeClr val="lt1"/>
                </a:solidFill>
              </a:rPr>
              <a:t>Professor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560814" y="14255"/>
            <a:ext cx="1504954" cy="1282402"/>
          </a:xfrm>
          <a:custGeom>
            <a:rect b="b" l="l" r="r" t="t"/>
            <a:pathLst>
              <a:path extrusionOk="0" h="1957865" w="2254612">
                <a:moveTo>
                  <a:pt x="0" y="0"/>
                </a:moveTo>
                <a:lnTo>
                  <a:pt x="2254612" y="0"/>
                </a:lnTo>
                <a:lnTo>
                  <a:pt x="2254612" y="1957865"/>
                </a:lnTo>
                <a:lnTo>
                  <a:pt x="0" y="19578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10843" l="0" r="-4885" t="-993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559950" y="1335600"/>
            <a:ext cx="107124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INTRODUCTION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The number of fractures peaked in children of ages between 5 to 11 years and then declined in teenagers.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The most frequent fractures [16.9%]were to the ulna and radius, with the humerus[12.0%] and distal radius [14.6%] following.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The next most common fracture was supracondylar humerus fracture affecting the elbow among children between the ages of 5 and 7 years of age with similar sex predisposition.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Supracondylar fractures of the humerus account for 55% to 80% of total elbow fractures in children.</a:t>
            </a:r>
            <a:endParaRPr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 txBox="1"/>
          <p:nvPr/>
        </p:nvSpPr>
        <p:spPr>
          <a:xfrm>
            <a:off x="249949" y="1335600"/>
            <a:ext cx="7662600" cy="4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Mechanism of injury: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Extension type: fall on an outstretched hand with hyperextension of elbow, forearm position [pronation&gt; supination] decides the rotational deformity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Flexion type: direct trauma or fall on a flexed elbow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Upto two- thirds of paediatric elbow injuries requires hospitalisation.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Displaced fractures need usually closed reduction and rarely open reduction and stabilisation with k wires by either cross or lateral technique.</a:t>
            </a:r>
            <a:endParaRPr sz="2000"/>
          </a:p>
        </p:txBody>
      </p:sp>
      <p:sp>
        <p:nvSpPr>
          <p:cNvPr id="101" name="Google Shape;101;p14"/>
          <p:cNvSpPr txBox="1"/>
          <p:nvPr/>
        </p:nvSpPr>
        <p:spPr>
          <a:xfrm>
            <a:off x="7565075" y="4285497"/>
            <a:ext cx="13350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Flexion type</a:t>
            </a:r>
            <a:endParaRPr sz="1600"/>
          </a:p>
        </p:txBody>
      </p:sp>
      <p:sp>
        <p:nvSpPr>
          <p:cNvPr id="102" name="Google Shape;102;p14"/>
          <p:cNvSpPr txBox="1"/>
          <p:nvPr/>
        </p:nvSpPr>
        <p:spPr>
          <a:xfrm>
            <a:off x="9912099" y="4285500"/>
            <a:ext cx="17496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Extension type</a:t>
            </a:r>
            <a:endParaRPr sz="1600"/>
          </a:p>
        </p:txBody>
      </p:sp>
      <p:pic>
        <p:nvPicPr>
          <p:cNvPr id="103" name="Google Shape;10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13720" y="1335599"/>
            <a:ext cx="2111225" cy="2816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65075" y="1335600"/>
            <a:ext cx="1940770" cy="281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 txBox="1"/>
          <p:nvPr/>
        </p:nvSpPr>
        <p:spPr>
          <a:xfrm>
            <a:off x="402350" y="1249675"/>
            <a:ext cx="10820400" cy="5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en-US" sz="1900"/>
              <a:t>AIM </a:t>
            </a:r>
            <a:endParaRPr b="1"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To assess functional outcome of cross pinning versus lateral pinning in supracondylar fractures of humerus in children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en-US" sz="1900"/>
              <a:t>METHOD</a:t>
            </a:r>
            <a:r>
              <a:rPr lang="en-US" sz="1900"/>
              <a:t>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 The study was conducted with 24 patients of Gartland's type 2,3 supracondylar humerus fractures.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Radiographs including anterior posterior view, lateral view were performed.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Pre op, post op and </a:t>
            </a:r>
            <a:r>
              <a:rPr lang="en-US" sz="1900"/>
              <a:t>intraop</a:t>
            </a:r>
            <a:r>
              <a:rPr lang="en-US" sz="1900"/>
              <a:t> assessment were done with respect to incidence of Baumann's angle, Flynn criteria till 14 weeks post op period.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en-US" sz="1900"/>
              <a:t>DATA COLLECTION</a:t>
            </a:r>
            <a:r>
              <a:rPr lang="en-US" sz="1900"/>
              <a:t>: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Patients who got admitted with supracondylar humerus fractures in Dr. PSIMS &amp; RF during our OPD and casualty</a:t>
            </a:r>
            <a:endParaRPr sz="1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 txBox="1"/>
          <p:nvPr/>
        </p:nvSpPr>
        <p:spPr>
          <a:xfrm>
            <a:off x="231650" y="1328925"/>
            <a:ext cx="5669400" cy="54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/>
              <a:t>METHODS AND MATERIALS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INCLUSION CRITERIA: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1. Patients with displaced supracondylar fractures[ type 2 &amp; 3 Gartland's fractures.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2. Duration of injury should be within 5 days.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3. Both males and females less than 15 years of age.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4. Fractures with no neurovascular deficit.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5. Isolated supracondylar fractures of humerus.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6. Only closed fractures.</a:t>
            </a:r>
            <a:endParaRPr sz="2000"/>
          </a:p>
        </p:txBody>
      </p:sp>
      <p:sp>
        <p:nvSpPr>
          <p:cNvPr id="115" name="Google Shape;115;p16"/>
          <p:cNvSpPr txBox="1"/>
          <p:nvPr/>
        </p:nvSpPr>
        <p:spPr>
          <a:xfrm>
            <a:off x="6169226" y="1944535"/>
            <a:ext cx="57486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EXCLUSION CRITERIA: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1. With neurovascular injury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2. Patients who are not willing for surgery.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3. Type 1 undisplayed Gartland's fracture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4. Previous history of elbow injury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5. Age group &gt; 15 years in both sexes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6. Patients with inflammatory arthritis</a:t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/>
          <p:nvPr/>
        </p:nvSpPr>
        <p:spPr>
          <a:xfrm>
            <a:off x="609611" y="1296003"/>
            <a:ext cx="19569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/>
              <a:t>Results</a:t>
            </a:r>
            <a:endParaRPr b="1" sz="2300"/>
          </a:p>
        </p:txBody>
      </p:sp>
      <p:pic>
        <p:nvPicPr>
          <p:cNvPr id="121" name="Google Shape;12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719" y="1836600"/>
            <a:ext cx="5181600" cy="282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79000" y="3931925"/>
            <a:ext cx="5766825" cy="282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79000" y="1296000"/>
            <a:ext cx="5766826" cy="2644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 txBox="1"/>
          <p:nvPr/>
        </p:nvSpPr>
        <p:spPr>
          <a:xfrm>
            <a:off x="158500" y="1317949"/>
            <a:ext cx="11448300" cy="43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/>
              <a:t>CONCLUSION</a:t>
            </a:r>
            <a:endParaRPr b="1"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In this study comprising of 24 cases, done with closed reduction and percutaneous pinning, the following were made: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Most commonly involved age group was 7 to 9 years, who complained the mode of injury was while playing.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Postero medial displacement was seen in majority of cases and left hand side of fall was seen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Good cosmetic factor results, functional factor were excellent, when observed with lateral pinning method compared to medial pinning method using Flynn's criteria.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Maximum number of cases showed around 5 to 7 degrees loss of angle except 2 cases with &gt; 10 degrees loss of angle with medial pinning.</a:t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9"/>
          <p:cNvSpPr txBox="1"/>
          <p:nvPr/>
        </p:nvSpPr>
        <p:spPr>
          <a:xfrm>
            <a:off x="445000" y="1524000"/>
            <a:ext cx="112350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Although, minor complications were seen postoperatively, these complications were associated with medial pin fixation.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Hence, according to study lateral pin technique in fixing supracondylar fracture was superior to medial pin method in order to avoid ulnar nerve injuries.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While cross pinning provides definite stability to the fracture configuration and reduction.</a:t>
            </a:r>
            <a:endParaRPr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/>
          <p:nvPr/>
        </p:nvSpPr>
        <p:spPr>
          <a:xfrm>
            <a:off x="774191" y="1889747"/>
            <a:ext cx="9890700" cy="48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1. Baig MN. A review of epidemiological distribution of different types of fractures in paediatric age. Cureus. 2017 Aug;9(8).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2. Kopjar B, Wickizer TM. Fractures among children: incidence and impact on daily activities. Injury Prevention. 1998 Sep 1:4(3):194-7.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3.Camp J, Ishizue K, Gomez M,Gelberman R, Akeson W. Alteration of Baumann's angle by humeral position: implications for treatment of supracondylar humerus fractures. Journal of Paediatric Orthopaedics. 1993 Jul 1;13(4):521-5.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4. van Bergen CJ. Pediatric Fractures Are Challenging from Head to Toe. Children. 2022 May 6;9(5):678.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5. Alton TB, Werner SE, Gee AO. Classifications in brief: the Gartland classification of supracondylar humerus fractures.</a:t>
            </a:r>
            <a:endParaRPr sz="2000"/>
          </a:p>
        </p:txBody>
      </p:sp>
      <p:sp>
        <p:nvSpPr>
          <p:cNvPr id="139" name="Google Shape;139;p20"/>
          <p:cNvSpPr txBox="1"/>
          <p:nvPr/>
        </p:nvSpPr>
        <p:spPr>
          <a:xfrm>
            <a:off x="774212" y="1349162"/>
            <a:ext cx="20544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/>
              <a:t>References</a:t>
            </a:r>
            <a:endParaRPr b="1" sz="2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