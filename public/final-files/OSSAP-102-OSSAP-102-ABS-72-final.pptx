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4102C-5AEC-4E4A-8862-029660103EA8}" v="10" dt="2026-01-26T04:54:52.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33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i chandra" userId="622c14c5fe8b29f9" providerId="LiveId" clId="{2FEEC162-DD2E-442A-B046-B466569055A0}"/>
    <pc:docChg chg="undo custSel modSld">
      <pc:chgData name="gopi chandra" userId="622c14c5fe8b29f9" providerId="LiveId" clId="{2FEEC162-DD2E-442A-B046-B466569055A0}" dt="2026-01-26T04:56:50.012" v="538" actId="14100"/>
      <pc:docMkLst>
        <pc:docMk/>
      </pc:docMkLst>
      <pc:sldChg chg="addSp delSp modSp mod">
        <pc:chgData name="gopi chandra" userId="622c14c5fe8b29f9" providerId="LiveId" clId="{2FEEC162-DD2E-442A-B046-B466569055A0}" dt="2026-01-26T04:56:50.012" v="538" actId="14100"/>
        <pc:sldMkLst>
          <pc:docMk/>
          <pc:sldMk cId="3607354635" sldId="256"/>
        </pc:sldMkLst>
        <pc:spChg chg="mod">
          <ac:chgData name="gopi chandra" userId="622c14c5fe8b29f9" providerId="LiveId" clId="{2FEEC162-DD2E-442A-B046-B466569055A0}" dt="2026-01-26T02:40:41.924" v="313" actId="255"/>
          <ac:spMkLst>
            <pc:docMk/>
            <pc:sldMk cId="3607354635" sldId="256"/>
            <ac:spMk id="5" creationId="{1D4F9D5A-1DDA-4BC3-63F3-F36226B86C87}"/>
          </ac:spMkLst>
        </pc:spChg>
        <pc:spChg chg="mod">
          <ac:chgData name="gopi chandra" userId="622c14c5fe8b29f9" providerId="LiveId" clId="{2FEEC162-DD2E-442A-B046-B466569055A0}" dt="2026-01-26T02:41:46.727" v="318" actId="255"/>
          <ac:spMkLst>
            <pc:docMk/>
            <pc:sldMk cId="3607354635" sldId="256"/>
            <ac:spMk id="6" creationId="{EC094F03-F93B-9B6D-7C11-87F9C75E6ABB}"/>
          </ac:spMkLst>
        </pc:spChg>
        <pc:spChg chg="mod">
          <ac:chgData name="gopi chandra" userId="622c14c5fe8b29f9" providerId="LiveId" clId="{2FEEC162-DD2E-442A-B046-B466569055A0}" dt="2026-01-26T04:55:23.181" v="528" actId="14100"/>
          <ac:spMkLst>
            <pc:docMk/>
            <pc:sldMk cId="3607354635" sldId="256"/>
            <ac:spMk id="7" creationId="{6D1A47E9-312C-D04A-D368-EE96CE32C982}"/>
          </ac:spMkLst>
        </pc:spChg>
        <pc:spChg chg="mod">
          <ac:chgData name="gopi chandra" userId="622c14c5fe8b29f9" providerId="LiveId" clId="{2FEEC162-DD2E-442A-B046-B466569055A0}" dt="2026-01-26T04:56:29.020" v="535" actId="14100"/>
          <ac:spMkLst>
            <pc:docMk/>
            <pc:sldMk cId="3607354635" sldId="256"/>
            <ac:spMk id="8" creationId="{63A874B9-B8E1-A36B-AA38-6FCC7D5D8F32}"/>
          </ac:spMkLst>
        </pc:spChg>
        <pc:spChg chg="mod">
          <ac:chgData name="gopi chandra" userId="622c14c5fe8b29f9" providerId="LiveId" clId="{2FEEC162-DD2E-442A-B046-B466569055A0}" dt="2026-01-26T02:48:18.031" v="368"/>
          <ac:spMkLst>
            <pc:docMk/>
            <pc:sldMk cId="3607354635" sldId="256"/>
            <ac:spMk id="9" creationId="{0EFC2BB9-1938-0DF3-F424-CAC28C6D9880}"/>
          </ac:spMkLst>
        </pc:spChg>
        <pc:spChg chg="mod">
          <ac:chgData name="gopi chandra" userId="622c14c5fe8b29f9" providerId="LiveId" clId="{2FEEC162-DD2E-442A-B046-B466569055A0}" dt="2026-01-26T02:39:31.549" v="310" actId="20577"/>
          <ac:spMkLst>
            <pc:docMk/>
            <pc:sldMk cId="3607354635" sldId="256"/>
            <ac:spMk id="10" creationId="{6B0C050E-DD7C-3885-8EBF-D74C223C0531}"/>
          </ac:spMkLst>
        </pc:spChg>
        <pc:spChg chg="mod">
          <ac:chgData name="gopi chandra" userId="622c14c5fe8b29f9" providerId="LiveId" clId="{2FEEC162-DD2E-442A-B046-B466569055A0}" dt="2026-01-26T02:34:57.035" v="65" actId="14100"/>
          <ac:spMkLst>
            <pc:docMk/>
            <pc:sldMk cId="3607354635" sldId="256"/>
            <ac:spMk id="11" creationId="{493EBCB5-BB50-7945-E88B-86122853702B}"/>
          </ac:spMkLst>
        </pc:spChg>
        <pc:spChg chg="mod">
          <ac:chgData name="gopi chandra" userId="622c14c5fe8b29f9" providerId="LiveId" clId="{2FEEC162-DD2E-442A-B046-B466569055A0}" dt="2026-01-26T02:35:20.370" v="69" actId="14100"/>
          <ac:spMkLst>
            <pc:docMk/>
            <pc:sldMk cId="3607354635" sldId="256"/>
            <ac:spMk id="12" creationId="{779DCDE1-7E85-0646-3543-9C1638CEB9CA}"/>
          </ac:spMkLst>
        </pc:spChg>
        <pc:spChg chg="mod">
          <ac:chgData name="gopi chandra" userId="622c14c5fe8b29f9" providerId="LiveId" clId="{2FEEC162-DD2E-442A-B046-B466569055A0}" dt="2026-01-26T02:41:52.913" v="319" actId="1076"/>
          <ac:spMkLst>
            <pc:docMk/>
            <pc:sldMk cId="3607354635" sldId="256"/>
            <ac:spMk id="13" creationId="{9A130820-FF42-EA8A-339B-145E1FC668F5}"/>
          </ac:spMkLst>
        </pc:spChg>
        <pc:spChg chg="mod">
          <ac:chgData name="gopi chandra" userId="622c14c5fe8b29f9" providerId="LiveId" clId="{2FEEC162-DD2E-442A-B046-B466569055A0}" dt="2026-01-26T02:34:45.643" v="63" actId="14100"/>
          <ac:spMkLst>
            <pc:docMk/>
            <pc:sldMk cId="3607354635" sldId="256"/>
            <ac:spMk id="14" creationId="{E872BCCA-09F4-9D91-AE26-B5E437D7714E}"/>
          </ac:spMkLst>
        </pc:spChg>
        <pc:spChg chg="mod">
          <ac:chgData name="gopi chandra" userId="622c14c5fe8b29f9" providerId="LiveId" clId="{2FEEC162-DD2E-442A-B046-B466569055A0}" dt="2026-01-26T02:38:24.800" v="304" actId="113"/>
          <ac:spMkLst>
            <pc:docMk/>
            <pc:sldMk cId="3607354635" sldId="256"/>
            <ac:spMk id="18" creationId="{EA6BB7B0-D981-FEB6-4479-7A49704B2B87}"/>
          </ac:spMkLst>
        </pc:spChg>
        <pc:spChg chg="del mod">
          <ac:chgData name="gopi chandra" userId="622c14c5fe8b29f9" providerId="LiveId" clId="{2FEEC162-DD2E-442A-B046-B466569055A0}" dt="2026-01-26T02:38:58.230" v="308"/>
          <ac:spMkLst>
            <pc:docMk/>
            <pc:sldMk cId="3607354635" sldId="256"/>
            <ac:spMk id="19" creationId="{CF1F608A-7742-BF27-09EC-3BB7CA324D68}"/>
          </ac:spMkLst>
        </pc:spChg>
        <pc:spChg chg="mod">
          <ac:chgData name="gopi chandra" userId="622c14c5fe8b29f9" providerId="LiveId" clId="{2FEEC162-DD2E-442A-B046-B466569055A0}" dt="2026-01-26T02:38:57.043" v="306" actId="207"/>
          <ac:spMkLst>
            <pc:docMk/>
            <pc:sldMk cId="3607354635" sldId="256"/>
            <ac:spMk id="20" creationId="{C0616687-624D-607B-6F85-335EE46873F1}"/>
          </ac:spMkLst>
        </pc:spChg>
        <pc:spChg chg="mod">
          <ac:chgData name="gopi chandra" userId="622c14c5fe8b29f9" providerId="LiveId" clId="{2FEEC162-DD2E-442A-B046-B466569055A0}" dt="2026-01-26T04:56:50.012" v="538" actId="14100"/>
          <ac:spMkLst>
            <pc:docMk/>
            <pc:sldMk cId="3607354635" sldId="256"/>
            <ac:spMk id="22" creationId="{99633B59-00B8-9FD5-0D31-D1688B16556B}"/>
          </ac:spMkLst>
        </pc:spChg>
        <pc:picChg chg="add mod">
          <ac:chgData name="gopi chandra" userId="622c14c5fe8b29f9" providerId="LiveId" clId="{2FEEC162-DD2E-442A-B046-B466569055A0}" dt="2026-01-26T04:55:33.621" v="530" actId="14100"/>
          <ac:picMkLst>
            <pc:docMk/>
            <pc:sldMk cId="3607354635" sldId="256"/>
            <ac:picMk id="2" creationId="{13EFDCA9-EA7E-0103-3D83-17CC713E224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1"/>
            <a:ext cx="12191998" cy="1477473"/>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627189" y="14255"/>
            <a:ext cx="5998348" cy="1200329"/>
          </a:xfrm>
          <a:prstGeom prst="rect">
            <a:avLst/>
          </a:prstGeom>
          <a:noFill/>
        </p:spPr>
        <p:txBody>
          <a:bodyPr wrap="square" rtlCol="0">
            <a:spAutoFit/>
          </a:bodyPr>
          <a:lstStyle/>
          <a:p>
            <a:r>
              <a:rPr lang="en-US" altLang="en-US" b="1" dirty="0">
                <a:solidFill>
                  <a:schemeClr val="bg1"/>
                </a:solidFill>
                <a:latin typeface="Arial" panose="020B0604020202020204" pitchFamily="34" charset="0"/>
                <a:cs typeface="Arial" panose="020B0604020202020204" pitchFamily="34" charset="0"/>
              </a:rPr>
              <a:t>"Is Articular Reconstruction Feasible in OTA- C2, C3 Comminuted Patellar Fractures?"- A Novel Technique for Patellar Articular Reconstruction and Fixation.</a:t>
            </a:r>
            <a:endParaRPr lang="en-IN" altLang="en-US" b="1" dirty="0">
              <a:solidFill>
                <a:schemeClr val="bg1"/>
              </a:solidFill>
              <a:latin typeface="Arial" panose="020B0604020202020204" pitchFamily="34" charset="0"/>
              <a:cs typeface="Arial" panose="020B0604020202020204" pitchFamily="34" charset="0"/>
            </a:endParaRPr>
          </a:p>
          <a:p>
            <a:endParaRPr lang="en-US"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2575249" y="913340"/>
            <a:ext cx="7114032" cy="523220"/>
          </a:xfrm>
          <a:prstGeom prst="rect">
            <a:avLst/>
          </a:prstGeom>
          <a:noFill/>
        </p:spPr>
        <p:txBody>
          <a:bodyPr wrap="square" rtlCol="0">
            <a:spAutoFit/>
          </a:bodyPr>
          <a:lstStyle/>
          <a:p>
            <a:r>
              <a:rPr lang="en-US" sz="1400" dirty="0">
                <a:solidFill>
                  <a:schemeClr val="bg1"/>
                </a:solidFill>
                <a:latin typeface="Arial Black" panose="020B0A04020102020204" pitchFamily="34" charset="0"/>
              </a:rPr>
              <a:t>AUTHORS : DR K V NAGA CHANDRA ,CO AUTHORS : DR ATHMARAM,DR SATISH,DR RAGHAVENDRA RAJU</a:t>
            </a: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852864"/>
            <a:ext cx="3108960" cy="3152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IN" sz="1400" dirty="0">
                <a:solidFill>
                  <a:schemeClr val="tx1">
                    <a:lumMod val="95000"/>
                    <a:lumOff val="5000"/>
                  </a:schemeClr>
                </a:solidFill>
                <a:latin typeface="Arial" panose="020B0604020202020204" pitchFamily="34" charset="0"/>
                <a:cs typeface="Arial" panose="020B0604020202020204" pitchFamily="34" charset="0"/>
              </a:rPr>
              <a:t>Patellar fractures constitute about 1% of all skeletal </a:t>
            </a:r>
            <a:r>
              <a:rPr lang="en-IN" sz="1400" dirty="0" err="1">
                <a:solidFill>
                  <a:schemeClr val="tx1">
                    <a:lumMod val="95000"/>
                    <a:lumOff val="5000"/>
                  </a:schemeClr>
                </a:solidFill>
                <a:latin typeface="Arial" panose="020B0604020202020204" pitchFamily="34" charset="0"/>
                <a:cs typeface="Arial" panose="020B0604020202020204" pitchFamily="34" charset="0"/>
              </a:rPr>
              <a:t>injuries.Currently</a:t>
            </a:r>
            <a:r>
              <a:rPr lang="en-IN" sz="1400" dirty="0">
                <a:solidFill>
                  <a:schemeClr val="tx1">
                    <a:lumMod val="95000"/>
                    <a:lumOff val="5000"/>
                  </a:schemeClr>
                </a:solidFill>
                <a:latin typeface="Arial" panose="020B0604020202020204" pitchFamily="34" charset="0"/>
                <a:cs typeface="Arial" panose="020B0604020202020204" pitchFamily="34" charset="0"/>
              </a:rPr>
              <a:t>, many  methods of treatment are advocated for </a:t>
            </a:r>
            <a:r>
              <a:rPr lang="en-IN" sz="1400" dirty="0" err="1">
                <a:solidFill>
                  <a:schemeClr val="tx1">
                    <a:lumMod val="95000"/>
                    <a:lumOff val="5000"/>
                  </a:schemeClr>
                </a:solidFill>
                <a:latin typeface="Arial" panose="020B0604020202020204" pitchFamily="34" charset="0"/>
                <a:cs typeface="Arial" panose="020B0604020202020204" pitchFamily="34" charset="0"/>
              </a:rPr>
              <a:t>comminuted</a:t>
            </a:r>
            <a:r>
              <a:rPr lang="en-IN" sz="1400" dirty="0">
                <a:solidFill>
                  <a:schemeClr val="tx1">
                    <a:lumMod val="95000"/>
                    <a:lumOff val="5000"/>
                  </a:schemeClr>
                </a:solidFill>
                <a:latin typeface="Arial" panose="020B0604020202020204" pitchFamily="34" charset="0"/>
                <a:cs typeface="Arial" panose="020B0604020202020204" pitchFamily="34" charset="0"/>
              </a:rPr>
              <a:t> patellar fractures like patellectomy  (partial/complete),  tension  band  wiring,  cerclage  wiring,  and  screw fixation. Articular reconstruction  of  </a:t>
            </a:r>
            <a:r>
              <a:rPr lang="en-IN" sz="1400" dirty="0">
                <a:solidFill>
                  <a:schemeClr val="tx1">
                    <a:lumMod val="95000"/>
                    <a:lumOff val="5000"/>
                  </a:schemeClr>
                </a:solidFill>
              </a:rPr>
              <a:t>the  </a:t>
            </a:r>
            <a:r>
              <a:rPr lang="en-IN" sz="1400" dirty="0" err="1">
                <a:solidFill>
                  <a:schemeClr val="tx1">
                    <a:lumMod val="95000"/>
                    <a:lumOff val="5000"/>
                  </a:schemeClr>
                </a:solidFill>
              </a:rPr>
              <a:t>comminuted</a:t>
            </a:r>
            <a:r>
              <a:rPr lang="en-IN" sz="1400" dirty="0">
                <a:solidFill>
                  <a:schemeClr val="tx1">
                    <a:lumMod val="95000"/>
                    <a:lumOff val="5000"/>
                  </a:schemeClr>
                </a:solidFill>
              </a:rPr>
              <a:t>  fracture  is  challenging and essential for good functional </a:t>
            </a:r>
            <a:r>
              <a:rPr lang="en-IN" sz="1400" dirty="0" err="1">
                <a:solidFill>
                  <a:schemeClr val="tx1">
                    <a:lumMod val="95000"/>
                    <a:lumOff val="5000"/>
                  </a:schemeClr>
                </a:solidFill>
              </a:rPr>
              <a:t>outcome.The</a:t>
            </a:r>
            <a:r>
              <a:rPr lang="en-IN" sz="1400" dirty="0">
                <a:solidFill>
                  <a:schemeClr val="tx1">
                    <a:lumMod val="95000"/>
                    <a:lumOff val="5000"/>
                  </a:schemeClr>
                </a:solidFill>
              </a:rPr>
              <a:t> objective is study functional outcome using our  novel technique for  meticulous articular reduction  of  </a:t>
            </a:r>
            <a:r>
              <a:rPr lang="en-IN" sz="1400" dirty="0" err="1">
                <a:solidFill>
                  <a:schemeClr val="tx1">
                    <a:lumMod val="95000"/>
                    <a:lumOff val="5000"/>
                  </a:schemeClr>
                </a:solidFill>
              </a:rPr>
              <a:t>comminuted</a:t>
            </a:r>
            <a:r>
              <a:rPr lang="en-IN" sz="1400" dirty="0">
                <a:solidFill>
                  <a:schemeClr val="tx1">
                    <a:lumMod val="95000"/>
                    <a:lumOff val="5000"/>
                  </a:schemeClr>
                </a:solidFill>
              </a:rPr>
              <a:t>  fragments. </a:t>
            </a:r>
          </a:p>
        </p:txBody>
      </p:sp>
      <p:sp>
        <p:nvSpPr>
          <p:cNvPr id="6" name="Rectangle 5">
            <a:extLst>
              <a:ext uri="{FF2B5EF4-FFF2-40B4-BE49-F238E27FC236}">
                <a16:creationId xmlns:a16="http://schemas.microsoft.com/office/drawing/2014/main" id="{EC094F03-F93B-9B6D-7C11-87F9C75E6ABB}"/>
              </a:ext>
            </a:extLst>
          </p:cNvPr>
          <p:cNvSpPr/>
          <p:nvPr/>
        </p:nvSpPr>
        <p:spPr>
          <a:xfrm>
            <a:off x="0" y="5366272"/>
            <a:ext cx="3108960" cy="14917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lumMod val="95000"/>
                    <a:lumOff val="5000"/>
                  </a:schemeClr>
                </a:solidFill>
              </a:rPr>
              <a:t>We prospectively analysed 12 patients who sustained </a:t>
            </a:r>
            <a:r>
              <a:rPr lang="en-IN" sz="1400" dirty="0" err="1">
                <a:solidFill>
                  <a:schemeClr val="tx1">
                    <a:lumMod val="95000"/>
                    <a:lumOff val="5000"/>
                  </a:schemeClr>
                </a:solidFill>
              </a:rPr>
              <a:t>comminuted</a:t>
            </a:r>
            <a:r>
              <a:rPr lang="en-IN" sz="1400" dirty="0">
                <a:solidFill>
                  <a:schemeClr val="tx1">
                    <a:lumMod val="95000"/>
                    <a:lumOff val="5000"/>
                  </a:schemeClr>
                </a:solidFill>
              </a:rPr>
              <a:t> patellar fracture  classified as 34- C2, C3 type fracture (AO/OTA classification). 9 fractures were closed fracture and 3 was open fracture</a:t>
            </a:r>
            <a:endParaRPr lang="en-US" sz="1400" b="1" dirty="0">
              <a:solidFill>
                <a:schemeClr val="tx1">
                  <a:lumMod val="95000"/>
                  <a:lumOff val="5000"/>
                </a:schemeClr>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852864"/>
            <a:ext cx="3185962" cy="31268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lumMod val="95000"/>
                    <a:lumOff val="5000"/>
                  </a:schemeClr>
                </a:solidFill>
                <a:latin typeface="Arial" panose="020B0604020202020204" pitchFamily="34" charset="0"/>
                <a:cs typeface="Arial" panose="020B0604020202020204" pitchFamily="34" charset="0"/>
              </a:rPr>
              <a:t>9 fractures were closed fracture and 3 was open fracture ,which was treated by wound wash, wound debridement, primary internal fixation of the patella and primary wound closure in all the cases. In  our novel technique  meticulous articular reduction  of  </a:t>
            </a:r>
            <a:r>
              <a:rPr lang="en-IN" sz="1400" dirty="0" err="1">
                <a:solidFill>
                  <a:schemeClr val="tx1">
                    <a:lumMod val="95000"/>
                    <a:lumOff val="5000"/>
                  </a:schemeClr>
                </a:solidFill>
                <a:latin typeface="Arial" panose="020B0604020202020204" pitchFamily="34" charset="0"/>
                <a:cs typeface="Arial" panose="020B0604020202020204" pitchFamily="34" charset="0"/>
              </a:rPr>
              <a:t>comminuted</a:t>
            </a:r>
            <a:r>
              <a:rPr lang="en-IN" sz="1400" dirty="0">
                <a:solidFill>
                  <a:schemeClr val="tx1">
                    <a:lumMod val="95000"/>
                    <a:lumOff val="5000"/>
                  </a:schemeClr>
                </a:solidFill>
                <a:latin typeface="Arial" panose="020B0604020202020204" pitchFamily="34" charset="0"/>
                <a:cs typeface="Arial" panose="020B0604020202020204" pitchFamily="34" charset="0"/>
              </a:rPr>
              <a:t>  fragments is done by  everting  the  major  fragments  and  direct observation of reconstruction of articular facet, then final reduction of fragments stable fixation, restoration of extensor apparatus and early mobilization.</a:t>
            </a:r>
            <a:endParaRPr lang="en-US" sz="14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877328"/>
            <a:ext cx="5839326" cy="28996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lumMod val="95000"/>
                    <a:lumOff val="5000"/>
                  </a:schemeClr>
                </a:solidFill>
                <a:latin typeface="Arial" panose="020B0604020202020204" pitchFamily="34" charset="0"/>
                <a:cs typeface="Arial" panose="020B0604020202020204" pitchFamily="34" charset="0"/>
              </a:rPr>
              <a:t>The average follow up was 27.83 months (13-49 month) and average knee outcome survey ADLS was good result 90.08% (range 78.98%-97.11%). Complete union was seen in all the cases by 14 weeks follow up (mean 10.83 weeks). All patients achieved functional range of movements for routine daily activity and average Knee range  of movement at final follow  up  was  119.08</a:t>
            </a:r>
            <a:r>
              <a:rPr lang="en-IN" sz="1200" baseline="30000" dirty="0">
                <a:solidFill>
                  <a:schemeClr val="tx1">
                    <a:lumMod val="95000"/>
                    <a:lumOff val="5000"/>
                  </a:schemeClr>
                </a:solidFill>
                <a:latin typeface="Arial" panose="020B0604020202020204" pitchFamily="34" charset="0"/>
                <a:cs typeface="Arial" panose="020B0604020202020204" pitchFamily="34" charset="0"/>
              </a:rPr>
              <a:t>0</a:t>
            </a:r>
            <a:r>
              <a:rPr lang="en-IN" sz="1200" dirty="0">
                <a:solidFill>
                  <a:schemeClr val="tx1">
                    <a:lumMod val="95000"/>
                    <a:lumOff val="5000"/>
                  </a:schemeClr>
                </a:solidFill>
                <a:latin typeface="Arial" panose="020B0604020202020204" pitchFamily="34" charset="0"/>
                <a:cs typeface="Arial" panose="020B0604020202020204" pitchFamily="34" charset="0"/>
              </a:rPr>
              <a:t>.Three patients  had  restricted  knee  movements  due  to  poor compliance of patients for rehabilitation because of ipsilateral long bone fracture. 3 patients had knee range less than 120</a:t>
            </a:r>
            <a:r>
              <a:rPr lang="en-IN" sz="1200" baseline="30000" dirty="0">
                <a:solidFill>
                  <a:schemeClr val="tx1">
                    <a:lumMod val="95000"/>
                    <a:lumOff val="5000"/>
                  </a:schemeClr>
                </a:solidFill>
                <a:latin typeface="Arial" panose="020B0604020202020204" pitchFamily="34" charset="0"/>
                <a:cs typeface="Arial" panose="020B0604020202020204" pitchFamily="34" charset="0"/>
              </a:rPr>
              <a:t>0</a:t>
            </a:r>
            <a:r>
              <a:rPr lang="en-IN" sz="1200" dirty="0">
                <a:solidFill>
                  <a:schemeClr val="tx1">
                    <a:lumMod val="95000"/>
                    <a:lumOff val="5000"/>
                  </a:schemeClr>
                </a:solidFill>
                <a:latin typeface="Arial" panose="020B0604020202020204" pitchFamily="34" charset="0"/>
                <a:cs typeface="Arial" panose="020B0604020202020204" pitchFamily="34" charset="0"/>
              </a:rPr>
              <a:t> in which associated fracture was in 3 patients and C3 type fracture in 2 patients. None of the patients had knee extensor lag. There was no implant cut out,  non-union, or avascular necrosis of the bony fragments observed at the time of follow up in any of our patients. </a:t>
            </a:r>
            <a:r>
              <a:rPr lang="en-IN" sz="1200" dirty="0" err="1">
                <a:solidFill>
                  <a:schemeClr val="tx1">
                    <a:lumMod val="95000"/>
                    <a:lumOff val="5000"/>
                  </a:schemeClr>
                </a:solidFill>
                <a:latin typeface="Arial" panose="020B0604020202020204" pitchFamily="34" charset="0"/>
                <a:cs typeface="Arial" panose="020B0604020202020204" pitchFamily="34" charset="0"/>
              </a:rPr>
              <a:t>Comminuted</a:t>
            </a:r>
            <a:r>
              <a:rPr lang="en-IN" sz="1200" dirty="0">
                <a:solidFill>
                  <a:schemeClr val="tx1">
                    <a:lumMod val="95000"/>
                    <a:lumOff val="5000"/>
                  </a:schemeClr>
                </a:solidFill>
                <a:latin typeface="Arial" panose="020B0604020202020204" pitchFamily="34" charset="0"/>
                <a:cs typeface="Arial" panose="020B0604020202020204" pitchFamily="34" charset="0"/>
              </a:rPr>
              <a:t> fractures of patella are very common due its to subcutaneous location. Patellectomy is no longer considered in treatment of severely </a:t>
            </a:r>
            <a:r>
              <a:rPr lang="en-IN" sz="1200" dirty="0" err="1">
                <a:solidFill>
                  <a:schemeClr val="tx1">
                    <a:lumMod val="95000"/>
                    <a:lumOff val="5000"/>
                  </a:schemeClr>
                </a:solidFill>
                <a:latin typeface="Arial" panose="020B0604020202020204" pitchFamily="34" charset="0"/>
                <a:cs typeface="Arial" panose="020B0604020202020204" pitchFamily="34" charset="0"/>
              </a:rPr>
              <a:t>comminuted</a:t>
            </a:r>
            <a:r>
              <a:rPr lang="en-IN" sz="1200" dirty="0">
                <a:solidFill>
                  <a:schemeClr val="tx1">
                    <a:lumMod val="95000"/>
                    <a:lumOff val="5000"/>
                  </a:schemeClr>
                </a:solidFill>
                <a:latin typeface="Arial" panose="020B0604020202020204" pitchFamily="34" charset="0"/>
                <a:cs typeface="Arial" panose="020B0604020202020204" pitchFamily="34" charset="0"/>
              </a:rPr>
              <a:t> fractures. Meticulous reduction of </a:t>
            </a:r>
            <a:r>
              <a:rPr lang="en-IN" sz="1200" dirty="0" err="1">
                <a:solidFill>
                  <a:schemeClr val="tx1">
                    <a:lumMod val="95000"/>
                    <a:lumOff val="5000"/>
                  </a:schemeClr>
                </a:solidFill>
                <a:latin typeface="Arial" panose="020B0604020202020204" pitchFamily="34" charset="0"/>
                <a:cs typeface="Arial" panose="020B0604020202020204" pitchFamily="34" charset="0"/>
              </a:rPr>
              <a:t>comminuted</a:t>
            </a:r>
            <a:r>
              <a:rPr lang="en-IN" sz="1200" dirty="0">
                <a:solidFill>
                  <a:schemeClr val="tx1">
                    <a:lumMod val="95000"/>
                    <a:lumOff val="5000"/>
                  </a:schemeClr>
                </a:solidFill>
                <a:latin typeface="Arial" panose="020B0604020202020204" pitchFamily="34" charset="0"/>
                <a:cs typeface="Arial" panose="020B0604020202020204" pitchFamily="34" charset="0"/>
              </a:rPr>
              <a:t> patella fractures is essential for good functional outcome.</a:t>
            </a:r>
          </a:p>
        </p:txBody>
      </p:sp>
      <p:sp>
        <p:nvSpPr>
          <p:cNvPr id="9" name="Rectangle 8">
            <a:extLst>
              <a:ext uri="{FF2B5EF4-FFF2-40B4-BE49-F238E27FC236}">
                <a16:creationId xmlns:a16="http://schemas.microsoft.com/office/drawing/2014/main" id="{0EFC2BB9-1938-0DF3-F424-CAC28C6D9880}"/>
              </a:ext>
            </a:extLst>
          </p:cNvPr>
          <p:cNvSpPr/>
          <p:nvPr/>
        </p:nvSpPr>
        <p:spPr>
          <a:xfrm>
            <a:off x="6352674" y="5233312"/>
            <a:ext cx="5839326" cy="1863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IN" dirty="0">
                <a:solidFill>
                  <a:schemeClr val="tx1">
                    <a:lumMod val="95000"/>
                    <a:lumOff val="5000"/>
                  </a:schemeClr>
                </a:solidFill>
                <a:latin typeface="Arial" panose="020B0604020202020204" pitchFamily="34" charset="0"/>
                <a:cs typeface="Arial" panose="020B0604020202020204" pitchFamily="34" charset="0"/>
              </a:rPr>
              <a:t>Good three dimensional articular reconstruction of patellar facet is possible by direct observation of fragment reduction by meticulous handling of soft tissues and fragments. By this surgical technique good functional results can be achieved for </a:t>
            </a:r>
            <a:r>
              <a:rPr lang="en-IN" dirty="0" err="1">
                <a:solidFill>
                  <a:schemeClr val="tx1">
                    <a:lumMod val="95000"/>
                    <a:lumOff val="5000"/>
                  </a:schemeClr>
                </a:solidFill>
                <a:latin typeface="Arial" panose="020B0604020202020204" pitchFamily="34" charset="0"/>
                <a:cs typeface="Arial" panose="020B0604020202020204" pitchFamily="34" charset="0"/>
              </a:rPr>
              <a:t>comminuted</a:t>
            </a:r>
            <a:r>
              <a:rPr lang="en-IN" dirty="0">
                <a:solidFill>
                  <a:schemeClr val="tx1">
                    <a:lumMod val="95000"/>
                    <a:lumOff val="5000"/>
                  </a:schemeClr>
                </a:solidFill>
                <a:latin typeface="Arial" panose="020B0604020202020204" pitchFamily="34" charset="0"/>
                <a:cs typeface="Arial" panose="020B0604020202020204" pitchFamily="34" charset="0"/>
              </a:rPr>
              <a:t> patellar fractures</a:t>
            </a:r>
            <a:r>
              <a:rPr lang="en-IN" dirty="0">
                <a:solidFill>
                  <a:schemeClr val="tx1">
                    <a:lumMod val="95000"/>
                    <a:lumOff val="5000"/>
                  </a:schemeClr>
                </a:solidFill>
              </a:rPr>
              <a:t>. </a:t>
            </a:r>
          </a:p>
          <a:p>
            <a:pPr>
              <a:defRPr/>
            </a:pPr>
            <a:endParaRPr lang="en-IN" dirty="0">
              <a:solidFill>
                <a:schemeClr val="tx1">
                  <a:lumMod val="95000"/>
                  <a:lumOff val="5000"/>
                </a:schemeClr>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491728"/>
            <a:ext cx="3108960" cy="361136"/>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473845"/>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473845"/>
            <a:ext cx="5839325" cy="41773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14438" y="4971635"/>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67111" y="4776961"/>
            <a:ext cx="5839324" cy="456351"/>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pic>
        <p:nvPicPr>
          <p:cNvPr id="2" name="Picture 1" descr="Close-up of medical images">
            <a:extLst>
              <a:ext uri="{FF2B5EF4-FFF2-40B4-BE49-F238E27FC236}">
                <a16:creationId xmlns:a16="http://schemas.microsoft.com/office/drawing/2014/main" id="{13EFDCA9-EA7E-0103-3D83-17CC713E224B}"/>
              </a:ext>
            </a:extLst>
          </p:cNvPr>
          <p:cNvPicPr>
            <a:picLocks noChangeAspect="1"/>
          </p:cNvPicPr>
          <p:nvPr/>
        </p:nvPicPr>
        <p:blipFill>
          <a:blip r:embed="rId6"/>
          <a:stretch>
            <a:fillRect/>
          </a:stretch>
        </p:blipFill>
        <p:spPr>
          <a:xfrm>
            <a:off x="3108960" y="4930723"/>
            <a:ext cx="3243713" cy="1927277"/>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TotalTime>
  <Words>468</Words>
  <Application>Microsoft Office PowerPoint</Application>
  <PresentationFormat>Widescreen</PresentationFormat>
  <Paragraphs>12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Arial Black</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Mithun Prakash</cp:lastModifiedBy>
  <cp:revision>3</cp:revision>
  <dcterms:created xsi:type="dcterms:W3CDTF">2026-01-11T06:24:43Z</dcterms:created>
  <dcterms:modified xsi:type="dcterms:W3CDTF">2026-01-26T16:07:42Z</dcterms:modified>
</cp:coreProperties>
</file>