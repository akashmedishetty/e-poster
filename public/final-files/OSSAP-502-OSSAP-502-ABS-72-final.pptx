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2"/>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3"/>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4"/>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5"/>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p:nvPicPr>
        <p:blipFill>
          <a:blip r:embed="rId1"/>
          <a:stretch>
            <a:fillRect/>
          </a:stretch>
        </p:blipFill>
        <p:spPr>
          <a:xfrm>
            <a:off x="9006884" y="74822"/>
            <a:ext cx="1043154" cy="1043154"/>
          </a:xfrm>
          <a:prstGeom prst="rect">
            <a:avLst/>
          </a:prstGeom>
        </p:spPr>
      </p:pic>
      <p:pic>
        <p:nvPicPr>
          <p:cNvPr id="16" name="Picture 15"/>
          <p:cNvPicPr>
            <a:picLocks noChangeAspect="1"/>
          </p:cNvPicPr>
          <p:nvPr/>
        </p:nvPicPr>
        <p:blipFill>
          <a:blip r:embed="rId2"/>
          <a:stretch>
            <a:fillRect/>
          </a:stretch>
        </p:blipFill>
        <p:spPr>
          <a:xfrm>
            <a:off x="10947316" y="123390"/>
            <a:ext cx="884047" cy="884047"/>
          </a:xfrm>
          <a:prstGeom prst="rect">
            <a:avLst/>
          </a:prstGeom>
        </p:spPr>
      </p:pic>
      <p:pic>
        <p:nvPicPr>
          <p:cNvPr id="17" name="Picture 16"/>
          <p:cNvPicPr>
            <a:picLocks noChangeAspect="1"/>
          </p:cNvPicPr>
          <p:nvPr/>
        </p:nvPicPr>
        <p:blipFill>
          <a:blip r:embed="rId3"/>
          <a:stretch>
            <a:fillRect/>
          </a:stretch>
        </p:blipFill>
        <p:spPr>
          <a:xfrm>
            <a:off x="10127893" y="192303"/>
            <a:ext cx="785940" cy="785940"/>
          </a:xfrm>
          <a:prstGeom prst="rect">
            <a:avLst/>
          </a:prstGeom>
        </p:spPr>
      </p:pic>
      <p:sp>
        <p:nvSpPr>
          <p:cNvPr id="18" name="TextBox 17"/>
          <p:cNvSpPr txBox="1"/>
          <p:nvPr/>
        </p:nvSpPr>
        <p:spPr>
          <a:xfrm>
            <a:off x="2061845" y="-10795"/>
            <a:ext cx="6836410" cy="645160"/>
          </a:xfrm>
          <a:prstGeom prst="rect">
            <a:avLst/>
          </a:prstGeom>
          <a:noFill/>
        </p:spPr>
        <p:txBody>
          <a:bodyPr wrap="square" rtlCol="0">
            <a:spAutoFit/>
          </a:bodyPr>
          <a:lstStyle/>
          <a:p>
            <a:pPr algn="ctr"/>
            <a:r>
              <a:rPr lang="en-US" altLang="en-US" b="1" dirty="0">
                <a:solidFill>
                  <a:schemeClr val="bg1"/>
                </a:solidFill>
                <a:latin typeface="Arial" panose="020B0604020202020204" pitchFamily="34" charset="0"/>
                <a:cs typeface="Arial" panose="020B0604020202020204" pitchFamily="34" charset="0"/>
              </a:rPr>
              <a:t>A RARE CASE OF TUBERCULOUS COMPOUND PALMAR GANGLION CAUSING COMPRESSIVE NEUROPATHY</a:t>
            </a:r>
            <a:endParaRPr lang="en-US" altLang="en-US" b="1" dirty="0">
              <a:solidFill>
                <a:schemeClr val="bg1"/>
              </a:solidFill>
              <a:latin typeface="Arial" panose="020B0604020202020204" pitchFamily="34" charset="0"/>
              <a:cs typeface="Arial" panose="020B0604020202020204" pitchFamily="34" charset="0"/>
            </a:endParaRPr>
          </a:p>
        </p:txBody>
      </p:sp>
      <p:sp>
        <p:nvSpPr>
          <p:cNvPr id="19" name="TextBox 18"/>
          <p:cNvSpPr txBox="1"/>
          <p:nvPr/>
        </p:nvSpPr>
        <p:spPr>
          <a:xfrm>
            <a:off x="2066290" y="602615"/>
            <a:ext cx="6839585" cy="691515"/>
          </a:xfrm>
          <a:prstGeom prst="rect">
            <a:avLst/>
          </a:prstGeom>
          <a:noFill/>
        </p:spPr>
        <p:txBody>
          <a:bodyPr wrap="square" rtlCol="0">
            <a:spAutoFit/>
          </a:bodyPr>
          <a:lstStyle/>
          <a:p>
            <a:pPr algn="ctr"/>
            <a:r>
              <a:rPr lang="en-IN" altLang="en-US" sz="1300" b="1" dirty="0">
                <a:solidFill>
                  <a:schemeClr val="bg1"/>
                </a:solidFill>
                <a:latin typeface="Arial" panose="020B0604020202020204" pitchFamily="34" charset="0"/>
                <a:cs typeface="Arial" panose="020B0604020202020204" pitchFamily="34" charset="0"/>
              </a:rPr>
              <a:t>Presenting Author: DR P SRINIVASURAO, Co Author: Dr G SUNIL (PROFESSOR)</a:t>
            </a:r>
            <a:endParaRPr lang="en-IN" altLang="en-US" sz="1300" b="1" dirty="0">
              <a:solidFill>
                <a:schemeClr val="bg1"/>
              </a:solidFill>
              <a:latin typeface="Arial" panose="020B0604020202020204" pitchFamily="34" charset="0"/>
              <a:cs typeface="Arial" panose="020B0604020202020204" pitchFamily="34" charset="0"/>
            </a:endParaRPr>
          </a:p>
          <a:p>
            <a:pPr algn="ctr"/>
            <a:r>
              <a:rPr lang="en-IN" altLang="en-US" sz="1300" b="1" dirty="0">
                <a:solidFill>
                  <a:schemeClr val="bg1"/>
                </a:solidFill>
                <a:latin typeface="Arial" panose="020B0604020202020204" pitchFamily="34" charset="0"/>
                <a:cs typeface="Arial" panose="020B0604020202020204" pitchFamily="34" charset="0"/>
                <a:sym typeface="+mn-ea"/>
              </a:rPr>
              <a:t>Dept of Orthopaedics, Great Eastern Medical School and Hospital, Srikakulam</a:t>
            </a:r>
            <a:endParaRPr lang="en-IN" altLang="en-US" sz="1300" b="1" dirty="0">
              <a:solidFill>
                <a:schemeClr val="bg1"/>
              </a:solidFill>
              <a:latin typeface="Arial" panose="020B0604020202020204" pitchFamily="34" charset="0"/>
              <a:cs typeface="Arial" panose="020B0604020202020204" pitchFamily="34" charset="0"/>
            </a:endParaRPr>
          </a:p>
          <a:p>
            <a:pPr algn="ctr"/>
            <a:r>
              <a:rPr lang="en-IN" altLang="en-US" sz="1300" b="1" dirty="0">
                <a:solidFill>
                  <a:schemeClr val="bg1"/>
                </a:solidFill>
                <a:latin typeface="Arial" panose="020B0604020202020204" pitchFamily="34" charset="0"/>
                <a:cs typeface="Arial" panose="020B0604020202020204" pitchFamily="34" charset="0"/>
                <a:sym typeface="+mn-ea"/>
              </a:rPr>
              <a:t>Medical college ID: OSSAP 502</a:t>
            </a:r>
            <a:endParaRPr lang="en-IN" altLang="en-US" sz="1300" b="1" dirty="0">
              <a:solidFill>
                <a:schemeClr val="bg1"/>
              </a:solidFill>
              <a:latin typeface="Arial" panose="020B0604020202020204" pitchFamily="34" charset="0"/>
              <a:cs typeface="Arial" panose="020B0604020202020204" pitchFamily="34" charset="0"/>
            </a:endParaRPr>
          </a:p>
        </p:txBody>
      </p:sp>
      <p:sp>
        <p:nvSpPr>
          <p:cNvPr id="4" name="Freeform 13"/>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4"/>
            <a:stretch>
              <a:fillRect t="-9937" r="-4895" b="-10857"/>
            </a:stretch>
          </a:blipFill>
        </p:spPr>
        <p:txBody>
          <a:bodyPr/>
          <a:lstStyle/>
          <a:p>
            <a:endParaRPr lang="en-US"/>
          </a:p>
        </p:txBody>
      </p:sp>
      <p:sp>
        <p:nvSpPr>
          <p:cNvPr id="5" name="Rectangle 4"/>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Isolated tuberculosis (TB) of the synovial sheath or bursa occurs rarely; the disease is thought to reach the synovial sheath by the hematogenous spread or directly from underlying bone or joint</a:t>
            </a:r>
            <a:r>
              <a:rPr lang="en-IN" altLang="en-US" sz="1150" b="1" dirty="0">
                <a:solidFill>
                  <a:schemeClr val="tx1"/>
                </a:solidFill>
                <a:latin typeface="Arial" panose="020B0604020202020204" pitchFamily="34" charset="0"/>
                <a:cs typeface="Arial" panose="020B0604020202020204" pitchFamily="34" charset="0"/>
              </a:rPr>
              <a:t>.</a:t>
            </a: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Palmar fascia when infected it causes inflammation of all tendon sheaths about the hand and wrist resulting in median nerve compression.</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It can also lead to the destruction of underlying bone if left</a:t>
            </a:r>
            <a:r>
              <a:rPr lang="en-IN" altLang="en-US" sz="1150" b="1" dirty="0">
                <a:solidFill>
                  <a:schemeClr val="tx1"/>
                </a:solidFill>
                <a:latin typeface="Arial" panose="020B0604020202020204" pitchFamily="34" charset="0"/>
                <a:cs typeface="Arial" panose="020B0604020202020204" pitchFamily="34" charset="0"/>
              </a:rPr>
              <a:t> </a:t>
            </a:r>
            <a:r>
              <a:rPr lang="en-US" altLang="en-US" sz="1150" b="1" dirty="0">
                <a:solidFill>
                  <a:schemeClr val="tx1"/>
                </a:solidFill>
                <a:latin typeface="Arial" panose="020B0604020202020204" pitchFamily="34" charset="0"/>
                <a:cs typeface="Arial" panose="020B0604020202020204" pitchFamily="34" charset="0"/>
              </a:rPr>
              <a:t>untreated.</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We report this case for its rarity and successful early</a:t>
            </a:r>
            <a:r>
              <a:rPr lang="en-IN" altLang="en-US" sz="1150" b="1" dirty="0">
                <a:solidFill>
                  <a:schemeClr val="tx1"/>
                </a:solidFill>
                <a:latin typeface="Arial" panose="020B0604020202020204" pitchFamily="34" charset="0"/>
                <a:cs typeface="Arial" panose="020B0604020202020204" pitchFamily="34" charset="0"/>
              </a:rPr>
              <a:t> </a:t>
            </a:r>
            <a:r>
              <a:rPr lang="en-US" altLang="en-US" sz="1150" b="1" dirty="0">
                <a:solidFill>
                  <a:schemeClr val="tx1"/>
                </a:solidFill>
                <a:latin typeface="Arial" panose="020B0604020202020204" pitchFamily="34" charset="0"/>
                <a:cs typeface="Arial" panose="020B0604020202020204" pitchFamily="34" charset="0"/>
              </a:rPr>
              <a:t>management.</a:t>
            </a:r>
            <a:endParaRPr lang="en-US" altLang="en-US" sz="1150" b="1" dirty="0">
              <a:solidFill>
                <a:schemeClr val="tx1"/>
              </a:solidFill>
              <a:latin typeface="Arial" panose="020B0604020202020204" pitchFamily="34" charset="0"/>
              <a:cs typeface="Arial" panose="020B0604020202020204" pitchFamily="34" charset="0"/>
            </a:endParaRPr>
          </a:p>
        </p:txBody>
      </p:sp>
      <p:sp>
        <p:nvSpPr>
          <p:cNvPr id="6" name="Rectangle 5"/>
          <p:cNvSpPr/>
          <p:nvPr/>
        </p:nvSpPr>
        <p:spPr>
          <a:xfrm>
            <a:off x="0" y="5385435"/>
            <a:ext cx="3108960" cy="14725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A 60-year-old male farmer presented with an 18-month history of progressive swelling of the right wrist extending to the hand. Initially painless, it later became painful and was associated with persistent tingling and numbness over the thenar area.</a:t>
            </a:r>
            <a:endParaRPr lang="en-US" altLang="en-US" sz="1150" b="1" dirty="0">
              <a:solidFill>
                <a:schemeClr val="tx1"/>
              </a:solidFill>
              <a:latin typeface="Arial" panose="020B0604020202020204" pitchFamily="34" charset="0"/>
              <a:cs typeface="Arial" panose="020B0604020202020204" pitchFamily="34" charset="0"/>
            </a:endParaRPr>
          </a:p>
        </p:txBody>
      </p:sp>
      <p:sp>
        <p:nvSpPr>
          <p:cNvPr id="7" name="Rectangle 6"/>
          <p:cNvSpPr/>
          <p:nvPr/>
        </p:nvSpPr>
        <p:spPr>
          <a:xfrm>
            <a:off x="3137535" y="1674495"/>
            <a:ext cx="3185795" cy="51835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Excision biopsy was planned and carried out through volar approach to wrist and hand.</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Skin and fascia were incised and retracted, flexor retinaculum dissected and median nerve carefully retracted, there was a bilobed continuous fluctuant mass which was filled with fibrinous material and straw colored fluid.</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The fluid and melon seed bodies evacuated, inflamed thick and woody tendon sheath excised. A through wound wash was given and closed in layers.</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There was no other bony/soft tisssue involvement</a:t>
            </a:r>
            <a:r>
              <a:rPr lang="en-IN" altLang="en-US" sz="1150" b="1" dirty="0">
                <a:solidFill>
                  <a:schemeClr val="tx1"/>
                </a:solidFill>
                <a:latin typeface="Arial" panose="020B0604020202020204" pitchFamily="34" charset="0"/>
                <a:cs typeface="Arial" panose="020B0604020202020204" pitchFamily="34" charset="0"/>
              </a:rPr>
              <a:t>.</a:t>
            </a: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endParaRPr lang="en-IN" altLang="en-US" sz="1150" b="1" dirty="0">
              <a:solidFill>
                <a:schemeClr val="tx1"/>
              </a:solidFill>
              <a:latin typeface="Arial" panose="020B0604020202020204" pitchFamily="34" charset="0"/>
              <a:cs typeface="Arial" panose="020B0604020202020204" pitchFamily="34" charset="0"/>
            </a:endParaRPr>
          </a:p>
        </p:txBody>
      </p:sp>
      <p:sp>
        <p:nvSpPr>
          <p:cNvPr id="8" name="Rectangle 7"/>
          <p:cNvSpPr/>
          <p:nvPr/>
        </p:nvSpPr>
        <p:spPr>
          <a:xfrm>
            <a:off x="6352540" y="1674495"/>
            <a:ext cx="5837555" cy="31337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Tuberculous compound palmar ganglion is a rare form of extrapulmonary TB affecting the flexor tendon sheaths of the hand and wrist. Its slow progression and nonspecific features often delay diagnosis and lead to confusion with inflammatory or degenerative conditions.</a:t>
            </a:r>
            <a:endParaRPr lang="en-US" altLang="en-US" sz="1150" b="1" dirty="0">
              <a:solidFill>
                <a:schemeClr val="tx1"/>
              </a:solidFill>
              <a:latin typeface="Arial" panose="020B0604020202020204" pitchFamily="34" charset="0"/>
              <a:cs typeface="Arial" panose="020B0604020202020204" pitchFamily="34" charset="0"/>
            </a:endParaRPr>
          </a:p>
          <a:p>
            <a:pPr indent="0" algn="l">
              <a:buFont typeface="Arial" panose="020B0604020202020204" pitchFamily="34" charset="0"/>
              <a:buNone/>
            </a:pP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Chronic synovial hypertrophy with rice body formation can cause compressive neuropathy, commonly involving the median or ulnar nerve. MRI helps assess tendon sheath involvement, but histopathology remains the gold standard for diagnosis.</a:t>
            </a:r>
            <a:endParaRPr lang="en-US" altLang="en-US" sz="1150" b="1" dirty="0">
              <a:solidFill>
                <a:schemeClr val="tx1"/>
              </a:solidFill>
              <a:latin typeface="Arial" panose="020B0604020202020204" pitchFamily="34" charset="0"/>
              <a:cs typeface="Arial" panose="020B0604020202020204" pitchFamily="34" charset="0"/>
            </a:endParaRPr>
          </a:p>
          <a:p>
            <a:pPr indent="0" algn="l">
              <a:buFont typeface="Arial" panose="020B0604020202020204" pitchFamily="34" charset="0"/>
              <a:buNone/>
            </a:pP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Management includes surgical decompression with tenosynovectomy followed by antitubercular therapy. Early recognition is crucial to prevent permanent neurological deficits and achieve good functional recovery.</a:t>
            </a:r>
            <a:endParaRPr lang="en-US" altLang="en-US" sz="1150" b="1" dirty="0">
              <a:solidFill>
                <a:schemeClr val="tx1"/>
              </a:solidFill>
              <a:latin typeface="Arial" panose="020B0604020202020204" pitchFamily="34" charset="0"/>
              <a:cs typeface="Arial" panose="020B0604020202020204" pitchFamily="34" charset="0"/>
            </a:endParaRPr>
          </a:p>
        </p:txBody>
      </p:sp>
      <p:sp>
        <p:nvSpPr>
          <p:cNvPr id="9" name="Rectangle 8"/>
          <p:cNvSpPr/>
          <p:nvPr/>
        </p:nvSpPr>
        <p:spPr>
          <a:xfrm>
            <a:off x="6352540" y="5203190"/>
            <a:ext cx="5839460" cy="16548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Tuberculosis can involve many organs, but synovial sheath involvement of the hand is rare, accounting for &lt;1% of skeletal TB, often leading to delayed diagnosis.</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Late detection may result in poor functional outcomes despite adequate ATT; MRI is the best diagnostic modality.</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Early intervention before bony involvement is crucial.</a:t>
            </a:r>
            <a:endParaRPr lang="en-US" altLang="en-US" sz="1150" b="1" dirty="0">
              <a:solidFill>
                <a:schemeClr val="tx1"/>
              </a:solidFill>
              <a:latin typeface="Arial" panose="020B0604020202020204" pitchFamily="34" charset="0"/>
              <a:cs typeface="Arial" panose="020B0604020202020204" pitchFamily="34" charset="0"/>
            </a:endParaRPr>
          </a:p>
          <a:p>
            <a:pPr marL="171450" indent="-171450" algn="l">
              <a:buFont typeface="Arial" panose="020B0604020202020204" pitchFamily="34" charset="0"/>
              <a:buChar char="•"/>
            </a:pPr>
            <a:r>
              <a:rPr lang="en-US" altLang="en-US" sz="1150" b="1" dirty="0">
                <a:solidFill>
                  <a:schemeClr val="tx1"/>
                </a:solidFill>
                <a:latin typeface="Arial" panose="020B0604020202020204" pitchFamily="34" charset="0"/>
                <a:cs typeface="Arial" panose="020B0604020202020204" pitchFamily="34" charset="0"/>
              </a:rPr>
              <a:t>With the resurgence of musculoskeletal TB, TB should always be considered in cases of tenosynovitis to ensure timely diagnosis and complete recovery.</a:t>
            </a:r>
            <a:endParaRPr lang="en-US" altLang="en-US" sz="1150" b="1" dirty="0">
              <a:solidFill>
                <a:schemeClr val="tx1"/>
              </a:solidFill>
              <a:latin typeface="Arial" panose="020B0604020202020204" pitchFamily="34" charset="0"/>
              <a:cs typeface="Arial" panose="020B0604020202020204" pitchFamily="34" charset="0"/>
            </a:endParaRPr>
          </a:p>
        </p:txBody>
      </p:sp>
      <p:sp>
        <p:nvSpPr>
          <p:cNvPr id="10" name="Rectangle 9"/>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endParaRPr lang="en-US" b="1" dirty="0">
              <a:solidFill>
                <a:schemeClr val="tx1"/>
              </a:solidFill>
            </a:endParaRPr>
          </a:p>
        </p:txBody>
      </p:sp>
      <p:sp>
        <p:nvSpPr>
          <p:cNvPr id="11" name="Rectangle 10"/>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endParaRPr lang="en-US" b="1" dirty="0">
              <a:solidFill>
                <a:schemeClr val="tx1">
                  <a:lumMod val="95000"/>
                  <a:lumOff val="5000"/>
                </a:schemeClr>
              </a:solidFill>
            </a:endParaRPr>
          </a:p>
        </p:txBody>
      </p:sp>
      <p:sp>
        <p:nvSpPr>
          <p:cNvPr id="12" name="Rectangle 11"/>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endParaRPr lang="en-US" b="1" dirty="0">
              <a:solidFill>
                <a:schemeClr val="tx1">
                  <a:lumMod val="95000"/>
                  <a:lumOff val="5000"/>
                </a:schemeClr>
              </a:solidFill>
            </a:endParaRPr>
          </a:p>
        </p:txBody>
      </p:sp>
      <p:sp>
        <p:nvSpPr>
          <p:cNvPr id="13" name="Rectangle 12"/>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endParaRPr lang="en-US" b="1" dirty="0">
              <a:solidFill>
                <a:schemeClr val="tx1">
                  <a:lumMod val="95000"/>
                  <a:lumOff val="5000"/>
                </a:schemeClr>
              </a:solidFill>
            </a:endParaRPr>
          </a:p>
        </p:txBody>
      </p:sp>
      <p:sp>
        <p:nvSpPr>
          <p:cNvPr id="22" name="Rectangle 21"/>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endParaRPr lang="en-US" b="1" dirty="0">
              <a:solidFill>
                <a:schemeClr val="tx1">
                  <a:lumMod val="95000"/>
                  <a:lumOff val="5000"/>
                </a:schemeClr>
              </a:solidFill>
            </a:endParaRPr>
          </a:p>
        </p:txBody>
      </p:sp>
      <p:sp>
        <p:nvSpPr>
          <p:cNvPr id="24" name="Text Box 23"/>
          <p:cNvSpPr txBox="1"/>
          <p:nvPr/>
        </p:nvSpPr>
        <p:spPr>
          <a:xfrm>
            <a:off x="115570" y="1863725"/>
            <a:ext cx="4064000" cy="368300"/>
          </a:xfrm>
          <a:prstGeom prst="rect">
            <a:avLst/>
          </a:prstGeom>
          <a:noFill/>
        </p:spPr>
        <p:txBody>
          <a:bodyPr wrap="square" rtlCol="0">
            <a:spAutoFit/>
          </a:bodyPr>
          <a:p>
            <a:endParaRPr lang="en-US"/>
          </a:p>
        </p:txBody>
      </p:sp>
      <p:pic>
        <p:nvPicPr>
          <p:cNvPr id="31" name="Picture 30" descr="hand"/>
          <p:cNvPicPr>
            <a:picLocks noChangeAspect="1"/>
          </p:cNvPicPr>
          <p:nvPr/>
        </p:nvPicPr>
        <p:blipFill>
          <a:blip r:embed="rId5"/>
          <a:stretch>
            <a:fillRect/>
          </a:stretch>
        </p:blipFill>
        <p:spPr>
          <a:xfrm>
            <a:off x="3137535" y="4807585"/>
            <a:ext cx="1430655" cy="2049780"/>
          </a:xfrm>
          <a:prstGeom prst="rect">
            <a:avLst/>
          </a:prstGeom>
        </p:spPr>
      </p:pic>
      <p:pic>
        <p:nvPicPr>
          <p:cNvPr id="2" name="Picture 1" descr="img"/>
          <p:cNvPicPr>
            <a:picLocks noChangeAspect="1"/>
          </p:cNvPicPr>
          <p:nvPr/>
        </p:nvPicPr>
        <p:blipFill>
          <a:blip r:embed="rId6"/>
          <a:stretch>
            <a:fillRect/>
          </a:stretch>
        </p:blipFill>
        <p:spPr>
          <a:xfrm>
            <a:off x="4563745" y="4807585"/>
            <a:ext cx="1760220" cy="20491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2727</Words>
  <Application>WPS Presentation</Application>
  <PresentationFormat>Widescreen</PresentationFormat>
  <Paragraphs>54</Paragraphs>
  <Slides>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SimSun</vt:lpstr>
      <vt:lpstr>Wingdings</vt:lpstr>
      <vt:lpstr>Gordita</vt:lpstr>
      <vt:lpstr>Segoe Print</vt:lpstr>
      <vt:lpstr>Gordita </vt:lpstr>
      <vt:lpstr>Aptos</vt:lpstr>
      <vt:lpstr>Segoe UI</vt:lpstr>
      <vt:lpstr>Microsoft YaHei</vt:lpstr>
      <vt:lpstr>Arial Unicode MS</vt:lpstr>
      <vt:lpstr>Aptos Display</vt:lpstr>
      <vt:lpstr>Segoe UI Variable Display</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anmol dhillon</cp:lastModifiedBy>
  <cp:revision>10</cp:revision>
  <dcterms:created xsi:type="dcterms:W3CDTF">2026-01-11T06:24:00Z</dcterms:created>
  <dcterms:modified xsi:type="dcterms:W3CDTF">2026-02-15T08:48:37Z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4266CD18DBC944998C19BD018C91A932_12</vt:lpwstr>
  </property>
  <property fmtid="{D5CDD505-2E9C-101B-9397-08002B2CF9AE}" pid="3" name="KSOProductBuildVer">
    <vt:lpwstr>1033-12.2.0.23196</vt:lpwstr>
  </property>
</Properties>
</file>