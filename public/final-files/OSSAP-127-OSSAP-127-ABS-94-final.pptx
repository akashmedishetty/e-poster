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Orthopaedics,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820480" y="36097"/>
            <a:ext cx="599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FF00"/>
                </a:solidFill>
                <a:latin typeface="Gordita "/>
              </a:rPr>
              <a:t>Short-Term Effectiveness and Safety of Platelet-Rich Plasma in Grade 4 Medial Knee Osteoarthritis - A Prospective Observational Study from a Resource-Limited Setting</a:t>
            </a:r>
            <a:endParaRPr lang="en-US" b="1" dirty="0">
              <a:solidFill>
                <a:srgbClr val="FFFF00"/>
              </a:solidFill>
              <a:latin typeface="Gordita 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911075" y="682015"/>
            <a:ext cx="6307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Gordita "/>
              </a:rPr>
              <a:t>Dr. Satya K Koduru, Email: kodurusk@gmail.com, ORCID </a:t>
            </a:r>
            <a:r>
              <a:rPr lang="en-US" sz="1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Gordita "/>
              </a:rPr>
              <a:t>iD</a:t>
            </a: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Gordita "/>
              </a:rPr>
              <a:t>: 0000-0002-0680-6828</a:t>
            </a:r>
          </a:p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Gordita "/>
              </a:rPr>
              <a:t>                                CONSULTANT – ORTHOCARE , VIJAYAWADA</a:t>
            </a:r>
          </a:p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Gordita "/>
              </a:rPr>
              <a:t>            VISITING CONSULTANT, NRI ACADEMY OF SCIENCES,ANDHRA PRADESH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52674" y="1477476"/>
            <a:ext cx="5839326" cy="21435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52674" y="4042044"/>
            <a:ext cx="5839326" cy="28159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METHODS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-8965" y="4648199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43707" y="3634220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DF4FA-1CE2-4010-4F60-C14E6A9F2FDD}"/>
              </a:ext>
            </a:extLst>
          </p:cNvPr>
          <p:cNvSpPr txBox="1"/>
          <p:nvPr/>
        </p:nvSpPr>
        <p:spPr>
          <a:xfrm>
            <a:off x="-8965" y="1674794"/>
            <a:ext cx="310896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End-stage (KL-4) knee osteoarthritis causes severe pain, deformity, and functional loss. While total knee arthroplasty is definitive</a:t>
            </a:r>
          </a:p>
          <a:p>
            <a:r>
              <a:rPr lang="en-US" sz="1400" dirty="0"/>
              <a:t>treatment, many elderly patients in resource-limited settings cannot undergo surgery due to financial constraints, comorbidities, or limited access.</a:t>
            </a:r>
          </a:p>
          <a:p>
            <a:r>
              <a:rPr lang="en-US" sz="1400" dirty="0"/>
              <a:t>Intra-articular PRP has been proposed as biological therapy, but effectiveness in advanced disease remains uncertain.</a:t>
            </a:r>
            <a:endParaRPr lang="en-IN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1ABAE3-E9E9-9499-A5AA-432E630CC110}"/>
              </a:ext>
            </a:extLst>
          </p:cNvPr>
          <p:cNvSpPr txBox="1"/>
          <p:nvPr/>
        </p:nvSpPr>
        <p:spPr>
          <a:xfrm>
            <a:off x="-8965" y="5118235"/>
            <a:ext cx="30390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To evaluate short- and mid-term clinical effectiveness, durability of response, and safety of intra-articular PRP injections</a:t>
            </a:r>
          </a:p>
          <a:p>
            <a:r>
              <a:rPr lang="en-US" sz="1400" dirty="0"/>
              <a:t>in elderly patients with KL-4 medial compartment knee osteoarthritis in resource-constrained environments.</a:t>
            </a:r>
            <a:endParaRPr lang="en-IN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A6B918-37C6-C6E3-12F4-DA72A2234733}"/>
              </a:ext>
            </a:extLst>
          </p:cNvPr>
          <p:cNvSpPr txBox="1"/>
          <p:nvPr/>
        </p:nvSpPr>
        <p:spPr>
          <a:xfrm>
            <a:off x="3137834" y="1728590"/>
            <a:ext cx="3108960" cy="512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Prospective observational cohort study: 32 patients (60 knees), aged ≥65</a:t>
            </a:r>
          </a:p>
          <a:p>
            <a:r>
              <a:rPr lang="en-IN" sz="1400" dirty="0"/>
              <a:t>years, with radiographically confirmed KL-4 medial compartment osteoarthritis. PRP</a:t>
            </a:r>
          </a:p>
          <a:p>
            <a:r>
              <a:rPr lang="en-IN" sz="1400" dirty="0"/>
              <a:t>prepared from autologous blood using standardized double-spin protocol. Outcomes</a:t>
            </a:r>
          </a:p>
          <a:p>
            <a:r>
              <a:rPr lang="en-IN" sz="1400" dirty="0"/>
              <a:t>assessed at baseline, 6 weeks, 3 months, 6 months, and 12 months using VAS,</a:t>
            </a:r>
          </a:p>
          <a:p>
            <a:r>
              <a:rPr lang="en-IN" sz="1400" dirty="0"/>
              <a:t>WOMAC, and IKDC scores.</a:t>
            </a:r>
          </a:p>
          <a:p>
            <a:endParaRPr lang="en-IN" sz="1400" dirty="0"/>
          </a:p>
          <a:p>
            <a:endParaRPr lang="en-IN" sz="1400" dirty="0"/>
          </a:p>
          <a:p>
            <a:r>
              <a:rPr lang="en-IN" sz="900" dirty="0"/>
              <a:t>References : 1. Loeser RF, Goldring SR, </a:t>
            </a:r>
            <a:r>
              <a:rPr lang="en-IN" sz="900" dirty="0" err="1"/>
              <a:t>Scanzello</a:t>
            </a:r>
            <a:r>
              <a:rPr lang="en-IN" sz="900" dirty="0"/>
              <a:t> CR, Goldring MB. Osteoarthritis: A disease of the joint as an organ. Arthritis Rheum. 2012;64(6):1697–1707. 2, Filardo G, Kon E, Di Martino A, Di Matteo B, Merli M, </a:t>
            </a:r>
            <a:r>
              <a:rPr lang="en-IN" sz="900" dirty="0" err="1"/>
              <a:t>Cenacchi</a:t>
            </a:r>
            <a:r>
              <a:rPr lang="en-IN" sz="900" dirty="0"/>
              <a:t> A, </a:t>
            </a:r>
            <a:r>
              <a:rPr lang="en-IN" sz="900" dirty="0" err="1"/>
              <a:t>Fornasari</a:t>
            </a:r>
            <a:r>
              <a:rPr lang="en-IN" sz="900" dirty="0"/>
              <a:t> P, Marcacci M. Platelet-rich plasma vs hyaluronic acid to treat knee degenerative pathology: Study design and preliminary results of a randomized</a:t>
            </a:r>
          </a:p>
          <a:p>
            <a:r>
              <a:rPr lang="en-IN" sz="900" dirty="0"/>
              <a:t>controlled trial. BMC </a:t>
            </a:r>
            <a:r>
              <a:rPr lang="en-IN" sz="900" dirty="0" err="1"/>
              <a:t>Musculoskelet</a:t>
            </a:r>
            <a:r>
              <a:rPr lang="en-IN" sz="900" dirty="0"/>
              <a:t> </a:t>
            </a:r>
            <a:r>
              <a:rPr lang="en-IN" sz="900" dirty="0" err="1"/>
              <a:t>Disord</a:t>
            </a:r>
            <a:r>
              <a:rPr lang="en-IN" sz="900" dirty="0"/>
              <a:t>. 2012;13:229. 3. Cerza F, Carni S, </a:t>
            </a:r>
            <a:r>
              <a:rPr lang="en-IN" sz="900" dirty="0" err="1"/>
              <a:t>Carcangiu</a:t>
            </a:r>
            <a:r>
              <a:rPr lang="en-IN" sz="900" dirty="0"/>
              <a:t> A, Di </a:t>
            </a:r>
            <a:r>
              <a:rPr lang="en-IN" sz="900" dirty="0" err="1"/>
              <a:t>Vavo</a:t>
            </a:r>
            <a:r>
              <a:rPr lang="en-IN" sz="900" dirty="0"/>
              <a:t> I, </a:t>
            </a:r>
            <a:r>
              <a:rPr lang="en-IN" sz="900" dirty="0" err="1"/>
              <a:t>Schiavilla</a:t>
            </a:r>
            <a:r>
              <a:rPr lang="en-IN" sz="900" dirty="0"/>
              <a:t> V, Pecora A, De Biasi G, Ciuffreda M. Comparison between hyaluronic acid and platelet-rich plasma intra-articular infiltration in the treatment of </a:t>
            </a:r>
            <a:r>
              <a:rPr lang="en-IN" sz="900" dirty="0" err="1"/>
              <a:t>gonarthrosis</a:t>
            </a:r>
            <a:r>
              <a:rPr lang="en-IN" sz="900" dirty="0"/>
              <a:t>. Am J Sports Med. 2012;40(12):2822–2827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B438FCB-3E93-9C0F-A2FA-B59A61FA1C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639" y="1287704"/>
            <a:ext cx="5859234" cy="49381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1F6B147-2AFE-046B-4274-A2FF633D7A0D}"/>
              </a:ext>
            </a:extLst>
          </p:cNvPr>
          <p:cNvSpPr txBox="1"/>
          <p:nvPr/>
        </p:nvSpPr>
        <p:spPr>
          <a:xfrm>
            <a:off x="6352672" y="1701166"/>
            <a:ext cx="5830359" cy="206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/>
              <a:t>SHORT-TERM BENEFITS CLEAR</a:t>
            </a:r>
            <a:r>
              <a:rPr lang="en-US" sz="1400" dirty="0"/>
              <a:t>: At 6 months, mean VAS scores fell from 3.8±0.9 to 1.3±1.0, with &gt;90% achieving clinically important improvement in WOMAC and IKDC scores.</a:t>
            </a:r>
          </a:p>
          <a:p>
            <a:r>
              <a:rPr lang="en-US" sz="1400" b="1" u="sng" dirty="0"/>
              <a:t>DURABILITY LIMITED</a:t>
            </a:r>
            <a:r>
              <a:rPr lang="en-US" sz="1400" dirty="0"/>
              <a:t>: By 12 months, only ~30% maintained excellent pain control (VAS≤1) and acceptable function (IKDC≥75). Group mean scores drifted toward baseline, indicating effect attenuation.</a:t>
            </a:r>
          </a:p>
          <a:p>
            <a:r>
              <a:rPr lang="en-US" sz="1400" b="1" u="sng" dirty="0"/>
              <a:t>SAFETY PROFILE</a:t>
            </a:r>
            <a:r>
              <a:rPr lang="en-US" sz="1400" dirty="0"/>
              <a:t>: Adverse events in 20% of knees—mild and transient (injection-site pain, swelling, stiffness).No systemic complications.</a:t>
            </a:r>
            <a:r>
              <a:rPr lang="en-US" sz="2000" dirty="0"/>
              <a:t> </a:t>
            </a:r>
          </a:p>
          <a:p>
            <a:endParaRPr lang="en-IN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71B35D-52E5-4CCF-88C4-0B79EE94FBF9}"/>
              </a:ext>
            </a:extLst>
          </p:cNvPr>
          <p:cNvSpPr txBox="1"/>
          <p:nvPr/>
        </p:nvSpPr>
        <p:spPr>
          <a:xfrm>
            <a:off x="6323798" y="3994850"/>
            <a:ext cx="58303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 elderly patients with KL-4 medial compartment knee osteoarthritis, intra-articular PRP is a safe intervention providing meaningful short-term improvement in pain and function, with maximal benefit within 6 months. However, effect diminishes over 9–12 months. In resource-limited settings, PRP should be positioned as a temporizing or bridging option for patients unable to proceed to arthroplasty, offering interim symptom relief with favorable safety profile rather than definitive long-term solution for end-stage osteoarthritis.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529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Gordita 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Virinchi Vinay</dc:creator>
  <cp:lastModifiedBy>satya koduru</cp:lastModifiedBy>
  <cp:revision>5</cp:revision>
  <dcterms:created xsi:type="dcterms:W3CDTF">2026-01-11T06:24:43Z</dcterms:created>
  <dcterms:modified xsi:type="dcterms:W3CDTF">2026-01-28T14:06:58Z</dcterms:modified>
</cp:coreProperties>
</file>