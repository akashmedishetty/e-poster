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0940" y="1678690"/>
            <a:ext cx="4990465" cy="4097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424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8852C-20AF-E52D-152A-77CFE507C7F3}"/>
              </a:ext>
            </a:extLst>
          </p:cNvPr>
          <p:cNvSpPr txBox="1"/>
          <p:nvPr/>
        </p:nvSpPr>
        <p:spPr>
          <a:xfrm>
            <a:off x="762000" y="2302701"/>
            <a:ext cx="1092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CORRELATION OF VITAMIN D LEVELS WITH BONE MINERAL DENSITY IN POST- MENOPAUSAL WOMEN –A ONE YEAR CROSS SECTIONAL STUDY.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0C693-52D7-2AE9-FA47-0B5880A73CF0}"/>
              </a:ext>
            </a:extLst>
          </p:cNvPr>
          <p:cNvSpPr txBox="1"/>
          <p:nvPr/>
        </p:nvSpPr>
        <p:spPr>
          <a:xfrm>
            <a:off x="5689600" y="5319868"/>
            <a:ext cx="599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AUTHOR : </a:t>
            </a:r>
            <a:r>
              <a:rPr lang="en-IN" sz="2400" dirty="0" err="1"/>
              <a:t>Dr.</a:t>
            </a:r>
            <a:r>
              <a:rPr lang="en-IN" sz="2400" dirty="0"/>
              <a:t> KANALA MABU HUSSAIN</a:t>
            </a:r>
          </a:p>
          <a:p>
            <a:r>
              <a:rPr lang="en-IN" sz="2400" dirty="0"/>
              <a:t> CO-AUTHOR : </a:t>
            </a:r>
            <a:r>
              <a:rPr lang="en-IN" sz="2400" dirty="0" err="1"/>
              <a:t>Dr.</a:t>
            </a:r>
            <a:r>
              <a:rPr lang="en-IN" sz="2400" dirty="0"/>
              <a:t> T. RAJASEKHAR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285" y="1162367"/>
            <a:ext cx="10515600" cy="1010533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cs typeface="Arial" panose="020B0604020202020204" pitchFamily="34" charset="0"/>
              </a:rPr>
              <a:t>INTRODUCTION: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066" y="2362790"/>
            <a:ext cx="11717867" cy="4014561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5080" indent="-228600">
              <a:lnSpc>
                <a:spcPts val="312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VITAMIN</a:t>
            </a:r>
            <a:r>
              <a:rPr sz="2800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levels</a:t>
            </a:r>
            <a:r>
              <a:rPr sz="2800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plays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</a:t>
            </a:r>
            <a:r>
              <a:rPr sz="2800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2800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skeletal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maintenance.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1300" marR="1177290" indent="-228600">
              <a:lnSpc>
                <a:spcPts val="31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worldwide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vitamin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deficiency</a:t>
            </a:r>
            <a:r>
              <a:rPr sz="2800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insufficiency.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1300" marR="745490" indent="-228600">
              <a:lnSpc>
                <a:spcPts val="31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2673350" algn="l"/>
              </a:tabLst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Deficiency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is</a:t>
            </a:r>
            <a:r>
              <a:rPr sz="2800" spc="-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quite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reported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28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various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prevalence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2800" spc="-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around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64.3%.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41300" marR="6985" indent="-228600" algn="just">
              <a:lnSpc>
                <a:spcPts val="31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Bone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postmenopausal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women</a:t>
            </a:r>
            <a:r>
              <a:rPr sz="28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</a:t>
            </a:r>
            <a:r>
              <a:rPr sz="28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bone</a:t>
            </a:r>
            <a:r>
              <a:rPr sz="2800" spc="-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turnover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mediated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estrogen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hyperparathyroidism</a:t>
            </a:r>
            <a:r>
              <a:rPr sz="28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impaired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vitamin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2800" spc="-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metabolism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sz="2800" spc="-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intestinal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calcium</a:t>
            </a:r>
            <a:r>
              <a:rPr sz="28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absorption.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CC371-07B4-0D30-0ED1-457ECE8C6C77}"/>
              </a:ext>
            </a:extLst>
          </p:cNvPr>
          <p:cNvSpPr txBox="1"/>
          <p:nvPr/>
        </p:nvSpPr>
        <p:spPr>
          <a:xfrm>
            <a:off x="228598" y="1537607"/>
            <a:ext cx="116162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 AND METHODS: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Study type : cross sectional study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Study population: All post-menopausal women in the inpatient and outpatient in dept of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orthopaedics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according to inclusion and exclusion criteria.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Study period : November 2022 to November 2023.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Study sample :100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AIMS AND OBJECTIVES: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To study the prevalence of osteoporosis in postmenopausal women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To evaluate the prevalence of serum vitamin D deficiency in postmenopausal women. • To analyze the association of serum vitamin D levels with bone mineral density in post menopausal women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72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436" y="1853850"/>
            <a:ext cx="47167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-10" dirty="0">
                <a:latin typeface="Calibri"/>
                <a:cs typeface="Calibri"/>
              </a:rPr>
              <a:t>INCLUSION</a:t>
            </a:r>
            <a:r>
              <a:rPr i="0" spc="-18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CRITERIA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0299" y="1582916"/>
            <a:ext cx="4761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" dirty="0">
                <a:latin typeface="Calibri"/>
                <a:cs typeface="Calibri"/>
              </a:rPr>
              <a:t>EXCLUSION</a:t>
            </a:r>
            <a:r>
              <a:rPr sz="4400" spc="-1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CRITERIA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436" y="3155996"/>
            <a:ext cx="5046345" cy="21653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5080" indent="-228600">
              <a:lnSpc>
                <a:spcPts val="312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Women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who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were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post </a:t>
            </a:r>
            <a:r>
              <a:rPr sz="2800" i="1" dirty="0">
                <a:latin typeface="Calibri"/>
                <a:cs typeface="Calibri"/>
              </a:rPr>
              <a:t>menopausal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by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greater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than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2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-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3 </a:t>
            </a:r>
            <a:r>
              <a:rPr sz="2800" i="1" spc="-10" dirty="0">
                <a:latin typeface="Calibri"/>
                <a:cs typeface="Calibri"/>
              </a:rPr>
              <a:t>years</a:t>
            </a:r>
            <a:endParaRPr sz="2800" dirty="0">
              <a:latin typeface="Calibri"/>
              <a:cs typeface="Calibri"/>
            </a:endParaRPr>
          </a:p>
          <a:p>
            <a:pPr marL="241300" marR="361950" indent="-228600">
              <a:lnSpc>
                <a:spcPts val="31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Women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wiling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participate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in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20" dirty="0">
                <a:latin typeface="Calibri"/>
                <a:cs typeface="Calibri"/>
              </a:rPr>
              <a:t> study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6096000" y="2415290"/>
            <a:ext cx="4990465" cy="409765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31775" algn="l"/>
              </a:tabLst>
            </a:pPr>
            <a:r>
              <a:rPr sz="2650" dirty="0"/>
              <a:t>Women</a:t>
            </a:r>
            <a:r>
              <a:rPr sz="2650" spc="15" dirty="0"/>
              <a:t> </a:t>
            </a:r>
            <a:r>
              <a:rPr sz="2650" dirty="0"/>
              <a:t>with</a:t>
            </a:r>
            <a:r>
              <a:rPr sz="2650" spc="25" dirty="0"/>
              <a:t> </a:t>
            </a:r>
            <a:r>
              <a:rPr sz="2650" dirty="0"/>
              <a:t>malignant</a:t>
            </a:r>
            <a:r>
              <a:rPr sz="2650" spc="25" dirty="0"/>
              <a:t> </a:t>
            </a:r>
            <a:r>
              <a:rPr sz="2650" spc="-10" dirty="0"/>
              <a:t>diseases.</a:t>
            </a:r>
            <a:endParaRPr sz="2650" dirty="0"/>
          </a:p>
          <a:p>
            <a:pPr marL="231775" marR="971550" indent="-21971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31775" algn="l"/>
              </a:tabLst>
            </a:pPr>
            <a:r>
              <a:rPr sz="2650" dirty="0"/>
              <a:t>Women</a:t>
            </a:r>
            <a:r>
              <a:rPr sz="2650" spc="10" dirty="0"/>
              <a:t> </a:t>
            </a:r>
            <a:r>
              <a:rPr sz="2650" dirty="0"/>
              <a:t>with</a:t>
            </a:r>
            <a:r>
              <a:rPr sz="2650" spc="15" dirty="0"/>
              <a:t> </a:t>
            </a:r>
            <a:r>
              <a:rPr sz="2650" dirty="0"/>
              <a:t>renal,</a:t>
            </a:r>
            <a:r>
              <a:rPr sz="2650" spc="20" dirty="0"/>
              <a:t> </a:t>
            </a:r>
            <a:r>
              <a:rPr sz="2650" spc="-10" dirty="0"/>
              <a:t>hepatic </a:t>
            </a:r>
            <a:r>
              <a:rPr sz="2650" dirty="0"/>
              <a:t>endocrine</a:t>
            </a:r>
            <a:r>
              <a:rPr sz="2650" spc="60" dirty="0"/>
              <a:t> </a:t>
            </a:r>
            <a:r>
              <a:rPr sz="2650" dirty="0"/>
              <a:t>and</a:t>
            </a:r>
            <a:r>
              <a:rPr sz="2650" spc="60" dirty="0"/>
              <a:t> </a:t>
            </a:r>
            <a:r>
              <a:rPr sz="2650" dirty="0"/>
              <a:t>GI</a:t>
            </a:r>
            <a:r>
              <a:rPr sz="2650" spc="60" dirty="0"/>
              <a:t> </a:t>
            </a:r>
            <a:r>
              <a:rPr sz="2650" spc="-10" dirty="0"/>
              <a:t>disorders.</a:t>
            </a:r>
            <a:endParaRPr sz="2650" dirty="0"/>
          </a:p>
          <a:p>
            <a:pPr marL="231775" marR="5080" indent="-219710">
              <a:lnSpc>
                <a:spcPts val="3030"/>
              </a:lnSpc>
              <a:spcBef>
                <a:spcPts val="960"/>
              </a:spcBef>
              <a:buFont typeface="Arial MT"/>
              <a:buChar char="•"/>
              <a:tabLst>
                <a:tab pos="231775" algn="l"/>
              </a:tabLst>
            </a:pPr>
            <a:r>
              <a:rPr sz="2650" dirty="0"/>
              <a:t>Women</a:t>
            </a:r>
            <a:r>
              <a:rPr sz="2650" spc="15" dirty="0"/>
              <a:t> </a:t>
            </a:r>
            <a:r>
              <a:rPr sz="2650" dirty="0"/>
              <a:t>who</a:t>
            </a:r>
            <a:r>
              <a:rPr sz="2650" spc="15" dirty="0"/>
              <a:t> </a:t>
            </a:r>
            <a:r>
              <a:rPr sz="2650" dirty="0"/>
              <a:t>are</a:t>
            </a:r>
            <a:r>
              <a:rPr sz="2650" spc="15" dirty="0"/>
              <a:t> </a:t>
            </a:r>
            <a:r>
              <a:rPr sz="2650" spc="-10" dirty="0"/>
              <a:t>under</a:t>
            </a:r>
            <a:r>
              <a:rPr sz="2650" spc="660" dirty="0"/>
              <a:t> </a:t>
            </a:r>
            <a:r>
              <a:rPr sz="2650" dirty="0"/>
              <a:t>medication</a:t>
            </a:r>
            <a:r>
              <a:rPr sz="2650" spc="20" dirty="0"/>
              <a:t> </a:t>
            </a:r>
            <a:r>
              <a:rPr sz="2650" dirty="0"/>
              <a:t>like</a:t>
            </a:r>
            <a:r>
              <a:rPr sz="2650" spc="20" dirty="0"/>
              <a:t> </a:t>
            </a:r>
            <a:r>
              <a:rPr sz="2650" dirty="0"/>
              <a:t>steroids,</a:t>
            </a:r>
            <a:r>
              <a:rPr sz="2650" spc="15" dirty="0"/>
              <a:t> </a:t>
            </a:r>
            <a:r>
              <a:rPr sz="2650" dirty="0"/>
              <a:t>diuretics</a:t>
            </a:r>
            <a:r>
              <a:rPr sz="2650" spc="20" dirty="0"/>
              <a:t> </a:t>
            </a:r>
            <a:r>
              <a:rPr sz="2650" spc="-50" dirty="0"/>
              <a:t>, </a:t>
            </a:r>
            <a:r>
              <a:rPr sz="2650" dirty="0"/>
              <a:t>vit</a:t>
            </a:r>
            <a:r>
              <a:rPr sz="2650" spc="25" dirty="0"/>
              <a:t> </a:t>
            </a:r>
            <a:r>
              <a:rPr sz="2650" dirty="0"/>
              <a:t>D</a:t>
            </a:r>
            <a:r>
              <a:rPr sz="2650" spc="20" dirty="0"/>
              <a:t> </a:t>
            </a:r>
            <a:r>
              <a:rPr sz="2650" dirty="0"/>
              <a:t>,</a:t>
            </a:r>
            <a:r>
              <a:rPr sz="2650" spc="25" dirty="0"/>
              <a:t> </a:t>
            </a:r>
            <a:r>
              <a:rPr sz="2650" dirty="0"/>
              <a:t>estrogen</a:t>
            </a:r>
            <a:r>
              <a:rPr sz="2650" spc="20" dirty="0"/>
              <a:t> </a:t>
            </a:r>
            <a:r>
              <a:rPr sz="2650" spc="-10" dirty="0"/>
              <a:t>supplements.</a:t>
            </a:r>
            <a:endParaRPr sz="2650" dirty="0"/>
          </a:p>
          <a:p>
            <a:pPr marL="231775" indent="-21907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31775" algn="l"/>
              </a:tabLst>
            </a:pPr>
            <a:r>
              <a:rPr sz="2650" dirty="0"/>
              <a:t>Any</a:t>
            </a:r>
            <a:r>
              <a:rPr sz="2650" spc="20" dirty="0"/>
              <a:t> </a:t>
            </a:r>
            <a:r>
              <a:rPr sz="2650" dirty="0"/>
              <a:t>H/O</a:t>
            </a:r>
            <a:r>
              <a:rPr sz="2650" spc="35" dirty="0"/>
              <a:t> </a:t>
            </a:r>
            <a:r>
              <a:rPr sz="2650" dirty="0"/>
              <a:t>fractures</a:t>
            </a:r>
            <a:r>
              <a:rPr sz="2650" spc="30" dirty="0"/>
              <a:t> </a:t>
            </a:r>
            <a:r>
              <a:rPr sz="2650" spc="-50" dirty="0"/>
              <a:t>.</a:t>
            </a:r>
            <a:endParaRPr sz="2650" dirty="0"/>
          </a:p>
          <a:p>
            <a:pPr marL="231775" marR="1518920" indent="-21971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31775" algn="l"/>
              </a:tabLst>
            </a:pPr>
            <a:r>
              <a:rPr sz="2650" dirty="0"/>
              <a:t>Who</a:t>
            </a:r>
            <a:r>
              <a:rPr sz="2650" spc="35" dirty="0"/>
              <a:t> </a:t>
            </a:r>
            <a:r>
              <a:rPr sz="2650" dirty="0"/>
              <a:t>were</a:t>
            </a:r>
            <a:r>
              <a:rPr sz="2650" spc="45" dirty="0"/>
              <a:t> </a:t>
            </a:r>
            <a:r>
              <a:rPr sz="2650" dirty="0"/>
              <a:t>not</a:t>
            </a:r>
            <a:r>
              <a:rPr sz="2650" spc="45" dirty="0"/>
              <a:t> </a:t>
            </a:r>
            <a:r>
              <a:rPr sz="2650" dirty="0"/>
              <a:t>wiling</a:t>
            </a:r>
            <a:r>
              <a:rPr sz="2650" spc="45" dirty="0"/>
              <a:t> </a:t>
            </a:r>
            <a:r>
              <a:rPr sz="2650" spc="-25" dirty="0"/>
              <a:t>to </a:t>
            </a:r>
            <a:r>
              <a:rPr sz="2650" spc="-10" dirty="0"/>
              <a:t>participate.</a:t>
            </a:r>
            <a:endParaRPr sz="2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490" y="1847559"/>
            <a:ext cx="4508788" cy="31460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4417" y="2168091"/>
            <a:ext cx="4849381" cy="28688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99381"/>
            <a:ext cx="6396280" cy="4351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133" y="1381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5120"/>
              </a:lnSpc>
              <a:spcBef>
                <a:spcPts val="100"/>
              </a:spcBef>
            </a:pPr>
            <a:r>
              <a:rPr dirty="0"/>
              <a:t>AGE</a:t>
            </a:r>
            <a:r>
              <a:rPr spc="-165" dirty="0"/>
              <a:t> </a:t>
            </a:r>
            <a:r>
              <a:rPr spc="-50" dirty="0"/>
              <a:t>:</a:t>
            </a:r>
          </a:p>
          <a:p>
            <a:pPr marL="12700">
              <a:lnSpc>
                <a:spcPts val="5120"/>
              </a:lnSpc>
            </a:pPr>
            <a:r>
              <a:rPr dirty="0"/>
              <a:t>Mean</a:t>
            </a:r>
            <a:r>
              <a:rPr spc="-55" dirty="0"/>
              <a:t> </a:t>
            </a:r>
            <a:r>
              <a:rPr dirty="0"/>
              <a:t>age</a:t>
            </a:r>
            <a:r>
              <a:rPr spc="-4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study</a:t>
            </a:r>
            <a:r>
              <a:rPr spc="-40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dirty="0"/>
              <a:t>[</a:t>
            </a:r>
            <a:r>
              <a:rPr dirty="0">
                <a:solidFill>
                  <a:srgbClr val="FF0000"/>
                </a:solidFill>
              </a:rPr>
              <a:t>58.8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±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8.42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years]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4797"/>
              </p:ext>
            </p:extLst>
          </p:nvPr>
        </p:nvGraphicFramePr>
        <p:xfrm>
          <a:off x="838200" y="3058583"/>
          <a:ext cx="10515600" cy="347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88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POSTMENOPAUSAL</a:t>
                      </a:r>
                      <a:r>
                        <a:rPr sz="280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WOMEN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41-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50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15%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51-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60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52%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61-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70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23%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71-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80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8%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81-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90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TOTAL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100%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2584" y="1533525"/>
            <a:ext cx="10515600" cy="1325563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dirty="0">
                <a:latin typeface="Calibri"/>
                <a:cs typeface="Calibri"/>
              </a:rPr>
              <a:t>BODY</a:t>
            </a:r>
            <a:r>
              <a:rPr i="0" spc="-125" dirty="0">
                <a:latin typeface="Calibri"/>
                <a:cs typeface="Calibri"/>
              </a:rPr>
              <a:t> </a:t>
            </a:r>
            <a:r>
              <a:rPr i="0" dirty="0">
                <a:latin typeface="Calibri"/>
                <a:cs typeface="Calibri"/>
              </a:rPr>
              <a:t>MASS</a:t>
            </a:r>
            <a:r>
              <a:rPr i="0" spc="-125" dirty="0">
                <a:latin typeface="Calibri"/>
                <a:cs typeface="Calibri"/>
              </a:rPr>
              <a:t> </a:t>
            </a:r>
            <a:r>
              <a:rPr i="0" spc="-10" dirty="0">
                <a:latin typeface="Calibri"/>
                <a:cs typeface="Calibri"/>
              </a:rPr>
              <a:t>INDEX: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91508"/>
              </p:ext>
            </p:extLst>
          </p:nvPr>
        </p:nvGraphicFramePr>
        <p:xfrm>
          <a:off x="772584" y="3429000"/>
          <a:ext cx="10515600" cy="304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BMI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MENOPAUSAL WOMEN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WEIGHT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[&lt;18.5]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4%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NORMAL[18.5-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24.9]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58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58%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OERWEIGHT[25-29.9]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22%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OBESE[&gt;30]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16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16%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TOTAL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100%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5819" y="1528139"/>
            <a:ext cx="10028555" cy="1179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3900" dirty="0"/>
              <a:t>SERUM</a:t>
            </a:r>
            <a:r>
              <a:rPr sz="3900" spc="-75" dirty="0"/>
              <a:t> </a:t>
            </a:r>
            <a:r>
              <a:rPr sz="3900" spc="-35" dirty="0"/>
              <a:t>VITAMIN</a:t>
            </a:r>
            <a:r>
              <a:rPr sz="3900" spc="-75" dirty="0"/>
              <a:t> </a:t>
            </a:r>
            <a:r>
              <a:rPr sz="3900" dirty="0"/>
              <a:t>D</a:t>
            </a:r>
            <a:r>
              <a:rPr sz="3900" spc="-70" dirty="0"/>
              <a:t> </a:t>
            </a:r>
            <a:r>
              <a:rPr sz="3900" spc="-10" dirty="0"/>
              <a:t>LEVELS:</a:t>
            </a:r>
            <a:endParaRPr sz="3900" dirty="0"/>
          </a:p>
          <a:p>
            <a:pPr marL="12700">
              <a:lnSpc>
                <a:spcPts val="4545"/>
              </a:lnSpc>
            </a:pPr>
            <a:r>
              <a:rPr sz="3900" dirty="0"/>
              <a:t>Mean</a:t>
            </a:r>
            <a:r>
              <a:rPr sz="3900" spc="-50" dirty="0"/>
              <a:t> </a:t>
            </a:r>
            <a:r>
              <a:rPr sz="3900" dirty="0"/>
              <a:t>serum</a:t>
            </a:r>
            <a:r>
              <a:rPr sz="3900" spc="-50" dirty="0"/>
              <a:t> </a:t>
            </a:r>
            <a:r>
              <a:rPr sz="3900" dirty="0"/>
              <a:t>vitamin</a:t>
            </a:r>
            <a:r>
              <a:rPr sz="3900" spc="-50" dirty="0"/>
              <a:t> </a:t>
            </a:r>
            <a:r>
              <a:rPr sz="3900" dirty="0"/>
              <a:t>d</a:t>
            </a:r>
            <a:r>
              <a:rPr sz="3900" spc="-50" dirty="0"/>
              <a:t> </a:t>
            </a:r>
            <a:r>
              <a:rPr sz="3900" dirty="0"/>
              <a:t>level</a:t>
            </a:r>
            <a:r>
              <a:rPr sz="3900" spc="-50" dirty="0"/>
              <a:t> </a:t>
            </a:r>
            <a:r>
              <a:rPr sz="3900" dirty="0">
                <a:solidFill>
                  <a:srgbClr val="FF0000"/>
                </a:solidFill>
              </a:rPr>
              <a:t>=[18.00</a:t>
            </a:r>
            <a:r>
              <a:rPr sz="3900" spc="-50" dirty="0">
                <a:solidFill>
                  <a:srgbClr val="FF0000"/>
                </a:solidFill>
              </a:rPr>
              <a:t> </a:t>
            </a:r>
            <a:r>
              <a:rPr sz="3900" dirty="0">
                <a:solidFill>
                  <a:srgbClr val="FF0000"/>
                </a:solidFill>
              </a:rPr>
              <a:t>±</a:t>
            </a:r>
            <a:r>
              <a:rPr sz="3900" spc="-50" dirty="0">
                <a:solidFill>
                  <a:srgbClr val="FF0000"/>
                </a:solidFill>
              </a:rPr>
              <a:t> </a:t>
            </a:r>
            <a:r>
              <a:rPr sz="3900" dirty="0">
                <a:solidFill>
                  <a:srgbClr val="FF0000"/>
                </a:solidFill>
              </a:rPr>
              <a:t>8.07</a:t>
            </a:r>
            <a:r>
              <a:rPr sz="3900" spc="-50" dirty="0">
                <a:solidFill>
                  <a:srgbClr val="FF0000"/>
                </a:solidFill>
              </a:rPr>
              <a:t> </a:t>
            </a:r>
            <a:r>
              <a:rPr sz="3900" spc="-10" dirty="0">
                <a:solidFill>
                  <a:srgbClr val="FF0000"/>
                </a:solidFill>
              </a:rPr>
              <a:t>ng/ml]</a:t>
            </a:r>
            <a:endParaRPr sz="39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9314"/>
              </p:ext>
            </p:extLst>
          </p:nvPr>
        </p:nvGraphicFramePr>
        <p:xfrm>
          <a:off x="687916" y="3117849"/>
          <a:ext cx="10515600" cy="346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SERUM</a:t>
                      </a:r>
                      <a:r>
                        <a:rPr sz="2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2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[ng/ml]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POSTMENOPAUASAL</a:t>
                      </a:r>
                      <a:r>
                        <a:rPr sz="2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WOMEN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[&gt;30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ng/ml]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8%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VIT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INSUFFICIENCY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[20-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30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ng/ml]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30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30%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VIT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DEFICIENCY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[&lt;20ng/ml]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62%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TOTAL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100%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626659"/>
            <a:ext cx="10515600" cy="132556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4960"/>
              </a:lnSpc>
              <a:spcBef>
                <a:spcPts val="515"/>
              </a:spcBef>
              <a:tabLst>
                <a:tab pos="6221095" algn="l"/>
              </a:tabLst>
            </a:pPr>
            <a:r>
              <a:rPr dirty="0"/>
              <a:t>BONE</a:t>
            </a:r>
            <a:r>
              <a:rPr spc="-185" dirty="0"/>
              <a:t> </a:t>
            </a:r>
            <a:r>
              <a:rPr dirty="0"/>
              <a:t>MINERAL</a:t>
            </a:r>
            <a:r>
              <a:rPr spc="-130" dirty="0"/>
              <a:t> </a:t>
            </a:r>
            <a:r>
              <a:rPr dirty="0"/>
              <a:t>DENSITY</a:t>
            </a:r>
            <a:r>
              <a:rPr spc="-135" dirty="0"/>
              <a:t> </a:t>
            </a:r>
            <a:r>
              <a:rPr spc="-170" dirty="0"/>
              <a:t>AT</a:t>
            </a:r>
            <a:r>
              <a:rPr spc="-80" dirty="0"/>
              <a:t> </a:t>
            </a:r>
            <a:r>
              <a:rPr spc="-50" dirty="0"/>
              <a:t>DISTAL</a:t>
            </a:r>
            <a:r>
              <a:rPr spc="-130" dirty="0"/>
              <a:t> </a:t>
            </a:r>
            <a:r>
              <a:rPr spc="-10" dirty="0"/>
              <a:t>RADIUS: </a:t>
            </a:r>
            <a:r>
              <a:rPr dirty="0"/>
              <a:t>Mean</a:t>
            </a:r>
            <a:r>
              <a:rPr spc="-75" dirty="0"/>
              <a:t> </a:t>
            </a:r>
            <a:r>
              <a:rPr dirty="0"/>
              <a:t>BMD</a:t>
            </a:r>
            <a:r>
              <a:rPr spc="-55" dirty="0"/>
              <a:t> </a:t>
            </a:r>
            <a:r>
              <a:rPr dirty="0"/>
              <a:t>[T</a:t>
            </a:r>
            <a:r>
              <a:rPr spc="-55" dirty="0"/>
              <a:t> </a:t>
            </a:r>
            <a:r>
              <a:rPr spc="-10" dirty="0"/>
              <a:t>SCORE]=</a:t>
            </a:r>
            <a:r>
              <a:rPr dirty="0"/>
              <a:t>	</a:t>
            </a:r>
            <a:r>
              <a:rPr spc="-20" dirty="0">
                <a:solidFill>
                  <a:srgbClr val="FF0000"/>
                </a:solidFill>
              </a:rPr>
              <a:t>-</a:t>
            </a:r>
            <a:r>
              <a:rPr dirty="0">
                <a:solidFill>
                  <a:srgbClr val="FF0000"/>
                </a:solidFill>
              </a:rPr>
              <a:t>2.4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±1.45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119229"/>
              </p:ext>
            </p:extLst>
          </p:nvPr>
        </p:nvGraphicFramePr>
        <p:xfrm>
          <a:off x="838200" y="3473979"/>
          <a:ext cx="10515600" cy="261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BMD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DISTAL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RADIUS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[SD]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</a:t>
                      </a:r>
                      <a:r>
                        <a:rPr sz="2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MENOPAUSAL WOMEN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[&gt;-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SD]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18%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OSTEOPENIA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[-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1SD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-2.5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SD]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28%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OSTEOPOROSIS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[&lt;2.5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SD]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54%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100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100%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619" y="1451682"/>
            <a:ext cx="11159914" cy="1348446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4960"/>
              </a:lnSpc>
              <a:spcBef>
                <a:spcPts val="515"/>
              </a:spcBef>
              <a:tabLst>
                <a:tab pos="5968365" algn="l"/>
              </a:tabLst>
            </a:pPr>
            <a:r>
              <a:rPr dirty="0"/>
              <a:t>BONE</a:t>
            </a:r>
            <a:r>
              <a:rPr spc="-150" dirty="0"/>
              <a:t> </a:t>
            </a:r>
            <a:r>
              <a:rPr dirty="0"/>
              <a:t>MINERAL</a:t>
            </a:r>
            <a:r>
              <a:rPr spc="-114" dirty="0"/>
              <a:t> </a:t>
            </a:r>
            <a:r>
              <a:rPr dirty="0"/>
              <a:t>DENSITY</a:t>
            </a:r>
            <a:r>
              <a:rPr spc="-114" dirty="0"/>
              <a:t> </a:t>
            </a:r>
            <a:r>
              <a:rPr spc="-170" dirty="0"/>
              <a:t>AT</a:t>
            </a:r>
            <a:r>
              <a:rPr spc="-80" dirty="0"/>
              <a:t> </a:t>
            </a:r>
            <a:r>
              <a:rPr spc="-10" dirty="0"/>
              <a:t>CALCANEUM: </a:t>
            </a:r>
            <a:r>
              <a:rPr dirty="0"/>
              <a:t>Mean</a:t>
            </a:r>
            <a:r>
              <a:rPr spc="-75" dirty="0"/>
              <a:t> </a:t>
            </a:r>
            <a:r>
              <a:rPr dirty="0"/>
              <a:t>BMD</a:t>
            </a:r>
            <a:r>
              <a:rPr spc="-55" dirty="0"/>
              <a:t> </a:t>
            </a:r>
            <a:r>
              <a:rPr dirty="0"/>
              <a:t>[T</a:t>
            </a:r>
            <a:r>
              <a:rPr spc="-55" dirty="0"/>
              <a:t> </a:t>
            </a:r>
            <a:r>
              <a:rPr spc="-10" dirty="0"/>
              <a:t>SCORE]=</a:t>
            </a:r>
            <a:r>
              <a:rPr spc="-20" dirty="0">
                <a:solidFill>
                  <a:srgbClr val="FF0000"/>
                </a:solidFill>
              </a:rPr>
              <a:t>-</a:t>
            </a:r>
            <a:r>
              <a:rPr dirty="0">
                <a:solidFill>
                  <a:srgbClr val="FF0000"/>
                </a:solidFill>
              </a:rPr>
              <a:t>2.10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±1.35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22158"/>
              </p:ext>
            </p:extLst>
          </p:nvPr>
        </p:nvGraphicFramePr>
        <p:xfrm>
          <a:off x="193887" y="2988733"/>
          <a:ext cx="11735646" cy="31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1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BMD</a:t>
                      </a:r>
                      <a:r>
                        <a:rPr sz="2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CALCANEUM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POSTMENOPAUSAL</a:t>
                      </a:r>
                      <a:r>
                        <a:rPr sz="280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WOMEN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NORMAL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[&gt;-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SD]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15%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OSTEOPENIA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[-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-2.5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SD]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36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36%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OSTEOPOROSIS</a:t>
                      </a:r>
                      <a:r>
                        <a:rPr sz="2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&lt;2.5</a:t>
                      </a:r>
                      <a:r>
                        <a:rPr sz="2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SD]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49%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TOTAL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100%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677" y="1338408"/>
            <a:ext cx="11108256" cy="1432443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60"/>
              </a:lnSpc>
              <a:spcBef>
                <a:spcPts val="370"/>
              </a:spcBef>
              <a:tabLst>
                <a:tab pos="2036445" algn="l"/>
              </a:tabLst>
            </a:pPr>
            <a:r>
              <a:rPr sz="2400" dirty="0"/>
              <a:t>Out</a:t>
            </a:r>
            <a:r>
              <a:rPr sz="2400" spc="-40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dirty="0"/>
              <a:t>62</a:t>
            </a:r>
            <a:r>
              <a:rPr sz="2400" spc="-40" dirty="0"/>
              <a:t> </a:t>
            </a:r>
            <a:r>
              <a:rPr sz="2400" spc="-10" dirty="0"/>
              <a:t>postmenopausal</a:t>
            </a:r>
            <a:r>
              <a:rPr sz="2400" spc="-40" dirty="0"/>
              <a:t> </a:t>
            </a:r>
            <a:r>
              <a:rPr sz="2400" dirty="0"/>
              <a:t>women</a:t>
            </a:r>
            <a:r>
              <a:rPr sz="2400" spc="-40" dirty="0"/>
              <a:t> </a:t>
            </a:r>
            <a:r>
              <a:rPr sz="2400" dirty="0"/>
              <a:t>who</a:t>
            </a:r>
            <a:r>
              <a:rPr sz="2400" spc="-40" dirty="0"/>
              <a:t> </a:t>
            </a:r>
            <a:r>
              <a:rPr sz="2400" dirty="0"/>
              <a:t>had</a:t>
            </a:r>
            <a:r>
              <a:rPr sz="2400" spc="-40" dirty="0"/>
              <a:t> </a:t>
            </a:r>
            <a:r>
              <a:rPr sz="2400" dirty="0"/>
              <a:t>vitamin</a:t>
            </a:r>
            <a:r>
              <a:rPr sz="2400" spc="-40" dirty="0"/>
              <a:t> </a:t>
            </a:r>
            <a:r>
              <a:rPr sz="2400" dirty="0"/>
              <a:t>D</a:t>
            </a:r>
            <a:r>
              <a:rPr sz="2400" spc="-40" dirty="0"/>
              <a:t> </a:t>
            </a:r>
            <a:r>
              <a:rPr sz="2400" dirty="0"/>
              <a:t>deficiency</a:t>
            </a:r>
            <a:r>
              <a:rPr sz="2400" spc="-45" dirty="0"/>
              <a:t> </a:t>
            </a:r>
            <a:r>
              <a:rPr sz="2400" dirty="0">
                <a:solidFill>
                  <a:srgbClr val="FF0000"/>
                </a:solidFill>
              </a:rPr>
              <a:t>38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dirty="0"/>
              <a:t>[61.3%]</a:t>
            </a:r>
            <a:r>
              <a:rPr sz="2400" spc="-40" dirty="0"/>
              <a:t> </a:t>
            </a:r>
            <a:r>
              <a:rPr sz="2400" spc="-25" dirty="0"/>
              <a:t>had </a:t>
            </a:r>
            <a:r>
              <a:rPr sz="2400" spc="-10" dirty="0"/>
              <a:t>osteoporosis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45" dirty="0"/>
              <a:t> </a:t>
            </a:r>
            <a:r>
              <a:rPr sz="2400" dirty="0">
                <a:solidFill>
                  <a:srgbClr val="FF0000"/>
                </a:solidFill>
              </a:rPr>
              <a:t>16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dirty="0"/>
              <a:t>[25.8%]</a:t>
            </a:r>
            <a:r>
              <a:rPr sz="2400" spc="-40" dirty="0"/>
              <a:t> </a:t>
            </a:r>
            <a:r>
              <a:rPr sz="2400" dirty="0"/>
              <a:t>had</a:t>
            </a:r>
            <a:r>
              <a:rPr sz="2400" spc="-40" dirty="0"/>
              <a:t> </a:t>
            </a:r>
            <a:r>
              <a:rPr sz="2400" spc="-10" dirty="0"/>
              <a:t>osteopenia</a:t>
            </a:r>
            <a:r>
              <a:rPr sz="2400" spc="-40" dirty="0"/>
              <a:t> </a:t>
            </a:r>
            <a:r>
              <a:rPr sz="2400" dirty="0"/>
              <a:t>at</a:t>
            </a:r>
            <a:r>
              <a:rPr sz="2400" spc="-45" dirty="0"/>
              <a:t> </a:t>
            </a:r>
            <a:r>
              <a:rPr sz="2400" dirty="0"/>
              <a:t>Distal</a:t>
            </a:r>
            <a:r>
              <a:rPr sz="2400" spc="-40" dirty="0"/>
              <a:t> </a:t>
            </a:r>
            <a:r>
              <a:rPr sz="2400" dirty="0"/>
              <a:t>Radius</a:t>
            </a:r>
            <a:r>
              <a:rPr sz="2400" spc="-40" dirty="0"/>
              <a:t> </a:t>
            </a:r>
            <a:r>
              <a:rPr sz="2400" dirty="0"/>
              <a:t>.</a:t>
            </a:r>
            <a:r>
              <a:rPr sz="2400" spc="-40" dirty="0"/>
              <a:t> </a:t>
            </a:r>
            <a:r>
              <a:rPr sz="2400" dirty="0"/>
              <a:t>With</a:t>
            </a:r>
            <a:r>
              <a:rPr sz="2400" spc="-40" dirty="0"/>
              <a:t> </a:t>
            </a:r>
            <a:r>
              <a:rPr sz="2400" spc="-10" dirty="0"/>
              <a:t>significant </a:t>
            </a:r>
            <a:r>
              <a:rPr sz="2400" dirty="0"/>
              <a:t>correlation</a:t>
            </a:r>
            <a:r>
              <a:rPr sz="2400" spc="-120" dirty="0"/>
              <a:t> </a:t>
            </a:r>
            <a:r>
              <a:rPr sz="2400" spc="-25" dirty="0"/>
              <a:t>and</a:t>
            </a:r>
            <a:r>
              <a:rPr lang="en-IN" sz="2400" spc="-25" dirty="0"/>
              <a:t> </a:t>
            </a:r>
            <a:r>
              <a:rPr sz="2400" dirty="0"/>
              <a:t>by</a:t>
            </a:r>
            <a:r>
              <a:rPr sz="2400" spc="-45" dirty="0"/>
              <a:t> </a:t>
            </a:r>
            <a:r>
              <a:rPr sz="2400" spc="-20" dirty="0"/>
              <a:t>pearson”s</a:t>
            </a:r>
            <a:r>
              <a:rPr sz="2400" spc="-40" dirty="0"/>
              <a:t> </a:t>
            </a:r>
            <a:r>
              <a:rPr sz="2400" dirty="0"/>
              <a:t>correlation</a:t>
            </a:r>
            <a:r>
              <a:rPr sz="2400" spc="-45" dirty="0"/>
              <a:t> </a:t>
            </a:r>
            <a:r>
              <a:rPr sz="2400" spc="-10" dirty="0"/>
              <a:t>coefficient</a:t>
            </a:r>
            <a:r>
              <a:rPr sz="2400" spc="-40" dirty="0"/>
              <a:t> </a:t>
            </a:r>
            <a:r>
              <a:rPr sz="2400" dirty="0"/>
              <a:t>it</a:t>
            </a:r>
            <a:r>
              <a:rPr sz="2400" spc="-40" dirty="0"/>
              <a:t> </a:t>
            </a:r>
            <a:r>
              <a:rPr sz="2400" dirty="0"/>
              <a:t>was</a:t>
            </a:r>
            <a:r>
              <a:rPr sz="2400" spc="-45" dirty="0"/>
              <a:t> </a:t>
            </a:r>
            <a:r>
              <a:rPr sz="2400" dirty="0"/>
              <a:t>found</a:t>
            </a:r>
            <a:r>
              <a:rPr sz="2400" spc="-40" dirty="0"/>
              <a:t> </a:t>
            </a:r>
            <a:r>
              <a:rPr sz="2400" dirty="0"/>
              <a:t>that</a:t>
            </a:r>
            <a:r>
              <a:rPr sz="2400" spc="-40" dirty="0"/>
              <a:t> </a:t>
            </a:r>
            <a:r>
              <a:rPr sz="2400" dirty="0"/>
              <a:t>there</a:t>
            </a:r>
            <a:r>
              <a:rPr sz="2400" spc="-45" dirty="0"/>
              <a:t> </a:t>
            </a:r>
            <a:r>
              <a:rPr sz="2400" dirty="0"/>
              <a:t>is</a:t>
            </a:r>
            <a:r>
              <a:rPr sz="2400" spc="-40" dirty="0"/>
              <a:t> </a:t>
            </a:r>
            <a:r>
              <a:rPr sz="2400" spc="-50" dirty="0"/>
              <a:t>a </a:t>
            </a:r>
            <a:r>
              <a:rPr sz="2400" dirty="0"/>
              <a:t>positive</a:t>
            </a:r>
            <a:r>
              <a:rPr sz="2400" spc="-60" dirty="0"/>
              <a:t> </a:t>
            </a:r>
            <a:r>
              <a:rPr sz="2400" dirty="0"/>
              <a:t>correlation</a:t>
            </a:r>
            <a:r>
              <a:rPr sz="2400" spc="-60" dirty="0"/>
              <a:t> </a:t>
            </a:r>
            <a:r>
              <a:rPr sz="2400" dirty="0"/>
              <a:t>between</a:t>
            </a:r>
            <a:r>
              <a:rPr sz="2400" spc="-60" dirty="0"/>
              <a:t> </a:t>
            </a:r>
            <a:r>
              <a:rPr sz="2400" dirty="0"/>
              <a:t>vitamin</a:t>
            </a:r>
            <a:r>
              <a:rPr sz="2400" spc="-60" dirty="0"/>
              <a:t> </a:t>
            </a:r>
            <a:r>
              <a:rPr sz="2400" dirty="0"/>
              <a:t>D</a:t>
            </a:r>
            <a:r>
              <a:rPr sz="2400" spc="-60" dirty="0"/>
              <a:t> </a:t>
            </a:r>
            <a:r>
              <a:rPr sz="2400" dirty="0"/>
              <a:t>level</a:t>
            </a:r>
            <a:r>
              <a:rPr sz="2400" spc="-60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dirty="0"/>
              <a:t>BMD</a:t>
            </a:r>
            <a:r>
              <a:rPr sz="2400" spc="-60" dirty="0"/>
              <a:t> </a:t>
            </a:r>
            <a:r>
              <a:rPr sz="2400" spc="-10" dirty="0"/>
              <a:t>[r=0.179]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18754"/>
              </p:ext>
            </p:extLst>
          </p:nvPr>
        </p:nvGraphicFramePr>
        <p:xfrm>
          <a:off x="101601" y="2876550"/>
          <a:ext cx="11954934" cy="3609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0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0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0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SERUM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OSTEOPENIA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OSTEOPOROSIS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6[75.0]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2[25’0]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0[0.0]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51435" marR="624205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D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INSUFFICIENCY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4[13.3]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10[33.3]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16[53.3]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30[100.0]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51435" marR="934085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D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DEFICIENCY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8[12.9]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16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[25.8]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38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[61.3]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62[100.0]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18[18.0]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28[28.0]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54[54.0]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100[100.0]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484" y="1376506"/>
            <a:ext cx="9969500" cy="140589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660"/>
              </a:lnSpc>
              <a:spcBef>
                <a:spcPts val="370"/>
              </a:spcBef>
              <a:tabLst>
                <a:tab pos="2036445" algn="l"/>
              </a:tabLst>
            </a:pPr>
            <a:r>
              <a:rPr sz="2400" dirty="0"/>
              <a:t>Out</a:t>
            </a:r>
            <a:r>
              <a:rPr sz="2400" spc="-50" dirty="0"/>
              <a:t> </a:t>
            </a:r>
            <a:r>
              <a:rPr sz="2400" dirty="0"/>
              <a:t>of</a:t>
            </a:r>
            <a:r>
              <a:rPr sz="2400" spc="-45" dirty="0"/>
              <a:t> </a:t>
            </a:r>
            <a:r>
              <a:rPr sz="2400" dirty="0"/>
              <a:t>62</a:t>
            </a:r>
            <a:r>
              <a:rPr sz="2400" spc="-50" dirty="0"/>
              <a:t> </a:t>
            </a:r>
            <a:r>
              <a:rPr sz="2400" dirty="0"/>
              <a:t>post</a:t>
            </a:r>
            <a:r>
              <a:rPr sz="2400" spc="-45" dirty="0"/>
              <a:t> </a:t>
            </a:r>
            <a:r>
              <a:rPr sz="2400" dirty="0"/>
              <a:t>menopausal</a:t>
            </a:r>
            <a:r>
              <a:rPr sz="2400" spc="-45" dirty="0"/>
              <a:t> </a:t>
            </a:r>
            <a:r>
              <a:rPr sz="2400" dirty="0"/>
              <a:t>women</a:t>
            </a:r>
            <a:r>
              <a:rPr sz="2400" spc="-50" dirty="0"/>
              <a:t> </a:t>
            </a:r>
            <a:r>
              <a:rPr sz="2400" dirty="0"/>
              <a:t>who</a:t>
            </a:r>
            <a:r>
              <a:rPr sz="2400" spc="-45" dirty="0"/>
              <a:t> </a:t>
            </a:r>
            <a:r>
              <a:rPr sz="2400" dirty="0"/>
              <a:t>had</a:t>
            </a:r>
            <a:r>
              <a:rPr sz="2400" spc="-50" dirty="0"/>
              <a:t> </a:t>
            </a:r>
            <a:r>
              <a:rPr sz="2400" dirty="0"/>
              <a:t>vitamin</a:t>
            </a:r>
            <a:r>
              <a:rPr sz="2400" spc="-45" dirty="0"/>
              <a:t> </a:t>
            </a:r>
            <a:r>
              <a:rPr sz="2400" dirty="0"/>
              <a:t>D</a:t>
            </a:r>
            <a:r>
              <a:rPr sz="2400" spc="-45" dirty="0"/>
              <a:t> </a:t>
            </a:r>
            <a:r>
              <a:rPr sz="2400" dirty="0"/>
              <a:t>deficiency</a:t>
            </a:r>
            <a:r>
              <a:rPr sz="2400" spc="-55" dirty="0"/>
              <a:t> </a:t>
            </a:r>
            <a:r>
              <a:rPr sz="2400" dirty="0">
                <a:solidFill>
                  <a:srgbClr val="FF0000"/>
                </a:solidFill>
              </a:rPr>
              <a:t>34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/>
              <a:t>[54.8%]</a:t>
            </a:r>
            <a:r>
              <a:rPr sz="2400" spc="-45" dirty="0"/>
              <a:t> </a:t>
            </a:r>
            <a:r>
              <a:rPr sz="2400" spc="-25" dirty="0"/>
              <a:t>had </a:t>
            </a:r>
            <a:r>
              <a:rPr sz="2400" spc="-10" dirty="0"/>
              <a:t>osteoporosis</a:t>
            </a:r>
            <a:r>
              <a:rPr sz="2400" spc="-60" dirty="0"/>
              <a:t> </a:t>
            </a:r>
            <a:r>
              <a:rPr sz="2400" dirty="0"/>
              <a:t>and</a:t>
            </a:r>
            <a:r>
              <a:rPr sz="2400" spc="-60" dirty="0"/>
              <a:t> </a:t>
            </a:r>
            <a:r>
              <a:rPr sz="2400" dirty="0">
                <a:solidFill>
                  <a:srgbClr val="FF0000"/>
                </a:solidFill>
              </a:rPr>
              <a:t>21</a:t>
            </a:r>
            <a:r>
              <a:rPr sz="2400" spc="-55" dirty="0">
                <a:solidFill>
                  <a:srgbClr val="FF0000"/>
                </a:solidFill>
              </a:rPr>
              <a:t> </a:t>
            </a:r>
            <a:r>
              <a:rPr sz="2400" dirty="0"/>
              <a:t>[33.9%]</a:t>
            </a:r>
            <a:r>
              <a:rPr sz="2400" spc="-55" dirty="0"/>
              <a:t> </a:t>
            </a:r>
            <a:r>
              <a:rPr sz="2400" dirty="0"/>
              <a:t>had</a:t>
            </a:r>
            <a:r>
              <a:rPr sz="2400" spc="-55" dirty="0"/>
              <a:t> </a:t>
            </a:r>
            <a:r>
              <a:rPr sz="2400" spc="-10" dirty="0"/>
              <a:t>osteopenia</a:t>
            </a:r>
            <a:r>
              <a:rPr sz="2400" spc="-55" dirty="0"/>
              <a:t> </a:t>
            </a:r>
            <a:r>
              <a:rPr sz="2400" dirty="0"/>
              <a:t>at</a:t>
            </a:r>
            <a:r>
              <a:rPr sz="2400" spc="-55" dirty="0"/>
              <a:t> </a:t>
            </a:r>
            <a:r>
              <a:rPr sz="2400" dirty="0"/>
              <a:t>Calcaneum</a:t>
            </a:r>
            <a:r>
              <a:rPr sz="2400" spc="-55" dirty="0"/>
              <a:t> </a:t>
            </a:r>
            <a:r>
              <a:rPr sz="2400" spc="-10" dirty="0"/>
              <a:t>.With</a:t>
            </a:r>
            <a:r>
              <a:rPr sz="2400" spc="-55" dirty="0"/>
              <a:t> </a:t>
            </a:r>
            <a:r>
              <a:rPr sz="2400" spc="-10" dirty="0"/>
              <a:t>significant </a:t>
            </a:r>
            <a:r>
              <a:rPr sz="2400" dirty="0"/>
              <a:t>correlation</a:t>
            </a:r>
            <a:r>
              <a:rPr sz="2400" spc="-120" dirty="0"/>
              <a:t> </a:t>
            </a:r>
            <a:r>
              <a:rPr sz="2400" spc="-25" dirty="0"/>
              <a:t>and</a:t>
            </a:r>
            <a:r>
              <a:rPr sz="2400" dirty="0"/>
              <a:t>	by</a:t>
            </a:r>
            <a:r>
              <a:rPr sz="2400" spc="-45" dirty="0"/>
              <a:t> </a:t>
            </a:r>
            <a:r>
              <a:rPr sz="2400" spc="-20" dirty="0"/>
              <a:t>pearson”s</a:t>
            </a:r>
            <a:r>
              <a:rPr sz="2400" spc="-40" dirty="0"/>
              <a:t> </a:t>
            </a:r>
            <a:r>
              <a:rPr sz="2400" dirty="0"/>
              <a:t>correlation</a:t>
            </a:r>
            <a:r>
              <a:rPr sz="2400" spc="-45" dirty="0"/>
              <a:t> </a:t>
            </a:r>
            <a:r>
              <a:rPr sz="2400" spc="-10" dirty="0"/>
              <a:t>coefficient</a:t>
            </a:r>
            <a:r>
              <a:rPr sz="2400" spc="-40" dirty="0"/>
              <a:t> </a:t>
            </a:r>
            <a:r>
              <a:rPr sz="2400" dirty="0"/>
              <a:t>it</a:t>
            </a:r>
            <a:r>
              <a:rPr sz="2400" spc="-40" dirty="0"/>
              <a:t> </a:t>
            </a:r>
            <a:r>
              <a:rPr sz="2400" dirty="0"/>
              <a:t>was</a:t>
            </a:r>
            <a:r>
              <a:rPr sz="2400" spc="-45" dirty="0"/>
              <a:t> </a:t>
            </a:r>
            <a:r>
              <a:rPr sz="2400" dirty="0"/>
              <a:t>found</a:t>
            </a:r>
            <a:r>
              <a:rPr sz="2400" spc="-40" dirty="0"/>
              <a:t> </a:t>
            </a:r>
            <a:r>
              <a:rPr sz="2400" dirty="0"/>
              <a:t>that</a:t>
            </a:r>
            <a:r>
              <a:rPr sz="2400" spc="-40" dirty="0"/>
              <a:t> </a:t>
            </a:r>
            <a:r>
              <a:rPr sz="2400" dirty="0"/>
              <a:t>there</a:t>
            </a:r>
            <a:r>
              <a:rPr sz="2400" spc="-45" dirty="0"/>
              <a:t> </a:t>
            </a:r>
            <a:r>
              <a:rPr sz="2400" dirty="0"/>
              <a:t>is</a:t>
            </a:r>
            <a:r>
              <a:rPr sz="2400" spc="-40" dirty="0"/>
              <a:t> </a:t>
            </a:r>
            <a:r>
              <a:rPr sz="2400" spc="-50" dirty="0"/>
              <a:t>a </a:t>
            </a:r>
            <a:r>
              <a:rPr sz="2400" dirty="0"/>
              <a:t>positive</a:t>
            </a:r>
            <a:r>
              <a:rPr sz="2400" spc="-60" dirty="0"/>
              <a:t> </a:t>
            </a:r>
            <a:r>
              <a:rPr sz="2400" dirty="0"/>
              <a:t>correlation</a:t>
            </a:r>
            <a:r>
              <a:rPr sz="2400" spc="-60" dirty="0"/>
              <a:t> </a:t>
            </a:r>
            <a:r>
              <a:rPr sz="2400" dirty="0"/>
              <a:t>between</a:t>
            </a:r>
            <a:r>
              <a:rPr sz="2400" spc="-60" dirty="0"/>
              <a:t> </a:t>
            </a:r>
            <a:r>
              <a:rPr sz="2400" dirty="0"/>
              <a:t>vitamin</a:t>
            </a:r>
            <a:r>
              <a:rPr sz="2400" spc="-60" dirty="0"/>
              <a:t> </a:t>
            </a:r>
            <a:r>
              <a:rPr sz="2400" dirty="0"/>
              <a:t>D</a:t>
            </a:r>
            <a:r>
              <a:rPr sz="2400" spc="-60" dirty="0"/>
              <a:t> </a:t>
            </a:r>
            <a:r>
              <a:rPr sz="2400" dirty="0"/>
              <a:t>level</a:t>
            </a:r>
            <a:r>
              <a:rPr sz="2400" spc="-60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dirty="0"/>
              <a:t>BMD</a:t>
            </a:r>
            <a:r>
              <a:rPr sz="2400" spc="-60" dirty="0"/>
              <a:t> </a:t>
            </a:r>
            <a:r>
              <a:rPr sz="2400" spc="-10" dirty="0"/>
              <a:t>[r=0.081]</a:t>
            </a:r>
            <a:endParaRPr sz="2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194611"/>
              </p:ext>
            </p:extLst>
          </p:nvPr>
        </p:nvGraphicFramePr>
        <p:xfrm>
          <a:off x="548216" y="3007640"/>
          <a:ext cx="11322052" cy="3388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3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3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3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SERUM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OSTEOPENIA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OSTEOPOROSIS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NORMAL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5[62.5]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3[37.5]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0[0.0]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8[100.0]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52069" marR="758190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D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INSUFFICIENCY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3[10.0]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12[40.4]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15[50.0]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30[100.0]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 marL="52069" marR="1068070">
                        <a:lnSpc>
                          <a:spcPts val="2300"/>
                        </a:lnSpc>
                        <a:spcBef>
                          <a:spcPts val="2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VITAMIN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D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DEFICIENCY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7[11.3]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21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[33.9]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34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[54.8]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62[100.0]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TOTAL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15[15.0]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35[35.5]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50[50.0]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100[100.0]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178499"/>
            <a:ext cx="10515600" cy="1325563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CONCLUSION</a:t>
            </a:r>
            <a:r>
              <a:rPr i="0" spc="-25" dirty="0">
                <a:latin typeface="Calibri"/>
                <a:cs typeface="Calibri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504062"/>
            <a:ext cx="10023475" cy="38779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41300" marR="66675" indent="-228600">
              <a:lnSpc>
                <a:spcPts val="312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We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found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prevalence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of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vitamin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deficiency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was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62%</a:t>
            </a:r>
            <a:r>
              <a:rPr sz="28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and </a:t>
            </a:r>
            <a:r>
              <a:rPr sz="2800" i="1" dirty="0">
                <a:latin typeface="Calibri"/>
                <a:cs typeface="Calibri"/>
              </a:rPr>
              <a:t>prevalence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of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osteoporosis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was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54%</a:t>
            </a:r>
            <a:r>
              <a:rPr sz="2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and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0000"/>
                </a:solidFill>
                <a:latin typeface="Calibri"/>
                <a:cs typeface="Calibri"/>
              </a:rPr>
              <a:t>49%</a:t>
            </a:r>
            <a:r>
              <a:rPr sz="28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by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measuring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BMD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at </a:t>
            </a:r>
            <a:r>
              <a:rPr sz="2800" b="1" i="1" dirty="0">
                <a:latin typeface="Calibri"/>
                <a:cs typeface="Calibri"/>
              </a:rPr>
              <a:t>distal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radius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and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calcaneum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respectively.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1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There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was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significant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correlation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between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AGE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BMI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Sr.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VITAMIN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D </a:t>
            </a:r>
            <a:r>
              <a:rPr sz="2800" i="1" dirty="0">
                <a:latin typeface="Calibri"/>
                <a:cs typeface="Calibri"/>
              </a:rPr>
              <a:t>LEVELS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AND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BONE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MINERAL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DENSITY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07340" indent="-228600">
              <a:lnSpc>
                <a:spcPts val="312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It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is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therefore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necessary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create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awareness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among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women </a:t>
            </a:r>
            <a:r>
              <a:rPr sz="2800" i="1" dirty="0">
                <a:latin typeface="Calibri"/>
                <a:cs typeface="Calibri"/>
              </a:rPr>
              <a:t>irrespective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of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their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geographical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location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,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about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risk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of </a:t>
            </a:r>
            <a:r>
              <a:rPr sz="2800" i="1" dirty="0">
                <a:latin typeface="Calibri"/>
                <a:cs typeface="Calibri"/>
              </a:rPr>
              <a:t>osteoporosis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and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educate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those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regarding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preventive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measures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to </a:t>
            </a:r>
            <a:r>
              <a:rPr sz="2800" i="1" dirty="0">
                <a:latin typeface="Calibri"/>
                <a:cs typeface="Calibri"/>
              </a:rPr>
              <a:t>avoid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future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fractures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secondary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osteoporosis.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2895600"/>
            <a:ext cx="373380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6000" dirty="0">
                <a:latin typeface="Calibri"/>
                <a:cs typeface="Calibri"/>
              </a:rPr>
              <a:t>THAN</a:t>
            </a:r>
            <a:r>
              <a:rPr lang="en-IN" sz="6000" dirty="0">
                <a:latin typeface="Calibri"/>
                <a:cs typeface="Calibri"/>
              </a:rPr>
              <a:t>K YOU</a:t>
            </a:r>
            <a:endParaRPr sz="6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841</Words>
  <Application>Microsoft Office PowerPoint</Application>
  <PresentationFormat>Widescreen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MT</vt:lpstr>
      <vt:lpstr>Calibri</vt:lpstr>
      <vt:lpstr>Gordita </vt:lpstr>
      <vt:lpstr>Office Theme</vt:lpstr>
      <vt:lpstr>PowerPoint Presentation</vt:lpstr>
      <vt:lpstr>INTRODUCTION:</vt:lpstr>
      <vt:lpstr>PowerPoint Presentation</vt:lpstr>
      <vt:lpstr>INCLUSION CRITERIA</vt:lpstr>
      <vt:lpstr>PowerPoint Presentation</vt:lpstr>
      <vt:lpstr>PowerPoint Presentation</vt:lpstr>
      <vt:lpstr>AGE : Mean age in the study = [58.8 ± 8.42 years]</vt:lpstr>
      <vt:lpstr>BODY MASS INDEX:</vt:lpstr>
      <vt:lpstr>SERUM VITAMIN D LEVELS: Mean serum vitamin d level =[18.00 ± 8.07 ng/ml]</vt:lpstr>
      <vt:lpstr>BONE MINERAL DENSITY AT DISTAL RADIUS: Mean BMD [T SCORE]= -2.4 ±1.45</vt:lpstr>
      <vt:lpstr>BONE MINERAL DENSITY AT CALCANEUM: Mean BMD [T SCORE]=-2.10 ±1.35</vt:lpstr>
      <vt:lpstr>Out of 62 postmenopausal women who had vitamin D deficiency 38 [61.3%] had osteoporosis and 16 [25.8%] had osteopenia at Distal Radius . With significant correlation and by pearson”s correlation coefficient it was found that there is a positive correlation between vitamin D level and BMD [r=0.179]</vt:lpstr>
      <vt:lpstr>Out of 62 post menopausal women who had vitamin D deficiency 34 [54.8%] had osteoporosis and 21 [33.9%] had osteopenia at Calcaneum .With significant correlation and by pearson”s correlation coefficient it was found that there is a positive correlation between vitamin D level and BMD [r=0.081]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vinny dach</cp:lastModifiedBy>
  <cp:revision>3</cp:revision>
  <dcterms:created xsi:type="dcterms:W3CDTF">2026-01-11T06:24:43Z</dcterms:created>
  <dcterms:modified xsi:type="dcterms:W3CDTF">2026-02-12T18:16:45Z</dcterms:modified>
</cp:coreProperties>
</file>