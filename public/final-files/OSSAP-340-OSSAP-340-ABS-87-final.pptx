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EBE1"/>
    <a:srgbClr val="FDBC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4660"/>
  </p:normalViewPr>
  <p:slideViewPr>
    <p:cSldViewPr snapToGrid="0">
      <p:cViewPr varScale="1">
        <p:scale>
          <a:sx n="12" d="100"/>
          <a:sy n="12" d="100"/>
        </p:scale>
        <p:origin x="2645"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2792342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16489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EBB9BF-81C3-400E-9530-667D9EF39D8B}"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219950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EBB9BF-81C3-400E-9530-667D9EF39D8B}"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11475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EBB9BF-81C3-400E-9530-667D9EF39D8B}" type="datetimeFigureOut">
              <a:rPr lang="en-IN" smtClean="0"/>
              <a:t>28-01-2026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828818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EBB9BF-81C3-400E-9530-667D9EF39D8B}" type="datetimeFigureOut">
              <a:rPr lang="en-IN" smtClean="0"/>
              <a:t>28-01-2026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0020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EBB9BF-81C3-400E-9530-667D9EF39D8B}" type="datetimeFigureOut">
              <a:rPr lang="en-IN" smtClean="0"/>
              <a:t>28-01-2026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508199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0EBB9BF-81C3-400E-9530-667D9EF39D8B}"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4035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0EBB9BF-81C3-400E-9530-667D9EF39D8B}"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17047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1295532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073748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A0EBB9BF-81C3-400E-9530-667D9EF39D8B}" type="datetimeFigureOut">
              <a:rPr lang="en-IN" smtClean="0"/>
              <a:t>28-01-2026</a:t>
            </a:fld>
            <a:endParaRPr lang="en-IN"/>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D0884481-57DA-4ECD-BB2B-B1F153A8CF8C}" type="slidenum">
              <a:rPr lang="en-IN" smtClean="0"/>
              <a:t>‹#›</a:t>
            </a:fld>
            <a:endParaRPr lang="en-IN"/>
          </a:p>
        </p:txBody>
      </p:sp>
    </p:spTree>
    <p:extLst>
      <p:ext uri="{BB962C8B-B14F-4D97-AF65-F5344CB8AC3E}">
        <p14:creationId xmlns:p14="http://schemas.microsoft.com/office/powerpoint/2010/main" val="2132687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jpeg"/><Relationship Id="rId18" Type="http://schemas.openxmlformats.org/officeDocument/2006/relationships/image" Target="../media/image16.jpeg"/><Relationship Id="rId3" Type="http://schemas.openxmlformats.org/officeDocument/2006/relationships/image" Target="../media/image2.png"/><Relationship Id="rId7" Type="http://schemas.openxmlformats.org/officeDocument/2006/relationships/image" Target="../media/image5.jpeg"/><Relationship Id="rId12" Type="http://schemas.openxmlformats.org/officeDocument/2006/relationships/image" Target="../media/image10.jpeg"/><Relationship Id="rId17" Type="http://schemas.openxmlformats.org/officeDocument/2006/relationships/image" Target="../media/image15.jpg"/><Relationship Id="rId2" Type="http://schemas.openxmlformats.org/officeDocument/2006/relationships/image" Target="../media/image1.png"/><Relationship Id="rId16" Type="http://schemas.openxmlformats.org/officeDocument/2006/relationships/image" Target="../media/image14.jp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microsoft.com/office/2007/relationships/hdphoto" Target="../media/hdphoto1.wdp"/><Relationship Id="rId15" Type="http://schemas.openxmlformats.org/officeDocument/2006/relationships/image" Target="../media/image13.jpeg"/><Relationship Id="rId10" Type="http://schemas.openxmlformats.org/officeDocument/2006/relationships/image" Target="../media/image8.jpg"/><Relationship Id="rId4" Type="http://schemas.openxmlformats.org/officeDocument/2006/relationships/image" Target="../media/image3.png"/><Relationship Id="rId9" Type="http://schemas.openxmlformats.org/officeDocument/2006/relationships/image" Target="../media/image7.jpg"/><Relationship Id="rId1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Rectangle 118">
            <a:extLst>
              <a:ext uri="{FF2B5EF4-FFF2-40B4-BE49-F238E27FC236}">
                <a16:creationId xmlns:a16="http://schemas.microsoft.com/office/drawing/2014/main" id="{51CB071F-671B-96AE-9DBF-2237A0666A4D}"/>
              </a:ext>
            </a:extLst>
          </p:cNvPr>
          <p:cNvSpPr/>
          <p:nvPr/>
        </p:nvSpPr>
        <p:spPr>
          <a:xfrm>
            <a:off x="10554349" y="30068828"/>
            <a:ext cx="12137535" cy="64633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Arial" panose="020B0604020202020204" pitchFamily="34" charset="0"/>
                <a:cs typeface="Arial" panose="020B0604020202020204" pitchFamily="34" charset="0"/>
              </a:rPr>
              <a:t>P</a:t>
            </a:r>
            <a:r>
              <a:rPr lang="en-IN" sz="3600" b="1" dirty="0">
                <a:solidFill>
                  <a:schemeClr val="tx1"/>
                </a:solidFill>
                <a:latin typeface="Arial" panose="020B0604020202020204" pitchFamily="34" charset="0"/>
                <a:cs typeface="Arial" panose="020B0604020202020204" pitchFamily="34" charset="0"/>
              </a:rPr>
              <a:t>OPLITEAL ARTERY DECOMPRESSED</a:t>
            </a:r>
          </a:p>
        </p:txBody>
      </p:sp>
      <p:sp>
        <p:nvSpPr>
          <p:cNvPr id="4" name="Google Shape;170;p1">
            <a:extLst>
              <a:ext uri="{FF2B5EF4-FFF2-40B4-BE49-F238E27FC236}">
                <a16:creationId xmlns:a16="http://schemas.microsoft.com/office/drawing/2014/main" id="{7F096925-8E14-2B28-C4B9-50762487E8E9}"/>
              </a:ext>
            </a:extLst>
          </p:cNvPr>
          <p:cNvSpPr/>
          <p:nvPr/>
        </p:nvSpPr>
        <p:spPr>
          <a:xfrm>
            <a:off x="0" y="0"/>
            <a:ext cx="32862652" cy="6861104"/>
          </a:xfrm>
          <a:prstGeom prst="rect">
            <a:avLst/>
          </a:prstGeom>
          <a:solidFill>
            <a:srgbClr val="01234D"/>
          </a:solidFill>
          <a:ln w="19050" cap="flat" cmpd="sng">
            <a:solidFill>
              <a:srgbClr val="525755"/>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endParaRPr sz="1800" dirty="0">
              <a:solidFill>
                <a:schemeClr val="lt1"/>
              </a:solidFill>
              <a:latin typeface="Arial" panose="020B0604020202020204" pitchFamily="34" charset="0"/>
              <a:ea typeface="Arial"/>
              <a:cs typeface="Arial" panose="020B0604020202020204" pitchFamily="34" charset="0"/>
              <a:sym typeface="Arial"/>
            </a:endParaRPr>
          </a:p>
        </p:txBody>
      </p:sp>
      <p:sp>
        <p:nvSpPr>
          <p:cNvPr id="5" name="Google Shape;174;p1">
            <a:extLst>
              <a:ext uri="{FF2B5EF4-FFF2-40B4-BE49-F238E27FC236}">
                <a16:creationId xmlns:a16="http://schemas.microsoft.com/office/drawing/2014/main" id="{1809CFC8-C9DD-7E63-AB9C-AABC41FA1757}"/>
              </a:ext>
            </a:extLst>
          </p:cNvPr>
          <p:cNvSpPr/>
          <p:nvPr/>
        </p:nvSpPr>
        <p:spPr>
          <a:xfrm>
            <a:off x="0" y="556590"/>
            <a:ext cx="5605671" cy="5406887"/>
          </a:xfrm>
          <a:custGeom>
            <a:avLst/>
            <a:gdLst/>
            <a:ahLst/>
            <a:cxnLst/>
            <a:rect l="l" t="t" r="r" b="b"/>
            <a:pathLst>
              <a:path w="2254612" h="1957865" extrusionOk="0">
                <a:moveTo>
                  <a:pt x="0" y="0"/>
                </a:moveTo>
                <a:lnTo>
                  <a:pt x="2254612" y="0"/>
                </a:lnTo>
                <a:lnTo>
                  <a:pt x="2254612" y="1957865"/>
                </a:lnTo>
                <a:lnTo>
                  <a:pt x="0" y="1957865"/>
                </a:lnTo>
                <a:lnTo>
                  <a:pt x="0" y="0"/>
                </a:lnTo>
                <a:close/>
              </a:path>
            </a:pathLst>
          </a:custGeom>
          <a:blipFill rotWithShape="1">
            <a:blip r:embed="rId2">
              <a:alphaModFix/>
            </a:blip>
            <a:stretch>
              <a:fillRect t="-9939" r="-4889" b="-10849"/>
            </a:stretch>
          </a:blipFill>
          <a:ln>
            <a:noFill/>
          </a:ln>
        </p:spPr>
        <p:txBody>
          <a:bodyPr spcFirstLastPara="1" wrap="square" lIns="91425" tIns="45700" rIns="91425" bIns="45700" anchor="t"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dk1"/>
              </a:buClr>
              <a:buSzPts val="1800"/>
              <a:buFont typeface="Arial"/>
              <a:buNone/>
            </a:pPr>
            <a:endParaRPr sz="1800">
              <a:solidFill>
                <a:schemeClr val="dk1"/>
              </a:solidFill>
              <a:latin typeface="Arial" panose="020B0604020202020204" pitchFamily="34" charset="0"/>
              <a:ea typeface="Arial"/>
              <a:cs typeface="Arial" panose="020B0604020202020204" pitchFamily="34" charset="0"/>
              <a:sym typeface="Arial"/>
            </a:endParaRPr>
          </a:p>
        </p:txBody>
      </p:sp>
      <p:pic>
        <p:nvPicPr>
          <p:cNvPr id="6" name="Google Shape;171;p1">
            <a:extLst>
              <a:ext uri="{FF2B5EF4-FFF2-40B4-BE49-F238E27FC236}">
                <a16:creationId xmlns:a16="http://schemas.microsoft.com/office/drawing/2014/main" id="{C1BD0457-DFC6-BE13-FDC9-6C668C2F4F70}"/>
              </a:ext>
            </a:extLst>
          </p:cNvPr>
          <p:cNvPicPr preferRelativeResize="0"/>
          <p:nvPr/>
        </p:nvPicPr>
        <p:blipFill rotWithShape="1">
          <a:blip r:embed="rId3">
            <a:alphaModFix/>
          </a:blip>
          <a:srcRect/>
          <a:stretch/>
        </p:blipFill>
        <p:spPr>
          <a:xfrm>
            <a:off x="25640458" y="561105"/>
            <a:ext cx="3578088" cy="2025555"/>
          </a:xfrm>
          <a:prstGeom prst="rect">
            <a:avLst/>
          </a:prstGeom>
          <a:noFill/>
          <a:ln>
            <a:noFill/>
          </a:ln>
        </p:spPr>
      </p:pic>
      <p:pic>
        <p:nvPicPr>
          <p:cNvPr id="8" name="Picture 7">
            <a:extLst>
              <a:ext uri="{FF2B5EF4-FFF2-40B4-BE49-F238E27FC236}">
                <a16:creationId xmlns:a16="http://schemas.microsoft.com/office/drawing/2014/main" id="{EB066290-1C8E-15CB-51E2-07D1EE9CD2C7}"/>
              </a:ext>
            </a:extLst>
          </p:cNvPr>
          <p:cNvPicPr>
            <a:picLocks noChangeAspect="1"/>
          </p:cNvPicPr>
          <p:nvPr/>
        </p:nvPicPr>
        <p:blipFill>
          <a:blip r:embed="rId4">
            <a:extLst>
              <a:ext uri="{BEBA8EAE-BF5A-486C-A8C5-ECC9F3942E4B}">
                <a14:imgProps xmlns:a14="http://schemas.microsoft.com/office/drawing/2010/main">
                  <a14:imgLayer r:embed="rId5">
                    <a14:imgEffect>
                      <a14:saturation sat="101000"/>
                    </a14:imgEffect>
                  </a14:imgLayer>
                </a14:imgProps>
              </a:ext>
              <a:ext uri="{28A0092B-C50C-407E-A947-70E740481C1C}">
                <a14:useLocalDpi xmlns:a14="http://schemas.microsoft.com/office/drawing/2010/main" val="0"/>
              </a:ext>
            </a:extLst>
          </a:blip>
          <a:stretch>
            <a:fillRect/>
          </a:stretch>
        </p:blipFill>
        <p:spPr>
          <a:xfrm>
            <a:off x="26318930" y="2213789"/>
            <a:ext cx="2362530" cy="2867425"/>
          </a:xfrm>
          <a:prstGeom prst="rect">
            <a:avLst/>
          </a:prstGeom>
        </p:spPr>
      </p:pic>
      <p:pic>
        <p:nvPicPr>
          <p:cNvPr id="9" name="Google Shape;172;p1">
            <a:extLst>
              <a:ext uri="{FF2B5EF4-FFF2-40B4-BE49-F238E27FC236}">
                <a16:creationId xmlns:a16="http://schemas.microsoft.com/office/drawing/2014/main" id="{D477A907-CCDA-F301-1069-1406A2D4810E}"/>
              </a:ext>
            </a:extLst>
          </p:cNvPr>
          <p:cNvPicPr preferRelativeResize="0"/>
          <p:nvPr/>
        </p:nvPicPr>
        <p:blipFill rotWithShape="1">
          <a:blip r:embed="rId6">
            <a:alphaModFix/>
          </a:blip>
          <a:srcRect/>
          <a:stretch/>
        </p:blipFill>
        <p:spPr>
          <a:xfrm>
            <a:off x="28790931" y="505651"/>
            <a:ext cx="3992097" cy="4818880"/>
          </a:xfrm>
          <a:prstGeom prst="rect">
            <a:avLst/>
          </a:prstGeom>
          <a:noFill/>
          <a:ln>
            <a:noFill/>
          </a:ln>
        </p:spPr>
      </p:pic>
      <p:sp>
        <p:nvSpPr>
          <p:cNvPr id="10" name="Google Shape;185;p1">
            <a:extLst>
              <a:ext uri="{FF2B5EF4-FFF2-40B4-BE49-F238E27FC236}">
                <a16:creationId xmlns:a16="http://schemas.microsoft.com/office/drawing/2014/main" id="{5389D1AE-3E63-EBCF-E9A3-77B4BCB6DA87}"/>
              </a:ext>
            </a:extLst>
          </p:cNvPr>
          <p:cNvSpPr txBox="1"/>
          <p:nvPr/>
        </p:nvSpPr>
        <p:spPr>
          <a:xfrm>
            <a:off x="5373703" y="505650"/>
            <a:ext cx="20381950" cy="3416279"/>
          </a:xfrm>
          <a:prstGeom prst="rect">
            <a:avLst/>
          </a:prstGeom>
          <a:noFill/>
          <a:ln>
            <a:noFill/>
          </a:ln>
        </p:spPr>
        <p:txBody>
          <a:bodyPr spcFirstLastPara="1" wrap="square" lIns="91425" tIns="45700" rIns="91425" bIns="45700" anchor="t" anchorCtr="0">
            <a:sp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lt1"/>
              </a:buClr>
              <a:buSzPts val="1800"/>
              <a:buFont typeface="Arial"/>
              <a:buNone/>
            </a:pPr>
            <a:r>
              <a:rPr lang="en-US" sz="7200" b="1" dirty="0">
                <a:solidFill>
                  <a:schemeClr val="lt1"/>
                </a:solidFill>
                <a:latin typeface="Arial" panose="020B0604020202020204" pitchFamily="34" charset="0"/>
                <a:ea typeface="Arial"/>
                <a:cs typeface="Arial" panose="020B0604020202020204" pitchFamily="34" charset="0"/>
                <a:sym typeface="Arial"/>
              </a:rPr>
              <a:t>MANAGEMENT OF A RARE CASE OF A LARGE OSTEOCHONDROMA AT PROXIMAL FIBULA IN A 12 YEAR OLD CHILD  </a:t>
            </a:r>
            <a:endParaRPr sz="7200" b="1" dirty="0">
              <a:solidFill>
                <a:schemeClr val="lt1"/>
              </a:solidFill>
              <a:latin typeface="Arial" panose="020B0604020202020204" pitchFamily="34" charset="0"/>
              <a:ea typeface="Arial"/>
              <a:cs typeface="Arial" panose="020B0604020202020204" pitchFamily="34" charset="0"/>
              <a:sym typeface="Arial"/>
            </a:endParaRPr>
          </a:p>
        </p:txBody>
      </p:sp>
      <p:sp>
        <p:nvSpPr>
          <p:cNvPr id="11" name="Google Shape;186;p1">
            <a:extLst>
              <a:ext uri="{FF2B5EF4-FFF2-40B4-BE49-F238E27FC236}">
                <a16:creationId xmlns:a16="http://schemas.microsoft.com/office/drawing/2014/main" id="{384706A3-0554-C8B7-4134-98926425868B}"/>
              </a:ext>
            </a:extLst>
          </p:cNvPr>
          <p:cNvSpPr txBox="1"/>
          <p:nvPr/>
        </p:nvSpPr>
        <p:spPr>
          <a:xfrm>
            <a:off x="5483690" y="4247353"/>
            <a:ext cx="21951020" cy="1077178"/>
          </a:xfrm>
          <a:prstGeom prst="rect">
            <a:avLst/>
          </a:prstGeom>
          <a:noFill/>
          <a:ln>
            <a:noFill/>
          </a:ln>
        </p:spPr>
        <p:txBody>
          <a:bodyPr spcFirstLastPara="1" wrap="square" lIns="91425" tIns="45700" rIns="91425" bIns="45700" anchor="t" anchorCtr="0">
            <a:sp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lt1"/>
              </a:buClr>
              <a:buSzPts val="1600"/>
              <a:buFont typeface="Arial"/>
              <a:buNone/>
            </a:pPr>
            <a:r>
              <a:rPr lang="en-US" sz="6400" b="1" dirty="0">
                <a:solidFill>
                  <a:schemeClr val="lt1"/>
                </a:solidFill>
                <a:latin typeface="Arial" panose="020B0604020202020204" pitchFamily="34" charset="0"/>
                <a:ea typeface="Arial"/>
                <a:cs typeface="Arial" panose="020B0604020202020204" pitchFamily="34" charset="0"/>
                <a:sym typeface="Arial"/>
              </a:rPr>
              <a:t>AUTHOR : Dr. P.V.SUKUMAR</a:t>
            </a:r>
            <a:endParaRPr lang="en-IN" sz="6400" dirty="0">
              <a:solidFill>
                <a:schemeClr val="dk1"/>
              </a:solidFill>
              <a:latin typeface="Arial" panose="020B0604020202020204" pitchFamily="34" charset="0"/>
              <a:ea typeface="Arial"/>
              <a:cs typeface="Arial" panose="020B0604020202020204" pitchFamily="34" charset="0"/>
              <a:sym typeface="Arial"/>
            </a:endParaRPr>
          </a:p>
        </p:txBody>
      </p:sp>
      <p:sp>
        <p:nvSpPr>
          <p:cNvPr id="13" name="TextBox 12">
            <a:extLst>
              <a:ext uri="{FF2B5EF4-FFF2-40B4-BE49-F238E27FC236}">
                <a16:creationId xmlns:a16="http://schemas.microsoft.com/office/drawing/2014/main" id="{DE64B2F5-3B8C-3D5C-A435-07DC77E50EFA}"/>
              </a:ext>
            </a:extLst>
          </p:cNvPr>
          <p:cNvSpPr txBox="1"/>
          <p:nvPr/>
        </p:nvSpPr>
        <p:spPr>
          <a:xfrm>
            <a:off x="5363914" y="5333050"/>
            <a:ext cx="21095678" cy="923330"/>
          </a:xfrm>
          <a:prstGeom prst="rect">
            <a:avLst/>
          </a:prstGeom>
          <a:noFill/>
        </p:spPr>
        <p:txBody>
          <a:bodyPr wrap="square" rtlCol="0">
            <a:spAutoFit/>
          </a:bodyPr>
          <a:lstStyle/>
          <a:p>
            <a:pPr lvl="0">
              <a:buClr>
                <a:schemeClr val="lt1"/>
              </a:buClr>
              <a:buSzPts val="1600"/>
            </a:pPr>
            <a:r>
              <a:rPr lang="en-US" sz="5400" b="1" dirty="0">
                <a:solidFill>
                  <a:schemeClr val="lt1"/>
                </a:solidFill>
                <a:latin typeface="Arial" panose="020B0604020202020204" pitchFamily="34" charset="0"/>
                <a:ea typeface="Arial"/>
                <a:cs typeface="Arial" panose="020B0604020202020204" pitchFamily="34" charset="0"/>
                <a:sym typeface="Arial"/>
              </a:rPr>
              <a:t>CO-AUTHORS: Dr. V. NAGESWARA RAO</a:t>
            </a:r>
          </a:p>
        </p:txBody>
      </p:sp>
      <p:sp>
        <p:nvSpPr>
          <p:cNvPr id="14" name="Google Shape;180;p1">
            <a:extLst>
              <a:ext uri="{FF2B5EF4-FFF2-40B4-BE49-F238E27FC236}">
                <a16:creationId xmlns:a16="http://schemas.microsoft.com/office/drawing/2014/main" id="{41643913-CD36-48D0-8DCF-31DB39C9A9E0}"/>
              </a:ext>
            </a:extLst>
          </p:cNvPr>
          <p:cNvSpPr/>
          <p:nvPr/>
        </p:nvSpPr>
        <p:spPr>
          <a:xfrm>
            <a:off x="-2" y="6912044"/>
            <a:ext cx="10706101"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INTRODUCTION</a:t>
            </a:r>
            <a:r>
              <a:rPr lang="en-US" sz="2800" b="1" dirty="0">
                <a:solidFill>
                  <a:schemeClr val="dk1"/>
                </a:solidFill>
                <a:latin typeface="Arial" panose="020B0604020202020204" pitchFamily="34" charset="0"/>
                <a:ea typeface="Arial"/>
                <a:cs typeface="Arial" panose="020B0604020202020204" pitchFamily="34" charset="0"/>
                <a:sym typeface="Arial"/>
              </a:rPr>
              <a:t> </a:t>
            </a:r>
            <a:endParaRPr sz="2800" dirty="0">
              <a:solidFill>
                <a:schemeClr val="dk1"/>
              </a:solidFill>
              <a:latin typeface="Arial" panose="020B0604020202020204" pitchFamily="34" charset="0"/>
              <a:ea typeface="Arial"/>
              <a:cs typeface="Arial" panose="020B0604020202020204" pitchFamily="34" charset="0"/>
              <a:sym typeface="Arial"/>
            </a:endParaRPr>
          </a:p>
        </p:txBody>
      </p:sp>
      <p:sp>
        <p:nvSpPr>
          <p:cNvPr id="15" name="TextBox 14">
            <a:extLst>
              <a:ext uri="{FF2B5EF4-FFF2-40B4-BE49-F238E27FC236}">
                <a16:creationId xmlns:a16="http://schemas.microsoft.com/office/drawing/2014/main" id="{A89DE6CB-F971-ACB8-2124-D1D2F1834505}"/>
              </a:ext>
            </a:extLst>
          </p:cNvPr>
          <p:cNvSpPr txBox="1"/>
          <p:nvPr/>
        </p:nvSpPr>
        <p:spPr>
          <a:xfrm>
            <a:off x="-2" y="8066114"/>
            <a:ext cx="10706102" cy="10318209"/>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3600" dirty="0">
                <a:latin typeface="Arial" panose="020B0604020202020204" pitchFamily="34" charset="0"/>
                <a:cs typeface="Arial" panose="020B0604020202020204" pitchFamily="34" charset="0"/>
              </a:rPr>
              <a:t>Osteochondroma is the most common benign bone tumor, constituting nearly half of all benign bone lesions. It is characterized by a cartilage-capped bony outgrowth arising from the metaphyseal regions of the long bones .</a:t>
            </a:r>
          </a:p>
          <a:p>
            <a:pPr lvl="0" defTabSz="914400" eaLnBrk="0" fontAlgn="base" hangingPunct="0">
              <a:spcBef>
                <a:spcPct val="0"/>
              </a:spcBef>
              <a:spcAft>
                <a:spcPct val="0"/>
              </a:spcAft>
              <a:buFontTx/>
              <a:buChar char="•"/>
            </a:pPr>
            <a:r>
              <a:rPr lang="en-US" altLang="en-US" sz="3600" dirty="0">
                <a:latin typeface="Arial" panose="020B0604020202020204" pitchFamily="34" charset="0"/>
                <a:cs typeface="Arial" panose="020B0604020202020204" pitchFamily="34" charset="0"/>
              </a:rPr>
              <a:t>They are commonly solitary, multiple lesions may occur as part of hereditary multiple exostoses. Most of them remine asymptomatic; however, lesions around the knee especially can become clinically significant due to pain, deformity, restriction of joint movement, or compression of adjacent neurovascular structures. Large osteochondromas of the proximal fibula in children are uncommon and pose unique surgical challenges because of the close proximity to the common peroneal </a:t>
            </a:r>
            <a:r>
              <a:rPr lang="en-US" altLang="en-US" sz="4150" dirty="0">
                <a:latin typeface="Arial" panose="020B0604020202020204" pitchFamily="34" charset="0"/>
                <a:cs typeface="Arial" panose="020B0604020202020204" pitchFamily="34" charset="0"/>
              </a:rPr>
              <a:t>nerve.</a:t>
            </a:r>
          </a:p>
          <a:p>
            <a:pPr lvl="0" defTabSz="914400" eaLnBrk="0" fontAlgn="base" hangingPunct="0">
              <a:spcBef>
                <a:spcPct val="0"/>
              </a:spcBef>
              <a:spcAft>
                <a:spcPct val="0"/>
              </a:spcAft>
              <a:buFontTx/>
              <a:buChar char="•"/>
            </a:pPr>
            <a:r>
              <a:rPr lang="en-US" altLang="en-US" sz="3600" dirty="0">
                <a:latin typeface="Arial" panose="020B0604020202020204" pitchFamily="34" charset="0"/>
                <a:cs typeface="Arial" panose="020B0604020202020204" pitchFamily="34" charset="0"/>
              </a:rPr>
              <a:t>Surgical excision is indicated in symptomatic cases or when complications are suspected</a:t>
            </a:r>
            <a:r>
              <a:rPr lang="en-US" altLang="en-US" sz="4150" dirty="0">
                <a:latin typeface="Arial" panose="020B0604020202020204" pitchFamily="34" charset="0"/>
                <a:cs typeface="Arial" panose="020B0604020202020204" pitchFamily="34" charset="0"/>
              </a:rPr>
              <a:t>.</a:t>
            </a:r>
          </a:p>
          <a:p>
            <a:pPr lvl="0" defTabSz="914400" eaLnBrk="0" fontAlgn="base" hangingPunct="0">
              <a:spcBef>
                <a:spcPct val="0"/>
              </a:spcBef>
              <a:spcAft>
                <a:spcPct val="0"/>
              </a:spcAft>
              <a:buFontTx/>
              <a:buChar char="•"/>
            </a:pPr>
            <a:endParaRPr lang="en-US" altLang="en-US" sz="4150" dirty="0">
              <a:latin typeface="Arial" panose="020B0604020202020204" pitchFamily="34" charset="0"/>
              <a:cs typeface="Arial" panose="020B0604020202020204" pitchFamily="34" charset="0"/>
            </a:endParaRPr>
          </a:p>
        </p:txBody>
      </p:sp>
      <p:sp>
        <p:nvSpPr>
          <p:cNvPr id="16" name="Google Shape;180;p1">
            <a:extLst>
              <a:ext uri="{FF2B5EF4-FFF2-40B4-BE49-F238E27FC236}">
                <a16:creationId xmlns:a16="http://schemas.microsoft.com/office/drawing/2014/main" id="{220F6E65-60B9-DF6F-A646-D76A8B5C53CF}"/>
              </a:ext>
            </a:extLst>
          </p:cNvPr>
          <p:cNvSpPr/>
          <p:nvPr/>
        </p:nvSpPr>
        <p:spPr>
          <a:xfrm>
            <a:off x="10706099" y="6912044"/>
            <a:ext cx="12077700"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OPERATIVE FINDINGS</a:t>
            </a:r>
            <a:endParaRPr sz="2800" dirty="0">
              <a:solidFill>
                <a:schemeClr val="dk1"/>
              </a:solidFill>
              <a:latin typeface="Arial" panose="020B0604020202020204" pitchFamily="34" charset="0"/>
              <a:ea typeface="Arial"/>
              <a:cs typeface="Arial" panose="020B0604020202020204" pitchFamily="34" charset="0"/>
              <a:sym typeface="Arial"/>
            </a:endParaRPr>
          </a:p>
        </p:txBody>
      </p:sp>
      <p:sp>
        <p:nvSpPr>
          <p:cNvPr id="17" name="TextBox 16">
            <a:extLst>
              <a:ext uri="{FF2B5EF4-FFF2-40B4-BE49-F238E27FC236}">
                <a16:creationId xmlns:a16="http://schemas.microsoft.com/office/drawing/2014/main" id="{0DD3A80D-D47F-D6F8-995C-63F1044C564B}"/>
              </a:ext>
            </a:extLst>
          </p:cNvPr>
          <p:cNvSpPr txBox="1"/>
          <p:nvPr/>
        </p:nvSpPr>
        <p:spPr>
          <a:xfrm>
            <a:off x="10714440" y="7944382"/>
            <a:ext cx="12077699" cy="12157174"/>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pPr>
            <a:r>
              <a:rPr lang="en-US" altLang="en-US" sz="4000" b="1" dirty="0">
                <a:latin typeface="Arial" panose="020B0604020202020204" pitchFamily="34" charset="0"/>
                <a:cs typeface="Arial" panose="020B0604020202020204" pitchFamily="34" charset="0"/>
              </a:rPr>
              <a:t>METHOD:</a:t>
            </a:r>
          </a:p>
          <a:p>
            <a:r>
              <a:rPr lang="en-US" sz="3200" dirty="0">
                <a:latin typeface="Arial" panose="020B0604020202020204" pitchFamily="34" charset="0"/>
                <a:cs typeface="Arial" panose="020B0604020202020204" pitchFamily="34" charset="0"/>
              </a:rPr>
              <a:t>Under General anesthesia, the patient was positioned prone, and a pneumatic tourniquet was applied. The limb was scrubbed with Betadine, painted, and draped in a sterile manner.</a:t>
            </a:r>
          </a:p>
          <a:p>
            <a:r>
              <a:rPr lang="en-IN" sz="3200" b="1" dirty="0">
                <a:latin typeface="Arial" panose="020B0604020202020204" pitchFamily="34" charset="0"/>
                <a:cs typeface="Arial" panose="020B0604020202020204" pitchFamily="34" charset="0"/>
              </a:rPr>
              <a:t>Incision and Exposure : </a:t>
            </a:r>
            <a:r>
              <a:rPr lang="en-US" sz="3200" dirty="0">
                <a:latin typeface="Arial" panose="020B0604020202020204" pitchFamily="34" charset="0"/>
                <a:cs typeface="Arial" panose="020B0604020202020204" pitchFamily="34" charset="0"/>
              </a:rPr>
              <a:t>A 10–12 cm posterolateral incision was made over the swelling, using the fibular head and posterior knee crease as landmarks. Skin and subcutaneous tissue were dissected. The biceps femoris was identified and retracted, exposing the common peroneal nerve, which was meticulously dissected and protected throughout. The interval between peroneus longus and gastrocnemius was developed, exposing a large pedunculated bony outgrowth with a cartilaginous cap.</a:t>
            </a:r>
          </a:p>
          <a:p>
            <a:r>
              <a:rPr lang="en-IN" sz="3200" b="1" dirty="0">
                <a:latin typeface="Arial" panose="020B0604020202020204" pitchFamily="34" charset="0"/>
                <a:cs typeface="Arial" panose="020B0604020202020204" pitchFamily="34" charset="0"/>
              </a:rPr>
              <a:t>Excision:</a:t>
            </a:r>
            <a:r>
              <a:rPr lang="en-US" sz="3200" dirty="0">
                <a:latin typeface="Arial" panose="020B0604020202020204" pitchFamily="34" charset="0"/>
                <a:cs typeface="Arial" panose="020B0604020202020204" pitchFamily="34" charset="0"/>
              </a:rPr>
              <a:t>The osteochondroma was excised extraperiosteally using a mallet and osteotome.</a:t>
            </a:r>
          </a:p>
          <a:p>
            <a:r>
              <a:rPr lang="en-US" sz="3200" dirty="0">
                <a:latin typeface="Arial" panose="020B0604020202020204" pitchFamily="34" charset="0"/>
                <a:cs typeface="Arial" panose="020B0604020202020204" pitchFamily="34" charset="0"/>
              </a:rPr>
              <a:t>• Specimen size: ~7 × 6 × 3 cm</a:t>
            </a:r>
          </a:p>
          <a:p>
            <a:r>
              <a:rPr lang="en-IN" sz="3200" dirty="0">
                <a:latin typeface="Arial" panose="020B0604020202020204" pitchFamily="34" charset="0"/>
                <a:cs typeface="Arial" panose="020B0604020202020204" pitchFamily="34" charset="0"/>
              </a:rPr>
              <a:t>• Sent for histopathological examination</a:t>
            </a:r>
          </a:p>
          <a:p>
            <a:r>
              <a:rPr lang="en-US" sz="3200" dirty="0">
                <a:latin typeface="Arial" panose="020B0604020202020204" pitchFamily="34" charset="0"/>
                <a:cs typeface="Arial" panose="020B0604020202020204" pitchFamily="34" charset="0"/>
              </a:rPr>
              <a:t>Intraoperatively, a tibiofibular synostosis was also noted posteromedially. Beneath the gastrocnemius, the popliteal artery was found compressed but intact and was f</a:t>
            </a:r>
            <a:r>
              <a:rPr lang="en-IN" sz="3200" dirty="0">
                <a:latin typeface="Arial" panose="020B0604020202020204" pitchFamily="34" charset="0"/>
                <a:cs typeface="Arial" panose="020B0604020202020204" pitchFamily="34" charset="0"/>
              </a:rPr>
              <a:t>reed carefully.</a:t>
            </a:r>
          </a:p>
          <a:p>
            <a:r>
              <a:rPr lang="en-IN" sz="3200" b="1" dirty="0">
                <a:latin typeface="Arial" panose="020B0604020202020204" pitchFamily="34" charset="0"/>
                <a:cs typeface="Arial" panose="020B0604020202020204" pitchFamily="34" charset="0"/>
              </a:rPr>
              <a:t>Wound Care and Closure:</a:t>
            </a:r>
            <a:r>
              <a:rPr lang="en-US" sz="3200" dirty="0">
                <a:latin typeface="Arial" panose="020B0604020202020204" pitchFamily="34" charset="0"/>
                <a:cs typeface="Arial" panose="020B0604020202020204" pitchFamily="34" charset="0"/>
              </a:rPr>
              <a:t>The wound was irrigated thoroughly using:• Hydrogen peroxide</a:t>
            </a:r>
            <a:r>
              <a:rPr lang="en-IN" sz="3200" dirty="0">
                <a:latin typeface="Arial" panose="020B0604020202020204" pitchFamily="34" charset="0"/>
                <a:cs typeface="Arial" panose="020B0604020202020204" pitchFamily="34" charset="0"/>
              </a:rPr>
              <a:t>• Betadine• Normal saline</a:t>
            </a:r>
          </a:p>
          <a:p>
            <a:r>
              <a:rPr lang="en-US" sz="3200" dirty="0">
                <a:latin typeface="Arial" panose="020B0604020202020204" pitchFamily="34" charset="0"/>
                <a:cs typeface="Arial" panose="020B0604020202020204" pitchFamily="34" charset="0"/>
              </a:rPr>
              <a:t>A 12 mm Romovac drain was placed. </a:t>
            </a:r>
            <a:r>
              <a:rPr lang="en-US" sz="3200" b="1" dirty="0">
                <a:latin typeface="Arial" panose="020B0604020202020204" pitchFamily="34" charset="0"/>
                <a:cs typeface="Arial" panose="020B0604020202020204" pitchFamily="34" charset="0"/>
              </a:rPr>
              <a:t>C</a:t>
            </a:r>
            <a:r>
              <a:rPr lang="en-US" sz="3200" dirty="0">
                <a:latin typeface="Arial" panose="020B0604020202020204" pitchFamily="34" charset="0"/>
                <a:cs typeface="Arial" panose="020B0604020202020204" pitchFamily="34" charset="0"/>
              </a:rPr>
              <a:t>-</a:t>
            </a:r>
            <a:r>
              <a:rPr lang="en-US" sz="3600" dirty="0">
                <a:latin typeface="Arial" panose="020B0604020202020204" pitchFamily="34" charset="0"/>
                <a:cs typeface="Arial" panose="020B0604020202020204" pitchFamily="34" charset="0"/>
              </a:rPr>
              <a:t>arm imaging confirmed complete excision. </a:t>
            </a:r>
            <a:r>
              <a:rPr lang="en-US" sz="3200" dirty="0">
                <a:latin typeface="Arial" panose="020B0604020202020204" pitchFamily="34" charset="0"/>
                <a:cs typeface="Arial" panose="020B0604020202020204" pitchFamily="34" charset="0"/>
              </a:rPr>
              <a:t>The wound was closed in layers, a sterile dressing applied, and an above-knee slab applied.</a:t>
            </a:r>
          </a:p>
        </p:txBody>
      </p:sp>
      <p:pic>
        <p:nvPicPr>
          <p:cNvPr id="20" name="Google Shape;198;p1">
            <a:extLst>
              <a:ext uri="{FF2B5EF4-FFF2-40B4-BE49-F238E27FC236}">
                <a16:creationId xmlns:a16="http://schemas.microsoft.com/office/drawing/2014/main" id="{D6F70E69-522B-1E5B-4712-134621B04B3A}"/>
              </a:ext>
            </a:extLst>
          </p:cNvPr>
          <p:cNvPicPr preferRelativeResize="0"/>
          <p:nvPr/>
        </p:nvPicPr>
        <p:blipFill>
          <a:blip r:embed="rId7">
            <a:alphaModFix/>
            <a:extLst>
              <a:ext uri="{28A0092B-C50C-407E-A947-70E740481C1C}">
                <a14:useLocalDpi xmlns:a14="http://schemas.microsoft.com/office/drawing/2010/main" val="0"/>
              </a:ext>
            </a:extLst>
          </a:blip>
          <a:srcRect t="6280" b="17050"/>
          <a:stretch>
            <a:fillRect/>
          </a:stretch>
        </p:blipFill>
        <p:spPr>
          <a:xfrm>
            <a:off x="10714439" y="30637376"/>
            <a:ext cx="7864835" cy="6209745"/>
          </a:xfrm>
          <a:prstGeom prst="rect">
            <a:avLst/>
          </a:prstGeom>
          <a:noFill/>
          <a:ln>
            <a:noFill/>
          </a:ln>
        </p:spPr>
      </p:pic>
      <p:sp>
        <p:nvSpPr>
          <p:cNvPr id="21" name="Google Shape;180;p1">
            <a:extLst>
              <a:ext uri="{FF2B5EF4-FFF2-40B4-BE49-F238E27FC236}">
                <a16:creationId xmlns:a16="http://schemas.microsoft.com/office/drawing/2014/main" id="{63515AA6-0C46-8EA1-62A3-03D86E5BA634}"/>
              </a:ext>
            </a:extLst>
          </p:cNvPr>
          <p:cNvSpPr/>
          <p:nvPr/>
        </p:nvSpPr>
        <p:spPr>
          <a:xfrm>
            <a:off x="0" y="18366014"/>
            <a:ext cx="10652572"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CASE REPORT</a:t>
            </a:r>
            <a:endParaRPr sz="2800" dirty="0">
              <a:solidFill>
                <a:schemeClr val="dk1"/>
              </a:solidFill>
              <a:latin typeface="Arial" panose="020B0604020202020204" pitchFamily="34" charset="0"/>
              <a:ea typeface="Arial"/>
              <a:cs typeface="Arial" panose="020B0604020202020204" pitchFamily="34" charset="0"/>
              <a:sym typeface="Arial"/>
            </a:endParaRPr>
          </a:p>
        </p:txBody>
      </p:sp>
      <p:sp>
        <p:nvSpPr>
          <p:cNvPr id="22" name="TextBox 21">
            <a:extLst>
              <a:ext uri="{FF2B5EF4-FFF2-40B4-BE49-F238E27FC236}">
                <a16:creationId xmlns:a16="http://schemas.microsoft.com/office/drawing/2014/main" id="{D6A93688-5DCA-B66C-5D14-93087E6B1C4F}"/>
              </a:ext>
            </a:extLst>
          </p:cNvPr>
          <p:cNvSpPr txBox="1"/>
          <p:nvPr/>
        </p:nvSpPr>
        <p:spPr>
          <a:xfrm>
            <a:off x="0" y="19469144"/>
            <a:ext cx="10634661" cy="6247864"/>
          </a:xfrm>
          <a:prstGeom prst="rect">
            <a:avLst/>
          </a:prstGeom>
          <a:noFill/>
          <a:ln>
            <a:solidFill>
              <a:schemeClr val="tx1"/>
            </a:solidFill>
          </a:ln>
        </p:spPr>
        <p:txBody>
          <a:bodyPr wrap="square" rtlCol="0">
            <a:spAutoFit/>
          </a:bodyPr>
          <a:lstStyle/>
          <a:p>
            <a:r>
              <a:rPr lang="en-US" sz="4000" b="1" dirty="0">
                <a:latin typeface="Arial" panose="020B0604020202020204" pitchFamily="34" charset="0"/>
                <a:cs typeface="Arial" panose="020B0604020202020204" pitchFamily="34" charset="0"/>
              </a:rPr>
              <a:t>Case Presentation</a:t>
            </a:r>
          </a:p>
          <a:p>
            <a:r>
              <a:rPr lang="en-US" sz="4000" dirty="0">
                <a:latin typeface="Arial" panose="020B0604020202020204" pitchFamily="34" charset="0"/>
                <a:cs typeface="Arial" panose="020B0604020202020204" pitchFamily="34" charset="0"/>
              </a:rPr>
              <a:t>A 12-year-old boy presented with a chief complaint of progressive swelling over posterior aspect of left knee over one year duration with no history of trauma.                       </a:t>
            </a:r>
          </a:p>
          <a:p>
            <a:r>
              <a:rPr lang="en-US" sz="4000" b="1" dirty="0">
                <a:latin typeface="Arial" panose="020B0604020202020204" pitchFamily="34" charset="0"/>
                <a:cs typeface="Arial" panose="020B0604020202020204" pitchFamily="34" charset="0"/>
              </a:rPr>
              <a:t>Clinical Examination</a:t>
            </a:r>
          </a:p>
          <a:p>
            <a:r>
              <a:rPr lang="en-US" sz="4000" dirty="0">
                <a:latin typeface="Arial" panose="020B0604020202020204" pitchFamily="34" charset="0"/>
                <a:cs typeface="Arial" panose="020B0604020202020204" pitchFamily="34" charset="0"/>
              </a:rPr>
              <a:t>A 6 x 5 cms bony hard swelling noted over posterior aspect of left proximal fibula which was hard immobile and non tender with no neurovascular deficits. </a:t>
            </a:r>
          </a:p>
        </p:txBody>
      </p:sp>
      <p:pic>
        <p:nvPicPr>
          <p:cNvPr id="23" name="Google Shape;187;p1">
            <a:extLst>
              <a:ext uri="{FF2B5EF4-FFF2-40B4-BE49-F238E27FC236}">
                <a16:creationId xmlns:a16="http://schemas.microsoft.com/office/drawing/2014/main" id="{FA62FE02-EF90-25DE-C72C-4A9B1AFF002C}"/>
              </a:ext>
            </a:extLst>
          </p:cNvPr>
          <p:cNvPicPr preferRelativeResize="0"/>
          <p:nvPr/>
        </p:nvPicPr>
        <p:blipFill>
          <a:blip r:embed="rId8">
            <a:alphaModFix/>
            <a:extLst>
              <a:ext uri="{28A0092B-C50C-407E-A947-70E740481C1C}">
                <a14:useLocalDpi xmlns:a14="http://schemas.microsoft.com/office/drawing/2010/main" val="0"/>
              </a:ext>
            </a:extLst>
          </a:blip>
          <a:srcRect l="49191" r="1334" b="12394"/>
          <a:stretch>
            <a:fillRect/>
          </a:stretch>
        </p:blipFill>
        <p:spPr>
          <a:xfrm>
            <a:off x="0" y="27006885"/>
            <a:ext cx="5572689" cy="8554327"/>
          </a:xfrm>
          <a:prstGeom prst="rect">
            <a:avLst/>
          </a:prstGeom>
          <a:noFill/>
          <a:ln>
            <a:noFill/>
          </a:ln>
        </p:spPr>
      </p:pic>
      <p:pic>
        <p:nvPicPr>
          <p:cNvPr id="25" name="Google Shape;190;p1">
            <a:extLst>
              <a:ext uri="{FF2B5EF4-FFF2-40B4-BE49-F238E27FC236}">
                <a16:creationId xmlns:a16="http://schemas.microsoft.com/office/drawing/2014/main" id="{846ECE9B-E109-BF31-DEB8-7CD4F0043EBB}"/>
              </a:ext>
            </a:extLst>
          </p:cNvPr>
          <p:cNvPicPr preferRelativeResize="0"/>
          <p:nvPr/>
        </p:nvPicPr>
        <p:blipFill>
          <a:blip r:embed="rId9">
            <a:alphaModFix/>
            <a:extLst>
              <a:ext uri="{28A0092B-C50C-407E-A947-70E740481C1C}">
                <a14:useLocalDpi xmlns:a14="http://schemas.microsoft.com/office/drawing/2010/main" val="0"/>
              </a:ext>
            </a:extLst>
          </a:blip>
          <a:srcRect l="18403" t="59953" r="17786" b="12497"/>
          <a:stretch>
            <a:fillRect/>
          </a:stretch>
        </p:blipFill>
        <p:spPr>
          <a:xfrm>
            <a:off x="-170257" y="35561212"/>
            <a:ext cx="5605671" cy="4561903"/>
          </a:xfrm>
          <a:prstGeom prst="rect">
            <a:avLst/>
          </a:prstGeom>
          <a:noFill/>
          <a:ln>
            <a:noFill/>
          </a:ln>
        </p:spPr>
      </p:pic>
      <p:sp>
        <p:nvSpPr>
          <p:cNvPr id="30" name="Google Shape;180;p1">
            <a:extLst>
              <a:ext uri="{FF2B5EF4-FFF2-40B4-BE49-F238E27FC236}">
                <a16:creationId xmlns:a16="http://schemas.microsoft.com/office/drawing/2014/main" id="{FA064588-F9D0-A7CD-CB56-51D159F9D8C0}"/>
              </a:ext>
            </a:extLst>
          </p:cNvPr>
          <p:cNvSpPr/>
          <p:nvPr/>
        </p:nvSpPr>
        <p:spPr>
          <a:xfrm>
            <a:off x="10652211" y="36735397"/>
            <a:ext cx="12161323" cy="812999"/>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Arial" panose="020B0604020202020204" pitchFamily="34" charset="0"/>
                <a:ea typeface="Arial"/>
                <a:cs typeface="Arial" panose="020B0604020202020204" pitchFamily="34" charset="0"/>
                <a:sym typeface="Arial"/>
              </a:rPr>
              <a:t>POST-OP IMAGING</a:t>
            </a:r>
            <a:endParaRPr sz="4400" dirty="0">
              <a:solidFill>
                <a:schemeClr val="dk1"/>
              </a:solidFill>
              <a:latin typeface="Arial" panose="020B0604020202020204" pitchFamily="34" charset="0"/>
              <a:ea typeface="Arial"/>
              <a:cs typeface="Arial" panose="020B0604020202020204" pitchFamily="34" charset="0"/>
              <a:sym typeface="Arial"/>
            </a:endParaRPr>
          </a:p>
        </p:txBody>
      </p:sp>
      <p:pic>
        <p:nvPicPr>
          <p:cNvPr id="45" name="Picture 44">
            <a:extLst>
              <a:ext uri="{FF2B5EF4-FFF2-40B4-BE49-F238E27FC236}">
                <a16:creationId xmlns:a16="http://schemas.microsoft.com/office/drawing/2014/main" id="{7A7B6BD2-4A74-96D5-987B-744BADEE56DC}"/>
              </a:ext>
            </a:extLst>
          </p:cNvPr>
          <p:cNvPicPr>
            <a:picLocks noChangeAspect="1"/>
          </p:cNvPicPr>
          <p:nvPr/>
        </p:nvPicPr>
        <p:blipFill>
          <a:blip r:embed="rId10">
            <a:extLst>
              <a:ext uri="{28A0092B-C50C-407E-A947-70E740481C1C}">
                <a14:useLocalDpi xmlns:a14="http://schemas.microsoft.com/office/drawing/2010/main" val="0"/>
              </a:ext>
            </a:extLst>
          </a:blip>
          <a:srcRect l="22114" b="18665"/>
          <a:stretch>
            <a:fillRect/>
          </a:stretch>
        </p:blipFill>
        <p:spPr>
          <a:xfrm rot="16200000">
            <a:off x="11539338" y="19990299"/>
            <a:ext cx="4323450" cy="6063618"/>
          </a:xfrm>
          <a:prstGeom prst="rect">
            <a:avLst/>
          </a:prstGeom>
        </p:spPr>
      </p:pic>
      <p:sp>
        <p:nvSpPr>
          <p:cNvPr id="52" name="Google Shape;180;p1">
            <a:extLst>
              <a:ext uri="{FF2B5EF4-FFF2-40B4-BE49-F238E27FC236}">
                <a16:creationId xmlns:a16="http://schemas.microsoft.com/office/drawing/2014/main" id="{BB057721-8D09-D904-BCCD-1CBB785E2718}"/>
              </a:ext>
            </a:extLst>
          </p:cNvPr>
          <p:cNvSpPr/>
          <p:nvPr/>
        </p:nvSpPr>
        <p:spPr>
          <a:xfrm>
            <a:off x="22783799" y="6912044"/>
            <a:ext cx="1007885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DISCUSSION</a:t>
            </a:r>
            <a:endParaRPr sz="2800" dirty="0">
              <a:solidFill>
                <a:schemeClr val="dk1"/>
              </a:solidFill>
              <a:latin typeface="Arial" panose="020B0604020202020204" pitchFamily="34" charset="0"/>
              <a:ea typeface="Arial"/>
              <a:cs typeface="Arial" panose="020B0604020202020204" pitchFamily="34" charset="0"/>
              <a:sym typeface="Arial"/>
            </a:endParaRPr>
          </a:p>
        </p:txBody>
      </p:sp>
      <p:sp>
        <p:nvSpPr>
          <p:cNvPr id="55" name="TextBox 54">
            <a:extLst>
              <a:ext uri="{FF2B5EF4-FFF2-40B4-BE49-F238E27FC236}">
                <a16:creationId xmlns:a16="http://schemas.microsoft.com/office/drawing/2014/main" id="{A84A370F-036E-1144-8504-0A42F9E68F2F}"/>
              </a:ext>
            </a:extLst>
          </p:cNvPr>
          <p:cNvSpPr txBox="1"/>
          <p:nvPr/>
        </p:nvSpPr>
        <p:spPr>
          <a:xfrm>
            <a:off x="22792139" y="7997140"/>
            <a:ext cx="10096041" cy="8463855"/>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3400" dirty="0">
                <a:latin typeface="Arial" panose="020B0604020202020204" pitchFamily="34" charset="0"/>
                <a:cs typeface="Arial" panose="020B0604020202020204" pitchFamily="34" charset="0"/>
              </a:rPr>
              <a:t>Multiple osteochondromas are common benign lesions in children, but large lesions around the proximal fibula are rare. </a:t>
            </a:r>
          </a:p>
          <a:p>
            <a:pPr lvl="0" defTabSz="914400" eaLnBrk="0" fontAlgn="base" hangingPunct="0">
              <a:spcBef>
                <a:spcPct val="0"/>
              </a:spcBef>
              <a:spcAft>
                <a:spcPct val="0"/>
              </a:spcAft>
              <a:buFontTx/>
              <a:buChar char="•"/>
            </a:pPr>
            <a:r>
              <a:rPr lang="en-US" altLang="en-US" sz="3400" dirty="0">
                <a:latin typeface="Arial" panose="020B0604020202020204" pitchFamily="34" charset="0"/>
                <a:cs typeface="Arial" panose="020B0604020202020204" pitchFamily="34" charset="0"/>
              </a:rPr>
              <a:t>They are clinically significant due to proximity to the common peroneal nerve and popliteal vessels. Posteriorly placed osteochondromas may remain asymptomatic despite causing significant neurovascular compression.</a:t>
            </a:r>
          </a:p>
          <a:p>
            <a:pPr lvl="0" defTabSz="914400" eaLnBrk="0" fontAlgn="base" hangingPunct="0">
              <a:spcBef>
                <a:spcPct val="0"/>
              </a:spcBef>
              <a:spcAft>
                <a:spcPct val="0"/>
              </a:spcAft>
              <a:buFontTx/>
              <a:buChar char="•"/>
            </a:pPr>
            <a:r>
              <a:rPr lang="en-US" altLang="en-US" sz="3400" dirty="0">
                <a:latin typeface="Arial" panose="020B0604020202020204" pitchFamily="34" charset="0"/>
                <a:cs typeface="Arial" panose="020B0604020202020204" pitchFamily="34" charset="0"/>
              </a:rPr>
              <a:t> Surgical excision in this region is technically demanding and requires meticulous neurovascular identification and protection.</a:t>
            </a:r>
          </a:p>
          <a:p>
            <a:pPr lvl="0" defTabSz="914400" eaLnBrk="0" fontAlgn="base" hangingPunct="0">
              <a:spcBef>
                <a:spcPct val="0"/>
              </a:spcBef>
              <a:spcAft>
                <a:spcPct val="0"/>
              </a:spcAft>
              <a:buFontTx/>
              <a:buChar char="•"/>
            </a:pPr>
            <a:r>
              <a:rPr lang="en-US" altLang="en-US" sz="3400" dirty="0">
                <a:latin typeface="Arial" panose="020B0604020202020204" pitchFamily="34" charset="0"/>
                <a:cs typeface="Arial" panose="020B0604020202020204" pitchFamily="34" charset="0"/>
              </a:rPr>
              <a:t> In our case, intraoperative findings revealed vascular compression despite normal preoperative neurology. Complete extra periosteal excision resulted in rapid symptom relief and excellent functional recovery. </a:t>
            </a:r>
          </a:p>
        </p:txBody>
      </p:sp>
      <p:sp>
        <p:nvSpPr>
          <p:cNvPr id="59" name="Google Shape;180;p1">
            <a:extLst>
              <a:ext uri="{FF2B5EF4-FFF2-40B4-BE49-F238E27FC236}">
                <a16:creationId xmlns:a16="http://schemas.microsoft.com/office/drawing/2014/main" id="{D9D7F7C4-9715-A5F2-D1B9-F09FCBF2F58E}"/>
              </a:ext>
            </a:extLst>
          </p:cNvPr>
          <p:cNvSpPr/>
          <p:nvPr/>
        </p:nvSpPr>
        <p:spPr>
          <a:xfrm>
            <a:off x="22783799" y="16372109"/>
            <a:ext cx="10073300"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RESULTS</a:t>
            </a:r>
            <a:endParaRPr lang="en-US" sz="2800" dirty="0">
              <a:solidFill>
                <a:schemeClr val="dk1"/>
              </a:solidFill>
              <a:latin typeface="Arial" panose="020B0604020202020204" pitchFamily="34" charset="0"/>
              <a:ea typeface="Arial"/>
              <a:cs typeface="Arial" panose="020B0604020202020204" pitchFamily="34" charset="0"/>
              <a:sym typeface="Arial"/>
            </a:endParaRPr>
          </a:p>
        </p:txBody>
      </p:sp>
      <p:sp>
        <p:nvSpPr>
          <p:cNvPr id="62" name="TextBox 61">
            <a:extLst>
              <a:ext uri="{FF2B5EF4-FFF2-40B4-BE49-F238E27FC236}">
                <a16:creationId xmlns:a16="http://schemas.microsoft.com/office/drawing/2014/main" id="{43D3C752-EB75-17D1-2E1E-1888ACD59125}"/>
              </a:ext>
            </a:extLst>
          </p:cNvPr>
          <p:cNvSpPr txBox="1"/>
          <p:nvPr/>
        </p:nvSpPr>
        <p:spPr>
          <a:xfrm>
            <a:off x="22887003" y="17485936"/>
            <a:ext cx="9970096" cy="9387185"/>
          </a:xfrm>
          <a:prstGeom prst="rect">
            <a:avLst/>
          </a:prstGeom>
          <a:noFill/>
          <a:ln>
            <a:solidFill>
              <a:schemeClr val="tx1"/>
            </a:solidFill>
          </a:ln>
        </p:spPr>
        <p:txBody>
          <a:bodyPr wrap="square" rtlCol="0">
            <a:spAutoFit/>
          </a:bodyPr>
          <a:lstStyle/>
          <a:p>
            <a:pPr marL="571500" lvl="0" indent="-571500" defTabSz="914400" eaLnBrk="0" fontAlgn="base" hangingPunct="0">
              <a:spcBef>
                <a:spcPct val="0"/>
              </a:spcBef>
              <a:spcAft>
                <a:spcPct val="0"/>
              </a:spcAft>
              <a:buFont typeface="Arial" panose="020B0604020202020204" pitchFamily="34" charset="0"/>
              <a:buChar char="•"/>
            </a:pPr>
            <a:r>
              <a:rPr lang="en-US" altLang="en-US" sz="3600" dirty="0">
                <a:latin typeface="Arial" panose="020B0604020202020204" pitchFamily="34" charset="0"/>
                <a:cs typeface="Arial" panose="020B0604020202020204" pitchFamily="34" charset="0"/>
              </a:rPr>
              <a:t>Complete s</a:t>
            </a:r>
            <a:r>
              <a:rPr lang="en-US" altLang="en-US" sz="4000" dirty="0">
                <a:latin typeface="Arial" panose="020B0604020202020204" pitchFamily="34" charset="0"/>
                <a:cs typeface="Arial" panose="020B0604020202020204" pitchFamily="34" charset="0"/>
              </a:rPr>
              <a:t>urgical excision of osteochondroma is achieved with securing common peroneal nerve.</a:t>
            </a:r>
          </a:p>
          <a:p>
            <a:pPr marL="571500" indent="-571500" defTabSz="914400" eaLnBrk="0" fontAlgn="base" hangingPunct="0">
              <a:spcBef>
                <a:spcPct val="0"/>
              </a:spcBef>
              <a:spcAft>
                <a:spcPct val="0"/>
              </a:spcAft>
              <a:buFont typeface="Arial" panose="020B0604020202020204" pitchFamily="34" charset="0"/>
              <a:buChar char="•"/>
            </a:pPr>
            <a:r>
              <a:rPr lang="en-US" altLang="en-US" sz="3600" b="1" u="sng" dirty="0">
                <a:latin typeface="Arial" panose="020B0604020202020204" pitchFamily="34" charset="0"/>
                <a:cs typeface="Arial" panose="020B0604020202020204" pitchFamily="34" charset="0"/>
              </a:rPr>
              <a:t>Histopathology</a:t>
            </a:r>
            <a:r>
              <a:rPr lang="en-US" altLang="en-US" sz="3600" b="1" dirty="0">
                <a:latin typeface="Arial" panose="020B0604020202020204" pitchFamily="34" charset="0"/>
                <a:cs typeface="Arial" panose="020B0604020202020204" pitchFamily="34" charset="0"/>
              </a:rPr>
              <a:t> : </a:t>
            </a:r>
            <a:r>
              <a:rPr lang="en-US" altLang="en-US" sz="3600" dirty="0">
                <a:latin typeface="Arial" panose="020B0604020202020204" pitchFamily="34" charset="0"/>
                <a:cs typeface="Arial" panose="020B0604020202020204" pitchFamily="34" charset="0"/>
              </a:rPr>
              <a:t>multiple sections study showed </a:t>
            </a:r>
            <a:r>
              <a:rPr lang="en-US" altLang="en-US" sz="3600" b="1" dirty="0">
                <a:latin typeface="Arial" panose="020B0604020202020204" pitchFamily="34" charset="0"/>
                <a:cs typeface="Arial" panose="020B0604020202020204" pitchFamily="34" charset="0"/>
              </a:rPr>
              <a:t>cartilaginous cap </a:t>
            </a:r>
            <a:r>
              <a:rPr lang="en-US" altLang="en-US" sz="3600" dirty="0">
                <a:latin typeface="Arial" panose="020B0604020202020204" pitchFamily="34" charset="0"/>
                <a:cs typeface="Arial" panose="020B0604020202020204" pitchFamily="34" charset="0"/>
              </a:rPr>
              <a:t>composed of </a:t>
            </a:r>
            <a:r>
              <a:rPr lang="en-US" altLang="en-US" sz="3600" b="1" dirty="0">
                <a:latin typeface="Arial" panose="020B0604020202020204" pitchFamily="34" charset="0"/>
                <a:cs typeface="Arial" panose="020B0604020202020204" pitchFamily="34" charset="0"/>
              </a:rPr>
              <a:t>mature hyaline cartilage with overlying fibrous perichondrium </a:t>
            </a:r>
            <a:r>
              <a:rPr lang="en-US" altLang="en-US" sz="3600" dirty="0">
                <a:latin typeface="Arial" panose="020B0604020202020204" pitchFamily="34" charset="0"/>
                <a:cs typeface="Arial" panose="020B0604020202020204" pitchFamily="34" charset="0"/>
              </a:rPr>
              <a:t>suggestive of osteochondroma</a:t>
            </a:r>
            <a:r>
              <a:rPr lang="en-US" altLang="en-US" sz="4000" dirty="0">
                <a:latin typeface="Arial" panose="020B0604020202020204" pitchFamily="34" charset="0"/>
                <a:cs typeface="Arial" panose="020B0604020202020204" pitchFamily="34" charset="0"/>
              </a:rPr>
              <a:t>.</a:t>
            </a:r>
          </a:p>
          <a:p>
            <a:pPr marL="571500" indent="-571500" defTabSz="914400" eaLnBrk="0" fontAlgn="base" hangingPunct="0">
              <a:spcBef>
                <a:spcPct val="0"/>
              </a:spcBef>
              <a:spcAft>
                <a:spcPct val="0"/>
              </a:spcAft>
              <a:buFont typeface="Arial" panose="020B0604020202020204" pitchFamily="34" charset="0"/>
              <a:buChar char="•"/>
            </a:pPr>
            <a:r>
              <a:rPr lang="en-US" altLang="en-US" sz="3600" b="1" u="sng" dirty="0">
                <a:latin typeface="Arial" panose="020B0604020202020204" pitchFamily="34" charset="0"/>
                <a:cs typeface="Arial" panose="020B0604020202020204" pitchFamily="34" charset="0"/>
              </a:rPr>
              <a:t>Clinical Course</a:t>
            </a:r>
            <a:r>
              <a:rPr lang="en-US" altLang="en-US" sz="3600" b="1" dirty="0">
                <a:latin typeface="Arial" panose="020B0604020202020204" pitchFamily="34" charset="0"/>
                <a:cs typeface="Arial" panose="020B0604020202020204" pitchFamily="34" charset="0"/>
              </a:rPr>
              <a:t>:</a:t>
            </a:r>
            <a:r>
              <a:rPr lang="en-US" altLang="en-US" sz="3600" dirty="0">
                <a:latin typeface="Arial" panose="020B0604020202020204" pitchFamily="34" charset="0"/>
                <a:cs typeface="Arial" panose="020B0604020202020204" pitchFamily="34" charset="0"/>
              </a:rPr>
              <a:t> Uneventful postoperative recovery with primary wound healing.</a:t>
            </a:r>
          </a:p>
          <a:p>
            <a:pPr marL="571500" lvl="0" indent="-571500" defTabSz="914400" eaLnBrk="0" fontAlgn="base" hangingPunct="0">
              <a:spcBef>
                <a:spcPct val="0"/>
              </a:spcBef>
              <a:spcAft>
                <a:spcPct val="0"/>
              </a:spcAft>
              <a:buFont typeface="Arial" panose="020B0604020202020204" pitchFamily="34" charset="0"/>
              <a:buChar char="•"/>
            </a:pPr>
            <a:r>
              <a:rPr lang="en-US" altLang="en-US" sz="3600" b="1" u="sng" dirty="0">
                <a:latin typeface="Arial" panose="020B0604020202020204" pitchFamily="34" charset="0"/>
                <a:cs typeface="Arial" panose="020B0604020202020204" pitchFamily="34" charset="0"/>
              </a:rPr>
              <a:t>Follow-Up</a:t>
            </a:r>
            <a:r>
              <a:rPr lang="en-US" altLang="en-US" sz="3600" b="1" dirty="0">
                <a:latin typeface="Arial" panose="020B0604020202020204" pitchFamily="34" charset="0"/>
                <a:cs typeface="Arial" panose="020B0604020202020204" pitchFamily="34" charset="0"/>
              </a:rPr>
              <a:t>:</a:t>
            </a:r>
            <a:r>
              <a:rPr lang="en-US" altLang="en-US" sz="3600" dirty="0">
                <a:latin typeface="Arial" panose="020B0604020202020204" pitchFamily="34" charset="0"/>
                <a:cs typeface="Arial" panose="020B0604020202020204" pitchFamily="34" charset="0"/>
              </a:rPr>
              <a:t> Assessed at 1 week, 1, 3, and 6 months; patient achieved </a:t>
            </a:r>
            <a:r>
              <a:rPr lang="en-US" altLang="en-US" sz="3600" b="1" dirty="0">
                <a:latin typeface="Arial" panose="020B0604020202020204" pitchFamily="34" charset="0"/>
                <a:cs typeface="Arial" panose="020B0604020202020204" pitchFamily="34" charset="0"/>
              </a:rPr>
              <a:t>independent ambulation </a:t>
            </a:r>
            <a:r>
              <a:rPr lang="en-US" altLang="en-US" sz="3600" dirty="0">
                <a:latin typeface="Arial" panose="020B0604020202020204" pitchFamily="34" charset="0"/>
                <a:cs typeface="Arial" panose="020B0604020202020204" pitchFamily="34" charset="0"/>
              </a:rPr>
              <a:t>and able to do his daily activities starting from 6 weeks</a:t>
            </a:r>
            <a:r>
              <a:rPr lang="en-US" altLang="en-US" sz="4000" dirty="0">
                <a:latin typeface="Arial" panose="020B0604020202020204" pitchFamily="34" charset="0"/>
                <a:cs typeface="Arial" panose="020B0604020202020204" pitchFamily="34" charset="0"/>
              </a:rPr>
              <a:t>.</a:t>
            </a:r>
          </a:p>
          <a:p>
            <a:pPr marL="571500" lvl="0" indent="-571500" defTabSz="914400" eaLnBrk="0" fontAlgn="base" hangingPunct="0">
              <a:spcBef>
                <a:spcPct val="0"/>
              </a:spcBef>
              <a:spcAft>
                <a:spcPct val="0"/>
              </a:spcAft>
              <a:buFont typeface="Arial" panose="020B0604020202020204" pitchFamily="34" charset="0"/>
              <a:buChar char="•"/>
            </a:pPr>
            <a:r>
              <a:rPr lang="en-US" altLang="en-US" sz="3600" dirty="0">
                <a:latin typeface="Arial" panose="020B0604020202020204" pitchFamily="34" charset="0"/>
                <a:cs typeface="Arial" panose="020B0604020202020204" pitchFamily="34" charset="0"/>
              </a:rPr>
              <a:t>No evidence of recurrence.</a:t>
            </a:r>
          </a:p>
          <a:p>
            <a:pPr marL="571500" lvl="0" indent="-571500" defTabSz="914400" eaLnBrk="0" fontAlgn="base" hangingPunct="0">
              <a:spcBef>
                <a:spcPct val="0"/>
              </a:spcBef>
              <a:spcAft>
                <a:spcPct val="0"/>
              </a:spcAft>
              <a:buFont typeface="Arial" panose="020B0604020202020204" pitchFamily="34" charset="0"/>
              <a:buChar char="•"/>
            </a:pPr>
            <a:r>
              <a:rPr lang="en-US" altLang="en-US" sz="3600" dirty="0">
                <a:latin typeface="Arial" panose="020B0604020202020204" pitchFamily="34" charset="0"/>
                <a:cs typeface="Arial" panose="020B0604020202020204" pitchFamily="34" charset="0"/>
              </a:rPr>
              <a:t>No neurological deficits.</a:t>
            </a:r>
          </a:p>
        </p:txBody>
      </p:sp>
      <p:sp>
        <p:nvSpPr>
          <p:cNvPr id="64" name="Google Shape;180;p1">
            <a:extLst>
              <a:ext uri="{FF2B5EF4-FFF2-40B4-BE49-F238E27FC236}">
                <a16:creationId xmlns:a16="http://schemas.microsoft.com/office/drawing/2014/main" id="{3DF12F48-1FE4-CF6E-6D39-3F44088355F1}"/>
              </a:ext>
            </a:extLst>
          </p:cNvPr>
          <p:cNvSpPr/>
          <p:nvPr/>
        </p:nvSpPr>
        <p:spPr>
          <a:xfrm>
            <a:off x="22740616" y="26576041"/>
            <a:ext cx="10073301" cy="853752"/>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TAKE HOME MESSAGE</a:t>
            </a:r>
            <a:endParaRPr lang="en-US" sz="2800" dirty="0">
              <a:solidFill>
                <a:schemeClr val="dk1"/>
              </a:solidFill>
              <a:latin typeface="Arial" panose="020B0604020202020204" pitchFamily="34" charset="0"/>
              <a:ea typeface="Arial"/>
              <a:cs typeface="Arial" panose="020B0604020202020204" pitchFamily="34" charset="0"/>
              <a:sym typeface="Arial"/>
            </a:endParaRPr>
          </a:p>
        </p:txBody>
      </p:sp>
      <p:sp>
        <p:nvSpPr>
          <p:cNvPr id="65" name="TextBox 64">
            <a:extLst>
              <a:ext uri="{FF2B5EF4-FFF2-40B4-BE49-F238E27FC236}">
                <a16:creationId xmlns:a16="http://schemas.microsoft.com/office/drawing/2014/main" id="{452077E3-5657-1998-879E-2A1CE9C742DF}"/>
              </a:ext>
            </a:extLst>
          </p:cNvPr>
          <p:cNvSpPr txBox="1"/>
          <p:nvPr/>
        </p:nvSpPr>
        <p:spPr>
          <a:xfrm>
            <a:off x="22735066" y="27472427"/>
            <a:ext cx="10078851" cy="3416320"/>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3600" b="1" dirty="0">
                <a:latin typeface="Arial" panose="020B0604020202020204" pitchFamily="34" charset="0"/>
                <a:cs typeface="Arial" panose="020B0604020202020204" pitchFamily="34" charset="0"/>
              </a:rPr>
              <a:t>Suspect:</a:t>
            </a:r>
            <a:r>
              <a:rPr lang="en-US" altLang="en-US" sz="3600" dirty="0">
                <a:latin typeface="Arial" panose="020B0604020202020204" pitchFamily="34" charset="0"/>
                <a:cs typeface="Arial" panose="020B0604020202020204" pitchFamily="34" charset="0"/>
              </a:rPr>
              <a:t> Painless progressive swellings in children warrants imaging evaluation.</a:t>
            </a:r>
          </a:p>
          <a:p>
            <a:pPr lvl="0" defTabSz="914400" eaLnBrk="0" fontAlgn="base" hangingPunct="0">
              <a:spcBef>
                <a:spcPct val="0"/>
              </a:spcBef>
              <a:spcAft>
                <a:spcPct val="0"/>
              </a:spcAft>
              <a:buFontTx/>
              <a:buChar char="•"/>
            </a:pPr>
            <a:r>
              <a:rPr lang="en-US" altLang="en-US" sz="3600" b="1" dirty="0">
                <a:latin typeface="Arial" panose="020B0604020202020204" pitchFamily="34" charset="0"/>
                <a:cs typeface="Arial" panose="020B0604020202020204" pitchFamily="34" charset="0"/>
              </a:rPr>
              <a:t>Detect:</a:t>
            </a:r>
            <a:r>
              <a:rPr lang="en-US" altLang="en-US" sz="3600" dirty="0">
                <a:latin typeface="Arial" panose="020B0604020202020204" pitchFamily="34" charset="0"/>
                <a:cs typeface="Arial" panose="020B0604020202020204" pitchFamily="34" charset="0"/>
              </a:rPr>
              <a:t> Use MRI to identify cartilaginous cap rule out malignancy.</a:t>
            </a:r>
          </a:p>
          <a:p>
            <a:pPr lvl="0" defTabSz="914400" eaLnBrk="0" fontAlgn="base" hangingPunct="0">
              <a:spcBef>
                <a:spcPct val="0"/>
              </a:spcBef>
              <a:spcAft>
                <a:spcPct val="0"/>
              </a:spcAft>
              <a:buFontTx/>
              <a:buChar char="•"/>
            </a:pPr>
            <a:r>
              <a:rPr lang="en-US" altLang="en-US" sz="3600" b="1" dirty="0">
                <a:latin typeface="Arial" panose="020B0604020202020204" pitchFamily="34" charset="0"/>
                <a:cs typeface="Arial" panose="020B0604020202020204" pitchFamily="34" charset="0"/>
              </a:rPr>
              <a:t>Treat: </a:t>
            </a:r>
            <a:r>
              <a:rPr lang="en-US" altLang="en-US" sz="3600" dirty="0">
                <a:latin typeface="Arial" panose="020B0604020202020204" pitchFamily="34" charset="0"/>
                <a:cs typeface="Arial" panose="020B0604020202020204" pitchFamily="34" charset="0"/>
              </a:rPr>
              <a:t>Complete surgical excision is curative with excellent prognosis.</a:t>
            </a:r>
          </a:p>
        </p:txBody>
      </p:sp>
      <p:sp>
        <p:nvSpPr>
          <p:cNvPr id="67" name="Google Shape;180;p1">
            <a:extLst>
              <a:ext uri="{FF2B5EF4-FFF2-40B4-BE49-F238E27FC236}">
                <a16:creationId xmlns:a16="http://schemas.microsoft.com/office/drawing/2014/main" id="{01BD7522-5069-F2F5-1A22-7CEEA98BEE33}"/>
              </a:ext>
            </a:extLst>
          </p:cNvPr>
          <p:cNvSpPr/>
          <p:nvPr/>
        </p:nvSpPr>
        <p:spPr>
          <a:xfrm>
            <a:off x="0" y="25669985"/>
            <a:ext cx="10584920" cy="1332932"/>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PRE-OP IMAGING</a:t>
            </a:r>
            <a:endParaRPr sz="5400" dirty="0">
              <a:solidFill>
                <a:schemeClr val="dk1"/>
              </a:solidFill>
              <a:latin typeface="Arial" panose="020B0604020202020204" pitchFamily="34" charset="0"/>
              <a:ea typeface="Arial"/>
              <a:cs typeface="Arial" panose="020B0604020202020204" pitchFamily="34" charset="0"/>
              <a:sym typeface="Arial"/>
            </a:endParaRPr>
          </a:p>
        </p:txBody>
      </p:sp>
      <p:sp>
        <p:nvSpPr>
          <p:cNvPr id="68" name="Google Shape;180;p1">
            <a:extLst>
              <a:ext uri="{FF2B5EF4-FFF2-40B4-BE49-F238E27FC236}">
                <a16:creationId xmlns:a16="http://schemas.microsoft.com/office/drawing/2014/main" id="{42C15216-5ACA-B582-4DF8-6AD9784355DF}"/>
              </a:ext>
            </a:extLst>
          </p:cNvPr>
          <p:cNvSpPr/>
          <p:nvPr/>
        </p:nvSpPr>
        <p:spPr>
          <a:xfrm>
            <a:off x="22828236" y="36735398"/>
            <a:ext cx="10028863" cy="826949"/>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REFERENCES</a:t>
            </a:r>
            <a:endParaRPr sz="5400" dirty="0">
              <a:solidFill>
                <a:schemeClr val="dk1"/>
              </a:solidFill>
              <a:latin typeface="Arial" panose="020B0604020202020204" pitchFamily="34" charset="0"/>
              <a:ea typeface="Arial"/>
              <a:cs typeface="Arial" panose="020B0604020202020204" pitchFamily="34" charset="0"/>
              <a:sym typeface="Arial"/>
            </a:endParaRPr>
          </a:p>
        </p:txBody>
      </p:sp>
      <p:sp>
        <p:nvSpPr>
          <p:cNvPr id="69" name="TextBox 68">
            <a:extLst>
              <a:ext uri="{FF2B5EF4-FFF2-40B4-BE49-F238E27FC236}">
                <a16:creationId xmlns:a16="http://schemas.microsoft.com/office/drawing/2014/main" id="{55D6AA1B-528A-3564-77E7-7F60598B893F}"/>
              </a:ext>
            </a:extLst>
          </p:cNvPr>
          <p:cNvSpPr txBox="1"/>
          <p:nvPr/>
        </p:nvSpPr>
        <p:spPr>
          <a:xfrm>
            <a:off x="22813534" y="37562348"/>
            <a:ext cx="10043565" cy="3170099"/>
          </a:xfrm>
          <a:prstGeom prst="rect">
            <a:avLst/>
          </a:prstGeom>
          <a:noFill/>
          <a:ln>
            <a:solidFill>
              <a:schemeClr val="tx1"/>
            </a:solidFill>
          </a:ln>
        </p:spPr>
        <p:txBody>
          <a:bodyPr wrap="square" rtlCol="0">
            <a:spAutoFit/>
          </a:bodyPr>
          <a:lstStyle/>
          <a:p>
            <a:pPr lvl="1" defTabSz="914400" eaLnBrk="0" fontAlgn="base" hangingPunct="0">
              <a:spcBef>
                <a:spcPct val="0"/>
              </a:spcBef>
              <a:spcAft>
                <a:spcPct val="0"/>
              </a:spcAft>
            </a:pPr>
            <a:r>
              <a:rPr lang="en-US" sz="3200" dirty="0"/>
              <a:t>Balaji PS. Giant osteochondroma of tibia in hereditary multiple exostoses: a case report. </a:t>
            </a:r>
            <a:r>
              <a:rPr lang="en-US" sz="3200" i="1" dirty="0"/>
              <a:t>Int J Res Rev</a:t>
            </a:r>
            <a:r>
              <a:rPr lang="en-US" sz="3200" dirty="0"/>
              <a:t>. 2023;10(3): </a:t>
            </a:r>
            <a:r>
              <a:rPr lang="en-IN" sz="3200" dirty="0"/>
              <a:t>Jilani LZ, Ishtiyaq M, Khurana ; An unusual giant osteochondroma of distal tibia: a case report with literature review. </a:t>
            </a:r>
            <a:r>
              <a:rPr lang="en-IN" sz="3200" i="1" dirty="0"/>
              <a:t>J </a:t>
            </a:r>
            <a:r>
              <a:rPr lang="en-IN" sz="3200" i="1" dirty="0" err="1"/>
              <a:t>Orthop</a:t>
            </a:r>
            <a:r>
              <a:rPr lang="en-IN" sz="3200" i="1" dirty="0"/>
              <a:t> Case Rep.</a:t>
            </a:r>
            <a:r>
              <a:rPr lang="en-IN" sz="3200" dirty="0"/>
              <a:t> 2024;14(11):84-91.</a:t>
            </a:r>
          </a:p>
          <a:p>
            <a:pPr lvl="1" defTabSz="914400" eaLnBrk="0" fontAlgn="base" hangingPunct="0">
              <a:spcBef>
                <a:spcPct val="0"/>
              </a:spcBef>
              <a:spcAft>
                <a:spcPct val="0"/>
              </a:spcAft>
              <a:buFontTx/>
              <a:buChar char="•"/>
            </a:pPr>
            <a:endParaRPr lang="en-US" altLang="en-US" sz="4000" dirty="0">
              <a:latin typeface="Arial" panose="020B0604020202020204" pitchFamily="34" charset="0"/>
              <a:cs typeface="Arial" panose="020B0604020202020204" pitchFamily="34" charset="0"/>
            </a:endParaRPr>
          </a:p>
        </p:txBody>
      </p:sp>
      <p:sp>
        <p:nvSpPr>
          <p:cNvPr id="72" name="Google Shape;180;p1">
            <a:extLst>
              <a:ext uri="{FF2B5EF4-FFF2-40B4-BE49-F238E27FC236}">
                <a16:creationId xmlns:a16="http://schemas.microsoft.com/office/drawing/2014/main" id="{BC8D1AB3-3AE5-57AE-8A05-348A396A54C7}"/>
              </a:ext>
            </a:extLst>
          </p:cNvPr>
          <p:cNvSpPr/>
          <p:nvPr/>
        </p:nvSpPr>
        <p:spPr>
          <a:xfrm>
            <a:off x="22756846" y="30881583"/>
            <a:ext cx="1010025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CONCLUSION</a:t>
            </a:r>
            <a:endParaRPr lang="en-US" sz="2800" dirty="0">
              <a:solidFill>
                <a:schemeClr val="dk1"/>
              </a:solidFill>
              <a:latin typeface="Arial" panose="020B0604020202020204" pitchFamily="34" charset="0"/>
              <a:ea typeface="Arial"/>
              <a:cs typeface="Arial" panose="020B0604020202020204" pitchFamily="34" charset="0"/>
              <a:sym typeface="Arial"/>
            </a:endParaRPr>
          </a:p>
        </p:txBody>
      </p:sp>
      <p:sp>
        <p:nvSpPr>
          <p:cNvPr id="73" name="TextBox 72">
            <a:extLst>
              <a:ext uri="{FF2B5EF4-FFF2-40B4-BE49-F238E27FC236}">
                <a16:creationId xmlns:a16="http://schemas.microsoft.com/office/drawing/2014/main" id="{C80FA5E0-95EB-CC62-4CD4-2CDDAB0AB22E}"/>
              </a:ext>
            </a:extLst>
          </p:cNvPr>
          <p:cNvSpPr txBox="1"/>
          <p:nvPr/>
        </p:nvSpPr>
        <p:spPr>
          <a:xfrm>
            <a:off x="22771548" y="31964861"/>
            <a:ext cx="10085551" cy="4770537"/>
          </a:xfrm>
          <a:prstGeom prst="rect">
            <a:avLst/>
          </a:prstGeom>
          <a:noFill/>
          <a:ln>
            <a:solidFill>
              <a:schemeClr val="tx1"/>
            </a:solidFill>
          </a:ln>
        </p:spPr>
        <p:txBody>
          <a:bodyPr wrap="square" rtlCol="0">
            <a:spAutoFit/>
          </a:bodyPr>
          <a:lstStyle/>
          <a:p>
            <a:pPr marL="571500" lvl="0" indent="-571500">
              <a:buClr>
                <a:schemeClr val="dk1"/>
              </a:buClr>
              <a:buSzPct val="64000"/>
              <a:buFont typeface="Wingdings" panose="05000000000000000000" pitchFamily="2" charset="2"/>
              <a:buChar char="Ø"/>
            </a:pPr>
            <a:r>
              <a:rPr lang="en-US" sz="3800" dirty="0">
                <a:latin typeface="Arial" panose="020B0604020202020204" pitchFamily="34" charset="0"/>
                <a:cs typeface="Arial" panose="020B0604020202020204" pitchFamily="34" charset="0"/>
              </a:rPr>
              <a:t>Fibular osteochondroma in children is rare and may present as painless swelling.</a:t>
            </a:r>
          </a:p>
          <a:p>
            <a:pPr marL="571500" lvl="0" indent="-571500">
              <a:buClr>
                <a:schemeClr val="dk1"/>
              </a:buClr>
              <a:buSzPct val="65000"/>
              <a:buFont typeface="Wingdings" panose="05000000000000000000" pitchFamily="2" charset="2"/>
              <a:buChar char="Ø"/>
            </a:pPr>
            <a:r>
              <a:rPr lang="en-US" sz="3800" dirty="0">
                <a:latin typeface="Arial" panose="020B0604020202020204" pitchFamily="34" charset="0"/>
                <a:cs typeface="Arial" panose="020B0604020202020204" pitchFamily="34" charset="0"/>
              </a:rPr>
              <a:t>Careful </a:t>
            </a:r>
            <a:r>
              <a:rPr lang="en-US" sz="3800" b="1" dirty="0">
                <a:latin typeface="Arial" panose="020B0604020202020204" pitchFamily="34" charset="0"/>
                <a:cs typeface="Arial" panose="020B0604020202020204" pitchFamily="34" charset="0"/>
              </a:rPr>
              <a:t>clinical and radiological examination </a:t>
            </a:r>
            <a:r>
              <a:rPr lang="en-US" sz="3800" dirty="0">
                <a:latin typeface="Arial" panose="020B0604020202020204" pitchFamily="34" charset="0"/>
                <a:cs typeface="Arial" panose="020B0604020202020204" pitchFamily="34" charset="0"/>
              </a:rPr>
              <a:t>is essential </a:t>
            </a:r>
            <a:endParaRPr lang="en-US" sz="3800" dirty="0">
              <a:solidFill>
                <a:schemeClr val="dk1"/>
              </a:solidFill>
              <a:latin typeface="Arial" panose="020B0604020202020204" pitchFamily="34" charset="0"/>
              <a:ea typeface="Arial"/>
              <a:cs typeface="Arial" panose="020B0604020202020204" pitchFamily="34" charset="0"/>
              <a:sym typeface="Arial"/>
            </a:endParaRPr>
          </a:p>
          <a:p>
            <a:pPr marL="571500" lvl="0" indent="-571500">
              <a:buClr>
                <a:schemeClr val="dk1"/>
              </a:buClr>
              <a:buSzPct val="65000"/>
              <a:buFont typeface="Wingdings" panose="05000000000000000000" pitchFamily="2" charset="2"/>
              <a:buChar char="Ø"/>
            </a:pPr>
            <a:r>
              <a:rPr lang="en-US" sz="3800" b="1" dirty="0">
                <a:solidFill>
                  <a:schemeClr val="dk1"/>
                </a:solidFill>
                <a:latin typeface="Arial" panose="020B0604020202020204" pitchFamily="34" charset="0"/>
                <a:ea typeface="Arial"/>
                <a:cs typeface="Arial" panose="020B0604020202020204" pitchFamily="34" charset="0"/>
                <a:sym typeface="Arial"/>
              </a:rPr>
              <a:t>MRI </a:t>
            </a:r>
            <a:r>
              <a:rPr lang="en-US" sz="3800" dirty="0">
                <a:solidFill>
                  <a:schemeClr val="dk1"/>
                </a:solidFill>
                <a:latin typeface="Arial" panose="020B0604020202020204" pitchFamily="34" charset="0"/>
                <a:ea typeface="Arial"/>
                <a:cs typeface="Arial" panose="020B0604020202020204" pitchFamily="34" charset="0"/>
                <a:sym typeface="Arial"/>
              </a:rPr>
              <a:t>helps confirm diagnosis and rule out malignancy</a:t>
            </a:r>
          </a:p>
          <a:p>
            <a:pPr marL="571500" lvl="0" indent="-571500">
              <a:buClr>
                <a:schemeClr val="dk1"/>
              </a:buClr>
              <a:buSzPct val="65000"/>
              <a:buFont typeface="Wingdings" panose="05000000000000000000" pitchFamily="2" charset="2"/>
              <a:buChar char="Ø"/>
            </a:pPr>
            <a:r>
              <a:rPr lang="en-US" sz="3800" dirty="0">
                <a:solidFill>
                  <a:schemeClr val="dk1"/>
                </a:solidFill>
                <a:latin typeface="Arial" panose="020B0604020202020204" pitchFamily="34" charset="0"/>
                <a:ea typeface="Arial"/>
                <a:cs typeface="Arial" panose="020B0604020202020204" pitchFamily="34" charset="0"/>
                <a:sym typeface="Arial"/>
              </a:rPr>
              <a:t>Complete surgical excision gives excellent outcomes.</a:t>
            </a:r>
          </a:p>
        </p:txBody>
      </p:sp>
      <p:sp>
        <p:nvSpPr>
          <p:cNvPr id="74" name="Google Shape;180;p1">
            <a:extLst>
              <a:ext uri="{FF2B5EF4-FFF2-40B4-BE49-F238E27FC236}">
                <a16:creationId xmlns:a16="http://schemas.microsoft.com/office/drawing/2014/main" id="{2CB630B8-0F84-4370-A147-A7FF077118AA}"/>
              </a:ext>
            </a:extLst>
          </p:cNvPr>
          <p:cNvSpPr/>
          <p:nvPr/>
        </p:nvSpPr>
        <p:spPr>
          <a:xfrm>
            <a:off x="22810288" y="40024441"/>
            <a:ext cx="10034562" cy="721958"/>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panose="020B0604020202020204" pitchFamily="34" charset="0"/>
                <a:ea typeface="Arial"/>
                <a:cs typeface="Arial" panose="020B0604020202020204" pitchFamily="34" charset="0"/>
                <a:sym typeface="Arial"/>
              </a:rPr>
              <a:t>ACKNOWLEDGEMENT</a:t>
            </a:r>
            <a:endParaRPr lang="en-US" sz="5400" dirty="0">
              <a:solidFill>
                <a:schemeClr val="dk1"/>
              </a:solidFill>
              <a:latin typeface="Arial" panose="020B0604020202020204" pitchFamily="34" charset="0"/>
              <a:ea typeface="Arial"/>
              <a:cs typeface="Arial" panose="020B0604020202020204" pitchFamily="34" charset="0"/>
              <a:sym typeface="Arial"/>
            </a:endParaRPr>
          </a:p>
        </p:txBody>
      </p:sp>
      <p:sp>
        <p:nvSpPr>
          <p:cNvPr id="76" name="TextBox 75">
            <a:extLst>
              <a:ext uri="{FF2B5EF4-FFF2-40B4-BE49-F238E27FC236}">
                <a16:creationId xmlns:a16="http://schemas.microsoft.com/office/drawing/2014/main" id="{0CBE702D-3146-651F-E7B3-FED3190404FE}"/>
              </a:ext>
            </a:extLst>
          </p:cNvPr>
          <p:cNvSpPr txBox="1"/>
          <p:nvPr/>
        </p:nvSpPr>
        <p:spPr>
          <a:xfrm>
            <a:off x="22806456" y="40747419"/>
            <a:ext cx="10050643" cy="2669962"/>
          </a:xfrm>
          <a:prstGeom prst="rect">
            <a:avLst/>
          </a:prstGeom>
          <a:noFill/>
          <a:ln>
            <a:solidFill>
              <a:schemeClr val="tx1"/>
            </a:solidFill>
          </a:ln>
        </p:spPr>
        <p:txBody>
          <a:bodyPr wrap="square" rtlCol="0">
            <a:spAutoFit/>
          </a:bodyPr>
          <a:lstStyle/>
          <a:p>
            <a:r>
              <a:rPr lang="en-US" sz="3350" dirty="0">
                <a:latin typeface="Arial" panose="020B0604020202020204" pitchFamily="34" charset="0"/>
                <a:cs typeface="Arial" panose="020B0604020202020204" pitchFamily="34" charset="0"/>
              </a:rPr>
              <a:t>I sincerely thank </a:t>
            </a:r>
            <a:r>
              <a:rPr lang="en-US" sz="3350" b="1" dirty="0">
                <a:latin typeface="Arial" panose="020B0604020202020204" pitchFamily="34" charset="0"/>
                <a:cs typeface="Arial" panose="020B0604020202020204" pitchFamily="34" charset="0"/>
              </a:rPr>
              <a:t>Dr. V. Nageswara Rao</a:t>
            </a:r>
            <a:r>
              <a:rPr lang="en-US" sz="3350" dirty="0">
                <a:latin typeface="Arial" panose="020B0604020202020204" pitchFamily="34" charset="0"/>
                <a:cs typeface="Arial" panose="020B0604020202020204" pitchFamily="34" charset="0"/>
              </a:rPr>
              <a:t>, Head of the Department of </a:t>
            </a:r>
            <a:r>
              <a:rPr lang="en-US" sz="3350" dirty="0" err="1">
                <a:latin typeface="Arial" panose="020B0604020202020204" pitchFamily="34" charset="0"/>
                <a:cs typeface="Arial" panose="020B0604020202020204" pitchFamily="34" charset="0"/>
              </a:rPr>
              <a:t>Orthopaedics</a:t>
            </a:r>
            <a:r>
              <a:rPr lang="en-US" sz="3350" dirty="0">
                <a:latin typeface="Arial" panose="020B0604020202020204" pitchFamily="34" charset="0"/>
                <a:cs typeface="Arial" panose="020B0604020202020204" pitchFamily="34" charset="0"/>
              </a:rPr>
              <a:t>, along with the faculty of </a:t>
            </a:r>
            <a:r>
              <a:rPr lang="en-US" sz="3350" dirty="0" err="1">
                <a:latin typeface="Arial" panose="020B0604020202020204" pitchFamily="34" charset="0"/>
                <a:cs typeface="Arial" panose="020B0604020202020204" pitchFamily="34" charset="0"/>
              </a:rPr>
              <a:t>Orthopaedics</a:t>
            </a:r>
            <a:r>
              <a:rPr lang="en-US" sz="3350" dirty="0">
                <a:latin typeface="Arial" panose="020B0604020202020204" pitchFamily="34" charset="0"/>
                <a:cs typeface="Arial" panose="020B0604020202020204" pitchFamily="34" charset="0"/>
              </a:rPr>
              <a:t> and the Department of Radiology, GSL Medical College &amp; General Hospital, for their guidance and support.</a:t>
            </a:r>
            <a:endParaRPr lang="en-IN" sz="335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D7A64AF-D4AA-B890-BC71-2040EEAF60B8}"/>
              </a:ext>
            </a:extLst>
          </p:cNvPr>
          <p:cNvSpPr txBox="1"/>
          <p:nvPr/>
        </p:nvSpPr>
        <p:spPr>
          <a:xfrm>
            <a:off x="5401340" y="26813207"/>
            <a:ext cx="5268556" cy="8463855"/>
          </a:xfrm>
          <a:prstGeom prst="rect">
            <a:avLst/>
          </a:prstGeom>
          <a:solidFill>
            <a:schemeClr val="accent4">
              <a:lumMod val="40000"/>
              <a:lumOff val="60000"/>
            </a:schemeClr>
          </a:solidFill>
          <a:ln>
            <a:solidFill>
              <a:schemeClr val="tx1">
                <a:lumMod val="85000"/>
                <a:lumOff val="15000"/>
              </a:schemeClr>
            </a:solidFill>
          </a:ln>
        </p:spPr>
        <p:txBody>
          <a:bodyPr wrap="square" rtlCol="0">
            <a:spAutoFit/>
          </a:bodyPr>
          <a:lstStyle/>
          <a:p>
            <a:r>
              <a:rPr lang="en-US" sz="3200" b="1" dirty="0">
                <a:latin typeface="Arial" panose="020B0604020202020204" pitchFamily="34" charset="0"/>
                <a:cs typeface="Arial" panose="020B0604020202020204" pitchFamily="34" charset="0"/>
              </a:rPr>
              <a:t>X-ray Knee – AP and Lateral Views</a:t>
            </a:r>
            <a:endParaRPr lang="en-IN" sz="3200" b="1" dirty="0">
              <a:latin typeface="Arial" panose="020B0604020202020204" pitchFamily="34" charset="0"/>
              <a:cs typeface="Arial" panose="020B0604020202020204" pitchFamily="34" charset="0"/>
            </a:endParaRPr>
          </a:p>
          <a:p>
            <a:r>
              <a:rPr lang="en-US" sz="3200" dirty="0">
                <a:latin typeface="Arial" panose="020B0604020202020204" pitchFamily="34" charset="0"/>
                <a:cs typeface="Arial" panose="020B0604020202020204" pitchFamily="34" charset="0"/>
              </a:rPr>
              <a:t>• Large sessile osteochondroma arising from the medial and posterior distal femur.</a:t>
            </a:r>
            <a:endParaRPr lang="en-IN" sz="3200" dirty="0">
              <a:latin typeface="Arial" panose="020B0604020202020204" pitchFamily="34" charset="0"/>
              <a:cs typeface="Arial" panose="020B0604020202020204" pitchFamily="34" charset="0"/>
            </a:endParaRPr>
          </a:p>
          <a:p>
            <a:r>
              <a:rPr lang="en-US" sz="3200" dirty="0">
                <a:latin typeface="Arial" panose="020B0604020202020204" pitchFamily="34" charset="0"/>
                <a:cs typeface="Arial" panose="020B0604020202020204" pitchFamily="34" charset="0"/>
              </a:rPr>
              <a:t>• pedunculated lesion over the proximal fibula.</a:t>
            </a:r>
          </a:p>
          <a:p>
            <a:r>
              <a:rPr lang="en-US" sz="3200" dirty="0">
                <a:latin typeface="Arial" panose="020B0604020202020204" pitchFamily="34" charset="0"/>
                <a:cs typeface="Arial" panose="020B0604020202020204" pitchFamily="34" charset="0"/>
              </a:rPr>
              <a:t>• Cortical and medullary continuity with parent bone - classical for </a:t>
            </a:r>
            <a:r>
              <a:rPr lang="en-IN" sz="3200" dirty="0">
                <a:latin typeface="Arial" panose="020B0604020202020204" pitchFamily="34" charset="0"/>
                <a:cs typeface="Arial" panose="020B0604020202020204" pitchFamily="34" charset="0"/>
              </a:rPr>
              <a:t>osteochondroma.</a:t>
            </a:r>
          </a:p>
          <a:p>
            <a:r>
              <a:rPr lang="en-US" sz="3200" dirty="0">
                <a:latin typeface="Arial" panose="020B0604020202020204" pitchFamily="34" charset="0"/>
                <a:cs typeface="Arial" panose="020B0604020202020204" pitchFamily="34" charset="0"/>
              </a:rPr>
              <a:t>• Soft-tissue displacement without aggressive features.</a:t>
            </a:r>
          </a:p>
          <a:p>
            <a:r>
              <a:rPr lang="en-US" sz="3200" dirty="0">
                <a:latin typeface="Arial" panose="020B0604020202020204" pitchFamily="34" charset="0"/>
                <a:cs typeface="Arial" panose="020B0604020202020204" pitchFamily="34" charset="0"/>
              </a:rPr>
              <a:t>These findings were consistent with multiple osteochondromas</a:t>
            </a:r>
          </a:p>
        </p:txBody>
      </p:sp>
      <p:sp>
        <p:nvSpPr>
          <p:cNvPr id="3" name="TextBox 2">
            <a:extLst>
              <a:ext uri="{FF2B5EF4-FFF2-40B4-BE49-F238E27FC236}">
                <a16:creationId xmlns:a16="http://schemas.microsoft.com/office/drawing/2014/main" id="{82890D96-969C-D32A-3FAC-10A833B96211}"/>
              </a:ext>
            </a:extLst>
          </p:cNvPr>
          <p:cNvSpPr txBox="1"/>
          <p:nvPr/>
        </p:nvSpPr>
        <p:spPr>
          <a:xfrm>
            <a:off x="5373356" y="35277062"/>
            <a:ext cx="5244802" cy="8556188"/>
          </a:xfrm>
          <a:prstGeom prst="rect">
            <a:avLst/>
          </a:prstGeom>
          <a:solidFill>
            <a:schemeClr val="accent6">
              <a:lumMod val="40000"/>
              <a:lumOff val="60000"/>
            </a:schemeClr>
          </a:solidFill>
          <a:ln>
            <a:solidFill>
              <a:schemeClr val="tx1">
                <a:lumMod val="95000"/>
                <a:lumOff val="5000"/>
              </a:schemeClr>
            </a:solidFill>
          </a:ln>
        </p:spPr>
        <p:txBody>
          <a:bodyPr wrap="square" rtlCol="0">
            <a:spAutoFit/>
          </a:bodyPr>
          <a:lstStyle/>
          <a:p>
            <a:r>
              <a:rPr lang="en-US" sz="3400" b="1" u="sng" dirty="0">
                <a:latin typeface="Arial" panose="020B0604020202020204" pitchFamily="34" charset="0"/>
                <a:cs typeface="Arial" panose="020B0604020202020204" pitchFamily="34" charset="0"/>
              </a:rPr>
              <a:t>MRI LEFT KNEE:</a:t>
            </a:r>
            <a:endParaRPr lang="en-IN" sz="3400" dirty="0">
              <a:latin typeface="Arial" panose="020B0604020202020204" pitchFamily="34" charset="0"/>
              <a:cs typeface="Arial" panose="020B0604020202020204" pitchFamily="34" charset="0"/>
            </a:endParaRPr>
          </a:p>
          <a:p>
            <a:pPr lvl="0" defTabSz="914400" eaLnBrk="0" fontAlgn="base" hangingPunct="0">
              <a:spcBef>
                <a:spcPct val="0"/>
              </a:spcBef>
              <a:spcAft>
                <a:spcPct val="0"/>
              </a:spcAft>
              <a:buFontTx/>
              <a:buChar char="•"/>
            </a:pPr>
            <a:r>
              <a:rPr lang="en-US" altLang="en-US" sz="3400" dirty="0">
                <a:latin typeface="Arial" panose="020B0604020202020204" pitchFamily="34" charset="0"/>
                <a:cs typeface="Arial" panose="020B0604020202020204" pitchFamily="34" charset="0"/>
              </a:rPr>
              <a:t>A </a:t>
            </a:r>
            <a:r>
              <a:rPr lang="en-US" altLang="en-US" sz="3400" b="1" dirty="0">
                <a:latin typeface="Arial" panose="020B0604020202020204" pitchFamily="34" charset="0"/>
                <a:cs typeface="Arial" panose="020B0604020202020204" pitchFamily="34" charset="0"/>
              </a:rPr>
              <a:t>well defined lobulated bony outgrowth </a:t>
            </a:r>
            <a:r>
              <a:rPr lang="en-US" altLang="en-US" sz="3400" dirty="0">
                <a:latin typeface="Arial" panose="020B0604020202020204" pitchFamily="34" charset="0"/>
                <a:cs typeface="Arial" panose="020B0604020202020204" pitchFamily="34" charset="0"/>
              </a:rPr>
              <a:t>measuring 6.7 x 4.4 x4.7cm is noted in posteromedial aspect of upper end of proximal fibula </a:t>
            </a:r>
          </a:p>
          <a:p>
            <a:pPr lvl="0" defTabSz="914400" eaLnBrk="0" fontAlgn="base" hangingPunct="0">
              <a:spcBef>
                <a:spcPct val="0"/>
              </a:spcBef>
              <a:spcAft>
                <a:spcPct val="0"/>
              </a:spcAft>
              <a:buFontTx/>
              <a:buChar char="•"/>
            </a:pPr>
            <a:r>
              <a:rPr lang="en-US" altLang="en-US" sz="3400" dirty="0">
                <a:latin typeface="Arial" panose="020B0604020202020204" pitchFamily="34" charset="0"/>
                <a:cs typeface="Arial" panose="020B0604020202020204" pitchFamily="34" charset="0"/>
              </a:rPr>
              <a:t> </a:t>
            </a:r>
            <a:r>
              <a:rPr lang="en-US" altLang="en-US" sz="3400" b="1" dirty="0">
                <a:latin typeface="Arial" panose="020B0604020202020204" pitchFamily="34" charset="0"/>
                <a:cs typeface="Arial" panose="020B0604020202020204" pitchFamily="34" charset="0"/>
              </a:rPr>
              <a:t>T2 HYPERINTENSE cartilaginous cap </a:t>
            </a:r>
            <a:r>
              <a:rPr lang="en-US" altLang="en-US" sz="3400" dirty="0">
                <a:latin typeface="Arial" panose="020B0604020202020204" pitchFamily="34" charset="0"/>
                <a:cs typeface="Arial" panose="020B0604020202020204" pitchFamily="34" charset="0"/>
              </a:rPr>
              <a:t>measuring approximately 5mm continuity with the cortex and medullary cavity of the fibula</a:t>
            </a:r>
          </a:p>
          <a:p>
            <a:pPr lvl="0" defTabSz="914400" eaLnBrk="0" fontAlgn="base" hangingPunct="0">
              <a:spcBef>
                <a:spcPct val="0"/>
              </a:spcBef>
              <a:spcAft>
                <a:spcPct val="0"/>
              </a:spcAft>
              <a:buFontTx/>
              <a:buChar char="•"/>
            </a:pPr>
            <a:r>
              <a:rPr lang="en-US" altLang="en-US" sz="3400" dirty="0">
                <a:latin typeface="Arial" panose="020B0604020202020204" pitchFamily="34" charset="0"/>
                <a:cs typeface="Arial" panose="020B0604020202020204" pitchFamily="34" charset="0"/>
              </a:rPr>
              <a:t>Multiple similar lesions in the femur and tibia noted</a:t>
            </a:r>
            <a:r>
              <a:rPr lang="en-US" altLang="en-US" sz="4000" dirty="0">
                <a:latin typeface="Arial" panose="020B0604020202020204" pitchFamily="34" charset="0"/>
                <a:cs typeface="Arial" panose="020B0604020202020204" pitchFamily="34" charset="0"/>
              </a:rPr>
              <a:t>. </a:t>
            </a:r>
            <a:endParaRPr lang="en-US" altLang="en-US" sz="3400" dirty="0">
              <a:latin typeface="Arial" panose="020B0604020202020204" pitchFamily="34" charset="0"/>
              <a:cs typeface="Arial" panose="020B0604020202020204" pitchFamily="34" charset="0"/>
            </a:endParaRPr>
          </a:p>
        </p:txBody>
      </p:sp>
      <p:sp>
        <p:nvSpPr>
          <p:cNvPr id="99" name="TextBox 98">
            <a:extLst>
              <a:ext uri="{FF2B5EF4-FFF2-40B4-BE49-F238E27FC236}">
                <a16:creationId xmlns:a16="http://schemas.microsoft.com/office/drawing/2014/main" id="{B8E7E18D-20A9-15F3-7FD0-7010B6B02120}"/>
              </a:ext>
            </a:extLst>
          </p:cNvPr>
          <p:cNvSpPr txBox="1"/>
          <p:nvPr/>
        </p:nvSpPr>
        <p:spPr>
          <a:xfrm>
            <a:off x="17209487" y="37562347"/>
            <a:ext cx="5604047" cy="6124754"/>
          </a:xfrm>
          <a:prstGeom prst="rect">
            <a:avLst/>
          </a:prstGeom>
          <a:solidFill>
            <a:schemeClr val="accent2">
              <a:lumMod val="20000"/>
              <a:lumOff val="80000"/>
            </a:schemeClr>
          </a:solidFill>
          <a:ln>
            <a:solidFill>
              <a:schemeClr val="tx1"/>
            </a:solidFill>
          </a:ln>
        </p:spPr>
        <p:txBody>
          <a:bodyPr wrap="square" rtlCol="0">
            <a:spAutoFit/>
          </a:bodyPr>
          <a:lstStyle/>
          <a:p>
            <a:endParaRPr lang="en-US" sz="3200" b="1" dirty="0">
              <a:latin typeface="Arial" panose="020B0604020202020204" pitchFamily="34" charset="0"/>
              <a:cs typeface="Arial" panose="020B0604020202020204" pitchFamily="34" charset="0"/>
            </a:endParaRPr>
          </a:p>
          <a:p>
            <a:r>
              <a:rPr lang="en-US" sz="3600" b="1" dirty="0">
                <a:latin typeface="Arial" panose="020B0604020202020204" pitchFamily="34" charset="0"/>
                <a:cs typeface="Arial" panose="020B0604020202020204" pitchFamily="34" charset="0"/>
              </a:rPr>
              <a:t>Postoperative plain radiograph of left knee (AP and lateral view)</a:t>
            </a:r>
            <a:r>
              <a:rPr lang="en-US" sz="3600" dirty="0">
                <a:latin typeface="Arial" panose="020B0604020202020204" pitchFamily="34" charset="0"/>
                <a:cs typeface="Arial" panose="020B0604020202020204" pitchFamily="34" charset="0"/>
              </a:rPr>
              <a:t> </a:t>
            </a:r>
          </a:p>
          <a:p>
            <a:r>
              <a:rPr lang="en-US" sz="3600" dirty="0">
                <a:latin typeface="Arial" panose="020B0604020202020204" pitchFamily="34" charset="0"/>
                <a:cs typeface="Arial" panose="020B0604020202020204" pitchFamily="34" charset="0"/>
              </a:rPr>
              <a:t>shows complete excision of osteochondroma arising from metaphyseal region of proximal fibula with smooth margins and no residual lesion visible radiographically.</a:t>
            </a:r>
            <a:endParaRPr lang="en-IN" sz="3600" dirty="0">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24B16A2C-96EA-D94C-74B5-D1FA3DD6A13C}"/>
              </a:ext>
            </a:extLst>
          </p:cNvPr>
          <p:cNvSpPr txBox="1"/>
          <p:nvPr/>
        </p:nvSpPr>
        <p:spPr>
          <a:xfrm>
            <a:off x="10618158" y="20152497"/>
            <a:ext cx="6049057" cy="707886"/>
          </a:xfrm>
          <a:prstGeom prst="rect">
            <a:avLst/>
          </a:prstGeom>
          <a:solidFill>
            <a:schemeClr val="bg1">
              <a:lumMod val="85000"/>
            </a:schemeClr>
          </a:solidFill>
          <a:ln>
            <a:solidFill>
              <a:schemeClr val="tx1"/>
            </a:solidFill>
          </a:ln>
        </p:spPr>
        <p:txBody>
          <a:bodyPr wrap="square" rtlCol="0">
            <a:spAutoFit/>
          </a:bodyPr>
          <a:lstStyle/>
          <a:p>
            <a:pPr algn="ctr"/>
            <a:r>
              <a:rPr lang="en-US" sz="4000" b="1" dirty="0">
                <a:latin typeface="Arial" panose="020B0604020202020204" pitchFamily="34" charset="0"/>
                <a:cs typeface="Arial" panose="020B0604020202020204" pitchFamily="34" charset="0"/>
              </a:rPr>
              <a:t>Posterolateral approach</a:t>
            </a:r>
            <a:endParaRPr lang="en-IN" sz="4000" b="1" dirty="0">
              <a:latin typeface="Arial" panose="020B0604020202020204" pitchFamily="34" charset="0"/>
              <a:cs typeface="Arial" panose="020B0604020202020204" pitchFamily="34" charset="0"/>
            </a:endParaRPr>
          </a:p>
        </p:txBody>
      </p:sp>
      <p:pic>
        <p:nvPicPr>
          <p:cNvPr id="108" name="Google Shape;192;p1">
            <a:extLst>
              <a:ext uri="{FF2B5EF4-FFF2-40B4-BE49-F238E27FC236}">
                <a16:creationId xmlns:a16="http://schemas.microsoft.com/office/drawing/2014/main" id="{C106860C-6702-258C-6DFF-BC74DB1067A6}"/>
              </a:ext>
            </a:extLst>
          </p:cNvPr>
          <p:cNvPicPr preferRelativeResize="0"/>
          <p:nvPr/>
        </p:nvPicPr>
        <p:blipFill>
          <a:blip r:embed="rId11">
            <a:alphaModFix/>
            <a:extLst>
              <a:ext uri="{28A0092B-C50C-407E-A947-70E740481C1C}">
                <a14:useLocalDpi xmlns:a14="http://schemas.microsoft.com/office/drawing/2010/main" val="0"/>
              </a:ext>
            </a:extLst>
          </a:blip>
          <a:srcRect t="8986" b="29686"/>
          <a:stretch>
            <a:fillRect/>
          </a:stretch>
        </p:blipFill>
        <p:spPr>
          <a:xfrm rot="10800000" flipV="1">
            <a:off x="18982675" y="25934812"/>
            <a:ext cx="3781286" cy="4093258"/>
          </a:xfrm>
          <a:prstGeom prst="rect">
            <a:avLst/>
          </a:prstGeom>
          <a:solidFill>
            <a:schemeClr val="accent4">
              <a:lumMod val="60000"/>
              <a:lumOff val="40000"/>
            </a:schemeClr>
          </a:solidFill>
          <a:ln>
            <a:noFill/>
          </a:ln>
        </p:spPr>
      </p:pic>
      <p:pic>
        <p:nvPicPr>
          <p:cNvPr id="109" name="Picture 108">
            <a:extLst>
              <a:ext uri="{FF2B5EF4-FFF2-40B4-BE49-F238E27FC236}">
                <a16:creationId xmlns:a16="http://schemas.microsoft.com/office/drawing/2014/main" id="{B4718C54-3A0B-B817-2B21-3792A5EE18CD}"/>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0713078" y="25894529"/>
            <a:ext cx="3441237" cy="4197642"/>
          </a:xfrm>
          <a:prstGeom prst="rect">
            <a:avLst/>
          </a:prstGeom>
          <a:solidFill>
            <a:schemeClr val="accent4">
              <a:lumMod val="60000"/>
              <a:lumOff val="40000"/>
            </a:schemeClr>
          </a:solidFill>
        </p:spPr>
      </p:pic>
      <p:sp>
        <p:nvSpPr>
          <p:cNvPr id="110" name="TextBox 109">
            <a:extLst>
              <a:ext uri="{FF2B5EF4-FFF2-40B4-BE49-F238E27FC236}">
                <a16:creationId xmlns:a16="http://schemas.microsoft.com/office/drawing/2014/main" id="{06E3B3C3-94EC-7513-CB92-211E1DA2F1E2}"/>
              </a:ext>
            </a:extLst>
          </p:cNvPr>
          <p:cNvSpPr txBox="1"/>
          <p:nvPr/>
        </p:nvSpPr>
        <p:spPr>
          <a:xfrm>
            <a:off x="10679487" y="25222238"/>
            <a:ext cx="12084475" cy="646331"/>
          </a:xfrm>
          <a:prstGeom prst="rect">
            <a:avLst/>
          </a:prstGeom>
          <a:solidFill>
            <a:schemeClr val="accent4">
              <a:lumMod val="60000"/>
              <a:lumOff val="40000"/>
            </a:schemeClr>
          </a:solidFill>
          <a:ln>
            <a:solidFill>
              <a:schemeClr val="tx1"/>
            </a:solidFill>
          </a:ln>
        </p:spPr>
        <p:txBody>
          <a:bodyPr wrap="square" rtlCol="0">
            <a:spAutoFit/>
          </a:bodyPr>
          <a:lstStyle/>
          <a:p>
            <a:r>
              <a:rPr lang="en-IN" sz="3600" b="1" dirty="0">
                <a:latin typeface="Arial" panose="020B0604020202020204" pitchFamily="34" charset="0"/>
                <a:cs typeface="Arial" panose="020B0604020202020204" pitchFamily="34" charset="0"/>
              </a:rPr>
              <a:t>EXCISION                                  SPECIMEN</a:t>
            </a:r>
            <a:endParaRPr lang="en-IN" sz="3600" dirty="0">
              <a:latin typeface="Arial" panose="020B0604020202020204" pitchFamily="34" charset="0"/>
              <a:cs typeface="Arial" panose="020B0604020202020204" pitchFamily="34" charset="0"/>
            </a:endParaRPr>
          </a:p>
        </p:txBody>
      </p:sp>
      <p:pic>
        <p:nvPicPr>
          <p:cNvPr id="117" name="Picture 116">
            <a:extLst>
              <a:ext uri="{FF2B5EF4-FFF2-40B4-BE49-F238E27FC236}">
                <a16:creationId xmlns:a16="http://schemas.microsoft.com/office/drawing/2014/main" id="{E3C48BFC-869B-7792-3173-93D9BF6AA81E}"/>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6788792" y="21380302"/>
            <a:ext cx="6197510" cy="3820620"/>
          </a:xfrm>
          <a:prstGeom prst="rect">
            <a:avLst/>
          </a:prstGeom>
          <a:solidFill>
            <a:schemeClr val="accent2">
              <a:lumMod val="60000"/>
              <a:lumOff val="40000"/>
            </a:schemeClr>
          </a:solidFill>
        </p:spPr>
      </p:pic>
      <p:sp>
        <p:nvSpPr>
          <p:cNvPr id="118" name="TextBox 117">
            <a:extLst>
              <a:ext uri="{FF2B5EF4-FFF2-40B4-BE49-F238E27FC236}">
                <a16:creationId xmlns:a16="http://schemas.microsoft.com/office/drawing/2014/main" id="{82383DF5-D7B5-0D9F-768C-8EDB896F9ACA}"/>
              </a:ext>
            </a:extLst>
          </p:cNvPr>
          <p:cNvSpPr txBox="1"/>
          <p:nvPr/>
        </p:nvSpPr>
        <p:spPr>
          <a:xfrm>
            <a:off x="16732872" y="20101556"/>
            <a:ext cx="6197510" cy="1240340"/>
          </a:xfrm>
          <a:prstGeom prst="rect">
            <a:avLst/>
          </a:prstGeom>
          <a:solidFill>
            <a:schemeClr val="accent2">
              <a:lumMod val="60000"/>
              <a:lumOff val="40000"/>
            </a:schemeClr>
          </a:solidFill>
          <a:ln>
            <a:solidFill>
              <a:schemeClr val="tx1"/>
            </a:solidFill>
          </a:ln>
        </p:spPr>
        <p:txBody>
          <a:bodyPr wrap="square" rtlCol="0">
            <a:spAutoFit/>
          </a:bodyPr>
          <a:lstStyle/>
          <a:p>
            <a:pPr algn="ctr"/>
            <a:r>
              <a:rPr lang="en-US" sz="3730" b="1" dirty="0">
                <a:latin typeface="Arial" panose="020B0604020202020204" pitchFamily="34" charset="0"/>
                <a:cs typeface="Arial" panose="020B0604020202020204" pitchFamily="34" charset="0"/>
              </a:rPr>
              <a:t>Common peroneal nerve secured </a:t>
            </a:r>
            <a:endParaRPr lang="en-IN" sz="3730" b="1" dirty="0">
              <a:latin typeface="Arial" panose="020B0604020202020204" pitchFamily="34" charset="0"/>
              <a:cs typeface="Arial" panose="020B0604020202020204" pitchFamily="34" charset="0"/>
            </a:endParaRPr>
          </a:p>
        </p:txBody>
      </p:sp>
      <p:pic>
        <p:nvPicPr>
          <p:cNvPr id="121" name="Picture 120">
            <a:extLst>
              <a:ext uri="{FF2B5EF4-FFF2-40B4-BE49-F238E27FC236}">
                <a16:creationId xmlns:a16="http://schemas.microsoft.com/office/drawing/2014/main" id="{E58EF88D-9790-C8F0-6BA9-C18753914743}"/>
              </a:ext>
            </a:extLst>
          </p:cNvPr>
          <p:cNvPicPr>
            <a:picLocks noChangeAspect="1"/>
          </p:cNvPicPr>
          <p:nvPr/>
        </p:nvPicPr>
        <p:blipFill>
          <a:blip r:embed="rId14">
            <a:extLst>
              <a:ext uri="{28A0092B-C50C-407E-A947-70E740481C1C}">
                <a14:useLocalDpi xmlns:a14="http://schemas.microsoft.com/office/drawing/2010/main" val="0"/>
              </a:ext>
            </a:extLst>
          </a:blip>
          <a:srcRect l="37066" t="5262" r="15960" b="7908"/>
          <a:stretch>
            <a:fillRect/>
          </a:stretch>
        </p:blipFill>
        <p:spPr>
          <a:xfrm>
            <a:off x="14073648" y="37589153"/>
            <a:ext cx="3161211" cy="6302047"/>
          </a:xfrm>
          <a:prstGeom prst="rect">
            <a:avLst/>
          </a:prstGeom>
        </p:spPr>
      </p:pic>
      <p:pic>
        <p:nvPicPr>
          <p:cNvPr id="19" name="Picture 18">
            <a:extLst>
              <a:ext uri="{FF2B5EF4-FFF2-40B4-BE49-F238E27FC236}">
                <a16:creationId xmlns:a16="http://schemas.microsoft.com/office/drawing/2014/main" id="{B1FC605A-FE42-5E25-5299-36D3D9C67225}"/>
              </a:ext>
            </a:extLst>
          </p:cNvPr>
          <p:cNvPicPr>
            <a:picLocks noChangeAspect="1"/>
          </p:cNvPicPr>
          <p:nvPr/>
        </p:nvPicPr>
        <p:blipFill>
          <a:blip r:embed="rId15">
            <a:extLst>
              <a:ext uri="{28A0092B-C50C-407E-A947-70E740481C1C}">
                <a14:useLocalDpi xmlns:a14="http://schemas.microsoft.com/office/drawing/2010/main" val="0"/>
              </a:ext>
            </a:extLst>
          </a:blip>
          <a:srcRect l="-2162" t="24507" r="9014" b="24555"/>
          <a:stretch>
            <a:fillRect/>
          </a:stretch>
        </p:blipFill>
        <p:spPr>
          <a:xfrm>
            <a:off x="13983624" y="25861904"/>
            <a:ext cx="4999050" cy="4166167"/>
          </a:xfrm>
          <a:prstGeom prst="rect">
            <a:avLst/>
          </a:prstGeom>
        </p:spPr>
      </p:pic>
      <p:pic>
        <p:nvPicPr>
          <p:cNvPr id="27" name="Picture 26">
            <a:extLst>
              <a:ext uri="{FF2B5EF4-FFF2-40B4-BE49-F238E27FC236}">
                <a16:creationId xmlns:a16="http://schemas.microsoft.com/office/drawing/2014/main" id="{FFC8FA06-E7C9-4EC5-9772-36B44E15436B}"/>
              </a:ext>
            </a:extLst>
          </p:cNvPr>
          <p:cNvPicPr>
            <a:picLocks noChangeAspect="1"/>
          </p:cNvPicPr>
          <p:nvPr/>
        </p:nvPicPr>
        <p:blipFill>
          <a:blip r:embed="rId16">
            <a:extLst>
              <a:ext uri="{28A0092B-C50C-407E-A947-70E740481C1C}">
                <a14:useLocalDpi xmlns:a14="http://schemas.microsoft.com/office/drawing/2010/main" val="0"/>
              </a:ext>
            </a:extLst>
          </a:blip>
          <a:srcRect l="31471" t="5812" r="14701" b="428"/>
          <a:stretch>
            <a:fillRect/>
          </a:stretch>
        </p:blipFill>
        <p:spPr>
          <a:xfrm>
            <a:off x="10618158" y="37548395"/>
            <a:ext cx="3554114" cy="6325611"/>
          </a:xfrm>
          <a:prstGeom prst="rect">
            <a:avLst/>
          </a:prstGeom>
        </p:spPr>
      </p:pic>
      <p:pic>
        <p:nvPicPr>
          <p:cNvPr id="12" name="Picture 11">
            <a:extLst>
              <a:ext uri="{FF2B5EF4-FFF2-40B4-BE49-F238E27FC236}">
                <a16:creationId xmlns:a16="http://schemas.microsoft.com/office/drawing/2014/main" id="{B5B84F26-E686-7E4A-330B-EC3B93E41864}"/>
              </a:ext>
            </a:extLst>
          </p:cNvPr>
          <p:cNvPicPr>
            <a:picLocks noChangeAspect="1"/>
          </p:cNvPicPr>
          <p:nvPr/>
        </p:nvPicPr>
        <p:blipFill>
          <a:blip r:embed="rId17">
            <a:extLst>
              <a:ext uri="{28A0092B-C50C-407E-A947-70E740481C1C}">
                <a14:useLocalDpi xmlns:a14="http://schemas.microsoft.com/office/drawing/2010/main" val="0"/>
              </a:ext>
            </a:extLst>
          </a:blip>
          <a:srcRect t="2347" b="20238"/>
          <a:stretch>
            <a:fillRect/>
          </a:stretch>
        </p:blipFill>
        <p:spPr>
          <a:xfrm>
            <a:off x="18601054" y="30669300"/>
            <a:ext cx="4105532" cy="6040137"/>
          </a:xfrm>
          <a:prstGeom prst="rect">
            <a:avLst/>
          </a:prstGeom>
        </p:spPr>
      </p:pic>
      <p:pic>
        <p:nvPicPr>
          <p:cNvPr id="26" name="Picture 25">
            <a:extLst>
              <a:ext uri="{FF2B5EF4-FFF2-40B4-BE49-F238E27FC236}">
                <a16:creationId xmlns:a16="http://schemas.microsoft.com/office/drawing/2014/main" id="{15101BC5-0CFA-392F-D5A9-0627B102FC59}"/>
              </a:ext>
            </a:extLst>
          </p:cNvPr>
          <p:cNvPicPr>
            <a:picLocks noChangeAspect="1"/>
          </p:cNvPicPr>
          <p:nvPr/>
        </p:nvPicPr>
        <p:blipFill>
          <a:blip r:embed="rId18">
            <a:extLst>
              <a:ext uri="{28A0092B-C50C-407E-A947-70E740481C1C}">
                <a14:useLocalDpi xmlns:a14="http://schemas.microsoft.com/office/drawing/2010/main" val="0"/>
              </a:ext>
            </a:extLst>
          </a:blip>
          <a:srcRect l="18433" t="29980" r="48184" b="47029"/>
          <a:stretch>
            <a:fillRect/>
          </a:stretch>
        </p:blipFill>
        <p:spPr>
          <a:xfrm>
            <a:off x="-60760" y="40123114"/>
            <a:ext cx="5382378" cy="3750891"/>
          </a:xfrm>
          <a:prstGeom prst="rect">
            <a:avLst/>
          </a:prstGeom>
        </p:spPr>
      </p:pic>
    </p:spTree>
    <p:extLst>
      <p:ext uri="{BB962C8B-B14F-4D97-AF65-F5344CB8AC3E}">
        <p14:creationId xmlns:p14="http://schemas.microsoft.com/office/powerpoint/2010/main" val="11616906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1999</TotalTime>
  <Words>955</Words>
  <Application>Microsoft Office PowerPoint</Application>
  <PresentationFormat>Custom</PresentationFormat>
  <Paragraphs>66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venkata ramana</dc:creator>
  <cp:lastModifiedBy>Sukumar Pabolu</cp:lastModifiedBy>
  <cp:revision>37</cp:revision>
  <dcterms:created xsi:type="dcterms:W3CDTF">2026-01-22T16:12:08Z</dcterms:created>
  <dcterms:modified xsi:type="dcterms:W3CDTF">2026-01-28T14:10:03Z</dcterms:modified>
</cp:coreProperties>
</file>