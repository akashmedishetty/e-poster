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56" r:id="rId3"/>
    <p:sldId id="257" r:id="rId4"/>
    <p:sldId id="258" r:id="rId5"/>
    <p:sldId id="259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FFFE3-E262-4107-A953-3909FAEE16E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89F0F4-F7B3-427F-89BC-319BB1026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09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9F0F4-F7B3-427F-89BC-319BB1026A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351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87343"/>
            <a:ext cx="10515600" cy="2156402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FUNCTIONAL OUTCOME FOLLOWING DORSAL PLATING IN INTRA-ARTICULAR DISTAL RADIUS FRACTURE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2909" y="4114800"/>
            <a:ext cx="7820891" cy="198120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PRESENTER : DR POTHURAJU DURGA SAI PRASAD</a:t>
            </a:r>
          </a:p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GUIDE            : DR I ROHIT (PROFESSOR) </a:t>
            </a:r>
          </a:p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DEPARTMENT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ORTHOPAEDICS </a:t>
            </a:r>
          </a:p>
          <a:p>
            <a:pPr marL="0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ASRAM MEDICAL COLLEGE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1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0020" y="1665007"/>
            <a:ext cx="372409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3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0020" y="2422174"/>
            <a:ext cx="10756961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/>
              <a:t>Distal radius fractures account for ~17.5% of all </a:t>
            </a:r>
            <a:r>
              <a:rPr lang="en-US" dirty="0" err="1"/>
              <a:t>orthopaedic</a:t>
            </a:r>
            <a:r>
              <a:rPr lang="en-US" dirty="0"/>
              <a:t> fractures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/>
              <a:t>Nearly </a:t>
            </a:r>
            <a:r>
              <a:rPr lang="en-IN" dirty="0"/>
              <a:t>50%</a:t>
            </a:r>
            <a:r>
              <a:rPr lang="en-US" dirty="0" smtClean="0"/>
              <a:t> </a:t>
            </a:r>
            <a:r>
              <a:rPr lang="en-US" dirty="0"/>
              <a:t>are intra‑articular with risk of poor functional outcome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/>
              <a:t>Dorsal plating allows direct articular visualization and stable </a:t>
            </a:r>
            <a:r>
              <a:rPr lang="en-US" dirty="0" smtClean="0"/>
              <a:t>fixation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/>
              <a:t>Inadequate reduction can result in stiffness, chronic pain, and post-traumatic </a:t>
            </a:r>
            <a:r>
              <a:rPr lang="en-US" dirty="0" smtClean="0"/>
              <a:t>arthritis</a:t>
            </a:r>
            <a:endParaRPr lang="en-US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/>
              <a:t>Restoration of articular congruity and radiological parameters is essential for good outcome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53453" y="1309353"/>
            <a:ext cx="8951494" cy="1143000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Aim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53453" y="2332038"/>
            <a:ext cx="11189368" cy="40447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 smtClean="0">
                <a:latin typeface="Arial"/>
              </a:rPr>
              <a:t>To </a:t>
            </a:r>
            <a:r>
              <a:rPr lang="en-US" dirty="0" err="1" smtClean="0">
                <a:latin typeface="Arial"/>
              </a:rPr>
              <a:t>analyse</a:t>
            </a:r>
            <a:r>
              <a:rPr lang="en-US" dirty="0" smtClean="0">
                <a:latin typeface="Arial"/>
              </a:rPr>
              <a:t> the functional outcome of intra‑articular distal radius fractures treated with dorsal plating</a:t>
            </a:r>
          </a:p>
          <a:p>
            <a:pPr algn="l"/>
            <a:r>
              <a:rPr lang="en-US"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sz="4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evaluate functional outcome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intraarticular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fracture of distal radius by open reduction and internal fixation by dorsal plating.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assess intra operative and post operative complications of dorsal plating of distal radius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04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09074" y="972469"/>
            <a:ext cx="8229600" cy="1143000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en-IN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09074" y="2404228"/>
            <a:ext cx="11454062" cy="39273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 smtClean="0">
                <a:latin typeface="Arial"/>
              </a:rPr>
              <a:t>Prospective interventional study (n = 25)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 smtClean="0">
                <a:latin typeface="Arial"/>
              </a:rPr>
              <a:t>Adult patients with intra‑articular distal radius fractures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 smtClean="0">
                <a:latin typeface="Arial"/>
              </a:rPr>
              <a:t>Treated by open reduction and internal fixation using dorsal plating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dirty="0" smtClean="0">
                <a:latin typeface="Arial"/>
              </a:rPr>
              <a:t>Functional outcome assessed using DASH score</a:t>
            </a:r>
          </a:p>
          <a:p>
            <a:pPr marL="342900" lvl="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b="1" dirty="0" smtClean="0"/>
              <a:t>Inclusion criteria</a:t>
            </a:r>
            <a:r>
              <a:rPr lang="en-IN" dirty="0"/>
              <a:t> </a:t>
            </a:r>
            <a:r>
              <a:rPr lang="en-IN" dirty="0" smtClean="0"/>
              <a:t>: </a:t>
            </a:r>
            <a:r>
              <a:rPr lang="en-US" dirty="0" smtClean="0"/>
              <a:t>Adult </a:t>
            </a:r>
            <a:r>
              <a:rPr lang="en-US" dirty="0"/>
              <a:t>age groups (more than </a:t>
            </a:r>
            <a:r>
              <a:rPr lang="en-CA" dirty="0"/>
              <a:t>18 </a:t>
            </a:r>
            <a:r>
              <a:rPr lang="en-US" dirty="0"/>
              <a:t>years </a:t>
            </a:r>
            <a:r>
              <a:rPr lang="en-US" dirty="0" smtClean="0"/>
              <a:t>) ,</a:t>
            </a:r>
            <a:r>
              <a:rPr lang="en-US" dirty="0"/>
              <a:t> Post traumatic </a:t>
            </a:r>
            <a:r>
              <a:rPr lang="en-US" dirty="0" smtClean="0"/>
              <a:t>cases</a:t>
            </a:r>
            <a:r>
              <a:rPr lang="en-IN" dirty="0"/>
              <a:t>,</a:t>
            </a:r>
            <a:r>
              <a:rPr lang="en-US" dirty="0" smtClean="0"/>
              <a:t> </a:t>
            </a:r>
            <a:r>
              <a:rPr lang="en-IN" dirty="0"/>
              <a:t>Dorsal subluxation and dislocation of distal </a:t>
            </a:r>
            <a:r>
              <a:rPr lang="en-IN" dirty="0" smtClean="0"/>
              <a:t>radius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r>
              <a:rPr lang="en-US" b="1" dirty="0" smtClean="0"/>
              <a:t>Exclusion </a:t>
            </a:r>
            <a:r>
              <a:rPr lang="en-US" b="1" dirty="0"/>
              <a:t>criteria</a:t>
            </a:r>
            <a:r>
              <a:rPr lang="en-US" b="1" dirty="0" smtClean="0"/>
              <a:t>: </a:t>
            </a:r>
            <a:r>
              <a:rPr lang="en-US" dirty="0"/>
              <a:t>Pathological </a:t>
            </a:r>
            <a:r>
              <a:rPr lang="en-US" dirty="0" smtClean="0"/>
              <a:t>fractures</a:t>
            </a:r>
            <a:r>
              <a:rPr lang="en-IN" dirty="0" smtClean="0"/>
              <a:t>, Neglected </a:t>
            </a:r>
            <a:r>
              <a:rPr lang="en-IN" dirty="0"/>
              <a:t>fractures are excluded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endParaRPr lang="en-IN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Arial"/>
              </a:defRPr>
            </a:pP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798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16" t="33742" r="55103" b="39963"/>
          <a:stretch/>
        </p:blipFill>
        <p:spPr bwMode="auto">
          <a:xfrm>
            <a:off x="405245" y="1482349"/>
            <a:ext cx="3421293" cy="45443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84" t="50619" r="29915" b="24704"/>
          <a:stretch/>
        </p:blipFill>
        <p:spPr bwMode="auto">
          <a:xfrm>
            <a:off x="3826539" y="1482664"/>
            <a:ext cx="3363998" cy="45440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9" t="24339" r="12091" b="29878"/>
          <a:stretch/>
        </p:blipFill>
        <p:spPr bwMode="auto">
          <a:xfrm>
            <a:off x="7190537" y="1495049"/>
            <a:ext cx="2701608" cy="45316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0" t="23020" r="19450" b="21930"/>
          <a:stretch/>
        </p:blipFill>
        <p:spPr bwMode="auto">
          <a:xfrm>
            <a:off x="9892144" y="1495049"/>
            <a:ext cx="2299855" cy="45316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/>
          <p:cNvSpPr/>
          <p:nvPr/>
        </p:nvSpPr>
        <p:spPr>
          <a:xfrm>
            <a:off x="928255" y="6250770"/>
            <a:ext cx="53328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Pre </a:t>
            </a:r>
            <a:r>
              <a:rPr lang="en-US" dirty="0" smtClean="0">
                <a:latin typeface="Arial" panose="020B0604020202020204" pitchFamily="34" charset="0"/>
                <a:ea typeface="Arial" panose="020B0604020202020204" pitchFamily="34" charset="0"/>
              </a:rPr>
              <a:t>op x rays                              </a:t>
            </a: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post </a:t>
            </a:r>
            <a:r>
              <a:rPr lang="en-US" dirty="0" smtClean="0">
                <a:latin typeface="Arial" panose="020B0604020202020204" pitchFamily="34" charset="0"/>
                <a:ea typeface="Arial" panose="020B0604020202020204" pitchFamily="34" charset="0"/>
              </a:rPr>
              <a:t>op x rays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09162" y="6250770"/>
            <a:ext cx="43309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Follow </a:t>
            </a:r>
            <a:r>
              <a:rPr lang="en-US" dirty="0" smtClean="0">
                <a:latin typeface="Arial" panose="020B0604020202020204" pitchFamily="34" charset="0"/>
                <a:ea typeface="Arial" panose="020B0604020202020204" pitchFamily="34" charset="0"/>
              </a:rPr>
              <a:t>up x rays</a:t>
            </a:r>
            <a:endParaRPr lang="en-IN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1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79" y="1399842"/>
            <a:ext cx="10515600" cy="862096"/>
          </a:xfrm>
        </p:spPr>
        <p:txBody>
          <a:bodyPr/>
          <a:lstStyle/>
          <a:p>
            <a:r>
              <a:rPr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379" y="2372774"/>
            <a:ext cx="6260432" cy="3420143"/>
          </a:xfrm>
        </p:spPr>
        <p:txBody>
          <a:bodyPr/>
          <a:lstStyle/>
          <a:p>
            <a:pPr>
              <a:defRPr sz="2400">
                <a:latin typeface="Arial"/>
              </a:defRPr>
            </a:pPr>
            <a:r>
              <a:rPr dirty="0"/>
              <a:t>Mean age: 41 years; </a:t>
            </a:r>
            <a:r>
              <a:rPr dirty="0" err="1"/>
              <a:t>Male:Female</a:t>
            </a:r>
            <a:r>
              <a:rPr dirty="0"/>
              <a:t> = 64%:36%</a:t>
            </a:r>
          </a:p>
          <a:p>
            <a:pPr>
              <a:defRPr sz="2400">
                <a:latin typeface="Arial"/>
              </a:defRPr>
            </a:pPr>
            <a:r>
              <a:rPr dirty="0"/>
              <a:t>Excellent to good outcomes in 88% of patients</a:t>
            </a:r>
          </a:p>
          <a:p>
            <a:pPr>
              <a:defRPr sz="2400">
                <a:latin typeface="Arial"/>
              </a:defRPr>
            </a:pPr>
            <a:r>
              <a:rPr dirty="0"/>
              <a:t>Complications: extensor tendon irritation (8%), CRPS (4%)</a:t>
            </a:r>
          </a:p>
          <a:p>
            <a:pPr>
              <a:defRPr sz="2400">
                <a:latin typeface="Arial"/>
              </a:defRPr>
            </a:pPr>
            <a:r>
              <a:rPr dirty="0"/>
              <a:t>Majority regained &gt;75% ROM and grip strength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458284"/>
              </p:ext>
            </p:extLst>
          </p:nvPr>
        </p:nvGraphicFramePr>
        <p:xfrm>
          <a:off x="6413559" y="1928465"/>
          <a:ext cx="53905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838">
                  <a:extLst>
                    <a:ext uri="{9D8B030D-6E8A-4147-A177-3AD203B41FA5}">
                      <a16:colId xmlns:a16="http://schemas.microsoft.com/office/drawing/2014/main" val="1489486535"/>
                    </a:ext>
                  </a:extLst>
                </a:gridCol>
                <a:gridCol w="1796838">
                  <a:extLst>
                    <a:ext uri="{9D8B030D-6E8A-4147-A177-3AD203B41FA5}">
                      <a16:colId xmlns:a16="http://schemas.microsoft.com/office/drawing/2014/main" val="90609846"/>
                    </a:ext>
                  </a:extLst>
                </a:gridCol>
                <a:gridCol w="1796838">
                  <a:extLst>
                    <a:ext uri="{9D8B030D-6E8A-4147-A177-3AD203B41FA5}">
                      <a16:colId xmlns:a16="http://schemas.microsoft.com/office/drawing/2014/main" val="4057469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lang="en-IN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 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38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EXCELLENT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32%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37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 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56%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03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FAIR 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12%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5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POOR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4463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22815" y="5241989"/>
            <a:ext cx="457200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Functional outcome assessment by DASH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Scoring System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06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58167"/>
            <a:ext cx="10515600" cy="748047"/>
          </a:xfrm>
        </p:spPr>
        <p:txBody>
          <a:bodyPr/>
          <a:lstStyle/>
          <a:p>
            <a:r>
              <a:rPr sz="4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41741"/>
            <a:ext cx="10515600" cy="3188004"/>
          </a:xfrm>
        </p:spPr>
        <p:txBody>
          <a:bodyPr/>
          <a:lstStyle/>
          <a:p>
            <a:pPr>
              <a:lnSpc>
                <a:spcPct val="150000"/>
              </a:lnSpc>
              <a:defRPr sz="2400">
                <a:latin typeface="Arial"/>
              </a:defRPr>
            </a:pPr>
            <a:r>
              <a:rPr dirty="0"/>
              <a:t>Dorsal plating provides stable fixation and good functional outcomes</a:t>
            </a:r>
          </a:p>
          <a:p>
            <a:pPr>
              <a:lnSpc>
                <a:spcPct val="150000"/>
              </a:lnSpc>
              <a:defRPr sz="2400">
                <a:latin typeface="Arial"/>
              </a:defRPr>
            </a:pPr>
            <a:r>
              <a:rPr dirty="0"/>
              <a:t>Allows early mobilization and satisfactory range of </a:t>
            </a:r>
            <a:r>
              <a:rPr dirty="0" smtClean="0"/>
              <a:t>motion</a:t>
            </a:r>
            <a:endParaRPr lang="en-US" dirty="0" smtClean="0"/>
          </a:p>
          <a:p>
            <a:pPr>
              <a:lnSpc>
                <a:spcPct val="150000"/>
              </a:lnSpc>
              <a:defRPr sz="2400">
                <a:latin typeface="Arial"/>
              </a:defRPr>
            </a:pPr>
            <a:r>
              <a:rPr lang="en-US" dirty="0"/>
              <a:t>It enables accurate articular reconstruction and stable fixation</a:t>
            </a:r>
          </a:p>
          <a:p>
            <a:pPr>
              <a:lnSpc>
                <a:spcPct val="150000"/>
              </a:lnSpc>
              <a:defRPr sz="2400">
                <a:latin typeface="Arial"/>
              </a:defRPr>
            </a:pPr>
            <a:r>
              <a:rPr lang="en-US" dirty="0"/>
              <a:t>Early mobilization leads to improved range of motion and grip </a:t>
            </a:r>
            <a:r>
              <a:rPr lang="en-US" dirty="0" smtClean="0"/>
              <a:t>strength</a:t>
            </a:r>
            <a:endParaRPr dirty="0"/>
          </a:p>
          <a:p>
            <a:pPr>
              <a:lnSpc>
                <a:spcPct val="150000"/>
              </a:lnSpc>
              <a:defRPr sz="2400">
                <a:latin typeface="Arial"/>
              </a:defRPr>
            </a:pPr>
            <a:r>
              <a:rPr dirty="0"/>
              <a:t>Low complication rates with modern low‑profile plates</a:t>
            </a:r>
          </a:p>
        </p:txBody>
      </p:sp>
    </p:spTree>
    <p:extLst>
      <p:ext uri="{BB962C8B-B14F-4D97-AF65-F5344CB8AC3E}">
        <p14:creationId xmlns:p14="http://schemas.microsoft.com/office/powerpoint/2010/main" val="227775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136" y="1470868"/>
            <a:ext cx="10920663" cy="916490"/>
          </a:xfrm>
        </p:spPr>
        <p:txBody>
          <a:bodyPr/>
          <a:lstStyle/>
          <a:p>
            <a:r>
              <a:rPr sz="4000" u="sng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36" y="2165685"/>
            <a:ext cx="10920663" cy="43000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Herron M,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Faraj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Craigen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MA. Dorsal plating for displaced intra-articular fractures of the distal radius. Injury. 2003 Jul;34(7):497-502.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10.1016/s0020-1383(02)00190-0. PMID: 12832175.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defRPr sz="2400">
                <a:latin typeface="Arial"/>
              </a:defRP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Kamath AF,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Zurakowski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D, Day CS. Low-profile dorsal plating for dorsally angulated distal radius fractures: an outcomes study. J Hand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Surg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Am. 2006 Sep;31(7):1061-7.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10.1016/j.jhsa.2006.05.008. PMID: 16945704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Lutsky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K, McKeon K, Goldfarb C, Boyer M. Dorsal fixation of intra-articular distal radius fractures using 2.4-mm locking plates. Tech Hand Up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Extrem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Surg. 2009 Dec;13(4):187-96.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10.1097/BTH.0b013e3181c15de2. PMID: 19956044.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89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460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Gordita </vt:lpstr>
      <vt:lpstr>Office Theme</vt:lpstr>
      <vt:lpstr>FUNCTIONAL OUTCOME FOLLOWING DORSAL PLATING IN INTRA-ARTICULAR DISTAL RADIUS FRACTURE</vt:lpstr>
      <vt:lpstr>PowerPoint Presentation</vt:lpstr>
      <vt:lpstr>PowerPoint Presentation</vt:lpstr>
      <vt:lpstr>PowerPoint Presentation</vt:lpstr>
      <vt:lpstr>PowerPoint Presentation</vt:lpstr>
      <vt:lpstr>Results :</vt:lpstr>
      <vt:lpstr>Conclusion :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OUTCOME FOLLOWING DORSAL PLATING IN INTRA-ARTICULAR DISTAL RADIUS FRACTURE</dc:title>
  <dc:creator>Virinchi Vinay</dc:creator>
  <cp:lastModifiedBy>LENOVO</cp:lastModifiedBy>
  <cp:revision>15</cp:revision>
  <dcterms:created xsi:type="dcterms:W3CDTF">2026-01-11T06:24:43Z</dcterms:created>
  <dcterms:modified xsi:type="dcterms:W3CDTF">2026-01-28T15:10:59Z</dcterms:modified>
</cp:coreProperties>
</file>