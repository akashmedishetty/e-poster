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59" r:id="rId4"/>
    <p:sldId id="260" r:id="rId5"/>
    <p:sldId id="266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image" Target="../media/image4.png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image" Target="../media/image3.png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image" Target="../media/image2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422EEB-C18E-401D-4D14-F61D82881EC6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A44D43F-1B53-AAA9-B551-4D46D6B6290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3FAB85-38C0-CBC3-894D-F14B0983660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AAF0D4-F34A-1980-C65B-0B020591390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4EFB44A-ED67-5BFE-548D-FCB7384C661F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2ED9E8-378E-74DB-69F2-37A19A83672D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2363BD-0C06-5137-F50F-3CB1079D47C5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A034863C-B4F3-2506-7721-DA2D88319DB1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28798-77E9-84E8-4853-315077C45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486" y="1284514"/>
            <a:ext cx="11713027" cy="2460172"/>
          </a:xfrm>
        </p:spPr>
        <p:txBody>
          <a:bodyPr/>
          <a:lstStyle/>
          <a:p>
            <a:r>
              <a:rPr lang="en-IN" sz="5400" b="1" dirty="0"/>
              <a:t>Use of antibiotic cement impregnated intramedullary nail in the treatment of infected non union of long bones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C27CAC-F6B9-83BD-5471-4334160C2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3543" y="4471761"/>
            <a:ext cx="8338457" cy="2037896"/>
          </a:xfrm>
        </p:spPr>
        <p:txBody>
          <a:bodyPr/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Arial"/>
                <a:cs typeface="Arial"/>
              </a:rPr>
              <a:t>Presenter</a:t>
            </a:r>
            <a:r>
              <a:rPr lang="en-IN" spc="-55" dirty="0">
                <a:latin typeface="Arial"/>
                <a:cs typeface="Arial"/>
              </a:rPr>
              <a:t> </a:t>
            </a:r>
            <a:r>
              <a:rPr lang="en-IN" dirty="0">
                <a:latin typeface="Arial"/>
                <a:cs typeface="Arial"/>
              </a:rPr>
              <a:t>:</a:t>
            </a:r>
            <a:r>
              <a:rPr lang="en-IN" spc="-50" dirty="0">
                <a:latin typeface="Arial"/>
                <a:cs typeface="Arial"/>
              </a:rPr>
              <a:t> </a:t>
            </a:r>
            <a:r>
              <a:rPr lang="en-IN" dirty="0">
                <a:latin typeface="Arial"/>
                <a:cs typeface="Arial"/>
              </a:rPr>
              <a:t>Dr</a:t>
            </a:r>
            <a:r>
              <a:rPr lang="en-IN" spc="-55" dirty="0">
                <a:latin typeface="Arial"/>
                <a:cs typeface="Arial"/>
              </a:rPr>
              <a:t>. </a:t>
            </a:r>
            <a:r>
              <a:rPr lang="en-IN" dirty="0">
                <a:latin typeface="Arial"/>
                <a:cs typeface="Arial"/>
              </a:rPr>
              <a:t>G. MANOJ BHASKAR</a:t>
            </a:r>
          </a:p>
          <a:p>
            <a:pPr marL="12700" marR="5080" algn="l">
              <a:lnSpc>
                <a:spcPct val="100000"/>
              </a:lnSpc>
            </a:pPr>
            <a:r>
              <a:rPr lang="en-IN" dirty="0">
                <a:latin typeface="Arial"/>
                <a:cs typeface="Arial"/>
              </a:rPr>
              <a:t>Moderator</a:t>
            </a:r>
            <a:r>
              <a:rPr lang="en-IN" spc="-65" dirty="0">
                <a:latin typeface="Arial"/>
                <a:cs typeface="Arial"/>
              </a:rPr>
              <a:t> </a:t>
            </a:r>
            <a:r>
              <a:rPr lang="en-IN" dirty="0">
                <a:latin typeface="Arial"/>
                <a:cs typeface="Arial"/>
              </a:rPr>
              <a:t>:</a:t>
            </a:r>
            <a:r>
              <a:rPr lang="en-IN" spc="-60" dirty="0">
                <a:latin typeface="Arial"/>
                <a:cs typeface="Arial"/>
              </a:rPr>
              <a:t> </a:t>
            </a:r>
            <a:r>
              <a:rPr lang="en-IN" dirty="0">
                <a:latin typeface="Arial"/>
                <a:cs typeface="Arial"/>
              </a:rPr>
              <a:t>Dr</a:t>
            </a:r>
            <a:r>
              <a:rPr lang="en-IN" spc="-60" dirty="0">
                <a:latin typeface="Arial"/>
                <a:cs typeface="Arial"/>
              </a:rPr>
              <a:t> </a:t>
            </a:r>
            <a:r>
              <a:rPr lang="en-IN" dirty="0">
                <a:latin typeface="Arial"/>
                <a:cs typeface="Arial"/>
              </a:rPr>
              <a:t>D. HARI KISHAN(Associate</a:t>
            </a:r>
            <a:r>
              <a:rPr lang="en-IN" spc="-60" dirty="0">
                <a:latin typeface="Arial"/>
                <a:cs typeface="Arial"/>
              </a:rPr>
              <a:t> </a:t>
            </a:r>
            <a:r>
              <a:rPr lang="en-IN" spc="-10" dirty="0">
                <a:latin typeface="Arial"/>
                <a:cs typeface="Arial"/>
              </a:rPr>
              <a:t>Professor) </a:t>
            </a:r>
          </a:p>
          <a:p>
            <a:pPr marL="12700" marR="5080" algn="l">
              <a:lnSpc>
                <a:spcPct val="100000"/>
              </a:lnSpc>
            </a:pPr>
            <a:r>
              <a:rPr lang="en-IN" dirty="0">
                <a:latin typeface="Arial"/>
                <a:cs typeface="Arial"/>
              </a:rPr>
              <a:t>Department</a:t>
            </a:r>
            <a:r>
              <a:rPr lang="en-IN" spc="-90" dirty="0">
                <a:latin typeface="Arial"/>
                <a:cs typeface="Arial"/>
              </a:rPr>
              <a:t> </a:t>
            </a:r>
            <a:r>
              <a:rPr lang="en-IN" dirty="0">
                <a:latin typeface="Arial"/>
                <a:cs typeface="Arial"/>
              </a:rPr>
              <a:t>of</a:t>
            </a:r>
            <a:r>
              <a:rPr lang="en-IN" spc="-85" dirty="0">
                <a:latin typeface="Arial"/>
                <a:cs typeface="Arial"/>
              </a:rPr>
              <a:t> </a:t>
            </a:r>
            <a:r>
              <a:rPr lang="en-IN" spc="-10" dirty="0">
                <a:latin typeface="Arial"/>
                <a:cs typeface="Arial"/>
              </a:rPr>
              <a:t>ORTHOPAEDICS</a:t>
            </a:r>
            <a:endParaRPr lang="en-IN" dirty="0">
              <a:latin typeface="Arial"/>
              <a:cs typeface="Arial"/>
            </a:endParaRPr>
          </a:p>
          <a:p>
            <a:pPr marL="12700" algn="l">
              <a:lnSpc>
                <a:spcPct val="100000"/>
              </a:lnSpc>
            </a:pPr>
            <a:r>
              <a:rPr lang="en-IN" dirty="0">
                <a:latin typeface="Arial"/>
                <a:cs typeface="Arial"/>
              </a:rPr>
              <a:t>Alluri Sita </a:t>
            </a:r>
            <a:r>
              <a:rPr lang="en-IN" dirty="0" err="1">
                <a:latin typeface="Arial"/>
                <a:cs typeface="Arial"/>
              </a:rPr>
              <a:t>Ramaraju</a:t>
            </a:r>
            <a:r>
              <a:rPr lang="en-IN" dirty="0">
                <a:latin typeface="Arial"/>
                <a:cs typeface="Arial"/>
              </a:rPr>
              <a:t> Academy of Medical Sciences, ELURU.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052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8D132-61E3-C9E7-7071-CAEA776DD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15143"/>
            <a:ext cx="3189514" cy="1078819"/>
          </a:xfrm>
        </p:spPr>
        <p:txBody>
          <a:bodyPr/>
          <a:lstStyle/>
          <a:p>
            <a:r>
              <a:rPr lang="en-IN" sz="4000" b="1" spc="-10" dirty="0">
                <a:latin typeface="Arial"/>
                <a:cs typeface="Arial"/>
              </a:rPr>
              <a:t>Introduction</a:t>
            </a:r>
            <a:br>
              <a:rPr lang="en-IN" sz="4000" dirty="0">
                <a:latin typeface="Arial"/>
                <a:cs typeface="Arial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3108A9-0C46-DF49-7D14-6C9C1AA71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74625"/>
            <a:ext cx="6455229" cy="4778828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Causes of infected non-union are generally inherent to the fractures, like compound wound, loss of soft tissue or bone, severe comminution and gross displacement.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Generally treatment of infected non-union involves </a:t>
            </a:r>
            <a:r>
              <a:rPr lang="en-IN" b="1" dirty="0"/>
              <a:t>2 staged procedure</a:t>
            </a:r>
          </a:p>
          <a:p>
            <a:pPr algn="l"/>
            <a:r>
              <a:rPr lang="en-IN" dirty="0"/>
              <a:t>               1) </a:t>
            </a:r>
            <a:r>
              <a:rPr lang="en-IN" b="1" dirty="0"/>
              <a:t>Debridement </a:t>
            </a:r>
            <a:r>
              <a:rPr lang="en-IN" dirty="0"/>
              <a:t>with/without antibiotic cement bead insertion + </a:t>
            </a:r>
            <a:r>
              <a:rPr lang="en-IN" b="1" dirty="0"/>
              <a:t>Systemic antibiotics </a:t>
            </a:r>
            <a:r>
              <a:rPr lang="en-IN" dirty="0"/>
              <a:t>to convert infected non-union into aseptic non-union.</a:t>
            </a:r>
          </a:p>
          <a:p>
            <a:pPr algn="l"/>
            <a:r>
              <a:rPr lang="en-IN" dirty="0"/>
              <a:t>              2) </a:t>
            </a:r>
            <a:r>
              <a:rPr lang="en-IN" b="1" dirty="0"/>
              <a:t>Achieving stability </a:t>
            </a:r>
            <a:r>
              <a:rPr lang="en-IN" dirty="0"/>
              <a:t>with either by external fixation or internal fixation + </a:t>
            </a:r>
            <a:r>
              <a:rPr lang="en-IN" b="1" dirty="0"/>
              <a:t>Bone grafting</a:t>
            </a:r>
            <a:r>
              <a:rPr lang="en-IN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14C1A6-1708-7C74-CE03-76F757116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9" t="7064" r="11182" b="10462"/>
          <a:stretch>
            <a:fillRect/>
          </a:stretch>
        </p:blipFill>
        <p:spPr>
          <a:xfrm>
            <a:off x="6226630" y="1317171"/>
            <a:ext cx="5965370" cy="554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976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02D76-E369-AF92-45B3-B49AD335A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485" y="1949677"/>
            <a:ext cx="7043057" cy="1392237"/>
          </a:xfrm>
        </p:spPr>
        <p:txBody>
          <a:bodyPr/>
          <a:lstStyle/>
          <a:p>
            <a:pPr marL="12700" algn="l">
              <a:lnSpc>
                <a:spcPct val="100000"/>
              </a:lnSpc>
              <a:spcBef>
                <a:spcPts val="100"/>
              </a:spcBef>
              <a:tabLst>
                <a:tab pos="1112520" algn="l"/>
                <a:tab pos="1733550" algn="l"/>
                <a:tab pos="2635885" algn="l"/>
              </a:tabLst>
            </a:pPr>
            <a:r>
              <a:rPr lang="en-US" b="1" spc="-25" dirty="0">
                <a:latin typeface="Arial"/>
                <a:cs typeface="Arial"/>
              </a:rPr>
              <a:t>Aim  of the </a:t>
            </a:r>
            <a:r>
              <a:rPr lang="en-US" b="1" spc="-10" dirty="0">
                <a:latin typeface="Arial"/>
                <a:cs typeface="Arial"/>
              </a:rPr>
              <a:t>Study</a:t>
            </a:r>
            <a:br>
              <a:rPr lang="en-US" sz="4400" dirty="0">
                <a:latin typeface="Arial"/>
                <a:cs typeface="Arial"/>
              </a:rPr>
            </a:b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CADC3C-5E11-50D9-D68E-7E89BE76D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4113" y="3135086"/>
            <a:ext cx="10058401" cy="2667000"/>
          </a:xfrm>
        </p:spPr>
        <p:txBody>
          <a:bodyPr/>
          <a:lstStyle/>
          <a:p>
            <a:pPr algn="r"/>
            <a:r>
              <a:rPr lang="en-US" sz="4400" dirty="0">
                <a:latin typeface="Arial"/>
                <a:cs typeface="Arial"/>
              </a:rPr>
              <a:t>To study</a:t>
            </a:r>
            <a:r>
              <a:rPr lang="en-US" sz="4400" spc="-65" dirty="0">
                <a:latin typeface="Arial"/>
                <a:cs typeface="Arial"/>
              </a:rPr>
              <a:t> </a:t>
            </a:r>
            <a:r>
              <a:rPr lang="en-US" sz="4400" dirty="0">
                <a:latin typeface="Arial"/>
                <a:cs typeface="Arial"/>
              </a:rPr>
              <a:t>the</a:t>
            </a:r>
            <a:r>
              <a:rPr lang="en-US" sz="4400" spc="-70" dirty="0">
                <a:latin typeface="Arial"/>
                <a:cs typeface="Arial"/>
              </a:rPr>
              <a:t> </a:t>
            </a:r>
            <a:r>
              <a:rPr lang="en-US" sz="4400" dirty="0">
                <a:latin typeface="Arial"/>
                <a:cs typeface="Arial"/>
              </a:rPr>
              <a:t>functional</a:t>
            </a:r>
            <a:r>
              <a:rPr lang="en-US" sz="4400" spc="-65" dirty="0">
                <a:latin typeface="Arial"/>
                <a:cs typeface="Arial"/>
              </a:rPr>
              <a:t> and radiological </a:t>
            </a:r>
            <a:r>
              <a:rPr lang="en-US" sz="4400" dirty="0">
                <a:latin typeface="Arial"/>
                <a:cs typeface="Arial"/>
              </a:rPr>
              <a:t>outcome</a:t>
            </a:r>
            <a:r>
              <a:rPr lang="en-US" sz="4400" spc="-65" dirty="0">
                <a:latin typeface="Arial"/>
                <a:cs typeface="Arial"/>
              </a:rPr>
              <a:t> </a:t>
            </a:r>
            <a:r>
              <a:rPr lang="en-US" sz="4400" spc="-25" dirty="0">
                <a:latin typeface="Arial"/>
                <a:cs typeface="Arial"/>
              </a:rPr>
              <a:t>of treating infected non union of long bones with antibiotic cement impregnated intramedullary nail</a:t>
            </a:r>
            <a:br>
              <a:rPr lang="en-US" sz="4400" dirty="0">
                <a:latin typeface="Arial"/>
                <a:cs typeface="Arial"/>
              </a:rPr>
            </a:b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937333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C4114-DD37-F7D5-C4B5-56CB1787B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56513"/>
            <a:ext cx="7826829" cy="1092768"/>
          </a:xfrm>
        </p:spPr>
        <p:txBody>
          <a:bodyPr/>
          <a:lstStyle/>
          <a:p>
            <a:pPr algn="l"/>
            <a:r>
              <a:rPr lang="en-IN" sz="4000" b="1" spc="-10" dirty="0">
                <a:latin typeface="Arial"/>
                <a:cs typeface="Arial"/>
              </a:rPr>
              <a:t>Materials </a:t>
            </a:r>
            <a:r>
              <a:rPr lang="en-IN" sz="4000" b="1" spc="-25" dirty="0">
                <a:latin typeface="Arial"/>
                <a:cs typeface="Arial"/>
              </a:rPr>
              <a:t>and </a:t>
            </a:r>
            <a:r>
              <a:rPr lang="en-IN" sz="4000" b="1" spc="-10" dirty="0">
                <a:latin typeface="Arial"/>
                <a:cs typeface="Arial"/>
              </a:rPr>
              <a:t>Methods</a:t>
            </a:r>
            <a:br>
              <a:rPr lang="en-IN" sz="4000" dirty="0">
                <a:latin typeface="Arial"/>
                <a:cs typeface="Arial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B63651-0F68-851B-5E8C-13BB6819D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58" y="1828801"/>
            <a:ext cx="12083142" cy="5029200"/>
          </a:xfrm>
        </p:spPr>
        <p:txBody>
          <a:bodyPr/>
          <a:lstStyle/>
          <a:p>
            <a:pPr algn="l"/>
            <a:r>
              <a:rPr lang="en-US" dirty="0">
                <a:latin typeface="Arial"/>
                <a:cs typeface="Arial"/>
              </a:rPr>
              <a:t>This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prospective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study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was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conducted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Department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of </a:t>
            </a:r>
            <a:r>
              <a:rPr lang="en-US" dirty="0" err="1">
                <a:latin typeface="Arial"/>
                <a:cs typeface="Arial"/>
              </a:rPr>
              <a:t>Orthopaedics</a:t>
            </a:r>
            <a:r>
              <a:rPr lang="en-US" dirty="0">
                <a:latin typeface="Arial"/>
                <a:cs typeface="Arial"/>
              </a:rPr>
              <a:t> [</a:t>
            </a:r>
            <a:r>
              <a:rPr lang="en-US" dirty="0" err="1">
                <a:latin typeface="Arial"/>
                <a:cs typeface="Arial"/>
              </a:rPr>
              <a:t>Asram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Medical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College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Hospital,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Eluru</a:t>
            </a:r>
            <a:r>
              <a:rPr lang="en-US" dirty="0">
                <a:latin typeface="Arial"/>
                <a:cs typeface="Arial"/>
              </a:rPr>
              <a:t>] </a:t>
            </a:r>
            <a:r>
              <a:rPr lang="en-US" spc="-20" dirty="0">
                <a:latin typeface="Arial"/>
                <a:cs typeface="Arial"/>
              </a:rPr>
              <a:t>from </a:t>
            </a:r>
            <a:r>
              <a:rPr lang="en-US" dirty="0">
                <a:latin typeface="Arial"/>
                <a:cs typeface="Arial"/>
              </a:rPr>
              <a:t>December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2023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to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December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2025.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total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of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10 patients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with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infected non union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were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included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divided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into</a:t>
            </a:r>
            <a:r>
              <a:rPr lang="en-US" spc="-75" dirty="0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three </a:t>
            </a:r>
            <a:r>
              <a:rPr lang="en-US" dirty="0">
                <a:latin typeface="Arial"/>
                <a:cs typeface="Arial"/>
              </a:rPr>
              <a:t>groups after adequate debridement :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Group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(bone defect &lt;4cm,</a:t>
            </a:r>
            <a:r>
              <a:rPr lang="en-US" spc="-6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n=4)</a:t>
            </a:r>
            <a:r>
              <a:rPr lang="en-US" spc="-65" dirty="0">
                <a:latin typeface="Arial"/>
                <a:cs typeface="Arial"/>
              </a:rPr>
              <a:t>, </a:t>
            </a:r>
            <a:r>
              <a:rPr lang="en-US" dirty="0">
                <a:latin typeface="Arial"/>
                <a:cs typeface="Arial"/>
              </a:rPr>
              <a:t>Group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B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(bone defect 4-6cm,</a:t>
            </a:r>
            <a:r>
              <a:rPr lang="en-US" spc="-8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n=4), Group C (bone defect &gt;6cm, n=2).</a:t>
            </a:r>
            <a:r>
              <a:rPr lang="en-US" spc="-80" dirty="0">
                <a:latin typeface="Arial"/>
                <a:cs typeface="Arial"/>
              </a:rPr>
              <a:t> </a:t>
            </a:r>
            <a:endParaRPr lang="en-US" spc="-10" dirty="0">
              <a:latin typeface="Arial"/>
              <a:cs typeface="Arial"/>
            </a:endParaRPr>
          </a:p>
          <a:p>
            <a:pPr marL="12700" marR="163195" algn="l">
              <a:lnSpc>
                <a:spcPts val="2380"/>
              </a:lnSpc>
              <a:spcBef>
                <a:spcPts val="969"/>
              </a:spcBef>
              <a:tabLst>
                <a:tab pos="241300" algn="l"/>
              </a:tabLst>
            </a:pPr>
            <a:endParaRPr lang="en-US" b="1" dirty="0">
              <a:latin typeface="Arial"/>
              <a:cs typeface="Arial"/>
            </a:endParaRPr>
          </a:p>
          <a:p>
            <a:pPr marL="12700" marR="163195" algn="l">
              <a:lnSpc>
                <a:spcPts val="2380"/>
              </a:lnSpc>
              <a:spcBef>
                <a:spcPts val="969"/>
              </a:spcBef>
              <a:tabLst>
                <a:tab pos="241300" algn="l"/>
              </a:tabLst>
            </a:pPr>
            <a:r>
              <a:rPr lang="en-US" b="1" dirty="0">
                <a:latin typeface="Arial"/>
                <a:cs typeface="Arial"/>
              </a:rPr>
              <a:t>Inclusion</a:t>
            </a:r>
            <a:r>
              <a:rPr lang="en-US" b="1" spc="-7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criteria</a:t>
            </a:r>
            <a:r>
              <a:rPr lang="en-US" b="1" spc="-70" dirty="0">
                <a:latin typeface="Arial"/>
                <a:cs typeface="Arial"/>
              </a:rPr>
              <a:t> </a:t>
            </a:r>
            <a:r>
              <a:rPr lang="en-US" spc="-70" dirty="0">
                <a:latin typeface="Arial"/>
                <a:cs typeface="Arial"/>
              </a:rPr>
              <a:t>included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IN" b="1" dirty="0">
                <a:latin typeface="Arial"/>
                <a:cs typeface="Arial"/>
              </a:rPr>
              <a:t>infected non-union of long bones </a:t>
            </a:r>
            <a:r>
              <a:rPr lang="en-IN" dirty="0">
                <a:latin typeface="Arial"/>
                <a:cs typeface="Arial"/>
              </a:rPr>
              <a:t>with</a:t>
            </a:r>
            <a:r>
              <a:rPr lang="en-US" dirty="0">
                <a:latin typeface="Arial"/>
                <a:cs typeface="Arial"/>
              </a:rPr>
              <a:t> age</a:t>
            </a:r>
            <a:r>
              <a:rPr lang="en-US" spc="-55" dirty="0">
                <a:latin typeface="Arial"/>
                <a:cs typeface="Arial"/>
              </a:rPr>
              <a:t> 20</a:t>
            </a:r>
            <a:r>
              <a:rPr lang="en-US" dirty="0">
                <a:latin typeface="Arial"/>
                <a:cs typeface="Arial"/>
              </a:rPr>
              <a:t>–60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years.</a:t>
            </a:r>
          </a:p>
          <a:p>
            <a:pPr marL="12700" marR="163195" algn="l">
              <a:lnSpc>
                <a:spcPts val="2380"/>
              </a:lnSpc>
              <a:spcBef>
                <a:spcPts val="969"/>
              </a:spcBef>
              <a:tabLst>
                <a:tab pos="241300" algn="l"/>
              </a:tabLst>
            </a:pPr>
            <a:r>
              <a:rPr lang="en-US" spc="-85" dirty="0">
                <a:latin typeface="Arial"/>
                <a:cs typeface="Arial"/>
              </a:rPr>
              <a:t> </a:t>
            </a:r>
          </a:p>
          <a:p>
            <a:pPr marL="12700" marR="163195" algn="l">
              <a:lnSpc>
                <a:spcPts val="2380"/>
              </a:lnSpc>
              <a:spcBef>
                <a:spcPts val="969"/>
              </a:spcBef>
              <a:tabLst>
                <a:tab pos="241300" algn="l"/>
              </a:tabLst>
            </a:pPr>
            <a:r>
              <a:rPr lang="en-US" b="1" dirty="0">
                <a:latin typeface="Arial"/>
                <a:cs typeface="Arial"/>
              </a:rPr>
              <a:t>Exclusion</a:t>
            </a:r>
            <a:r>
              <a:rPr lang="en-US" b="1" spc="-80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criteria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included</a:t>
            </a:r>
            <a:r>
              <a:rPr lang="en-US" spc="-80" dirty="0">
                <a:latin typeface="Arial"/>
                <a:cs typeface="Arial"/>
              </a:rPr>
              <a:t> </a:t>
            </a:r>
            <a:r>
              <a:rPr lang="en-US" b="1" spc="-80" dirty="0">
                <a:latin typeface="Arial"/>
                <a:cs typeface="Arial"/>
              </a:rPr>
              <a:t>aseptic non-union of long bones </a:t>
            </a:r>
            <a:r>
              <a:rPr lang="en-US" spc="-10" dirty="0">
                <a:latin typeface="Arial"/>
                <a:cs typeface="Arial"/>
              </a:rPr>
              <a:t>with age 20-60 years.</a:t>
            </a:r>
            <a:endParaRPr lang="en-US" dirty="0">
              <a:latin typeface="Arial"/>
              <a:cs typeface="Arial"/>
            </a:endParaRPr>
          </a:p>
          <a:p>
            <a:pPr marL="12700" marR="146685" algn="l">
              <a:lnSpc>
                <a:spcPts val="2380"/>
              </a:lnSpc>
              <a:spcBef>
                <a:spcPts val="985"/>
              </a:spcBef>
              <a:tabLst>
                <a:tab pos="241300" algn="l"/>
              </a:tabLst>
            </a:pPr>
            <a:endParaRPr lang="en-US" dirty="0">
              <a:latin typeface="Arial"/>
              <a:cs typeface="Arial"/>
            </a:endParaRPr>
          </a:p>
          <a:p>
            <a:pPr marL="12700" marR="146685" algn="l">
              <a:lnSpc>
                <a:spcPts val="2380"/>
              </a:lnSpc>
              <a:spcBef>
                <a:spcPts val="985"/>
              </a:spcBef>
              <a:tabLst>
                <a:tab pos="241300" algn="l"/>
              </a:tabLst>
            </a:pPr>
            <a:r>
              <a:rPr lang="en-US" dirty="0">
                <a:latin typeface="Arial"/>
                <a:cs typeface="Arial"/>
              </a:rPr>
              <a:t>All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patients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underwent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standard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clinical</a:t>
            </a:r>
            <a:r>
              <a:rPr lang="en-US" spc="-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radiological</a:t>
            </a:r>
            <a:r>
              <a:rPr lang="en-US" spc="-7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evaluation</a:t>
            </a:r>
            <a:r>
              <a:rPr lang="en-US" dirty="0">
                <a:latin typeface="Arial"/>
                <a:cs typeface="Arial"/>
              </a:rPr>
              <a:t>. All patients were followed up, with average follow-up time of 18 </a:t>
            </a:r>
            <a:r>
              <a:rPr lang="en-IN" dirty="0">
                <a:latin typeface="Arial"/>
                <a:cs typeface="Arial"/>
              </a:rPr>
              <a:t>months</a:t>
            </a:r>
            <a:r>
              <a:rPr lang="en-US" spc="-75" dirty="0">
                <a:latin typeface="Arial"/>
                <a:cs typeface="Arial"/>
              </a:rPr>
              <a:t> at intervals of </a:t>
            </a:r>
            <a:r>
              <a:rPr lang="en-US" dirty="0">
                <a:latin typeface="Arial"/>
                <a:cs typeface="Arial"/>
              </a:rPr>
              <a:t>2</a:t>
            </a:r>
            <a:r>
              <a:rPr lang="en-US" baseline="30000" dirty="0">
                <a:latin typeface="Arial"/>
                <a:cs typeface="Arial"/>
              </a:rPr>
              <a:t>nd</a:t>
            </a:r>
            <a:r>
              <a:rPr lang="en-US" dirty="0">
                <a:latin typeface="Arial"/>
                <a:cs typeface="Arial"/>
              </a:rPr>
              <a:t>,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6</a:t>
            </a:r>
            <a:r>
              <a:rPr lang="en-US" baseline="30000" dirty="0">
                <a:latin typeface="Arial"/>
                <a:cs typeface="Arial"/>
              </a:rPr>
              <a:t>th</a:t>
            </a:r>
            <a:r>
              <a:rPr lang="en-US" dirty="0">
                <a:latin typeface="Arial"/>
                <a:cs typeface="Arial"/>
              </a:rPr>
              <a:t>,</a:t>
            </a:r>
            <a:r>
              <a:rPr lang="en-US" spc="-5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12</a:t>
            </a:r>
            <a:r>
              <a:rPr lang="en-US" baseline="30000" dirty="0">
                <a:latin typeface="Arial"/>
                <a:cs typeface="Arial"/>
              </a:rPr>
              <a:t>th</a:t>
            </a:r>
            <a:r>
              <a:rPr lang="en-US" dirty="0">
                <a:latin typeface="Arial"/>
                <a:cs typeface="Arial"/>
              </a:rPr>
              <a:t>,</a:t>
            </a:r>
            <a:r>
              <a:rPr lang="en-US" spc="-55" dirty="0">
                <a:latin typeface="Arial"/>
                <a:cs typeface="Arial"/>
              </a:rPr>
              <a:t> 26</a:t>
            </a:r>
            <a:r>
              <a:rPr lang="en-US" spc="-55" baseline="30000" dirty="0">
                <a:latin typeface="Arial"/>
                <a:cs typeface="Arial"/>
              </a:rPr>
              <a:t>th</a:t>
            </a:r>
            <a:r>
              <a:rPr lang="en-US" spc="-55" dirty="0">
                <a:latin typeface="Arial"/>
                <a:cs typeface="Arial"/>
              </a:rPr>
              <a:t>, 38</a:t>
            </a:r>
            <a:r>
              <a:rPr lang="en-US" spc="-55" baseline="30000" dirty="0">
                <a:latin typeface="Arial"/>
                <a:cs typeface="Arial"/>
              </a:rPr>
              <a:t>th</a:t>
            </a:r>
            <a:r>
              <a:rPr lang="en-US" spc="-55" dirty="0">
                <a:latin typeface="Arial"/>
                <a:cs typeface="Arial"/>
              </a:rPr>
              <a:t>, 52</a:t>
            </a:r>
            <a:r>
              <a:rPr lang="en-US" spc="-55" baseline="30000" dirty="0">
                <a:latin typeface="Arial"/>
                <a:cs typeface="Arial"/>
              </a:rPr>
              <a:t>nd</a:t>
            </a:r>
            <a:r>
              <a:rPr lang="en-US" spc="-55" dirty="0">
                <a:latin typeface="Arial"/>
                <a:cs typeface="Arial"/>
              </a:rPr>
              <a:t>, 68</a:t>
            </a:r>
            <a:r>
              <a:rPr lang="en-US" spc="-55" baseline="30000" dirty="0">
                <a:latin typeface="Arial"/>
                <a:cs typeface="Arial"/>
              </a:rPr>
              <a:t>th</a:t>
            </a:r>
            <a:r>
              <a:rPr lang="en-US" spc="-25" baseline="30000" dirty="0">
                <a:latin typeface="Arial"/>
                <a:cs typeface="Arial"/>
              </a:rPr>
              <a:t> </a:t>
            </a:r>
            <a:r>
              <a:rPr lang="en-US" spc="-45" dirty="0">
                <a:latin typeface="Arial"/>
                <a:cs typeface="Arial"/>
              </a:rPr>
              <a:t>week until </a:t>
            </a:r>
            <a:r>
              <a:rPr lang="en-US" dirty="0">
                <a:latin typeface="Arial"/>
                <a:cs typeface="Arial"/>
              </a:rPr>
              <a:t>clinical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</a:t>
            </a:r>
            <a:r>
              <a:rPr lang="en-US" spc="-4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radiological</a:t>
            </a:r>
            <a:r>
              <a:rPr lang="en-US" spc="-5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union.</a:t>
            </a:r>
            <a:endParaRPr lang="en-US" dirty="0">
              <a:latin typeface="Arial"/>
              <a:cs typeface="Arial"/>
            </a:endParaRPr>
          </a:p>
          <a:p>
            <a:pPr algn="l"/>
            <a:endParaRPr lang="en-US" dirty="0">
              <a:latin typeface="Arial"/>
              <a:cs typeface="Arial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6500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9D06-EFE7-2AB0-4987-96F408EA5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59686" y="1304924"/>
            <a:ext cx="2732314" cy="4627790"/>
          </a:xfrm>
        </p:spPr>
        <p:txBody>
          <a:bodyPr/>
          <a:lstStyle/>
          <a:p>
            <a:pPr algn="l"/>
            <a:r>
              <a:rPr lang="en-US" sz="2600" dirty="0"/>
              <a:t>Anteroposterior (a) and lateral (b) radiograph of right thigh including hip depicting a gap non-union of femur with infection treated with </a:t>
            </a:r>
            <a:br>
              <a:rPr lang="en-US" sz="2600" dirty="0"/>
            </a:br>
            <a:r>
              <a:rPr lang="en-US" sz="2600" dirty="0"/>
              <a:t>antibiotic impregnated intramedullary nail</a:t>
            </a:r>
            <a:br>
              <a:rPr lang="en-US" sz="2600" dirty="0"/>
            </a:br>
            <a:endParaRPr lang="en-IN" sz="2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3B4CEF-E3E7-6CEF-9AFB-963547A56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019801"/>
            <a:ext cx="12192000" cy="838200"/>
          </a:xfrm>
        </p:spPr>
        <p:txBody>
          <a:bodyPr/>
          <a:lstStyle/>
          <a:p>
            <a:pPr algn="l"/>
            <a:r>
              <a:rPr lang="en-US" dirty="0"/>
              <a:t>Anteroposterior (c) and lateral (d) radiograph of the same patient showing exchange interlock nailing performed after control of infection along with bone grafting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EC140B-3A18-626D-6DDF-477688243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294038"/>
            <a:ext cx="9459687" cy="471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579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5AAB1-F52E-F574-1BE0-1E5AE1921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9857" y="1404257"/>
            <a:ext cx="3320143" cy="1143000"/>
          </a:xfrm>
        </p:spPr>
        <p:txBody>
          <a:bodyPr/>
          <a:lstStyle/>
          <a:p>
            <a:r>
              <a:rPr lang="en-IN" sz="3600" b="1" spc="-10" dirty="0">
                <a:latin typeface="Arial"/>
                <a:cs typeface="Arial"/>
              </a:rPr>
              <a:t>Results</a:t>
            </a:r>
            <a:br>
              <a:rPr lang="en-IN" sz="5400" dirty="0">
                <a:latin typeface="Arial"/>
                <a:cs typeface="Arial"/>
              </a:rPr>
            </a:b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E8409-1AFE-2DEC-E2AD-2C7CDA9F8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971" y="1774371"/>
            <a:ext cx="11996058" cy="4953000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838716-48C3-3CA1-6CAB-FF3718FA4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403109"/>
              </p:ext>
            </p:extLst>
          </p:nvPr>
        </p:nvGraphicFramePr>
        <p:xfrm>
          <a:off x="0" y="1665514"/>
          <a:ext cx="12191999" cy="51798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7586">
                  <a:extLst>
                    <a:ext uri="{9D8B030D-6E8A-4147-A177-3AD203B41FA5}">
                      <a16:colId xmlns:a16="http://schemas.microsoft.com/office/drawing/2014/main" val="2211831601"/>
                    </a:ext>
                  </a:extLst>
                </a:gridCol>
                <a:gridCol w="801295">
                  <a:extLst>
                    <a:ext uri="{9D8B030D-6E8A-4147-A177-3AD203B41FA5}">
                      <a16:colId xmlns:a16="http://schemas.microsoft.com/office/drawing/2014/main" val="2769231323"/>
                    </a:ext>
                  </a:extLst>
                </a:gridCol>
                <a:gridCol w="641035">
                  <a:extLst>
                    <a:ext uri="{9D8B030D-6E8A-4147-A177-3AD203B41FA5}">
                      <a16:colId xmlns:a16="http://schemas.microsoft.com/office/drawing/2014/main" val="486175015"/>
                    </a:ext>
                  </a:extLst>
                </a:gridCol>
                <a:gridCol w="1257416">
                  <a:extLst>
                    <a:ext uri="{9D8B030D-6E8A-4147-A177-3AD203B41FA5}">
                      <a16:colId xmlns:a16="http://schemas.microsoft.com/office/drawing/2014/main" val="3169176834"/>
                    </a:ext>
                  </a:extLst>
                </a:gridCol>
                <a:gridCol w="1282071">
                  <a:extLst>
                    <a:ext uri="{9D8B030D-6E8A-4147-A177-3AD203B41FA5}">
                      <a16:colId xmlns:a16="http://schemas.microsoft.com/office/drawing/2014/main" val="2414018927"/>
                    </a:ext>
                  </a:extLst>
                </a:gridCol>
                <a:gridCol w="1479312">
                  <a:extLst>
                    <a:ext uri="{9D8B030D-6E8A-4147-A177-3AD203B41FA5}">
                      <a16:colId xmlns:a16="http://schemas.microsoft.com/office/drawing/2014/main" val="1420174618"/>
                    </a:ext>
                  </a:extLst>
                </a:gridCol>
                <a:gridCol w="40320">
                  <a:extLst>
                    <a:ext uri="{9D8B030D-6E8A-4147-A177-3AD203B41FA5}">
                      <a16:colId xmlns:a16="http://schemas.microsoft.com/office/drawing/2014/main" val="3121611980"/>
                    </a:ext>
                  </a:extLst>
                </a:gridCol>
                <a:gridCol w="970543">
                  <a:extLst>
                    <a:ext uri="{9D8B030D-6E8A-4147-A177-3AD203B41FA5}">
                      <a16:colId xmlns:a16="http://schemas.microsoft.com/office/drawing/2014/main" val="3447360351"/>
                    </a:ext>
                  </a:extLst>
                </a:gridCol>
                <a:gridCol w="1158796">
                  <a:extLst>
                    <a:ext uri="{9D8B030D-6E8A-4147-A177-3AD203B41FA5}">
                      <a16:colId xmlns:a16="http://schemas.microsoft.com/office/drawing/2014/main" val="1478254085"/>
                    </a:ext>
                  </a:extLst>
                </a:gridCol>
                <a:gridCol w="1208105">
                  <a:extLst>
                    <a:ext uri="{9D8B030D-6E8A-4147-A177-3AD203B41FA5}">
                      <a16:colId xmlns:a16="http://schemas.microsoft.com/office/drawing/2014/main" val="1403292247"/>
                    </a:ext>
                  </a:extLst>
                </a:gridCol>
                <a:gridCol w="1688881">
                  <a:extLst>
                    <a:ext uri="{9D8B030D-6E8A-4147-A177-3AD203B41FA5}">
                      <a16:colId xmlns:a16="http://schemas.microsoft.com/office/drawing/2014/main" val="176321397"/>
                    </a:ext>
                  </a:extLst>
                </a:gridCol>
                <a:gridCol w="776639">
                  <a:extLst>
                    <a:ext uri="{9D8B030D-6E8A-4147-A177-3AD203B41FA5}">
                      <a16:colId xmlns:a16="http://schemas.microsoft.com/office/drawing/2014/main" val="1608494737"/>
                    </a:ext>
                  </a:extLst>
                </a:gridCol>
              </a:tblGrid>
              <a:tr h="45687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Patient no.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Age/Sex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Bone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Classification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Initial treatment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Infection duration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Bone defect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Infection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 err="1">
                          <a:effectLst/>
                        </a:rPr>
                        <a:t>Infecion</a:t>
                      </a:r>
                      <a:r>
                        <a:rPr lang="en-IN" sz="1400" u="none" strike="noStrike" dirty="0">
                          <a:effectLst/>
                        </a:rPr>
                        <a:t> control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Secondary procedure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Union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extLst>
                  <a:ext uri="{0D108BD9-81ED-4DB2-BD59-A6C34878D82A}">
                    <a16:rowId xmlns:a16="http://schemas.microsoft.com/office/drawing/2014/main" val="3141667396"/>
                  </a:ext>
                </a:extLst>
              </a:tr>
              <a:tr h="2311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extLst>
                  <a:ext uri="{0D108BD9-81ED-4DB2-BD59-A6C34878D82A}">
                    <a16:rowId xmlns:a16="http://schemas.microsoft.com/office/drawing/2014/main" val="1300100674"/>
                  </a:ext>
                </a:extLst>
              </a:tr>
              <a:tr h="249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GRP 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BONE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DEFECT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&lt;4cms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extLst>
                  <a:ext uri="{0D108BD9-81ED-4DB2-BD59-A6C34878D82A}">
                    <a16:rowId xmlns:a16="http://schemas.microsoft.com/office/drawing/2014/main" val="2509497556"/>
                  </a:ext>
                </a:extLst>
              </a:tr>
              <a:tr h="2311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extLst>
                  <a:ext uri="{0D108BD9-81ED-4DB2-BD59-A6C34878D82A}">
                    <a16:rowId xmlns:a16="http://schemas.microsoft.com/office/drawing/2014/main" val="4256673776"/>
                  </a:ext>
                </a:extLst>
              </a:tr>
              <a:tr h="249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58/M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Femur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Closed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ILN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4 months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2 </a:t>
                      </a:r>
                      <a:r>
                        <a:rPr lang="en-IN" sz="1400" u="none" strike="noStrike" dirty="0" err="1">
                          <a:effectLst/>
                        </a:rPr>
                        <a:t>cms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Controlled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4 weeks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None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Yes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extLst>
                  <a:ext uri="{0D108BD9-81ED-4DB2-BD59-A6C34878D82A}">
                    <a16:rowId xmlns:a16="http://schemas.microsoft.com/office/drawing/2014/main" val="3429989568"/>
                  </a:ext>
                </a:extLst>
              </a:tr>
              <a:tr h="249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33/M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Tibia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I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Deb, ILN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5 months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0 </a:t>
                      </a:r>
                      <a:r>
                        <a:rPr lang="en-IN" sz="1400" u="none" strike="noStrike" dirty="0" err="1">
                          <a:effectLst/>
                        </a:rPr>
                        <a:t>cms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Controlled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4 weeks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None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Yes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extLst>
                  <a:ext uri="{0D108BD9-81ED-4DB2-BD59-A6C34878D82A}">
                    <a16:rowId xmlns:a16="http://schemas.microsoft.com/office/drawing/2014/main" val="2592578127"/>
                  </a:ext>
                </a:extLst>
              </a:tr>
              <a:tr h="249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29/M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Femur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IIIA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Deb, UTPT, ILN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8 months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3 </a:t>
                      </a:r>
                      <a:r>
                        <a:rPr lang="en-IN" sz="1400" u="none" strike="noStrike" dirty="0" err="1">
                          <a:effectLst/>
                        </a:rPr>
                        <a:t>cms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Controlled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7 weeks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ILN+BG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Yes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extLst>
                  <a:ext uri="{0D108BD9-81ED-4DB2-BD59-A6C34878D82A}">
                    <a16:rowId xmlns:a16="http://schemas.microsoft.com/office/drawing/2014/main" val="3154402729"/>
                  </a:ext>
                </a:extLst>
              </a:tr>
              <a:tr h="249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4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44/M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Femur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IIIB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Deb, Ex-fix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7 months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2 </a:t>
                      </a:r>
                      <a:r>
                        <a:rPr lang="en-IN" sz="1400" u="none" strike="noStrike" dirty="0" err="1">
                          <a:effectLst/>
                        </a:rPr>
                        <a:t>cms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Controlled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8 weeks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ILN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Yes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extLst>
                  <a:ext uri="{0D108BD9-81ED-4DB2-BD59-A6C34878D82A}">
                    <a16:rowId xmlns:a16="http://schemas.microsoft.com/office/drawing/2014/main" val="71079238"/>
                  </a:ext>
                </a:extLst>
              </a:tr>
              <a:tr h="2311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extLst>
                  <a:ext uri="{0D108BD9-81ED-4DB2-BD59-A6C34878D82A}">
                    <a16:rowId xmlns:a16="http://schemas.microsoft.com/office/drawing/2014/main" val="3948740150"/>
                  </a:ext>
                </a:extLst>
              </a:tr>
              <a:tr h="249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GRP B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BONE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DEFECT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4-6cms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extLst>
                  <a:ext uri="{0D108BD9-81ED-4DB2-BD59-A6C34878D82A}">
                    <a16:rowId xmlns:a16="http://schemas.microsoft.com/office/drawing/2014/main" val="3262436038"/>
                  </a:ext>
                </a:extLst>
              </a:tr>
              <a:tr h="2311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extLst>
                  <a:ext uri="{0D108BD9-81ED-4DB2-BD59-A6C34878D82A}">
                    <a16:rowId xmlns:a16="http://schemas.microsoft.com/office/drawing/2014/main" val="3948450165"/>
                  </a:ext>
                </a:extLst>
              </a:tr>
              <a:tr h="249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35/M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Femur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II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Deb, UTPT, ILN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6 months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4.4 </a:t>
                      </a:r>
                      <a:r>
                        <a:rPr lang="en-IN" sz="1400" u="none" strike="noStrike" dirty="0" err="1">
                          <a:effectLst/>
                        </a:rPr>
                        <a:t>cms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Controlled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8 weeks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ILN+BG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Yes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extLst>
                  <a:ext uri="{0D108BD9-81ED-4DB2-BD59-A6C34878D82A}">
                    <a16:rowId xmlns:a16="http://schemas.microsoft.com/office/drawing/2014/main" val="1848358549"/>
                  </a:ext>
                </a:extLst>
              </a:tr>
              <a:tr h="2832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6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24/F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Femur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IIIA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Deb, Ex-fix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10 months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5 </a:t>
                      </a:r>
                      <a:r>
                        <a:rPr lang="en-IN" sz="1400" u="none" strike="noStrike" dirty="0" err="1">
                          <a:effectLst/>
                        </a:rPr>
                        <a:t>cms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Controlled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6 weeks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Ilizarov fixator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Yes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extLst>
                  <a:ext uri="{0D108BD9-81ED-4DB2-BD59-A6C34878D82A}">
                    <a16:rowId xmlns:a16="http://schemas.microsoft.com/office/drawing/2014/main" val="2610472097"/>
                  </a:ext>
                </a:extLst>
              </a:tr>
              <a:tr h="249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7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23/M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Femur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IIIA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Deb, UTPT, ILN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9 months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4.5 </a:t>
                      </a:r>
                      <a:r>
                        <a:rPr lang="en-IN" sz="1400" u="none" strike="noStrike" dirty="0" err="1">
                          <a:effectLst/>
                        </a:rPr>
                        <a:t>cms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Controlled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10 weeks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ILN+BG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Yes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extLst>
                  <a:ext uri="{0D108BD9-81ED-4DB2-BD59-A6C34878D82A}">
                    <a16:rowId xmlns:a16="http://schemas.microsoft.com/office/drawing/2014/main" val="3798788526"/>
                  </a:ext>
                </a:extLst>
              </a:tr>
              <a:tr h="2832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28/M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Femur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IIIB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Deb, UTPT, ILN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13 months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5.1 </a:t>
                      </a:r>
                      <a:r>
                        <a:rPr lang="en-IN" sz="1400" u="none" strike="noStrike" dirty="0" err="1">
                          <a:effectLst/>
                        </a:rPr>
                        <a:t>cms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Controlled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9 weeks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 err="1">
                          <a:effectLst/>
                        </a:rPr>
                        <a:t>Ilizarov</a:t>
                      </a:r>
                      <a:r>
                        <a:rPr lang="en-IN" sz="1400" u="none" strike="noStrike" dirty="0">
                          <a:effectLst/>
                        </a:rPr>
                        <a:t> fixator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Yes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extLst>
                  <a:ext uri="{0D108BD9-81ED-4DB2-BD59-A6C34878D82A}">
                    <a16:rowId xmlns:a16="http://schemas.microsoft.com/office/drawing/2014/main" val="1838563639"/>
                  </a:ext>
                </a:extLst>
              </a:tr>
              <a:tr h="2311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extLst>
                  <a:ext uri="{0D108BD9-81ED-4DB2-BD59-A6C34878D82A}">
                    <a16:rowId xmlns:a16="http://schemas.microsoft.com/office/drawing/2014/main" val="3773446660"/>
                  </a:ext>
                </a:extLst>
              </a:tr>
              <a:tr h="249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GRP C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BONE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DEFECT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&gt;6cms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extLst>
                  <a:ext uri="{0D108BD9-81ED-4DB2-BD59-A6C34878D82A}">
                    <a16:rowId xmlns:a16="http://schemas.microsoft.com/office/drawing/2014/main" val="2669502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extLst>
                  <a:ext uri="{0D108BD9-81ED-4DB2-BD59-A6C34878D82A}">
                    <a16:rowId xmlns:a16="http://schemas.microsoft.com/office/drawing/2014/main" val="2506545331"/>
                  </a:ext>
                </a:extLst>
              </a:tr>
              <a:tr h="2832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34/M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Femur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IIIB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Deb, Ex-fix, ILN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14 months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7.5 </a:t>
                      </a:r>
                      <a:r>
                        <a:rPr lang="en-IN" sz="1400" u="none" strike="noStrike" dirty="0" err="1">
                          <a:effectLst/>
                        </a:rPr>
                        <a:t>cms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Uncontrolled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Deb, </a:t>
                      </a:r>
                      <a:r>
                        <a:rPr lang="en-IN" sz="1400" u="none" strike="noStrike" dirty="0" err="1">
                          <a:effectLst/>
                        </a:rPr>
                        <a:t>Ilizarov</a:t>
                      </a:r>
                      <a:r>
                        <a:rPr lang="en-IN" sz="1400" u="none" strike="noStrike" dirty="0">
                          <a:effectLst/>
                        </a:rPr>
                        <a:t> fixator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No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extLst>
                  <a:ext uri="{0D108BD9-81ED-4DB2-BD59-A6C34878D82A}">
                    <a16:rowId xmlns:a16="http://schemas.microsoft.com/office/drawing/2014/main" val="181939463"/>
                  </a:ext>
                </a:extLst>
              </a:tr>
              <a:tr h="2499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25/M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Femur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IIIB</a:t>
                      </a: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ILN, Deb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6 months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6 </a:t>
                      </a:r>
                      <a:r>
                        <a:rPr lang="en-IN" sz="1400" u="none" strike="noStrike" dirty="0" err="1">
                          <a:effectLst/>
                        </a:rPr>
                        <a:t>cms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Uncontrolled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Deb, </a:t>
                      </a:r>
                      <a:r>
                        <a:rPr lang="en-IN" sz="1400" u="none" strike="noStrike" dirty="0" err="1">
                          <a:effectLst/>
                        </a:rPr>
                        <a:t>Ilizarov</a:t>
                      </a:r>
                      <a:r>
                        <a:rPr lang="en-IN" sz="1400" u="none" strike="noStrike" dirty="0">
                          <a:effectLst/>
                        </a:rPr>
                        <a:t> fixator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Yes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102" marR="5102" marT="5102" marB="0" anchor="b"/>
                </a:tc>
                <a:extLst>
                  <a:ext uri="{0D108BD9-81ED-4DB2-BD59-A6C34878D82A}">
                    <a16:rowId xmlns:a16="http://schemas.microsoft.com/office/drawing/2014/main" val="28426132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1614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34785-3B76-B91B-6C36-F070DF8FE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8229" y="1325561"/>
            <a:ext cx="3962400" cy="1226458"/>
          </a:xfrm>
        </p:spPr>
        <p:txBody>
          <a:bodyPr/>
          <a:lstStyle/>
          <a:p>
            <a:r>
              <a:rPr lang="en-IN" sz="4400" b="1" spc="-10" dirty="0">
                <a:latin typeface="Arial"/>
                <a:cs typeface="Arial"/>
              </a:rPr>
              <a:t>Conclusion</a:t>
            </a:r>
            <a:br>
              <a:rPr lang="en-IN" sz="4400" dirty="0">
                <a:latin typeface="Arial"/>
                <a:cs typeface="Arial"/>
              </a:rPr>
            </a:b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00A1D1-DEF8-A91F-D150-C308676AD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94115"/>
            <a:ext cx="12050485" cy="496388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/>
              <a:t>ACIIN was a good procedure to achieve early primary infection control in cases of infected non-union with bone defect &lt;4cm.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/>
              <a:t>ACIIN is useful for infection control in case of bone defects from 4-6cms; however it takes a significantly longer time when compared to patients with lesser bone defect.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/>
              <a:t>ACIIN should not be used in cases with bone defect &gt;6cms, where it fails to achieve an adequate stability and infection control, and for these cases procedures like </a:t>
            </a:r>
            <a:r>
              <a:rPr lang="en-IN" sz="2800" dirty="0" err="1"/>
              <a:t>ilizarov</a:t>
            </a:r>
            <a:r>
              <a:rPr lang="en-IN" sz="2800" dirty="0"/>
              <a:t> fixator application with bone transport or lengthening with acute docking should be used</a:t>
            </a:r>
          </a:p>
        </p:txBody>
      </p:sp>
    </p:spTree>
    <p:extLst>
      <p:ext uri="{BB962C8B-B14F-4D97-AF65-F5344CB8AC3E}">
        <p14:creationId xmlns:p14="http://schemas.microsoft.com/office/powerpoint/2010/main" val="811797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4C086-D53F-00B3-23DC-1840EE7F6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" y="1404252"/>
            <a:ext cx="3940629" cy="1487715"/>
          </a:xfrm>
        </p:spPr>
        <p:txBody>
          <a:bodyPr/>
          <a:lstStyle/>
          <a:p>
            <a:pPr algn="l"/>
            <a:r>
              <a:rPr lang="en-IN" sz="5400" b="1" spc="-10" dirty="0">
                <a:latin typeface="Arial"/>
                <a:cs typeface="Arial"/>
              </a:rPr>
              <a:t>References</a:t>
            </a:r>
            <a:br>
              <a:rPr lang="en-IN" sz="5400" dirty="0">
                <a:latin typeface="Arial"/>
                <a:cs typeface="Arial"/>
              </a:rPr>
            </a:b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F90F5-B456-F7F2-E504-FF563492BB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742" y="2264225"/>
            <a:ext cx="11996057" cy="4477646"/>
          </a:xfrm>
        </p:spPr>
        <p:txBody>
          <a:bodyPr/>
          <a:lstStyle/>
          <a:p>
            <a:pPr marL="457200" indent="-457200" algn="l">
              <a:buAutoNum type="arabicParenR"/>
            </a:pPr>
            <a:r>
              <a:rPr lang="en-US" dirty="0"/>
              <a:t>Toh CL, Jupiter JB. The infected nonunion of the tibia. Clin </a:t>
            </a:r>
            <a:r>
              <a:rPr lang="en-US" dirty="0" err="1"/>
              <a:t>Orthop</a:t>
            </a:r>
            <a:r>
              <a:rPr lang="en-US" dirty="0"/>
              <a:t> </a:t>
            </a:r>
            <a:r>
              <a:rPr lang="en-US" dirty="0" err="1"/>
              <a:t>Relat</a:t>
            </a:r>
            <a:r>
              <a:rPr lang="en-US" dirty="0"/>
              <a:t> Res 1995;315:176-91.</a:t>
            </a:r>
            <a:endParaRPr lang="en-IN" dirty="0"/>
          </a:p>
          <a:p>
            <a:pPr algn="l"/>
            <a:r>
              <a:rPr lang="en-US" dirty="0"/>
              <a:t>2) Court-Brown CM. Fractures of the tibia and fibula. In: Bucholz RW, Heckman JD, Court-Brown CM, editors. Rockwood and Green's fractures in adults. 6th ed. Lippincott Williams and Wilkins; 2006. p. 2080-146.</a:t>
            </a:r>
          </a:p>
          <a:p>
            <a:pPr algn="l"/>
            <a:r>
              <a:rPr lang="en-US" dirty="0"/>
              <a:t>3) </a:t>
            </a:r>
            <a:r>
              <a:rPr lang="en-US" dirty="0" err="1"/>
              <a:t>Patzakis</a:t>
            </a:r>
            <a:r>
              <a:rPr lang="en-US" dirty="0"/>
              <a:t> MJ, </a:t>
            </a:r>
            <a:r>
              <a:rPr lang="en-US" dirty="0" err="1"/>
              <a:t>Zalavras</a:t>
            </a:r>
            <a:r>
              <a:rPr lang="en-US" dirty="0"/>
              <a:t> CG. Chronic posttraumatic osteomyelitis and infected nonunion of the tibia: Current management concepts. J Am </a:t>
            </a:r>
            <a:r>
              <a:rPr lang="en-US" dirty="0" err="1"/>
              <a:t>Acad</a:t>
            </a:r>
            <a:r>
              <a:rPr lang="en-US" dirty="0"/>
              <a:t> </a:t>
            </a:r>
            <a:r>
              <a:rPr lang="en-US" dirty="0" err="1"/>
              <a:t>Orthop</a:t>
            </a:r>
            <a:r>
              <a:rPr lang="en-US" dirty="0"/>
              <a:t> Surg 2005;13:417-27.</a:t>
            </a:r>
          </a:p>
          <a:p>
            <a:pPr algn="l"/>
            <a:r>
              <a:rPr lang="en-US" dirty="0"/>
              <a:t>4) Chen CE, Ko JY, Wang JW, Wang CJ. Infection after intramedullary nailing of the femur. J Trauma 2002;55:338-44.</a:t>
            </a:r>
          </a:p>
          <a:p>
            <a:pPr algn="l"/>
            <a:r>
              <a:rPr lang="en-US" dirty="0"/>
              <a:t>5) Maini L, Chadha M, Vishwanath J, Kapoor S, Mehtani A, </a:t>
            </a:r>
            <a:r>
              <a:rPr lang="en-US" dirty="0" err="1"/>
              <a:t>Dhaon</a:t>
            </a:r>
            <a:r>
              <a:rPr lang="en-US" dirty="0"/>
              <a:t> BK. The </a:t>
            </a:r>
            <a:r>
              <a:rPr lang="en-US" dirty="0" err="1"/>
              <a:t>Ilizarov</a:t>
            </a:r>
            <a:r>
              <a:rPr lang="en-US" dirty="0"/>
              <a:t> method in infected nonunion of fractures. Injury 2000;31:509-17.</a:t>
            </a:r>
          </a:p>
        </p:txBody>
      </p:sp>
    </p:spTree>
    <p:extLst>
      <p:ext uri="{BB962C8B-B14F-4D97-AF65-F5344CB8AC3E}">
        <p14:creationId xmlns:p14="http://schemas.microsoft.com/office/powerpoint/2010/main" val="2799587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5099</TotalTime>
  <Words>859</Words>
  <Application>Microsoft Office PowerPoint</Application>
  <PresentationFormat>Widescreen</PresentationFormat>
  <Paragraphs>166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Use of antibiotic cement impregnated intramedullary nail in the treatment of infected non union of long bones</vt:lpstr>
      <vt:lpstr>Introduction </vt:lpstr>
      <vt:lpstr>Aim  of the Study </vt:lpstr>
      <vt:lpstr>Materials and Methods </vt:lpstr>
      <vt:lpstr>Anteroposterior (a) and lateral (b) radiograph of right thigh including hip depicting a gap non-union of femur with infection treated with  antibiotic impregnated intramedullary nail </vt:lpstr>
      <vt:lpstr>Results </vt:lpstr>
      <vt:lpstr>Conclusion 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of antibiotic cement impregnated intramedullary nail in the treatment of infected non union of long bones</dc:title>
  <dc:creator>Virinchi Vinay</dc:creator>
  <cp:lastModifiedBy>Manoj Bhaskar</cp:lastModifiedBy>
  <cp:revision>13</cp:revision>
  <dcterms:created xsi:type="dcterms:W3CDTF">2026-01-11T06:24:43Z</dcterms:created>
  <dcterms:modified xsi:type="dcterms:W3CDTF">2026-02-07T14:37:10Z</dcterms:modified>
</cp:coreProperties>
</file>