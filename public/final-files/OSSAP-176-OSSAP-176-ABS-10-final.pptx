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2" r:id="rId5"/>
    <p:sldId id="276" r:id="rId6"/>
    <p:sldId id="258" r:id="rId7"/>
    <p:sldId id="271" r:id="rId8"/>
    <p:sldId id="259" r:id="rId9"/>
    <p:sldId id="260" r:id="rId10"/>
    <p:sldId id="277" r:id="rId11"/>
    <p:sldId id="261" r:id="rId12"/>
    <p:sldId id="262" r:id="rId13"/>
    <p:sldId id="274" r:id="rId14"/>
    <p:sldId id="263" r:id="rId15"/>
    <p:sldId id="278" r:id="rId16"/>
    <p:sldId id="264" r:id="rId17"/>
    <p:sldId id="265" r:id="rId18"/>
    <p:sldId id="266" r:id="rId19"/>
    <p:sldId id="267" r:id="rId20"/>
    <p:sldId id="268" r:id="rId21"/>
    <p:sldId id="269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1" d="100"/>
          <a:sy n="91" d="100"/>
        </p:scale>
        <p:origin x="22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EA6B2B-693C-B3C3-5AE5-4CA2C3140776}"/>
              </a:ext>
            </a:extLst>
          </p:cNvPr>
          <p:cNvSpPr txBox="1"/>
          <p:nvPr/>
        </p:nvSpPr>
        <p:spPr>
          <a:xfrm>
            <a:off x="859896" y="2291771"/>
            <a:ext cx="104722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Evaluation of Functional and Radiological Outcome of Five‑Pin Technique in Management of Distal End Radius Fractures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1483F-F469-2951-5F39-144ACF8ADCDF}"/>
              </a:ext>
            </a:extLst>
          </p:cNvPr>
          <p:cNvSpPr txBox="1"/>
          <p:nvPr/>
        </p:nvSpPr>
        <p:spPr>
          <a:xfrm>
            <a:off x="3928535" y="5655734"/>
            <a:ext cx="9059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PRESENTOR: 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DR. DACHEPALLY VINIL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MODERATOR: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DR TATI RAJASHEKHAR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(ASSOCIATE PROFESSOR)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DEPARTMENT OF ORTHOPAEDICS, GIMSR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8B0C-7345-8D27-ADA6-376D9CDA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91192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30B39-FF92-123E-D9E6-C5BC9A27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1" y="2282825"/>
            <a:ext cx="112437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Distal end radius fractures are the most common fractures of the upper extremity.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most common mode of injury is a fall on outstretched hand.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Closed reduction and percutaneous pinning with “the five‑pin technique” improve the reliability of fixation.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current study aimed to assess the clinical and functional outcome of fixation of distal radius fractures using the five‑pin technique.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7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33CA1F-B65D-C17A-147D-AB948E47B63D}"/>
              </a:ext>
            </a:extLst>
          </p:cNvPr>
          <p:cNvSpPr txBox="1"/>
          <p:nvPr/>
        </p:nvSpPr>
        <p:spPr>
          <a:xfrm>
            <a:off x="753533" y="2963101"/>
            <a:ext cx="102277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Materials and Methods: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patients with fracture of distal end radius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Frykman type 1 and 2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were subjected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close reduction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K‑wire fixation by five‑pin technique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33502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12229-D861-5AC6-664C-9D9A6B35F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7" y="1859492"/>
            <a:ext cx="110998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Functional outcome‑using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Obrien scoring system for functional outcome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there was 90%–100% score in 9 patients, 80%–89% in 9 patients, and &lt; 80% in 2 patient.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Radiological outcome using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SARMIENTO MODIFICATION LINDSTROM CRITERIA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9 patient had excellent results, and 9 had good results and 2 had fair result.</a:t>
            </a:r>
          </a:p>
          <a:p>
            <a:pPr marL="0" indent="0">
              <a:buNone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646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B9632B-77D9-1B64-38B5-CE7F4C240141}"/>
              </a:ext>
            </a:extLst>
          </p:cNvPr>
          <p:cNvSpPr txBox="1"/>
          <p:nvPr/>
        </p:nvSpPr>
        <p:spPr>
          <a:xfrm>
            <a:off x="626533" y="2963101"/>
            <a:ext cx="9872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 : 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“The five- pin technique” is a versatile tool which provides optimum functional and radiological outcome better than conventional k wire fixation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8834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E2CA-005F-FDEE-C963-85C3F83DA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465262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4E15-ADF2-6EE6-3A8E-CBF460F11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6" y="2141801"/>
            <a:ext cx="11328402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Fracture of the distal radius is the most common of all orthopedic injuries accounting 16%–20% of all fractures presenting to the emergency department.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Road traffic accident plays a major role sustain these trauma while older person has house fall with trivial insults.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Pathoanatomy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biomechanics of radiocarpal and radioulnar joints have pivotal role in maintaining wrist functions and movement.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Problems associated with these fracture hamper strength of grip and early arthritis with carpal instability. </a:t>
            </a:r>
          </a:p>
        </p:txBody>
      </p:sp>
    </p:spTree>
    <p:extLst>
      <p:ext uri="{BB962C8B-B14F-4D97-AF65-F5344CB8AC3E}">
        <p14:creationId xmlns:p14="http://schemas.microsoft.com/office/powerpoint/2010/main" val="111219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CCF8A-67C3-AB14-A9A6-F1A6F8B7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7" y="2147359"/>
            <a:ext cx="10515600" cy="4351338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Close reduction with cast application is the most common modality of treatment for distal radius fracture.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complications such as fracture malunion and subluxation of distal radioulnar joint is a common complication associated with close reduction with cast application.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Although many treatment modalities are available, there is no consensus on the optimum treatment of these injuries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18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13EED-DA1F-4F39-BB13-135FC7A9A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33" y="1611576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3E5D-43D9-76C7-D469-854ADF53D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2804496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Evaluation of functional and radiological outcome of five‑pin technique in management of distal radius fracture and to study the complication associated with this technique.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75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A5D0-929E-25B5-F5FE-1EC34AD9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4088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7835-98DD-E37B-29A7-49EAF1CEB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090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Inclusion criteria</a:t>
            </a:r>
            <a:r>
              <a:rPr lang="en-I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IN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 above 50 years </a:t>
            </a: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extra‑articular fractures which are reduced by close method or joystick method </a:t>
            </a: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 presenting within 7 days of fracture.</a:t>
            </a:r>
          </a:p>
        </p:txBody>
      </p:sp>
    </p:spTree>
    <p:extLst>
      <p:ext uri="{BB962C8B-B14F-4D97-AF65-F5344CB8AC3E}">
        <p14:creationId xmlns:p14="http://schemas.microsoft.com/office/powerpoint/2010/main" val="297507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F7D2A1-D380-6EB2-8D15-A19966FED3AC}"/>
              </a:ext>
            </a:extLst>
          </p:cNvPr>
          <p:cNvSpPr txBox="1"/>
          <p:nvPr/>
        </p:nvSpPr>
        <p:spPr>
          <a:xfrm>
            <a:off x="1098957" y="1803119"/>
            <a:ext cx="951311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criteria</a:t>
            </a:r>
          </a:p>
          <a:p>
            <a:endParaRPr lang="en-US" sz="2400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with intra‑articular fracture of distal radius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Pathological fracture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with compound fracture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with associated ipsilateral upper limb trauma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Uncontrolled diabetes mellitus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99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A06D-D675-A7E2-6E32-A98B95052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919" y="160751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Closed reduction performed using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Charnley’s method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checked under image intensifier to confirm acceptable reduction and proceed with K‑wire fixation in the following order: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Radial styloid pin in lateral to medial direction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Medial corner pin in dorsal to volar and medial to lateral direction 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Lister tubercle pin in dorsal to volar direction 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Distal and proximal radio ulnar pins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0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A2CBB-6B6C-58C3-B758-5BDC81F29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98" y="1443893"/>
            <a:ext cx="11283892" cy="574262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 was given below‑elbow plaster of Paris Slab and prescribed analgesic and antibiotic drugs.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Regular pin tract dressing was explained.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 was followed up for 1, 3, 6, and 12 weeks.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3 weeks, below‑elbow slab was removed and proximal and distal radioulnar wire was removed.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the end of 6 weeks, remaining K‑wire and below‑elbow slab were removed, and physiotherapy was started 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32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8FD6-4879-068B-6C92-2E1D07C64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43" y="1531959"/>
            <a:ext cx="10515600" cy="1325563"/>
          </a:xfrm>
        </p:spPr>
        <p:txBody>
          <a:bodyPr/>
          <a:lstStyle/>
          <a:p>
            <a:r>
              <a:rPr lang="en-IN" dirty="0"/>
              <a:t>PRE OP XRAY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7BAD0A-FC34-98C7-A470-15A151323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79"/>
          <a:stretch/>
        </p:blipFill>
        <p:spPr>
          <a:xfrm>
            <a:off x="2243607" y="2488406"/>
            <a:ext cx="6772483" cy="410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1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2DBB-5744-3072-E4A9-FD14C048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156927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INTRA-OP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0F2C4E3-8FEE-75F9-CC00-6114E74DE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52" y="1778466"/>
            <a:ext cx="6226473" cy="459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611DA4-42EE-9A77-E63E-20BB79B22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58" y="2034670"/>
            <a:ext cx="5256742" cy="4209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DF0A7-664B-130F-9165-01B740E64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981" y="2034669"/>
            <a:ext cx="4783752" cy="420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81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4BFC-DD8D-3FBB-03A9-48FC2B00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34" y="1389346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EBF78-989D-E8CC-3682-C0CCECF63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002" y="2052128"/>
            <a:ext cx="10847664" cy="4351338"/>
          </a:xfrm>
        </p:spPr>
        <p:txBody>
          <a:bodyPr/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20 patient with fracture of distal radius were studied prospectively at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gitam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institute of medical science and research centre, Visakhapatnam, from January 2023 to September 2024. the sex distribution and fracture type has been mentioned in table.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mean age of the patients included in the study was 50 years with youngest patient being 45 years and the oldest patient being 80 years.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patients were operated within 5 days of trauma.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Complication‑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superficial pin track infection was reported by one patient that was treated with antibiotics, dressing,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repinning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879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9B3E-EDA5-D941-F780-0FFE3C4D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934" y="1680954"/>
            <a:ext cx="10515600" cy="1325563"/>
          </a:xfrm>
        </p:spPr>
        <p:txBody>
          <a:bodyPr/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Sex distribution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6FFB58-B75E-FFE0-B0B0-02F144E5A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880662"/>
              </p:ext>
            </p:extLst>
          </p:nvPr>
        </p:nvGraphicFramePr>
        <p:xfrm>
          <a:off x="905934" y="2906607"/>
          <a:ext cx="10515600" cy="2807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923354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7597115"/>
                    </a:ext>
                  </a:extLst>
                </a:gridCol>
              </a:tblGrid>
              <a:tr h="935778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NO. OF PATIENTS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704381"/>
                  </a:ext>
                </a:extLst>
              </a:tr>
              <a:tr h="935778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951342"/>
                  </a:ext>
                </a:extLst>
              </a:tr>
              <a:tr h="935778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562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05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26D9-E90E-0AB3-0305-8DC449FE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3246"/>
            <a:ext cx="10515600" cy="1325563"/>
          </a:xfrm>
        </p:spPr>
        <p:txBody>
          <a:bodyPr/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FRACTURE TYPE DISTRIBUTION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CDDBCE-55EC-D068-07E8-DC85C5087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811330"/>
              </p:ext>
            </p:extLst>
          </p:nvPr>
        </p:nvGraphicFramePr>
        <p:xfrm>
          <a:off x="956733" y="2731877"/>
          <a:ext cx="10515600" cy="317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147815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16220459"/>
                    </a:ext>
                  </a:extLst>
                </a:gridCol>
              </a:tblGrid>
              <a:tr h="96562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FRACTURE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NO. OF PATIENTS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117167"/>
                  </a:ext>
                </a:extLst>
              </a:tr>
              <a:tr h="1105958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FRYKMAN TYPE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265286"/>
                  </a:ext>
                </a:extLst>
              </a:tr>
              <a:tr h="1105958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FRYKMAN TYPE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632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365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0281-8037-E434-0C88-2DAE472B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10" y="2236635"/>
            <a:ext cx="10515600" cy="1325563"/>
          </a:xfrm>
        </p:spPr>
        <p:txBody>
          <a:bodyPr/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FUNCTIONAL OUTCOME USING OBRIEN SCORING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71A3E-7FED-85A8-8A3B-C41D87009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415526"/>
              </p:ext>
            </p:extLst>
          </p:nvPr>
        </p:nvGraphicFramePr>
        <p:xfrm>
          <a:off x="754310" y="3210886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937203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9009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OBRIEN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NO. OF PATINET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40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3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80-89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527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&lt;80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962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57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9BFAB-658B-D418-5ACF-2E4C33034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7" y="1959746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RADIOLOGICAL OUTCOME-USING SARMIENTO MODIFICATION LINDSTROM CRITERIA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02B2B5-E5BB-7078-AF7A-B2ECFD80AC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512253"/>
              </p:ext>
            </p:extLst>
          </p:nvPr>
        </p:nvGraphicFramePr>
        <p:xfrm>
          <a:off x="779477" y="3285309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2474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01546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NO. OF PATIENT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97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41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799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90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854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9937-78C2-FA23-2953-F58F3BF02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44" y="1968186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F32C-51B6-3AD9-C867-CD636E62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144" y="306719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Five‑pin technique of K‑wire fixation is a novel technique that provides effective means of treating distal end radius fractures. It is a versatile tool which provides optimum functional and radiological outcomes.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06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F8343-032B-DC82-71A9-9DD350D2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B6CD9-F14A-9D9E-709B-6B8999C4621B}"/>
              </a:ext>
            </a:extLst>
          </p:cNvPr>
          <p:cNvSpPr/>
          <p:nvPr/>
        </p:nvSpPr>
        <p:spPr>
          <a:xfrm>
            <a:off x="3068154" y="2967335"/>
            <a:ext cx="605569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51343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818</Words>
  <Application>Microsoft Office PowerPoint</Application>
  <PresentationFormat>Widescreen</PresentationFormat>
  <Paragraphs>121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Gordita </vt:lpstr>
      <vt:lpstr>Office Theme</vt:lpstr>
      <vt:lpstr>PowerPoint Presentation</vt:lpstr>
      <vt:lpstr>ABSTRACT</vt:lpstr>
      <vt:lpstr>PowerPoint Presentation</vt:lpstr>
      <vt:lpstr>PowerPoint Presentation</vt:lpstr>
      <vt:lpstr>PowerPoint Presentation</vt:lpstr>
      <vt:lpstr>Introduction</vt:lpstr>
      <vt:lpstr>PowerPoint Presentation</vt:lpstr>
      <vt:lpstr>Aims and objective</vt:lpstr>
      <vt:lpstr>Materials and Methods</vt:lpstr>
      <vt:lpstr>PowerPoint Presentation</vt:lpstr>
      <vt:lpstr>PowerPoint Presentation</vt:lpstr>
      <vt:lpstr>PowerPoint Presentation</vt:lpstr>
      <vt:lpstr>PRE OP XRAY</vt:lpstr>
      <vt:lpstr>INTRA-OP</vt:lpstr>
      <vt:lpstr>PowerPoint Presentation</vt:lpstr>
      <vt:lpstr>Results</vt:lpstr>
      <vt:lpstr>Sex distribution</vt:lpstr>
      <vt:lpstr>FRACTURE TYPE DISTRIBUTION</vt:lpstr>
      <vt:lpstr>FUNCTIONAL OUTCOME USING OBRIEN SCORING</vt:lpstr>
      <vt:lpstr>RADIOLOGICAL OUTCOME-USING SARMIENTO MODIFICATION LINDSTROM CRITERIA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vinny dach</cp:lastModifiedBy>
  <cp:revision>4</cp:revision>
  <dcterms:created xsi:type="dcterms:W3CDTF">2026-01-11T06:24:43Z</dcterms:created>
  <dcterms:modified xsi:type="dcterms:W3CDTF">2026-01-29T17:34:45Z</dcterms:modified>
</cp:coreProperties>
</file>