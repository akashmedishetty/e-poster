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59" r:id="rId1"/>
  </p:sldMasterIdLst>
  <p:notesMasterIdLst>
    <p:notesMasterId r:id="rId2"/>
  </p:notesMasterIdLst>
  <p:sldIdLst>
    <p:sldId id="256" r:id="rId4"/>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994" autoAdjust="0"/>
    <p:restoredTop sz="94660" autoAdjust="0"/>
  </p:normalViewPr>
  <p:slideViewPr>
    <p:cSldViewPr snapToGrid="0">
      <p:cViewPr varScale="1">
        <p:scale>
          <a:sx n="84" d="100"/>
          <a:sy n="84"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&lt;#&gt;</a:t>
            </a:fld>
            <a:endParaRPr lang="zh-CN" altLang="en-US" sz="1200">
              <a:latin typeface="Aptos" pitchFamily="0" charset="0"/>
              <a:ea typeface="等线" pitchFamily="0" charset="0"/>
              <a:cs typeface="Aptos" pitchFamily="0" charset="0"/>
            </a:endParaRPr>
          </a:p>
        </p:txBody>
      </p:sp>
      <p:sp>
        <p:nvSpPr>
          <p:cNvPr id="10" name="文本框"/>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Aptos" pitchFamily="0" charset="0"/>
              <a:ea typeface="等线" pitchFamily="0" charset="0"/>
              <a:cs typeface="Aptos" pitchFamily="0" charset="0"/>
            </a:endParaRPr>
          </a:p>
        </p:txBody>
      </p:sp>
      <p:sp>
        <p:nvSpPr>
          <p:cNvPr id="11" name="文本框"/>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Aptos" pitchFamily="0" charset="0"/>
                <a:ea typeface="等线" pitchFamily="0" charset="0"/>
                <a:cs typeface="Aptos" pitchFamily="0" charset="0"/>
              </a:rPr>
              <a:t>2/12/2026</a:t>
            </a:fld>
            <a:endParaRPr lang="zh-CN" altLang="en-US" sz="1200">
              <a:latin typeface="Aptos" pitchFamily="0" charset="0"/>
              <a:ea typeface="等线" pitchFamily="0" charset="0"/>
              <a:cs typeface="Aptos" pitchFamily="0" charset="0"/>
            </a:endParaRPr>
          </a:p>
        </p:txBody>
      </p:sp>
      <p:sp>
        <p:nvSpPr>
          <p:cNvPr id="12" name="对象"/>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13" name="文本框"/>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4" name="文本框"/>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909080442"/>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a:t>
            </a:fld>
            <a:endParaRPr lang="zh-CN" altLang="en-US" sz="1200">
              <a:latin typeface="Aptos" pitchFamily="0" charset="0"/>
              <a:ea typeface="等线" pitchFamily="0" charset="0"/>
              <a:cs typeface="Aptos" pitchFamily="0" charset="0"/>
            </a:endParaRPr>
          </a:p>
        </p:txBody>
      </p:sp>
      <p:sp>
        <p:nvSpPr>
          <p:cNvPr id="55"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5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320576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1.png"/><Relationship Id="rId3" Type="http://schemas.openxmlformats.org/officeDocument/2006/relationships/image" Target="../media/2.png"/><Relationship Id="rId4" Type="http://schemas.openxmlformats.org/officeDocument/2006/relationships/image" Target="../media/3.png"/><Relationship Id="rId5" Type="http://schemas.openxmlformats.org/officeDocument/2006/relationships/image" Target="../media/pimg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chemeClr val="bg1"/>
        </a:solidFill>
      </p:bgPr>
    </p:bg>
    <p:spTree>
      <p:nvGrpSpPr>
        <p:cNvPr id="1" name=""/>
        <p:cNvGrpSpPr/>
        <p:nvPr/>
      </p:nvGrpSpPr>
      <p:grpSpPr>
        <a:xfrm>
          <a:off x="0" y="0"/>
          <a:ext cx="0" cy="0"/>
          <a:chOff x="0" y="0"/>
          <a:chExt cx="0" cy="0"/>
        </a:xfrm>
      </p:grpSpPr>
      <p:sp>
        <p:nvSpPr>
          <p:cNvPr id="28" name="矩形"/>
          <p:cNvSpPr>
            <a:spLocks/>
          </p:cNvSpPr>
          <p:nvPr/>
        </p:nvSpPr>
        <p:spPr>
          <a:xfrm rot="0">
            <a:off x="0" y="0"/>
            <a:ext cx="12191998" cy="1280156"/>
          </a:xfrm>
          <a:prstGeom prst="rect"/>
          <a:solidFill>
            <a:srgbClr val="01234D"/>
          </a:solidFill>
          <a:ln w="19050" cmpd="sng" cap="flat">
            <a:solidFill>
              <a:srgbClr val="525755"/>
            </a:solidFill>
            <a:prstDash val="solid"/>
            <a:round/>
          </a:ln>
        </p:spPr>
      </p:sp>
      <p:pic>
        <p:nvPicPr>
          <p:cNvPr id="27" name="图片"/>
          <p:cNvPicPr>
            <a:picLocks noChangeAspect="1"/>
          </p:cNvPicPr>
          <p:nvPr/>
        </p:nvPicPr>
        <p:blipFill>
          <a:blip r:embed="rId2" cstate="print"/>
          <a:stretch>
            <a:fillRect/>
          </a:stretch>
        </p:blipFill>
        <p:spPr>
          <a:xfrm rot="0">
            <a:off x="9006884" y="74822"/>
            <a:ext cx="1043153" cy="1043153"/>
          </a:xfrm>
          <a:prstGeom prst="rect"/>
          <a:noFill/>
          <a:ln w="12700" cmpd="sng" cap="flat">
            <a:noFill/>
            <a:prstDash val="solid"/>
            <a:miter/>
          </a:ln>
        </p:spPr>
      </p:pic>
      <p:pic>
        <p:nvPicPr>
          <p:cNvPr id="26" name="图片"/>
          <p:cNvPicPr>
            <a:picLocks noChangeAspect="1"/>
          </p:cNvPicPr>
          <p:nvPr/>
        </p:nvPicPr>
        <p:blipFill>
          <a:blip r:embed="rId3" cstate="print"/>
          <a:stretch>
            <a:fillRect/>
          </a:stretch>
        </p:blipFill>
        <p:spPr>
          <a:xfrm rot="0">
            <a:off x="10947316" y="123389"/>
            <a:ext cx="884046" cy="884047"/>
          </a:xfrm>
          <a:prstGeom prst="rect"/>
          <a:noFill/>
          <a:ln w="12700" cmpd="sng" cap="flat">
            <a:noFill/>
            <a:prstDash val="solid"/>
            <a:miter/>
          </a:ln>
        </p:spPr>
      </p:pic>
      <p:pic>
        <p:nvPicPr>
          <p:cNvPr id="25" name="图片"/>
          <p:cNvPicPr>
            <a:picLocks noChangeAspect="1"/>
          </p:cNvPicPr>
          <p:nvPr/>
        </p:nvPicPr>
        <p:blipFill>
          <a:blip r:embed="rId4" cstate="print"/>
          <a:stretch>
            <a:fillRect/>
          </a:stretch>
        </p:blipFill>
        <p:spPr>
          <a:xfrm rot="0">
            <a:off x="10127893" y="192302"/>
            <a:ext cx="785940" cy="785940"/>
          </a:xfrm>
          <a:prstGeom prst="rect"/>
          <a:noFill/>
          <a:ln w="12700" cmpd="sng" cap="flat">
            <a:noFill/>
            <a:prstDash val="solid"/>
            <a:miter/>
          </a:ln>
        </p:spPr>
      </p:pic>
      <p:sp>
        <p:nvSpPr>
          <p:cNvPr id="24" name="矩形"/>
          <p:cNvSpPr>
            <a:spLocks/>
          </p:cNvSpPr>
          <p:nvPr/>
        </p:nvSpPr>
        <p:spPr>
          <a:xfrm rot="0">
            <a:off x="2575249" y="27424"/>
            <a:ext cx="5998348" cy="624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chemeClr val="bg1"/>
                </a:solidFill>
                <a:latin typeface="Gordita " pitchFamily="0" charset="0"/>
                <a:ea typeface="等线" pitchFamily="0" charset="0"/>
                <a:cs typeface="Aptos" pitchFamily="0" charset="0"/>
              </a:rPr>
              <a:t>55</a:t>
            </a:r>
            <a:r>
              <a:rPr lang="en-US" altLang="zh-CN" sz="1800" b="1" i="0" u="none" strike="noStrike" kern="1200" cap="none" spc="0" baseline="30000">
                <a:solidFill>
                  <a:schemeClr val="bg1"/>
                </a:solidFill>
                <a:latin typeface="Gordita " pitchFamily="0" charset="0"/>
                <a:ea typeface="等线" pitchFamily="0" charset="0"/>
                <a:cs typeface="Aptos" pitchFamily="0" charset="0"/>
              </a:rPr>
              <a:t>th</a:t>
            </a:r>
            <a:r>
              <a:rPr lang="en-US" altLang="zh-CN" sz="1800" b="1" i="0" u="none" strike="noStrike" kern="1200" cap="none" spc="0" baseline="0">
                <a:solidFill>
                  <a:schemeClr val="bg1"/>
                </a:solidFill>
                <a:latin typeface="Gordita " pitchFamily="0" charset="0"/>
                <a:ea typeface="等线" pitchFamily="0" charset="0"/>
                <a:cs typeface="Aptos" pitchFamily="0" charset="0"/>
              </a:rPr>
              <a:t>   Annual Conference of </a:t>
            </a:r>
            <a:endParaRPr lang="en-US" altLang="zh-CN" sz="1800" b="1" i="0" u="none" strike="noStrike" kern="1200" cap="none" spc="0" baseline="0">
              <a:solidFill>
                <a:schemeClr val="bg1"/>
              </a:solidFill>
              <a:latin typeface="Gordita " pitchFamily="0" charset="0"/>
              <a:ea typeface="等线" pitchFamily="0" charset="0"/>
              <a:cs typeface="Aptos" pitchFamily="0" charset="0"/>
            </a:endParaRPr>
          </a:p>
          <a:p>
            <a:pPr marL="0" indent="0" algn="l">
              <a:lnSpc>
                <a:spcPct val="100000"/>
              </a:lnSpc>
              <a:spcBef>
                <a:spcPts val="0"/>
              </a:spcBef>
              <a:spcAft>
                <a:spcPts val="0"/>
              </a:spcAft>
              <a:buNone/>
            </a:pPr>
            <a:r>
              <a:rPr lang="en-US" altLang="zh-CN" sz="1800" b="1" i="0" u="none" strike="noStrike" kern="1200" cap="none" spc="0" baseline="0">
                <a:solidFill>
                  <a:schemeClr val="bg1"/>
                </a:solidFill>
                <a:latin typeface="Gordita " pitchFamily="0" charset="0"/>
                <a:ea typeface="等线" pitchFamily="0" charset="0"/>
                <a:cs typeface="Aptos" pitchFamily="0" charset="0"/>
              </a:rPr>
              <a:t>Orthopedic Surgeon Society of Andhra Pradesh</a:t>
            </a:r>
            <a:endParaRPr lang="zh-CN" altLang="en-US" sz="1800" b="1" i="0" u="none" strike="noStrike" kern="1200" cap="none" spc="0" baseline="0">
              <a:solidFill>
                <a:schemeClr val="bg1"/>
              </a:solidFill>
              <a:latin typeface="Gordita " pitchFamily="0" charset="0"/>
              <a:ea typeface="等线" pitchFamily="0" charset="0"/>
              <a:cs typeface="Aptos" pitchFamily="0" charset="0"/>
            </a:endParaRPr>
          </a:p>
        </p:txBody>
      </p:sp>
      <p:sp>
        <p:nvSpPr>
          <p:cNvPr id="23" name="矩形"/>
          <p:cNvSpPr>
            <a:spLocks/>
          </p:cNvSpPr>
          <p:nvPr/>
        </p:nvSpPr>
        <p:spPr>
          <a:xfrm rot="0">
            <a:off x="2601217" y="653897"/>
            <a:ext cx="6307494" cy="27241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chemeClr val="bg1"/>
                </a:solidFill>
                <a:latin typeface="Gordita " pitchFamily="0" charset="0"/>
                <a:ea typeface="等线" pitchFamily="0" charset="0"/>
                <a:cs typeface="Aptos" pitchFamily="0" charset="0"/>
              </a:rPr>
              <a:t>Date 6 – 8 February,2026, Venue : Kurnool Medical College</a:t>
            </a:r>
            <a:endParaRPr lang="zh-CN" altLang="en-US" sz="1200" b="1" i="0" u="none" strike="noStrike" kern="1200" cap="none" spc="0" baseline="0">
              <a:solidFill>
                <a:schemeClr val="bg1"/>
              </a:solidFill>
              <a:latin typeface="Gordita " pitchFamily="0" charset="0"/>
              <a:ea typeface="等线" pitchFamily="0" charset="0"/>
              <a:cs typeface="Aptos" pitchFamily="0" charset="0"/>
            </a:endParaRPr>
          </a:p>
        </p:txBody>
      </p:sp>
      <p:sp>
        <p:nvSpPr>
          <p:cNvPr id="22" name="矩形"/>
          <p:cNvSpPr>
            <a:spLocks/>
          </p:cNvSpPr>
          <p:nvPr/>
        </p:nvSpPr>
        <p:spPr>
          <a:xfrm rot="0">
            <a:off x="2575249" y="913340"/>
            <a:ext cx="7114031" cy="27241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chemeClr val="bg1"/>
                </a:solidFill>
                <a:latin typeface="Gordita " pitchFamily="0" charset="0"/>
                <a:ea typeface="等线" pitchFamily="0" charset="0"/>
                <a:cs typeface="Aptos" pitchFamily="0" charset="0"/>
              </a:rPr>
              <a:t>Organized by : Department of </a:t>
            </a:r>
            <a:r>
              <a:rPr lang="en-US" altLang="zh-CN" sz="1200" b="1" i="0" u="none" strike="noStrike" kern="1200" cap="none" spc="0" baseline="0">
                <a:solidFill>
                  <a:schemeClr val="bg1"/>
                </a:solidFill>
                <a:latin typeface="Gordita " pitchFamily="0" charset="0"/>
                <a:ea typeface="等线" pitchFamily="0" charset="0"/>
                <a:cs typeface="Aptos" pitchFamily="0" charset="0"/>
              </a:rPr>
              <a:t>Orthopaedics</a:t>
            </a:r>
            <a:r>
              <a:rPr lang="en-US" altLang="zh-CN" sz="1200" b="1" i="0" u="none" strike="noStrike" kern="1200" cap="none" spc="0" baseline="0">
                <a:solidFill>
                  <a:schemeClr val="bg1"/>
                </a:solidFill>
                <a:latin typeface="Gordita " pitchFamily="0" charset="0"/>
                <a:ea typeface="等线" pitchFamily="0" charset="0"/>
                <a:cs typeface="Aptos" pitchFamily="0" charset="0"/>
              </a:rPr>
              <a:t>, Kurnool Medical College Kurnool</a:t>
            </a:r>
            <a:endParaRPr lang="zh-CN" altLang="en-US" sz="1200" b="1" i="0" u="none" strike="noStrike" kern="1200" cap="none" spc="0" baseline="0">
              <a:solidFill>
                <a:schemeClr val="bg1"/>
              </a:solidFill>
              <a:latin typeface="Gordita " pitchFamily="0" charset="0"/>
              <a:ea typeface="等线" pitchFamily="0" charset="0"/>
              <a:cs typeface="Aptos" pitchFamily="0" charset="0"/>
            </a:endParaRPr>
          </a:p>
        </p:txBody>
      </p:sp>
      <p:sp>
        <p:nvSpPr>
          <p:cNvPr id="21" name="曲线"/>
          <p:cNvSpPr>
            <a:spLocks/>
          </p:cNvSpPr>
          <p:nvPr/>
        </p:nvSpPr>
        <p:spPr>
          <a:xfrm rot="0">
            <a:off x="560814" y="14255"/>
            <a:ext cx="1505561" cy="128015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5"/>
            <a:stretch>
              <a:fillRect t="-9937" r="-4895" b="-10857"/>
            </a:stretch>
          </a:blipFill>
          <a:ln cmpd="sng" cap="flat">
            <a:noFill/>
            <a:prstDash val="solid"/>
            <a:miter/>
          </a:ln>
        </p:spPr>
      </p:sp>
      <p:sp>
        <p:nvSpPr>
          <p:cNvPr id="16" name="文本框"/>
          <p:cNvSpPr>
            <a:spLocks noGrp="1"/>
          </p:cNvSpPr>
          <p:nvPr>
            <p:ph type="ctrTitle"/>
          </p:nvPr>
        </p:nvSpPr>
        <p:spPr>
          <a:xfrm rot="0">
            <a:off x="1524000" y="1122363"/>
            <a:ext cx="9144000" cy="2387600"/>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90000"/>
              </a:lnSpc>
              <a:spcBef>
                <a:spcPts val="0"/>
              </a:spcBef>
              <a:spcAft>
                <a:spcPts val="0"/>
              </a:spcAft>
              <a:buNone/>
            </a:pPr>
            <a:r>
              <a:rPr lang="en-US" altLang="zh-CN" sz="6000" b="0" i="0" u="none" strike="noStrike" kern="1200" cap="none" spc="0" baseline="0">
                <a:solidFill>
                  <a:schemeClr val="tx1"/>
                </a:solidFill>
                <a:latin typeface="Aptos Display" pitchFamily="0" charset="0"/>
                <a:ea typeface="等线 Light" pitchFamily="0" charset="0"/>
                <a:cs typeface="Lucida Sans"/>
              </a:rPr>
              <a:t>Click to edit Master title style</a:t>
            </a:r>
            <a:endParaRPr lang="zh-CN" altLang="en-US" sz="6000" b="0" i="0" u="none" strike="noStrike" kern="1200" cap="none" spc="0" baseline="0">
              <a:solidFill>
                <a:schemeClr val="tx1"/>
              </a:solidFill>
              <a:latin typeface="Aptos Display" pitchFamily="0" charset="0"/>
              <a:ea typeface="等线 Light" pitchFamily="0" charset="0"/>
              <a:cs typeface="Lucida Sans"/>
            </a:endParaRPr>
          </a:p>
        </p:txBody>
      </p:sp>
      <p:sp>
        <p:nvSpPr>
          <p:cNvPr id="17" name="文本框"/>
          <p:cNvSpPr>
            <a:spLocks noGrp="1"/>
          </p:cNvSpPr>
          <p:nvPr>
            <p:ph type="subTitle" idx="1"/>
          </p:nvPr>
        </p:nvSpPr>
        <p:spPr>
          <a:xfrm rot="0">
            <a:off x="1524000" y="3602038"/>
            <a:ext cx="9144000" cy="165576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en-US" altLang="zh-CN" sz="2400" b="0" i="0" u="none" strike="noStrike" kern="1200" cap="none" spc="0" baseline="0">
                <a:solidFill>
                  <a:schemeClr val="tx1"/>
                </a:solidFill>
                <a:latin typeface="Aptos" pitchFamily="0" charset="0"/>
                <a:ea typeface="等线" pitchFamily="0" charset="0"/>
                <a:cs typeface="Lucida Sans"/>
              </a:rPr>
              <a:t>Click to edit Master subtitle style</a:t>
            </a:r>
            <a:endParaRPr lang="zh-CN" altLang="en-US" sz="2400" b="0" i="0" u="none" strike="noStrike" kern="1200" cap="none" spc="0" baseline="0">
              <a:solidFill>
                <a:schemeClr val="tx1"/>
              </a:solidFill>
              <a:latin typeface="Aptos" pitchFamily="0" charset="0"/>
              <a:ea typeface="等线" pitchFamily="0" charset="0"/>
              <a:cs typeface="Lucida Sans"/>
            </a:endParaRPr>
          </a:p>
        </p:txBody>
      </p:sp>
      <p:sp>
        <p:nvSpPr>
          <p:cNvPr id="18" name="文本框"/>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9" name="文本框"/>
          <p:cNvSpPr>
            <a:spLocks noGrp="1"/>
          </p:cNvSpPr>
          <p:nvPr>
            <p:ph type="ftr"/>
          </p:nvPr>
        </p:nvSpPr>
        <p:spPr>
          <a:xfrm rot="0">
            <a:off x="4038600" y="6356349"/>
            <a:ext cx="4114800" cy="36512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20" name="文本框"/>
          <p:cNvSpPr>
            <a:spLocks noGrp="1"/>
          </p:cNvSpPr>
          <p:nvPr>
            <p:ph type="sldNum"/>
          </p:nvPr>
        </p:nvSpPr>
        <p:spPr>
          <a:xfrm rot="0">
            <a:off x="8610600" y="6356349"/>
            <a:ext cx="2743200" cy="365125"/>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fld id="{CAD2D6BD-DE1B-4B5F-8B41-2702339687B9}" type="slidenum">
              <a:rPr lang="en-US" altLang="zh-CN" sz="1800" b="0" i="0" u="none" strike="noStrike" kern="1200" cap="none" spc="0" baseline="0">
                <a:solidFill>
                  <a:schemeClr val="tx1"/>
                </a:solidFill>
                <a:latin typeface="Aptos" pitchFamily="0" charset="0"/>
                <a:ea typeface="等线" pitchFamily="0" charset="0"/>
                <a:cs typeface="Aptos" pitchFamily="0" charset="0"/>
              </a:rPr>
              <a:t>&lt;#&gt;</a:t>
            </a:fld>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208625164"/>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980703792"/>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1693915168"/>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468268180"/>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2133108199"/>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Tree>
    <p:extLst>
      <p:ext uri="{BB962C8B-B14F-4D97-AF65-F5344CB8AC3E}">
        <p14:creationId xmlns:p14="http://schemas.microsoft.com/office/powerpoint/2010/main" val="1048672290"/>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Tree>
    <p:extLst>
      <p:ext uri="{BB962C8B-B14F-4D97-AF65-F5344CB8AC3E}">
        <p14:creationId xmlns:p14="http://schemas.microsoft.com/office/powerpoint/2010/main" val="2090671272"/>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421618722"/>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2036045105"/>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1801441184"/>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538807026"/>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png"/><Relationship Id="rId3" Type="http://schemas.openxmlformats.org/officeDocument/2006/relationships/image" Target="../media/3.png"/><Relationship Id="rId4" Type="http://schemas.openxmlformats.org/officeDocument/2006/relationships/image" Target="../media/pimg1.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矩形"/>
          <p:cNvSpPr>
            <a:spLocks/>
          </p:cNvSpPr>
          <p:nvPr/>
        </p:nvSpPr>
        <p:spPr>
          <a:xfrm rot="0">
            <a:off x="0" y="0"/>
            <a:ext cx="12191998" cy="1280156"/>
          </a:xfrm>
          <a:prstGeom prst="rect"/>
          <a:solidFill>
            <a:srgbClr val="01234D"/>
          </a:solidFill>
          <a:ln w="19050" cmpd="sng" cap="flat">
            <a:solidFill>
              <a:srgbClr val="525755"/>
            </a:solidFill>
            <a:prstDash val="solid"/>
            <a:round/>
          </a:ln>
        </p:spPr>
      </p:sp>
      <p:pic>
        <p:nvPicPr>
          <p:cNvPr id="3" name="图片"/>
          <p:cNvPicPr>
            <a:picLocks noChangeAspect="1"/>
          </p:cNvPicPr>
          <p:nvPr/>
        </p:nvPicPr>
        <p:blipFill>
          <a:blip r:embed="rId1" cstate="print"/>
          <a:stretch>
            <a:fillRect/>
          </a:stretch>
        </p:blipFill>
        <p:spPr>
          <a:xfrm rot="0">
            <a:off x="9006884" y="74822"/>
            <a:ext cx="1043153" cy="1043153"/>
          </a:xfrm>
          <a:prstGeom prst="rect"/>
          <a:noFill/>
          <a:ln w="12700" cmpd="sng" cap="flat">
            <a:noFill/>
            <a:prstDash val="solid"/>
            <a:miter/>
          </a:ln>
        </p:spPr>
      </p:pic>
      <p:pic>
        <p:nvPicPr>
          <p:cNvPr id="4" name="图片"/>
          <p:cNvPicPr>
            <a:picLocks noChangeAspect="1"/>
          </p:cNvPicPr>
          <p:nvPr/>
        </p:nvPicPr>
        <p:blipFill>
          <a:blip r:embed="rId2" cstate="print"/>
          <a:stretch>
            <a:fillRect/>
          </a:stretch>
        </p:blipFill>
        <p:spPr>
          <a:xfrm rot="0">
            <a:off x="10947316" y="123389"/>
            <a:ext cx="884046" cy="884047"/>
          </a:xfrm>
          <a:prstGeom prst="rect"/>
          <a:noFill/>
          <a:ln w="12700" cmpd="sng" cap="flat">
            <a:noFill/>
            <a:prstDash val="solid"/>
            <a:miter/>
          </a:ln>
        </p:spPr>
      </p:pic>
      <p:pic>
        <p:nvPicPr>
          <p:cNvPr id="5" name="图片"/>
          <p:cNvPicPr>
            <a:picLocks noChangeAspect="1"/>
          </p:cNvPicPr>
          <p:nvPr/>
        </p:nvPicPr>
        <p:blipFill>
          <a:blip r:embed="rId3" cstate="print"/>
          <a:stretch>
            <a:fillRect/>
          </a:stretch>
        </p:blipFill>
        <p:spPr>
          <a:xfrm rot="0">
            <a:off x="10127893" y="192302"/>
            <a:ext cx="785940" cy="785940"/>
          </a:xfrm>
          <a:prstGeom prst="rect"/>
          <a:noFill/>
          <a:ln w="12700" cmpd="sng" cap="flat">
            <a:noFill/>
            <a:prstDash val="solid"/>
            <a:miter/>
          </a:ln>
        </p:spPr>
      </p:pic>
      <p:sp>
        <p:nvSpPr>
          <p:cNvPr id="6" name="矩形"/>
          <p:cNvSpPr>
            <a:spLocks/>
          </p:cNvSpPr>
          <p:nvPr/>
        </p:nvSpPr>
        <p:spPr>
          <a:xfrm rot="0">
            <a:off x="2575249" y="27424"/>
            <a:ext cx="5998348" cy="646331"/>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chemeClr val="bg1"/>
                </a:solidFill>
                <a:latin typeface="Gordita " pitchFamily="0" charset="0"/>
                <a:ea typeface="等线" pitchFamily="0" charset="0"/>
                <a:cs typeface="Aptos" pitchFamily="0" charset="0"/>
              </a:rPr>
              <a:t>55</a:t>
            </a:r>
            <a:r>
              <a:rPr lang="en-US" altLang="zh-CN" sz="1800" b="1" i="0" u="none" strike="noStrike" kern="1200" cap="none" spc="0" baseline="30000">
                <a:solidFill>
                  <a:schemeClr val="bg1"/>
                </a:solidFill>
                <a:latin typeface="Gordita " pitchFamily="0" charset="0"/>
                <a:ea typeface="等线" pitchFamily="0" charset="0"/>
                <a:cs typeface="Aptos" pitchFamily="0" charset="0"/>
              </a:rPr>
              <a:t>th</a:t>
            </a:r>
            <a:r>
              <a:rPr lang="en-US" altLang="zh-CN" sz="1800" b="1" i="0" u="none" strike="noStrike" kern="1200" cap="none" spc="0" baseline="0">
                <a:solidFill>
                  <a:schemeClr val="bg1"/>
                </a:solidFill>
                <a:latin typeface="Gordita " pitchFamily="0" charset="0"/>
                <a:ea typeface="等线" pitchFamily="0" charset="0"/>
                <a:cs typeface="Aptos" pitchFamily="0" charset="0"/>
              </a:rPr>
              <a:t>   Annual Conference of </a:t>
            </a:r>
            <a:endParaRPr lang="en-US" altLang="zh-CN" sz="1800" b="1" i="0" u="none" strike="noStrike" kern="1200" cap="none" spc="0" baseline="0">
              <a:solidFill>
                <a:schemeClr val="bg1"/>
              </a:solidFill>
              <a:latin typeface="Gordita " pitchFamily="0" charset="0"/>
              <a:ea typeface="等线" pitchFamily="0" charset="0"/>
              <a:cs typeface="Aptos" pitchFamily="0" charset="0"/>
            </a:endParaRPr>
          </a:p>
          <a:p>
            <a:pPr marL="0" indent="0" algn="l">
              <a:lnSpc>
                <a:spcPct val="100000"/>
              </a:lnSpc>
              <a:spcBef>
                <a:spcPts val="0"/>
              </a:spcBef>
              <a:spcAft>
                <a:spcPts val="0"/>
              </a:spcAft>
              <a:buNone/>
            </a:pPr>
            <a:r>
              <a:rPr lang="en-US" altLang="zh-CN" sz="1800" b="1" i="0" u="none" strike="noStrike" kern="1200" cap="none" spc="0" baseline="0">
                <a:solidFill>
                  <a:schemeClr val="bg1"/>
                </a:solidFill>
                <a:latin typeface="Gordita " pitchFamily="0" charset="0"/>
                <a:ea typeface="等线" pitchFamily="0" charset="0"/>
                <a:cs typeface="Aptos" pitchFamily="0" charset="0"/>
              </a:rPr>
              <a:t>Orthopedic Surgeon Society of Andhra Pradesh</a:t>
            </a:r>
            <a:endParaRPr lang="zh-CN" altLang="en-US" sz="1800" b="1" i="0" u="none" strike="noStrike" kern="1200" cap="none" spc="0" baseline="0">
              <a:solidFill>
                <a:schemeClr val="bg1"/>
              </a:solidFill>
              <a:latin typeface="Gordita " pitchFamily="0" charset="0"/>
              <a:ea typeface="等线" pitchFamily="0" charset="0"/>
              <a:cs typeface="Aptos" pitchFamily="0" charset="0"/>
            </a:endParaRPr>
          </a:p>
        </p:txBody>
      </p:sp>
      <p:sp>
        <p:nvSpPr>
          <p:cNvPr id="7" name="矩形"/>
          <p:cNvSpPr>
            <a:spLocks/>
          </p:cNvSpPr>
          <p:nvPr/>
        </p:nvSpPr>
        <p:spPr>
          <a:xfrm rot="0">
            <a:off x="2601217" y="653897"/>
            <a:ext cx="6307494" cy="27699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chemeClr val="bg1"/>
                </a:solidFill>
                <a:latin typeface="Gordita " pitchFamily="0" charset="0"/>
                <a:ea typeface="等线" pitchFamily="0" charset="0"/>
                <a:cs typeface="Aptos" pitchFamily="0" charset="0"/>
              </a:rPr>
              <a:t>Date 6 – 8 February,2026, Venue : Kurnool Medical College</a:t>
            </a:r>
            <a:endParaRPr lang="zh-CN" altLang="en-US" sz="1200" b="1" i="0" u="none" strike="noStrike" kern="1200" cap="none" spc="0" baseline="0">
              <a:solidFill>
                <a:schemeClr val="bg1"/>
              </a:solidFill>
              <a:latin typeface="Gordita " pitchFamily="0" charset="0"/>
              <a:ea typeface="等线" pitchFamily="0" charset="0"/>
              <a:cs typeface="Aptos" pitchFamily="0" charset="0"/>
            </a:endParaRPr>
          </a:p>
        </p:txBody>
      </p:sp>
      <p:sp>
        <p:nvSpPr>
          <p:cNvPr id="8" name="矩形"/>
          <p:cNvSpPr>
            <a:spLocks/>
          </p:cNvSpPr>
          <p:nvPr/>
        </p:nvSpPr>
        <p:spPr>
          <a:xfrm rot="0">
            <a:off x="2575249" y="913340"/>
            <a:ext cx="7114031" cy="27699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chemeClr val="bg1"/>
                </a:solidFill>
                <a:latin typeface="Gordita " pitchFamily="0" charset="0"/>
                <a:ea typeface="等线" pitchFamily="0" charset="0"/>
                <a:cs typeface="Aptos" pitchFamily="0" charset="0"/>
              </a:rPr>
              <a:t>Organized by : Department of </a:t>
            </a:r>
            <a:r>
              <a:rPr lang="en-US" altLang="zh-CN" sz="1200" b="1" i="0" u="none" strike="noStrike" kern="1200" cap="none" spc="0" baseline="0">
                <a:solidFill>
                  <a:schemeClr val="bg1"/>
                </a:solidFill>
                <a:latin typeface="Gordita " pitchFamily="0" charset="0"/>
                <a:ea typeface="等线" pitchFamily="0" charset="0"/>
                <a:cs typeface="Aptos" pitchFamily="0" charset="0"/>
              </a:rPr>
              <a:t>Orthopaedics</a:t>
            </a:r>
            <a:r>
              <a:rPr lang="en-US" altLang="zh-CN" sz="1200" b="1" i="0" u="none" strike="noStrike" kern="1200" cap="none" spc="0" baseline="0">
                <a:solidFill>
                  <a:schemeClr val="bg1"/>
                </a:solidFill>
                <a:latin typeface="Gordita " pitchFamily="0" charset="0"/>
                <a:ea typeface="等线" pitchFamily="0" charset="0"/>
                <a:cs typeface="Aptos" pitchFamily="0" charset="0"/>
              </a:rPr>
              <a:t>, Kurnool Medical College Kurnool</a:t>
            </a:r>
            <a:endParaRPr lang="zh-CN" altLang="en-US" sz="1200" b="1" i="0" u="none" strike="noStrike" kern="1200" cap="none" spc="0" baseline="0">
              <a:solidFill>
                <a:schemeClr val="bg1"/>
              </a:solidFill>
              <a:latin typeface="Gordita " pitchFamily="0" charset="0"/>
              <a:ea typeface="等线" pitchFamily="0" charset="0"/>
              <a:cs typeface="Aptos" pitchFamily="0" charset="0"/>
            </a:endParaRPr>
          </a:p>
        </p:txBody>
      </p:sp>
      <p:sp>
        <p:nvSpPr>
          <p:cNvPr id="9" name="曲线"/>
          <p:cNvSpPr>
            <a:spLocks/>
          </p:cNvSpPr>
          <p:nvPr/>
        </p:nvSpPr>
        <p:spPr>
          <a:xfrm rot="0">
            <a:off x="560814" y="14255"/>
            <a:ext cx="1505561" cy="128015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4"/>
            <a:stretch>
              <a:fillRect t="-9937" r="-4895" b="-10857"/>
            </a:stretch>
          </a:blipFill>
          <a:ln cmpd="sng" cap="flat">
            <a:noFill/>
            <a:prstDash val="solid"/>
            <a:miter/>
          </a:ln>
        </p:spPr>
      </p:sp>
    </p:spTree>
    <p:extLst>
      <p:ext uri="{BB962C8B-B14F-4D97-AF65-F5344CB8AC3E}">
        <p14:creationId xmlns:p14="http://schemas.microsoft.com/office/powerpoint/2010/main" val="1859388839"/>
      </p:ext>
    </p:extLst>
  </p:cSld>
  <p:clrMap bg1="lt1" tx1="dk1" bg2="lt2" tx2="dk2" accent1="accent1" accent2="accent2" accent3="accent3" accent4="accent4" accent5="accent5" accent6="accent6" hlink="hlink" folHlink="fol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Aptos Display" pitchFamily="0" charset="0"/>
          <a:ea typeface="等线 Light" pitchFamily="0" charset="0"/>
          <a:cs typeface="Aptos Display"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Aptos" pitchFamily="0" charset="0"/>
          <a:ea typeface="等线" pitchFamily="0" charset="0"/>
          <a:cs typeface="Aptos"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Aptos" pitchFamily="0" charset="0"/>
          <a:ea typeface="等线" pitchFamily="0" charset="0"/>
          <a:cs typeface="Aptos"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Aptos" pitchFamily="0" charset="0"/>
          <a:ea typeface="等线" pitchFamily="0" charset="0"/>
          <a:cs typeface="Aptos"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png"/><Relationship Id="rId3" Type="http://schemas.openxmlformats.org/officeDocument/2006/relationships/image" Target="../media/3.png"/><Relationship Id="rId4" Type="http://schemas.openxmlformats.org/officeDocument/2006/relationships/image" Target="../media/pimg3.png"/><Relationship Id="rId5" Type="http://schemas.openxmlformats.org/officeDocument/2006/relationships/image" Target="../media/4.jpeg"/><Relationship Id="rId6" Type="http://schemas.openxmlformats.org/officeDocument/2006/relationships/image" Target="../media/5.jpeg"/><Relationship Id="rId7" Type="http://schemas.openxmlformats.org/officeDocument/2006/relationships/image" Target="../media/6.jpeg"/><Relationship Id="rId8" Type="http://schemas.openxmlformats.org/officeDocument/2006/relationships/image" Target="../media/7.jpe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29" name="图片"/>
          <p:cNvPicPr>
            <a:picLocks noChangeAspect="1"/>
          </p:cNvPicPr>
          <p:nvPr/>
        </p:nvPicPr>
        <p:blipFill>
          <a:blip r:embed="rId1" cstate="print"/>
          <a:stretch>
            <a:fillRect/>
          </a:stretch>
        </p:blipFill>
        <p:spPr>
          <a:xfrm rot="0">
            <a:off x="9006884" y="74822"/>
            <a:ext cx="1043153" cy="1043153"/>
          </a:xfrm>
          <a:prstGeom prst="rect"/>
          <a:noFill/>
          <a:ln w="12700" cmpd="sng" cap="flat">
            <a:noFill/>
            <a:prstDash val="solid"/>
            <a:miter/>
          </a:ln>
        </p:spPr>
      </p:pic>
      <p:pic>
        <p:nvPicPr>
          <p:cNvPr id="30" name="图片"/>
          <p:cNvPicPr>
            <a:picLocks noChangeAspect="1"/>
          </p:cNvPicPr>
          <p:nvPr/>
        </p:nvPicPr>
        <p:blipFill>
          <a:blip r:embed="rId2" cstate="print"/>
          <a:stretch>
            <a:fillRect/>
          </a:stretch>
        </p:blipFill>
        <p:spPr>
          <a:xfrm rot="0">
            <a:off x="10947316" y="123389"/>
            <a:ext cx="884046" cy="884047"/>
          </a:xfrm>
          <a:prstGeom prst="rect"/>
          <a:noFill/>
          <a:ln w="12700" cmpd="sng" cap="flat">
            <a:noFill/>
            <a:prstDash val="solid"/>
            <a:miter/>
          </a:ln>
        </p:spPr>
      </p:pic>
      <p:pic>
        <p:nvPicPr>
          <p:cNvPr id="31" name="图片"/>
          <p:cNvPicPr>
            <a:picLocks noChangeAspect="1"/>
          </p:cNvPicPr>
          <p:nvPr/>
        </p:nvPicPr>
        <p:blipFill>
          <a:blip r:embed="rId3" cstate="print"/>
          <a:stretch>
            <a:fillRect/>
          </a:stretch>
        </p:blipFill>
        <p:spPr>
          <a:xfrm rot="0">
            <a:off x="10127893" y="192302"/>
            <a:ext cx="785940" cy="785940"/>
          </a:xfrm>
          <a:prstGeom prst="rect"/>
          <a:noFill/>
          <a:ln w="12700" cmpd="sng" cap="flat">
            <a:noFill/>
            <a:prstDash val="solid"/>
            <a:miter/>
          </a:ln>
        </p:spPr>
      </p:pic>
      <p:sp>
        <p:nvSpPr>
          <p:cNvPr id="32" name="矩形"/>
          <p:cNvSpPr>
            <a:spLocks/>
          </p:cNvSpPr>
          <p:nvPr/>
        </p:nvSpPr>
        <p:spPr>
          <a:xfrm rot="0">
            <a:off x="2575249" y="27424"/>
            <a:ext cx="6703662" cy="6248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1" i="0" u="none" strike="noStrike" kern="1200" cap="none" spc="0" baseline="0">
                <a:solidFill>
                  <a:schemeClr val="bg1"/>
                </a:solidFill>
                <a:latin typeface="Gordita " pitchFamily="0" charset="0"/>
                <a:ea typeface="等线" pitchFamily="0" charset="0"/>
                <a:cs typeface="Aptos" pitchFamily="0" charset="0"/>
              </a:rPr>
              <a:t>55</a:t>
            </a:r>
            <a:r>
              <a:rPr lang="en-US" altLang="zh-CN" sz="1800" b="1" i="0" u="none" strike="noStrike" kern="1200" cap="none" spc="0" baseline="30000">
                <a:solidFill>
                  <a:schemeClr val="bg1"/>
                </a:solidFill>
                <a:latin typeface="Gordita " pitchFamily="0" charset="0"/>
                <a:ea typeface="等线" pitchFamily="0" charset="0"/>
                <a:cs typeface="Aptos" pitchFamily="0" charset="0"/>
              </a:rPr>
              <a:t>th</a:t>
            </a:r>
            <a:r>
              <a:rPr lang="en-US" altLang="zh-CN" sz="1800" b="1" i="0" u="none" strike="noStrike" kern="1200" cap="none" spc="0" baseline="0">
                <a:solidFill>
                  <a:schemeClr val="bg1"/>
                </a:solidFill>
                <a:latin typeface="Gordita " pitchFamily="0" charset="0"/>
                <a:ea typeface="等线" pitchFamily="0" charset="0"/>
                <a:cs typeface="Aptos" pitchFamily="0" charset="0"/>
              </a:rPr>
              <a:t>   Annual Conference of </a:t>
            </a:r>
            <a:endParaRPr lang="en-US" altLang="zh-CN" sz="1800" b="1" i="0" u="none" strike="noStrike" kern="1200" cap="none" spc="0" baseline="0">
              <a:solidFill>
                <a:schemeClr val="bg1"/>
              </a:solidFill>
              <a:latin typeface="Gordita " pitchFamily="0" charset="0"/>
              <a:ea typeface="等线" pitchFamily="0" charset="0"/>
              <a:cs typeface="Aptos" pitchFamily="0" charset="0"/>
            </a:endParaRPr>
          </a:p>
          <a:p>
            <a:pPr marL="0" indent="0" algn="l">
              <a:lnSpc>
                <a:spcPct val="100000"/>
              </a:lnSpc>
              <a:spcBef>
                <a:spcPts val="0"/>
              </a:spcBef>
              <a:spcAft>
                <a:spcPts val="0"/>
              </a:spcAft>
              <a:buNone/>
            </a:pPr>
            <a:r>
              <a:rPr lang="en-US" altLang="zh-CN" sz="1800" b="1" i="0" u="none" strike="noStrike" kern="1200" cap="none" spc="0" baseline="0">
                <a:solidFill>
                  <a:schemeClr val="bg1"/>
                </a:solidFill>
                <a:latin typeface="Gordita " pitchFamily="0" charset="0"/>
                <a:ea typeface="等线" pitchFamily="0" charset="0"/>
                <a:cs typeface="Aptos" pitchFamily="0" charset="0"/>
              </a:rPr>
              <a:t>Orthopedic Surgeon Society of Andhra Pradesh</a:t>
            </a:r>
            <a:endParaRPr lang="zh-CN" altLang="en-US" sz="1800" b="1" i="0" u="none" strike="noStrike" kern="1200" cap="none" spc="0" baseline="0">
              <a:solidFill>
                <a:schemeClr val="bg1"/>
              </a:solidFill>
              <a:latin typeface="Gordita " pitchFamily="0" charset="0"/>
              <a:ea typeface="等线" pitchFamily="0" charset="0"/>
              <a:cs typeface="Aptos" pitchFamily="0" charset="0"/>
            </a:endParaRPr>
          </a:p>
        </p:txBody>
      </p:sp>
      <p:sp>
        <p:nvSpPr>
          <p:cNvPr id="33" name="矩形"/>
          <p:cNvSpPr>
            <a:spLocks/>
          </p:cNvSpPr>
          <p:nvPr/>
        </p:nvSpPr>
        <p:spPr>
          <a:xfrm rot="0">
            <a:off x="2601217" y="653897"/>
            <a:ext cx="6307494" cy="27241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chemeClr val="bg1"/>
                </a:solidFill>
                <a:latin typeface="Gordita " pitchFamily="0" charset="0"/>
                <a:ea typeface="等线" pitchFamily="0" charset="0"/>
                <a:cs typeface="Aptos" pitchFamily="0" charset="0"/>
              </a:rPr>
              <a:t>Date 6 – 8 February,2026, Venue : Kurnool Medical College</a:t>
            </a:r>
            <a:endParaRPr lang="zh-CN" altLang="en-US" sz="1200" b="1" i="0" u="none" strike="noStrike" kern="1200" cap="none" spc="0" baseline="0">
              <a:solidFill>
                <a:schemeClr val="bg1"/>
              </a:solidFill>
              <a:latin typeface="Gordita " pitchFamily="0" charset="0"/>
              <a:ea typeface="等线" pitchFamily="0" charset="0"/>
              <a:cs typeface="Aptos" pitchFamily="0" charset="0"/>
            </a:endParaRPr>
          </a:p>
        </p:txBody>
      </p:sp>
      <p:sp>
        <p:nvSpPr>
          <p:cNvPr id="34" name="矩形"/>
          <p:cNvSpPr>
            <a:spLocks/>
          </p:cNvSpPr>
          <p:nvPr/>
        </p:nvSpPr>
        <p:spPr>
          <a:xfrm rot="0">
            <a:off x="2575249" y="913340"/>
            <a:ext cx="7114031" cy="27241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1" i="0" u="none" strike="noStrike" kern="1200" cap="none" spc="0" baseline="0">
                <a:solidFill>
                  <a:schemeClr val="bg1"/>
                </a:solidFill>
                <a:latin typeface="Gordita " pitchFamily="0" charset="0"/>
                <a:ea typeface="等线" pitchFamily="0" charset="0"/>
                <a:cs typeface="Aptos" pitchFamily="0" charset="0"/>
              </a:rPr>
              <a:t>Organized by : Department of </a:t>
            </a:r>
            <a:r>
              <a:rPr lang="en-US" altLang="zh-CN" sz="1200" b="1" i="0" u="none" strike="noStrike" kern="1200" cap="none" spc="0" baseline="0">
                <a:solidFill>
                  <a:schemeClr val="bg1"/>
                </a:solidFill>
                <a:latin typeface="Gordita " pitchFamily="0" charset="0"/>
                <a:ea typeface="等线" pitchFamily="0" charset="0"/>
                <a:cs typeface="Aptos" pitchFamily="0" charset="0"/>
              </a:rPr>
              <a:t>Orthopaedics</a:t>
            </a:r>
            <a:r>
              <a:rPr lang="en-US" altLang="zh-CN" sz="1200" b="1" i="0" u="none" strike="noStrike" kern="1200" cap="none" spc="0" baseline="0">
                <a:solidFill>
                  <a:schemeClr val="bg1"/>
                </a:solidFill>
                <a:latin typeface="Gordita " pitchFamily="0" charset="0"/>
                <a:ea typeface="等线" pitchFamily="0" charset="0"/>
                <a:cs typeface="Aptos" pitchFamily="0" charset="0"/>
              </a:rPr>
              <a:t>, Kurnool Medical College Kurnool</a:t>
            </a:r>
            <a:endParaRPr lang="zh-CN" altLang="en-US" sz="1200" b="1" i="0" u="none" strike="noStrike" kern="1200" cap="none" spc="0" baseline="0">
              <a:solidFill>
                <a:schemeClr val="bg1"/>
              </a:solidFill>
              <a:latin typeface="Gordita " pitchFamily="0" charset="0"/>
              <a:ea typeface="等线" pitchFamily="0" charset="0"/>
              <a:cs typeface="Aptos" pitchFamily="0" charset="0"/>
            </a:endParaRPr>
          </a:p>
        </p:txBody>
      </p:sp>
      <p:sp>
        <p:nvSpPr>
          <p:cNvPr id="35" name="曲线"/>
          <p:cNvSpPr>
            <a:spLocks/>
          </p:cNvSpPr>
          <p:nvPr/>
        </p:nvSpPr>
        <p:spPr>
          <a:xfrm rot="0">
            <a:off x="560814" y="14255"/>
            <a:ext cx="1505561" cy="1280157"/>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4"/>
            <a:stretch>
              <a:fillRect t="-9937" r="-4895" b="-10857"/>
            </a:stretch>
          </a:blipFill>
          <a:ln cmpd="sng" cap="flat">
            <a:noFill/>
            <a:prstDash val="solid"/>
            <a:miter/>
          </a:ln>
        </p:spPr>
      </p:sp>
      <p:sp>
        <p:nvSpPr>
          <p:cNvPr id="36" name="矩形"/>
          <p:cNvSpPr>
            <a:spLocks/>
          </p:cNvSpPr>
          <p:nvPr/>
        </p:nvSpPr>
        <p:spPr>
          <a:xfrm rot="0">
            <a:off x="0" y="1674794"/>
            <a:ext cx="3108960" cy="3330342"/>
          </a:xfrm>
          <a:prstGeom prst="rect"/>
          <a:noFill/>
          <a:ln w="19050" cmpd="sng" cap="flat">
            <a:solidFill>
              <a:srgbClr val="0C445E"/>
            </a:solidFill>
            <a:prstDash val="solid"/>
            <a:miter/>
          </a:ln>
        </p:spPr>
      </p:sp>
      <p:sp>
        <p:nvSpPr>
          <p:cNvPr id="37" name="矩形"/>
          <p:cNvSpPr>
            <a:spLocks/>
          </p:cNvSpPr>
          <p:nvPr/>
        </p:nvSpPr>
        <p:spPr>
          <a:xfrm rot="0">
            <a:off x="0" y="5080536"/>
            <a:ext cx="3108960" cy="1777463"/>
          </a:xfrm>
          <a:prstGeom prst="rect"/>
          <a:noFill/>
          <a:ln w="19050" cmpd="sng" cap="flat">
            <a:solidFill>
              <a:srgbClr val="0C445E"/>
            </a:solidFill>
            <a:prstDash val="solid"/>
            <a:miter/>
          </a:ln>
        </p:spPr>
      </p:sp>
      <p:sp>
        <p:nvSpPr>
          <p:cNvPr id="38" name="矩形"/>
          <p:cNvSpPr>
            <a:spLocks/>
          </p:cNvSpPr>
          <p:nvPr/>
        </p:nvSpPr>
        <p:spPr>
          <a:xfrm rot="0">
            <a:off x="3137836" y="1280157"/>
            <a:ext cx="3185962" cy="5577842"/>
          </a:xfrm>
          <a:prstGeom prst="rect"/>
          <a:noFill/>
          <a:ln w="19050" cmpd="sng" cap="flat">
            <a:solidFill>
              <a:srgbClr val="0C445E"/>
            </a:solidFill>
            <a:prstDash val="solid"/>
            <a:miter/>
          </a:ln>
        </p:spPr>
      </p:sp>
      <p:sp>
        <p:nvSpPr>
          <p:cNvPr id="39" name="矩形"/>
          <p:cNvSpPr>
            <a:spLocks/>
          </p:cNvSpPr>
          <p:nvPr/>
        </p:nvSpPr>
        <p:spPr>
          <a:xfrm rot="0">
            <a:off x="6352674" y="1477475"/>
            <a:ext cx="5839326" cy="3330340"/>
          </a:xfrm>
          <a:prstGeom prst="rect"/>
          <a:noFill/>
          <a:ln w="19050" cmpd="sng" cap="flat">
            <a:solidFill>
              <a:srgbClr val="0C445E"/>
            </a:solidFill>
            <a:prstDash val="solid"/>
            <a:miter/>
          </a:ln>
        </p:spPr>
      </p:sp>
      <p:sp>
        <p:nvSpPr>
          <p:cNvPr id="40" name="矩形"/>
          <p:cNvSpPr>
            <a:spLocks/>
          </p:cNvSpPr>
          <p:nvPr/>
        </p:nvSpPr>
        <p:spPr>
          <a:xfrm rot="0">
            <a:off x="6352674" y="5080536"/>
            <a:ext cx="5839326" cy="1777463"/>
          </a:xfrm>
          <a:prstGeom prst="rect"/>
          <a:noFill/>
          <a:ln w="19050" cmpd="sng" cap="flat">
            <a:solidFill>
              <a:srgbClr val="0C445E"/>
            </a:solidFill>
            <a:prstDash val="solid"/>
            <a:miter/>
          </a:ln>
        </p:spPr>
      </p:sp>
      <p:sp>
        <p:nvSpPr>
          <p:cNvPr id="41" name="矩形"/>
          <p:cNvSpPr>
            <a:spLocks/>
          </p:cNvSpPr>
          <p:nvPr/>
        </p:nvSpPr>
        <p:spPr>
          <a:xfrm rot="0">
            <a:off x="0" y="1294412"/>
            <a:ext cx="3108959" cy="380382"/>
          </a:xfrm>
          <a:prstGeom prst="rect"/>
          <a:solidFill>
            <a:srgbClr val="A9C9E9"/>
          </a:solidFill>
          <a:ln w="19050" cmpd="sng" cap="flat">
            <a:solidFill>
              <a:srgbClr val="0C445E"/>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chemeClr val="tx1"/>
                </a:solidFill>
                <a:latin typeface="Aptos" pitchFamily="0" charset="0"/>
                <a:ea typeface="等线" pitchFamily="0" charset="0"/>
                <a:cs typeface="Aptos" pitchFamily="0" charset="0"/>
              </a:rPr>
              <a:t>INTRODUCTION </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42" name="矩形"/>
          <p:cNvSpPr>
            <a:spLocks/>
          </p:cNvSpPr>
          <p:nvPr/>
        </p:nvSpPr>
        <p:spPr>
          <a:xfrm rot="0">
            <a:off x="3108956" y="1311031"/>
            <a:ext cx="3229279" cy="394637"/>
          </a:xfrm>
          <a:prstGeom prst="rect"/>
          <a:solidFill>
            <a:srgbClr val="A9C9E9"/>
          </a:solidFill>
          <a:ln w="19050" cmpd="sng" cap="flat">
            <a:solidFill>
              <a:srgbClr val="0C445E"/>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0D0D0D"/>
                </a:solidFill>
                <a:latin typeface="Aptos" pitchFamily="0" charset="0"/>
                <a:ea typeface="等线" pitchFamily="0" charset="0"/>
                <a:cs typeface="Aptos" pitchFamily="0" charset="0"/>
              </a:rPr>
              <a:t>OPERATIVE FINDINGS</a:t>
            </a:r>
            <a:endParaRPr lang="zh-CN" altLang="en-US" sz="1800" b="1" i="0" u="none" strike="noStrike" kern="1200" cap="none" spc="0" baseline="0">
              <a:solidFill>
                <a:srgbClr val="0D0D0D"/>
              </a:solidFill>
              <a:latin typeface="Aptos" pitchFamily="0" charset="0"/>
              <a:ea typeface="等线" pitchFamily="0" charset="0"/>
              <a:cs typeface="Aptos" pitchFamily="0" charset="0"/>
            </a:endParaRPr>
          </a:p>
        </p:txBody>
      </p:sp>
      <p:sp>
        <p:nvSpPr>
          <p:cNvPr id="43" name="矩形"/>
          <p:cNvSpPr>
            <a:spLocks/>
          </p:cNvSpPr>
          <p:nvPr/>
        </p:nvSpPr>
        <p:spPr>
          <a:xfrm rot="0">
            <a:off x="6352673" y="1280157"/>
            <a:ext cx="5839325" cy="394637"/>
          </a:xfrm>
          <a:prstGeom prst="rect"/>
          <a:solidFill>
            <a:srgbClr val="A9C9E9"/>
          </a:solidFill>
          <a:ln w="19050" cmpd="sng" cap="flat">
            <a:solidFill>
              <a:srgbClr val="0C445E"/>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0D0D0D"/>
                </a:solidFill>
                <a:latin typeface="Aptos" pitchFamily="0" charset="0"/>
                <a:ea typeface="等线" pitchFamily="0" charset="0"/>
                <a:cs typeface="Aptos" pitchFamily="0" charset="0"/>
              </a:rPr>
              <a:t>DISCUSSION</a:t>
            </a:r>
            <a:endParaRPr lang="zh-CN" altLang="en-US" sz="1800" b="1" i="0" u="none" strike="noStrike" kern="1200" cap="none" spc="0" baseline="0">
              <a:solidFill>
                <a:srgbClr val="0D0D0D"/>
              </a:solidFill>
              <a:latin typeface="Aptos" pitchFamily="0" charset="0"/>
              <a:ea typeface="等线" pitchFamily="0" charset="0"/>
              <a:cs typeface="Aptos" pitchFamily="0" charset="0"/>
            </a:endParaRPr>
          </a:p>
        </p:txBody>
      </p:sp>
      <p:sp>
        <p:nvSpPr>
          <p:cNvPr id="44" name="矩形"/>
          <p:cNvSpPr>
            <a:spLocks/>
          </p:cNvSpPr>
          <p:nvPr/>
        </p:nvSpPr>
        <p:spPr>
          <a:xfrm rot="0">
            <a:off x="14437" y="4891374"/>
            <a:ext cx="3094522" cy="287943"/>
          </a:xfrm>
          <a:prstGeom prst="rect"/>
          <a:solidFill>
            <a:srgbClr val="A9C9E9"/>
          </a:solidFill>
          <a:ln w="19050" cmpd="sng" cap="flat">
            <a:solidFill>
              <a:srgbClr val="0C445E"/>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0D0D0D"/>
                </a:solidFill>
                <a:latin typeface="Aptos" pitchFamily="0" charset="0"/>
                <a:ea typeface="等线" pitchFamily="0" charset="0"/>
                <a:cs typeface="Aptos" pitchFamily="0" charset="0"/>
              </a:rPr>
              <a:t>CASE REPORT</a:t>
            </a:r>
            <a:endParaRPr lang="zh-CN" altLang="en-US" sz="1800" b="1" i="0" u="none" strike="noStrike" kern="1200" cap="none" spc="0" baseline="0">
              <a:solidFill>
                <a:srgbClr val="0D0D0D"/>
              </a:solidFill>
              <a:latin typeface="Aptos" pitchFamily="0" charset="0"/>
              <a:ea typeface="等线" pitchFamily="0" charset="0"/>
              <a:cs typeface="Aptos" pitchFamily="0" charset="0"/>
            </a:endParaRPr>
          </a:p>
        </p:txBody>
      </p:sp>
      <p:sp>
        <p:nvSpPr>
          <p:cNvPr id="45" name="矩形"/>
          <p:cNvSpPr>
            <a:spLocks/>
          </p:cNvSpPr>
          <p:nvPr/>
        </p:nvSpPr>
        <p:spPr>
          <a:xfrm rot="0">
            <a:off x="6352674" y="4807817"/>
            <a:ext cx="5839323" cy="371500"/>
          </a:xfrm>
          <a:prstGeom prst="rect"/>
          <a:solidFill>
            <a:srgbClr val="A9C9E9"/>
          </a:solidFill>
          <a:ln w="19050" cmpd="sng" cap="flat">
            <a:solidFill>
              <a:srgbClr val="0C445E"/>
            </a:solid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r>
              <a:rPr lang="en-US" altLang="zh-CN" sz="1800" b="1" i="0" u="none" strike="noStrike" kern="1200" cap="none" spc="0" baseline="0">
                <a:solidFill>
                  <a:srgbClr val="0D0D0D"/>
                </a:solidFill>
                <a:latin typeface="Aptos" pitchFamily="0" charset="0"/>
                <a:ea typeface="等线" pitchFamily="0" charset="0"/>
                <a:cs typeface="Aptos" pitchFamily="0" charset="0"/>
              </a:rPr>
              <a:t>CONCLUSION</a:t>
            </a:r>
            <a:endParaRPr lang="zh-CN" altLang="en-US" sz="1800" b="1" i="0" u="none" strike="noStrike" kern="1200" cap="none" spc="0" baseline="0">
              <a:solidFill>
                <a:srgbClr val="0D0D0D"/>
              </a:solidFill>
              <a:latin typeface="Aptos" pitchFamily="0" charset="0"/>
              <a:ea typeface="等线" pitchFamily="0" charset="0"/>
              <a:cs typeface="Aptos" pitchFamily="0" charset="0"/>
            </a:endParaRPr>
          </a:p>
        </p:txBody>
      </p:sp>
      <p:sp>
        <p:nvSpPr>
          <p:cNvPr id="46" name="矩形"/>
          <p:cNvSpPr>
            <a:spLocks/>
          </p:cNvSpPr>
          <p:nvPr/>
        </p:nvSpPr>
        <p:spPr>
          <a:xfrm rot="0">
            <a:off x="0" y="1659721"/>
            <a:ext cx="3108956" cy="29870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1.Compound palmar ganglion of wrist and hand is a rare disease which poses a significant public health challenge.</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2.It constitutes less than 1% of extra pulmonary tuberculosis.</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3.It is common in males usually involving the dominant hand .It can be clinically suspected and can be confirmed by histopathological report.</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4.Compound palmar ganglion can be due to tubercular tenosynovitis of flexor tendons or secondary to wrist tubercular arthritis</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5.Early diagnosis and complete surgical excision of the diseased tissue along with appropriate anti tubercular treatment gives a better outcome .</a:t>
            </a:r>
            <a:endParaRPr lang="zh-CN" altLang="en-US" sz="1200" b="0" i="0" u="none" strike="noStrike" kern="1200" cap="none" spc="0" baseline="0">
              <a:solidFill>
                <a:schemeClr val="tx1"/>
              </a:solidFill>
              <a:latin typeface="Arial" pitchFamily="34" charset="0"/>
              <a:ea typeface="等线" pitchFamily="0" charset="0"/>
              <a:cs typeface="Arial" pitchFamily="34" charset="0"/>
            </a:endParaRPr>
          </a:p>
        </p:txBody>
      </p:sp>
      <p:sp>
        <p:nvSpPr>
          <p:cNvPr id="47" name="矩形"/>
          <p:cNvSpPr>
            <a:spLocks/>
          </p:cNvSpPr>
          <p:nvPr/>
        </p:nvSpPr>
        <p:spPr>
          <a:xfrm rot="0">
            <a:off x="14439" y="5179317"/>
            <a:ext cx="3108960" cy="15487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050" b="0" i="0" u="none" strike="noStrike" kern="1200" cap="none" spc="0" baseline="0">
                <a:solidFill>
                  <a:schemeClr val="tx1"/>
                </a:solidFill>
                <a:latin typeface="Arial" pitchFamily="34" charset="0"/>
                <a:ea typeface="等线" pitchFamily="0" charset="0"/>
                <a:cs typeface="Arial" pitchFamily="34" charset="0"/>
              </a:rPr>
              <a:t>A 22 year  male, right hand dominant who presented with pain and progressive swelling over the volar aspect of right palm and wrist was clinically suspected with compound palmar ganglion and confirmed with histopathological report, was treated with incision  drainage followed by flexor </a:t>
            </a:r>
            <a:r>
              <a:rPr lang="en-US" altLang="zh-CN" sz="1050" b="0" i="0" u="none" strike="noStrike" kern="1200" cap="none" spc="0" baseline="0">
                <a:solidFill>
                  <a:schemeClr val="tx1"/>
                </a:solidFill>
                <a:latin typeface="Arial" pitchFamily="34" charset="0"/>
                <a:ea typeface="等线" pitchFamily="0" charset="0"/>
                <a:cs typeface="Arial" pitchFamily="34" charset="0"/>
              </a:rPr>
              <a:t>tenosynovectomy</a:t>
            </a:r>
            <a:r>
              <a:rPr lang="en-US" altLang="zh-CN" sz="1050" b="0" i="0" u="none" strike="noStrike" kern="1200" cap="none" spc="0" baseline="0">
                <a:solidFill>
                  <a:schemeClr val="tx1"/>
                </a:solidFill>
                <a:latin typeface="Arial" pitchFamily="34" charset="0"/>
                <a:ea typeface="等线" pitchFamily="0" charset="0"/>
                <a:cs typeface="Arial" pitchFamily="34" charset="0"/>
              </a:rPr>
              <a:t> and </a:t>
            </a:r>
            <a:r>
              <a:rPr lang="en-US" altLang="zh-CN" sz="1050" b="0" i="0" u="none" strike="noStrike" kern="1200" cap="none" spc="0" baseline="0">
                <a:solidFill>
                  <a:schemeClr val="tx1"/>
                </a:solidFill>
                <a:latin typeface="Arial" pitchFamily="34" charset="0"/>
                <a:ea typeface="等线" pitchFamily="0" charset="0"/>
                <a:cs typeface="Arial" pitchFamily="34" charset="0"/>
              </a:rPr>
              <a:t>tenolysis</a:t>
            </a:r>
            <a:r>
              <a:rPr lang="en-US" altLang="zh-CN" sz="1050" b="0" i="0" u="none" strike="noStrike" kern="1200" cap="none" spc="0" baseline="0">
                <a:solidFill>
                  <a:schemeClr val="tx1"/>
                </a:solidFill>
                <a:latin typeface="Arial" pitchFamily="34" charset="0"/>
                <a:ea typeface="等线" pitchFamily="0" charset="0"/>
                <a:cs typeface="Arial" pitchFamily="34" charset="0"/>
              </a:rPr>
              <a:t> along with ATT and was mobilized with slab for 1 month and later Dynamic splint was given</a:t>
            </a:r>
            <a:r>
              <a:rPr lang="en-US" altLang="zh-CN" sz="1000" b="0" i="0" u="none" strike="noStrike" kern="1200" cap="none" spc="0" baseline="0">
                <a:solidFill>
                  <a:schemeClr val="tx1"/>
                </a:solidFill>
                <a:latin typeface="Arial" pitchFamily="34" charset="0"/>
                <a:ea typeface="等线" pitchFamily="0" charset="0"/>
                <a:cs typeface="Arial" pitchFamily="34" charset="0"/>
              </a:rPr>
              <a:t>.</a:t>
            </a:r>
            <a:endParaRPr lang="zh-CN" altLang="en-US" sz="1000" b="0" i="0" u="none" strike="noStrike" kern="1200" cap="none" spc="0" baseline="0">
              <a:solidFill>
                <a:schemeClr val="tx1"/>
              </a:solidFill>
              <a:latin typeface="Arial" pitchFamily="34" charset="0"/>
              <a:ea typeface="等线" pitchFamily="0" charset="0"/>
              <a:cs typeface="Arial" pitchFamily="34" charset="0"/>
            </a:endParaRPr>
          </a:p>
        </p:txBody>
      </p:sp>
      <p:sp>
        <p:nvSpPr>
          <p:cNvPr id="48" name="矩形"/>
          <p:cNvSpPr>
            <a:spLocks/>
          </p:cNvSpPr>
          <p:nvPr/>
        </p:nvSpPr>
        <p:spPr>
          <a:xfrm rot="0">
            <a:off x="3156137" y="1769413"/>
            <a:ext cx="3049791" cy="1958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1.Flexor retinaculum release with excision biopsy and debulking </a:t>
            </a:r>
            <a:r>
              <a:rPr lang="en-US" altLang="zh-CN" sz="1200" b="0" i="0" u="none" strike="noStrike" kern="1200" cap="none" spc="0" baseline="0">
                <a:solidFill>
                  <a:schemeClr val="tx1"/>
                </a:solidFill>
                <a:latin typeface="Arial" pitchFamily="34" charset="0"/>
                <a:ea typeface="等线" pitchFamily="0" charset="0"/>
                <a:cs typeface="Arial" pitchFamily="34" charset="0"/>
              </a:rPr>
              <a:t>tenosynovectomy</a:t>
            </a:r>
            <a:r>
              <a:rPr lang="en-US" altLang="zh-CN" sz="1200" b="0" i="0" u="none" strike="noStrike" kern="1200" cap="none" spc="0" baseline="0">
                <a:solidFill>
                  <a:schemeClr val="tx1"/>
                </a:solidFill>
                <a:latin typeface="Arial" pitchFamily="34" charset="0"/>
                <a:ea typeface="等线" pitchFamily="0" charset="0"/>
                <a:cs typeface="Arial" pitchFamily="34" charset="0"/>
              </a:rPr>
              <a:t> of flexor tendons and radial and ulnar bursae was done and sent for HPE under supraclavicular block.</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2.Swelling opened and about 150 ml of fibrinous exudate along with RICE WATER BODIES or MELON SEED BODIES was drained. </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Arial" pitchFamily="34" charset="0"/>
                <a:ea typeface="等线" pitchFamily="0" charset="0"/>
                <a:cs typeface="Arial" pitchFamily="34" charset="0"/>
              </a:rPr>
              <a:t>                Clinical photograph</a:t>
            </a:r>
            <a:endParaRPr lang="zh-CN" altLang="en-US" sz="1600" b="0" i="0" u="none" strike="noStrike" kern="1200" cap="none" spc="0" baseline="0">
              <a:solidFill>
                <a:schemeClr val="tx1"/>
              </a:solidFill>
              <a:latin typeface="Arial" pitchFamily="34" charset="0"/>
              <a:ea typeface="等线" pitchFamily="0" charset="0"/>
              <a:cs typeface="Arial" pitchFamily="34" charset="0"/>
            </a:endParaRPr>
          </a:p>
        </p:txBody>
      </p:sp>
      <p:sp>
        <p:nvSpPr>
          <p:cNvPr id="49" name="矩形"/>
          <p:cNvSpPr>
            <a:spLocks/>
          </p:cNvSpPr>
          <p:nvPr/>
        </p:nvSpPr>
        <p:spPr>
          <a:xfrm rot="0">
            <a:off x="6399851" y="1769413"/>
            <a:ext cx="5687219" cy="262509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Tuberculosis is still a widespread disease in India.</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Though lymph nodes are the most frequent extrapulmonary site for TB, tuberculous infection of the </a:t>
            </a:r>
            <a:r>
              <a:rPr lang="en-US" altLang="zh-CN" sz="1200" b="0" i="0" u="none" strike="noStrike" kern="1200" cap="none" spc="0" baseline="0">
                <a:solidFill>
                  <a:schemeClr val="tx1"/>
                </a:solidFill>
                <a:latin typeface="Arial" pitchFamily="34" charset="0"/>
                <a:ea typeface="等线" pitchFamily="0" charset="0"/>
                <a:cs typeface="Arial" pitchFamily="34" charset="0"/>
              </a:rPr>
              <a:t>tenosynovium</a:t>
            </a:r>
            <a:r>
              <a:rPr lang="en-US" altLang="zh-CN" sz="1200" b="0" i="0" u="none" strike="noStrike" kern="1200" cap="none" spc="0" baseline="0">
                <a:solidFill>
                  <a:schemeClr val="tx1"/>
                </a:solidFill>
                <a:latin typeface="Arial" pitchFamily="34" charset="0"/>
                <a:ea typeface="等线" pitchFamily="0" charset="0"/>
                <a:cs typeface="Arial" pitchFamily="34" charset="0"/>
              </a:rPr>
              <a:t> is one entity that should not be delayed in treatment because of the destructive nature of the lesion and the permanent disability it causes.</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Melon seed bodies are characteristic of compound palmar ganglion of tuberculous </a:t>
            </a:r>
            <a:r>
              <a:rPr lang="en-US" altLang="zh-CN" sz="1200" b="0" i="0" u="none" strike="noStrike" kern="1200" cap="none" spc="0" baseline="0">
                <a:solidFill>
                  <a:schemeClr val="tx1"/>
                </a:solidFill>
                <a:latin typeface="Arial" pitchFamily="34" charset="0"/>
                <a:ea typeface="等线" pitchFamily="0" charset="0"/>
                <a:cs typeface="Arial" pitchFamily="34" charset="0"/>
              </a:rPr>
              <a:t>etiology</a:t>
            </a:r>
            <a:r>
              <a:rPr lang="en-US" altLang="zh-CN" sz="1200" b="0" i="0" u="none" strike="noStrike" kern="1200" cap="none" spc="0" baseline="0">
                <a:solidFill>
                  <a:schemeClr val="tx1"/>
                </a:solidFill>
                <a:latin typeface="Arial" pitchFamily="34" charset="0"/>
                <a:ea typeface="等线" pitchFamily="0" charset="0"/>
                <a:cs typeface="Arial" pitchFamily="34" charset="0"/>
              </a:rPr>
              <a:t>. Immediate initiation of treatment in the form of complete debulking and ATT is essential because of the notorious nature of the disease, as it destroys the underlying bones.   </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After debulking, early physiotherapy is essential to attain the maximum functionality of the hand.</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endParaRPr lang="en-US" altLang="zh-CN" sz="1200" b="0" i="0" u="none" strike="noStrike" kern="1200" cap="none" spc="0" baseline="0">
              <a:solidFill>
                <a:schemeClr val="tx1"/>
              </a:solidFill>
              <a:latin typeface="Aptos" pitchFamily="0" charset="0"/>
              <a:ea typeface="等线" pitchFamily="0" charset="0"/>
              <a:cs typeface="Aptos" pitchFamily="0" charset="0"/>
            </a:endParaRPr>
          </a:p>
          <a:p>
            <a:pPr marL="0" indent="0" algn="l">
              <a:lnSpc>
                <a:spcPct val="100000"/>
              </a:lnSpc>
              <a:spcBef>
                <a:spcPts val="0"/>
              </a:spcBef>
              <a:spcAft>
                <a:spcPts val="0"/>
              </a:spcAft>
              <a:buNone/>
            </a:pPr>
            <a:endParaRPr lang="en-US" altLang="zh-CN" sz="1200" b="0" i="0" u="none" strike="noStrike" kern="1200" cap="none" spc="0" baseline="0">
              <a:solidFill>
                <a:schemeClr val="tx1"/>
              </a:solidFill>
              <a:latin typeface="Aptos" pitchFamily="0" charset="0"/>
              <a:ea typeface="等线" pitchFamily="0" charset="0"/>
              <a:cs typeface="Aptos" pitchFamily="0"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ptos" pitchFamily="0" charset="0"/>
                <a:ea typeface="等线" pitchFamily="0" charset="0"/>
                <a:cs typeface="Aptos" pitchFamily="0" charset="0"/>
              </a:rPr>
              <a:t>Follow up:</a:t>
            </a:r>
            <a:endParaRPr lang="zh-CN" altLang="en-US" sz="1200" b="0" i="0" u="none" strike="noStrike" kern="1200" cap="none" spc="0" baseline="0">
              <a:solidFill>
                <a:schemeClr val="tx1"/>
              </a:solidFill>
              <a:latin typeface="Aptos" pitchFamily="0" charset="0"/>
              <a:ea typeface="等线" pitchFamily="0" charset="0"/>
              <a:cs typeface="Aptos" pitchFamily="0" charset="0"/>
            </a:endParaRPr>
          </a:p>
        </p:txBody>
      </p:sp>
      <p:sp>
        <p:nvSpPr>
          <p:cNvPr id="50" name="矩形"/>
          <p:cNvSpPr>
            <a:spLocks/>
          </p:cNvSpPr>
          <p:nvPr/>
        </p:nvSpPr>
        <p:spPr>
          <a:xfrm rot="0">
            <a:off x="6399851" y="5179317"/>
            <a:ext cx="5821022" cy="172021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1.Extra pulmonary tuberculosis resulting in tubercular tenosynovitis is an extremely rare presentation.</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2.Delay in diagnosis can result in flexor tendons destruction and gross restriction of hand function. </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3.So, suspecting compound palmar ganglion, with early debridement , </a:t>
            </a:r>
            <a:r>
              <a:rPr lang="en-US" altLang="zh-CN" sz="1200" b="0" i="0" u="none" strike="noStrike" kern="1200" cap="none" spc="0" baseline="0">
                <a:solidFill>
                  <a:schemeClr val="tx1"/>
                </a:solidFill>
                <a:latin typeface="Arial" pitchFamily="34" charset="0"/>
                <a:ea typeface="等线" pitchFamily="0" charset="0"/>
                <a:cs typeface="Arial" pitchFamily="34" charset="0"/>
              </a:rPr>
              <a:t>tenosynovectomy</a:t>
            </a:r>
            <a:r>
              <a:rPr lang="en-US" altLang="zh-CN" sz="1200" b="0" i="0" u="none" strike="noStrike" kern="1200" cap="none" spc="0" baseline="0">
                <a:solidFill>
                  <a:schemeClr val="tx1"/>
                </a:solidFill>
                <a:latin typeface="Arial" pitchFamily="34" charset="0"/>
                <a:ea typeface="等线" pitchFamily="0" charset="0"/>
                <a:cs typeface="Arial" pitchFamily="34" charset="0"/>
              </a:rPr>
              <a:t>, </a:t>
            </a:r>
            <a:r>
              <a:rPr lang="en-US" altLang="zh-CN" sz="1200" b="0" i="0" u="none" strike="noStrike" kern="1200" cap="none" spc="0" baseline="0">
                <a:solidFill>
                  <a:schemeClr val="tx1"/>
                </a:solidFill>
                <a:latin typeface="Arial" pitchFamily="34" charset="0"/>
                <a:ea typeface="等线" pitchFamily="0" charset="0"/>
                <a:cs typeface="Arial" pitchFamily="34" charset="0"/>
              </a:rPr>
              <a:t>tenolysis</a:t>
            </a:r>
            <a:r>
              <a:rPr lang="en-US" altLang="zh-CN" sz="1200" b="0" i="0" u="none" strike="noStrike" kern="1200" cap="none" spc="0" baseline="0">
                <a:solidFill>
                  <a:schemeClr val="tx1"/>
                </a:solidFill>
                <a:latin typeface="Arial" pitchFamily="34" charset="0"/>
                <a:ea typeface="等线" pitchFamily="0" charset="0"/>
                <a:cs typeface="Arial" pitchFamily="34" charset="0"/>
              </a:rPr>
              <a:t> and anti tubercular drugs will give good functional outcome.</a:t>
            </a:r>
            <a:endParaRPr lang="en-US" altLang="zh-CN" sz="1200" b="0" i="0" u="none" strike="noStrike" kern="1200" cap="none" spc="0" baseline="0">
              <a:solidFill>
                <a:schemeClr val="tx1"/>
              </a:solidFill>
              <a:latin typeface="Arial" pitchFamily="34" charset="0"/>
              <a:ea typeface="等线" pitchFamily="0" charset="0"/>
              <a:cs typeface="Arial" pitchFamily="34" charset="0"/>
            </a:endParaRPr>
          </a:p>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Arial" pitchFamily="34" charset="0"/>
                <a:ea typeface="等线" pitchFamily="0" charset="0"/>
                <a:cs typeface="Arial" pitchFamily="34" charset="0"/>
              </a:rPr>
              <a:t>Thus we conclude insisting the possibility of tuberculosis in chronic flexor tenosynovitis of the wrist should always be kept in mind</a:t>
            </a:r>
            <a:r>
              <a:rPr lang="en-US" altLang="zh-CN" sz="1200" b="0" i="0" u="none" strike="noStrike" kern="1200" cap="none" spc="0" baseline="0">
                <a:solidFill>
                  <a:schemeClr val="tx1"/>
                </a:solidFill>
                <a:latin typeface="Aptos" pitchFamily="0" charset="0"/>
                <a:ea typeface="等线" pitchFamily="0" charset="0"/>
                <a:cs typeface="Aptos" pitchFamily="0" charset="0"/>
              </a:rPr>
              <a:t>. </a:t>
            </a:r>
            <a:endParaRPr lang="zh-CN" altLang="en-US" sz="1200" b="0" i="0" u="none" strike="noStrike" kern="1200" cap="none" spc="0" baseline="0">
              <a:solidFill>
                <a:schemeClr val="tx1"/>
              </a:solidFill>
              <a:latin typeface="Aptos" pitchFamily="0" charset="0"/>
              <a:ea typeface="等线" pitchFamily="0" charset="0"/>
              <a:cs typeface="Aptos" pitchFamily="0" charset="0"/>
            </a:endParaRPr>
          </a:p>
        </p:txBody>
      </p:sp>
      <p:pic>
        <p:nvPicPr>
          <p:cNvPr id="51" name="图片"/>
          <p:cNvPicPr>
            <a:picLocks noChangeAspect="1"/>
          </p:cNvPicPr>
          <p:nvPr/>
        </p:nvPicPr>
        <p:blipFill>
          <a:blip r:embed="rId5" cstate="print"/>
          <a:stretch>
            <a:fillRect/>
          </a:stretch>
        </p:blipFill>
        <p:spPr>
          <a:xfrm rot="0">
            <a:off x="3137833" y="3769962"/>
            <a:ext cx="3185960" cy="906725"/>
          </a:xfrm>
          <a:prstGeom prst="rect"/>
          <a:noFill/>
          <a:ln w="12700" cmpd="sng" cap="flat">
            <a:noFill/>
            <a:prstDash val="solid"/>
            <a:miter/>
          </a:ln>
        </p:spPr>
      </p:pic>
      <p:pic>
        <p:nvPicPr>
          <p:cNvPr id="52" name="图片"/>
          <p:cNvPicPr>
            <a:picLocks noChangeAspect="1"/>
          </p:cNvPicPr>
          <p:nvPr/>
        </p:nvPicPr>
        <p:blipFill>
          <a:blip r:embed="rId6" cstate="print"/>
          <a:stretch>
            <a:fillRect/>
          </a:stretch>
        </p:blipFill>
        <p:spPr>
          <a:xfrm rot="0">
            <a:off x="3187064" y="4807816"/>
            <a:ext cx="3185960" cy="906724"/>
          </a:xfrm>
          <a:prstGeom prst="rect"/>
          <a:noFill/>
          <a:ln w="12700" cmpd="sng" cap="flat">
            <a:noFill/>
            <a:prstDash val="solid"/>
            <a:miter/>
          </a:ln>
        </p:spPr>
      </p:pic>
      <p:pic>
        <p:nvPicPr>
          <p:cNvPr id="53" name="图片"/>
          <p:cNvPicPr>
            <a:picLocks noChangeAspect="1"/>
          </p:cNvPicPr>
          <p:nvPr/>
        </p:nvPicPr>
        <p:blipFill>
          <a:blip r:embed="rId7" cstate="print"/>
          <a:stretch>
            <a:fillRect/>
          </a:stretch>
        </p:blipFill>
        <p:spPr>
          <a:xfrm rot="0">
            <a:off x="3108959" y="5789940"/>
            <a:ext cx="3243714" cy="1082314"/>
          </a:xfrm>
          <a:prstGeom prst="rect"/>
          <a:noFill/>
          <a:ln w="12700" cmpd="sng" cap="flat">
            <a:noFill/>
            <a:prstDash val="solid"/>
            <a:miter/>
          </a:ln>
        </p:spPr>
      </p:pic>
      <p:pic>
        <p:nvPicPr>
          <p:cNvPr id="54" name="图片"/>
          <p:cNvPicPr>
            <a:picLocks noChangeAspect="1"/>
          </p:cNvPicPr>
          <p:nvPr/>
        </p:nvPicPr>
        <p:blipFill>
          <a:blip r:embed="rId8" cstate="print"/>
          <a:stretch>
            <a:fillRect/>
          </a:stretch>
        </p:blipFill>
        <p:spPr>
          <a:xfrm rot="0">
            <a:off x="7195278" y="3912433"/>
            <a:ext cx="4891790" cy="764253"/>
          </a:xfrm>
          <a:prstGeom prst="rect"/>
          <a:noFill/>
          <a:ln w="12700" cmpd="sng" cap="flat">
            <a:noFill/>
            <a:prstDash val="solid"/>
            <a:miter/>
          </a:ln>
        </p:spPr>
      </p:pic>
    </p:spTree>
    <p:extLst>
      <p:ext uri="{BB962C8B-B14F-4D97-AF65-F5344CB8AC3E}">
        <p14:creationId xmlns:p14="http://schemas.microsoft.com/office/powerpoint/2010/main" val="679844395"/>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304</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dc:creator>Virinchi Vinay</dc:creator>
  <cp:lastModifiedBy>root</cp:lastModifiedBy>
  <cp:revision>3</cp:revision>
  <dcterms:created xsi:type="dcterms:W3CDTF">2026-01-11T06:24:43Z</dcterms:created>
  <dcterms:modified xsi:type="dcterms:W3CDTF">2026-02-12T15:06:33Z</dcterms:modified>
</cp:coreProperties>
</file>