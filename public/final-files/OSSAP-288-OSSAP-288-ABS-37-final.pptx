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Lst>
  <p:sldSz cx="12192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p:scale>
          <a:sx n="75" d="100"/>
          <a:sy n="75" d="100"/>
        </p:scale>
        <p:origin x="974" y="1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5"/>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4" name="Freeform 13"/>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4"/>
            <a:stretch>
              <a:fillRect t="-9937" r="-4895" b="-10857"/>
            </a:stretch>
          </a:blipFill>
        </p:spPr>
        <p:txBody>
          <a:bodyPr/>
          <a:lstStyle/>
          <a:p>
            <a:endParaRPr lang="en-US"/>
          </a:p>
        </p:txBody>
      </p:sp>
      <p:sp>
        <p:nvSpPr>
          <p:cNvPr id="5" name="Rectangle 4"/>
          <p:cNvSpPr/>
          <p:nvPr/>
        </p:nvSpPr>
        <p:spPr>
          <a:xfrm>
            <a:off x="28575"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sz="1600" dirty="0">
                <a:solidFill>
                  <a:schemeClr val="tx1"/>
                </a:solidFill>
              </a:rPr>
              <a:t>Washing machine injuries are rare but part of every household .</a:t>
            </a:r>
            <a:endParaRPr lang="en-AU" altLang="en-US" sz="1600" dirty="0">
              <a:solidFill>
                <a:schemeClr val="tx1"/>
              </a:solidFill>
            </a:endParaRPr>
          </a:p>
          <a:p>
            <a:pPr algn="ctr"/>
            <a:r>
              <a:rPr lang="en-AU" altLang="en-US" sz="1600" dirty="0">
                <a:solidFill>
                  <a:schemeClr val="tx1"/>
                </a:solidFill>
              </a:rPr>
              <a:t>•There are various reports on upper extremity injuries due to inadequate safety precautions while operating the machine.</a:t>
            </a:r>
            <a:endParaRPr lang="en-AU" altLang="en-US" sz="1600" dirty="0">
              <a:solidFill>
                <a:schemeClr val="tx1"/>
              </a:solidFill>
            </a:endParaRPr>
          </a:p>
          <a:p>
            <a:pPr algn="ctr"/>
            <a:r>
              <a:rPr lang="en-AU" altLang="en-US" sz="1600" dirty="0">
                <a:solidFill>
                  <a:schemeClr val="tx1"/>
                </a:solidFill>
              </a:rPr>
              <a:t>•Most of these injuries occur when an attempt is made to remove the clothes from machine and hands get caught in the spinning and most commonly seen in children.</a:t>
            </a:r>
            <a:endParaRPr lang="en-AU" altLang="en-US" sz="1600" dirty="0">
              <a:solidFill>
                <a:schemeClr val="tx1"/>
              </a:solidFill>
            </a:endParaRPr>
          </a:p>
        </p:txBody>
      </p:sp>
      <p:sp>
        <p:nvSpPr>
          <p:cNvPr id="6" name="Rectangle 5"/>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sz="1600" dirty="0">
                <a:solidFill>
                  <a:schemeClr val="tx1"/>
                </a:solidFill>
              </a:rPr>
              <a:t>
11 year old male child came to TAEI ward with alleged history of washing machine injury and complaints of pain and restriction of movements over right upper limb. </a:t>
            </a:r>
            <a:endParaRPr lang="en-AU" altLang="en-US" sz="1600" dirty="0">
              <a:solidFill>
                <a:schemeClr val="tx1"/>
              </a:solidFill>
            </a:endParaRPr>
          </a:p>
        </p:txBody>
      </p:sp>
      <p:sp>
        <p:nvSpPr>
          <p:cNvPr id="7" name="Rectangle 6"/>
          <p:cNvSpPr/>
          <p:nvPr/>
        </p:nvSpPr>
        <p:spPr>
          <a:xfrm>
            <a:off x="3167046" y="156336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dirty="0">
                <a:solidFill>
                  <a:schemeClr val="tx1"/>
                </a:solidFill>
              </a:rPr>
              <a:t>Intraoperatively, extensive soft tissue injury was noted involving arm &amp; forearm consistent with </a:t>
            </a:r>
            <a:r>
              <a:rPr lang="en-AU" altLang="en-US" dirty="0">
                <a:solidFill>
                  <a:schemeClr val="tx1"/>
                </a:solidFill>
              </a:rPr>
              <a:t>high energy rotational injury.A proximal humerus frac</a:t>
            </a:r>
            <a:r>
              <a:rPr lang="en-AU" altLang="en-US" dirty="0">
                <a:solidFill>
                  <a:schemeClr val="tx1"/>
                </a:solidFill>
              </a:rPr>
              <a:t>ture was identified.The shaft of humerus showed displaced,unstable fracture.Aditionally, both bone forearm radius and ulna fracture at diaphyseal level.No major arterial injury noted.The Radial,median and ulnar nerve were identified and preserved throughout the procedure.After through wound wash given and reduction is acheived under c arm.</a:t>
            </a:r>
            <a:endParaRPr lang="en-AU" altLang="en-US" dirty="0">
              <a:solidFill>
                <a:schemeClr val="tx1"/>
              </a:solidFill>
            </a:endParaRPr>
          </a:p>
        </p:txBody>
      </p:sp>
      <p:sp>
        <p:nvSpPr>
          <p:cNvPr id="8" name="Rectangle 7"/>
          <p:cNvSpPr/>
          <p:nvPr/>
        </p:nvSpPr>
        <p:spPr>
          <a:xfrm>
            <a:off x="6352674" y="912960"/>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sz="1600" dirty="0">
                <a:solidFill>
                  <a:schemeClr val="tx1"/>
                </a:solidFill>
              </a:rPr>
              <a:t>Pateint</a:t>
            </a:r>
            <a:r>
              <a:rPr lang="en-US" sz="1600" dirty="0">
                <a:solidFill>
                  <a:schemeClr val="tx1"/>
                </a:solidFill>
              </a:rPr>
              <a:t> was worked up for surgery and CRIF with K wire fixation for proximal Humerus, CRIF with TENS nailing for shaft of Humerus, CRIF with TENS nailing for both bones forearm was done. Postoperatively, regular follow up was done. K wires were exited after 1.5 months and TENS nails were exited after 3</a:t>
            </a:r>
            <a:r>
              <a:rPr lang="en-AU" altLang="en-US" sz="1600" dirty="0">
                <a:solidFill>
                  <a:schemeClr val="tx1"/>
                </a:solidFill>
              </a:rPr>
              <a:t>months.</a:t>
            </a:r>
            <a:endParaRPr lang="en-AU" altLang="en-US" sz="1600" dirty="0">
              <a:solidFill>
                <a:schemeClr val="tx1"/>
              </a:solidFill>
            </a:endParaRPr>
          </a:p>
        </p:txBody>
      </p:sp>
      <p:sp>
        <p:nvSpPr>
          <p:cNvPr id="9" name="Rectangle 8"/>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This report concludes that the range of movements can be restored completely when the injury is managed properly and with adequate post operative physiotherapy.</a:t>
            </a:r>
            <a:endParaRPr lang="en-US" dirty="0">
              <a:solidFill>
                <a:schemeClr val="tx1"/>
              </a:solidFill>
            </a:endParaRPr>
          </a:p>
        </p:txBody>
      </p:sp>
      <p:sp>
        <p:nvSpPr>
          <p:cNvPr id="10" name="Rectangle 9"/>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endParaRPr lang="en-US" b="1" dirty="0">
              <a:solidFill>
                <a:schemeClr val="tx1"/>
              </a:solidFill>
            </a:endParaRPr>
          </a:p>
        </p:txBody>
      </p:sp>
      <p:sp>
        <p:nvSpPr>
          <p:cNvPr id="11" name="Rectangle 10"/>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endParaRPr lang="en-US" b="1" dirty="0">
              <a:solidFill>
                <a:schemeClr val="tx1">
                  <a:lumMod val="95000"/>
                  <a:lumOff val="5000"/>
                </a:schemeClr>
              </a:solidFill>
            </a:endParaRPr>
          </a:p>
        </p:txBody>
      </p:sp>
      <p:sp>
        <p:nvSpPr>
          <p:cNvPr id="12" name="Rectangle 11"/>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endParaRPr lang="en-US" b="1" dirty="0">
              <a:solidFill>
                <a:schemeClr val="tx1">
                  <a:lumMod val="95000"/>
                  <a:lumOff val="5000"/>
                </a:schemeClr>
              </a:solidFill>
            </a:endParaRPr>
          </a:p>
        </p:txBody>
      </p:sp>
      <p:sp>
        <p:nvSpPr>
          <p:cNvPr id="13" name="Rectangle 12"/>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endParaRPr lang="en-US" b="1" dirty="0">
              <a:solidFill>
                <a:schemeClr val="tx1">
                  <a:lumMod val="95000"/>
                  <a:lumOff val="5000"/>
                </a:schemeClr>
              </a:solidFill>
            </a:endParaRPr>
          </a:p>
        </p:txBody>
      </p:sp>
      <p:sp>
        <p:nvSpPr>
          <p:cNvPr id="22" name="Rectangle 21"/>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endParaRPr lang="en-US" b="1" dirty="0">
              <a:solidFill>
                <a:schemeClr val="tx1">
                  <a:lumMod val="95000"/>
                  <a:lumOff val="5000"/>
                </a:schemeClr>
              </a:solidFill>
            </a:endParaRPr>
          </a:p>
        </p:txBody>
      </p:sp>
      <p:pic>
        <p:nvPicPr>
          <p:cNvPr id="2" name="Picture 1" descr="2026-01-24 14:50:18.540000"/>
          <p:cNvPicPr>
            <a:picLocks noChangeAspect="1"/>
          </p:cNvPicPr>
          <p:nvPr/>
        </p:nvPicPr>
        <p:blipFill>
          <a:blip r:embed="rId5"/>
          <a:stretch>
            <a:fillRect/>
          </a:stretch>
        </p:blipFill>
        <p:spPr>
          <a:xfrm>
            <a:off x="6323330" y="3573780"/>
            <a:ext cx="2005330" cy="1234440"/>
          </a:xfrm>
          <a:prstGeom prst="rect">
            <a:avLst/>
          </a:prstGeom>
        </p:spPr>
      </p:pic>
      <p:pic>
        <p:nvPicPr>
          <p:cNvPr id="3" name="Picture 2" descr="2026-01-24 14:50:47.585000"/>
          <p:cNvPicPr>
            <a:picLocks noChangeAspect="1"/>
          </p:cNvPicPr>
          <p:nvPr/>
        </p:nvPicPr>
        <p:blipFill>
          <a:blip r:embed="rId6"/>
          <a:stretch>
            <a:fillRect/>
          </a:stretch>
        </p:blipFill>
        <p:spPr>
          <a:xfrm>
            <a:off x="8328660" y="3557270"/>
            <a:ext cx="1913890" cy="1260475"/>
          </a:xfrm>
          <a:prstGeom prst="rect">
            <a:avLst/>
          </a:prstGeom>
        </p:spPr>
      </p:pic>
      <p:pic>
        <p:nvPicPr>
          <p:cNvPr id="21" name="Picture 20" descr="2026-01-24 14:51:42.334000"/>
          <p:cNvPicPr>
            <a:picLocks noChangeAspect="1"/>
          </p:cNvPicPr>
          <p:nvPr/>
        </p:nvPicPr>
        <p:blipFill>
          <a:blip r:embed="rId7"/>
          <a:stretch>
            <a:fillRect/>
          </a:stretch>
        </p:blipFill>
        <p:spPr>
          <a:xfrm>
            <a:off x="10242550" y="3505200"/>
            <a:ext cx="1926590" cy="13125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Widescreen</PresentationFormat>
  <Paragraphs>9</Paragraphs>
  <Slides>0</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1</vt:i4>
      </vt:variant>
    </vt:vector>
  </HeadingPairs>
  <TitlesOfParts>
    <vt:vector size="31" baseType="lpstr">
      <vt:lpstr>Arial</vt:lpstr>
      <vt:lpstr>SimSun</vt:lpstr>
      <vt:lpstr>Wingdings</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Aptos</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iPad</cp:lastModifiedBy>
  <cp:revision>3</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B75F6E92DF780AAE5C9374697B8FA0A5_32</vt:lpwstr>
  </property>
  <property fmtid="{D5CDD505-2E9C-101B-9397-08002B2CF9AE}" pid="3" name="KSOProductBuildVer">
    <vt:lpwstr>3081-11.37.20</vt:lpwstr>
  </property>
</Properties>
</file>