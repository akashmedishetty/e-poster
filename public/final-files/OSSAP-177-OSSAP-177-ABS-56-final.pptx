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5755"/>
    <a:srgbClr val="01234D"/>
    <a:srgbClr val="D9F2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74" y="1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350470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602367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2/11/26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464475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2/11/26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91581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2/11/26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939257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2/11/26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57023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2/11/26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820119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2/11/26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620363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2/11/26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926967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890856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04406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2/11/26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69846262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872BCCA-09F4-9D91-AE26-B5E437D7714E}"/>
              </a:ext>
            </a:extLst>
          </p:cNvPr>
          <p:cNvSpPr/>
          <p:nvPr/>
        </p:nvSpPr>
        <p:spPr>
          <a:xfrm>
            <a:off x="-38174" y="14463"/>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1" dirty="0"/>
          </a:p>
        </p:txBody>
      </p:sp>
      <p:pic>
        <p:nvPicPr>
          <p:cNvPr id="16" name="Picture 15">
            <a:extLst>
              <a:ext uri="{FF2B5EF4-FFF2-40B4-BE49-F238E27FC236}">
                <a16:creationId xmlns:a16="http://schemas.microsoft.com/office/drawing/2014/main" id="{6B23EAFB-E583-3DAF-08B5-661672CE88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71252" y="59610"/>
            <a:ext cx="647889" cy="647889"/>
          </a:xfrm>
          <a:prstGeom prst="rect">
            <a:avLst/>
          </a:prstGeom>
        </p:spPr>
      </p:pic>
      <p:sp>
        <p:nvSpPr>
          <p:cNvPr id="18" name="TextBox 17">
            <a:extLst>
              <a:ext uri="{FF2B5EF4-FFF2-40B4-BE49-F238E27FC236}">
                <a16:creationId xmlns:a16="http://schemas.microsoft.com/office/drawing/2014/main" id="{EA6BB7B0-D981-FEB6-4479-7A49704B2B87}"/>
              </a:ext>
            </a:extLst>
          </p:cNvPr>
          <p:cNvSpPr txBox="1"/>
          <p:nvPr/>
        </p:nvSpPr>
        <p:spPr>
          <a:xfrm>
            <a:off x="2160487" y="-29303"/>
            <a:ext cx="6579090" cy="553998"/>
          </a:xfrm>
          <a:prstGeom prst="rect">
            <a:avLst/>
          </a:prstGeom>
          <a:noFill/>
        </p:spPr>
        <p:txBody>
          <a:bodyPr wrap="square" rtlCol="0">
            <a:spAutoFit/>
          </a:bodyPr>
          <a:lstStyle/>
          <a:p>
            <a:r>
              <a:rPr lang="en-IN" sz="1500" b="1" dirty="0">
                <a:solidFill>
                  <a:schemeClr val="bg1"/>
                </a:solidFill>
                <a:latin typeface="Arial" panose="020B0604020202020204" pitchFamily="34" charset="0"/>
                <a:cs typeface="Arial" panose="020B0604020202020204" pitchFamily="34" charset="0"/>
              </a:rPr>
              <a:t>A RARE CASE OF SPINAL TUBERCULOSIS IN A 2yr OLD CHILD WITH FAVOURABLE SURGICAL OUTCOME</a:t>
            </a:r>
            <a:endParaRPr lang="en-US" sz="1500" b="1" dirty="0">
              <a:solidFill>
                <a:schemeClr val="bg1"/>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CF1F608A-7742-BF27-09EC-3BB7CA324D68}"/>
              </a:ext>
            </a:extLst>
          </p:cNvPr>
          <p:cNvSpPr txBox="1"/>
          <p:nvPr/>
        </p:nvSpPr>
        <p:spPr>
          <a:xfrm>
            <a:off x="2160487" y="454519"/>
            <a:ext cx="6809958" cy="830997"/>
          </a:xfrm>
          <a:prstGeom prst="rect">
            <a:avLst/>
          </a:prstGeom>
          <a:noFill/>
        </p:spPr>
        <p:txBody>
          <a:bodyPr wrap="square" rtlCol="0">
            <a:spAutoFit/>
          </a:bodyPr>
          <a:lstStyle/>
          <a:p>
            <a:r>
              <a:rPr lang="en-IN" sz="1200" b="1" dirty="0">
                <a:solidFill>
                  <a:schemeClr val="bg1"/>
                </a:solidFill>
                <a:latin typeface="Gordita "/>
              </a:rPr>
              <a:t>PRESENTED BY: DR. </a:t>
            </a:r>
            <a:r>
              <a:rPr lang="en-IN" sz="1200" b="1" dirty="0" err="1">
                <a:solidFill>
                  <a:schemeClr val="bg1"/>
                </a:solidFill>
                <a:latin typeface="Gordita "/>
              </a:rPr>
              <a:t>AGADALA</a:t>
            </a:r>
            <a:r>
              <a:rPr lang="en-IN" sz="1200" b="1" dirty="0">
                <a:solidFill>
                  <a:schemeClr val="bg1"/>
                </a:solidFill>
                <a:latin typeface="Gordita "/>
              </a:rPr>
              <a:t>  VENKATARAMANA </a:t>
            </a:r>
          </a:p>
          <a:p>
            <a:r>
              <a:rPr lang="en-IN" sz="1200" b="1" dirty="0">
                <a:solidFill>
                  <a:schemeClr val="bg1"/>
                </a:solidFill>
                <a:latin typeface="Gordita "/>
              </a:rPr>
              <a:t>GUIDE:DR BALAKRISHNA </a:t>
            </a:r>
            <a:r>
              <a:rPr lang="en-IN" sz="1200" b="1" dirty="0" err="1">
                <a:solidFill>
                  <a:schemeClr val="bg1"/>
                </a:solidFill>
                <a:latin typeface="Gordita "/>
              </a:rPr>
              <a:t>BATHINA</a:t>
            </a:r>
            <a:r>
              <a:rPr lang="en-IN" sz="1200" b="1" dirty="0">
                <a:solidFill>
                  <a:schemeClr val="bg1"/>
                </a:solidFill>
                <a:latin typeface="Gordita "/>
              </a:rPr>
              <a:t> </a:t>
            </a:r>
          </a:p>
          <a:p>
            <a:r>
              <a:rPr lang="en-IN" sz="1200" b="1" dirty="0">
                <a:solidFill>
                  <a:schemeClr val="bg1"/>
                </a:solidFill>
                <a:latin typeface="Gordita "/>
              </a:rPr>
              <a:t>CONSU</a:t>
            </a:r>
            <a:r>
              <a:rPr lang="en-IN" sz="1200" b="1" spc="50" dirty="0">
                <a:ln w="0"/>
                <a:solidFill>
                  <a:schemeClr val="bg2"/>
                </a:solidFill>
                <a:effectLst>
                  <a:innerShdw blurRad="63500" dist="50800" dir="13500000">
                    <a:srgbClr val="000000">
                      <a:alpha val="50000"/>
                    </a:srgbClr>
                  </a:innerShdw>
                </a:effectLst>
                <a:latin typeface="Gordita "/>
              </a:rPr>
              <a:t>LTANT SPINE SURGEON,</a:t>
            </a:r>
            <a:endParaRPr lang="en-IN" sz="1200" b="1" dirty="0">
              <a:solidFill>
                <a:schemeClr val="bg1"/>
              </a:solidFill>
              <a:latin typeface="Gordita "/>
            </a:endParaRPr>
          </a:p>
          <a:p>
            <a:r>
              <a:rPr lang="en-IN" sz="1200" b="1" dirty="0">
                <a:solidFill>
                  <a:schemeClr val="bg1"/>
                </a:solidFill>
                <a:latin typeface="Gordita "/>
              </a:rPr>
              <a:t>ASSOCIATE PROFESSOR,DEPARTMENT OF ORTHOPAEDICS   ,NRIMC,  </a:t>
            </a:r>
            <a:r>
              <a:rPr lang="en-IN" sz="1200" b="1" dirty="0" err="1">
                <a:solidFill>
                  <a:schemeClr val="bg1"/>
                </a:solidFill>
                <a:latin typeface="Gordita "/>
              </a:rPr>
              <a:t>CHINAKAKANI</a:t>
            </a:r>
            <a:r>
              <a:rPr lang="en-IN" sz="1200" b="1" dirty="0">
                <a:solidFill>
                  <a:schemeClr val="bg1"/>
                </a:solidFill>
                <a:latin typeface="Gordita "/>
              </a:rPr>
              <a:t>  </a:t>
            </a:r>
            <a:endParaRPr lang="en-US" sz="1200" b="1" dirty="0">
              <a:solidFill>
                <a:schemeClr val="bg1"/>
              </a:solidFill>
              <a:latin typeface="Gordita "/>
            </a:endParaRPr>
          </a:p>
        </p:txBody>
      </p:sp>
      <p:sp>
        <p:nvSpPr>
          <p:cNvPr id="4" name="Freeform 13">
            <a:extLst>
              <a:ext uri="{FF2B5EF4-FFF2-40B4-BE49-F238E27FC236}">
                <a16:creationId xmlns:a16="http://schemas.microsoft.com/office/drawing/2014/main" id="{0F401C6F-33A3-A415-AD1A-709059E901BF}"/>
              </a:ext>
            </a:extLst>
          </p:cNvPr>
          <p:cNvSpPr/>
          <p:nvPr/>
        </p:nvSpPr>
        <p:spPr>
          <a:xfrm>
            <a:off x="321730" y="27854"/>
            <a:ext cx="819843" cy="286079"/>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3"/>
            <a:stretch>
              <a:fillRect t="-9937" r="-4895" b="-10857"/>
            </a:stretch>
          </a:blipFill>
        </p:spPr>
        <p:txBody>
          <a:bodyPr/>
          <a:lstStyle/>
          <a:p>
            <a:endParaRPr lang="en-US" sz="1801"/>
          </a:p>
        </p:txBody>
      </p:sp>
      <p:sp>
        <p:nvSpPr>
          <p:cNvPr id="5" name="Rectangle 4">
            <a:extLst>
              <a:ext uri="{FF2B5EF4-FFF2-40B4-BE49-F238E27FC236}">
                <a16:creationId xmlns:a16="http://schemas.microsoft.com/office/drawing/2014/main" id="{1D4F9D5A-1DDA-4BC3-63F3-F36226B86C87}"/>
              </a:ext>
            </a:extLst>
          </p:cNvPr>
          <p:cNvSpPr/>
          <p:nvPr/>
        </p:nvSpPr>
        <p:spPr>
          <a:xfrm>
            <a:off x="-2" y="1674798"/>
            <a:ext cx="3551235" cy="315691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solidFill>
                <a:schemeClr val="tx1"/>
              </a:solidFill>
            </a:endParaRPr>
          </a:p>
        </p:txBody>
      </p:sp>
      <p:sp>
        <p:nvSpPr>
          <p:cNvPr id="6" name="Rectangle 5">
            <a:extLst>
              <a:ext uri="{FF2B5EF4-FFF2-40B4-BE49-F238E27FC236}">
                <a16:creationId xmlns:a16="http://schemas.microsoft.com/office/drawing/2014/main" id="{EC094F03-F93B-9B6D-7C11-87F9C75E6ABB}"/>
              </a:ext>
            </a:extLst>
          </p:cNvPr>
          <p:cNvSpPr/>
          <p:nvPr/>
        </p:nvSpPr>
        <p:spPr>
          <a:xfrm>
            <a:off x="-1" y="4831713"/>
            <a:ext cx="3540435" cy="20436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solidFill>
                <a:schemeClr val="tx1"/>
              </a:solidFill>
            </a:endParaRPr>
          </a:p>
        </p:txBody>
      </p:sp>
      <p:sp>
        <p:nvSpPr>
          <p:cNvPr id="7" name="Rectangle 6">
            <a:extLst>
              <a:ext uri="{FF2B5EF4-FFF2-40B4-BE49-F238E27FC236}">
                <a16:creationId xmlns:a16="http://schemas.microsoft.com/office/drawing/2014/main" id="{6D1A47E9-312C-D04A-D368-EE96CE32C982}"/>
              </a:ext>
            </a:extLst>
          </p:cNvPr>
          <p:cNvSpPr/>
          <p:nvPr/>
        </p:nvSpPr>
        <p:spPr>
          <a:xfrm>
            <a:off x="3554639" y="1314621"/>
            <a:ext cx="3667922" cy="55607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solidFill>
                <a:schemeClr val="tx1"/>
              </a:solidFill>
            </a:endParaRPr>
          </a:p>
        </p:txBody>
      </p:sp>
      <p:sp>
        <p:nvSpPr>
          <p:cNvPr id="8" name="Rectangle 7">
            <a:extLst>
              <a:ext uri="{FF2B5EF4-FFF2-40B4-BE49-F238E27FC236}">
                <a16:creationId xmlns:a16="http://schemas.microsoft.com/office/drawing/2014/main" id="{63A874B9-B8E1-A36B-AA38-6FCC7D5D8F32}"/>
              </a:ext>
            </a:extLst>
          </p:cNvPr>
          <p:cNvSpPr/>
          <p:nvPr/>
        </p:nvSpPr>
        <p:spPr>
          <a:xfrm>
            <a:off x="7225966" y="1648214"/>
            <a:ext cx="4927858" cy="38530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solidFill>
                <a:schemeClr val="tx1"/>
              </a:solidFill>
            </a:endParaRPr>
          </a:p>
        </p:txBody>
      </p:sp>
      <p:sp>
        <p:nvSpPr>
          <p:cNvPr id="9" name="Rectangle 8">
            <a:extLst>
              <a:ext uri="{FF2B5EF4-FFF2-40B4-BE49-F238E27FC236}">
                <a16:creationId xmlns:a16="http://schemas.microsoft.com/office/drawing/2014/main" id="{0EFC2BB9-1938-0DF3-F424-CAC28C6D9880}"/>
              </a:ext>
            </a:extLst>
          </p:cNvPr>
          <p:cNvSpPr/>
          <p:nvPr/>
        </p:nvSpPr>
        <p:spPr>
          <a:xfrm>
            <a:off x="7219299" y="5543711"/>
            <a:ext cx="4944317" cy="133166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solidFill>
                <a:schemeClr val="tx1"/>
              </a:solidFill>
            </a:endParaRPr>
          </a:p>
        </p:txBody>
      </p:sp>
      <p:sp>
        <p:nvSpPr>
          <p:cNvPr id="10" name="Rectangle 9">
            <a:extLst>
              <a:ext uri="{FF2B5EF4-FFF2-40B4-BE49-F238E27FC236}">
                <a16:creationId xmlns:a16="http://schemas.microsoft.com/office/drawing/2014/main" id="{6B0C050E-DD7C-3885-8EBF-D74C223C0531}"/>
              </a:ext>
            </a:extLst>
          </p:cNvPr>
          <p:cNvSpPr/>
          <p:nvPr/>
        </p:nvSpPr>
        <p:spPr>
          <a:xfrm>
            <a:off x="-17164" y="1309077"/>
            <a:ext cx="3571801" cy="364009"/>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1" b="1" dirty="0">
                <a:solidFill>
                  <a:schemeClr val="tx1"/>
                </a:solidFill>
              </a:rPr>
              <a:t>INTRODUCTION </a:t>
            </a:r>
          </a:p>
        </p:txBody>
      </p:sp>
      <p:sp>
        <p:nvSpPr>
          <p:cNvPr id="11" name="Rectangle 10">
            <a:extLst>
              <a:ext uri="{FF2B5EF4-FFF2-40B4-BE49-F238E27FC236}">
                <a16:creationId xmlns:a16="http://schemas.microsoft.com/office/drawing/2014/main" id="{493EBCB5-BB50-7945-E88B-86122853702B}"/>
              </a:ext>
            </a:extLst>
          </p:cNvPr>
          <p:cNvSpPr/>
          <p:nvPr/>
        </p:nvSpPr>
        <p:spPr>
          <a:xfrm>
            <a:off x="3551378" y="1309077"/>
            <a:ext cx="3667921" cy="364009"/>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900" b="1" dirty="0">
                <a:solidFill>
                  <a:schemeClr val="tx1">
                    <a:lumMod val="95000"/>
                    <a:lumOff val="5000"/>
                  </a:schemeClr>
                </a:solidFill>
              </a:rPr>
              <a:t>OPERATIVE FINDINGS</a:t>
            </a:r>
          </a:p>
        </p:txBody>
      </p:sp>
      <p:sp>
        <p:nvSpPr>
          <p:cNvPr id="12" name="Rectangle 11">
            <a:extLst>
              <a:ext uri="{FF2B5EF4-FFF2-40B4-BE49-F238E27FC236}">
                <a16:creationId xmlns:a16="http://schemas.microsoft.com/office/drawing/2014/main" id="{779DCDE1-7E85-0646-3543-9C1638CEB9CA}"/>
              </a:ext>
            </a:extLst>
          </p:cNvPr>
          <p:cNvSpPr/>
          <p:nvPr/>
        </p:nvSpPr>
        <p:spPr>
          <a:xfrm>
            <a:off x="7225966" y="1285517"/>
            <a:ext cx="4937650" cy="380160"/>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1" b="1" dirty="0">
                <a:solidFill>
                  <a:schemeClr val="tx1">
                    <a:lumMod val="95000"/>
                    <a:lumOff val="5000"/>
                  </a:schemeClr>
                </a:solidFill>
              </a:rPr>
              <a:t>DISCUSSION</a:t>
            </a:r>
          </a:p>
        </p:txBody>
      </p:sp>
      <p:sp>
        <p:nvSpPr>
          <p:cNvPr id="13" name="Rectangle 12">
            <a:extLst>
              <a:ext uri="{FF2B5EF4-FFF2-40B4-BE49-F238E27FC236}">
                <a16:creationId xmlns:a16="http://schemas.microsoft.com/office/drawing/2014/main" id="{9A130820-FF42-EA8A-339B-145E1FC668F5}"/>
              </a:ext>
            </a:extLst>
          </p:cNvPr>
          <p:cNvSpPr/>
          <p:nvPr/>
        </p:nvSpPr>
        <p:spPr>
          <a:xfrm>
            <a:off x="20938" y="4655125"/>
            <a:ext cx="3519496" cy="269879"/>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1" b="1" dirty="0">
                <a:solidFill>
                  <a:schemeClr val="tx1">
                    <a:lumMod val="95000"/>
                    <a:lumOff val="5000"/>
                  </a:schemeClr>
                </a:solidFill>
              </a:rPr>
              <a:t>CASE REPORT</a:t>
            </a:r>
          </a:p>
        </p:txBody>
      </p:sp>
      <p:sp>
        <p:nvSpPr>
          <p:cNvPr id="22" name="Rectangle 21">
            <a:extLst>
              <a:ext uri="{FF2B5EF4-FFF2-40B4-BE49-F238E27FC236}">
                <a16:creationId xmlns:a16="http://schemas.microsoft.com/office/drawing/2014/main" id="{99633B59-00B8-9FD5-0D31-D1688B16556B}"/>
              </a:ext>
            </a:extLst>
          </p:cNvPr>
          <p:cNvSpPr/>
          <p:nvPr/>
        </p:nvSpPr>
        <p:spPr>
          <a:xfrm>
            <a:off x="7222562" y="5501230"/>
            <a:ext cx="4931262" cy="26615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1" b="1" dirty="0">
                <a:solidFill>
                  <a:schemeClr val="tx1">
                    <a:lumMod val="95000"/>
                    <a:lumOff val="5000"/>
                  </a:schemeClr>
                </a:solidFill>
              </a:rPr>
              <a:t>CONCLUSION</a:t>
            </a:r>
          </a:p>
        </p:txBody>
      </p:sp>
      <p:sp>
        <p:nvSpPr>
          <p:cNvPr id="23" name="TextBox 22">
            <a:extLst>
              <a:ext uri="{FF2B5EF4-FFF2-40B4-BE49-F238E27FC236}">
                <a16:creationId xmlns:a16="http://schemas.microsoft.com/office/drawing/2014/main" id="{A458AF20-C9F7-91F9-18CA-720E2CBD3E38}"/>
              </a:ext>
            </a:extLst>
          </p:cNvPr>
          <p:cNvSpPr txBox="1"/>
          <p:nvPr/>
        </p:nvSpPr>
        <p:spPr>
          <a:xfrm>
            <a:off x="7200032" y="5767388"/>
            <a:ext cx="4919109" cy="1107988"/>
          </a:xfrm>
          <a:prstGeom prst="rect">
            <a:avLst/>
          </a:prstGeom>
          <a:noFill/>
        </p:spPr>
        <p:txBody>
          <a:bodyPr wrap="square" rtlCol="0">
            <a:spAutoFit/>
          </a:bodyPr>
          <a:lstStyle/>
          <a:p>
            <a:pPr algn="l"/>
            <a:r>
              <a:rPr lang="en-IN" sz="1300" dirty="0">
                <a:latin typeface="Arial" panose="020B0604020202020204" pitchFamily="34" charset="0"/>
                <a:cs typeface="Arial" panose="020B0604020202020204" pitchFamily="34" charset="0"/>
              </a:rPr>
              <a:t>Paediatric spinal TB can be devastating because of bone destruction, spinal deformity leading to permanent paraplegia. Early diagnosis and timely surgical intervention in case of severe deformity with neurological deficits is the key to good clinical , functional and neurological outcomes.</a:t>
            </a:r>
            <a:endParaRPr lang="en-US" sz="1300" dirty="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487EF8A5-12B3-CFAC-D9DC-5AE729D3E879}"/>
              </a:ext>
            </a:extLst>
          </p:cNvPr>
          <p:cNvSpPr txBox="1"/>
          <p:nvPr/>
        </p:nvSpPr>
        <p:spPr>
          <a:xfrm>
            <a:off x="50290" y="4952592"/>
            <a:ext cx="3396344" cy="2092881"/>
          </a:xfrm>
          <a:prstGeom prst="rect">
            <a:avLst/>
          </a:prstGeom>
          <a:noFill/>
        </p:spPr>
        <p:txBody>
          <a:bodyPr wrap="square" rtlCol="0">
            <a:spAutoFit/>
          </a:bodyPr>
          <a:lstStyle/>
          <a:p>
            <a:r>
              <a:rPr lang="en-IN" sz="1300" b="0" i="0" dirty="0">
                <a:effectLst/>
                <a:latin typeface="Arial" panose="020B0604020202020204" pitchFamily="34" charset="0"/>
                <a:cs typeface="Arial" panose="020B0604020202020204" pitchFamily="34" charset="0"/>
              </a:rPr>
              <a:t>A 2-year-old </a:t>
            </a:r>
            <a:r>
              <a:rPr lang="en-IN" sz="1300" dirty="0">
                <a:latin typeface="Arial" panose="020B0604020202020204" pitchFamily="34" charset="0"/>
                <a:cs typeface="Arial" panose="020B0604020202020204" pitchFamily="34" charset="0"/>
              </a:rPr>
              <a:t>child </a:t>
            </a:r>
            <a:r>
              <a:rPr lang="en-IN" sz="1300" b="0" i="0" dirty="0">
                <a:effectLst/>
                <a:latin typeface="Arial" panose="020B0604020202020204" pitchFamily="34" charset="0"/>
                <a:cs typeface="Arial" panose="020B0604020202020204" pitchFamily="34" charset="0"/>
              </a:rPr>
              <a:t>presented with fever, irritability, refusal to walk</a:t>
            </a:r>
            <a:r>
              <a:rPr lang="en-IN" sz="1300" dirty="0">
                <a:latin typeface="Arial" panose="020B0604020202020204" pitchFamily="34" charset="0"/>
                <a:cs typeface="Arial" panose="020B0604020202020204" pitchFamily="34" charset="0"/>
              </a:rPr>
              <a:t> </a:t>
            </a:r>
            <a:r>
              <a:rPr lang="en-IN" sz="1300" b="0" i="0" dirty="0">
                <a:effectLst/>
                <a:latin typeface="Arial" panose="020B0604020202020204" pitchFamily="34" charset="0"/>
                <a:cs typeface="Arial" panose="020B0604020202020204" pitchFamily="34" charset="0"/>
              </a:rPr>
              <a:t>and progressive thoracolumbar swelling causing difficulty in sitting and standing since 2 months. </a:t>
            </a:r>
            <a:r>
              <a:rPr lang="en-IN" sz="1300" dirty="0">
                <a:latin typeface="Arial" panose="020B0604020202020204" pitchFamily="34" charset="0"/>
                <a:cs typeface="Arial" panose="020B0604020202020204" pitchFamily="34" charset="0"/>
              </a:rPr>
              <a:t>Patient had </a:t>
            </a:r>
            <a:r>
              <a:rPr lang="en-IN" sz="1300" b="0" i="0" dirty="0">
                <a:effectLst/>
                <a:latin typeface="Arial" panose="020B0604020202020204" pitchFamily="34" charset="0"/>
                <a:cs typeface="Arial" panose="020B0604020202020204" pitchFamily="34" charset="0"/>
              </a:rPr>
              <a:t>history of close household contact with a pulmonary TB patient. </a:t>
            </a:r>
          </a:p>
          <a:p>
            <a:r>
              <a:rPr lang="en-IN" sz="1300" b="1" dirty="0">
                <a:latin typeface="Arial" panose="020B0604020202020204" pitchFamily="34" charset="0"/>
                <a:cs typeface="Arial" panose="020B0604020202020204" pitchFamily="34" charset="0"/>
              </a:rPr>
              <a:t>Examinations:</a:t>
            </a:r>
          </a:p>
          <a:p>
            <a:r>
              <a:rPr lang="en-IN" sz="1300" dirty="0" err="1">
                <a:effectLst/>
                <a:latin typeface="Arial" panose="020B0604020202020204" pitchFamily="34" charset="0"/>
                <a:cs typeface="Arial" panose="020B0604020202020204" pitchFamily="34" charset="0"/>
              </a:rPr>
              <a:t>Babinski</a:t>
            </a:r>
            <a:r>
              <a:rPr lang="en-IN" sz="1300" dirty="0">
                <a:effectLst/>
                <a:latin typeface="Arial" panose="020B0604020202020204" pitchFamily="34" charset="0"/>
                <a:cs typeface="Arial" panose="020B0604020202020204" pitchFamily="34" charset="0"/>
              </a:rPr>
              <a:t> : positive</a:t>
            </a:r>
          </a:p>
          <a:p>
            <a:r>
              <a:rPr lang="en-IN" sz="1300">
                <a:latin typeface="Arial" panose="020B0604020202020204" pitchFamily="34" charset="0"/>
                <a:cs typeface="Arial" panose="020B0604020202020204" pitchFamily="34" charset="0"/>
              </a:rPr>
              <a:t>Gibbus </a:t>
            </a:r>
            <a:r>
              <a:rPr lang="en-IN" sz="1300" dirty="0">
                <a:latin typeface="Arial" panose="020B0604020202020204" pitchFamily="34" charset="0"/>
                <a:cs typeface="Arial" panose="020B0604020202020204" pitchFamily="34" charset="0"/>
              </a:rPr>
              <a:t>noted over  thoracolumbar region.</a:t>
            </a:r>
            <a:endParaRPr lang="en-IN" sz="1300" dirty="0">
              <a:effectLst/>
              <a:latin typeface="Arial" panose="020B0604020202020204" pitchFamily="34" charset="0"/>
              <a:cs typeface="Arial" panose="020B0604020202020204" pitchFamily="34" charset="0"/>
            </a:endParaRPr>
          </a:p>
          <a:p>
            <a:pPr algn="l"/>
            <a:endParaRPr lang="en-US" sz="1300" dirty="0">
              <a:latin typeface="Arial" panose="020B0604020202020204" pitchFamily="34" charset="0"/>
              <a:cs typeface="Arial" panose="020B0604020202020204" pitchFamily="34" charset="0"/>
            </a:endParaRPr>
          </a:p>
        </p:txBody>
      </p:sp>
      <p:pic>
        <p:nvPicPr>
          <p:cNvPr id="30" name="Picture 29">
            <a:extLst>
              <a:ext uri="{FF2B5EF4-FFF2-40B4-BE49-F238E27FC236}">
                <a16:creationId xmlns:a16="http://schemas.microsoft.com/office/drawing/2014/main" id="{F0ED51CB-BED8-3AF9-264E-7D1E7EA268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79634" y="3378726"/>
            <a:ext cx="1193073" cy="857983"/>
          </a:xfrm>
          <a:prstGeom prst="rect">
            <a:avLst/>
          </a:prstGeom>
        </p:spPr>
      </p:pic>
      <p:pic>
        <p:nvPicPr>
          <p:cNvPr id="31" name="Picture 30">
            <a:extLst>
              <a:ext uri="{FF2B5EF4-FFF2-40B4-BE49-F238E27FC236}">
                <a16:creationId xmlns:a16="http://schemas.microsoft.com/office/drawing/2014/main" id="{DBB6BFB0-327F-488B-74D6-4148B61A26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38628" y="4307783"/>
            <a:ext cx="1306183" cy="1056008"/>
          </a:xfrm>
          <a:prstGeom prst="rect">
            <a:avLst/>
          </a:prstGeom>
        </p:spPr>
      </p:pic>
      <p:pic>
        <p:nvPicPr>
          <p:cNvPr id="32" name="Picture 31">
            <a:extLst>
              <a:ext uri="{FF2B5EF4-FFF2-40B4-BE49-F238E27FC236}">
                <a16:creationId xmlns:a16="http://schemas.microsoft.com/office/drawing/2014/main" id="{6A183153-A1D5-B4DC-1B46-7E5C5D0AB68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03741" y="4299632"/>
            <a:ext cx="1356560" cy="1064159"/>
          </a:xfrm>
          <a:prstGeom prst="rect">
            <a:avLst/>
          </a:prstGeom>
        </p:spPr>
      </p:pic>
      <p:pic>
        <p:nvPicPr>
          <p:cNvPr id="34" name="Picture 33">
            <a:extLst>
              <a:ext uri="{FF2B5EF4-FFF2-40B4-BE49-F238E27FC236}">
                <a16:creationId xmlns:a16="http://schemas.microsoft.com/office/drawing/2014/main" id="{74EC92DC-102B-1289-CD8B-BD9B78B816D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700984" y="5515633"/>
            <a:ext cx="962629" cy="1259737"/>
          </a:xfrm>
          <a:prstGeom prst="rect">
            <a:avLst/>
          </a:prstGeom>
        </p:spPr>
      </p:pic>
      <p:pic>
        <p:nvPicPr>
          <p:cNvPr id="37" name="Picture 36">
            <a:extLst>
              <a:ext uri="{FF2B5EF4-FFF2-40B4-BE49-F238E27FC236}">
                <a16:creationId xmlns:a16="http://schemas.microsoft.com/office/drawing/2014/main" id="{DC7D9A07-60C9-45A1-346C-49BB9EE411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flipH="1">
            <a:off x="5748495" y="5515633"/>
            <a:ext cx="1214052" cy="1077369"/>
          </a:xfrm>
          <a:prstGeom prst="rect">
            <a:avLst/>
          </a:prstGeom>
        </p:spPr>
      </p:pic>
      <p:pic>
        <p:nvPicPr>
          <p:cNvPr id="38" name="Picture 37">
            <a:extLst>
              <a:ext uri="{FF2B5EF4-FFF2-40B4-BE49-F238E27FC236}">
                <a16:creationId xmlns:a16="http://schemas.microsoft.com/office/drawing/2014/main" id="{C486D296-B866-EABF-0D3D-B522EBDF0FE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290348" y="118605"/>
            <a:ext cx="647889" cy="647889"/>
          </a:xfrm>
          <a:prstGeom prst="rect">
            <a:avLst/>
          </a:prstGeom>
        </p:spPr>
      </p:pic>
      <p:sp>
        <p:nvSpPr>
          <p:cNvPr id="17" name="TextBox 16">
            <a:extLst>
              <a:ext uri="{FF2B5EF4-FFF2-40B4-BE49-F238E27FC236}">
                <a16:creationId xmlns:a16="http://schemas.microsoft.com/office/drawing/2014/main" id="{93A79027-3E28-F01C-3782-0A823A9E1773}"/>
              </a:ext>
            </a:extLst>
          </p:cNvPr>
          <p:cNvSpPr txBox="1"/>
          <p:nvPr/>
        </p:nvSpPr>
        <p:spPr>
          <a:xfrm>
            <a:off x="-9794" y="1714784"/>
            <a:ext cx="3433885" cy="2870480"/>
          </a:xfrm>
          <a:prstGeom prst="rect">
            <a:avLst/>
          </a:prstGeom>
          <a:noFill/>
        </p:spPr>
        <p:txBody>
          <a:bodyPr wrap="square" rtlCol="0">
            <a:spAutoFit/>
          </a:bodyPr>
          <a:lstStyle/>
          <a:p>
            <a:r>
              <a:rPr lang="en-IN" sz="1300" b="0" i="0" dirty="0">
                <a:effectLst/>
                <a:latin typeface="Arial" panose="020B0604020202020204" pitchFamily="34" charset="0"/>
                <a:cs typeface="Arial" panose="020B0604020202020204" pitchFamily="34" charset="0"/>
              </a:rPr>
              <a:t>Spinal tuberculosis is the commonest form of skeletal TB in children and often presents with nonspecific symptoms such as fever, irritability, refusal to walk and spinal deformity, causing delayed diagnosis. Due to immature vertebrae, soft bone, and a flexible spine, children are at higher risk of rapid deformity progression and neurological compromise. The thoracolumbar junction is most frequently involved. Early diagnosis with timely medical therapy and appropriate surgical intervention is essential to prevent kyphosis, spinal instability and long-term disability.</a:t>
            </a:r>
            <a:endParaRPr lang="en-IN" sz="1300" dirty="0">
              <a:effectLst/>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4A7285D8-11D8-4E59-E970-5D394826E920}"/>
              </a:ext>
            </a:extLst>
          </p:cNvPr>
          <p:cNvSpPr txBox="1"/>
          <p:nvPr/>
        </p:nvSpPr>
        <p:spPr>
          <a:xfrm>
            <a:off x="7222561" y="1762176"/>
            <a:ext cx="4958085" cy="3893374"/>
          </a:xfrm>
          <a:prstGeom prst="rect">
            <a:avLst/>
          </a:prstGeom>
          <a:noFill/>
        </p:spPr>
        <p:txBody>
          <a:bodyPr wrap="square">
            <a:spAutoFit/>
          </a:bodyPr>
          <a:lstStyle/>
          <a:p>
            <a:r>
              <a:rPr lang="en-IN" sz="1300" b="0" i="0" dirty="0">
                <a:effectLst/>
                <a:latin typeface="Arial" panose="020B0604020202020204" pitchFamily="34" charset="0"/>
                <a:cs typeface="Arial" panose="020B0604020202020204" pitchFamily="34" charset="0"/>
              </a:rPr>
              <a:t>Spinal TB in children under </a:t>
            </a:r>
            <a:r>
              <a:rPr lang="en-IN" sz="1300" dirty="0">
                <a:latin typeface="Arial" panose="020B0604020202020204" pitchFamily="34" charset="0"/>
                <a:cs typeface="Arial" panose="020B0604020202020204" pitchFamily="34" charset="0"/>
              </a:rPr>
              <a:t>5 </a:t>
            </a:r>
            <a:r>
              <a:rPr lang="en-IN" sz="1300" b="0" i="0" dirty="0">
                <a:effectLst/>
                <a:latin typeface="Arial" panose="020B0604020202020204" pitchFamily="34" charset="0"/>
                <a:cs typeface="Arial" panose="020B0604020202020204" pitchFamily="34" charset="0"/>
              </a:rPr>
              <a:t>years is uncommon but aggressive due to high vertebral vascularity </a:t>
            </a:r>
            <a:r>
              <a:rPr lang="en-IN" sz="1300" dirty="0">
                <a:latin typeface="Arial" panose="020B0604020202020204" pitchFamily="34" charset="0"/>
                <a:cs typeface="Arial" panose="020B0604020202020204" pitchFamily="34" charset="0"/>
              </a:rPr>
              <a:t>.</a:t>
            </a:r>
            <a:r>
              <a:rPr lang="en-IN" sz="1300" b="0" i="0" dirty="0">
                <a:effectLst/>
                <a:latin typeface="Arial" panose="020B0604020202020204" pitchFamily="34" charset="0"/>
                <a:cs typeface="Arial" panose="020B0604020202020204" pitchFamily="34" charset="0"/>
              </a:rPr>
              <a:t> </a:t>
            </a:r>
            <a:r>
              <a:rPr lang="en-IN" sz="1300" dirty="0">
                <a:latin typeface="Arial" panose="020B0604020202020204" pitchFamily="34" charset="0"/>
                <a:cs typeface="Arial" panose="020B0604020202020204" pitchFamily="34" charset="0"/>
              </a:rPr>
              <a:t>In this case </a:t>
            </a:r>
            <a:r>
              <a:rPr lang="en-IN" sz="1300" b="0" i="0" dirty="0">
                <a:effectLst/>
                <a:latin typeface="Arial" panose="020B0604020202020204" pitchFamily="34" charset="0"/>
                <a:cs typeface="Arial" panose="020B0604020202020204" pitchFamily="34" charset="0"/>
              </a:rPr>
              <a:t>child presented with fever, irritability, refusal to walk and progressive thoracolumbar swelling—typical but often overlooked features of infantile spinal TB. Household contact with active pulmonary TB supported the diagnosis. Kyphotic deformity with raised inflammatory markers and radiological investigations favoured </a:t>
            </a:r>
            <a:r>
              <a:rPr lang="en-IN" sz="1300" b="0" i="0" dirty="0" err="1">
                <a:effectLst/>
                <a:latin typeface="Arial" panose="020B0604020202020204" pitchFamily="34" charset="0"/>
                <a:cs typeface="Arial" panose="020B0604020202020204" pitchFamily="34" charset="0"/>
              </a:rPr>
              <a:t>Pott’s</a:t>
            </a:r>
            <a:r>
              <a:rPr lang="en-IN" sz="1300" b="0" i="0" dirty="0">
                <a:effectLst/>
                <a:latin typeface="Arial" panose="020B0604020202020204" pitchFamily="34" charset="0"/>
                <a:cs typeface="Arial" panose="020B0604020202020204" pitchFamily="34" charset="0"/>
              </a:rPr>
              <a:t> spine. Surgery was indicated for progressive deformity and impending neurological deficit. Posterior spinal fixation and fusion with decompression provided stability, deformity correction and neurological deficit improvement. Biopsy showing </a:t>
            </a:r>
            <a:r>
              <a:rPr lang="en-IN" sz="1300" b="0" i="0" dirty="0" err="1">
                <a:effectLst/>
                <a:latin typeface="Arial" panose="020B0604020202020204" pitchFamily="34" charset="0"/>
                <a:cs typeface="Arial" panose="020B0604020202020204" pitchFamily="34" charset="0"/>
              </a:rPr>
              <a:t>non-necrotizing</a:t>
            </a:r>
            <a:r>
              <a:rPr lang="en-IN" sz="1300" b="0" i="0" dirty="0">
                <a:effectLst/>
                <a:latin typeface="Arial" panose="020B0604020202020204" pitchFamily="34" charset="0"/>
                <a:cs typeface="Arial" panose="020B0604020202020204" pitchFamily="34" charset="0"/>
              </a:rPr>
              <a:t> granulomatous inflammation supported tubercular </a:t>
            </a:r>
            <a:r>
              <a:rPr lang="en-IN" sz="1300" dirty="0">
                <a:latin typeface="Arial" panose="020B0604020202020204" pitchFamily="34" charset="0"/>
                <a:cs typeface="Arial" panose="020B0604020202020204" pitchFamily="34" charset="0"/>
              </a:rPr>
              <a:t>pathology</a:t>
            </a:r>
            <a:r>
              <a:rPr lang="en-IN" sz="1300" b="0" i="0" dirty="0">
                <a:effectLst/>
                <a:latin typeface="Arial" panose="020B0604020202020204" pitchFamily="34" charset="0"/>
                <a:cs typeface="Arial" panose="020B0604020202020204" pitchFamily="34" charset="0"/>
              </a:rPr>
              <a:t>. Early </a:t>
            </a:r>
            <a:r>
              <a:rPr lang="en-IN" sz="1300" b="0" i="0" dirty="0" err="1">
                <a:effectLst/>
                <a:latin typeface="Arial" panose="020B0604020202020204" pitchFamily="34" charset="0"/>
                <a:cs typeface="Arial" panose="020B0604020202020204" pitchFamily="34" charset="0"/>
              </a:rPr>
              <a:t>mobilization</a:t>
            </a:r>
            <a:r>
              <a:rPr lang="en-IN" sz="1300" b="0" i="0" dirty="0">
                <a:effectLst/>
                <a:latin typeface="Arial" panose="020B0604020202020204" pitchFamily="34" charset="0"/>
                <a:cs typeface="Arial" panose="020B0604020202020204" pitchFamily="34" charset="0"/>
              </a:rPr>
              <a:t> with </a:t>
            </a:r>
            <a:r>
              <a:rPr lang="en-IN" sz="1300" dirty="0">
                <a:latin typeface="Arial" panose="020B0604020202020204" pitchFamily="34" charset="0"/>
                <a:cs typeface="Arial" panose="020B0604020202020204" pitchFamily="34" charset="0"/>
              </a:rPr>
              <a:t> customised </a:t>
            </a:r>
            <a:r>
              <a:rPr lang="en-IN" sz="1300" b="0" i="0" dirty="0">
                <a:effectLst/>
                <a:latin typeface="Arial" panose="020B0604020202020204" pitchFamily="34" charset="0"/>
                <a:cs typeface="Arial" panose="020B0604020202020204" pitchFamily="34" charset="0"/>
              </a:rPr>
              <a:t>thoracolumbar brace with support of appropriate </a:t>
            </a:r>
            <a:r>
              <a:rPr lang="en-IN" sz="1300" b="0" i="0" dirty="0" err="1">
                <a:effectLst/>
                <a:latin typeface="Arial" panose="020B0604020202020204" pitchFamily="34" charset="0"/>
                <a:cs typeface="Arial" panose="020B0604020202020204" pitchFamily="34" charset="0"/>
              </a:rPr>
              <a:t>ATT</a:t>
            </a:r>
            <a:r>
              <a:rPr lang="en-IN" sz="1300" b="0" i="0" dirty="0">
                <a:effectLst/>
                <a:latin typeface="Arial" panose="020B0604020202020204" pitchFamily="34" charset="0"/>
                <a:cs typeface="Arial" panose="020B0604020202020204" pitchFamily="34" charset="0"/>
              </a:rPr>
              <a:t> aided recovery .Implant failure noted at 18 months</a:t>
            </a:r>
            <a:r>
              <a:rPr lang="en-IN" sz="1300" dirty="0">
                <a:latin typeface="Arial" panose="020B0604020202020204" pitchFamily="34" charset="0"/>
                <a:cs typeface="Arial" panose="020B0604020202020204" pitchFamily="34" charset="0"/>
              </a:rPr>
              <a:t> </a:t>
            </a:r>
            <a:r>
              <a:rPr lang="en-IN" sz="1300" b="0" i="0" dirty="0">
                <a:effectLst/>
                <a:latin typeface="Arial" panose="020B0604020202020204" pitchFamily="34" charset="0"/>
                <a:cs typeface="Arial" panose="020B0604020202020204" pitchFamily="34" charset="0"/>
              </a:rPr>
              <a:t>, was managed by timely removal after solid fusion was noted on X-rays. At 2 years postoperative, child had good clinical, functional and neurological outcomes, </a:t>
            </a:r>
            <a:r>
              <a:rPr lang="en-IN" sz="1300" b="0" i="0" dirty="0" err="1">
                <a:effectLst/>
                <a:latin typeface="Arial" panose="020B0604020202020204" pitchFamily="34" charset="0"/>
                <a:cs typeface="Arial" panose="020B0604020202020204" pitchFamily="34" charset="0"/>
              </a:rPr>
              <a:t>emphasizing</a:t>
            </a:r>
            <a:r>
              <a:rPr lang="en-IN" sz="1300" b="0" i="0" dirty="0">
                <a:effectLst/>
                <a:latin typeface="Arial" panose="020B0604020202020204" pitchFamily="34" charset="0"/>
                <a:cs typeface="Arial" panose="020B0604020202020204" pitchFamily="34" charset="0"/>
              </a:rPr>
              <a:t> long-term follow-up.</a:t>
            </a:r>
            <a:endParaRPr lang="en-IN" sz="1300" dirty="0">
              <a:effectLst/>
              <a:latin typeface="Arial" panose="020B0604020202020204" pitchFamily="34" charset="0"/>
              <a:cs typeface="Arial" panose="020B0604020202020204" pitchFamily="34" charset="0"/>
            </a:endParaRPr>
          </a:p>
          <a:p>
            <a:endParaRPr lang="en-US" sz="13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6010E4AC-3A64-2BA7-DCD1-3C12F42FEACA}"/>
              </a:ext>
            </a:extLst>
          </p:cNvPr>
          <p:cNvSpPr txBox="1"/>
          <p:nvPr/>
        </p:nvSpPr>
        <p:spPr>
          <a:xfrm>
            <a:off x="3555401" y="1714784"/>
            <a:ext cx="3675868" cy="1692771"/>
          </a:xfrm>
          <a:prstGeom prst="rect">
            <a:avLst/>
          </a:prstGeom>
          <a:noFill/>
        </p:spPr>
        <p:txBody>
          <a:bodyPr wrap="square" rtlCol="0">
            <a:spAutoFit/>
          </a:bodyPr>
          <a:lstStyle/>
          <a:p>
            <a:pPr algn="l"/>
            <a:r>
              <a:rPr lang="en-IN" sz="1300" dirty="0">
                <a:latin typeface="Arial" panose="020B0604020202020204" pitchFamily="34" charset="0"/>
                <a:cs typeface="Arial" panose="020B0604020202020204" pitchFamily="34" charset="0"/>
              </a:rPr>
              <a:t>Posterior spinal fixation and fusion from T12-L3 was done followed by T12-L2 cord decompression and L1-L2 disc space was </a:t>
            </a:r>
            <a:r>
              <a:rPr lang="en-IN" sz="1300" dirty="0" err="1">
                <a:latin typeface="Arial" panose="020B0604020202020204" pitchFamily="34" charset="0"/>
                <a:cs typeface="Arial" panose="020B0604020202020204" pitchFamily="34" charset="0"/>
              </a:rPr>
              <a:t>debrided</a:t>
            </a:r>
            <a:r>
              <a:rPr lang="en-IN" sz="1300" dirty="0">
                <a:latin typeface="Arial" panose="020B0604020202020204" pitchFamily="34" charset="0"/>
                <a:cs typeface="Arial" panose="020B0604020202020204" pitchFamily="34" charset="0"/>
              </a:rPr>
              <a:t> through left sided L2 </a:t>
            </a:r>
            <a:r>
              <a:rPr lang="en-IN" sz="1300" dirty="0" err="1">
                <a:latin typeface="Arial" panose="020B0604020202020204" pitchFamily="34" charset="0"/>
                <a:cs typeface="Arial" panose="020B0604020202020204" pitchFamily="34" charset="0"/>
              </a:rPr>
              <a:t>transpedicular</a:t>
            </a:r>
            <a:r>
              <a:rPr lang="en-IN" sz="1300" dirty="0">
                <a:latin typeface="Arial" panose="020B0604020202020204" pitchFamily="34" charset="0"/>
                <a:cs typeface="Arial" panose="020B0604020202020204" pitchFamily="34" charset="0"/>
              </a:rPr>
              <a:t> approach.  The disc </a:t>
            </a:r>
            <a:r>
              <a:rPr lang="en-IN" sz="1300" dirty="0" err="1">
                <a:latin typeface="Arial" panose="020B0604020202020204" pitchFamily="34" charset="0"/>
                <a:cs typeface="Arial" panose="020B0604020202020204" pitchFamily="34" charset="0"/>
              </a:rPr>
              <a:t>material,pus</a:t>
            </a:r>
            <a:r>
              <a:rPr lang="en-IN" sz="1300" dirty="0">
                <a:latin typeface="Arial" panose="020B0604020202020204" pitchFamily="34" charset="0"/>
                <a:cs typeface="Arial" panose="020B0604020202020204" pitchFamily="34" charset="0"/>
              </a:rPr>
              <a:t> and infected tissue was collected and sent for biopsy, gram stain,AFB </a:t>
            </a:r>
            <a:r>
              <a:rPr lang="en-IN" sz="1300" dirty="0" err="1">
                <a:latin typeface="Arial" panose="020B0604020202020204" pitchFamily="34" charset="0"/>
                <a:cs typeface="Arial" panose="020B0604020202020204" pitchFamily="34" charset="0"/>
              </a:rPr>
              <a:t>stain,culture</a:t>
            </a:r>
            <a:r>
              <a:rPr lang="en-IN" sz="1300" dirty="0">
                <a:latin typeface="Arial" panose="020B0604020202020204" pitchFamily="34" charset="0"/>
                <a:cs typeface="Arial" panose="020B0604020202020204" pitchFamily="34" charset="0"/>
              </a:rPr>
              <a:t> and sensitivity and </a:t>
            </a:r>
            <a:r>
              <a:rPr lang="en-IN" sz="1300" dirty="0" err="1">
                <a:latin typeface="Arial" panose="020B0604020202020204" pitchFamily="34" charset="0"/>
                <a:cs typeface="Arial" panose="020B0604020202020204" pitchFamily="34" charset="0"/>
              </a:rPr>
              <a:t>geneXpert</a:t>
            </a:r>
            <a:r>
              <a:rPr lang="en-IN" sz="1300" dirty="0">
                <a:latin typeface="Arial" panose="020B0604020202020204" pitchFamily="34" charset="0"/>
                <a:cs typeface="Arial" panose="020B0604020202020204" pitchFamily="34" charset="0"/>
              </a:rPr>
              <a:t>.</a:t>
            </a:r>
            <a:endParaRPr lang="en-US" sz="130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1D322C56-D167-4D7E-0911-4012A31DAD1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419248" y="3283089"/>
            <a:ext cx="863888" cy="957700"/>
          </a:xfrm>
          <a:prstGeom prst="rect">
            <a:avLst/>
          </a:prstGeom>
        </p:spPr>
      </p:pic>
      <p:pic>
        <p:nvPicPr>
          <p:cNvPr id="15" name="Picture 14">
            <a:extLst>
              <a:ext uri="{FF2B5EF4-FFF2-40B4-BE49-F238E27FC236}">
                <a16:creationId xmlns:a16="http://schemas.microsoft.com/office/drawing/2014/main" id="{FFC4DF9B-3B39-20CB-9BC6-FBE6F20D4A8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801820" y="5503747"/>
            <a:ext cx="879665" cy="1259737"/>
          </a:xfrm>
          <a:prstGeom prst="rect">
            <a:avLst/>
          </a:prstGeom>
        </p:spPr>
      </p:pic>
      <p:sp>
        <p:nvSpPr>
          <p:cNvPr id="21" name="TextBox 20">
            <a:extLst>
              <a:ext uri="{FF2B5EF4-FFF2-40B4-BE49-F238E27FC236}">
                <a16:creationId xmlns:a16="http://schemas.microsoft.com/office/drawing/2014/main" id="{D6D26671-9F09-195F-ECF4-C668C799AB99}"/>
              </a:ext>
            </a:extLst>
          </p:cNvPr>
          <p:cNvSpPr txBox="1"/>
          <p:nvPr/>
        </p:nvSpPr>
        <p:spPr>
          <a:xfrm>
            <a:off x="9397816" y="896182"/>
            <a:ext cx="1828800" cy="369332"/>
          </a:xfrm>
          <a:prstGeom prst="rect">
            <a:avLst/>
          </a:prstGeom>
          <a:noFill/>
          <a:ln>
            <a:solidFill>
              <a:schemeClr val="bg1"/>
            </a:solidFill>
          </a:ln>
        </p:spPr>
        <p:txBody>
          <a:bodyPr wrap="square" rtlCol="0">
            <a:spAutoFit/>
          </a:bodyPr>
          <a:lstStyle/>
          <a:p>
            <a:pPr algn="l"/>
            <a:r>
              <a:rPr lang="en-IN" b="1" spc="50" dirty="0">
                <a:ln w="0"/>
                <a:solidFill>
                  <a:schemeClr val="bg2"/>
                </a:solidFill>
                <a:effectLst>
                  <a:innerShdw blurRad="63500" dist="50800" dir="13500000">
                    <a:srgbClr val="000000">
                      <a:alpha val="50000"/>
                    </a:srgbClr>
                  </a:innerShdw>
                </a:effectLst>
                <a:latin typeface="Arial" panose="020B0604020202020204" pitchFamily="34" charset="0"/>
                <a:cs typeface="Arial" panose="020B0604020202020204" pitchFamily="34" charset="0"/>
              </a:rPr>
              <a:t>OSSAP-177</a:t>
            </a:r>
            <a:endParaRPr lang="en-US" dirty="0">
              <a:latin typeface="Arial" panose="020B0604020202020204" pitchFamily="34" charset="0"/>
              <a:cs typeface="Arial" panose="020B0604020202020204" pitchFamily="34" charset="0"/>
            </a:endParaRPr>
          </a:p>
        </p:txBody>
      </p:sp>
      <p:pic>
        <p:nvPicPr>
          <p:cNvPr id="33" name="Picture 32">
            <a:extLst>
              <a:ext uri="{FF2B5EF4-FFF2-40B4-BE49-F238E27FC236}">
                <a16:creationId xmlns:a16="http://schemas.microsoft.com/office/drawing/2014/main" id="{97210E96-CCB8-EAE7-2812-1B5E2F27726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841556" y="-87060"/>
            <a:ext cx="1043154" cy="1043154"/>
          </a:xfrm>
          <a:prstGeom prst="rect">
            <a:avLst/>
          </a:prstGeom>
        </p:spPr>
      </p:pic>
    </p:spTree>
    <p:extLst>
      <p:ext uri="{BB962C8B-B14F-4D97-AF65-F5344CB8AC3E}">
        <p14:creationId xmlns:p14="http://schemas.microsoft.com/office/powerpoint/2010/main" val="360735463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TotalTime>
  <Words>41</Words>
  <Application>Microsoft Office PowerPoint</Application>
  <PresentationFormat>Widescreen</PresentationFormat>
  <Paragraphs>9</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Virinchi Vinay</dc:creator>
  <cp:lastModifiedBy>itsvenky143143@gmail.com</cp:lastModifiedBy>
  <cp:revision>14</cp:revision>
  <dcterms:created xsi:type="dcterms:W3CDTF">2026-01-11T06:24:43Z</dcterms:created>
  <dcterms:modified xsi:type="dcterms:W3CDTF">2026-02-11T05:02:57Z</dcterms:modified>
</cp:coreProperties>
</file>