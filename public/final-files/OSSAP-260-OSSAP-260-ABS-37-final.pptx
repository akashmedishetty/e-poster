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EC9401-8F1B-4FDB-9AD0-C3A3E6578559}" v="2" dt="2026-01-27T10:33:41.2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2" d="100"/>
          <a:sy n="22" d="100"/>
        </p:scale>
        <p:origin x="948" y="-1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eefa batool" userId="128665e938f38213" providerId="LiveId" clId="{47F6FDA4-64B5-49E8-9D0A-ACE3B06C01A8}"/>
    <pc:docChg chg="undo custSel modSld">
      <pc:chgData name="afeefa batool" userId="128665e938f38213" providerId="LiveId" clId="{47F6FDA4-64B5-49E8-9D0A-ACE3B06C01A8}" dt="2026-01-27T10:37:01.204" v="188" actId="14100"/>
      <pc:docMkLst>
        <pc:docMk/>
      </pc:docMkLst>
      <pc:sldChg chg="addSp delSp modSp mod">
        <pc:chgData name="afeefa batool" userId="128665e938f38213" providerId="LiveId" clId="{47F6FDA4-64B5-49E8-9D0A-ACE3B06C01A8}" dt="2026-01-27T10:37:01.204" v="188" actId="14100"/>
        <pc:sldMkLst>
          <pc:docMk/>
          <pc:sldMk cId="1161690695" sldId="256"/>
        </pc:sldMkLst>
        <pc:spChg chg="mod">
          <ac:chgData name="afeefa batool" userId="128665e938f38213" providerId="LiveId" clId="{47F6FDA4-64B5-49E8-9D0A-ACE3B06C01A8}" dt="2026-01-27T10:35:45.384" v="183" actId="14100"/>
          <ac:spMkLst>
            <pc:docMk/>
            <pc:sldMk cId="1161690695" sldId="256"/>
            <ac:spMk id="30" creationId="{FA064588-F9D0-A7CD-CB56-51D159F9D8C0}"/>
          </ac:spMkLst>
        </pc:spChg>
        <pc:spChg chg="mod">
          <ac:chgData name="afeefa batool" userId="128665e938f38213" providerId="LiveId" clId="{47F6FDA4-64B5-49E8-9D0A-ACE3B06C01A8}" dt="2026-01-27T10:22:43.219" v="8" actId="1076"/>
          <ac:spMkLst>
            <pc:docMk/>
            <pc:sldMk cId="1161690695" sldId="256"/>
            <ac:spMk id="67" creationId="{01BD7522-5069-F2F5-1A22-7CEEA98BEE33}"/>
          </ac:spMkLst>
        </pc:spChg>
        <pc:spChg chg="mod">
          <ac:chgData name="afeefa batool" userId="128665e938f38213" providerId="LiveId" clId="{47F6FDA4-64B5-49E8-9D0A-ACE3B06C01A8}" dt="2026-01-27T10:36:08.295" v="184" actId="1076"/>
          <ac:spMkLst>
            <pc:docMk/>
            <pc:sldMk cId="1161690695" sldId="256"/>
            <ac:spMk id="72" creationId="{BC8D1AB3-3AE5-57AE-8A05-348A396A54C7}"/>
          </ac:spMkLst>
        </pc:spChg>
        <pc:picChg chg="add mod">
          <ac:chgData name="afeefa batool" userId="128665e938f38213" providerId="LiveId" clId="{47F6FDA4-64B5-49E8-9D0A-ACE3B06C01A8}" dt="2026-01-27T10:36:45.579" v="187" actId="14100"/>
          <ac:picMkLst>
            <pc:docMk/>
            <pc:sldMk cId="1161690695" sldId="256"/>
            <ac:picMk id="3" creationId="{C02040E1-D131-3B3D-BA9C-0F4379284C8E}"/>
          </ac:picMkLst>
        </pc:picChg>
        <pc:picChg chg="add mod">
          <ac:chgData name="afeefa batool" userId="128665e938f38213" providerId="LiveId" clId="{47F6FDA4-64B5-49E8-9D0A-ACE3B06C01A8}" dt="2026-01-27T10:37:01.204" v="188" actId="14100"/>
          <ac:picMkLst>
            <pc:docMk/>
            <pc:sldMk cId="1161690695" sldId="256"/>
            <ac:picMk id="7" creationId="{EE57DDC9-FA0C-D1A4-138F-7AB26335EA02}"/>
          </ac:picMkLst>
        </pc:picChg>
        <pc:picChg chg="del">
          <ac:chgData name="afeefa batool" userId="128665e938f38213" providerId="LiveId" clId="{47F6FDA4-64B5-49E8-9D0A-ACE3B06C01A8}" dt="2026-01-27T10:21:23.677" v="0" actId="21"/>
          <ac:picMkLst>
            <pc:docMk/>
            <pc:sldMk cId="1161690695" sldId="256"/>
            <ac:picMk id="12" creationId="{DFA5E525-4BFE-2ABC-ABBE-A658A33AFE6C}"/>
          </ac:picMkLst>
        </pc:picChg>
        <pc:picChg chg="mod">
          <ac:chgData name="afeefa batool" userId="128665e938f38213" providerId="LiveId" clId="{47F6FDA4-64B5-49E8-9D0A-ACE3B06C01A8}" dt="2026-01-27T10:23:08.637" v="10" actId="1076"/>
          <ac:picMkLst>
            <pc:docMk/>
            <pc:sldMk cId="1161690695" sldId="256"/>
            <ac:picMk id="27" creationId="{7B7CABE5-E574-050E-CB23-6C230801D23C}"/>
          </ac:picMkLst>
        </pc:picChg>
        <pc:picChg chg="mod">
          <ac:chgData name="afeefa batool" userId="128665e938f38213" providerId="LiveId" clId="{47F6FDA4-64B5-49E8-9D0A-ACE3B06C01A8}" dt="2026-01-27T10:23:14.112" v="11" actId="1076"/>
          <ac:picMkLst>
            <pc:docMk/>
            <pc:sldMk cId="1161690695" sldId="256"/>
            <ac:picMk id="29" creationId="{6CAB43A8-5D2B-3D0E-BB8B-154C713ED3F5}"/>
          </ac:picMkLst>
        </pc:picChg>
        <pc:picChg chg="mod">
          <ac:chgData name="afeefa batool" userId="128665e938f38213" providerId="LiveId" clId="{47F6FDA4-64B5-49E8-9D0A-ACE3B06C01A8}" dt="2026-01-27T10:23:43.318" v="15" actId="14100"/>
          <ac:picMkLst>
            <pc:docMk/>
            <pc:sldMk cId="1161690695" sldId="256"/>
            <ac:picMk id="32" creationId="{335E859B-362B-6E19-BD7E-E09FE93572B9}"/>
          </ac:picMkLst>
        </pc:picChg>
        <pc:picChg chg="mod">
          <ac:chgData name="afeefa batool" userId="128665e938f38213" providerId="LiveId" clId="{47F6FDA4-64B5-49E8-9D0A-ACE3B06C01A8}" dt="2026-01-27T10:32:06.945" v="77" actId="14100"/>
          <ac:picMkLst>
            <pc:docMk/>
            <pc:sldMk cId="1161690695" sldId="256"/>
            <ac:picMk id="37" creationId="{5D5F493C-1AFC-CAB1-DB75-1AF7A0E8AB44}"/>
          </ac:picMkLst>
        </pc:picChg>
        <pc:picChg chg="del mod">
          <ac:chgData name="afeefa batool" userId="128665e938f38213" providerId="LiveId" clId="{47F6FDA4-64B5-49E8-9D0A-ACE3B06C01A8}" dt="2026-01-27T10:26:04.253" v="64" actId="21"/>
          <ac:picMkLst>
            <pc:docMk/>
            <pc:sldMk cId="1161690695" sldId="256"/>
            <ac:picMk id="39" creationId="{0B252C42-4C74-7E1B-2E4B-3554F587D94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9D119D-DEE0-42A3-9B1C-50963CEB86D5}" type="datetimeFigureOut">
              <a:rPr lang="en-IN" smtClean="0"/>
              <a:t>27-01-2026</a:t>
            </a:fld>
            <a:endParaRPr lang="en-IN"/>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CFF289-D44A-43B3-9FB0-957549BF5FE8}" type="slidenum">
              <a:rPr lang="en-IN" smtClean="0"/>
              <a:t>‹#›</a:t>
            </a:fld>
            <a:endParaRPr lang="en-IN"/>
          </a:p>
        </p:txBody>
      </p:sp>
    </p:spTree>
    <p:extLst>
      <p:ext uri="{BB962C8B-B14F-4D97-AF65-F5344CB8AC3E}">
        <p14:creationId xmlns:p14="http://schemas.microsoft.com/office/powerpoint/2010/main" val="853088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1CFF289-D44A-43B3-9FB0-957549BF5FE8}" type="slidenum">
              <a:rPr lang="en-IN" smtClean="0"/>
              <a:t>1</a:t>
            </a:fld>
            <a:endParaRPr lang="en-IN"/>
          </a:p>
        </p:txBody>
      </p:sp>
    </p:spTree>
    <p:extLst>
      <p:ext uri="{BB962C8B-B14F-4D97-AF65-F5344CB8AC3E}">
        <p14:creationId xmlns:p14="http://schemas.microsoft.com/office/powerpoint/2010/main" val="114959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p>
        </p:txBody>
      </p:sp>
      <p:sp>
        <p:nvSpPr>
          <p:cNvPr id="4" name="Date Placeholder 3"/>
          <p:cNvSpPr>
            <a:spLocks noGrp="1"/>
          </p:cNvSpPr>
          <p:nvPr>
            <p:ph type="dt" sz="half" idx="10"/>
          </p:nvPr>
        </p:nvSpPr>
        <p:spPr/>
        <p:txBody>
          <a:bodyPr/>
          <a:lstStyle/>
          <a:p>
            <a:fld id="{A0EBB9BF-81C3-400E-9530-667D9EF39D8B}"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2792342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EBB9BF-81C3-400E-9530-667D9EF39D8B}"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16489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EBB9BF-81C3-400E-9530-667D9EF39D8B}"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2199502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EBB9BF-81C3-400E-9530-667D9EF39D8B}" type="datetimeFigureOut">
              <a:rPr lang="en-IN" smtClean="0"/>
              <a:t>27-01-2026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114752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0EBB9BF-81C3-400E-9530-667D9EF39D8B}" type="datetimeFigureOut">
              <a:rPr lang="en-IN" smtClean="0"/>
              <a:t>27-01-2026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828818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0EBB9BF-81C3-400E-9530-667D9EF39D8B}" type="datetimeFigureOut">
              <a:rPr lang="en-IN" smtClean="0"/>
              <a:t>27-01-2026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0020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EBB9BF-81C3-400E-9530-667D9EF39D8B}" type="datetimeFigureOut">
              <a:rPr lang="en-IN" smtClean="0"/>
              <a:t>27-01-2026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508199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0EBB9BF-81C3-400E-9530-667D9EF39D8B}" type="datetimeFigureOut">
              <a:rPr lang="en-IN" smtClean="0"/>
              <a:t>27-01-2026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4035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0EBB9BF-81C3-400E-9530-667D9EF39D8B}" type="datetimeFigureOut">
              <a:rPr lang="en-IN" smtClean="0"/>
              <a:t>27-01-2026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17047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EBB9BF-81C3-400E-9530-667D9EF39D8B}"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1295532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EBB9BF-81C3-400E-9530-667D9EF39D8B}"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073748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A0EBB9BF-81C3-400E-9530-667D9EF39D8B}" type="datetimeFigureOut">
              <a:rPr lang="en-IN" smtClean="0"/>
              <a:t>27-01-2026</a:t>
            </a:fld>
            <a:endParaRPr lang="en-IN"/>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D0884481-57DA-4ECD-BB2B-B1F153A8CF8C}" type="slidenum">
              <a:rPr lang="en-IN" smtClean="0"/>
              <a:t>‹#›</a:t>
            </a:fld>
            <a:endParaRPr lang="en-IN"/>
          </a:p>
        </p:txBody>
      </p:sp>
    </p:spTree>
    <p:extLst>
      <p:ext uri="{BB962C8B-B14F-4D97-AF65-F5344CB8AC3E}">
        <p14:creationId xmlns:p14="http://schemas.microsoft.com/office/powerpoint/2010/main" val="21326879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eg"/><Relationship Id="rId13" Type="http://schemas.openxmlformats.org/officeDocument/2006/relationships/image" Target="../media/image10.jpeg"/><Relationship Id="rId1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jpe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jpeg"/><Relationship Id="rId1" Type="http://schemas.openxmlformats.org/officeDocument/2006/relationships/slideLayout" Target="../slideLayouts/slideLayout1.xml"/><Relationship Id="rId6" Type="http://schemas.microsoft.com/office/2007/relationships/hdphoto" Target="../media/hdphoto1.wdp"/><Relationship Id="rId11" Type="http://schemas.openxmlformats.org/officeDocument/2006/relationships/image" Target="../media/image8.jpeg"/><Relationship Id="rId5" Type="http://schemas.openxmlformats.org/officeDocument/2006/relationships/image" Target="../media/image3.png"/><Relationship Id="rId15" Type="http://schemas.openxmlformats.org/officeDocument/2006/relationships/image" Target="../media/image12.jpeg"/><Relationship Id="rId10" Type="http://schemas.openxmlformats.org/officeDocument/2006/relationships/image" Target="../media/image7.jpeg"/><Relationship Id="rId4" Type="http://schemas.openxmlformats.org/officeDocument/2006/relationships/image" Target="../media/image2.png"/><Relationship Id="rId9" Type="http://schemas.openxmlformats.org/officeDocument/2006/relationships/image" Target="../media/image6.jpeg"/><Relationship Id="rId1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70;p1">
            <a:extLst>
              <a:ext uri="{FF2B5EF4-FFF2-40B4-BE49-F238E27FC236}">
                <a16:creationId xmlns:a16="http://schemas.microsoft.com/office/drawing/2014/main" id="{7F096925-8E14-2B28-C4B9-50762487E8E9}"/>
              </a:ext>
            </a:extLst>
          </p:cNvPr>
          <p:cNvSpPr/>
          <p:nvPr/>
        </p:nvSpPr>
        <p:spPr>
          <a:xfrm>
            <a:off x="0" y="0"/>
            <a:ext cx="32862652" cy="6861104"/>
          </a:xfrm>
          <a:prstGeom prst="rect">
            <a:avLst/>
          </a:prstGeom>
          <a:solidFill>
            <a:srgbClr val="01234D"/>
          </a:solidFill>
          <a:ln w="19050" cap="flat" cmpd="sng">
            <a:solidFill>
              <a:srgbClr val="525755"/>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5" name="Google Shape;174;p1">
            <a:extLst>
              <a:ext uri="{FF2B5EF4-FFF2-40B4-BE49-F238E27FC236}">
                <a16:creationId xmlns:a16="http://schemas.microsoft.com/office/drawing/2014/main" id="{1809CFC8-C9DD-7E63-AB9C-AABC41FA1757}"/>
              </a:ext>
            </a:extLst>
          </p:cNvPr>
          <p:cNvSpPr/>
          <p:nvPr/>
        </p:nvSpPr>
        <p:spPr>
          <a:xfrm>
            <a:off x="0" y="556590"/>
            <a:ext cx="5605671" cy="5406887"/>
          </a:xfrm>
          <a:custGeom>
            <a:avLst/>
            <a:gdLst/>
            <a:ahLst/>
            <a:cxnLst/>
            <a:rect l="l" t="t" r="r" b="b"/>
            <a:pathLst>
              <a:path w="2254612" h="1957865" extrusionOk="0">
                <a:moveTo>
                  <a:pt x="0" y="0"/>
                </a:moveTo>
                <a:lnTo>
                  <a:pt x="2254612" y="0"/>
                </a:lnTo>
                <a:lnTo>
                  <a:pt x="2254612" y="1957865"/>
                </a:lnTo>
                <a:lnTo>
                  <a:pt x="0" y="1957865"/>
                </a:lnTo>
                <a:lnTo>
                  <a:pt x="0" y="0"/>
                </a:lnTo>
                <a:close/>
              </a:path>
            </a:pathLst>
          </a:custGeom>
          <a:blipFill rotWithShape="1">
            <a:blip r:embed="rId3">
              <a:alphaModFix/>
            </a:blip>
            <a:stretch>
              <a:fillRect t="-9939" r="-4889" b="-10849"/>
            </a:stretch>
          </a:blipFill>
          <a:ln>
            <a:noFill/>
          </a:ln>
        </p:spPr>
        <p:txBody>
          <a:bodyPr spcFirstLastPara="1" wrap="square" lIns="91425" tIns="45700" rIns="91425" bIns="45700" anchor="t"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pic>
        <p:nvPicPr>
          <p:cNvPr id="6" name="Google Shape;171;p1">
            <a:extLst>
              <a:ext uri="{FF2B5EF4-FFF2-40B4-BE49-F238E27FC236}">
                <a16:creationId xmlns:a16="http://schemas.microsoft.com/office/drawing/2014/main" id="{C1BD0457-DFC6-BE13-FDC9-6C668C2F4F70}"/>
              </a:ext>
            </a:extLst>
          </p:cNvPr>
          <p:cNvPicPr preferRelativeResize="0"/>
          <p:nvPr/>
        </p:nvPicPr>
        <p:blipFill rotWithShape="1">
          <a:blip r:embed="rId4">
            <a:alphaModFix/>
          </a:blip>
          <a:srcRect/>
          <a:stretch/>
        </p:blipFill>
        <p:spPr>
          <a:xfrm>
            <a:off x="26378674" y="368142"/>
            <a:ext cx="3578088" cy="2025555"/>
          </a:xfrm>
          <a:prstGeom prst="rect">
            <a:avLst/>
          </a:prstGeom>
          <a:noFill/>
          <a:ln>
            <a:noFill/>
          </a:ln>
        </p:spPr>
      </p:pic>
      <p:pic>
        <p:nvPicPr>
          <p:cNvPr id="8" name="Picture 7">
            <a:extLst>
              <a:ext uri="{FF2B5EF4-FFF2-40B4-BE49-F238E27FC236}">
                <a16:creationId xmlns:a16="http://schemas.microsoft.com/office/drawing/2014/main" id="{EB066290-1C8E-15CB-51E2-07D1EE9CD2C7}"/>
              </a:ext>
            </a:extLst>
          </p:cNvPr>
          <p:cNvPicPr>
            <a:picLocks noChangeAspect="1"/>
          </p:cNvPicPr>
          <p:nvPr/>
        </p:nvPicPr>
        <p:blipFill>
          <a:blip r:embed="rId5">
            <a:extLst>
              <a:ext uri="{BEBA8EAE-BF5A-486C-A8C5-ECC9F3942E4B}">
                <a14:imgProps xmlns:a14="http://schemas.microsoft.com/office/drawing/2010/main">
                  <a14:imgLayer r:embed="rId6">
                    <a14:imgEffect>
                      <a14:saturation sat="101000"/>
                    </a14:imgEffect>
                  </a14:imgLayer>
                </a14:imgProps>
              </a:ext>
              <a:ext uri="{28A0092B-C50C-407E-A947-70E740481C1C}">
                <a14:useLocalDpi xmlns:a14="http://schemas.microsoft.com/office/drawing/2010/main" val="0"/>
              </a:ext>
            </a:extLst>
          </a:blip>
          <a:stretch>
            <a:fillRect/>
          </a:stretch>
        </p:blipFill>
        <p:spPr>
          <a:xfrm>
            <a:off x="25941495" y="2503378"/>
            <a:ext cx="2362530" cy="2867425"/>
          </a:xfrm>
          <a:prstGeom prst="rect">
            <a:avLst/>
          </a:prstGeom>
        </p:spPr>
      </p:pic>
      <p:pic>
        <p:nvPicPr>
          <p:cNvPr id="9" name="Google Shape;172;p1">
            <a:extLst>
              <a:ext uri="{FF2B5EF4-FFF2-40B4-BE49-F238E27FC236}">
                <a16:creationId xmlns:a16="http://schemas.microsoft.com/office/drawing/2014/main" id="{D477A907-CCDA-F301-1069-1406A2D4810E}"/>
              </a:ext>
            </a:extLst>
          </p:cNvPr>
          <p:cNvPicPr preferRelativeResize="0"/>
          <p:nvPr/>
        </p:nvPicPr>
        <p:blipFill rotWithShape="1">
          <a:blip r:embed="rId7">
            <a:alphaModFix/>
          </a:blip>
          <a:srcRect/>
          <a:stretch/>
        </p:blipFill>
        <p:spPr>
          <a:xfrm>
            <a:off x="28304025" y="1875210"/>
            <a:ext cx="4558627" cy="4293937"/>
          </a:xfrm>
          <a:prstGeom prst="rect">
            <a:avLst/>
          </a:prstGeom>
          <a:noFill/>
          <a:ln>
            <a:noFill/>
          </a:ln>
        </p:spPr>
      </p:pic>
      <p:sp>
        <p:nvSpPr>
          <p:cNvPr id="10" name="Google Shape;185;p1">
            <a:extLst>
              <a:ext uri="{FF2B5EF4-FFF2-40B4-BE49-F238E27FC236}">
                <a16:creationId xmlns:a16="http://schemas.microsoft.com/office/drawing/2014/main" id="{5389D1AE-3E63-EBCF-E9A3-77B4BCB6DA87}"/>
              </a:ext>
            </a:extLst>
          </p:cNvPr>
          <p:cNvSpPr txBox="1"/>
          <p:nvPr/>
        </p:nvSpPr>
        <p:spPr>
          <a:xfrm>
            <a:off x="5413969" y="2540184"/>
            <a:ext cx="20381950" cy="2308284"/>
          </a:xfrm>
          <a:prstGeom prst="rect">
            <a:avLst/>
          </a:prstGeom>
          <a:noFill/>
          <a:ln>
            <a:noFill/>
          </a:ln>
        </p:spPr>
        <p:txBody>
          <a:bodyPr spcFirstLastPara="1" wrap="square" lIns="91425" tIns="45700" rIns="91425" bIns="45700" anchor="t" anchorCtr="0">
            <a:sp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lt1"/>
              </a:buClr>
              <a:buSzPts val="1800"/>
              <a:buFont typeface="Arial"/>
              <a:buNone/>
            </a:pPr>
            <a:r>
              <a:rPr lang="en-GB" sz="7200" b="1" dirty="0">
                <a:solidFill>
                  <a:schemeClr val="lt1"/>
                </a:solidFill>
                <a:latin typeface="Arial"/>
                <a:ea typeface="Arial"/>
                <a:cs typeface="Arial"/>
                <a:sym typeface="Arial"/>
              </a:rPr>
              <a:t>Surgical Correction of Post-Tubercular Dorsal</a:t>
            </a:r>
          </a:p>
          <a:p>
            <a:pPr marL="0" marR="0" lvl="0" indent="0" algn="l" rtl="0">
              <a:spcBef>
                <a:spcPts val="0"/>
              </a:spcBef>
              <a:spcAft>
                <a:spcPts val="0"/>
              </a:spcAft>
              <a:buClr>
                <a:schemeClr val="lt1"/>
              </a:buClr>
              <a:buSzPts val="1800"/>
              <a:buFont typeface="Arial"/>
              <a:buNone/>
            </a:pPr>
            <a:r>
              <a:rPr lang="en-GB" sz="7200" b="1" dirty="0">
                <a:solidFill>
                  <a:schemeClr val="lt1"/>
                </a:solidFill>
                <a:latin typeface="Arial"/>
                <a:ea typeface="Arial"/>
                <a:cs typeface="Arial"/>
                <a:sym typeface="Arial"/>
              </a:rPr>
              <a:t>Kyphotic Deformity</a:t>
            </a:r>
            <a:endParaRPr sz="7200" b="1" dirty="0">
              <a:solidFill>
                <a:schemeClr val="lt1"/>
              </a:solidFill>
              <a:latin typeface="Arial"/>
              <a:ea typeface="Arial"/>
              <a:cs typeface="Arial"/>
              <a:sym typeface="Arial"/>
            </a:endParaRPr>
          </a:p>
        </p:txBody>
      </p:sp>
      <p:sp>
        <p:nvSpPr>
          <p:cNvPr id="11" name="Google Shape;186;p1">
            <a:extLst>
              <a:ext uri="{FF2B5EF4-FFF2-40B4-BE49-F238E27FC236}">
                <a16:creationId xmlns:a16="http://schemas.microsoft.com/office/drawing/2014/main" id="{384706A3-0554-C8B7-4134-98926425868B}"/>
              </a:ext>
            </a:extLst>
          </p:cNvPr>
          <p:cNvSpPr txBox="1"/>
          <p:nvPr/>
        </p:nvSpPr>
        <p:spPr>
          <a:xfrm>
            <a:off x="5455816" y="4892622"/>
            <a:ext cx="21951020" cy="769401"/>
          </a:xfrm>
          <a:prstGeom prst="rect">
            <a:avLst/>
          </a:prstGeom>
          <a:noFill/>
          <a:ln>
            <a:noFill/>
          </a:ln>
        </p:spPr>
        <p:txBody>
          <a:bodyPr spcFirstLastPara="1" wrap="square" lIns="91425" tIns="45700" rIns="91425" bIns="45700" anchor="t" anchorCtr="0">
            <a:sp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lt1"/>
              </a:buClr>
              <a:buSzPts val="1600"/>
              <a:buFont typeface="Arial"/>
              <a:buNone/>
            </a:pPr>
            <a:r>
              <a:rPr lang="en-US" sz="4400" b="1" dirty="0">
                <a:solidFill>
                  <a:schemeClr val="lt1"/>
                </a:solidFill>
                <a:latin typeface="Arial"/>
                <a:ea typeface="Arial"/>
                <a:cs typeface="Arial"/>
                <a:sym typeface="Arial"/>
              </a:rPr>
              <a:t>AUTHOR: Dr. </a:t>
            </a:r>
            <a:r>
              <a:rPr lang="en-US" sz="4000" b="1" dirty="0">
                <a:solidFill>
                  <a:schemeClr val="lt1"/>
                </a:solidFill>
                <a:latin typeface="Arial"/>
                <a:ea typeface="Arial"/>
                <a:cs typeface="Arial"/>
                <a:sym typeface="Arial"/>
              </a:rPr>
              <a:t>MOHAMMED</a:t>
            </a:r>
            <a:r>
              <a:rPr lang="en-US" sz="4400" b="1" dirty="0">
                <a:solidFill>
                  <a:schemeClr val="lt1"/>
                </a:solidFill>
                <a:latin typeface="Arial"/>
                <a:ea typeface="Arial"/>
                <a:cs typeface="Arial"/>
                <a:sym typeface="Arial"/>
              </a:rPr>
              <a:t> MUZAFFAR (POST GRADUATE)</a:t>
            </a:r>
            <a:endParaRPr lang="en-IN" sz="4400" dirty="0">
              <a:solidFill>
                <a:schemeClr val="dk1"/>
              </a:solidFill>
              <a:latin typeface="Arial"/>
              <a:ea typeface="Arial"/>
              <a:cs typeface="Arial"/>
              <a:sym typeface="Arial"/>
            </a:endParaRPr>
          </a:p>
        </p:txBody>
      </p:sp>
      <p:sp>
        <p:nvSpPr>
          <p:cNvPr id="13" name="TextBox 12">
            <a:extLst>
              <a:ext uri="{FF2B5EF4-FFF2-40B4-BE49-F238E27FC236}">
                <a16:creationId xmlns:a16="http://schemas.microsoft.com/office/drawing/2014/main" id="{DE64B2F5-3B8C-3D5C-A435-07DC77E50EFA}"/>
              </a:ext>
            </a:extLst>
          </p:cNvPr>
          <p:cNvSpPr txBox="1"/>
          <p:nvPr/>
        </p:nvSpPr>
        <p:spPr>
          <a:xfrm>
            <a:off x="5413969" y="5587850"/>
            <a:ext cx="21095678" cy="1323439"/>
          </a:xfrm>
          <a:prstGeom prst="rect">
            <a:avLst/>
          </a:prstGeom>
          <a:noFill/>
        </p:spPr>
        <p:txBody>
          <a:bodyPr wrap="square" rtlCol="0">
            <a:spAutoFit/>
          </a:bodyPr>
          <a:lstStyle/>
          <a:p>
            <a:pPr lvl="0">
              <a:buClr>
                <a:schemeClr val="lt1"/>
              </a:buClr>
              <a:buSzPts val="1600"/>
            </a:pPr>
            <a:r>
              <a:rPr lang="en-US" sz="4000" b="1" dirty="0">
                <a:solidFill>
                  <a:schemeClr val="lt1"/>
                </a:solidFill>
                <a:latin typeface="Arial"/>
                <a:ea typeface="Arial"/>
                <a:cs typeface="Arial"/>
                <a:sym typeface="Arial"/>
              </a:rPr>
              <a:t>CO-AUTHORS: Dr. M. DHEERAJ MANIKANTA (CONSULTANT SPINE SURGEON)</a:t>
            </a:r>
          </a:p>
          <a:p>
            <a:pPr lvl="0">
              <a:buClr>
                <a:schemeClr val="lt1"/>
              </a:buClr>
              <a:buSzPts val="1600"/>
            </a:pPr>
            <a:r>
              <a:rPr lang="en-US" sz="4000" b="1" dirty="0">
                <a:solidFill>
                  <a:schemeClr val="lt1"/>
                </a:solidFill>
                <a:latin typeface="Arial"/>
                <a:ea typeface="Arial"/>
                <a:cs typeface="Arial"/>
                <a:sym typeface="Arial"/>
              </a:rPr>
              <a:t>Dr. V. NAGESWARA RAO (HEAD OF DEPARTMENT OF ORTHOPAEDICS)</a:t>
            </a:r>
          </a:p>
        </p:txBody>
      </p:sp>
      <p:sp>
        <p:nvSpPr>
          <p:cNvPr id="14" name="Google Shape;180;p1">
            <a:extLst>
              <a:ext uri="{FF2B5EF4-FFF2-40B4-BE49-F238E27FC236}">
                <a16:creationId xmlns:a16="http://schemas.microsoft.com/office/drawing/2014/main" id="{41643913-CD36-48D0-8DCF-31DB39C9A9E0}"/>
              </a:ext>
            </a:extLst>
          </p:cNvPr>
          <p:cNvSpPr/>
          <p:nvPr/>
        </p:nvSpPr>
        <p:spPr>
          <a:xfrm>
            <a:off x="-2" y="6912044"/>
            <a:ext cx="10706101" cy="934227"/>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a:solidFill>
                  <a:schemeClr val="dk1"/>
                </a:solidFill>
                <a:latin typeface="Arial"/>
                <a:ea typeface="Arial"/>
                <a:cs typeface="Arial"/>
                <a:sym typeface="Arial"/>
              </a:rPr>
              <a:t>INTRODUCTION</a:t>
            </a:r>
            <a:r>
              <a:rPr lang="en-US" sz="2800" b="1">
                <a:solidFill>
                  <a:schemeClr val="dk1"/>
                </a:solidFill>
                <a:latin typeface="Arial"/>
                <a:ea typeface="Arial"/>
                <a:cs typeface="Arial"/>
                <a:sym typeface="Arial"/>
              </a:rPr>
              <a:t> </a:t>
            </a:r>
            <a:endParaRPr sz="2800">
              <a:solidFill>
                <a:schemeClr val="dk1"/>
              </a:solidFill>
              <a:latin typeface="Arial"/>
              <a:ea typeface="Arial"/>
              <a:cs typeface="Arial"/>
              <a:sym typeface="Arial"/>
            </a:endParaRPr>
          </a:p>
        </p:txBody>
      </p:sp>
      <p:sp>
        <p:nvSpPr>
          <p:cNvPr id="15" name="TextBox 14">
            <a:extLst>
              <a:ext uri="{FF2B5EF4-FFF2-40B4-BE49-F238E27FC236}">
                <a16:creationId xmlns:a16="http://schemas.microsoft.com/office/drawing/2014/main" id="{A89DE6CB-F971-ACB8-2124-D1D2F1834505}"/>
              </a:ext>
            </a:extLst>
          </p:cNvPr>
          <p:cNvSpPr txBox="1"/>
          <p:nvPr/>
        </p:nvSpPr>
        <p:spPr>
          <a:xfrm>
            <a:off x="-10285" y="7873284"/>
            <a:ext cx="10685447" cy="10310515"/>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GB" altLang="en-US" sz="4150" dirty="0">
                <a:latin typeface="Arial" panose="020B0604020202020204" pitchFamily="34" charset="0"/>
              </a:rPr>
              <a:t>Spinal tuberculosis commonly leads to angular kyphotic deformity due to anterior vertebral body destruction and collapse.</a:t>
            </a:r>
          </a:p>
          <a:p>
            <a:pPr lvl="0" defTabSz="914400" eaLnBrk="0" fontAlgn="base" hangingPunct="0">
              <a:spcBef>
                <a:spcPct val="0"/>
              </a:spcBef>
              <a:spcAft>
                <a:spcPct val="0"/>
              </a:spcAft>
              <a:buFontTx/>
              <a:buChar char="•"/>
            </a:pPr>
            <a:r>
              <a:rPr lang="en-GB" altLang="en-US" sz="4150" dirty="0">
                <a:latin typeface="Arial" panose="020B0604020202020204" pitchFamily="34" charset="0"/>
              </a:rPr>
              <a:t>Kyphosis may progress even after healed disease, resulting in sagittal imbalance and cosmetic deformity.</a:t>
            </a:r>
          </a:p>
          <a:p>
            <a:pPr lvl="0" defTabSz="914400" eaLnBrk="0" fontAlgn="base" hangingPunct="0">
              <a:spcBef>
                <a:spcPct val="0"/>
              </a:spcBef>
              <a:spcAft>
                <a:spcPct val="0"/>
              </a:spcAft>
              <a:buFontTx/>
              <a:buChar char="•"/>
            </a:pPr>
            <a:r>
              <a:rPr lang="en-GB" altLang="en-US" sz="4150" dirty="0">
                <a:latin typeface="Arial" panose="020B0604020202020204" pitchFamily="34" charset="0"/>
              </a:rPr>
              <a:t>Severe deformity causes chronic pain and functional disability.</a:t>
            </a:r>
          </a:p>
          <a:p>
            <a:pPr lvl="0" defTabSz="914400" eaLnBrk="0" fontAlgn="base" hangingPunct="0">
              <a:spcBef>
                <a:spcPct val="0"/>
              </a:spcBef>
              <a:spcAft>
                <a:spcPct val="0"/>
              </a:spcAft>
              <a:buFontTx/>
              <a:buChar char="•"/>
            </a:pPr>
            <a:r>
              <a:rPr lang="en-GB" altLang="en-US" sz="4150" dirty="0">
                <a:latin typeface="Arial" panose="020B0604020202020204" pitchFamily="34" charset="0"/>
              </a:rPr>
              <a:t>.Long-standing kyphosis may lead to cardiopulmonary compromise and late-onset neurological deficits due to cord stretch and internal gibbus.</a:t>
            </a:r>
          </a:p>
          <a:p>
            <a:pPr lvl="0" defTabSz="914400" eaLnBrk="0" fontAlgn="base" hangingPunct="0">
              <a:spcBef>
                <a:spcPct val="0"/>
              </a:spcBef>
              <a:spcAft>
                <a:spcPct val="0"/>
              </a:spcAft>
              <a:buFontTx/>
              <a:buChar char="•"/>
            </a:pPr>
            <a:r>
              <a:rPr lang="en-GB" altLang="en-US" sz="4150" dirty="0">
                <a:latin typeface="Arial" panose="020B0604020202020204" pitchFamily="34" charset="0"/>
              </a:rPr>
              <a:t>.Thoracolumbar junction involvement poses greater biomechanical challenges.</a:t>
            </a:r>
          </a:p>
          <a:p>
            <a:pPr lvl="0" defTabSz="914400" eaLnBrk="0" fontAlgn="base" hangingPunct="0">
              <a:spcBef>
                <a:spcPct val="0"/>
              </a:spcBef>
              <a:spcAft>
                <a:spcPct val="0"/>
              </a:spcAft>
              <a:buFontTx/>
              <a:buChar char="•"/>
            </a:pPr>
            <a:r>
              <a:rPr lang="en-GB" altLang="en-US" sz="4150" dirty="0">
                <a:latin typeface="Arial" panose="020B0604020202020204" pitchFamily="34" charset="0"/>
              </a:rPr>
              <a:t>Surgical correction is required in selected cases with progressive deformity.</a:t>
            </a:r>
            <a:endParaRPr lang="en-US" altLang="en-US" sz="4150" dirty="0">
              <a:latin typeface="Arial" panose="020B0604020202020204" pitchFamily="34" charset="0"/>
            </a:endParaRPr>
          </a:p>
        </p:txBody>
      </p:sp>
      <p:sp>
        <p:nvSpPr>
          <p:cNvPr id="16" name="Google Shape;180;p1">
            <a:extLst>
              <a:ext uri="{FF2B5EF4-FFF2-40B4-BE49-F238E27FC236}">
                <a16:creationId xmlns:a16="http://schemas.microsoft.com/office/drawing/2014/main" id="{220F6E65-60B9-DF6F-A646-D76A8B5C53CF}"/>
              </a:ext>
            </a:extLst>
          </p:cNvPr>
          <p:cNvSpPr/>
          <p:nvPr/>
        </p:nvSpPr>
        <p:spPr>
          <a:xfrm>
            <a:off x="10706099" y="6912044"/>
            <a:ext cx="12077700" cy="934227"/>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OPERATIVE FINDINGS</a:t>
            </a:r>
            <a:endParaRPr sz="2800" dirty="0">
              <a:solidFill>
                <a:schemeClr val="dk1"/>
              </a:solidFill>
              <a:latin typeface="Arial"/>
              <a:ea typeface="Arial"/>
              <a:cs typeface="Arial"/>
              <a:sym typeface="Arial"/>
            </a:endParaRPr>
          </a:p>
        </p:txBody>
      </p:sp>
      <p:sp>
        <p:nvSpPr>
          <p:cNvPr id="17" name="TextBox 16">
            <a:extLst>
              <a:ext uri="{FF2B5EF4-FFF2-40B4-BE49-F238E27FC236}">
                <a16:creationId xmlns:a16="http://schemas.microsoft.com/office/drawing/2014/main" id="{0DD3A80D-D47F-D6F8-995C-63F1044C564B}"/>
              </a:ext>
            </a:extLst>
          </p:cNvPr>
          <p:cNvSpPr txBox="1"/>
          <p:nvPr/>
        </p:nvSpPr>
        <p:spPr>
          <a:xfrm>
            <a:off x="10706100" y="7877308"/>
            <a:ext cx="12077699" cy="11172289"/>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US" altLang="en-US" sz="4000" dirty="0">
                <a:latin typeface="Arial" panose="020B0604020202020204" pitchFamily="34" charset="0"/>
              </a:rPr>
              <a:t>General anesthesia, prone position with neural-monitoring</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Posterior midline approach was chosen (D8–L3)</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Paraspinal muscle elevation and posterior element exposure were done</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Bilateral pedicle screw insertion from D8 to L3 under fluoroscopy</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Temporary rod stabilization</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Resection of posterior elements with ligation and division of D11 nerve roots</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Complete vertebral column resection of D11–D12</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Placement of titanium cage (~2.5 cm) packed with bone graft between D10 inferior endplate and L1 superior endplate</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Final rod fixation with deformity correction and fusion</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Hemostasis, drain placement, layered closure</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Extubated with intact neurology.</a:t>
            </a:r>
          </a:p>
        </p:txBody>
      </p:sp>
      <p:sp>
        <p:nvSpPr>
          <p:cNvPr id="21" name="Google Shape;180;p1">
            <a:extLst>
              <a:ext uri="{FF2B5EF4-FFF2-40B4-BE49-F238E27FC236}">
                <a16:creationId xmlns:a16="http://schemas.microsoft.com/office/drawing/2014/main" id="{63515AA6-0C46-8EA1-62A3-03D86E5BA634}"/>
              </a:ext>
            </a:extLst>
          </p:cNvPr>
          <p:cNvSpPr/>
          <p:nvPr/>
        </p:nvSpPr>
        <p:spPr>
          <a:xfrm>
            <a:off x="-17661" y="18217183"/>
            <a:ext cx="10703104" cy="1137606"/>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a:solidFill>
                  <a:schemeClr val="dk1"/>
                </a:solidFill>
                <a:latin typeface="Arial"/>
                <a:ea typeface="Arial"/>
                <a:cs typeface="Arial"/>
                <a:sym typeface="Arial"/>
              </a:rPr>
              <a:t>CASE REPORT</a:t>
            </a:r>
            <a:endParaRPr sz="2800">
              <a:solidFill>
                <a:schemeClr val="dk1"/>
              </a:solidFill>
              <a:latin typeface="Arial"/>
              <a:ea typeface="Arial"/>
              <a:cs typeface="Arial"/>
              <a:sym typeface="Arial"/>
            </a:endParaRPr>
          </a:p>
        </p:txBody>
      </p:sp>
      <p:sp>
        <p:nvSpPr>
          <p:cNvPr id="22" name="TextBox 21">
            <a:extLst>
              <a:ext uri="{FF2B5EF4-FFF2-40B4-BE49-F238E27FC236}">
                <a16:creationId xmlns:a16="http://schemas.microsoft.com/office/drawing/2014/main" id="{D6A93688-5DCA-B66C-5D14-93087E6B1C4F}"/>
              </a:ext>
            </a:extLst>
          </p:cNvPr>
          <p:cNvSpPr txBox="1"/>
          <p:nvPr/>
        </p:nvSpPr>
        <p:spPr>
          <a:xfrm>
            <a:off x="38561" y="19354790"/>
            <a:ext cx="10703104" cy="14364410"/>
          </a:xfrm>
          <a:prstGeom prst="rect">
            <a:avLst/>
          </a:prstGeom>
          <a:noFill/>
          <a:ln>
            <a:solidFill>
              <a:schemeClr val="tx1"/>
            </a:solidFill>
          </a:ln>
        </p:spPr>
        <p:txBody>
          <a:bodyPr wrap="square" rtlCol="0">
            <a:spAutoFit/>
          </a:bodyPr>
          <a:lstStyle/>
          <a:p>
            <a:r>
              <a:rPr lang="en-US" sz="4000" b="1" dirty="0">
                <a:latin typeface="Arial" panose="020B0604020202020204" pitchFamily="34" charset="0"/>
                <a:cs typeface="Arial" panose="020B0604020202020204" pitchFamily="34" charset="0"/>
              </a:rPr>
              <a:t>Case Presentation: </a:t>
            </a:r>
            <a:r>
              <a:rPr lang="en-GB" sz="4000" dirty="0">
                <a:latin typeface="Arial" panose="020B0604020202020204" pitchFamily="34" charset="0"/>
                <a:cs typeface="Arial" panose="020B0604020202020204" pitchFamily="34" charset="0"/>
              </a:rPr>
              <a:t>A 15-year-old female with 3 months of back pain and 2 months of increasing stooping of the back, associated with fever and weight loss. History of left thoracolumbar paraspinal abscess drainage; currently on antitubercular therapy</a:t>
            </a:r>
            <a:r>
              <a:rPr lang="en-GB" sz="4000" b="1" dirty="0">
                <a:latin typeface="Arial" panose="020B0604020202020204" pitchFamily="34" charset="0"/>
                <a:cs typeface="Arial" panose="020B0604020202020204" pitchFamily="34" charset="0"/>
              </a:rPr>
              <a:t>.</a:t>
            </a:r>
          </a:p>
          <a:p>
            <a:r>
              <a:rPr lang="en-GB" sz="4000" b="1" dirty="0">
                <a:latin typeface="Arial" panose="020B0604020202020204" pitchFamily="34" charset="0"/>
                <a:cs typeface="Arial" panose="020B0604020202020204" pitchFamily="34" charset="0"/>
              </a:rPr>
              <a:t>Clinical Examination</a:t>
            </a:r>
            <a:r>
              <a:rPr lang="en-GB" sz="4000" dirty="0">
                <a:latin typeface="Arial" panose="020B0604020202020204" pitchFamily="34" charset="0"/>
                <a:cs typeface="Arial" panose="020B0604020202020204" pitchFamily="34" charset="0"/>
              </a:rPr>
              <a:t>: Ambulatory with forward bending posture and angular thoracolumbar kyphosis. Healed left paraspinal sinus present. Restricted spinal movements with tenderness. Sensory loss below the infra-umbilical level; motor power intact in both lower limbs.</a:t>
            </a:r>
          </a:p>
          <a:p>
            <a:r>
              <a:rPr lang="en-US" sz="4000" b="1" dirty="0">
                <a:latin typeface="Arial" panose="020B0604020202020204" pitchFamily="34" charset="0"/>
                <a:cs typeface="Arial" panose="020B0604020202020204" pitchFamily="34" charset="0"/>
              </a:rPr>
              <a:t>X-ray Findings</a:t>
            </a:r>
            <a:r>
              <a:rPr lang="en-GB" sz="4000" dirty="0">
                <a:latin typeface="Arial" panose="020B0604020202020204" pitchFamily="34" charset="0"/>
                <a:cs typeface="Arial" panose="020B0604020202020204" pitchFamily="34" charset="0"/>
              </a:rPr>
              <a:t>: Severe (Rajasekaran kyphosis severity grading) angular kyphosis at the D11–D12 level with anterior vertebral body collapse and near complete loss of intervening disc space</a:t>
            </a:r>
            <a:r>
              <a:rPr lang="en-GB" sz="4000" b="1" dirty="0">
                <a:latin typeface="Arial" panose="020B0604020202020204" pitchFamily="34" charset="0"/>
                <a:cs typeface="Arial" panose="020B0604020202020204" pitchFamily="34" charset="0"/>
              </a:rPr>
              <a:t>. </a:t>
            </a:r>
          </a:p>
          <a:p>
            <a:r>
              <a:rPr lang="en-US" sz="4000" b="1" dirty="0">
                <a:latin typeface="Arial" panose="020B0604020202020204" pitchFamily="34" charset="0"/>
                <a:cs typeface="Arial" panose="020B0604020202020204" pitchFamily="34" charset="0"/>
              </a:rPr>
              <a:t>MRI Findings: </a:t>
            </a:r>
            <a:r>
              <a:rPr lang="en-GB" sz="4000" dirty="0">
                <a:latin typeface="Arial" panose="020B0604020202020204" pitchFamily="34" charset="0"/>
                <a:cs typeface="Arial" panose="020B0604020202020204" pitchFamily="34" charset="0"/>
              </a:rPr>
              <a:t>Destruction of D11–D12 vertebral bodies with severe angular kyphotic deformity and paravertebral collections extending from D11 to L1, consistent with healed spinal tuberculosis.</a:t>
            </a:r>
            <a:endParaRPr lang="en-US" sz="4000" dirty="0">
              <a:latin typeface="Arial" panose="020B0604020202020204" pitchFamily="34" charset="0"/>
              <a:cs typeface="Arial" panose="020B0604020202020204" pitchFamily="34" charset="0"/>
            </a:endParaRPr>
          </a:p>
        </p:txBody>
      </p:sp>
      <p:sp>
        <p:nvSpPr>
          <p:cNvPr id="30" name="Google Shape;180;p1">
            <a:extLst>
              <a:ext uri="{FF2B5EF4-FFF2-40B4-BE49-F238E27FC236}">
                <a16:creationId xmlns:a16="http://schemas.microsoft.com/office/drawing/2014/main" id="{FA064588-F9D0-A7CD-CB56-51D159F9D8C0}"/>
              </a:ext>
            </a:extLst>
          </p:cNvPr>
          <p:cNvSpPr/>
          <p:nvPr/>
        </p:nvSpPr>
        <p:spPr>
          <a:xfrm>
            <a:off x="6213873" y="33688663"/>
            <a:ext cx="16541437" cy="2294693"/>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400" b="1" dirty="0">
                <a:solidFill>
                  <a:schemeClr val="dk1"/>
                </a:solidFill>
                <a:latin typeface="Arial"/>
                <a:ea typeface="Arial"/>
                <a:cs typeface="Arial"/>
                <a:sym typeface="Arial"/>
              </a:rPr>
              <a:t>POST-OP IMAGING</a:t>
            </a:r>
          </a:p>
          <a:p>
            <a:pPr marL="0" marR="0" lvl="0" indent="0" rtl="0">
              <a:spcBef>
                <a:spcPts val="0"/>
              </a:spcBef>
              <a:spcAft>
                <a:spcPts val="0"/>
              </a:spcAft>
              <a:buClr>
                <a:schemeClr val="dk1"/>
              </a:buClr>
              <a:buSzPts val="1800"/>
              <a:buFont typeface="Arial"/>
              <a:buNone/>
            </a:pPr>
            <a:r>
              <a:rPr lang="en-US" sz="4400" b="1" dirty="0">
                <a:solidFill>
                  <a:schemeClr val="dk1"/>
                </a:solidFill>
                <a:latin typeface="Arial"/>
                <a:ea typeface="Arial"/>
                <a:cs typeface="Arial"/>
                <a:sym typeface="Arial"/>
              </a:rPr>
              <a:t>        </a:t>
            </a:r>
            <a:r>
              <a:rPr lang="en-US" sz="3200" b="1" u="sng" dirty="0">
                <a:solidFill>
                  <a:schemeClr val="dk1"/>
                </a:solidFill>
                <a:latin typeface="Arial"/>
                <a:ea typeface="Arial"/>
                <a:cs typeface="Arial"/>
                <a:sym typeface="Arial"/>
              </a:rPr>
              <a:t>POD-2  </a:t>
            </a:r>
            <a:r>
              <a:rPr lang="en-US" sz="4400" b="1" u="sng" dirty="0">
                <a:solidFill>
                  <a:schemeClr val="dk1"/>
                </a:solidFill>
                <a:latin typeface="Arial"/>
                <a:ea typeface="Arial"/>
                <a:cs typeface="Arial"/>
                <a:sym typeface="Arial"/>
              </a:rPr>
              <a:t>                </a:t>
            </a:r>
            <a:r>
              <a:rPr lang="en-US" sz="2800" b="1" u="sng" dirty="0">
                <a:solidFill>
                  <a:schemeClr val="dk1"/>
                </a:solidFill>
                <a:latin typeface="Arial"/>
                <a:ea typeface="Arial"/>
                <a:cs typeface="Arial"/>
                <a:sym typeface="Arial"/>
              </a:rPr>
              <a:t>1 MONTH OF FOLLOWUP          3MONTHS OF FOLLOW UP</a:t>
            </a:r>
            <a:endParaRPr lang="en-US" sz="4400" b="1" u="sng" dirty="0">
              <a:solidFill>
                <a:schemeClr val="dk1"/>
              </a:solidFill>
              <a:latin typeface="Arial"/>
              <a:ea typeface="Arial"/>
              <a:cs typeface="Arial"/>
              <a:sym typeface="Arial"/>
            </a:endParaRPr>
          </a:p>
        </p:txBody>
      </p:sp>
      <p:sp>
        <p:nvSpPr>
          <p:cNvPr id="52" name="Google Shape;180;p1">
            <a:extLst>
              <a:ext uri="{FF2B5EF4-FFF2-40B4-BE49-F238E27FC236}">
                <a16:creationId xmlns:a16="http://schemas.microsoft.com/office/drawing/2014/main" id="{BB057721-8D09-D904-BCCD-1CBB785E2718}"/>
              </a:ext>
            </a:extLst>
          </p:cNvPr>
          <p:cNvSpPr/>
          <p:nvPr/>
        </p:nvSpPr>
        <p:spPr>
          <a:xfrm>
            <a:off x="22783799" y="6912044"/>
            <a:ext cx="10078853" cy="934227"/>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a:solidFill>
                  <a:schemeClr val="dk1"/>
                </a:solidFill>
                <a:latin typeface="Arial"/>
                <a:ea typeface="Arial"/>
                <a:cs typeface="Arial"/>
                <a:sym typeface="Arial"/>
              </a:rPr>
              <a:t>DISCUSSION</a:t>
            </a:r>
            <a:endParaRPr sz="2800">
              <a:solidFill>
                <a:schemeClr val="dk1"/>
              </a:solidFill>
              <a:latin typeface="Arial"/>
              <a:ea typeface="Arial"/>
              <a:cs typeface="Arial"/>
              <a:sym typeface="Arial"/>
            </a:endParaRPr>
          </a:p>
        </p:txBody>
      </p:sp>
      <p:sp>
        <p:nvSpPr>
          <p:cNvPr id="55" name="TextBox 54">
            <a:extLst>
              <a:ext uri="{FF2B5EF4-FFF2-40B4-BE49-F238E27FC236}">
                <a16:creationId xmlns:a16="http://schemas.microsoft.com/office/drawing/2014/main" id="{A84A370F-036E-1144-8504-0A42F9E68F2F}"/>
              </a:ext>
            </a:extLst>
          </p:cNvPr>
          <p:cNvSpPr txBox="1"/>
          <p:nvPr/>
        </p:nvSpPr>
        <p:spPr>
          <a:xfrm>
            <a:off x="22766611" y="7877307"/>
            <a:ext cx="10096041" cy="11172289"/>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US" altLang="en-US" sz="4000" dirty="0">
                <a:latin typeface="Arial" panose="020B0604020202020204" pitchFamily="34" charset="0"/>
              </a:rPr>
              <a:t>Post-tubercular kyphotic deformity arises from anterior vertebral body collapse and is associated with progressive sagittal imbalance and neurological risk. Posterior vertebral column resection allows single-stage circumferential decompression, deformity correction, and stable reconstruction. Complete excision of D11–D12 with cage reconstruction and long-segment posterior fixation achieved satisfactory alignment and stability. Intraoperative neuromonitoring and temporary stabilization were critical in minimizing neurological complications. Posterior-only VCR is a reliable technique for managing severe post-tubercular kyphosis.</a:t>
            </a:r>
          </a:p>
          <a:p>
            <a:pPr lvl="0" defTabSz="914400" eaLnBrk="0" fontAlgn="base" hangingPunct="0">
              <a:spcBef>
                <a:spcPct val="0"/>
              </a:spcBef>
              <a:spcAft>
                <a:spcPct val="0"/>
              </a:spcAft>
              <a:buFontTx/>
              <a:buChar char="•"/>
            </a:pPr>
            <a:endParaRPr lang="en-US" altLang="en-US" sz="4000" dirty="0">
              <a:latin typeface="Arial" panose="020B0604020202020204" pitchFamily="34" charset="0"/>
            </a:endParaRPr>
          </a:p>
        </p:txBody>
      </p:sp>
      <p:sp>
        <p:nvSpPr>
          <p:cNvPr id="59" name="Google Shape;180;p1">
            <a:extLst>
              <a:ext uri="{FF2B5EF4-FFF2-40B4-BE49-F238E27FC236}">
                <a16:creationId xmlns:a16="http://schemas.microsoft.com/office/drawing/2014/main" id="{D9D7F7C4-9715-A5F2-D1B9-F09FCBF2F58E}"/>
              </a:ext>
            </a:extLst>
          </p:cNvPr>
          <p:cNvSpPr/>
          <p:nvPr/>
        </p:nvSpPr>
        <p:spPr>
          <a:xfrm rot="10800000" flipV="1">
            <a:off x="22781638" y="18423533"/>
            <a:ext cx="10096041" cy="820638"/>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a:solidFill>
                  <a:schemeClr val="dk1"/>
                </a:solidFill>
                <a:latin typeface="Arial"/>
                <a:ea typeface="Arial"/>
                <a:cs typeface="Arial"/>
                <a:sym typeface="Arial"/>
              </a:rPr>
              <a:t>RESULTS</a:t>
            </a:r>
            <a:endParaRPr lang="en-US" sz="2800">
              <a:solidFill>
                <a:schemeClr val="dk1"/>
              </a:solidFill>
              <a:latin typeface="Arial"/>
              <a:ea typeface="Arial"/>
              <a:cs typeface="Arial"/>
              <a:sym typeface="Arial"/>
            </a:endParaRPr>
          </a:p>
        </p:txBody>
      </p:sp>
      <p:sp>
        <p:nvSpPr>
          <p:cNvPr id="62" name="TextBox 61">
            <a:extLst>
              <a:ext uri="{FF2B5EF4-FFF2-40B4-BE49-F238E27FC236}">
                <a16:creationId xmlns:a16="http://schemas.microsoft.com/office/drawing/2014/main" id="{43D3C752-EB75-17D1-2E1E-1888ACD59125}"/>
              </a:ext>
            </a:extLst>
          </p:cNvPr>
          <p:cNvSpPr txBox="1"/>
          <p:nvPr/>
        </p:nvSpPr>
        <p:spPr>
          <a:xfrm>
            <a:off x="22881132" y="19226119"/>
            <a:ext cx="10048724" cy="8710077"/>
          </a:xfrm>
          <a:prstGeom prst="rect">
            <a:avLst/>
          </a:prstGeom>
          <a:noFill/>
          <a:ln>
            <a:solidFill>
              <a:schemeClr val="tx1"/>
            </a:solidFill>
          </a:ln>
        </p:spPr>
        <p:txBody>
          <a:bodyPr wrap="square" rtlCol="0">
            <a:spAutoFit/>
          </a:bodyPr>
          <a:lstStyle/>
          <a:p>
            <a:pPr defTabSz="914400" eaLnBrk="0" fontAlgn="base" hangingPunct="0">
              <a:spcBef>
                <a:spcPct val="0"/>
              </a:spcBef>
              <a:spcAft>
                <a:spcPct val="0"/>
              </a:spcAft>
            </a:pPr>
            <a:r>
              <a:rPr lang="en-GB" sz="4000" dirty="0">
                <a:solidFill>
                  <a:schemeClr val="dk1"/>
                </a:solidFill>
                <a:latin typeface="Arial"/>
                <a:ea typeface="Arial"/>
                <a:cs typeface="Arial"/>
                <a:sym typeface="Arial"/>
              </a:rPr>
              <a:t>Postoperative recovery was uneventful. The patient was followed up at 1 week, 1 month, and 3 months. Clinical and radiological assessment demonstrated maintained correction of kyphotic deformity with satisfactory sagittal alignment. At 3 months follow-up, functional outcome as per Modified Macnab criteria was graded as “Excellent.” The patient was ambulatory without support and remained neurologically intact. Radiographs confirmed stable implant and cage position with no loss of correction or implant-related complications.</a:t>
            </a:r>
            <a:endParaRPr lang="en-US" sz="4000" dirty="0">
              <a:solidFill>
                <a:schemeClr val="dk1"/>
              </a:solidFill>
              <a:latin typeface="Arial"/>
              <a:ea typeface="Arial"/>
              <a:cs typeface="Arial"/>
              <a:sym typeface="Arial"/>
            </a:endParaRPr>
          </a:p>
        </p:txBody>
      </p:sp>
      <p:sp>
        <p:nvSpPr>
          <p:cNvPr id="64" name="Google Shape;180;p1">
            <a:extLst>
              <a:ext uri="{FF2B5EF4-FFF2-40B4-BE49-F238E27FC236}">
                <a16:creationId xmlns:a16="http://schemas.microsoft.com/office/drawing/2014/main" id="{3DF12F48-1FE4-CF6E-6D39-3F44088355F1}"/>
              </a:ext>
            </a:extLst>
          </p:cNvPr>
          <p:cNvSpPr/>
          <p:nvPr/>
        </p:nvSpPr>
        <p:spPr>
          <a:xfrm>
            <a:off x="22781640" y="27936197"/>
            <a:ext cx="10089616" cy="82064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TAKE HOME MESSAGE</a:t>
            </a:r>
            <a:endParaRPr lang="en-US" sz="2800" dirty="0">
              <a:solidFill>
                <a:schemeClr val="dk1"/>
              </a:solidFill>
              <a:latin typeface="Arial"/>
              <a:ea typeface="Arial"/>
              <a:cs typeface="Arial"/>
              <a:sym typeface="Arial"/>
            </a:endParaRPr>
          </a:p>
        </p:txBody>
      </p:sp>
      <p:sp>
        <p:nvSpPr>
          <p:cNvPr id="65" name="TextBox 64">
            <a:extLst>
              <a:ext uri="{FF2B5EF4-FFF2-40B4-BE49-F238E27FC236}">
                <a16:creationId xmlns:a16="http://schemas.microsoft.com/office/drawing/2014/main" id="{452077E3-5657-1998-879E-2A1CE9C742DF}"/>
              </a:ext>
            </a:extLst>
          </p:cNvPr>
          <p:cNvSpPr txBox="1"/>
          <p:nvPr/>
        </p:nvSpPr>
        <p:spPr>
          <a:xfrm>
            <a:off x="22761569" y="28810609"/>
            <a:ext cx="10116110" cy="5632311"/>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US" altLang="en-US" sz="4000" dirty="0">
                <a:latin typeface="Arial" panose="020B0604020202020204" pitchFamily="34" charset="0"/>
              </a:rPr>
              <a:t>Severe post-tubercular kyphosis can be effectively managed by single-stage posterior vertebral column resection.</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Long-segment posterior fixation with cage reconstruction restores sagittal alignment and spinal stability.</a:t>
            </a:r>
          </a:p>
          <a:p>
            <a:pPr lvl="0" defTabSz="914400" eaLnBrk="0" fontAlgn="base" hangingPunct="0">
              <a:spcBef>
                <a:spcPct val="0"/>
              </a:spcBef>
              <a:spcAft>
                <a:spcPct val="0"/>
              </a:spcAft>
              <a:buFontTx/>
              <a:buChar char="•"/>
            </a:pPr>
            <a:r>
              <a:rPr lang="en-US" altLang="en-US" sz="4000" dirty="0">
                <a:latin typeface="Arial" panose="020B0604020202020204" pitchFamily="34" charset="0"/>
              </a:rPr>
              <a:t>Neuromonitoring and meticulous technique are essential for safe deformity correction with good functional outcome.</a:t>
            </a:r>
          </a:p>
        </p:txBody>
      </p:sp>
      <p:sp>
        <p:nvSpPr>
          <p:cNvPr id="67" name="Google Shape;180;p1">
            <a:extLst>
              <a:ext uri="{FF2B5EF4-FFF2-40B4-BE49-F238E27FC236}">
                <a16:creationId xmlns:a16="http://schemas.microsoft.com/office/drawing/2014/main" id="{01BD7522-5069-F2F5-1A22-7CEEA98BEE33}"/>
              </a:ext>
            </a:extLst>
          </p:cNvPr>
          <p:cNvSpPr/>
          <p:nvPr/>
        </p:nvSpPr>
        <p:spPr>
          <a:xfrm>
            <a:off x="-26481" y="33719199"/>
            <a:ext cx="6250696" cy="1128221"/>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400" b="1" dirty="0">
                <a:solidFill>
                  <a:schemeClr val="dk1"/>
                </a:solidFill>
                <a:latin typeface="Arial"/>
                <a:ea typeface="Arial"/>
                <a:cs typeface="Arial"/>
                <a:sym typeface="Arial"/>
              </a:rPr>
              <a:t>PRE-OP IMAGING</a:t>
            </a:r>
            <a:endParaRPr sz="4400" dirty="0">
              <a:solidFill>
                <a:schemeClr val="dk1"/>
              </a:solidFill>
              <a:latin typeface="Arial"/>
              <a:ea typeface="Arial"/>
              <a:cs typeface="Arial"/>
              <a:sym typeface="Arial"/>
            </a:endParaRPr>
          </a:p>
        </p:txBody>
      </p:sp>
      <p:sp>
        <p:nvSpPr>
          <p:cNvPr id="72" name="Google Shape;180;p1">
            <a:extLst>
              <a:ext uri="{FF2B5EF4-FFF2-40B4-BE49-F238E27FC236}">
                <a16:creationId xmlns:a16="http://schemas.microsoft.com/office/drawing/2014/main" id="{BC8D1AB3-3AE5-57AE-8A05-348A396A54C7}"/>
              </a:ext>
            </a:extLst>
          </p:cNvPr>
          <p:cNvSpPr/>
          <p:nvPr/>
        </p:nvSpPr>
        <p:spPr>
          <a:xfrm>
            <a:off x="22781637" y="34496692"/>
            <a:ext cx="10156831" cy="864991"/>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CONCLUSION</a:t>
            </a:r>
            <a:endParaRPr lang="en-US" sz="2800" dirty="0">
              <a:solidFill>
                <a:schemeClr val="dk1"/>
              </a:solidFill>
              <a:latin typeface="Arial"/>
              <a:ea typeface="Arial"/>
              <a:cs typeface="Arial"/>
              <a:sym typeface="Arial"/>
            </a:endParaRPr>
          </a:p>
        </p:txBody>
      </p:sp>
      <p:sp>
        <p:nvSpPr>
          <p:cNvPr id="73" name="TextBox 72">
            <a:extLst>
              <a:ext uri="{FF2B5EF4-FFF2-40B4-BE49-F238E27FC236}">
                <a16:creationId xmlns:a16="http://schemas.microsoft.com/office/drawing/2014/main" id="{C80FA5E0-95EB-CC62-4CD4-2CDDAB0AB22E}"/>
              </a:ext>
            </a:extLst>
          </p:cNvPr>
          <p:cNvSpPr txBox="1"/>
          <p:nvPr/>
        </p:nvSpPr>
        <p:spPr>
          <a:xfrm>
            <a:off x="22771603" y="35415455"/>
            <a:ext cx="10116109" cy="3416320"/>
          </a:xfrm>
          <a:prstGeom prst="rect">
            <a:avLst/>
          </a:prstGeom>
          <a:noFill/>
          <a:ln>
            <a:solidFill>
              <a:schemeClr val="tx1"/>
            </a:solidFill>
          </a:ln>
        </p:spPr>
        <p:txBody>
          <a:bodyPr wrap="square" rtlCol="0">
            <a:spAutoFit/>
          </a:bodyPr>
          <a:lstStyle/>
          <a:p>
            <a:pPr lvl="0">
              <a:buClr>
                <a:schemeClr val="dk1"/>
              </a:buClr>
              <a:buSzPts val="1800"/>
            </a:pPr>
            <a:r>
              <a:rPr lang="en-GB" sz="3600" dirty="0">
                <a:solidFill>
                  <a:schemeClr val="dk1"/>
                </a:solidFill>
                <a:latin typeface="Arial"/>
                <a:ea typeface="Arial"/>
                <a:cs typeface="Arial"/>
                <a:sym typeface="Arial"/>
              </a:rPr>
              <a:t>Single-stage posterior vertebral column resection with cage reconstruction and long-segment fixation is a safe and effective technique for correcting severe post-tubercular kyphosis, providing stable alignment with good neurological and functional outcomes.</a:t>
            </a:r>
            <a:endParaRPr lang="en-US" sz="3600" dirty="0">
              <a:solidFill>
                <a:schemeClr val="dk1"/>
              </a:solidFill>
              <a:latin typeface="Arial"/>
              <a:ea typeface="Arial"/>
              <a:cs typeface="Arial"/>
              <a:sym typeface="Arial"/>
            </a:endParaRPr>
          </a:p>
        </p:txBody>
      </p:sp>
      <p:sp>
        <p:nvSpPr>
          <p:cNvPr id="74" name="Google Shape;180;p1">
            <a:extLst>
              <a:ext uri="{FF2B5EF4-FFF2-40B4-BE49-F238E27FC236}">
                <a16:creationId xmlns:a16="http://schemas.microsoft.com/office/drawing/2014/main" id="{2CB630B8-0F84-4370-A147-A7FF077118AA}"/>
              </a:ext>
            </a:extLst>
          </p:cNvPr>
          <p:cNvSpPr/>
          <p:nvPr/>
        </p:nvSpPr>
        <p:spPr>
          <a:xfrm>
            <a:off x="22781637" y="38831775"/>
            <a:ext cx="10112333" cy="864992"/>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800" b="1" dirty="0">
                <a:solidFill>
                  <a:schemeClr val="dk1"/>
                </a:solidFill>
                <a:latin typeface="Arial"/>
                <a:ea typeface="Arial"/>
                <a:cs typeface="Arial"/>
                <a:sym typeface="Arial"/>
              </a:rPr>
              <a:t>ACKNOWLEDGEMENT</a:t>
            </a:r>
            <a:endParaRPr lang="en-US" sz="4800" dirty="0">
              <a:solidFill>
                <a:schemeClr val="dk1"/>
              </a:solidFill>
              <a:latin typeface="Arial"/>
              <a:ea typeface="Arial"/>
              <a:cs typeface="Arial"/>
              <a:sym typeface="Arial"/>
            </a:endParaRPr>
          </a:p>
        </p:txBody>
      </p:sp>
      <p:sp>
        <p:nvSpPr>
          <p:cNvPr id="76" name="TextBox 75">
            <a:extLst>
              <a:ext uri="{FF2B5EF4-FFF2-40B4-BE49-F238E27FC236}">
                <a16:creationId xmlns:a16="http://schemas.microsoft.com/office/drawing/2014/main" id="{0CBE702D-3146-651F-E7B3-FED3190404FE}"/>
              </a:ext>
            </a:extLst>
          </p:cNvPr>
          <p:cNvSpPr txBox="1"/>
          <p:nvPr/>
        </p:nvSpPr>
        <p:spPr>
          <a:xfrm>
            <a:off x="22723732" y="39718871"/>
            <a:ext cx="10206123" cy="4093428"/>
          </a:xfrm>
          <a:prstGeom prst="rect">
            <a:avLst/>
          </a:prstGeom>
          <a:noFill/>
          <a:ln>
            <a:solidFill>
              <a:schemeClr val="tx1"/>
            </a:solidFill>
          </a:ln>
        </p:spPr>
        <p:txBody>
          <a:bodyPr wrap="square" rtlCol="0">
            <a:spAutoFit/>
          </a:bodyPr>
          <a:lstStyle/>
          <a:p>
            <a:r>
              <a:rPr lang="en-GB" sz="3600" dirty="0"/>
              <a:t>I sincerely thank </a:t>
            </a:r>
            <a:r>
              <a:rPr lang="en-GB" sz="3600" b="1" dirty="0"/>
              <a:t>Dr. V. Nageswara Rao</a:t>
            </a:r>
            <a:r>
              <a:rPr lang="en-GB" sz="3600" dirty="0"/>
              <a:t>, Head of the Department of Orthopaedics, and </a:t>
            </a:r>
            <a:r>
              <a:rPr lang="en-GB" sz="3600" b="1" dirty="0"/>
              <a:t>Dr. Dheeraj Manikanta </a:t>
            </a:r>
            <a:r>
              <a:rPr lang="en-GB" sz="3600" dirty="0"/>
              <a:t>(Consultant Endoscopic Spine and Deformity Surgeon), along with the faculty of Orthopaedics and the Department of Radiology at GSL Medical College &amp; General Hospital, for their guidance and support</a:t>
            </a:r>
            <a:r>
              <a:rPr lang="en-GB" sz="4400" dirty="0"/>
              <a:t>.</a:t>
            </a:r>
            <a:endParaRPr lang="en-IN" sz="4400" dirty="0">
              <a:latin typeface="Arial" panose="020B0604020202020204" pitchFamily="34" charset="0"/>
              <a:cs typeface="Arial" panose="020B0604020202020204" pitchFamily="34" charset="0"/>
            </a:endParaRPr>
          </a:p>
        </p:txBody>
      </p:sp>
      <p:pic>
        <p:nvPicPr>
          <p:cNvPr id="27" name="Picture 26" descr="A x-ray of a person&#10;&#10;AI-generated content may be incorrect.">
            <a:extLst>
              <a:ext uri="{FF2B5EF4-FFF2-40B4-BE49-F238E27FC236}">
                <a16:creationId xmlns:a16="http://schemas.microsoft.com/office/drawing/2014/main" id="{7B7CABE5-E574-050E-CB23-6C230801D23C}"/>
              </a:ext>
            </a:extLst>
          </p:cNvPr>
          <p:cNvPicPr>
            <a:picLocks noChangeAspect="1"/>
          </p:cNvPicPr>
          <p:nvPr/>
        </p:nvPicPr>
        <p:blipFill>
          <a:blip r:embed="rId8">
            <a:extLst>
              <a:ext uri="{28A0092B-C50C-407E-A947-70E740481C1C}">
                <a14:useLocalDpi xmlns:a14="http://schemas.microsoft.com/office/drawing/2010/main" val="0"/>
              </a:ext>
            </a:extLst>
          </a:blip>
          <a:srcRect l="27035" t="11632" r="32287" b="13459"/>
          <a:stretch>
            <a:fillRect/>
          </a:stretch>
        </p:blipFill>
        <p:spPr>
          <a:xfrm>
            <a:off x="13059" y="34847423"/>
            <a:ext cx="3466124" cy="9043777"/>
          </a:xfrm>
          <a:prstGeom prst="rect">
            <a:avLst/>
          </a:prstGeom>
        </p:spPr>
      </p:pic>
      <p:pic>
        <p:nvPicPr>
          <p:cNvPr id="29" name="Picture 28" descr="A close-up of an x-ray&#10;&#10;AI-generated content may be incorrect.">
            <a:extLst>
              <a:ext uri="{FF2B5EF4-FFF2-40B4-BE49-F238E27FC236}">
                <a16:creationId xmlns:a16="http://schemas.microsoft.com/office/drawing/2014/main" id="{6CAB43A8-5D2B-3D0E-BB8B-154C713ED3F5}"/>
              </a:ext>
            </a:extLst>
          </p:cNvPr>
          <p:cNvPicPr>
            <a:picLocks noChangeAspect="1"/>
          </p:cNvPicPr>
          <p:nvPr/>
        </p:nvPicPr>
        <p:blipFill>
          <a:blip r:embed="rId9">
            <a:extLst>
              <a:ext uri="{28A0092B-C50C-407E-A947-70E740481C1C}">
                <a14:useLocalDpi xmlns:a14="http://schemas.microsoft.com/office/drawing/2010/main" val="0"/>
              </a:ext>
            </a:extLst>
          </a:blip>
          <a:srcRect l="34589" t="31140" r="49952" b="41379"/>
          <a:stretch>
            <a:fillRect/>
          </a:stretch>
        </p:blipFill>
        <p:spPr>
          <a:xfrm>
            <a:off x="3443912" y="34796118"/>
            <a:ext cx="2780609" cy="5441769"/>
          </a:xfrm>
          <a:prstGeom prst="rect">
            <a:avLst/>
          </a:prstGeom>
        </p:spPr>
      </p:pic>
      <p:pic>
        <p:nvPicPr>
          <p:cNvPr id="32" name="Picture 31" descr="A close-up of an x-ray&#10;&#10;AI-generated content may be incorrect.">
            <a:extLst>
              <a:ext uri="{FF2B5EF4-FFF2-40B4-BE49-F238E27FC236}">
                <a16:creationId xmlns:a16="http://schemas.microsoft.com/office/drawing/2014/main" id="{335E859B-362B-6E19-BD7E-E09FE93572B9}"/>
              </a:ext>
            </a:extLst>
          </p:cNvPr>
          <p:cNvPicPr>
            <a:picLocks noChangeAspect="1"/>
          </p:cNvPicPr>
          <p:nvPr/>
        </p:nvPicPr>
        <p:blipFill>
          <a:blip r:embed="rId10">
            <a:extLst>
              <a:ext uri="{28A0092B-C50C-407E-A947-70E740481C1C}">
                <a14:useLocalDpi xmlns:a14="http://schemas.microsoft.com/office/drawing/2010/main" val="0"/>
              </a:ext>
            </a:extLst>
          </a:blip>
          <a:srcRect l="20200" t="50000" r="60825" b="32508"/>
          <a:stretch>
            <a:fillRect/>
          </a:stretch>
        </p:blipFill>
        <p:spPr>
          <a:xfrm>
            <a:off x="3433265" y="40157116"/>
            <a:ext cx="2780609" cy="3734081"/>
          </a:xfrm>
          <a:prstGeom prst="rect">
            <a:avLst/>
          </a:prstGeom>
        </p:spPr>
      </p:pic>
      <p:pic>
        <p:nvPicPr>
          <p:cNvPr id="37" name="Picture 36" descr="A x-ray of a person&#10;&#10;AI-generated content may be incorrect.">
            <a:extLst>
              <a:ext uri="{FF2B5EF4-FFF2-40B4-BE49-F238E27FC236}">
                <a16:creationId xmlns:a16="http://schemas.microsoft.com/office/drawing/2014/main" id="{5D5F493C-1AFC-CAB1-DB75-1AF7A0E8AB44}"/>
              </a:ext>
            </a:extLst>
          </p:cNvPr>
          <p:cNvPicPr>
            <a:picLocks noChangeAspect="1"/>
          </p:cNvPicPr>
          <p:nvPr/>
        </p:nvPicPr>
        <p:blipFill>
          <a:blip r:embed="rId11">
            <a:extLst>
              <a:ext uri="{28A0092B-C50C-407E-A947-70E740481C1C}">
                <a14:useLocalDpi xmlns:a14="http://schemas.microsoft.com/office/drawing/2010/main" val="0"/>
              </a:ext>
            </a:extLst>
          </a:blip>
          <a:srcRect l="27447" t="17147" r="20797" b="15032"/>
          <a:stretch>
            <a:fillRect/>
          </a:stretch>
        </p:blipFill>
        <p:spPr>
          <a:xfrm>
            <a:off x="6213874" y="36013892"/>
            <a:ext cx="5156784" cy="7907841"/>
          </a:xfrm>
          <a:prstGeom prst="rect">
            <a:avLst/>
          </a:prstGeom>
        </p:spPr>
      </p:pic>
      <p:pic>
        <p:nvPicPr>
          <p:cNvPr id="44" name="Picture 43" descr="A person performing surgery on a patient's stomach&#10;&#10;AI-generated content may be incorrect.">
            <a:extLst>
              <a:ext uri="{FF2B5EF4-FFF2-40B4-BE49-F238E27FC236}">
                <a16:creationId xmlns:a16="http://schemas.microsoft.com/office/drawing/2014/main" id="{4DF0ABFB-831C-7F94-A1B3-95D27CC164D6}"/>
              </a:ext>
            </a:extLst>
          </p:cNvPr>
          <p:cNvPicPr>
            <a:picLocks noChangeAspect="1"/>
          </p:cNvPicPr>
          <p:nvPr/>
        </p:nvPicPr>
        <p:blipFill>
          <a:blip r:embed="rId12">
            <a:extLst>
              <a:ext uri="{28A0092B-C50C-407E-A947-70E740481C1C}">
                <a14:useLocalDpi xmlns:a14="http://schemas.microsoft.com/office/drawing/2010/main" val="0"/>
              </a:ext>
            </a:extLst>
          </a:blip>
          <a:srcRect l="-963" t="32236" r="2592" b="30209"/>
          <a:stretch>
            <a:fillRect/>
          </a:stretch>
        </p:blipFill>
        <p:spPr>
          <a:xfrm>
            <a:off x="14928058" y="19047128"/>
            <a:ext cx="5051929" cy="4180777"/>
          </a:xfrm>
          <a:prstGeom prst="rect">
            <a:avLst/>
          </a:prstGeom>
        </p:spPr>
      </p:pic>
      <p:pic>
        <p:nvPicPr>
          <p:cNvPr id="51" name="Picture 50" descr="A close-up of a heart&#10;&#10;AI-generated content may be incorrect.">
            <a:extLst>
              <a:ext uri="{FF2B5EF4-FFF2-40B4-BE49-F238E27FC236}">
                <a16:creationId xmlns:a16="http://schemas.microsoft.com/office/drawing/2014/main" id="{7756AE34-2833-96F8-105A-8EC2BB6F2946}"/>
              </a:ext>
            </a:extLst>
          </p:cNvPr>
          <p:cNvPicPr>
            <a:picLocks noChangeAspect="1"/>
          </p:cNvPicPr>
          <p:nvPr/>
        </p:nvPicPr>
        <p:blipFill>
          <a:blip r:embed="rId13">
            <a:extLst>
              <a:ext uri="{28A0092B-C50C-407E-A947-70E740481C1C}">
                <a14:useLocalDpi xmlns:a14="http://schemas.microsoft.com/office/drawing/2010/main" val="0"/>
              </a:ext>
            </a:extLst>
          </a:blip>
          <a:srcRect l="27887" t="13205" r="296" b="20444"/>
          <a:stretch>
            <a:fillRect/>
          </a:stretch>
        </p:blipFill>
        <p:spPr>
          <a:xfrm rot="16200000">
            <a:off x="14007995" y="19841923"/>
            <a:ext cx="5522234" cy="12146977"/>
          </a:xfrm>
          <a:prstGeom prst="rect">
            <a:avLst/>
          </a:prstGeom>
        </p:spPr>
      </p:pic>
      <p:pic>
        <p:nvPicPr>
          <p:cNvPr id="54" name="Picture 53" descr="A person holding a tweezers in a human body&#10;&#10;AI-generated content may be incorrect.">
            <a:extLst>
              <a:ext uri="{FF2B5EF4-FFF2-40B4-BE49-F238E27FC236}">
                <a16:creationId xmlns:a16="http://schemas.microsoft.com/office/drawing/2014/main" id="{E15FDAEF-D4FA-2915-4AFD-F2706949DA18}"/>
              </a:ext>
            </a:extLst>
          </p:cNvPr>
          <p:cNvPicPr>
            <a:picLocks noChangeAspect="1"/>
          </p:cNvPicPr>
          <p:nvPr/>
        </p:nvPicPr>
        <p:blipFill>
          <a:blip r:embed="rId14">
            <a:extLst>
              <a:ext uri="{28A0092B-C50C-407E-A947-70E740481C1C}">
                <a14:useLocalDpi xmlns:a14="http://schemas.microsoft.com/office/drawing/2010/main" val="0"/>
              </a:ext>
            </a:extLst>
          </a:blip>
          <a:srcRect l="25332" t="34316" r="5022" b="2720"/>
          <a:stretch>
            <a:fillRect/>
          </a:stretch>
        </p:blipFill>
        <p:spPr>
          <a:xfrm>
            <a:off x="10722699" y="28606868"/>
            <a:ext cx="12058939" cy="5087238"/>
          </a:xfrm>
          <a:prstGeom prst="rect">
            <a:avLst/>
          </a:prstGeom>
        </p:spPr>
      </p:pic>
      <p:pic>
        <p:nvPicPr>
          <p:cNvPr id="58" name="Picture 57" descr="A close-up of several hands performing surgery&#10;&#10;AI-generated content may be incorrect.">
            <a:extLst>
              <a:ext uri="{FF2B5EF4-FFF2-40B4-BE49-F238E27FC236}">
                <a16:creationId xmlns:a16="http://schemas.microsoft.com/office/drawing/2014/main" id="{1B2250B0-E815-2F24-A96F-8A7304F2A344}"/>
              </a:ext>
            </a:extLst>
          </p:cNvPr>
          <p:cNvPicPr>
            <a:picLocks noChangeAspect="1"/>
          </p:cNvPicPr>
          <p:nvPr/>
        </p:nvPicPr>
        <p:blipFill>
          <a:blip r:embed="rId15">
            <a:extLst>
              <a:ext uri="{28A0092B-C50C-407E-A947-70E740481C1C}">
                <a14:useLocalDpi xmlns:a14="http://schemas.microsoft.com/office/drawing/2010/main" val="0"/>
              </a:ext>
            </a:extLst>
          </a:blip>
          <a:srcRect l="452" t="32236" r="12031" b="34675"/>
          <a:stretch>
            <a:fillRect/>
          </a:stretch>
        </p:blipFill>
        <p:spPr>
          <a:xfrm>
            <a:off x="10672118" y="19072222"/>
            <a:ext cx="4291506" cy="4134819"/>
          </a:xfrm>
          <a:prstGeom prst="rect">
            <a:avLst/>
          </a:prstGeom>
        </p:spPr>
      </p:pic>
      <p:pic>
        <p:nvPicPr>
          <p:cNvPr id="61" name="Picture 60" descr="A person performing surgery on a patient&#10;&#10;AI-generated content may be incorrect.">
            <a:extLst>
              <a:ext uri="{FF2B5EF4-FFF2-40B4-BE49-F238E27FC236}">
                <a16:creationId xmlns:a16="http://schemas.microsoft.com/office/drawing/2014/main" id="{3AFA372E-1668-6AD2-01A7-65FDD8E1D982}"/>
              </a:ext>
            </a:extLst>
          </p:cNvPr>
          <p:cNvPicPr>
            <a:picLocks noChangeAspect="1"/>
          </p:cNvPicPr>
          <p:nvPr/>
        </p:nvPicPr>
        <p:blipFill>
          <a:blip r:embed="rId16">
            <a:extLst>
              <a:ext uri="{28A0092B-C50C-407E-A947-70E740481C1C}">
                <a14:useLocalDpi xmlns:a14="http://schemas.microsoft.com/office/drawing/2010/main" val="0"/>
              </a:ext>
            </a:extLst>
          </a:blip>
          <a:srcRect l="18815" t="27175" r="28667" b="21891"/>
          <a:stretch>
            <a:fillRect/>
          </a:stretch>
        </p:blipFill>
        <p:spPr>
          <a:xfrm>
            <a:off x="19625534" y="19047128"/>
            <a:ext cx="3232092" cy="4124731"/>
          </a:xfrm>
          <a:prstGeom prst="rect">
            <a:avLst/>
          </a:prstGeom>
        </p:spPr>
      </p:pic>
      <p:sp>
        <p:nvSpPr>
          <p:cNvPr id="2" name="TextBox 1">
            <a:extLst>
              <a:ext uri="{FF2B5EF4-FFF2-40B4-BE49-F238E27FC236}">
                <a16:creationId xmlns:a16="http://schemas.microsoft.com/office/drawing/2014/main" id="{CD24587B-4292-17A8-42C1-F610D84E80E7}"/>
              </a:ext>
            </a:extLst>
          </p:cNvPr>
          <p:cNvSpPr txBox="1"/>
          <p:nvPr/>
        </p:nvSpPr>
        <p:spPr>
          <a:xfrm>
            <a:off x="5605671" y="621166"/>
            <a:ext cx="17100151" cy="1754326"/>
          </a:xfrm>
          <a:prstGeom prst="rect">
            <a:avLst/>
          </a:prstGeom>
          <a:noFill/>
        </p:spPr>
        <p:txBody>
          <a:bodyPr wrap="square" rtlCol="0">
            <a:spAutoFit/>
          </a:bodyPr>
          <a:lstStyle/>
          <a:p>
            <a:r>
              <a:rPr lang="en-US" sz="3600" b="1" dirty="0">
                <a:solidFill>
                  <a:schemeClr val="bg1"/>
                </a:solidFill>
                <a:latin typeface="Gordita "/>
              </a:rPr>
              <a:t>55</a:t>
            </a:r>
            <a:r>
              <a:rPr lang="en-US" sz="3600" b="1" baseline="30000" dirty="0">
                <a:solidFill>
                  <a:schemeClr val="bg1"/>
                </a:solidFill>
                <a:latin typeface="Gordita "/>
              </a:rPr>
              <a:t>th</a:t>
            </a:r>
            <a:r>
              <a:rPr lang="en-US" sz="3600" b="1" dirty="0">
                <a:solidFill>
                  <a:schemeClr val="bg1"/>
                </a:solidFill>
                <a:latin typeface="Gordita "/>
              </a:rPr>
              <a:t>   Annual Conference of Orthopedic Surgeon Society of Andhra Pradesh</a:t>
            </a:r>
          </a:p>
          <a:p>
            <a:r>
              <a:rPr lang="en-US" sz="3600" b="1" dirty="0">
                <a:solidFill>
                  <a:schemeClr val="bg1"/>
                </a:solidFill>
                <a:latin typeface="Gordita "/>
              </a:rPr>
              <a:t>Date 6 – 8 February,2026, Venue : Kurnool Medical College</a:t>
            </a:r>
          </a:p>
          <a:p>
            <a:r>
              <a:rPr lang="en-US" sz="3600" b="1" dirty="0">
                <a:solidFill>
                  <a:schemeClr val="bg1"/>
                </a:solidFill>
                <a:latin typeface="Gordita "/>
              </a:rPr>
              <a:t>Organized by : Department of </a:t>
            </a:r>
            <a:r>
              <a:rPr lang="en-US" sz="3600" b="1" dirty="0" err="1">
                <a:solidFill>
                  <a:schemeClr val="bg1"/>
                </a:solidFill>
                <a:latin typeface="Gordita "/>
              </a:rPr>
              <a:t>Orthopaedics</a:t>
            </a:r>
            <a:r>
              <a:rPr lang="en-US" sz="3600" b="1" dirty="0">
                <a:solidFill>
                  <a:schemeClr val="bg1"/>
                </a:solidFill>
                <a:latin typeface="Gordita "/>
              </a:rPr>
              <a:t>, Kurnool Medical College Kurnool</a:t>
            </a:r>
          </a:p>
        </p:txBody>
      </p:sp>
      <p:pic>
        <p:nvPicPr>
          <p:cNvPr id="3" name="Picture 2">
            <a:extLst>
              <a:ext uri="{FF2B5EF4-FFF2-40B4-BE49-F238E27FC236}">
                <a16:creationId xmlns:a16="http://schemas.microsoft.com/office/drawing/2014/main" id="{C02040E1-D131-3B3D-BA9C-0F4379284C8E}"/>
              </a:ext>
            </a:extLst>
          </p:cNvPr>
          <p:cNvPicPr>
            <a:picLocks noChangeAspect="1"/>
          </p:cNvPicPr>
          <p:nvPr/>
        </p:nvPicPr>
        <p:blipFill>
          <a:blip r:embed="rId17"/>
          <a:stretch>
            <a:fillRect/>
          </a:stretch>
        </p:blipFill>
        <p:spPr>
          <a:xfrm>
            <a:off x="11370658" y="35983356"/>
            <a:ext cx="4410116" cy="7907840"/>
          </a:xfrm>
          <a:prstGeom prst="rect">
            <a:avLst/>
          </a:prstGeom>
        </p:spPr>
      </p:pic>
      <p:pic>
        <p:nvPicPr>
          <p:cNvPr id="7" name="Picture 6">
            <a:extLst>
              <a:ext uri="{FF2B5EF4-FFF2-40B4-BE49-F238E27FC236}">
                <a16:creationId xmlns:a16="http://schemas.microsoft.com/office/drawing/2014/main" id="{EE57DDC9-FA0C-D1A4-138F-7AB26335EA02}"/>
              </a:ext>
            </a:extLst>
          </p:cNvPr>
          <p:cNvPicPr>
            <a:picLocks noChangeAspect="1"/>
          </p:cNvPicPr>
          <p:nvPr/>
        </p:nvPicPr>
        <p:blipFill>
          <a:blip r:embed="rId18"/>
          <a:stretch>
            <a:fillRect/>
          </a:stretch>
        </p:blipFill>
        <p:spPr>
          <a:xfrm>
            <a:off x="15780774" y="35983356"/>
            <a:ext cx="6974537" cy="7907844"/>
          </a:xfrm>
          <a:prstGeom prst="rect">
            <a:avLst/>
          </a:prstGeom>
        </p:spPr>
      </p:pic>
    </p:spTree>
    <p:extLst>
      <p:ext uri="{BB962C8B-B14F-4D97-AF65-F5344CB8AC3E}">
        <p14:creationId xmlns:p14="http://schemas.microsoft.com/office/powerpoint/2010/main" val="11616906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151</TotalTime>
  <Words>719</Words>
  <Application>Microsoft Office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Calibri Light</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venkata ramana</dc:creator>
  <cp:lastModifiedBy>afeefa batool</cp:lastModifiedBy>
  <cp:revision>4</cp:revision>
  <dcterms:created xsi:type="dcterms:W3CDTF">2026-01-22T16:12:08Z</dcterms:created>
  <dcterms:modified xsi:type="dcterms:W3CDTF">2026-01-27T10:37:09Z</dcterms:modified>
</cp:coreProperties>
</file>