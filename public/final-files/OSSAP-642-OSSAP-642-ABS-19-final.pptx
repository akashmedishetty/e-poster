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C VENKAT" userId="80c8c292d41098db" providerId="LiveId" clId="{AF0B0045-1D7B-47F7-96D6-9CECEB47810F}"/>
    <pc:docChg chg="modSld">
      <pc:chgData name="DOC VENKAT" userId="80c8c292d41098db" providerId="LiveId" clId="{AF0B0045-1D7B-47F7-96D6-9CECEB47810F}" dt="2026-02-15T16:23:29.043" v="13" actId="1076"/>
      <pc:docMkLst>
        <pc:docMk/>
      </pc:docMkLst>
      <pc:sldChg chg="modSp mod">
        <pc:chgData name="DOC VENKAT" userId="80c8c292d41098db" providerId="LiveId" clId="{AF0B0045-1D7B-47F7-96D6-9CECEB47810F}" dt="2026-02-15T16:23:29.043" v="13" actId="1076"/>
        <pc:sldMkLst>
          <pc:docMk/>
          <pc:sldMk cId="3607354635" sldId="256"/>
        </pc:sldMkLst>
        <pc:spChg chg="mod">
          <ac:chgData name="DOC VENKAT" userId="80c8c292d41098db" providerId="LiveId" clId="{AF0B0045-1D7B-47F7-96D6-9CECEB47810F}" dt="2026-02-15T16:23:29.043" v="13" actId="1076"/>
          <ac:spMkLst>
            <pc:docMk/>
            <pc:sldMk cId="3607354635" sldId="256"/>
            <ac:spMk id="4" creationId="{0F401C6F-33A3-A415-AD1A-709059E901BF}"/>
          </ac:spMkLst>
        </pc:spChg>
        <pc:spChg chg="mod">
          <ac:chgData name="DOC VENKAT" userId="80c8c292d41098db" providerId="LiveId" clId="{AF0B0045-1D7B-47F7-96D6-9CECEB47810F}" dt="2026-02-15T16:23:21.342" v="12" actId="1076"/>
          <ac:spMkLst>
            <pc:docMk/>
            <pc:sldMk cId="3607354635" sldId="256"/>
            <ac:spMk id="19" creationId="{CF1F608A-7742-BF27-09EC-3BB7CA324D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383A8-C8D1-49AD-9B0A-185A295E122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0542C-EDC8-4FA4-AD61-0F7680EC0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85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542C-EDC8-4FA4-AD61-0F7680EC020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26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3421360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21246" y="564488"/>
            <a:ext cx="630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Snapping Hip Syndrome: A Rare Case Report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AUTHORS: DR BANDAN VENKAT RAO PG, KAMSRC , HYD 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03694" y="18032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289771"/>
            <a:ext cx="5868199" cy="35180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37166" y="5080536"/>
            <a:ext cx="588370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MANAGEMENT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23797" y="4834436"/>
            <a:ext cx="589707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3C470-13B8-75B1-3DC0-DA4E209748F4}"/>
              </a:ext>
            </a:extLst>
          </p:cNvPr>
          <p:cNvSpPr txBox="1"/>
          <p:nvPr/>
        </p:nvSpPr>
        <p:spPr>
          <a:xfrm>
            <a:off x="0" y="1674794"/>
            <a:ext cx="313783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Snapping hip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also known as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coxa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saltans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is a clinical condition characterized by an audible or palpable snapping sensation around the hip joint during movement. It is broadly classified into three distinct types: external snapping hip, internal snapping hip, and intra-articular snapping hip.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External and internal snapping hip are primarily diagnosed clinically through a detailed history and specific physical examination maneuvers that reproduce the snapping phenomenon. In contrast, intra-articular snapping hip often requires advanced imaging modalities for accurate diagnosis, as it typically involves underlying intra-articular pathology.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Management may be either conservative or surgical, depending on the underlying etiology, severity of symptoms, and duration of presentation. Nonoperative treatment is generally the first-line approach, while operative intervention is reserved for refractory or structurally significant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5B003-AA5A-91D4-F27A-639F83BCC286}"/>
              </a:ext>
            </a:extLst>
          </p:cNvPr>
          <p:cNvSpPr txBox="1"/>
          <p:nvPr/>
        </p:nvSpPr>
        <p:spPr>
          <a:xfrm>
            <a:off x="0" y="5393418"/>
            <a:ext cx="3108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 45-year-old male patient presented to OPD with chief complaints of pain in left hip since 3months with difficulty in walking, associated with snapping sensation. pt was asymptomatic 3 months back then developed dull aching pain in left hip, radiating along posterior buttock region, aggravated on activity, relieved on rest.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503196-1F71-1F89-2D62-52BA9AB5A7CA}"/>
              </a:ext>
            </a:extLst>
          </p:cNvPr>
          <p:cNvSpPr txBox="1"/>
          <p:nvPr/>
        </p:nvSpPr>
        <p:spPr>
          <a:xfrm>
            <a:off x="3153340" y="1674793"/>
            <a:ext cx="315708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Local Examination</a:t>
            </a: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Painful hip flexion associated with palpable external snapping of the tensor fascia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lata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 over the greater trochanter</a:t>
            </a:r>
          </a:p>
          <a:p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Painful and restricted hip abduction and adduction</a:t>
            </a:r>
          </a:p>
          <a:p>
            <a:r>
              <a:rPr lang="en-IN" sz="1000" b="1" dirty="0">
                <a:latin typeface="Arial" panose="020B0604020202020204" pitchFamily="34" charset="0"/>
                <a:cs typeface="Arial" panose="020B0604020202020204" pitchFamily="34" charset="0"/>
              </a:rPr>
              <a:t>Ober’s test: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 Positive</a:t>
            </a:r>
          </a:p>
          <a:p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Investigations</a:t>
            </a: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Dynamic ultrasonography of the hip demonstrated snapping of the iliotibial band over the greater trochanter</a:t>
            </a:r>
          </a:p>
          <a:p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Findings consistent with </a:t>
            </a:r>
            <a:r>
              <a:rPr lang="en-IN" sz="1000" b="1" dirty="0">
                <a:latin typeface="Arial" panose="020B0604020202020204" pitchFamily="34" charset="0"/>
                <a:cs typeface="Arial" panose="020B0604020202020204" pitchFamily="34" charset="0"/>
              </a:rPr>
              <a:t>external snapping hip syndrome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Initial conservative management was initiated:</a:t>
            </a:r>
          </a:p>
          <a:p>
            <a:pPr lvl="1"/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Structured physiotherapy program</a:t>
            </a:r>
          </a:p>
          <a:p>
            <a:pPr lvl="1"/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Local corticosteroid infiltration</a:t>
            </a:r>
          </a:p>
          <a:p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No significant symptomatic improvement was noted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7712D2-5617-9806-845D-A9C7A0ED7D2E}"/>
              </a:ext>
            </a:extLst>
          </p:cNvPr>
          <p:cNvSpPr txBox="1"/>
          <p:nvPr/>
        </p:nvSpPr>
        <p:spPr>
          <a:xfrm>
            <a:off x="3144519" y="5039475"/>
            <a:ext cx="315708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Surgical Procedure</a:t>
            </a: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The patient was positioned in the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lateral decubitus position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under general anesthesia, with the affected limb maintained in adduction.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10 cm longitudinal incision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was made along the axis of the femur, centered over the greater trochanter, extending approximately one-third proximally and two-thirds distally relative to the tip of the greater trochanter.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7EFD6-1D13-7F6C-81F3-19B880A156EC}"/>
              </a:ext>
            </a:extLst>
          </p:cNvPr>
          <p:cNvSpPr txBox="1"/>
          <p:nvPr/>
        </p:nvSpPr>
        <p:spPr>
          <a:xfrm>
            <a:off x="6644640" y="1674794"/>
            <a:ext cx="458216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Intraoperatively, adhesions were identified along the posterior border of the iliotibial band (ITB) and were carefully released.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    Additional longitudinal releases were performed to relieve residual tightness of the ITB.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An </a:t>
            </a:r>
            <a:r>
              <a:rPr lang="en-US" sz="1050" b="1" dirty="0"/>
              <a:t>N-</a:t>
            </a:r>
            <a:r>
              <a:rPr lang="en-US" sz="1050" b="1" dirty="0" err="1"/>
              <a:t>plasty</a:t>
            </a:r>
            <a:r>
              <a:rPr lang="en-US" sz="1050" b="1" dirty="0"/>
              <a:t> of the iliotibial band</a:t>
            </a:r>
            <a:r>
              <a:rPr lang="en-US" sz="1050" dirty="0"/>
              <a:t> was performed, along with excision of the greater trochanteric bursa.</a:t>
            </a:r>
          </a:p>
          <a:p>
            <a:endParaRPr lang="en-US" sz="1200" b="1" dirty="0"/>
          </a:p>
          <a:p>
            <a:r>
              <a:rPr lang="en-US" sz="1200" b="1" dirty="0"/>
              <a:t>OP IMAGES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05C1E26-5CEA-1B41-69BB-25F0D9C4EE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066" y="3017519"/>
            <a:ext cx="1372852" cy="165393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BDFEFA-1CB2-DD5D-44F9-2AC971CA3B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349" y="3030533"/>
            <a:ext cx="1335464" cy="16539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FFEEC8-19CA-0A19-1226-8A448B2536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600" y="3030533"/>
            <a:ext cx="1372852" cy="16675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B5B1DE9-C5F8-75E2-6F9C-CC5B99C0DC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642" y="3030533"/>
            <a:ext cx="1335464" cy="16938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A622E36-EE2E-9067-E8C4-18207C5BC038}"/>
              </a:ext>
            </a:extLst>
          </p:cNvPr>
          <p:cNvSpPr txBox="1"/>
          <p:nvPr/>
        </p:nvSpPr>
        <p:spPr>
          <a:xfrm>
            <a:off x="6323797" y="5255693"/>
            <a:ext cx="58682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External snapping hip syndrome is an important and often under-recognized cause of lateral hip pain. While the majority of cases respond well to conservative management, persistent symptomatic cases require surgical intervention. Iliotibial band release with N-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plasty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combined with greater trochanteric bursectomy effectively relieves snapping, reduces pain, and restores functional hip movement. Early recognition and appropriate stepwise management are essential to achieve optimal clinical outcomes.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258</TotalTime>
  <Words>489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 VENKAT</dc:creator>
  <cp:lastModifiedBy>DOC VENKAT</cp:lastModifiedBy>
  <cp:revision>1</cp:revision>
  <dcterms:created xsi:type="dcterms:W3CDTF">2026-02-15T11:56:20Z</dcterms:created>
  <dcterms:modified xsi:type="dcterms:W3CDTF">2026-02-15T16:24:58Z</dcterms:modified>
</cp:coreProperties>
</file>