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strictFirstAndLastChars="0">
  <p:sldMasterIdLst>
    <p:sldMasterId id="2147483660" r:id="rId1"/>
  </p:sldMasterIdLst>
  <p:notesMasterIdLst>
    <p:notesMasterId r:id="rId2"/>
  </p:notesMasterIdLst>
  <p:sldIdLst>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Lst>
  <p:sldSz type="screen16x9" cy="6858000" cx="12192000"/>
  <p:notesSz cx="6858000" cy="9144000"/>
  <p:defaultTextStyle>
    <a:defPPr lvl="0">
      <a:defRPr lang="en-US"/>
    </a:defPPr>
    <a:lvl1pPr algn="l" defTabSz="914400" eaLnBrk="1" hangingPunct="1" latinLnBrk="0" lvl="0" marL="0" rtl="0">
      <a:defRPr sz="1800" kern="1200">
        <a:solidFill>
          <a:schemeClr val="tx1"/>
        </a:solidFill>
        <a:latin typeface="+mn-lt"/>
        <a:ea typeface="+mn-ea"/>
        <a:cs typeface="+mn-cs"/>
      </a:defRPr>
    </a:lvl1pPr>
    <a:lvl2pPr algn="l" defTabSz="914400" eaLnBrk="1" hangingPunct="1" latinLnBrk="0" lvl="1" marL="457200" rtl="0">
      <a:defRPr sz="1800" kern="1200">
        <a:solidFill>
          <a:schemeClr val="tx1"/>
        </a:solidFill>
        <a:latin typeface="+mn-lt"/>
        <a:ea typeface="+mn-ea"/>
        <a:cs typeface="+mn-cs"/>
      </a:defRPr>
    </a:lvl2pPr>
    <a:lvl3pPr algn="l" defTabSz="914400" eaLnBrk="1" hangingPunct="1" latinLnBrk="0" lvl="2" marL="914400" rtl="0">
      <a:defRPr sz="1800" kern="1200">
        <a:solidFill>
          <a:schemeClr val="tx1"/>
        </a:solidFill>
        <a:latin typeface="+mn-lt"/>
        <a:ea typeface="+mn-ea"/>
        <a:cs typeface="+mn-cs"/>
      </a:defRPr>
    </a:lvl3pPr>
    <a:lvl4pPr algn="l" defTabSz="914400" eaLnBrk="1" hangingPunct="1" latinLnBrk="0" lvl="3" marL="1371600" rtl="0">
      <a:defRPr sz="1800" kern="1200">
        <a:solidFill>
          <a:schemeClr val="tx1"/>
        </a:solidFill>
        <a:latin typeface="+mn-lt"/>
        <a:ea typeface="+mn-ea"/>
        <a:cs typeface="+mn-cs"/>
      </a:defRPr>
    </a:lvl4pPr>
    <a:lvl5pPr algn="l" defTabSz="914400" eaLnBrk="1" hangingPunct="1" latinLnBrk="0" lvl="4" marL="1828800" rtl="0">
      <a:defRPr sz="1800" kern="1200">
        <a:solidFill>
          <a:schemeClr val="tx1"/>
        </a:solidFill>
        <a:latin typeface="+mn-lt"/>
        <a:ea typeface="+mn-ea"/>
        <a:cs typeface="+mn-cs"/>
      </a:defRPr>
    </a:lvl5pPr>
    <a:lvl6pPr algn="l" defTabSz="914400" eaLnBrk="1" hangingPunct="1" latinLnBrk="0" lvl="5" marL="2286000" rtl="0">
      <a:defRPr sz="1800" kern="1200">
        <a:solidFill>
          <a:schemeClr val="tx1"/>
        </a:solidFill>
        <a:latin typeface="+mn-lt"/>
        <a:ea typeface="+mn-ea"/>
        <a:cs typeface="+mn-cs"/>
      </a:defRPr>
    </a:lvl6pPr>
    <a:lvl7pPr algn="l" defTabSz="914400" eaLnBrk="1" hangingPunct="1" latinLnBrk="0" lvl="6" marL="2743200" rtl="0">
      <a:defRPr sz="1800" kern="1200">
        <a:solidFill>
          <a:schemeClr val="tx1"/>
        </a:solidFill>
        <a:latin typeface="+mn-lt"/>
        <a:ea typeface="+mn-ea"/>
        <a:cs typeface="+mn-cs"/>
      </a:defRPr>
    </a:lvl7pPr>
    <a:lvl8pPr algn="l" defTabSz="914400" eaLnBrk="1" hangingPunct="1" latinLnBrk="0" lvl="7" marL="3200400" rtl="0">
      <a:defRPr sz="1800" kern="1200">
        <a:solidFill>
          <a:schemeClr val="tx1"/>
        </a:solidFill>
        <a:latin typeface="+mn-lt"/>
        <a:ea typeface="+mn-ea"/>
        <a:cs typeface="+mn-cs"/>
      </a:defRPr>
    </a:lvl8pPr>
    <a:lvl9pPr algn="l" defTabSz="914400" eaLnBrk="1" hangingPunct="1" latinLnBrk="0" lvl="8"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74" d="100"/>
          <a:sy n="74" d="100"/>
        </p:scale>
        <p:origin x="1013" y="67"/>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tableStyles" Target="tableStyle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63" name=""/>
        <p:cNvGrpSpPr/>
        <p:nvPr/>
      </p:nvGrpSpPr>
      <p:grpSpPr>
        <a:xfrm>
          <a:off x="0" y="0"/>
          <a:ext cx="0" cy="0"/>
          <a:chOff x="0" y="0"/>
          <a:chExt cx="0" cy="0"/>
        </a:xfrm>
      </p:grpSpPr>
      <p:sp>
        <p:nvSpPr>
          <p:cNvPr id="1048659"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0"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1"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2"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3"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4"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a:prstGeom prst="rect"/>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a:prstGeom prst="rect"/>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584" name="Footer Placeholder 4"/>
          <p:cNvSpPr>
            <a:spLocks noGrp="1"/>
          </p:cNvSpPr>
          <p:nvPr>
            <p:ph type="ftr" sz="quarter" idx="11"/>
          </p:nvPr>
        </p:nvSpPr>
        <p:spPr>
          <a:xfrm>
            <a:off x="4038600" y="6356350"/>
            <a:ext cx="4114800" cy="365125"/>
          </a:xfrm>
          <a:prstGeom prst="rect"/>
        </p:spPr>
        <p:txBody>
          <a:bodyPr/>
          <a:p>
            <a:endParaRPr lang="en-US"/>
          </a:p>
        </p:txBody>
      </p:sp>
      <p:sp>
        <p:nvSpPr>
          <p:cNvPr id="104858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5" name=""/>
        <p:cNvGrpSpPr/>
        <p:nvPr/>
      </p:nvGrpSpPr>
      <p:grpSpPr>
        <a:xfrm>
          <a:off x="0" y="0"/>
          <a:ext cx="0" cy="0"/>
          <a:chOff x="0" y="0"/>
          <a:chExt cx="0" cy="0"/>
        </a:xfrm>
      </p:grpSpPr>
      <p:sp>
        <p:nvSpPr>
          <p:cNvPr id="1048589"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590" name="Content Placeholder 2"/>
          <p:cNvSpPr>
            <a:spLocks noGrp="1"/>
          </p:cNvSpPr>
          <p:nvPr>
            <p:ph idx="1"/>
          </p:nvPr>
        </p:nvSpPr>
        <p:spPr>
          <a:xfrm>
            <a:off x="838200" y="1825625"/>
            <a:ext cx="10515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1"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592" name="Footer Placeholder 4"/>
          <p:cNvSpPr>
            <a:spLocks noGrp="1"/>
          </p:cNvSpPr>
          <p:nvPr>
            <p:ph type="ftr" sz="quarter" idx="11"/>
          </p:nvPr>
        </p:nvSpPr>
        <p:spPr>
          <a:xfrm>
            <a:off x="4038600" y="6356350"/>
            <a:ext cx="4114800" cy="365125"/>
          </a:xfrm>
          <a:prstGeom prst="rect"/>
        </p:spPr>
        <p:txBody>
          <a:bodyPr/>
          <a:p>
            <a:endParaRPr lang="en-US"/>
          </a:p>
        </p:txBody>
      </p:sp>
      <p:sp>
        <p:nvSpPr>
          <p:cNvPr id="1048593"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57" name=""/>
        <p:cNvGrpSpPr/>
        <p:nvPr/>
      </p:nvGrpSpPr>
      <p:grpSpPr>
        <a:xfrm>
          <a:off x="0" y="0"/>
          <a:ext cx="0" cy="0"/>
          <a:chOff x="0" y="0"/>
          <a:chExt cx="0" cy="0"/>
        </a:xfrm>
      </p:grpSpPr>
      <p:sp>
        <p:nvSpPr>
          <p:cNvPr id="1048631" name="Title 1"/>
          <p:cNvSpPr>
            <a:spLocks noGrp="1"/>
          </p:cNvSpPr>
          <p:nvPr>
            <p:ph type="title"/>
          </p:nvPr>
        </p:nvSpPr>
        <p:spPr>
          <a:xfrm>
            <a:off x="831850" y="1709738"/>
            <a:ext cx="10515600" cy="2852737"/>
          </a:xfrm>
          <a:prstGeom prst="rect"/>
        </p:spPr>
        <p:txBody>
          <a:bodyPr anchor="b"/>
          <a:lstStyle>
            <a:lvl1pPr>
              <a:defRPr sz="6000"/>
            </a:lvl1pPr>
          </a:lstStyle>
          <a:p>
            <a:r>
              <a:rPr lang="en-US"/>
              <a:t>Click to edit Master title style</a:t>
            </a:r>
          </a:p>
        </p:txBody>
      </p:sp>
      <p:sp>
        <p:nvSpPr>
          <p:cNvPr id="1048632" name="Text Placeholder 2"/>
          <p:cNvSpPr>
            <a:spLocks noGrp="1"/>
          </p:cNvSpPr>
          <p:nvPr>
            <p:ph type="body" idx="1"/>
          </p:nvPr>
        </p:nvSpPr>
        <p:spPr>
          <a:xfrm>
            <a:off x="831850" y="4589463"/>
            <a:ext cx="10515600" cy="1500187"/>
          </a:xfrm>
          <a:prstGeom prst="rect"/>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63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34" name="Footer Placeholder 4"/>
          <p:cNvSpPr>
            <a:spLocks noGrp="1"/>
          </p:cNvSpPr>
          <p:nvPr>
            <p:ph type="ftr" sz="quarter" idx="11"/>
          </p:nvPr>
        </p:nvSpPr>
        <p:spPr>
          <a:xfrm>
            <a:off x="4038600" y="6356350"/>
            <a:ext cx="4114800" cy="365125"/>
          </a:xfrm>
          <a:prstGeom prst="rect"/>
        </p:spPr>
        <p:txBody>
          <a:bodyPr/>
          <a:p>
            <a:endParaRPr lang="en-US"/>
          </a:p>
        </p:txBody>
      </p:sp>
      <p:sp>
        <p:nvSpPr>
          <p:cNvPr id="104863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58" name=""/>
        <p:cNvGrpSpPr/>
        <p:nvPr/>
      </p:nvGrpSpPr>
      <p:grpSpPr>
        <a:xfrm>
          <a:off x="0" y="0"/>
          <a:ext cx="0" cy="0"/>
          <a:chOff x="0" y="0"/>
          <a:chExt cx="0" cy="0"/>
        </a:xfrm>
      </p:grpSpPr>
      <p:sp>
        <p:nvSpPr>
          <p:cNvPr id="1048636"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37" name="Content Placeholder 2"/>
          <p:cNvSpPr>
            <a:spLocks noGrp="1"/>
          </p:cNvSpPr>
          <p:nvPr>
            <p:ph sz="half" idx="1"/>
          </p:nvPr>
        </p:nvSpPr>
        <p:spPr>
          <a:xfrm>
            <a:off x="838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8" name="Content Placeholder 3"/>
          <p:cNvSpPr>
            <a:spLocks noGrp="1"/>
          </p:cNvSpPr>
          <p:nvPr>
            <p:ph sz="half" idx="2"/>
          </p:nvPr>
        </p:nvSpPr>
        <p:spPr>
          <a:xfrm>
            <a:off x="6172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9"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40" name="Footer Placeholder 5"/>
          <p:cNvSpPr>
            <a:spLocks noGrp="1"/>
          </p:cNvSpPr>
          <p:nvPr>
            <p:ph type="ftr" sz="quarter" idx="11"/>
          </p:nvPr>
        </p:nvSpPr>
        <p:spPr>
          <a:xfrm>
            <a:off x="4038600" y="6356350"/>
            <a:ext cx="4114800" cy="365125"/>
          </a:xfrm>
          <a:prstGeom prst="rect"/>
        </p:spPr>
        <p:txBody>
          <a:bodyPr/>
          <a:p>
            <a:endParaRPr lang="en-US"/>
          </a:p>
        </p:txBody>
      </p:sp>
      <p:sp>
        <p:nvSpPr>
          <p:cNvPr id="1048641"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59" name=""/>
        <p:cNvGrpSpPr/>
        <p:nvPr/>
      </p:nvGrpSpPr>
      <p:grpSpPr>
        <a:xfrm>
          <a:off x="0" y="0"/>
          <a:ext cx="0" cy="0"/>
          <a:chOff x="0" y="0"/>
          <a:chExt cx="0" cy="0"/>
        </a:xfrm>
      </p:grpSpPr>
      <p:sp>
        <p:nvSpPr>
          <p:cNvPr id="1048642" name="Title 1"/>
          <p:cNvSpPr>
            <a:spLocks noGrp="1"/>
          </p:cNvSpPr>
          <p:nvPr>
            <p:ph type="title"/>
          </p:nvPr>
        </p:nvSpPr>
        <p:spPr>
          <a:xfrm>
            <a:off x="839788" y="365125"/>
            <a:ext cx="10515600" cy="1325563"/>
          </a:xfrm>
          <a:prstGeom prst="rect"/>
        </p:spPr>
        <p:txBody>
          <a:bodyPr/>
          <a:p>
            <a:r>
              <a:rPr lang="en-US"/>
              <a:t>Click to edit Master title style</a:t>
            </a:r>
          </a:p>
        </p:txBody>
      </p:sp>
      <p:sp>
        <p:nvSpPr>
          <p:cNvPr id="1048643" name="Text Placeholder 2"/>
          <p:cNvSpPr>
            <a:spLocks noGrp="1"/>
          </p:cNvSpPr>
          <p:nvPr>
            <p:ph type="body" idx="1"/>
          </p:nvPr>
        </p:nvSpPr>
        <p:spPr>
          <a:xfrm>
            <a:off x="839788" y="1681163"/>
            <a:ext cx="5157787"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4" name="Content Placeholder 3"/>
          <p:cNvSpPr>
            <a:spLocks noGrp="1"/>
          </p:cNvSpPr>
          <p:nvPr>
            <p:ph sz="half" idx="2"/>
          </p:nvPr>
        </p:nvSpPr>
        <p:spPr>
          <a:xfrm>
            <a:off x="839788" y="2505075"/>
            <a:ext cx="5157787"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5" name="Text Placeholder 4"/>
          <p:cNvSpPr>
            <a:spLocks noGrp="1"/>
          </p:cNvSpPr>
          <p:nvPr>
            <p:ph type="body" sz="quarter" idx="3"/>
          </p:nvPr>
        </p:nvSpPr>
        <p:spPr>
          <a:xfrm>
            <a:off x="6172200" y="1681163"/>
            <a:ext cx="5183188"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6" name="Content Placeholder 5"/>
          <p:cNvSpPr>
            <a:spLocks noGrp="1"/>
          </p:cNvSpPr>
          <p:nvPr>
            <p:ph sz="quarter" idx="4"/>
          </p:nvPr>
        </p:nvSpPr>
        <p:spPr>
          <a:xfrm>
            <a:off x="6172200" y="2505075"/>
            <a:ext cx="5183188"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7" name="Date Placeholder 6"/>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48" name="Footer Placeholder 7"/>
          <p:cNvSpPr>
            <a:spLocks noGrp="1"/>
          </p:cNvSpPr>
          <p:nvPr>
            <p:ph type="ftr" sz="quarter" idx="11"/>
          </p:nvPr>
        </p:nvSpPr>
        <p:spPr>
          <a:xfrm>
            <a:off x="4038600" y="6356350"/>
            <a:ext cx="4114800" cy="365125"/>
          </a:xfrm>
          <a:prstGeom prst="rect"/>
        </p:spPr>
        <p:txBody>
          <a:bodyPr/>
          <a:p>
            <a:endParaRPr lang="en-US"/>
          </a:p>
        </p:txBody>
      </p:sp>
      <p:sp>
        <p:nvSpPr>
          <p:cNvPr id="1048649" name="Slide Number Placeholder 8"/>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3" name=""/>
        <p:cNvGrpSpPr/>
        <p:nvPr/>
      </p:nvGrpSpPr>
      <p:grpSpPr>
        <a:xfrm>
          <a:off x="0" y="0"/>
          <a:ext cx="0" cy="0"/>
          <a:chOff x="0" y="0"/>
          <a:chExt cx="0" cy="0"/>
        </a:xfrm>
      </p:grpSpPr>
      <p:sp>
        <p:nvSpPr>
          <p:cNvPr id="1048611"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12" name="Date Placeholder 2"/>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13" name="Footer Placeholder 3"/>
          <p:cNvSpPr>
            <a:spLocks noGrp="1"/>
          </p:cNvSpPr>
          <p:nvPr>
            <p:ph type="ftr" sz="quarter" idx="11"/>
          </p:nvPr>
        </p:nvSpPr>
        <p:spPr>
          <a:xfrm>
            <a:off x="4038600" y="6356350"/>
            <a:ext cx="4114800" cy="365125"/>
          </a:xfrm>
          <a:prstGeom prst="rect"/>
        </p:spPr>
        <p:txBody>
          <a:bodyPr/>
          <a:p>
            <a:endParaRPr lang="en-US"/>
          </a:p>
        </p:txBody>
      </p:sp>
      <p:sp>
        <p:nvSpPr>
          <p:cNvPr id="1048614" name="Slide Number Placeholder 4"/>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0" name=""/>
        <p:cNvGrpSpPr/>
        <p:nvPr/>
      </p:nvGrpSpPr>
      <p:grpSpPr>
        <a:xfrm>
          <a:off x="0" y="0"/>
          <a:ext cx="0" cy="0"/>
          <a:chOff x="0" y="0"/>
          <a:chExt cx="0" cy="0"/>
        </a:xfrm>
      </p:grpSpPr>
      <p:sp>
        <p:nvSpPr>
          <p:cNvPr id="1048650" name="Date Placeholder 1"/>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51" name="Footer Placeholder 2"/>
          <p:cNvSpPr>
            <a:spLocks noGrp="1"/>
          </p:cNvSpPr>
          <p:nvPr>
            <p:ph type="ftr" sz="quarter" idx="11"/>
          </p:nvPr>
        </p:nvSpPr>
        <p:spPr>
          <a:xfrm>
            <a:off x="4038600" y="6356350"/>
            <a:ext cx="4114800" cy="365125"/>
          </a:xfrm>
          <a:prstGeom prst="rect"/>
        </p:spPr>
        <p:txBody>
          <a:bodyPr/>
          <a:p>
            <a:endParaRPr lang="en-US"/>
          </a:p>
        </p:txBody>
      </p:sp>
      <p:sp>
        <p:nvSpPr>
          <p:cNvPr id="1048652" name="Slide Number Placeholder 3"/>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1" name=""/>
        <p:cNvGrpSpPr/>
        <p:nvPr/>
      </p:nvGrpSpPr>
      <p:grpSpPr>
        <a:xfrm>
          <a:off x="0" y="0"/>
          <a:ext cx="0" cy="0"/>
          <a:chOff x="0" y="0"/>
          <a:chExt cx="0" cy="0"/>
        </a:xfrm>
      </p:grpSpPr>
      <p:sp>
        <p:nvSpPr>
          <p:cNvPr id="1048653"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54" name="Content Placeholder 2"/>
          <p:cNvSpPr>
            <a:spLocks noGrp="1"/>
          </p:cNvSpPr>
          <p:nvPr>
            <p:ph idx="1"/>
          </p:nvPr>
        </p:nvSpPr>
        <p:spPr>
          <a:xfrm>
            <a:off x="5183188" y="987425"/>
            <a:ext cx="6172200" cy="4873625"/>
          </a:xfrm>
          <a:prstGeom prst="rect"/>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5"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56"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57" name="Footer Placeholder 5"/>
          <p:cNvSpPr>
            <a:spLocks noGrp="1"/>
          </p:cNvSpPr>
          <p:nvPr>
            <p:ph type="ftr" sz="quarter" idx="11"/>
          </p:nvPr>
        </p:nvSpPr>
        <p:spPr>
          <a:xfrm>
            <a:off x="4038600" y="6356350"/>
            <a:ext cx="4114800" cy="365125"/>
          </a:xfrm>
          <a:prstGeom prst="rect"/>
        </p:spPr>
        <p:txBody>
          <a:bodyPr/>
          <a:p>
            <a:endParaRPr lang="en-US"/>
          </a:p>
        </p:txBody>
      </p:sp>
      <p:sp>
        <p:nvSpPr>
          <p:cNvPr id="1048658"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55" name=""/>
        <p:cNvGrpSpPr/>
        <p:nvPr/>
      </p:nvGrpSpPr>
      <p:grpSpPr>
        <a:xfrm>
          <a:off x="0" y="0"/>
          <a:ext cx="0" cy="0"/>
          <a:chOff x="0" y="0"/>
          <a:chExt cx="0" cy="0"/>
        </a:xfrm>
      </p:grpSpPr>
      <p:sp>
        <p:nvSpPr>
          <p:cNvPr id="1048620"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21" name="Picture Placeholder 2"/>
          <p:cNvSpPr>
            <a:spLocks noGrp="1"/>
          </p:cNvSpPr>
          <p:nvPr>
            <p:ph type="pic" idx="1"/>
          </p:nvPr>
        </p:nvSpPr>
        <p:spPr>
          <a:xfrm>
            <a:off x="5183188" y="987425"/>
            <a:ext cx="6172200" cy="4873625"/>
          </a:xfrm>
          <a:prstGeom prst="rect"/>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22"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23"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24" name="Footer Placeholder 5"/>
          <p:cNvSpPr>
            <a:spLocks noGrp="1"/>
          </p:cNvSpPr>
          <p:nvPr>
            <p:ph type="ftr" sz="quarter" idx="11"/>
          </p:nvPr>
        </p:nvSpPr>
        <p:spPr>
          <a:xfrm>
            <a:off x="4038600" y="6356350"/>
            <a:ext cx="4114800" cy="365125"/>
          </a:xfrm>
          <a:prstGeom prst="rect"/>
        </p:spPr>
        <p:txBody>
          <a:bodyPr/>
          <a:p>
            <a:endParaRPr lang="en-US"/>
          </a:p>
        </p:txBody>
      </p:sp>
      <p:sp>
        <p:nvSpPr>
          <p:cNvPr id="1048625"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56" name=""/>
        <p:cNvGrpSpPr/>
        <p:nvPr/>
      </p:nvGrpSpPr>
      <p:grpSpPr>
        <a:xfrm>
          <a:off x="0" y="0"/>
          <a:ext cx="0" cy="0"/>
          <a:chOff x="0" y="0"/>
          <a:chExt cx="0" cy="0"/>
        </a:xfrm>
      </p:grpSpPr>
      <p:sp>
        <p:nvSpPr>
          <p:cNvPr id="1048626"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27" name="Vertical Text Placeholder 2"/>
          <p:cNvSpPr>
            <a:spLocks noGrp="1"/>
          </p:cNvSpPr>
          <p:nvPr>
            <p:ph type="body" orient="vert" idx="1"/>
          </p:nvPr>
        </p:nvSpPr>
        <p:spPr>
          <a:xfrm>
            <a:off x="838200" y="1825625"/>
            <a:ext cx="10515600" cy="43513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8"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29" name="Footer Placeholder 4"/>
          <p:cNvSpPr>
            <a:spLocks noGrp="1"/>
          </p:cNvSpPr>
          <p:nvPr>
            <p:ph type="ftr" sz="quarter" idx="11"/>
          </p:nvPr>
        </p:nvSpPr>
        <p:spPr>
          <a:xfrm>
            <a:off x="4038600" y="6356350"/>
            <a:ext cx="4114800" cy="365125"/>
          </a:xfrm>
          <a:prstGeom prst="rect"/>
        </p:spPr>
        <p:txBody>
          <a:bodyPr/>
          <a:p>
            <a:endParaRPr lang="en-US"/>
          </a:p>
        </p:txBody>
      </p:sp>
      <p:sp>
        <p:nvSpPr>
          <p:cNvPr id="1048630"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4" name=""/>
        <p:cNvGrpSpPr/>
        <p:nvPr/>
      </p:nvGrpSpPr>
      <p:grpSpPr>
        <a:xfrm>
          <a:off x="0" y="0"/>
          <a:ext cx="0" cy="0"/>
          <a:chOff x="0" y="0"/>
          <a:chExt cx="0" cy="0"/>
        </a:xfrm>
      </p:grpSpPr>
      <p:sp>
        <p:nvSpPr>
          <p:cNvPr id="1048615" name="Vertical Title 1"/>
          <p:cNvSpPr>
            <a:spLocks noGrp="1"/>
          </p:cNvSpPr>
          <p:nvPr>
            <p:ph type="title" orient="vert"/>
          </p:nvPr>
        </p:nvSpPr>
        <p:spPr>
          <a:xfrm>
            <a:off x="8724900" y="365125"/>
            <a:ext cx="2628900" cy="5811838"/>
          </a:xfrm>
          <a:prstGeom prst="rect"/>
        </p:spPr>
        <p:txBody>
          <a:bodyPr vert="eaVert"/>
          <a:p>
            <a:r>
              <a:rPr lang="en-US"/>
              <a:t>Click to edit Master title style</a:t>
            </a:r>
          </a:p>
        </p:txBody>
      </p:sp>
      <p:sp>
        <p:nvSpPr>
          <p:cNvPr id="1048616" name="Vertical Text Placeholder 2"/>
          <p:cNvSpPr>
            <a:spLocks noGrp="1"/>
          </p:cNvSpPr>
          <p:nvPr>
            <p:ph type="body" orient="vert" idx="1"/>
          </p:nvPr>
        </p:nvSpPr>
        <p:spPr>
          <a:xfrm>
            <a:off x="838200" y="365125"/>
            <a:ext cx="7734300" cy="58118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7"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2/16/2026</a:t>
            </a:fld>
            <a:endParaRPr lang="en-US"/>
          </a:p>
        </p:txBody>
      </p:sp>
      <p:sp>
        <p:nvSpPr>
          <p:cNvPr id="1048618" name="Footer Placeholder 4"/>
          <p:cNvSpPr>
            <a:spLocks noGrp="1"/>
          </p:cNvSpPr>
          <p:nvPr>
            <p:ph type="ftr" sz="quarter" idx="11"/>
          </p:nvPr>
        </p:nvSpPr>
        <p:spPr>
          <a:xfrm>
            <a:off x="4038600" y="6356350"/>
            <a:ext cx="4114800" cy="365125"/>
          </a:xfrm>
          <a:prstGeom prst="rect"/>
        </p:spPr>
        <p:txBody>
          <a:bodyPr/>
          <a:p>
            <a:endParaRPr lang="en-US"/>
          </a:p>
        </p:txBody>
      </p:sp>
      <p:sp>
        <p:nvSpPr>
          <p:cNvPr id="1048619"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Rectangle 1"/>
          <p:cNvSpPr/>
          <p:nvPr userDrawn="1"/>
        </p:nvSpPr>
        <p:spPr>
          <a:xfrm>
            <a:off x="0" y="0"/>
            <a:ext cx="12191998" cy="1280156"/>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US"/>
          </a:p>
        </p:txBody>
      </p:sp>
      <p:pic>
        <p:nvPicPr>
          <p:cNvPr id="2097152" name="Picture 14"/>
          <p:cNvPicPr>
            <a:picLocks noChangeAspect="1"/>
          </p:cNvPicPr>
          <p:nvPr userDrawn="1"/>
        </p:nvPicPr>
        <p:blipFill>
          <a:blip xmlns:r="http://schemas.openxmlformats.org/officeDocument/2006/relationships" r:embed="rId12"/>
          <a:stretch>
            <a:fillRect/>
          </a:stretch>
        </p:blipFill>
        <p:spPr>
          <a:xfrm>
            <a:off x="9006884" y="74822"/>
            <a:ext cx="1043154" cy="1043154"/>
          </a:xfrm>
          <a:prstGeom prst="rect"/>
        </p:spPr>
      </p:pic>
      <p:pic>
        <p:nvPicPr>
          <p:cNvPr id="2097153" name="Picture 15"/>
          <p:cNvPicPr>
            <a:picLocks noChangeAspect="1"/>
          </p:cNvPicPr>
          <p:nvPr userDrawn="1"/>
        </p:nvPicPr>
        <p:blipFill>
          <a:blip xmlns:r="http://schemas.openxmlformats.org/officeDocument/2006/relationships" r:embed="rId13"/>
          <a:stretch>
            <a:fillRect/>
          </a:stretch>
        </p:blipFill>
        <p:spPr>
          <a:xfrm>
            <a:off x="10947316" y="123390"/>
            <a:ext cx="884047" cy="884047"/>
          </a:xfrm>
          <a:prstGeom prst="rect"/>
        </p:spPr>
      </p:pic>
      <p:pic>
        <p:nvPicPr>
          <p:cNvPr id="2097154" name="Picture 16"/>
          <p:cNvPicPr>
            <a:picLocks noChangeAspect="1"/>
          </p:cNvPicPr>
          <p:nvPr userDrawn="1"/>
        </p:nvPicPr>
        <p:blipFill>
          <a:blip xmlns:r="http://schemas.openxmlformats.org/officeDocument/2006/relationships" r:embed="rId14"/>
          <a:stretch>
            <a:fillRect/>
          </a:stretch>
        </p:blipFill>
        <p:spPr>
          <a:xfrm>
            <a:off x="10127893" y="192303"/>
            <a:ext cx="785940" cy="785940"/>
          </a:xfrm>
          <a:prstGeom prst="rect"/>
        </p:spPr>
      </p:pic>
      <p:sp>
        <p:nvSpPr>
          <p:cNvPr id="1048577" name="TextBox 17"/>
          <p:cNvSpPr txBox="1"/>
          <p:nvPr userDrawn="1"/>
        </p:nvSpPr>
        <p:spPr>
          <a:xfrm>
            <a:off x="2575249" y="27424"/>
            <a:ext cx="5998348" cy="646331"/>
          </a:xfrm>
          <a:prstGeom prst="rect"/>
          <a:noFill/>
        </p:spPr>
        <p:txBody>
          <a:bodyPr rtlCol="0" wrap="square">
            <a:spAutoFit/>
          </a:bodyPr>
          <a:p>
            <a:r>
              <a:rPr b="1" dirty="0" lang="en-US">
                <a:solidFill>
                  <a:schemeClr val="bg1"/>
                </a:solidFill>
                <a:latin typeface="Gordita "/>
              </a:rPr>
              <a:t>55</a:t>
            </a:r>
            <a:r>
              <a:rPr baseline="30000" b="1" dirty="0" lang="en-US">
                <a:solidFill>
                  <a:schemeClr val="bg1"/>
                </a:solidFill>
                <a:latin typeface="Gordita "/>
              </a:rPr>
              <a:t>th</a:t>
            </a:r>
            <a:r>
              <a:rPr b="1" dirty="0" lang="en-US">
                <a:solidFill>
                  <a:schemeClr val="bg1"/>
                </a:solidFill>
                <a:latin typeface="Gordita "/>
              </a:rPr>
              <a:t>   Annual Conference of </a:t>
            </a:r>
          </a:p>
          <a:p>
            <a:r>
              <a:rPr b="1" dirty="0" lang="en-US">
                <a:solidFill>
                  <a:schemeClr val="bg1"/>
                </a:solidFill>
                <a:latin typeface="Gordita "/>
              </a:rPr>
              <a:t>Orthopedic Surgeon Society of Andhra Pradesh</a:t>
            </a:r>
          </a:p>
        </p:txBody>
      </p:sp>
      <p:sp>
        <p:nvSpPr>
          <p:cNvPr id="1048578" name="TextBox 18"/>
          <p:cNvSpPr txBox="1"/>
          <p:nvPr userDrawn="1"/>
        </p:nvSpPr>
        <p:spPr>
          <a:xfrm>
            <a:off x="2601218" y="653897"/>
            <a:ext cx="6307494" cy="276999"/>
          </a:xfrm>
          <a:prstGeom prst="rect"/>
          <a:noFill/>
        </p:spPr>
        <p:txBody>
          <a:bodyPr rtlCol="0" wrap="square">
            <a:spAutoFit/>
          </a:bodyPr>
          <a:p>
            <a:r>
              <a:rPr b="1" dirty="0" sz="1200" lang="en-US">
                <a:solidFill>
                  <a:schemeClr val="bg1"/>
                </a:solidFill>
                <a:latin typeface="Gordita "/>
              </a:rPr>
              <a:t>Date 6 – 8 February,2026, Venue : Kurnool Medical College</a:t>
            </a:r>
          </a:p>
        </p:txBody>
      </p:sp>
      <p:sp>
        <p:nvSpPr>
          <p:cNvPr id="1048579" name="TextBox 19"/>
          <p:cNvSpPr txBox="1"/>
          <p:nvPr userDrawn="1"/>
        </p:nvSpPr>
        <p:spPr>
          <a:xfrm>
            <a:off x="2575249" y="913340"/>
            <a:ext cx="7114032" cy="276999"/>
          </a:xfrm>
          <a:prstGeom prst="rect"/>
          <a:noFill/>
        </p:spPr>
        <p:txBody>
          <a:bodyPr rtlCol="0" wrap="square">
            <a:spAutoFit/>
          </a:bodyPr>
          <a:p>
            <a:r>
              <a:rPr b="1" dirty="0" sz="1200" lang="en-US">
                <a:solidFill>
                  <a:schemeClr val="bg1"/>
                </a:solidFill>
                <a:latin typeface="Gordita "/>
              </a:rPr>
              <a:t>Organized by : Department of </a:t>
            </a:r>
            <a:r>
              <a:rPr b="1" dirty="0" sz="1200" lang="en-US" err="1">
                <a:solidFill>
                  <a:schemeClr val="bg1"/>
                </a:solidFill>
                <a:latin typeface="Gordita "/>
              </a:rPr>
              <a:t>Orthopaedics</a:t>
            </a:r>
            <a:r>
              <a:rPr b="1" dirty="0" sz="1200" lang="en-US">
                <a:solidFill>
                  <a:schemeClr val="bg1"/>
                </a:solidFill>
                <a:latin typeface="Gordita "/>
              </a:rPr>
              <a:t>, Kurnool Medical College Kurnool</a:t>
            </a:r>
          </a:p>
        </p:txBody>
      </p:sp>
      <p:sp>
        <p:nvSpPr>
          <p:cNvPr id="1048580" name="Freeform 13"/>
          <p:cNvSpPr/>
          <p:nvPr userDrawn="1"/>
        </p:nvSpPr>
        <p:spPr>
          <a:xfrm>
            <a:off x="560814" y="14255"/>
            <a:ext cx="1505561" cy="1280157"/>
          </a:xfrm>
          <a:custGeom>
            <a:avLst/>
            <a:ahLst/>
            <a:rect l="l" t="t" r="r" b="b"/>
            <a:pathLst>
              <a:path w="2254612" h="1957865">
                <a:moveTo>
                  <a:pt x="0" y="0"/>
                </a:moveTo>
                <a:lnTo>
                  <a:pt x="2254612" y="0"/>
                </a:lnTo>
                <a:lnTo>
                  <a:pt x="2254612" y="1957865"/>
                </a:lnTo>
                <a:lnTo>
                  <a:pt x="0" y="1957865"/>
                </a:lnTo>
                <a:lnTo>
                  <a:pt x="0" y="0"/>
                </a:lnTo>
                <a:close/>
              </a:path>
            </a:pathLst>
          </a:custGeom>
          <a:blipFill>
            <a:blip xmlns:r="http://schemas.openxmlformats.org/officeDocument/2006/relationships" r:embed="rId15"/>
            <a:stretch>
              <a:fillRect t="-9937" r="-4895" b="-10857"/>
            </a:stretch>
          </a:blipFill>
        </p:spPr>
        <p:txBody>
          <a:bodyPr/>
          <a:p>
            <a:endParaRPr lang="en-US"/>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ctrTitle"/>
          </p:nvPr>
        </p:nvSpPr>
        <p:spPr>
          <a:xfrm>
            <a:off x="1524000" y="1514169"/>
            <a:ext cx="9144000" cy="1052050"/>
          </a:xfrm>
        </p:spPr>
        <p:txBody>
          <a:bodyPr/>
          <a:p>
            <a:r>
              <a:rPr dirty="0" sz="3600" lang="en-IN"/>
              <a:t>PIGMENTED VILLONODULAR SYNOVITIS KNEE</a:t>
            </a:r>
          </a:p>
        </p:txBody>
      </p:sp>
      <p:sp>
        <p:nvSpPr>
          <p:cNvPr id="1048587" name="Subtitle 2"/>
          <p:cNvSpPr>
            <a:spLocks noGrp="1"/>
          </p:cNvSpPr>
          <p:nvPr>
            <p:ph type="subTitle" idx="1"/>
          </p:nvPr>
        </p:nvSpPr>
        <p:spPr>
          <a:xfrm>
            <a:off x="1524000" y="3602037"/>
            <a:ext cx="9144000" cy="2159665"/>
          </a:xfrm>
        </p:spPr>
        <p:txBody>
          <a:bodyPr/>
          <a:p>
            <a:r>
              <a:rPr dirty="0" sz="2000" lang="en-IN"/>
              <a:t>PRESENTATOR –DR AGOLU NARASIMHA</a:t>
            </a:r>
          </a:p>
          <a:p>
            <a:r>
              <a:rPr dirty="0" sz="2000" lang="en-IN"/>
              <a:t>      MODERATOR –DR P ANIL BABU MS ORTHO</a:t>
            </a:r>
          </a:p>
          <a:p>
            <a:r>
              <a:rPr dirty="0" sz="2000" lang="en-IN"/>
              <a:t>                                   PROFESSOR AND HOD </a:t>
            </a:r>
          </a:p>
          <a:p>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 </a:t>
            </a:r>
            <a:r>
              <a:rPr altLang="en-IN" dirty="0" sz="2000" lang="en-US"/>
              <a:t>G</a:t>
            </a:r>
            <a:r>
              <a:rPr altLang="en-IN" dirty="0" sz="2000" lang="en-US"/>
              <a:t>G</a:t>
            </a:r>
            <a:r>
              <a:rPr altLang="en-IN" dirty="0" sz="2000" lang="en-US"/>
              <a:t>H</a:t>
            </a:r>
            <a:r>
              <a:rPr altLang="en-IN" dirty="0" sz="2000" lang="en-US"/>
              <a:t>,</a:t>
            </a:r>
            <a:r>
              <a:rPr altLang="en-IN" dirty="0" sz="2000" lang="en-US"/>
              <a:t>G</a:t>
            </a:r>
            <a:r>
              <a:rPr altLang="en-IN" dirty="0" sz="2000" lang="en-US"/>
              <a:t>U</a:t>
            </a:r>
            <a:r>
              <a:rPr altLang="en-IN" dirty="0" sz="2000" lang="en-US"/>
              <a:t>N</a:t>
            </a:r>
            <a:r>
              <a:rPr altLang="en-IN" dirty="0" sz="2000" lang="en-US"/>
              <a:t>T</a:t>
            </a:r>
            <a:r>
              <a:rPr altLang="en-IN" dirty="0" sz="2000" lang="en-US"/>
              <a:t>U</a:t>
            </a:r>
            <a:r>
              <a:rPr altLang="en-IN" dirty="0" sz="2000" lang="en-US"/>
              <a:t>R</a:t>
            </a:r>
            <a:r>
              <a:rPr altLang="en-IN" dirty="0" sz="2000" lang="en-US"/>
              <a:t>.</a:t>
            </a:r>
            <a:endParaRPr altLang="en-US" lang="zh-CN"/>
          </a:p>
          <a:p>
            <a:r>
              <a:rPr dirty="0" sz="2000" lang="en-IN"/>
              <a:t>                               </a:t>
            </a:r>
          </a:p>
          <a:p>
            <a:endParaRPr dirty="0" sz="20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88" name="TextBox 3"/>
          <p:cNvSpPr txBox="1"/>
          <p:nvPr/>
        </p:nvSpPr>
        <p:spPr>
          <a:xfrm>
            <a:off x="0" y="1278081"/>
            <a:ext cx="12192000" cy="5545379"/>
          </a:xfrm>
          <a:prstGeom prst="rect"/>
          <a:noFill/>
        </p:spPr>
        <p:txBody>
          <a:bodyPr rtlCol="0" wrap="square">
            <a:spAutoFit/>
          </a:bodyPr>
          <a:p>
            <a:pPr marL="12700" marR="81280">
              <a:lnSpc>
                <a:spcPct val="143400"/>
              </a:lnSpc>
              <a:spcBef>
                <a:spcPts val="100"/>
              </a:spcBef>
            </a:pPr>
            <a:r>
              <a:rPr altLang="en-IN" b="1" dirty="0" sz="1600" lang="en-US" spc="55">
                <a:solidFill>
                  <a:srgbClr val="002060"/>
                </a:solidFill>
                <a:latin typeface="Tahoma" panose="020B0604030504040204" pitchFamily="34" charset="0"/>
                <a:ea typeface="Tahoma" panose="020B0604030504040204" pitchFamily="34" charset="0"/>
                <a:cs typeface="Tahoma" panose="020B0604030504040204" pitchFamily="34" charset="0"/>
              </a:rPr>
              <a:t>Purpose</a:t>
            </a:r>
            <a:r>
              <a:rPr altLang="en-IN"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Pigmented</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villonodular</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synovitis</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also</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known</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as</a:t>
            </a:r>
            <a:r>
              <a:rPr dirty="0" sz="1600" lang="en-US" spc="25">
                <a:latin typeface="Tahoma" panose="020B0604030504040204" pitchFamily="34" charset="0"/>
                <a:ea typeface="Tahoma" panose="020B0604030504040204" pitchFamily="34" charset="0"/>
                <a:cs typeface="Tahoma" panose="020B0604030504040204" pitchFamily="34" charset="0"/>
              </a:rPr>
              <a:t> </a:t>
            </a:r>
            <a:r>
              <a:rPr b="1" dirty="0" sz="1600" lang="en-US" spc="10" err="1">
                <a:latin typeface="Tahoma" panose="020B0604030504040204" pitchFamily="34" charset="0"/>
                <a:ea typeface="Tahoma" panose="020B0604030504040204" pitchFamily="34" charset="0"/>
                <a:cs typeface="Tahoma" panose="020B0604030504040204" pitchFamily="34" charset="0"/>
              </a:rPr>
              <a:t>tenosynovial</a:t>
            </a:r>
            <a:r>
              <a:rPr b="1" dirty="0" sz="1600" lang="en-US" spc="3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giant </a:t>
            </a:r>
            <a:r>
              <a:rPr b="1" dirty="0" sz="1600" lang="en-US" spc="10">
                <a:latin typeface="Tahoma" panose="020B0604030504040204" pitchFamily="34" charset="0"/>
                <a:ea typeface="Tahoma" panose="020B0604030504040204" pitchFamily="34" charset="0"/>
                <a:cs typeface="Tahoma" panose="020B0604030504040204" pitchFamily="34" charset="0"/>
              </a:rPr>
              <a:t>cell</a:t>
            </a:r>
            <a:r>
              <a:rPr b="1" dirty="0" sz="1600" lang="en-US" spc="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tumor</a:t>
            </a:r>
            <a:r>
              <a:rPr dirty="0" sz="1600" lang="en-US" spc="10">
                <a:latin typeface="Tahoma" panose="020B0604030504040204" pitchFamily="34" charset="0"/>
                <a:ea typeface="Tahoma" panose="020B0604030504040204" pitchFamily="34" charset="0"/>
                <a:cs typeface="Tahoma" panose="020B0604030504040204" pitchFamily="34" charset="0"/>
              </a:rPr>
              <a:t>,</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is</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rare</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proliferative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disorder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synovial </a:t>
            </a:r>
            <a:r>
              <a:rPr dirty="0" sz="1600" lang="en-US" spc="50">
                <a:latin typeface="Tahoma" panose="020B0604030504040204" pitchFamily="34" charset="0"/>
                <a:ea typeface="Tahoma" panose="020B0604030504040204" pitchFamily="34" charset="0"/>
                <a:cs typeface="Tahoma" panose="020B0604030504040204" pitchFamily="34" charset="0"/>
              </a:rPr>
              <a:t>membrane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that </a:t>
            </a:r>
            <a:r>
              <a:rPr dirty="0" sz="1600" lang="en-US">
                <a:latin typeface="Tahoma" panose="020B0604030504040204" pitchFamily="34" charset="0"/>
                <a:ea typeface="Tahoma" panose="020B0604030504040204" pitchFamily="34" charset="0"/>
                <a:cs typeface="Tahoma" panose="020B0604030504040204" pitchFamily="34" charset="0"/>
              </a:rPr>
              <a:t>primarily</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affects</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knee</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Despite</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advances</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imaging</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surgical </a:t>
            </a:r>
            <a:r>
              <a:rPr dirty="0" sz="1600" lang="en-US" spc="10">
                <a:latin typeface="Tahoma" panose="020B0604030504040204" pitchFamily="34" charset="0"/>
                <a:ea typeface="Tahoma" panose="020B0604030504040204" pitchFamily="34" charset="0"/>
                <a:cs typeface="Tahoma" panose="020B0604030504040204" pitchFamily="34" charset="0"/>
              </a:rPr>
              <a:t>techniques,</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diagnosis is</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often</a:t>
            </a:r>
            <a:r>
              <a:rPr dirty="0" sz="1600" lang="en-US" spc="10">
                <a:latin typeface="Tahoma" panose="020B0604030504040204" pitchFamily="34" charset="0"/>
                <a:ea typeface="Tahoma" panose="020B0604030504040204" pitchFamily="34" charset="0"/>
                <a:cs typeface="Tahoma" panose="020B0604030504040204" pitchFamily="34" charset="0"/>
              </a:rPr>
              <a:t> delayed,</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and</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optimal</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treatment</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remains debated.</a:t>
            </a:r>
            <a:endParaRPr dirty="0" sz="1600" lang="en-US">
              <a:latin typeface="Tahoma" panose="020B0604030504040204" pitchFamily="34" charset="0"/>
              <a:ea typeface="Tahoma" panose="020B0604030504040204" pitchFamily="34" charset="0"/>
              <a:cs typeface="Tahoma" panose="020B0604030504040204" pitchFamily="34" charset="0"/>
            </a:endParaRPr>
          </a:p>
          <a:p>
            <a:pPr marL="12700" marR="223520">
              <a:lnSpc>
                <a:spcPct val="143400"/>
              </a:lnSpc>
              <a:spcBef>
                <a:spcPts val="5"/>
              </a:spcBef>
            </a:pPr>
            <a:r>
              <a:rPr altLang="en-IN" b="1" dirty="0" sz="1600" lang="en-US" spc="114" err="1">
                <a:latin typeface="Tahoma" panose="020B0604030504040204" pitchFamily="34" charset="0"/>
                <a:ea typeface="Tahoma" panose="020B0604030504040204" pitchFamily="34" charset="0"/>
                <a:cs typeface="Tahoma" panose="020B0604030504040204" pitchFamily="34" charset="0"/>
              </a:rPr>
              <a:t>Methadology</a:t>
            </a:r>
            <a:r>
              <a:rPr altLang="en-IN" dirty="0" sz="1600" lang="en-US" spc="114">
                <a:latin typeface="Tahoma" panose="020B0604030504040204" pitchFamily="34" charset="0"/>
                <a:ea typeface="Tahoma" panose="020B0604030504040204" pitchFamily="34" charset="0"/>
                <a:cs typeface="Tahoma" panose="020B0604030504040204" pitchFamily="34" charset="0"/>
              </a:rPr>
              <a:t>- Narrative review was conducted according to PRISMA guidelines using PubMed, MEDLINE . Studies reporting on epidemiology, clinical features, imaging, treatment, and outcomes of PVNS were included and study was done in cases coming to </a:t>
            </a:r>
            <a:r>
              <a:rPr altLang="en-IN" dirty="0" sz="1600" lang="en-US" spc="114" err="1">
                <a:latin typeface="Tahoma" panose="020B0604030504040204" pitchFamily="34" charset="0"/>
                <a:ea typeface="Tahoma" panose="020B0604030504040204" pitchFamily="34" charset="0"/>
                <a:cs typeface="Tahoma" panose="020B0604030504040204" pitchFamily="34" charset="0"/>
              </a:rPr>
              <a:t>ggh</a:t>
            </a:r>
            <a:r>
              <a:rPr altLang="en-IN" dirty="0" sz="1600" lang="en-US" spc="114">
                <a:latin typeface="Tahoma" panose="020B0604030504040204" pitchFamily="34" charset="0"/>
                <a:ea typeface="Tahoma" panose="020B0604030504040204" pitchFamily="34" charset="0"/>
                <a:cs typeface="Tahoma" panose="020B0604030504040204" pitchFamily="34" charset="0"/>
              </a:rPr>
              <a:t> ,</a:t>
            </a:r>
            <a:r>
              <a:rPr altLang="en-IN" dirty="0" sz="1600" lang="en-US" spc="114" err="1">
                <a:latin typeface="Tahoma" panose="020B0604030504040204" pitchFamily="34" charset="0"/>
                <a:ea typeface="Tahoma" panose="020B0604030504040204" pitchFamily="34" charset="0"/>
                <a:cs typeface="Tahoma" panose="020B0604030504040204" pitchFamily="34" charset="0"/>
              </a:rPr>
              <a:t>guntur</a:t>
            </a:r>
            <a:r>
              <a:rPr altLang="en-IN" dirty="0" sz="1600" lang="en-US" spc="114">
                <a:latin typeface="Tahoma" panose="020B0604030504040204" pitchFamily="34" charset="0"/>
                <a:ea typeface="Tahoma" panose="020B0604030504040204" pitchFamily="34" charset="0"/>
                <a:cs typeface="Tahoma" panose="020B0604030504040204" pitchFamily="34" charset="0"/>
              </a:rPr>
              <a:t> </a:t>
            </a:r>
            <a:r>
              <a:rPr altLang="en-IN" dirty="0" sz="1600" lang="en-US" spc="114" err="1">
                <a:latin typeface="Tahoma" panose="020B0604030504040204" pitchFamily="34" charset="0"/>
                <a:ea typeface="Tahoma" panose="020B0604030504040204" pitchFamily="34" charset="0"/>
                <a:cs typeface="Tahoma" panose="020B0604030504040204" pitchFamily="34" charset="0"/>
              </a:rPr>
              <a:t>opd</a:t>
            </a:r>
            <a:r>
              <a:rPr altLang="en-IN" dirty="0" sz="1600" lang="en-US" spc="114">
                <a:latin typeface="Tahoma" panose="020B0604030504040204" pitchFamily="34" charset="0"/>
                <a:ea typeface="Tahoma" panose="020B0604030504040204" pitchFamily="34" charset="0"/>
                <a:cs typeface="Tahoma" panose="020B0604030504040204" pitchFamily="34" charset="0"/>
              </a:rPr>
              <a:t> from November</a:t>
            </a:r>
            <a:r>
              <a:rPr altLang="en-IN"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5">
                <a:latin typeface="Tahoma" panose="020B0604030504040204" pitchFamily="34" charset="0"/>
                <a:ea typeface="Tahoma" panose="020B0604030504040204" pitchFamily="34" charset="0"/>
                <a:cs typeface="Tahoma" panose="020B0604030504040204" pitchFamily="34" charset="0"/>
              </a:rPr>
              <a:t>2</a:t>
            </a:r>
            <a:r>
              <a:rPr altLang="en-IN" dirty="0" sz="1600" lang="en-US" spc="105">
                <a:latin typeface="Tahoma" panose="020B0604030504040204" pitchFamily="34" charset="0"/>
                <a:ea typeface="Tahoma" panose="020B0604030504040204" pitchFamily="34" charset="0"/>
                <a:cs typeface="Tahoma" panose="020B0604030504040204" pitchFamily="34" charset="0"/>
              </a:rPr>
              <a:t>023 t</a:t>
            </a:r>
            <a:r>
              <a:rPr dirty="0" sz="1600" lang="en-US" spc="50">
                <a:latin typeface="Tahoma" panose="020B0604030504040204" pitchFamily="34" charset="0"/>
                <a:ea typeface="Tahoma" panose="020B0604030504040204" pitchFamily="34" charset="0"/>
                <a:cs typeface="Tahoma" panose="020B0604030504040204" pitchFamily="34" charset="0"/>
              </a:rPr>
              <a:t>o </a:t>
            </a:r>
            <a:r>
              <a:rPr dirty="0" sz="1600" lang="en-US" spc="45">
                <a:latin typeface="Tahoma" panose="020B0604030504040204" pitchFamily="34" charset="0"/>
                <a:ea typeface="Tahoma" panose="020B0604030504040204" pitchFamily="34" charset="0"/>
                <a:cs typeface="Tahoma" panose="020B0604030504040204" pitchFamily="34" charset="0"/>
              </a:rPr>
              <a:t>December</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202</a:t>
            </a:r>
            <a:r>
              <a:rPr altLang="en-IN" dirty="0" sz="1600" lang="en-US" spc="50">
                <a:latin typeface="Tahoma" panose="020B0604030504040204" pitchFamily="34" charset="0"/>
                <a:ea typeface="Tahoma" panose="020B0604030504040204" pitchFamily="34" charset="0"/>
                <a:cs typeface="Tahoma" panose="020B0604030504040204" pitchFamily="34" charset="0"/>
              </a:rPr>
              <a:t>5.</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Stud</a:t>
            </a:r>
            <a:r>
              <a:rPr altLang="en-IN" dirty="0" sz="1600" lang="en-US" spc="20">
                <a:latin typeface="Tahoma" panose="020B0604030504040204" pitchFamily="34" charset="0"/>
                <a:ea typeface="Tahoma" panose="020B0604030504040204" pitchFamily="34" charset="0"/>
                <a:cs typeface="Tahoma" panose="020B0604030504040204" pitchFamily="34" charset="0"/>
              </a:rPr>
              <a:t>y involves </a:t>
            </a:r>
            <a:r>
              <a:rPr dirty="0" sz="1600" lang="en-US" spc="45">
                <a:latin typeface="Tahoma" panose="020B0604030504040204" pitchFamily="34" charset="0"/>
                <a:ea typeface="Tahoma" panose="020B0604030504040204" pitchFamily="34" charset="0"/>
                <a:cs typeface="Tahoma" panose="020B0604030504040204" pitchFamily="34" charset="0"/>
              </a:rPr>
              <a:t>reporting</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on</a:t>
            </a:r>
            <a:r>
              <a:rPr dirty="0" sz="1600" lang="en-US" spc="-5">
                <a:latin typeface="Tahoma" panose="020B0604030504040204" pitchFamily="34" charset="0"/>
                <a:ea typeface="Tahoma" panose="020B0604030504040204" pitchFamily="34" charset="0"/>
                <a:cs typeface="Tahoma" panose="020B0604030504040204" pitchFamily="34" charset="0"/>
              </a:rPr>
              <a:t> </a:t>
            </a:r>
            <a:r>
              <a:rPr b="1" dirty="0" sz="1600" lang="en-US" spc="20">
                <a:latin typeface="Tahoma" panose="020B0604030504040204" pitchFamily="34" charset="0"/>
                <a:ea typeface="Tahoma" panose="020B0604030504040204" pitchFamily="34" charset="0"/>
                <a:cs typeface="Tahoma" panose="020B0604030504040204" pitchFamily="34" charset="0"/>
              </a:rPr>
              <a:t>epidemiology,</a:t>
            </a:r>
            <a:r>
              <a:rPr b="1" dirty="0" sz="1600" lang="en-US" spc="10">
                <a:latin typeface="Tahoma" panose="020B0604030504040204" pitchFamily="34" charset="0"/>
                <a:ea typeface="Tahoma" panose="020B0604030504040204" pitchFamily="34" charset="0"/>
                <a:cs typeface="Tahoma" panose="020B0604030504040204" pitchFamily="34" charset="0"/>
              </a:rPr>
              <a:t> clinical</a:t>
            </a:r>
            <a:r>
              <a:rPr b="1" dirty="0" sz="1600" lang="en-US" spc="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features, </a:t>
            </a:r>
            <a:r>
              <a:rPr b="1" dirty="0" sz="1600" lang="en-US" spc="10">
                <a:latin typeface="Tahoma" panose="020B0604030504040204" pitchFamily="34" charset="0"/>
                <a:ea typeface="Tahoma" panose="020B0604030504040204" pitchFamily="34" charset="0"/>
                <a:cs typeface="Tahoma" panose="020B0604030504040204" pitchFamily="34" charset="0"/>
              </a:rPr>
              <a:t>imaging,</a:t>
            </a:r>
            <a:r>
              <a:rPr b="1" dirty="0" sz="1600" lang="en-US" spc="1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treatment,</a:t>
            </a:r>
            <a:r>
              <a:rPr b="1" dirty="0" sz="1600" lang="en-US" spc="1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and</a:t>
            </a:r>
            <a:r>
              <a:rPr b="1" dirty="0" sz="1600" lang="en-US" spc="20">
                <a:latin typeface="Tahoma" panose="020B0604030504040204" pitchFamily="34" charset="0"/>
                <a:ea typeface="Tahoma" panose="020B0604030504040204" pitchFamily="34" charset="0"/>
                <a:cs typeface="Tahoma" panose="020B0604030504040204" pitchFamily="34" charset="0"/>
              </a:rPr>
              <a:t> </a:t>
            </a:r>
            <a:r>
              <a:rPr b="1" dirty="0" sz="1600" lang="en-US" spc="70">
                <a:latin typeface="Tahoma" panose="020B0604030504040204" pitchFamily="34" charset="0"/>
                <a:ea typeface="Tahoma" panose="020B0604030504040204" pitchFamily="34" charset="0"/>
                <a:cs typeface="Tahoma" panose="020B0604030504040204" pitchFamily="34" charset="0"/>
              </a:rPr>
              <a:t>outcomes</a:t>
            </a:r>
            <a:r>
              <a:rPr b="1" dirty="0" sz="1600" lang="en-US" spc="10">
                <a:latin typeface="Tahoma" panose="020B0604030504040204" pitchFamily="34" charset="0"/>
                <a:ea typeface="Tahoma" panose="020B0604030504040204" pitchFamily="34" charset="0"/>
                <a:cs typeface="Tahoma" panose="020B0604030504040204" pitchFamily="34" charset="0"/>
              </a:rPr>
              <a:t> </a:t>
            </a:r>
            <a:r>
              <a:rPr b="1" dirty="0" sz="1600" lang="en-US" spc="90">
                <a:latin typeface="Tahoma" panose="020B0604030504040204" pitchFamily="34" charset="0"/>
                <a:ea typeface="Tahoma" panose="020B0604030504040204" pitchFamily="34" charset="0"/>
                <a:cs typeface="Tahoma" panose="020B0604030504040204" pitchFamily="34" charset="0"/>
              </a:rPr>
              <a:t>of</a:t>
            </a:r>
            <a:r>
              <a:rPr b="1" dirty="0" sz="1600" lang="en-US" spc="5">
                <a:latin typeface="Tahoma" panose="020B0604030504040204" pitchFamily="34" charset="0"/>
                <a:ea typeface="Tahoma" panose="020B0604030504040204" pitchFamily="34" charset="0"/>
                <a:cs typeface="Tahoma" panose="020B0604030504040204" pitchFamily="34" charset="0"/>
              </a:rPr>
              <a:t> </a:t>
            </a:r>
            <a:r>
              <a:rPr b="1" dirty="0" sz="1600" lang="en-US" spc="50">
                <a:latin typeface="Tahoma" panose="020B0604030504040204" pitchFamily="34" charset="0"/>
                <a:ea typeface="Tahoma" panose="020B0604030504040204" pitchFamily="34" charset="0"/>
                <a:cs typeface="Tahoma" panose="020B0604030504040204" pitchFamily="34" charset="0"/>
              </a:rPr>
              <a:t>PVNS</a:t>
            </a:r>
            <a:r>
              <a:rPr b="1" dirty="0" sz="1600" lang="en-US" spc="20">
                <a:latin typeface="Tahoma" panose="020B0604030504040204" pitchFamily="34" charset="0"/>
                <a:ea typeface="Tahoma" panose="020B0604030504040204" pitchFamily="34" charset="0"/>
                <a:cs typeface="Tahoma" panose="020B0604030504040204" pitchFamily="34" charset="0"/>
              </a:rPr>
              <a:t> </a:t>
            </a:r>
            <a:r>
              <a:rPr b="1" dirty="0" sz="1600" lang="en-US" spc="50">
                <a:latin typeface="Tahoma" panose="020B0604030504040204" pitchFamily="34" charset="0"/>
                <a:ea typeface="Tahoma" panose="020B0604030504040204" pitchFamily="34" charset="0"/>
                <a:cs typeface="Tahoma" panose="020B0604030504040204" pitchFamily="34" charset="0"/>
              </a:rPr>
              <a:t>were</a:t>
            </a:r>
            <a:r>
              <a:rPr b="1" dirty="0" sz="1600" lang="en-US" spc="2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included</a:t>
            </a:r>
            <a:r>
              <a:rPr dirty="0" sz="1600" lang="en-US" spc="-1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695"/>
              </a:spcBef>
            </a:pPr>
            <a:r>
              <a:rPr altLang="en-IN" b="1" dirty="0" sz="1600" lang="en-US">
                <a:latin typeface="Tahoma" panose="020B0604030504040204" pitchFamily="34" charset="0"/>
                <a:ea typeface="Tahoma" panose="020B0604030504040204" pitchFamily="34" charset="0"/>
                <a:cs typeface="Tahoma" panose="020B0604030504040204" pitchFamily="34" charset="0"/>
              </a:rPr>
              <a:t>Results</a:t>
            </a:r>
            <a:r>
              <a:rPr altLang="en-IN"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The</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majority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were</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diffuse</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MRI</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was</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the</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most</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effective</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imaging</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tool.</a:t>
            </a:r>
            <a:endParaRPr dirty="0" sz="1600" lang="en-US">
              <a:latin typeface="Tahoma" panose="020B0604030504040204" pitchFamily="34" charset="0"/>
              <a:ea typeface="Tahoma" panose="020B0604030504040204" pitchFamily="34" charset="0"/>
              <a:cs typeface="Tahoma" panose="020B0604030504040204" pitchFamily="34" charset="0"/>
            </a:endParaRPr>
          </a:p>
          <a:p>
            <a:pPr marL="12700" marR="240029">
              <a:lnSpc>
                <a:spcPct val="143400"/>
              </a:lnSpc>
            </a:pPr>
            <a:r>
              <a:rPr b="1" dirty="0" sz="1600" lang="en-US" spc="50">
                <a:latin typeface="Tahoma" panose="020B0604030504040204" pitchFamily="34" charset="0"/>
                <a:ea typeface="Tahoma" panose="020B0604030504040204" pitchFamily="34" charset="0"/>
                <a:cs typeface="Tahoma" panose="020B0604030504040204" pitchFamily="34" charset="0"/>
              </a:rPr>
              <a:t>Arthroscopic</a:t>
            </a:r>
            <a:r>
              <a:rPr b="1" dirty="0" sz="1600" lang="en-US" spc="20">
                <a:latin typeface="Tahoma" panose="020B0604030504040204" pitchFamily="34" charset="0"/>
                <a:ea typeface="Tahoma" panose="020B0604030504040204" pitchFamily="34" charset="0"/>
                <a:cs typeface="Tahoma" panose="020B0604030504040204" pitchFamily="34" charset="0"/>
              </a:rPr>
              <a:t> </a:t>
            </a:r>
            <a:r>
              <a:rPr b="1" dirty="0" sz="1600" lang="en-US" spc="70">
                <a:latin typeface="Tahoma" panose="020B0604030504040204" pitchFamily="34" charset="0"/>
                <a:ea typeface="Tahoma" panose="020B0604030504040204" pitchFamily="34" charset="0"/>
                <a:cs typeface="Tahoma" panose="020B0604030504040204" pitchFamily="34" charset="0"/>
              </a:rPr>
              <a:t>synovectomy </a:t>
            </a:r>
            <a:r>
              <a:rPr dirty="0" sz="1600" lang="en-US" spc="70">
                <a:latin typeface="Tahoma" panose="020B0604030504040204" pitchFamily="34" charset="0"/>
                <a:ea typeface="Tahoma" panose="020B0604030504040204" pitchFamily="34" charset="0"/>
                <a:cs typeface="Tahoma" panose="020B0604030504040204" pitchFamily="34" charset="0"/>
              </a:rPr>
              <a:t>combined with </a:t>
            </a:r>
            <a:r>
              <a:rPr b="1" dirty="0" sz="1600" lang="en-US" spc="70">
                <a:latin typeface="Tahoma" panose="020B0604030504040204" pitchFamily="34" charset="0"/>
                <a:ea typeface="Tahoma" panose="020B0604030504040204" pitchFamily="34" charset="0"/>
                <a:cs typeface="Tahoma" panose="020B0604030504040204" pitchFamily="34" charset="0"/>
              </a:rPr>
              <a:t>open synovectomy</a:t>
            </a:r>
            <a:r>
              <a:rPr b="1"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was </a:t>
            </a:r>
            <a:r>
              <a:rPr dirty="0" sz="1600" lang="en-US" spc="55">
                <a:latin typeface="Tahoma" panose="020B0604030504040204" pitchFamily="34" charset="0"/>
                <a:ea typeface="Tahoma" panose="020B0604030504040204" pitchFamily="34" charset="0"/>
                <a:cs typeface="Tahoma" panose="020B0604030504040204" pitchFamily="34" charset="0"/>
              </a:rPr>
              <a:t>the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most</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common</a:t>
            </a:r>
            <a:r>
              <a:rPr dirty="0" sz="1600" lang="en-US" spc="10">
                <a:latin typeface="Tahoma" panose="020B0604030504040204" pitchFamily="34" charset="0"/>
                <a:ea typeface="Tahoma" panose="020B0604030504040204" pitchFamily="34" charset="0"/>
                <a:cs typeface="Tahoma" panose="020B0604030504040204" pitchFamily="34" charset="0"/>
              </a:rPr>
              <a:t> treatment,</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though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rates</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remained</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high,</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particularly</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diffuse</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forms.</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Adjuvant </a:t>
            </a:r>
            <a:r>
              <a:rPr dirty="0" sz="1600" lang="en-US" spc="20">
                <a:latin typeface="Tahoma" panose="020B0604030504040204" pitchFamily="34" charset="0"/>
                <a:ea typeface="Tahoma" panose="020B0604030504040204" pitchFamily="34" charset="0"/>
                <a:cs typeface="Tahoma" panose="020B0604030504040204" pitchFamily="34" charset="0"/>
              </a:rPr>
              <a:t>treatments,</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including</a:t>
            </a:r>
            <a:r>
              <a:rPr b="1" dirty="0" sz="1600" lang="en-US" spc="75">
                <a:latin typeface="Tahoma" panose="020B0604030504040204" pitchFamily="34" charset="0"/>
                <a:ea typeface="Tahoma" panose="020B0604030504040204" pitchFamily="34" charset="0"/>
                <a:cs typeface="Tahoma" panose="020B0604030504040204" pitchFamily="34" charset="0"/>
              </a:rPr>
              <a:t> </a:t>
            </a:r>
            <a:r>
              <a:rPr b="1" dirty="0" sz="1600" lang="en-US" spc="20" err="1">
                <a:latin typeface="Tahoma" panose="020B0604030504040204" pitchFamily="34" charset="0"/>
                <a:ea typeface="Tahoma" panose="020B0604030504040204" pitchFamily="34" charset="0"/>
                <a:cs typeface="Tahoma" panose="020B0604030504040204" pitchFamily="34" charset="0"/>
              </a:rPr>
              <a:t>radiosynoviorthesis</a:t>
            </a:r>
            <a:r>
              <a:rPr b="1"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and</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biologic</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therapies</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such</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as </a:t>
            </a:r>
            <a:r>
              <a:rPr b="1" dirty="0" sz="1600" lang="en-US">
                <a:latin typeface="Tahoma" panose="020B0604030504040204" pitchFamily="34" charset="0"/>
                <a:ea typeface="Tahoma" panose="020B0604030504040204" pitchFamily="34" charset="0"/>
                <a:cs typeface="Tahoma" panose="020B0604030504040204" pitchFamily="34" charset="0"/>
              </a:rPr>
              <a:t>infliximab</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85">
                <a:latin typeface="Tahoma" panose="020B0604030504040204" pitchFamily="34" charset="0"/>
                <a:ea typeface="Tahoma" panose="020B0604030504040204" pitchFamily="34" charset="0"/>
                <a:cs typeface="Tahoma" panose="020B0604030504040204" pitchFamily="34" charset="0"/>
              </a:rPr>
              <a:t> </a:t>
            </a:r>
            <a:r>
              <a:rPr b="1" dirty="0" sz="1600" lang="en-US" err="1">
                <a:latin typeface="Tahoma" panose="020B0604030504040204" pitchFamily="34" charset="0"/>
                <a:ea typeface="Tahoma" panose="020B0604030504040204" pitchFamily="34" charset="0"/>
                <a:cs typeface="Tahoma" panose="020B0604030504040204" pitchFamily="34" charset="0"/>
              </a:rPr>
              <a:t>pexidartinib</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were</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employed</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recurrent</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unresectable cases.</a:t>
            </a:r>
          </a:p>
          <a:p>
            <a:pPr marL="12700" marR="240029">
              <a:lnSpc>
                <a:spcPct val="143400"/>
              </a:lnSpc>
            </a:pPr>
            <a:r>
              <a:rPr altLang="en-IN" b="1" dirty="0" sz="1600" lang="en-US">
                <a:latin typeface="Tahoma" panose="020B0604030504040204" pitchFamily="34" charset="0"/>
                <a:ea typeface="Tahoma" panose="020B0604030504040204" pitchFamily="34" charset="0"/>
                <a:cs typeface="Tahoma" panose="020B0604030504040204" pitchFamily="34" charset="0"/>
              </a:rPr>
              <a:t>conclusion</a:t>
            </a:r>
            <a:r>
              <a:rPr altLang="en-IN" dirty="0" sz="1600" lang="en-US">
                <a:latin typeface="Tahoma" panose="020B0604030504040204" pitchFamily="34" charset="0"/>
                <a:ea typeface="Tahoma" panose="020B0604030504040204" pitchFamily="34" charset="0"/>
                <a:cs typeface="Tahoma" panose="020B0604030504040204" pitchFamily="34" charset="0"/>
              </a:rPr>
              <a:t>-</a:t>
            </a:r>
            <a:r>
              <a:rPr dirty="0" sz="1600" lang="en-US">
                <a:latin typeface="Tahoma" panose="020B0604030504040204" pitchFamily="34" charset="0"/>
                <a:ea typeface="Tahoma" panose="020B0604030504040204" pitchFamily="34" charset="0"/>
                <a:cs typeface="Tahoma" panose="020B0604030504040204" pitchFamily="34" charset="0"/>
              </a:rPr>
              <a:t>Early</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diagnosis</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complete</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surgical</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excision</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remain</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the</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mainstay</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of </a:t>
            </a:r>
            <a:r>
              <a:rPr dirty="0" sz="1600" lang="en-US" spc="20">
                <a:latin typeface="Tahoma" panose="020B0604030504040204" pitchFamily="34" charset="0"/>
                <a:ea typeface="Tahoma" panose="020B0604030504040204" pitchFamily="34" charset="0"/>
                <a:cs typeface="Tahoma" panose="020B0604030504040204" pitchFamily="34" charset="0"/>
              </a:rPr>
              <a:t>treatment.</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Combined</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open</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and</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arthroscopic</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approaches</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are </a:t>
            </a:r>
            <a:r>
              <a:rPr dirty="0" sz="1600" lang="en-US" spc="60">
                <a:latin typeface="Tahoma" panose="020B0604030504040204" pitchFamily="34" charset="0"/>
                <a:ea typeface="Tahoma" panose="020B0604030504040204" pitchFamily="34" charset="0"/>
                <a:cs typeface="Tahoma" panose="020B0604030504040204" pitchFamily="34" charset="0"/>
              </a:rPr>
              <a:t>recommended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50">
                <a:latin typeface="Tahoma" panose="020B0604030504040204" pitchFamily="34" charset="0"/>
                <a:ea typeface="Tahoma" panose="020B0604030504040204" pitchFamily="34" charset="0"/>
                <a:cs typeface="Tahoma" panose="020B0604030504040204" pitchFamily="34" charset="0"/>
              </a:rPr>
              <a:t> diffuse</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Further</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prospective</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studies</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needed</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to </a:t>
            </a:r>
            <a:r>
              <a:rPr dirty="0" sz="1600" lang="en-US">
                <a:latin typeface="Tahoma" panose="020B0604030504040204" pitchFamily="34" charset="0"/>
                <a:ea typeface="Tahoma" panose="020B0604030504040204" pitchFamily="34" charset="0"/>
                <a:cs typeface="Tahoma" panose="020B0604030504040204" pitchFamily="34" charset="0"/>
              </a:rPr>
              <a:t>define</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optimal</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long-</a:t>
            </a:r>
            <a:r>
              <a:rPr dirty="0" sz="1600" lang="en-US" spc="65">
                <a:latin typeface="Tahoma" panose="020B0604030504040204" pitchFamily="34" charset="0"/>
                <a:ea typeface="Tahoma" panose="020B0604030504040204" pitchFamily="34" charset="0"/>
                <a:cs typeface="Tahoma" panose="020B0604030504040204" pitchFamily="34" charset="0"/>
              </a:rPr>
              <a:t>term</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management.</a:t>
            </a:r>
            <a:endParaRPr dirty="0" sz="1600" lang="en-US">
              <a:latin typeface="Tahoma" panose="020B0604030504040204" pitchFamily="34" charset="0"/>
              <a:ea typeface="Tahoma" panose="020B0604030504040204" pitchFamily="34" charset="0"/>
              <a:cs typeface="Tahoma" panose="020B0604030504040204" pitchFamily="34" charset="0"/>
            </a:endParaRPr>
          </a:p>
          <a:p>
            <a:pPr marL="12700" marR="76200">
              <a:lnSpc>
                <a:spcPct val="143400"/>
              </a:lnSpc>
            </a:pPr>
            <a:r>
              <a:rPr altLang="en-IN" b="1" dirty="0" sz="1600" lang="en-US" spc="10">
                <a:latin typeface="Tahoma" panose="020B0604030504040204" pitchFamily="34" charset="0"/>
                <a:ea typeface="Tahoma" panose="020B0604030504040204" pitchFamily="34" charset="0"/>
                <a:cs typeface="Tahoma" panose="020B0604030504040204" pitchFamily="34" charset="0"/>
              </a:rPr>
              <a:t>keywords</a:t>
            </a:r>
            <a:r>
              <a:rPr dirty="0" sz="1600" lang="en-US" spc="10">
                <a:latin typeface="Tahoma" panose="020B0604030504040204" pitchFamily="34" charset="0"/>
                <a:ea typeface="Tahoma" panose="020B0604030504040204" pitchFamily="34" charset="0"/>
                <a:cs typeface="Tahoma" panose="020B0604030504040204" pitchFamily="34" charset="0"/>
              </a:rPr>
              <a:t>:</a:t>
            </a:r>
            <a:r>
              <a:rPr dirty="0" sz="1600" lang="en-US" spc="4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pigmented</a:t>
            </a:r>
            <a:r>
              <a:rPr dirty="0" sz="1600" lang="en-US" spc="10">
                <a:latin typeface="Tahoma" panose="020B0604030504040204" pitchFamily="34" charset="0"/>
                <a:ea typeface="Tahoma" panose="020B0604030504040204" pitchFamily="34" charset="0"/>
                <a:cs typeface="Tahoma" panose="020B0604030504040204" pitchFamily="34" charset="0"/>
              </a:rPr>
              <a:t> villonodular</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synovitis;</a:t>
            </a:r>
            <a:r>
              <a:rPr dirty="0" sz="1600" lang="en-US">
                <a:latin typeface="Tahoma" panose="020B0604030504040204" pitchFamily="34" charset="0"/>
                <a:ea typeface="Tahoma" panose="020B0604030504040204" pitchFamily="34" charset="0"/>
                <a:cs typeface="Tahoma" panose="020B0604030504040204" pitchFamily="34" charset="0"/>
              </a:rPr>
              <a:t> </a:t>
            </a:r>
            <a:r>
              <a:rPr dirty="0" sz="1600" lang="en-US" spc="10" err="1">
                <a:latin typeface="Tahoma" panose="020B0604030504040204" pitchFamily="34" charset="0"/>
                <a:ea typeface="Tahoma" panose="020B0604030504040204" pitchFamily="34" charset="0"/>
                <a:cs typeface="Tahoma" panose="020B0604030504040204" pitchFamily="34" charset="0"/>
              </a:rPr>
              <a:t>tenosynovial</a:t>
            </a:r>
            <a:r>
              <a:rPr dirty="0" sz="1600" lang="en-US" spc="10">
                <a:latin typeface="Tahoma" panose="020B0604030504040204" pitchFamily="34" charset="0"/>
                <a:ea typeface="Tahoma" panose="020B0604030504040204" pitchFamily="34" charset="0"/>
                <a:cs typeface="Tahoma" panose="020B0604030504040204" pitchFamily="34" charset="0"/>
              </a:rPr>
              <a:t> giant cell</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tumor; </a:t>
            </a:r>
            <a:r>
              <a:rPr dirty="0" sz="1600" lang="en-US">
                <a:latin typeface="Tahoma" panose="020B0604030504040204" pitchFamily="34" charset="0"/>
                <a:ea typeface="Tahoma" panose="020B0604030504040204" pitchFamily="34" charset="0"/>
                <a:cs typeface="Tahoma" panose="020B0604030504040204" pitchFamily="34" charset="0"/>
              </a:rPr>
              <a:t>knee</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synovectomy;</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arthroscopic</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surgery</a:t>
            </a:r>
            <a:endParaRPr dirty="0" sz="1600" lang="en-US">
              <a:latin typeface="Tahoma" panose="020B0604030504040204" pitchFamily="34" charset="0"/>
              <a:ea typeface="Tahoma" panose="020B0604030504040204" pitchFamily="34" charset="0"/>
              <a:cs typeface="Tahoma" panose="020B0604030504040204" pitchFamily="34" charset="0"/>
            </a:endParaRPr>
          </a:p>
          <a:p>
            <a:endParaRPr dirty="0"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594" name="Content Placeholder 2"/>
          <p:cNvSpPr>
            <a:spLocks noGrp="1"/>
          </p:cNvSpPr>
          <p:nvPr>
            <p:ph idx="1"/>
          </p:nvPr>
        </p:nvSpPr>
        <p:spPr>
          <a:xfrm>
            <a:off x="83127" y="1340427"/>
            <a:ext cx="11991109" cy="5278582"/>
          </a:xfrm>
        </p:spPr>
        <p:txBody>
          <a:bodyPr/>
          <a:p>
            <a:pPr algn="just" marL="12700" marR="35560">
              <a:lnSpc>
                <a:spcPct val="110000"/>
              </a:lnSpc>
              <a:spcBef>
                <a:spcPts val="100"/>
              </a:spcBef>
            </a:pPr>
            <a:r>
              <a:rPr b="1" dirty="0" sz="1600" lang="en-US" spc="60">
                <a:latin typeface="Tahoma" panose="020B0604030504040204" pitchFamily="34" charset="0"/>
                <a:ea typeface="Tahoma" panose="020B0604030504040204" pitchFamily="34" charset="0"/>
                <a:cs typeface="Tahoma" panose="020B0604030504040204" pitchFamily="34" charset="0"/>
              </a:rPr>
              <a:t>Introduction</a:t>
            </a:r>
          </a:p>
          <a:p>
            <a:pPr algn="just" marL="12700" marR="35560">
              <a:lnSpc>
                <a:spcPct val="110000"/>
              </a:lnSpc>
              <a:spcBef>
                <a:spcPts val="100"/>
              </a:spcBef>
            </a:pPr>
            <a:r>
              <a:rPr dirty="0" sz="1600" lang="en-US" spc="60">
                <a:latin typeface="Tahoma" panose="020B0604030504040204" pitchFamily="34" charset="0"/>
                <a:ea typeface="Tahoma" panose="020B0604030504040204" pitchFamily="34" charset="0"/>
                <a:cs typeface="Tahoma" panose="020B0604030504040204" pitchFamily="34" charset="0"/>
              </a:rPr>
              <a:t>Pigmented</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villonodular</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synovitis</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also</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known</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10" err="1">
                <a:latin typeface="Tahoma" panose="020B0604030504040204" pitchFamily="34" charset="0"/>
                <a:ea typeface="Tahoma" panose="020B0604030504040204" pitchFamily="34" charset="0"/>
                <a:cs typeface="Tahoma" panose="020B0604030504040204" pitchFamily="34" charset="0"/>
              </a:rPr>
              <a:t>tenosynovial</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giant</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cell</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tumor</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(TGCT),</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uncommon</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but</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clinically</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significant </a:t>
            </a:r>
            <a:r>
              <a:rPr dirty="0" sz="1600" lang="en-US">
                <a:latin typeface="Tahoma" panose="020B0604030504040204" pitchFamily="34" charset="0"/>
                <a:ea typeface="Tahoma" panose="020B0604030504040204" pitchFamily="34" charset="0"/>
                <a:cs typeface="Tahoma" panose="020B0604030504040204" pitchFamily="34" charset="0"/>
              </a:rPr>
              <a:t>proliferative</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disorder</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synovial</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membrane,</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tendon</a:t>
            </a:r>
            <a:r>
              <a:rPr dirty="0" sz="1600" lang="en-US" spc="47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sheaths,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bursae.</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Originally</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described</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by</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err="1">
                <a:latin typeface="Tahoma" panose="020B0604030504040204" pitchFamily="34" charset="0"/>
                <a:ea typeface="Tahoma" panose="020B0604030504040204" pitchFamily="34" charset="0"/>
                <a:cs typeface="Tahoma" panose="020B0604030504040204" pitchFamily="34" charset="0"/>
              </a:rPr>
              <a:t>Chassaignac</a:t>
            </a:r>
            <a:r>
              <a:rPr dirty="0" sz="1600" lang="en-US" spc="1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1852</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spc="45">
                <a:latin typeface="Tahoma" panose="020B0604030504040204" pitchFamily="34" charset="0"/>
                <a:ea typeface="Tahoma" panose="020B0604030504040204" pitchFamily="34" charset="0"/>
                <a:cs typeface="Tahoma" panose="020B0604030504040204" pitchFamily="34" charset="0"/>
              </a:rPr>
              <a:t>subsequently</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characterized</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detail</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by</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Jaffe</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et</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1941,</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is </a:t>
            </a:r>
            <a:r>
              <a:rPr dirty="0" sz="1600" lang="en-US">
                <a:latin typeface="Tahoma" panose="020B0604030504040204" pitchFamily="34" charset="0"/>
                <a:ea typeface="Tahoma" panose="020B0604030504040204" pitchFamily="34" charset="0"/>
                <a:cs typeface="Tahoma" panose="020B0604030504040204" pitchFamily="34" charset="0"/>
              </a:rPr>
              <a:t>described</a:t>
            </a:r>
            <a:r>
              <a:rPr dirty="0" sz="1600" lang="en-US" spc="3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39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spectrum</a:t>
            </a:r>
            <a:r>
              <a:rPr dirty="0" sz="1600" lang="en-US" spc="39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benign</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neoplastic</a:t>
            </a:r>
            <a:r>
              <a:rPr dirty="0" sz="1600" lang="en-US" spc="40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conditions </a:t>
            </a:r>
            <a:r>
              <a:rPr dirty="0" sz="1600" lang="en-US">
                <a:latin typeface="Tahoma" panose="020B0604030504040204" pitchFamily="34" charset="0"/>
                <a:ea typeface="Tahoma" panose="020B0604030504040204" pitchFamily="34" charset="0"/>
                <a:cs typeface="Tahoma" panose="020B0604030504040204" pitchFamily="34" charset="0"/>
              </a:rPr>
              <a:t>distinguished</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by</a:t>
            </a:r>
            <a:r>
              <a:rPr dirty="0" sz="1600" lang="en-US" spc="16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hemosiderin-laden</a:t>
            </a:r>
            <a:r>
              <a:rPr b="1" dirty="0" sz="1600" lang="en-US" spc="17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macrophages</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17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multinucleated </a:t>
            </a:r>
            <a:r>
              <a:rPr b="1" dirty="0" sz="1600" lang="en-US" spc="10">
                <a:latin typeface="Tahoma" panose="020B0604030504040204" pitchFamily="34" charset="0"/>
                <a:ea typeface="Tahoma" panose="020B0604030504040204" pitchFamily="34" charset="0"/>
                <a:cs typeface="Tahoma" panose="020B0604030504040204" pitchFamily="34" charset="0"/>
              </a:rPr>
              <a:t>giant</a:t>
            </a:r>
            <a:r>
              <a:rPr b="1" dirty="0" sz="1600" lang="en-US" spc="9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cells</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9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lipid-laden</a:t>
            </a:r>
            <a:r>
              <a:rPr b="1" dirty="0" sz="1600" lang="en-US" spc="7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histiocytes</a:t>
            </a:r>
            <a:r>
              <a:rPr dirty="0" sz="1600" lang="en-US" spc="10">
                <a:latin typeface="Tahoma" panose="020B0604030504040204" pitchFamily="34" charset="0"/>
                <a:ea typeface="Tahoma" panose="020B0604030504040204" pitchFamily="34" charset="0"/>
                <a:cs typeface="Tahoma" panose="020B0604030504040204" pitchFamily="34" charset="0"/>
              </a:rPr>
              <a:t>,</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and</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inflammatory</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infiltrates</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within </a:t>
            </a:r>
            <a:r>
              <a:rPr dirty="0" sz="1600" lang="en-US" spc="10">
                <a:latin typeface="Tahoma" panose="020B0604030504040204" pitchFamily="34" charset="0"/>
                <a:ea typeface="Tahoma" panose="020B0604030504040204" pitchFamily="34" charset="0"/>
                <a:cs typeface="Tahoma" panose="020B0604030504040204" pitchFamily="34" charset="0"/>
              </a:rPr>
              <a:t>a</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hyperplastic</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synovium</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indent="-250825" lvl="1" marL="250825">
              <a:lnSpc>
                <a:spcPct val="100000"/>
              </a:lnSpc>
              <a:spcBef>
                <a:spcPts val="965"/>
              </a:spcBef>
              <a:buSzPct val="78571"/>
              <a:buAutoNum type="arabicPeriod"/>
              <a:tabLst>
                <a:tab algn="l" pos="250825"/>
              </a:tabLst>
            </a:pPr>
            <a:r>
              <a:rPr b="1" dirty="0" sz="1600" lang="en-US" spc="40">
                <a:latin typeface="Tahoma" panose="020B0604030504040204" pitchFamily="34" charset="0"/>
                <a:ea typeface="Tahoma" panose="020B0604030504040204" pitchFamily="34" charset="0"/>
                <a:cs typeface="Tahoma" panose="020B0604030504040204" pitchFamily="34" charset="0"/>
              </a:rPr>
              <a:t>Epidemiolog</a:t>
            </a:r>
            <a:r>
              <a:rPr dirty="0" sz="1600" lang="en-US" spc="40">
                <a:latin typeface="Tahoma" panose="020B0604030504040204" pitchFamily="34" charset="0"/>
                <a:ea typeface="Tahoma" panose="020B0604030504040204" pitchFamily="34" charset="0"/>
                <a:cs typeface="Tahoma" panose="020B0604030504040204" pitchFamily="34" charset="0"/>
              </a:rPr>
              <a:t>y</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36195">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The</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incidence</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approximately</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1.8</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per</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million</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people</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per </a:t>
            </a:r>
            <a:r>
              <a:rPr dirty="0" sz="1600" lang="en-US">
                <a:latin typeface="Tahoma" panose="020B0604030504040204" pitchFamily="34" charset="0"/>
                <a:ea typeface="Tahoma" panose="020B0604030504040204" pitchFamily="34" charset="0"/>
                <a:cs typeface="Tahoma" panose="020B0604030504040204" pitchFamily="34" charset="0"/>
              </a:rPr>
              <a:t>year,</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80">
                <a:latin typeface="Tahoma" panose="020B0604030504040204" pitchFamily="34" charset="0"/>
                <a:ea typeface="Tahoma" panose="020B0604030504040204" pitchFamily="34" charset="0"/>
                <a:cs typeface="Tahoma" panose="020B0604030504040204" pitchFamily="34" charset="0"/>
              </a:rPr>
              <a:t> </a:t>
            </a:r>
            <a:r>
              <a:rPr b="1" dirty="0" sz="1600" lang="en-US" spc="8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knee</a:t>
            </a:r>
            <a:r>
              <a:rPr b="1"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being</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most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frequently</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involved</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joint, </a:t>
            </a:r>
            <a:r>
              <a:rPr dirty="0" sz="1600" lang="en-US" spc="50">
                <a:latin typeface="Tahoma" panose="020B0604030504040204" pitchFamily="34" charset="0"/>
                <a:ea typeface="Tahoma" panose="020B0604030504040204" pitchFamily="34" charset="0"/>
                <a:cs typeface="Tahoma" panose="020B0604030504040204" pitchFamily="34" charset="0"/>
              </a:rPr>
              <a:t>accounting</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up</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80%</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followed</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by</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hip,</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ankle,</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a:latin typeface="Tahoma" panose="020B0604030504040204" pitchFamily="34" charset="0"/>
                <a:ea typeface="Tahoma" panose="020B0604030504040204" pitchFamily="34" charset="0"/>
                <a:cs typeface="Tahoma" panose="020B0604030504040204" pitchFamily="34" charset="0"/>
              </a:rPr>
              <a:t>shoulder</a:t>
            </a:r>
            <a:r>
              <a:rPr dirty="0" sz="1600" lang="en-US" spc="204">
                <a:latin typeface="Tahoma" panose="020B0604030504040204" pitchFamily="34" charset="0"/>
                <a:ea typeface="Tahoma" panose="020B0604030504040204" pitchFamily="34" charset="0"/>
                <a:cs typeface="Tahoma" panose="020B0604030504040204" pitchFamily="34" charset="0"/>
              </a:rPr>
              <a:t> </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dirty="0" sz="1600" lang="en-US" spc="-50">
                <a:latin typeface="Tahoma" panose="020B0604030504040204" pitchFamily="34" charset="0"/>
                <a:ea typeface="Tahoma" panose="020B0604030504040204" pitchFamily="34" charset="0"/>
                <a:cs typeface="Tahoma" panose="020B0604030504040204" pitchFamily="34" charset="0"/>
              </a:rPr>
              <a:t>It</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affects</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adults</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between</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third</a:t>
            </a:r>
            <a:r>
              <a:rPr b="1" dirty="0" sz="1600" lang="en-US" spc="1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and</a:t>
            </a:r>
            <a:r>
              <a:rPr b="1" dirty="0" sz="1600" lang="en-US" spc="10">
                <a:latin typeface="Tahoma" panose="020B0604030504040204" pitchFamily="34" charset="0"/>
                <a:ea typeface="Tahoma" panose="020B0604030504040204" pitchFamily="34" charset="0"/>
                <a:cs typeface="Tahoma" panose="020B0604030504040204" pitchFamily="34" charset="0"/>
              </a:rPr>
              <a:t> </a:t>
            </a:r>
            <a:r>
              <a:rPr b="1" dirty="0" sz="1600" lang="en-US" spc="65">
                <a:latin typeface="Tahoma" panose="020B0604030504040204" pitchFamily="34" charset="0"/>
                <a:ea typeface="Tahoma" panose="020B0604030504040204" pitchFamily="34" charset="0"/>
                <a:cs typeface="Tahoma" panose="020B0604030504040204" pitchFamily="34" charset="0"/>
              </a:rPr>
              <a:t>fifth</a:t>
            </a:r>
            <a:r>
              <a:rPr b="1" dirty="0" sz="1600" lang="en-US">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decades</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life;</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however, </a:t>
            </a:r>
            <a:r>
              <a:rPr dirty="0" sz="1600" lang="en-US">
                <a:latin typeface="Tahoma" panose="020B0604030504040204" pitchFamily="34" charset="0"/>
                <a:ea typeface="Tahoma" panose="020B0604030504040204" pitchFamily="34" charset="0"/>
                <a:cs typeface="Tahoma" panose="020B0604030504040204" pitchFamily="34" charset="0"/>
              </a:rPr>
              <a:t>several</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have</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also</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been</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reported</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pediatric</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population .</a:t>
            </a:r>
            <a:r>
              <a:rPr dirty="0" sz="1600" lang="en-US" spc="60">
                <a:latin typeface="Tahoma" panose="020B0604030504040204" pitchFamily="34" charset="0"/>
                <a:ea typeface="Tahoma" panose="020B0604030504040204" pitchFamily="34" charset="0"/>
                <a:cs typeface="Tahoma" panose="020B0604030504040204" pitchFamily="34" charset="0"/>
              </a:rPr>
              <a:t>Although</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shows</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no</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consistent</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sex</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predilection</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 </a:t>
            </a:r>
            <a:r>
              <a:rPr dirty="0" sz="1600" lang="en-US">
                <a:latin typeface="Tahoma" panose="020B0604030504040204" pitchFamily="34" charset="0"/>
                <a:ea typeface="Tahoma" panose="020B0604030504040204" pitchFamily="34" charset="0"/>
                <a:cs typeface="Tahoma" panose="020B0604030504040204" pitchFamily="34" charset="0"/>
              </a:rPr>
              <a:t>general</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population,</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isolated</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have</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noted</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slight</a:t>
            </a:r>
            <a:r>
              <a:rPr dirty="0" sz="1600" lang="en-US" spc="7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female</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predominance</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among</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pediatric</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patients</a:t>
            </a:r>
            <a:r>
              <a:rPr dirty="0" sz="1600" lang="en-US" spc="35">
                <a:latin typeface="Tahoma" panose="020B0604030504040204" pitchFamily="34" charset="0"/>
                <a:ea typeface="Tahoma" panose="020B0604030504040204" pitchFamily="34" charset="0"/>
                <a:cs typeface="Tahoma" panose="020B0604030504040204" pitchFamily="34" charset="0"/>
              </a:rPr>
              <a:t> .</a:t>
            </a:r>
          </a:p>
          <a:p>
            <a:pPr algn="just" marL="12700" marR="5080">
              <a:lnSpc>
                <a:spcPct val="110000"/>
              </a:lnSpc>
              <a:spcBef>
                <a:spcPts val="800"/>
              </a:spcBef>
            </a:pPr>
            <a:r>
              <a:rPr b="1" dirty="0" sz="1600" lang="en-US">
                <a:latin typeface="Tahoma" panose="020B0604030504040204" pitchFamily="34" charset="0"/>
                <a:ea typeface="Tahoma" panose="020B0604030504040204" pitchFamily="34" charset="0"/>
                <a:cs typeface="Tahoma" panose="020B0604030504040204" pitchFamily="34" charset="0"/>
              </a:rPr>
              <a:t>Clinical</a:t>
            </a:r>
            <a:r>
              <a:rPr b="1" dirty="0" sz="1600" lang="en-US" spc="3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Presentation</a:t>
            </a:r>
            <a:endParaRPr b="1"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35560">
              <a:lnSpc>
                <a:spcPct val="110000"/>
              </a:lnSpc>
              <a:spcBef>
                <a:spcPts val="800"/>
              </a:spcBef>
            </a:pP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classified</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into</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105">
                <a:latin typeface="Tahoma" panose="020B0604030504040204" pitchFamily="34" charset="0"/>
                <a:ea typeface="Tahoma" panose="020B0604030504040204" pitchFamily="34" charset="0"/>
                <a:cs typeface="Tahoma" panose="020B0604030504040204" pitchFamily="34" charset="0"/>
              </a:rPr>
              <a:t>two</a:t>
            </a:r>
            <a:r>
              <a:rPr dirty="0" sz="1600" lang="en-US" spc="1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different</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clinical</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presentations:</a:t>
            </a:r>
            <a:r>
              <a:rPr dirty="0" sz="1600" lang="en-US" spc="19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localized </a:t>
            </a:r>
            <a:r>
              <a:rPr b="1" dirty="0" sz="1600" lang="en-US" spc="50">
                <a:latin typeface="Tahoma" panose="020B0604030504040204" pitchFamily="34" charset="0"/>
                <a:ea typeface="Tahoma" panose="020B0604030504040204" pitchFamily="34" charset="0"/>
                <a:cs typeface="Tahoma" panose="020B0604030504040204" pitchFamily="34" charset="0"/>
              </a:rPr>
              <a:t>PVNS</a:t>
            </a:r>
            <a:r>
              <a:rPr b="1" dirty="0" sz="1600" lang="en-US" spc="42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(LPVNS)</a:t>
            </a:r>
            <a:r>
              <a:rPr b="1" dirty="0" sz="1600" lang="en-US" spc="43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and</a:t>
            </a:r>
            <a:r>
              <a:rPr b="1" dirty="0" sz="1600" lang="en-US" spc="425">
                <a:latin typeface="Tahoma" panose="020B0604030504040204" pitchFamily="34" charset="0"/>
                <a:ea typeface="Tahoma" panose="020B0604030504040204" pitchFamily="34" charset="0"/>
                <a:cs typeface="Tahoma" panose="020B0604030504040204" pitchFamily="34" charset="0"/>
              </a:rPr>
              <a:t> </a:t>
            </a:r>
            <a:r>
              <a:rPr b="1" dirty="0" sz="1600" lang="en-US" spc="50">
                <a:latin typeface="Tahoma" panose="020B0604030504040204" pitchFamily="34" charset="0"/>
                <a:ea typeface="Tahoma" panose="020B0604030504040204" pitchFamily="34" charset="0"/>
                <a:cs typeface="Tahoma" panose="020B0604030504040204" pitchFamily="34" charset="0"/>
              </a:rPr>
              <a:t>diffuse</a:t>
            </a:r>
            <a:r>
              <a:rPr b="1" dirty="0" sz="1600" lang="en-US" spc="434">
                <a:latin typeface="Tahoma" panose="020B0604030504040204" pitchFamily="34" charset="0"/>
                <a:ea typeface="Tahoma" panose="020B0604030504040204" pitchFamily="34" charset="0"/>
                <a:cs typeface="Tahoma" panose="020B0604030504040204" pitchFamily="34" charset="0"/>
              </a:rPr>
              <a:t> </a:t>
            </a:r>
            <a:r>
              <a:rPr b="1" dirty="0" sz="1600" lang="en-US" spc="50">
                <a:latin typeface="Tahoma" panose="020B0604030504040204" pitchFamily="34" charset="0"/>
                <a:ea typeface="Tahoma" panose="020B0604030504040204" pitchFamily="34" charset="0"/>
                <a:cs typeface="Tahoma" panose="020B0604030504040204" pitchFamily="34" charset="0"/>
              </a:rPr>
              <a:t>PVNS</a:t>
            </a:r>
            <a:r>
              <a:rPr b="1" dirty="0" sz="1600" lang="en-US" spc="42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(DPVNS).</a:t>
            </a:r>
            <a:r>
              <a:rPr b="1"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The</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localized</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form</a:t>
            </a:r>
            <a:r>
              <a:rPr dirty="0" sz="1600" lang="en-US" spc="42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is </a:t>
            </a:r>
            <a:r>
              <a:rPr dirty="0" sz="1600" lang="en-US">
                <a:latin typeface="Tahoma" panose="020B0604030504040204" pitchFamily="34" charset="0"/>
                <a:ea typeface="Tahoma" panose="020B0604030504040204" pitchFamily="34" charset="0"/>
                <a:cs typeface="Tahoma" panose="020B0604030504040204" pitchFamily="34" charset="0"/>
              </a:rPr>
              <a:t>generally</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confined,</a:t>
            </a:r>
            <a:r>
              <a:rPr dirty="0" sz="1600" lang="en-US" spc="47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often</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intra-articular,</a:t>
            </a:r>
            <a:r>
              <a:rPr dirty="0" sz="1600" lang="en-US" spc="4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4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accessible</a:t>
            </a:r>
            <a:r>
              <a:rPr dirty="0" sz="1600" lang="en-US" spc="47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to </a:t>
            </a:r>
            <a:r>
              <a:rPr dirty="0" sz="1600" lang="en-US">
                <a:latin typeface="Tahoma" panose="020B0604030504040204" pitchFamily="34" charset="0"/>
                <a:ea typeface="Tahoma" panose="020B0604030504040204" pitchFamily="34" charset="0"/>
                <a:cs typeface="Tahoma" panose="020B0604030504040204" pitchFamily="34" charset="0"/>
              </a:rPr>
              <a:t>arthroscopic</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excision</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4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relatively</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low</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rates</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In </a:t>
            </a:r>
            <a:r>
              <a:rPr dirty="0" sz="1600" lang="en-US">
                <a:latin typeface="Tahoma" panose="020B0604030504040204" pitchFamily="34" charset="0"/>
                <a:ea typeface="Tahoma" panose="020B0604030504040204" pitchFamily="34" charset="0"/>
                <a:cs typeface="Tahoma" panose="020B0604030504040204" pitchFamily="34" charset="0"/>
              </a:rPr>
              <a:t>contrast,</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DPVNS</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involves</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more</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extensive</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aggressive </a:t>
            </a:r>
            <a:r>
              <a:rPr dirty="0" sz="1600" lang="en-US">
                <a:latin typeface="Tahoma" panose="020B0604030504040204" pitchFamily="34" charset="0"/>
                <a:ea typeface="Tahoma" panose="020B0604030504040204" pitchFamily="34" charset="0"/>
                <a:cs typeface="Tahoma" panose="020B0604030504040204" pitchFamily="34" charset="0"/>
              </a:rPr>
              <a:t>proliferation</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synovial</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tissue,</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often</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extra-articular</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extension,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effusion,</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significant</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erosive</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damage</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adjacent</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cartilage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bone</a:t>
            </a:r>
            <a:r>
              <a:rPr dirty="0" sz="1600" lang="en-US" spc="-15">
                <a:latin typeface="Tahoma" panose="020B0604030504040204" pitchFamily="34" charset="0"/>
                <a:ea typeface="Tahoma" panose="020B0604030504040204" pitchFamily="34" charset="0"/>
                <a:cs typeface="Tahoma" panose="020B0604030504040204" pitchFamily="34" charset="0"/>
              </a:rPr>
              <a:t> .</a:t>
            </a:r>
          </a:p>
          <a:p>
            <a:endParaRPr dirty="0" sz="1400"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95" name="Content Placeholder 2"/>
          <p:cNvSpPr>
            <a:spLocks noGrp="1"/>
          </p:cNvSpPr>
          <p:nvPr>
            <p:ph idx="1"/>
          </p:nvPr>
        </p:nvSpPr>
        <p:spPr>
          <a:xfrm>
            <a:off x="103908" y="1361208"/>
            <a:ext cx="11970328" cy="5382491"/>
          </a:xfrm>
        </p:spPr>
        <p:txBody>
          <a:bodyPr/>
          <a:p>
            <a:pPr algn="just" marL="12700" marR="5080">
              <a:lnSpc>
                <a:spcPct val="110000"/>
              </a:lnSpc>
              <a:spcBef>
                <a:spcPts val="100"/>
              </a:spcBef>
            </a:pPr>
            <a:r>
              <a:rPr dirty="0" sz="1600" lang="en-US">
                <a:latin typeface="Tahoma" panose="020B0604030504040204" pitchFamily="34" charset="0"/>
                <a:ea typeface="Tahoma" panose="020B0604030504040204" pitchFamily="34" charset="0"/>
                <a:cs typeface="Tahoma" panose="020B0604030504040204" pitchFamily="34" charset="0"/>
              </a:rPr>
              <a:t>Clinically,</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presents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non-</a:t>
            </a:r>
            <a:r>
              <a:rPr dirty="0" sz="1600" lang="en-US" spc="45">
                <a:latin typeface="Tahoma" panose="020B0604030504040204" pitchFamily="34" charset="0"/>
                <a:ea typeface="Tahoma" panose="020B0604030504040204" pitchFamily="34" charset="0"/>
                <a:cs typeface="Tahoma" panose="020B0604030504040204" pitchFamily="34" charset="0"/>
              </a:rPr>
              <a:t>specific</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symptoms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as </a:t>
            </a:r>
            <a:r>
              <a:rPr dirty="0" sz="1600" lang="en-US">
                <a:latin typeface="Tahoma" panose="020B0604030504040204" pitchFamily="34" charset="0"/>
                <a:ea typeface="Tahoma" panose="020B0604030504040204" pitchFamily="34" charset="0"/>
                <a:cs typeface="Tahoma" panose="020B0604030504040204" pitchFamily="34" charset="0"/>
              </a:rPr>
              <a:t>monoarticular</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pain,</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swelling,</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recurrent</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effusion,</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limited</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indent="0" marL="0" marR="5080">
              <a:lnSpc>
                <a:spcPct val="110000"/>
              </a:lnSpc>
              <a:spcBef>
                <a:spcPts val="100"/>
              </a:spcBef>
              <a:buNone/>
            </a:pPr>
            <a:r>
              <a:rPr dirty="0" sz="1600" lang="en-US">
                <a:latin typeface="Tahoma" panose="020B0604030504040204" pitchFamily="34" charset="0"/>
                <a:ea typeface="Tahoma" panose="020B0604030504040204" pitchFamily="34" charset="0"/>
                <a:cs typeface="Tahoma" panose="020B0604030504040204" pitchFamily="34" charset="0"/>
              </a:rPr>
              <a:t>range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motion.</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some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mechanical</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symptoms</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as </a:t>
            </a:r>
            <a:r>
              <a:rPr dirty="0" sz="1600" lang="en-US">
                <a:latin typeface="Tahoma" panose="020B0604030504040204" pitchFamily="34" charset="0"/>
                <a:ea typeface="Tahoma" panose="020B0604030504040204" pitchFamily="34" charset="0"/>
                <a:cs typeface="Tahoma" panose="020B0604030504040204" pitchFamily="34" charset="0"/>
              </a:rPr>
              <a:t>locking</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instability</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4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observed,</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especially</a:t>
            </a:r>
            <a:r>
              <a:rPr dirty="0" sz="1600" lang="en-US" spc="40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when</a:t>
            </a:r>
            <a:r>
              <a:rPr dirty="0" sz="1600" lang="en-US" spc="4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lesion</a:t>
            </a:r>
            <a:r>
              <a:rPr dirty="0" sz="1600" lang="en-US" spc="40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is </a:t>
            </a:r>
            <a:r>
              <a:rPr dirty="0" sz="1600" lang="en-US">
                <a:latin typeface="Tahoma" panose="020B0604030504040204" pitchFamily="34" charset="0"/>
                <a:ea typeface="Tahoma" panose="020B0604030504040204" pitchFamily="34" charset="0"/>
                <a:cs typeface="Tahoma" panose="020B0604030504040204" pitchFamily="34" charset="0"/>
              </a:rPr>
              <a:t>located</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near</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critical</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intra-articular</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structures</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anterior </a:t>
            </a:r>
            <a:r>
              <a:rPr dirty="0" sz="1600" lang="en-US">
                <a:latin typeface="Tahoma" panose="020B0604030504040204" pitchFamily="34" charset="0"/>
                <a:ea typeface="Tahoma" panose="020B0604030504040204" pitchFamily="34" charset="0"/>
                <a:cs typeface="Tahoma" panose="020B0604030504040204" pitchFamily="34" charset="0"/>
              </a:rPr>
              <a:t>cruciate</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ligament</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Due</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its</a:t>
            </a:r>
            <a:r>
              <a:rPr dirty="0" sz="1600" lang="en-US" spc="3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insidious</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onset</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0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overlapping </a:t>
            </a:r>
            <a:r>
              <a:rPr dirty="0" sz="1600" lang="en-US">
                <a:latin typeface="Tahoma" panose="020B0604030504040204" pitchFamily="34" charset="0"/>
                <a:ea typeface="Tahoma" panose="020B0604030504040204" pitchFamily="34" charset="0"/>
                <a:cs typeface="Tahoma" panose="020B0604030504040204" pitchFamily="34" charset="0"/>
              </a:rPr>
              <a:t>clinical</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features</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other</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arthropathies,</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including</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rheumatoid </a:t>
            </a:r>
            <a:r>
              <a:rPr dirty="0" sz="1600" lang="en-US">
                <a:latin typeface="Tahoma" panose="020B0604030504040204" pitchFamily="34" charset="0"/>
                <a:ea typeface="Tahoma" panose="020B0604030504040204" pitchFamily="34" charset="0"/>
                <a:cs typeface="Tahoma" panose="020B0604030504040204" pitchFamily="34" charset="0"/>
              </a:rPr>
              <a:t>arthritis,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juvenile</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idiopathic</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arthritis,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synovial</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cysts,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is </a:t>
            </a:r>
            <a:r>
              <a:rPr dirty="0" sz="1600" lang="en-US" spc="75">
                <a:latin typeface="Tahoma" panose="020B0604030504040204" pitchFamily="34" charset="0"/>
                <a:ea typeface="Tahoma" panose="020B0604030504040204" pitchFamily="34" charset="0"/>
                <a:cs typeface="Tahoma" panose="020B0604030504040204" pitchFamily="34" charset="0"/>
              </a:rPr>
              <a:t>often</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misdiagnosed</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diagnosed</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late.</a:t>
            </a:r>
          </a:p>
          <a:p>
            <a:pPr algn="just" indent="-292100" lvl="1" marL="302895">
              <a:lnSpc>
                <a:spcPct val="100000"/>
              </a:lnSpc>
              <a:spcBef>
                <a:spcPts val="965"/>
              </a:spcBef>
              <a:buSzPct val="92857"/>
              <a:buAutoNum type="arabicPeriod"/>
              <a:tabLst>
                <a:tab algn="l" pos="302895"/>
              </a:tabLst>
            </a:pPr>
            <a:r>
              <a:rPr b="1" dirty="0" sz="1600" lang="en-US" spc="-10">
                <a:latin typeface="Tahoma" panose="020B0604030504040204" pitchFamily="34" charset="0"/>
                <a:ea typeface="Tahoma" panose="020B0604030504040204" pitchFamily="34" charset="0"/>
                <a:cs typeface="Tahoma" panose="020B0604030504040204" pitchFamily="34" charset="0"/>
              </a:rPr>
              <a:t>Diagnosis</a:t>
            </a:r>
            <a:endParaRPr b="1"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Radiographic</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studies</a:t>
            </a:r>
            <a:r>
              <a:rPr dirty="0" sz="1600" lang="en-US" spc="4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typically</a:t>
            </a:r>
            <a:r>
              <a:rPr dirty="0" sz="1600" lang="en-US" spc="4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reveal</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nonspecific</a:t>
            </a:r>
            <a:r>
              <a:rPr dirty="0" sz="1600" lang="en-US" spc="4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findings</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as </a:t>
            </a:r>
            <a:r>
              <a:rPr b="1" dirty="0" sz="1600" lang="en-US">
                <a:latin typeface="Tahoma" panose="020B0604030504040204" pitchFamily="34" charset="0"/>
                <a:ea typeface="Tahoma" panose="020B0604030504040204" pitchFamily="34" charset="0"/>
                <a:cs typeface="Tahoma" panose="020B0604030504040204" pitchFamily="34" charset="0"/>
              </a:rPr>
              <a:t>joint</a:t>
            </a:r>
            <a:r>
              <a:rPr b="1" dirty="0" sz="1600" lang="en-US" spc="18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space</a:t>
            </a:r>
            <a:r>
              <a:rPr b="1" dirty="0" sz="1600" lang="en-US" spc="17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narrowing</a:t>
            </a:r>
            <a:r>
              <a:rPr b="1" dirty="0" sz="1600" lang="en-US" spc="16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or</a:t>
            </a:r>
            <a:r>
              <a:rPr b="1" dirty="0" sz="1600" lang="en-US" spc="18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periarticular</a:t>
            </a:r>
            <a:r>
              <a:rPr b="1" dirty="0" sz="1600" lang="en-US" spc="18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erosions</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170">
                <a:latin typeface="Tahoma" panose="020B0604030504040204" pitchFamily="34" charset="0"/>
                <a:ea typeface="Tahoma" panose="020B0604030504040204" pitchFamily="34" charset="0"/>
                <a:cs typeface="Tahoma" panose="020B0604030504040204" pitchFamily="34" charset="0"/>
              </a:rPr>
              <a:t> </a:t>
            </a:r>
            <a:r>
              <a:rPr b="1" dirty="0" sz="1600" lang="en-US" spc="-40">
                <a:latin typeface="Tahoma" panose="020B0604030504040204" pitchFamily="34" charset="0"/>
                <a:ea typeface="Tahoma" panose="020B0604030504040204" pitchFamily="34" charset="0"/>
                <a:cs typeface="Tahoma" panose="020B0604030504040204" pitchFamily="34" charset="0"/>
              </a:rPr>
              <a:t>MRI</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remains</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gold </a:t>
            </a:r>
            <a:r>
              <a:rPr dirty="0" sz="1600" lang="en-US">
                <a:latin typeface="Tahoma" panose="020B0604030504040204" pitchFamily="34" charset="0"/>
                <a:ea typeface="Tahoma" panose="020B0604030504040204" pitchFamily="34" charset="0"/>
                <a:cs typeface="Tahoma" panose="020B0604030504040204" pitchFamily="34" charset="0"/>
              </a:rPr>
              <a:t>standard</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diagnosis</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due</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its</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sensitivity</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204">
                <a:latin typeface="Tahoma" panose="020B0604030504040204" pitchFamily="34" charset="0"/>
                <a:ea typeface="Tahoma" panose="020B0604030504040204" pitchFamily="34" charset="0"/>
                <a:cs typeface="Tahoma" panose="020B0604030504040204" pitchFamily="34" charset="0"/>
              </a:rPr>
              <a:t>  </a:t>
            </a:r>
            <a:r>
              <a:rPr b="1" dirty="0" sz="1600" lang="en-US" spc="35">
                <a:latin typeface="Tahoma" panose="020B0604030504040204" pitchFamily="34" charset="0"/>
                <a:ea typeface="Tahoma" panose="020B0604030504040204" pitchFamily="34" charset="0"/>
                <a:cs typeface="Tahoma" panose="020B0604030504040204" pitchFamily="34" charset="0"/>
              </a:rPr>
              <a:t>hemosiderin</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deposition,</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which</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appears</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low</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signal</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intensity</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on</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T1-</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T2- </a:t>
            </a:r>
            <a:r>
              <a:rPr dirty="0" sz="1600" lang="en-US" spc="60">
                <a:latin typeface="Tahoma" panose="020B0604030504040204" pitchFamily="34" charset="0"/>
                <a:ea typeface="Tahoma" panose="020B0604030504040204" pitchFamily="34" charset="0"/>
                <a:cs typeface="Tahoma" panose="020B0604030504040204" pitchFamily="34" charset="0"/>
              </a:rPr>
              <a:t>weighted</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images,</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characteristic</a:t>
            </a:r>
            <a:r>
              <a:rPr dirty="0" sz="1600" lang="en-US" spc="280">
                <a:latin typeface="Tahoma" panose="020B0604030504040204" pitchFamily="34" charset="0"/>
                <a:ea typeface="Tahoma" panose="020B0604030504040204" pitchFamily="34" charset="0"/>
                <a:cs typeface="Tahoma" panose="020B0604030504040204" pitchFamily="34" charset="0"/>
              </a:rPr>
              <a:t>  </a:t>
            </a:r>
            <a:r>
              <a:rPr b="1" dirty="0" sz="1600" lang="en-US" spc="45">
                <a:latin typeface="Tahoma" panose="020B0604030504040204" pitchFamily="34" charset="0"/>
                <a:ea typeface="Tahoma" panose="020B0604030504040204" pitchFamily="34" charset="0"/>
                <a:cs typeface="Tahoma" panose="020B0604030504040204" pitchFamily="34" charset="0"/>
              </a:rPr>
              <a:t>“blooming</a:t>
            </a:r>
            <a:r>
              <a:rPr dirty="0" sz="1600" lang="en-US" spc="45">
                <a:latin typeface="Tahoma" panose="020B0604030504040204" pitchFamily="34" charset="0"/>
                <a:ea typeface="Tahoma" panose="020B0604030504040204" pitchFamily="34" charset="0"/>
                <a:cs typeface="Tahoma" panose="020B0604030504040204" pitchFamily="34" charset="0"/>
              </a:rPr>
              <a:t>”</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artifacts</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on </a:t>
            </a:r>
            <a:r>
              <a:rPr dirty="0" sz="1600" lang="en-US">
                <a:latin typeface="Tahoma" panose="020B0604030504040204" pitchFamily="34" charset="0"/>
                <a:ea typeface="Tahoma" panose="020B0604030504040204" pitchFamily="34" charset="0"/>
                <a:cs typeface="Tahoma" panose="020B0604030504040204" pitchFamily="34" charset="0"/>
              </a:rPr>
              <a:t>gradient</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echo</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sequences</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Contrast-</a:t>
            </a:r>
            <a:r>
              <a:rPr dirty="0" sz="1600" lang="en-US">
                <a:latin typeface="Tahoma" panose="020B0604030504040204" pitchFamily="34" charset="0"/>
                <a:ea typeface="Tahoma" panose="020B0604030504040204" pitchFamily="34" charset="0"/>
                <a:cs typeface="Tahoma" panose="020B0604030504040204" pitchFamily="34" charset="0"/>
              </a:rPr>
              <a:t>enhanced</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sequences</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have </a:t>
            </a:r>
            <a:r>
              <a:rPr dirty="0" sz="1600" lang="en-US">
                <a:latin typeface="Tahoma" panose="020B0604030504040204" pitchFamily="34" charset="0"/>
                <a:ea typeface="Tahoma" panose="020B0604030504040204" pitchFamily="34" charset="0"/>
                <a:cs typeface="Tahoma" panose="020B0604030504040204" pitchFamily="34" charset="0"/>
              </a:rPr>
              <a:t>been</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shown</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demonstrate</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extent</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synovial</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involvement</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spc="45">
                <a:latin typeface="Tahoma" panose="020B0604030504040204" pitchFamily="34" charset="0"/>
                <a:ea typeface="Tahoma" panose="020B0604030504040204" pitchFamily="34" charset="0"/>
                <a:cs typeface="Tahoma" panose="020B0604030504040204" pitchFamily="34" charset="0"/>
              </a:rPr>
              <a:t>differentiate</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from</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other</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intra-articular</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lesions.</a:t>
            </a:r>
          </a:p>
          <a:p>
            <a:pPr algn="just" marL="12700" marR="5080">
              <a:lnSpc>
                <a:spcPct val="110000"/>
              </a:lnSpc>
              <a:spcBef>
                <a:spcPts val="800"/>
              </a:spcBef>
            </a:pPr>
            <a:r>
              <a:rPr dirty="0" sz="1600" lang="en-US" spc="10" err="1">
                <a:latin typeface="Tahoma" panose="020B0604030504040204" pitchFamily="34" charset="0"/>
                <a:ea typeface="Tahoma" panose="020B0604030504040204" pitchFamily="34" charset="0"/>
                <a:cs typeface="Tahoma" panose="020B0604030504040204" pitchFamily="34" charset="0"/>
              </a:rPr>
              <a:t>Histopathologically</a:t>
            </a:r>
            <a:r>
              <a:rPr dirty="0" sz="1600" lang="en-US" spc="10">
                <a:latin typeface="Tahoma" panose="020B0604030504040204" pitchFamily="34" charset="0"/>
                <a:ea typeface="Tahoma" panose="020B0604030504040204" pitchFamily="34" charset="0"/>
                <a:cs typeface="Tahoma" panose="020B0604030504040204" pitchFamily="34" charset="0"/>
              </a:rPr>
              <a:t>,</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shows</a:t>
            </a:r>
            <a:r>
              <a:rPr dirty="0" sz="1600" lang="en-US" spc="20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villous</a:t>
            </a:r>
            <a:r>
              <a:rPr b="1" dirty="0" sz="1600" lang="en-US" spc="21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and</a:t>
            </a:r>
            <a:r>
              <a:rPr b="1" dirty="0" sz="1600" lang="en-US" spc="204">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nodular</a:t>
            </a:r>
            <a:r>
              <a:rPr b="1" dirty="0" sz="1600" lang="en-US" spc="21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proliferation</a:t>
            </a:r>
            <a:r>
              <a:rPr b="1" dirty="0" sz="1600" lang="en-US" spc="195">
                <a:latin typeface="Tahoma" panose="020B0604030504040204" pitchFamily="34" charset="0"/>
                <a:ea typeface="Tahoma" panose="020B0604030504040204" pitchFamily="34" charset="0"/>
                <a:cs typeface="Tahoma" panose="020B0604030504040204" pitchFamily="34" charset="0"/>
              </a:rPr>
              <a:t> </a:t>
            </a:r>
            <a:r>
              <a:rPr b="1" dirty="0" sz="1600" lang="en-US" spc="65">
                <a:latin typeface="Tahoma" panose="020B0604030504040204" pitchFamily="34" charset="0"/>
                <a:ea typeface="Tahoma" panose="020B0604030504040204" pitchFamily="34" charset="0"/>
                <a:cs typeface="Tahoma" panose="020B0604030504040204" pitchFamily="34" charset="0"/>
              </a:rPr>
              <a:t>of </a:t>
            </a:r>
            <a:r>
              <a:rPr b="1" dirty="0" sz="1600" lang="en-US" spc="60">
                <a:latin typeface="Tahoma" panose="020B0604030504040204" pitchFamily="34" charset="0"/>
                <a:ea typeface="Tahoma" panose="020B0604030504040204" pitchFamily="34" charset="0"/>
                <a:cs typeface="Tahoma" panose="020B0604030504040204" pitchFamily="34" charset="0"/>
              </a:rPr>
              <a:t>the</a:t>
            </a:r>
            <a:r>
              <a:rPr b="1" dirty="0" sz="1600" lang="en-US" spc="8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synovium</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accompanied</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by</a:t>
            </a:r>
            <a:r>
              <a:rPr dirty="0" sz="1600" lang="en-US" spc="7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hemosiderin-laden</a:t>
            </a:r>
            <a:r>
              <a:rPr b="1" dirty="0" sz="1600" lang="en-US" spc="8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macrophages</a:t>
            </a:r>
            <a:r>
              <a:rPr dirty="0" sz="1600" lang="en-US" spc="-10">
                <a:latin typeface="Tahoma" panose="020B0604030504040204" pitchFamily="34" charset="0"/>
                <a:ea typeface="Tahoma" panose="020B0604030504040204" pitchFamily="34" charset="0"/>
                <a:cs typeface="Tahoma" panose="020B0604030504040204" pitchFamily="34" charset="0"/>
              </a:rPr>
              <a:t>, </a:t>
            </a:r>
            <a:r>
              <a:rPr b="1" dirty="0" sz="1600" lang="en-US" spc="75">
                <a:latin typeface="Tahoma" panose="020B0604030504040204" pitchFamily="34" charset="0"/>
                <a:ea typeface="Tahoma" panose="020B0604030504040204" pitchFamily="34" charset="0"/>
                <a:cs typeface="Tahoma" panose="020B0604030504040204" pitchFamily="34" charset="0"/>
              </a:rPr>
              <a:t>foamy</a:t>
            </a:r>
            <a:r>
              <a:rPr b="1" dirty="0" sz="1600" lang="en-US" spc="229">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histiocytes</a:t>
            </a:r>
            <a:r>
              <a:rPr dirty="0" sz="1600" lang="en-US" spc="10">
                <a:latin typeface="Tahoma" panose="020B0604030504040204" pitchFamily="34" charset="0"/>
                <a:ea typeface="Tahoma" panose="020B0604030504040204" pitchFamily="34" charset="0"/>
                <a:cs typeface="Tahoma" panose="020B0604030504040204" pitchFamily="34" charset="0"/>
              </a:rPr>
              <a:t>,</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and</a:t>
            </a:r>
            <a:r>
              <a:rPr dirty="0" sz="1600" lang="en-US" spc="23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multinucleated</a:t>
            </a:r>
            <a:r>
              <a:rPr b="1" dirty="0" sz="1600" lang="en-US" spc="24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giant</a:t>
            </a:r>
            <a:r>
              <a:rPr b="1" dirty="0" sz="1600" lang="en-US" spc="240">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cells</a:t>
            </a:r>
            <a:r>
              <a:rPr dirty="0" sz="1600" lang="en-US" spc="10">
                <a:latin typeface="Tahoma" panose="020B0604030504040204" pitchFamily="34" charset="0"/>
                <a:ea typeface="Tahoma" panose="020B0604030504040204" pitchFamily="34" charset="0"/>
                <a:cs typeface="Tahoma" panose="020B0604030504040204" pitchFamily="34" charset="0"/>
              </a:rPr>
              <a:t>.</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Recent</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molecular </a:t>
            </a:r>
            <a:r>
              <a:rPr dirty="0" sz="1600" lang="en-US">
                <a:latin typeface="Tahoma" panose="020B0604030504040204" pitchFamily="34" charset="0"/>
                <a:ea typeface="Tahoma" panose="020B0604030504040204" pitchFamily="34" charset="0"/>
                <a:cs typeface="Tahoma" panose="020B0604030504040204" pitchFamily="34" charset="0"/>
              </a:rPr>
              <a:t>analyses</a:t>
            </a:r>
            <a:r>
              <a:rPr dirty="0" sz="1600" lang="en-US" spc="4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have</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identified</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colony-stimulating</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factor</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340">
                <a:latin typeface="Tahoma" panose="020B0604030504040204" pitchFamily="34" charset="0"/>
                <a:ea typeface="Tahoma" panose="020B0604030504040204" pitchFamily="34" charset="0"/>
                <a:cs typeface="Tahoma" panose="020B0604030504040204" pitchFamily="34" charset="0"/>
              </a:rPr>
              <a:t>1</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t>
            </a:r>
            <a:r>
              <a:rPr b="1" dirty="0" sz="1600" lang="en-US" spc="-10">
                <a:latin typeface="Tahoma" panose="020B0604030504040204" pitchFamily="34" charset="0"/>
                <a:ea typeface="Tahoma" panose="020B0604030504040204" pitchFamily="34" charset="0"/>
                <a:cs typeface="Tahoma" panose="020B0604030504040204" pitchFamily="34" charset="0"/>
              </a:rPr>
              <a:t>CSF1)</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expression</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neoplastic</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synovial</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cells,</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suggesting</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translocation- </a:t>
            </a:r>
            <a:r>
              <a:rPr dirty="0" sz="1600" lang="en-US">
                <a:latin typeface="Tahoma" panose="020B0604030504040204" pitchFamily="34" charset="0"/>
                <a:ea typeface="Tahoma" panose="020B0604030504040204" pitchFamily="34" charset="0"/>
                <a:cs typeface="Tahoma" panose="020B0604030504040204" pitchFamily="34" charset="0"/>
              </a:rPr>
              <a:t>induced</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paracrine</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growth</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mechanism</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that</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recruits</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non-</a:t>
            </a:r>
            <a:r>
              <a:rPr dirty="0" sz="1600" lang="en-US" spc="-10">
                <a:latin typeface="Tahoma" panose="020B0604030504040204" pitchFamily="34" charset="0"/>
                <a:ea typeface="Tahoma" panose="020B0604030504040204" pitchFamily="34" charset="0"/>
                <a:cs typeface="Tahoma" panose="020B0604030504040204" pitchFamily="34" charset="0"/>
              </a:rPr>
              <a:t>neoplastic </a:t>
            </a:r>
            <a:r>
              <a:rPr dirty="0" sz="1600" lang="en-US" spc="50">
                <a:latin typeface="Tahoma" panose="020B0604030504040204" pitchFamily="34" charset="0"/>
                <a:ea typeface="Tahoma" panose="020B0604030504040204" pitchFamily="34" charset="0"/>
                <a:cs typeface="Tahoma" panose="020B0604030504040204" pitchFamily="34" charset="0"/>
              </a:rPr>
              <a:t>inflammatory</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cells</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expressing</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CSF1</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receptors.</a:t>
            </a:r>
            <a:endParaRPr dirty="0" sz="1600" lang="en-US">
              <a:latin typeface="Tahoma" panose="020B0604030504040204" pitchFamily="34" charset="0"/>
              <a:ea typeface="Tahoma" panose="020B0604030504040204" pitchFamily="34" charset="0"/>
              <a:cs typeface="Tahoma" panose="020B0604030504040204" pitchFamily="34" charset="0"/>
            </a:endParaRPr>
          </a:p>
          <a:p>
            <a:pPr indent="0" marL="0">
              <a:buNone/>
            </a:pPr>
            <a:endParaRPr dirty="0"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pic>
        <p:nvPicPr>
          <p:cNvPr id="2097155" name="Content Placeholder 7"/>
          <p:cNvPicPr>
            <a:picLocks noChangeAspect="1" noGrp="1"/>
          </p:cNvPicPr>
          <p:nvPr>
            <p:ph idx="1"/>
          </p:nvPr>
        </p:nvPicPr>
        <p:blipFill>
          <a:blip xmlns:r="http://schemas.openxmlformats.org/officeDocument/2006/relationships" r:embed="rId1"/>
          <a:stretch>
            <a:fillRect/>
          </a:stretch>
        </p:blipFill>
        <p:spPr>
          <a:xfrm>
            <a:off x="280555" y="2426276"/>
            <a:ext cx="2961409" cy="3792681"/>
          </a:xfrm>
          <a:prstGeom prst="rect"/>
        </p:spPr>
      </p:pic>
      <p:pic>
        <p:nvPicPr>
          <p:cNvPr id="2097156" name="Picture 8"/>
          <p:cNvPicPr>
            <a:picLocks noChangeAspect="1"/>
          </p:cNvPicPr>
          <p:nvPr/>
        </p:nvPicPr>
        <p:blipFill>
          <a:blip xmlns:r="http://schemas.openxmlformats.org/officeDocument/2006/relationships" r:embed="rId2"/>
          <a:stretch>
            <a:fillRect/>
          </a:stretch>
        </p:blipFill>
        <p:spPr>
          <a:xfrm>
            <a:off x="3553691" y="2426277"/>
            <a:ext cx="3835977" cy="3792680"/>
          </a:xfrm>
          <a:prstGeom prst="rect"/>
        </p:spPr>
      </p:pic>
      <p:pic>
        <p:nvPicPr>
          <p:cNvPr id="2097157" name="Picture 9"/>
          <p:cNvPicPr>
            <a:picLocks noChangeAspect="1"/>
          </p:cNvPicPr>
          <p:nvPr/>
        </p:nvPicPr>
        <p:blipFill>
          <a:blip xmlns:r="http://schemas.openxmlformats.org/officeDocument/2006/relationships" r:embed="rId3"/>
          <a:stretch>
            <a:fillRect/>
          </a:stretch>
        </p:blipFill>
        <p:spPr>
          <a:xfrm>
            <a:off x="8094516" y="2426276"/>
            <a:ext cx="3491347" cy="3792680"/>
          </a:xfrm>
          <a:prstGeom prst="rect"/>
        </p:spPr>
      </p:pic>
      <p:sp>
        <p:nvSpPr>
          <p:cNvPr id="1048596" name="TextBox 1"/>
          <p:cNvSpPr txBox="1"/>
          <p:nvPr/>
        </p:nvSpPr>
        <p:spPr>
          <a:xfrm>
            <a:off x="4674177" y="1569027"/>
            <a:ext cx="3150178" cy="523220"/>
          </a:xfrm>
          <a:prstGeom prst="rect"/>
          <a:noFill/>
        </p:spPr>
        <p:txBody>
          <a:bodyPr rtlCol="0" wrap="square">
            <a:spAutoFit/>
          </a:bodyPr>
          <a:p>
            <a:r>
              <a:rPr b="1" dirty="0" sz="2800" lang="en-IN"/>
              <a:t>Clinical pictures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pic>
        <p:nvPicPr>
          <p:cNvPr id="2097158" name="Content Placeholder 6"/>
          <p:cNvPicPr>
            <a:picLocks noChangeAspect="1" noGrp="1"/>
          </p:cNvPicPr>
          <p:nvPr>
            <p:ph idx="1"/>
          </p:nvPr>
        </p:nvPicPr>
        <p:blipFill>
          <a:blip xmlns:r="http://schemas.openxmlformats.org/officeDocument/2006/relationships" r:embed="rId1"/>
          <a:srcRect l="15200" t="13655" r="21427" b="8076"/>
          <a:stretch>
            <a:fillRect/>
          </a:stretch>
        </p:blipFill>
        <p:spPr>
          <a:xfrm>
            <a:off x="233794" y="2218459"/>
            <a:ext cx="3034145" cy="4229100"/>
          </a:xfrm>
          <a:prstGeom prst="rect"/>
        </p:spPr>
      </p:pic>
      <p:pic>
        <p:nvPicPr>
          <p:cNvPr id="2097159" name="Picture 7"/>
          <p:cNvPicPr>
            <a:picLocks noChangeAspect="1"/>
          </p:cNvPicPr>
          <p:nvPr/>
        </p:nvPicPr>
        <p:blipFill>
          <a:blip xmlns:r="http://schemas.openxmlformats.org/officeDocument/2006/relationships" r:embed="rId2"/>
          <a:srcRect l="25029" t="9015" r="18499" b="12500"/>
          <a:stretch>
            <a:fillRect/>
          </a:stretch>
        </p:blipFill>
        <p:spPr>
          <a:xfrm>
            <a:off x="3844637" y="2218459"/>
            <a:ext cx="3158836" cy="4229100"/>
          </a:xfrm>
          <a:prstGeom prst="rect"/>
        </p:spPr>
      </p:pic>
      <p:pic>
        <p:nvPicPr>
          <p:cNvPr id="2097160" name="Picture 8"/>
          <p:cNvPicPr>
            <a:picLocks noChangeAspect="1"/>
          </p:cNvPicPr>
          <p:nvPr/>
        </p:nvPicPr>
        <p:blipFill>
          <a:blip xmlns:r="http://schemas.openxmlformats.org/officeDocument/2006/relationships" r:embed="rId3"/>
          <a:srcRect t="15152" b="6060"/>
          <a:stretch>
            <a:fillRect/>
          </a:stretch>
        </p:blipFill>
        <p:spPr>
          <a:xfrm rot="16200000">
            <a:off x="7716986" y="2258283"/>
            <a:ext cx="4229096" cy="3889664"/>
          </a:xfrm>
          <a:prstGeom prst="rect"/>
        </p:spPr>
      </p:pic>
      <p:sp>
        <p:nvSpPr>
          <p:cNvPr id="1048597" name="TextBox 1"/>
          <p:cNvSpPr txBox="1"/>
          <p:nvPr/>
        </p:nvSpPr>
        <p:spPr>
          <a:xfrm>
            <a:off x="2660073" y="1693718"/>
            <a:ext cx="1184564" cy="584775"/>
          </a:xfrm>
          <a:prstGeom prst="rect"/>
          <a:noFill/>
        </p:spPr>
        <p:txBody>
          <a:bodyPr rtlCol="0" wrap="square">
            <a:spAutoFit/>
          </a:bodyPr>
          <a:p>
            <a:r>
              <a:rPr b="1" dirty="0" sz="3200" lang="en-IN" err="1"/>
              <a:t>xrays</a:t>
            </a:r>
            <a:endParaRPr b="1" dirty="0" sz="3200" lang="en-IN"/>
          </a:p>
        </p:txBody>
      </p:sp>
      <p:sp>
        <p:nvSpPr>
          <p:cNvPr id="1048598" name="TextBox 2"/>
          <p:cNvSpPr txBox="1"/>
          <p:nvPr/>
        </p:nvSpPr>
        <p:spPr>
          <a:xfrm>
            <a:off x="8925791" y="1610591"/>
            <a:ext cx="2628900" cy="523220"/>
          </a:xfrm>
          <a:prstGeom prst="rect"/>
          <a:noFill/>
        </p:spPr>
        <p:txBody>
          <a:bodyPr rtlCol="0" wrap="square">
            <a:spAutoFit/>
          </a:bodyPr>
          <a:p>
            <a:r>
              <a:rPr b="1" dirty="0" sz="2800" lang="en-IN"/>
              <a:t>Biopsy Report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pic>
        <p:nvPicPr>
          <p:cNvPr id="2097161" name="Content Placeholder 3"/>
          <p:cNvPicPr>
            <a:picLocks noChangeAspect="1" noGrp="1"/>
          </p:cNvPicPr>
          <p:nvPr>
            <p:ph idx="1"/>
          </p:nvPr>
        </p:nvPicPr>
        <p:blipFill>
          <a:blip xmlns:r="http://schemas.openxmlformats.org/officeDocument/2006/relationships" r:embed="rId1"/>
          <a:stretch>
            <a:fillRect/>
          </a:stretch>
        </p:blipFill>
        <p:spPr>
          <a:xfrm>
            <a:off x="480148" y="1569027"/>
            <a:ext cx="5411498" cy="4572000"/>
          </a:xfrm>
          <a:prstGeom prst="rect"/>
        </p:spPr>
      </p:pic>
      <p:pic>
        <p:nvPicPr>
          <p:cNvPr id="2097162" name="Picture 4"/>
          <p:cNvPicPr>
            <a:picLocks noChangeAspect="1"/>
          </p:cNvPicPr>
          <p:nvPr/>
        </p:nvPicPr>
        <p:blipFill>
          <a:blip xmlns:r="http://schemas.openxmlformats.org/officeDocument/2006/relationships" r:embed="rId2"/>
          <a:srcRect t="24697" b="33334"/>
          <a:stretch>
            <a:fillRect/>
          </a:stretch>
        </p:blipFill>
        <p:spPr>
          <a:xfrm>
            <a:off x="6300355" y="1569028"/>
            <a:ext cx="4724399" cy="4395354"/>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599" name="Content Placeholder 2"/>
          <p:cNvSpPr>
            <a:spLocks noGrp="1"/>
          </p:cNvSpPr>
          <p:nvPr>
            <p:ph idx="1"/>
          </p:nvPr>
        </p:nvSpPr>
        <p:spPr>
          <a:xfrm>
            <a:off x="0" y="1392383"/>
            <a:ext cx="12070773" cy="5340927"/>
          </a:xfrm>
        </p:spPr>
        <p:txBody>
          <a:bodyPr/>
          <a:p>
            <a:pPr algn="just" indent="-307975" lvl="1" marL="320675">
              <a:lnSpc>
                <a:spcPct val="100000"/>
              </a:lnSpc>
              <a:spcBef>
                <a:spcPts val="965"/>
              </a:spcBef>
              <a:buSzPct val="92857"/>
              <a:buAutoNum type="arabicPeriod"/>
              <a:tabLst>
                <a:tab algn="l" pos="320675"/>
              </a:tabLst>
            </a:pPr>
            <a:r>
              <a:rPr b="1" dirty="0" sz="1600" lang="en-US" spc="-10">
                <a:latin typeface="Tahoma" panose="020B0604030504040204" pitchFamily="34" charset="0"/>
                <a:ea typeface="Tahoma" panose="020B0604030504040204" pitchFamily="34" charset="0"/>
                <a:cs typeface="Tahoma" panose="020B0604030504040204" pitchFamily="34" charset="0"/>
              </a:rPr>
              <a:t>Treatment</a:t>
            </a:r>
            <a:endParaRPr b="1"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Surgical</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excision</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affected</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synovium</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remains</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gold </a:t>
            </a:r>
            <a:r>
              <a:rPr dirty="0" sz="1600" lang="en-US">
                <a:latin typeface="Tahoma" panose="020B0604030504040204" pitchFamily="34" charset="0"/>
                <a:ea typeface="Tahoma" panose="020B0604030504040204" pitchFamily="34" charset="0"/>
                <a:cs typeface="Tahoma" panose="020B0604030504040204" pitchFamily="34" charset="0"/>
              </a:rPr>
              <a:t>standard</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treatment.</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For</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LPVNS,</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arthroscopic</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synovectomy</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is </a:t>
            </a:r>
            <a:r>
              <a:rPr dirty="0" sz="1600" lang="en-US">
                <a:latin typeface="Tahoma" panose="020B0604030504040204" pitchFamily="34" charset="0"/>
                <a:ea typeface="Tahoma" panose="020B0604030504040204" pitchFamily="34" charset="0"/>
                <a:cs typeface="Tahoma" panose="020B0604030504040204" pitchFamily="34" charset="0"/>
              </a:rPr>
              <a:t>generally</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considered</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sufficient</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associated</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low</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morbidity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excellent</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functional</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outcomes</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DPVNS,</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complete </a:t>
            </a:r>
            <a:r>
              <a:rPr dirty="0" sz="1600" lang="en-US" spc="75">
                <a:latin typeface="Tahoma" panose="020B0604030504040204" pitchFamily="34" charset="0"/>
                <a:ea typeface="Tahoma" panose="020B0604030504040204" pitchFamily="34" charset="0"/>
                <a:cs typeface="Tahoma" panose="020B0604030504040204" pitchFamily="34" charset="0"/>
              </a:rPr>
              <a:t>synovectomy</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technically</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challenging</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often</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requires</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a </a:t>
            </a:r>
            <a:r>
              <a:rPr dirty="0" sz="1600" lang="en-US" spc="50">
                <a:latin typeface="Tahoma" panose="020B0604030504040204" pitchFamily="34" charset="0"/>
                <a:ea typeface="Tahoma" panose="020B0604030504040204" pitchFamily="34" charset="0"/>
                <a:cs typeface="Tahoma" panose="020B0604030504040204" pitchFamily="34" charset="0"/>
              </a:rPr>
              <a:t>combination</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open</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arthroscopic</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approaches</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achieve </a:t>
            </a:r>
            <a:r>
              <a:rPr dirty="0" sz="1600" lang="en-US" spc="50">
                <a:latin typeface="Tahoma" panose="020B0604030504040204" pitchFamily="34" charset="0"/>
                <a:ea typeface="Tahoma" panose="020B0604030504040204" pitchFamily="34" charset="0"/>
                <a:cs typeface="Tahoma" panose="020B0604030504040204" pitchFamily="34" charset="0"/>
              </a:rPr>
              <a:t>optimal</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results</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Although</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implementation</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rigorous </a:t>
            </a:r>
            <a:r>
              <a:rPr dirty="0" sz="1600" lang="en-US" spc="45">
                <a:latin typeface="Tahoma" panose="020B0604030504040204" pitchFamily="34" charset="0"/>
                <a:ea typeface="Tahoma" panose="020B0604030504040204" pitchFamily="34" charset="0"/>
                <a:cs typeface="Tahoma" panose="020B0604030504040204" pitchFamily="34" charset="0"/>
              </a:rPr>
              <a:t>resection</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protocols,</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rates</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persist</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considerable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levels, </a:t>
            </a:r>
            <a:r>
              <a:rPr dirty="0" sz="1600" lang="en-US">
                <a:latin typeface="Tahoma" panose="020B0604030504040204" pitchFamily="34" charset="0"/>
                <a:ea typeface="Tahoma" panose="020B0604030504040204" pitchFamily="34" charset="0"/>
                <a:cs typeface="Tahoma" panose="020B0604030504040204" pitchFamily="34" charset="0"/>
              </a:rPr>
              <a:t>ranging</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80">
                <a:latin typeface="Tahoma" panose="020B0604030504040204" pitchFamily="34" charset="0"/>
                <a:ea typeface="Tahoma" panose="020B0604030504040204" pitchFamily="34" charset="0"/>
                <a:cs typeface="Tahoma" panose="020B0604030504040204" pitchFamily="34" charset="0"/>
              </a:rPr>
              <a:t>from</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80">
                <a:latin typeface="Tahoma" panose="020B0604030504040204" pitchFamily="34" charset="0"/>
                <a:ea typeface="Tahoma" panose="020B0604030504040204" pitchFamily="34" charset="0"/>
                <a:cs typeface="Tahoma" panose="020B0604030504040204" pitchFamily="34" charset="0"/>
              </a:rPr>
              <a:t>18%</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46%,</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depending</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on</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form</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extent</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of </a:t>
            </a:r>
            <a:r>
              <a:rPr dirty="0" sz="1600" lang="en-US">
                <a:latin typeface="Tahoma" panose="020B0604030504040204" pitchFamily="34" charset="0"/>
                <a:ea typeface="Tahoma" panose="020B0604030504040204" pitchFamily="34" charset="0"/>
                <a:cs typeface="Tahoma" panose="020B0604030504040204" pitchFamily="34" charset="0"/>
              </a:rPr>
              <a:t>excision</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indent="0" marL="0" marR="6985">
              <a:lnSpc>
                <a:spcPct val="110000"/>
              </a:lnSpc>
              <a:spcBef>
                <a:spcPts val="100"/>
              </a:spcBef>
              <a:buNone/>
            </a:pPr>
            <a:r>
              <a:rPr dirty="0" sz="1600" lang="en-US">
                <a:latin typeface="Tahoma" panose="020B0604030504040204" pitchFamily="34" charset="0"/>
                <a:ea typeface="Tahoma" panose="020B0604030504040204" pitchFamily="34" charset="0"/>
                <a:cs typeface="Tahoma" panose="020B0604030504040204" pitchFamily="34" charset="0"/>
              </a:rPr>
              <a:t>                     Adjuvant</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treatment</a:t>
            </a:r>
            <a:r>
              <a:rPr dirty="0" sz="1600" lang="en-US" spc="42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options</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often</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considered</a:t>
            </a:r>
            <a:r>
              <a:rPr dirty="0" sz="1600" lang="en-US" spc="4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a:t>
            </a:r>
            <a:r>
              <a:rPr dirty="0" sz="1600" lang="en-US">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management</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recurrent</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incompletely</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err="1">
                <a:latin typeface="Tahoma" panose="020B0604030504040204" pitchFamily="34" charset="0"/>
                <a:ea typeface="Tahoma" panose="020B0604030504040204" pitchFamily="34" charset="0"/>
                <a:cs typeface="Tahoma" panose="020B0604030504040204" pitchFamily="34" charset="0"/>
              </a:rPr>
              <a:t>resectable</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30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These </a:t>
            </a:r>
            <a:r>
              <a:rPr dirty="0" sz="1600" lang="en-US">
                <a:latin typeface="Tahoma" panose="020B0604030504040204" pitchFamily="34" charset="0"/>
                <a:ea typeface="Tahoma" panose="020B0604030504040204" pitchFamily="34" charset="0"/>
                <a:cs typeface="Tahoma" panose="020B0604030504040204" pitchFamily="34" charset="0"/>
              </a:rPr>
              <a:t>include</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following:</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b="1" dirty="0" sz="1600" lang="en-US" err="1">
                <a:latin typeface="Tahoma" panose="020B0604030504040204" pitchFamily="34" charset="0"/>
                <a:ea typeface="Tahoma" panose="020B0604030504040204" pitchFamily="34" charset="0"/>
                <a:cs typeface="Tahoma" panose="020B0604030504040204" pitchFamily="34" charset="0"/>
              </a:rPr>
              <a:t>Radiosynoviorthesis</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using</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intra-articular</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injection</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radioactive </a:t>
            </a:r>
            <a:r>
              <a:rPr dirty="0" sz="1600" lang="en-US" spc="70">
                <a:latin typeface="Tahoma" panose="020B0604030504040204" pitchFamily="34" charset="0"/>
                <a:ea typeface="Tahoma" panose="020B0604030504040204" pitchFamily="34" charset="0"/>
                <a:cs typeface="Tahoma" panose="020B0604030504040204" pitchFamily="34" charset="0"/>
              </a:rPr>
              <a:t>compounds</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(e.g.,</a:t>
            </a:r>
            <a:r>
              <a:rPr dirty="0" sz="1600" lang="en-US" spc="370">
                <a:latin typeface="Tahoma" panose="020B0604030504040204" pitchFamily="34" charset="0"/>
                <a:ea typeface="Tahoma" panose="020B0604030504040204" pitchFamily="34" charset="0"/>
                <a:cs typeface="Tahoma" panose="020B0604030504040204" pitchFamily="34" charset="0"/>
              </a:rPr>
              <a:t> </a:t>
            </a:r>
            <a:r>
              <a:rPr b="1" dirty="0" sz="1600" lang="en-US" spc="65">
                <a:latin typeface="Tahoma" panose="020B0604030504040204" pitchFamily="34" charset="0"/>
                <a:ea typeface="Tahoma" panose="020B0604030504040204" pitchFamily="34" charset="0"/>
                <a:cs typeface="Tahoma" panose="020B0604030504040204" pitchFamily="34" charset="0"/>
              </a:rPr>
              <a:t>osmic</a:t>
            </a:r>
            <a:r>
              <a:rPr b="1" dirty="0" sz="1600" lang="en-US" spc="37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acid,</a:t>
            </a:r>
            <a:r>
              <a:rPr b="1" dirty="0" sz="1600" lang="en-US" spc="370">
                <a:latin typeface="Tahoma" panose="020B0604030504040204" pitchFamily="34" charset="0"/>
                <a:ea typeface="Tahoma" panose="020B0604030504040204" pitchFamily="34" charset="0"/>
                <a:cs typeface="Tahoma" panose="020B0604030504040204" pitchFamily="34" charset="0"/>
              </a:rPr>
              <a:t> </a:t>
            </a:r>
            <a:r>
              <a:rPr b="1" dirty="0" sz="1600" lang="en-US" spc="60">
                <a:latin typeface="Tahoma" panose="020B0604030504040204" pitchFamily="34" charset="0"/>
                <a:ea typeface="Tahoma" panose="020B0604030504040204" pitchFamily="34" charset="0"/>
                <a:cs typeface="Tahoma" panose="020B0604030504040204" pitchFamily="34" charset="0"/>
              </a:rPr>
              <a:t>yttrium-</a:t>
            </a:r>
            <a:r>
              <a:rPr b="1" dirty="0" sz="1600" lang="en-US">
                <a:latin typeface="Tahoma" panose="020B0604030504040204" pitchFamily="34" charset="0"/>
                <a:ea typeface="Tahoma" panose="020B0604030504040204" pitchFamily="34" charset="0"/>
                <a:cs typeface="Tahoma" panose="020B0604030504040204" pitchFamily="34" charset="0"/>
              </a:rPr>
              <a:t>90</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has</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shown</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promising </a:t>
            </a:r>
            <a:r>
              <a:rPr dirty="0" sz="1600" lang="en-US">
                <a:latin typeface="Tahoma" panose="020B0604030504040204" pitchFamily="34" charset="0"/>
                <a:ea typeface="Tahoma" panose="020B0604030504040204" pitchFamily="34" charset="0"/>
                <a:cs typeface="Tahoma" panose="020B0604030504040204" pitchFamily="34" charset="0"/>
              </a:rPr>
              <a:t>results</a:t>
            </a:r>
            <a:r>
              <a:rPr dirty="0" sz="1600" lang="en-US" spc="175">
                <a:latin typeface="Tahoma" panose="020B0604030504040204" pitchFamily="34" charset="0"/>
                <a:ea typeface="Tahoma" panose="020B0604030504040204" pitchFamily="34" charset="0"/>
                <a:cs typeface="Tahoma" panose="020B0604030504040204" pitchFamily="34" charset="0"/>
              </a:rPr>
              <a:t> </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795"/>
              </a:spcBef>
            </a:pPr>
            <a:r>
              <a:rPr b="1" dirty="0" sz="1600" lang="en-US">
                <a:latin typeface="Tahoma" panose="020B0604030504040204" pitchFamily="34" charset="0"/>
                <a:ea typeface="Tahoma" panose="020B0604030504040204" pitchFamily="34" charset="0"/>
                <a:cs typeface="Tahoma" panose="020B0604030504040204" pitchFamily="34" charset="0"/>
              </a:rPr>
              <a:t>Biologic</a:t>
            </a:r>
            <a:r>
              <a:rPr b="1" dirty="0" sz="1600" lang="en-US" spc="8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therapies</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intra-articular</a:t>
            </a:r>
            <a:r>
              <a:rPr dirty="0" sz="1600" lang="en-US" spc="8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infliximab</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refractory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have</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shown</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symptomatic</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histological</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improvements</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by </a:t>
            </a:r>
            <a:r>
              <a:rPr dirty="0" sz="1600" lang="en-US" spc="45">
                <a:latin typeface="Tahoma" panose="020B0604030504040204" pitchFamily="34" charset="0"/>
                <a:ea typeface="Tahoma" panose="020B0604030504040204" pitchFamily="34" charset="0"/>
                <a:cs typeface="Tahoma" panose="020B0604030504040204" pitchFamily="34" charset="0"/>
              </a:rPr>
              <a:t>downregulating</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TNF-</a:t>
            </a:r>
            <a:r>
              <a:rPr dirty="0" sz="1600" lang="en-US" spc="-85">
                <a:latin typeface="Tahoma" panose="020B0604030504040204" pitchFamily="34" charset="0"/>
                <a:ea typeface="Tahoma" panose="020B0604030504040204" pitchFamily="34" charset="0"/>
                <a:cs typeface="Tahoma" panose="020B0604030504040204" pitchFamily="34" charset="0"/>
              </a:rPr>
              <a:t>α-</a:t>
            </a:r>
            <a:r>
              <a:rPr dirty="0" sz="1600" lang="en-US" spc="50">
                <a:latin typeface="Tahoma" panose="020B0604030504040204" pitchFamily="34" charset="0"/>
                <a:ea typeface="Tahoma" panose="020B0604030504040204" pitchFamily="34" charset="0"/>
                <a:cs typeface="Tahoma" panose="020B0604030504040204" pitchFamily="34" charset="0"/>
              </a:rPr>
              <a:t>mediated</a:t>
            </a:r>
            <a:r>
              <a:rPr dirty="0" sz="1600" lang="en-US" spc="1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synovial</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proliferation</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6985">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Experimental</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approaches,</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229">
                <a:latin typeface="Tahoma" panose="020B0604030504040204" pitchFamily="34" charset="0"/>
                <a:ea typeface="Tahoma" panose="020B0604030504040204" pitchFamily="34" charset="0"/>
                <a:cs typeface="Tahoma" panose="020B0604030504040204" pitchFamily="34" charset="0"/>
              </a:rPr>
              <a:t>  </a:t>
            </a:r>
            <a:r>
              <a:rPr b="1" dirty="0" sz="1600" lang="en-US" spc="55">
                <a:latin typeface="Tahoma" panose="020B0604030504040204" pitchFamily="34" charset="0"/>
                <a:ea typeface="Tahoma" panose="020B0604030504040204" pitchFamily="34" charset="0"/>
                <a:cs typeface="Tahoma" panose="020B0604030504040204" pitchFamily="34" charset="0"/>
              </a:rPr>
              <a:t>ozone</a:t>
            </a:r>
            <a:r>
              <a:rPr b="1" dirty="0" sz="1600" lang="en-US" spc="229">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therapy</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may</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offer </a:t>
            </a:r>
            <a:r>
              <a:rPr dirty="0" sz="1600" lang="en-US">
                <a:latin typeface="Tahoma" panose="020B0604030504040204" pitchFamily="34" charset="0"/>
                <a:ea typeface="Tahoma" panose="020B0604030504040204" pitchFamily="34" charset="0"/>
                <a:cs typeface="Tahoma" panose="020B0604030504040204" pitchFamily="34" charset="0"/>
              </a:rPr>
              <a:t>alternative</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options</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selected</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dirty="0" sz="1600" lang="en-US" spc="25">
                <a:latin typeface="Tahoma" panose="020B0604030504040204" pitchFamily="34" charset="0"/>
                <a:ea typeface="Tahoma" panose="020B0604030504040204" pitchFamily="34" charset="0"/>
                <a:cs typeface="Tahoma" panose="020B0604030504040204" pitchFamily="34" charset="0"/>
              </a:rPr>
              <a:t>Moreover,</a:t>
            </a:r>
            <a:r>
              <a:rPr dirty="0" sz="1600" lang="en-US" spc="8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805">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use</a:t>
            </a:r>
            <a:r>
              <a:rPr dirty="0" sz="1600" lang="en-US" spc="80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7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targeted</a:t>
            </a:r>
            <a:r>
              <a:rPr dirty="0" sz="1600" lang="en-US" spc="795">
                <a:latin typeface="Tahoma" panose="020B0604030504040204" pitchFamily="34" charset="0"/>
                <a:ea typeface="Tahoma" panose="020B0604030504040204" pitchFamily="34" charset="0"/>
                <a:cs typeface="Tahoma" panose="020B0604030504040204" pitchFamily="34" charset="0"/>
              </a:rPr>
              <a:t> </a:t>
            </a:r>
            <a:r>
              <a:rPr dirty="0" sz="1600" lang="en-US" spc="15">
                <a:latin typeface="Tahoma" panose="020B0604030504040204" pitchFamily="34" charset="0"/>
                <a:ea typeface="Tahoma" panose="020B0604030504040204" pitchFamily="34" charset="0"/>
                <a:cs typeface="Tahoma" panose="020B0604030504040204" pitchFamily="34" charset="0"/>
              </a:rPr>
              <a:t>small-</a:t>
            </a:r>
            <a:r>
              <a:rPr dirty="0" sz="1600" lang="en-US" spc="40">
                <a:latin typeface="Tahoma" panose="020B0604030504040204" pitchFamily="34" charset="0"/>
                <a:ea typeface="Tahoma" panose="020B0604030504040204" pitchFamily="34" charset="0"/>
                <a:cs typeface="Tahoma" panose="020B0604030504040204" pitchFamily="34" charset="0"/>
              </a:rPr>
              <a:t>molecule</a:t>
            </a:r>
            <a:r>
              <a:rPr dirty="0" sz="1600" lang="en-US" spc="805">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inhibitors</a:t>
            </a:r>
            <a:r>
              <a:rPr dirty="0" sz="1600" lang="en-US" spc="79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like</a:t>
            </a:r>
            <a:r>
              <a:rPr dirty="0" sz="1600" lang="en-US" spc="20">
                <a:latin typeface="Tahoma" panose="020B0604030504040204" pitchFamily="34" charset="0"/>
                <a:ea typeface="Tahoma" panose="020B0604030504040204" pitchFamily="34" charset="0"/>
                <a:cs typeface="Tahoma" panose="020B0604030504040204" pitchFamily="34" charset="0"/>
              </a:rPr>
              <a:t> </a:t>
            </a:r>
            <a:r>
              <a:rPr b="1" dirty="0" sz="1600" lang="en-US" spc="20" err="1">
                <a:latin typeface="Tahoma" panose="020B0604030504040204" pitchFamily="34" charset="0"/>
                <a:ea typeface="Tahoma" panose="020B0604030504040204" pitchFamily="34" charset="0"/>
                <a:cs typeface="Tahoma" panose="020B0604030504040204" pitchFamily="34" charset="0"/>
              </a:rPr>
              <a:t>pexidartinib</a:t>
            </a:r>
            <a:r>
              <a:rPr dirty="0" sz="1600" lang="en-US" spc="20">
                <a:latin typeface="Tahoma" panose="020B0604030504040204" pitchFamily="34" charset="0"/>
                <a:ea typeface="Tahoma" panose="020B0604030504040204" pitchFamily="34" charset="0"/>
                <a:cs typeface="Tahoma" panose="020B0604030504040204" pitchFamily="34" charset="0"/>
              </a:rPr>
              <a:t>,</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a</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selective</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Colony-Stimulating</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Factor</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340">
                <a:latin typeface="Tahoma" panose="020B0604030504040204" pitchFamily="34" charset="0"/>
                <a:ea typeface="Tahoma" panose="020B0604030504040204" pitchFamily="34" charset="0"/>
                <a:cs typeface="Tahoma" panose="020B0604030504040204" pitchFamily="34" charset="0"/>
              </a:rPr>
              <a:t>1</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inhibitor</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(CSF1R),</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spc="15">
                <a:latin typeface="Tahoma" panose="020B0604030504040204" pitchFamily="34" charset="0"/>
                <a:ea typeface="Tahoma" panose="020B0604030504040204" pitchFamily="34" charset="0"/>
                <a:cs typeface="Tahoma" panose="020B0604030504040204" pitchFamily="34" charset="0"/>
              </a:rPr>
              <a:t>has</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recently</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transformed</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therapeutic</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strategies.</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Clinical</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trials</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have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demonstrated</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significant</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tumor</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regression</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and</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100">
                <a:latin typeface="Tahoma" panose="020B0604030504040204" pitchFamily="34" charset="0"/>
                <a:ea typeface="Tahoma" panose="020B0604030504040204" pitchFamily="34" charset="0"/>
                <a:cs typeface="Tahoma" panose="020B0604030504040204" pitchFamily="34" charset="0"/>
              </a:rPr>
              <a:t>symptom</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relief</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in</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patients</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unresectable</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or</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recurrent</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5">
                <a:latin typeface="Tahoma" panose="020B0604030504040204" pitchFamily="34" charset="0"/>
                <a:ea typeface="Tahoma" panose="020B0604030504040204" pitchFamily="34" charset="0"/>
                <a:cs typeface="Tahoma" panose="020B0604030504040204" pitchFamily="34" charset="0"/>
              </a:rPr>
              <a:t>disease.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However,</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these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agents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not</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without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adverse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effects,</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and</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their</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long-</a:t>
            </a:r>
            <a:r>
              <a:rPr dirty="0" sz="1600" lang="en-US" spc="75">
                <a:latin typeface="Tahoma" panose="020B0604030504040204" pitchFamily="34" charset="0"/>
                <a:ea typeface="Tahoma" panose="020B0604030504040204" pitchFamily="34" charset="0"/>
                <a:cs typeface="Tahoma" panose="020B0604030504040204" pitchFamily="34" charset="0"/>
              </a:rPr>
              <a:t>term</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safety</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profiles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remain</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under</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evaluation</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125">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indent="0" marL="0">
              <a:buNone/>
            </a:pPr>
            <a:endParaRPr dirty="0"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0" name="Content Placeholder 2"/>
          <p:cNvSpPr>
            <a:spLocks noGrp="1"/>
          </p:cNvSpPr>
          <p:nvPr>
            <p:ph idx="1"/>
          </p:nvPr>
        </p:nvSpPr>
        <p:spPr>
          <a:xfrm>
            <a:off x="0" y="1340426"/>
            <a:ext cx="12192000" cy="5517573"/>
          </a:xfrm>
        </p:spPr>
        <p:txBody>
          <a:bodyPr/>
          <a:p>
            <a:pPr algn="just" marL="12700" marR="635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It</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important</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consider</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how</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manifests</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different</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clinical </a:t>
            </a:r>
            <a:r>
              <a:rPr dirty="0" sz="1600" lang="en-US" spc="35">
                <a:latin typeface="Tahoma" panose="020B0604030504040204" pitchFamily="34" charset="0"/>
                <a:ea typeface="Tahoma" panose="020B0604030504040204" pitchFamily="34" charset="0"/>
                <a:cs typeface="Tahoma" panose="020B0604030504040204" pitchFamily="34" charset="0"/>
              </a:rPr>
              <a:t>contexts.</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635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29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multifocal</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disease</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involving</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both</a:t>
            </a:r>
            <a:r>
              <a:rPr dirty="0" sz="1600" lang="en-US" spc="2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intra-</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extra-</a:t>
            </a:r>
            <a:r>
              <a:rPr dirty="0" sz="1600" lang="en-US" spc="-10">
                <a:latin typeface="Tahoma" panose="020B0604030504040204" pitchFamily="34" charset="0"/>
                <a:ea typeface="Tahoma" panose="020B0604030504040204" pitchFamily="34" charset="0"/>
                <a:cs typeface="Tahoma" panose="020B0604030504040204" pitchFamily="34" charset="0"/>
              </a:rPr>
              <a:t>articular </a:t>
            </a:r>
            <a:r>
              <a:rPr dirty="0" sz="1600" lang="en-US" spc="45">
                <a:latin typeface="Tahoma" panose="020B0604030504040204" pitchFamily="34" charset="0"/>
                <a:ea typeface="Tahoma" panose="020B0604030504040204" pitchFamily="34" charset="0"/>
                <a:cs typeface="Tahoma" panose="020B0604030504040204" pitchFamily="34" charset="0"/>
              </a:rPr>
              <a:t>structures</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may</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present</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diagnostic</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therapeutic</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dilemma</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addition,</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it</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has</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been</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observed</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that</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associations</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systemic </a:t>
            </a:r>
            <a:r>
              <a:rPr dirty="0" sz="1600" lang="en-US">
                <a:latin typeface="Tahoma" panose="020B0604030504040204" pitchFamily="34" charset="0"/>
                <a:ea typeface="Tahoma" panose="020B0604030504040204" pitchFamily="34" charset="0"/>
                <a:cs typeface="Tahoma" panose="020B0604030504040204" pitchFamily="34" charset="0"/>
              </a:rPr>
              <a:t>conditions,</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rheumatoid</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arthritis,</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can</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add</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further</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complexity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clinical</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presentations</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potentially</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lead</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delays</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in </a:t>
            </a:r>
            <a:r>
              <a:rPr dirty="0" sz="1600" lang="en-US">
                <a:latin typeface="Tahoma" panose="020B0604030504040204" pitchFamily="34" charset="0"/>
                <a:ea typeface="Tahoma" panose="020B0604030504040204" pitchFamily="34" charset="0"/>
                <a:cs typeface="Tahoma" panose="020B0604030504040204" pitchFamily="34" charset="0"/>
              </a:rPr>
              <a:t>diagnosis</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Unusual</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presentations,</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following</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total</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knee </a:t>
            </a:r>
            <a:r>
              <a:rPr dirty="0" sz="1600" lang="en-US">
                <a:latin typeface="Tahoma" panose="020B0604030504040204" pitchFamily="34" charset="0"/>
                <a:ea typeface="Tahoma" panose="020B0604030504040204" pitchFamily="34" charset="0"/>
                <a:cs typeface="Tahoma" panose="020B0604030504040204" pitchFamily="34" charset="0"/>
              </a:rPr>
              <a:t>arthroplasty,</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challenge</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conventional</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postoperative</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complication </a:t>
            </a:r>
            <a:r>
              <a:rPr dirty="0" sz="1600" lang="en-US" spc="45">
                <a:latin typeface="Tahoma" panose="020B0604030504040204" pitchFamily="34" charset="0"/>
                <a:ea typeface="Tahoma" panose="020B0604030504040204" pitchFamily="34" charset="0"/>
                <a:cs typeface="Tahoma" panose="020B0604030504040204" pitchFamily="34" charset="0"/>
              </a:rPr>
              <a:t>patterns</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Pediatric</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although</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rare,</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emphasize</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 </a:t>
            </a:r>
            <a:r>
              <a:rPr dirty="0" sz="1600" lang="en-US" spc="50">
                <a:latin typeface="Tahoma" panose="020B0604030504040204" pitchFamily="34" charset="0"/>
                <a:ea typeface="Tahoma" panose="020B0604030504040204" pitchFamily="34" charset="0"/>
                <a:cs typeface="Tahoma" panose="020B0604030504040204" pitchFamily="34" charset="0"/>
              </a:rPr>
              <a:t>importance</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including</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in</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differential</a:t>
            </a:r>
            <a:r>
              <a:rPr dirty="0" sz="1600" lang="en-US" spc="5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diagnosis</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chronic </a:t>
            </a:r>
            <a:r>
              <a:rPr dirty="0" sz="1600" lang="en-US" spc="45" err="1">
                <a:latin typeface="Tahoma" panose="020B0604030504040204" pitchFamily="34" charset="0"/>
                <a:ea typeface="Tahoma" panose="020B0604030504040204" pitchFamily="34" charset="0"/>
                <a:cs typeface="Tahoma" panose="020B0604030504040204" pitchFamily="34" charset="0"/>
              </a:rPr>
              <a:t>monoarthritis</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highlight</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need</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tailored</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treatment</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to </a:t>
            </a:r>
            <a:r>
              <a:rPr dirty="0" sz="1600" lang="en-US">
                <a:latin typeface="Tahoma" panose="020B0604030504040204" pitchFamily="34" charset="0"/>
                <a:ea typeface="Tahoma" panose="020B0604030504040204" pitchFamily="34" charset="0"/>
                <a:cs typeface="Tahoma" panose="020B0604030504040204" pitchFamily="34" charset="0"/>
              </a:rPr>
              <a:t>preserve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growth</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potential</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function</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100"/>
              </a:spcBef>
            </a:pP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100"/>
              </a:spcBef>
            </a:pPr>
            <a:r>
              <a:rPr dirty="0" sz="1600" lang="en-US">
                <a:latin typeface="Tahoma" panose="020B0604030504040204" pitchFamily="34" charset="0"/>
                <a:ea typeface="Tahoma" panose="020B0604030504040204" pitchFamily="34" charset="0"/>
                <a:cs typeface="Tahoma" panose="020B0604030504040204" pitchFamily="34" charset="0"/>
              </a:rPr>
              <a:t>Despite</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advances</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imaging,</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surgical</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techniques,</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adjuvant </a:t>
            </a:r>
            <a:r>
              <a:rPr dirty="0" sz="1600" lang="en-US">
                <a:latin typeface="Tahoma" panose="020B0604030504040204" pitchFamily="34" charset="0"/>
                <a:ea typeface="Tahoma" panose="020B0604030504040204" pitchFamily="34" charset="0"/>
                <a:cs typeface="Tahoma" panose="020B0604030504040204" pitchFamily="34" charset="0"/>
              </a:rPr>
              <a:t>therapies,</a:t>
            </a:r>
            <a:r>
              <a:rPr dirty="0" sz="1600" lang="en-US" spc="49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optimal</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management</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strategy</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49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remains </a:t>
            </a:r>
            <a:r>
              <a:rPr dirty="0" sz="1600" lang="en-US">
                <a:latin typeface="Tahoma" panose="020B0604030504040204" pitchFamily="34" charset="0"/>
                <a:ea typeface="Tahoma" panose="020B0604030504040204" pitchFamily="34" charset="0"/>
                <a:cs typeface="Tahoma" panose="020B0604030504040204" pitchFamily="34" charset="0"/>
              </a:rPr>
              <a:t>controversial.</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The</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decision-</a:t>
            </a:r>
            <a:r>
              <a:rPr dirty="0" sz="1600" lang="en-US" spc="50">
                <a:latin typeface="Tahoma" panose="020B0604030504040204" pitchFamily="34" charset="0"/>
                <a:ea typeface="Tahoma" panose="020B0604030504040204" pitchFamily="34" charset="0"/>
                <a:cs typeface="Tahoma" panose="020B0604030504040204" pitchFamily="34" charset="0"/>
              </a:rPr>
              <a:t>making</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process</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must</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take</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into</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account </a:t>
            </a:r>
            <a:r>
              <a:rPr dirty="0" sz="1600" lang="en-US">
                <a:latin typeface="Tahoma" panose="020B0604030504040204" pitchFamily="34" charset="0"/>
                <a:ea typeface="Tahoma" panose="020B0604030504040204" pitchFamily="34" charset="0"/>
                <a:cs typeface="Tahoma" panose="020B0604030504040204" pitchFamily="34" charset="0"/>
              </a:rPr>
              <a:t>disease</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spc="80">
                <a:latin typeface="Tahoma" panose="020B0604030504040204" pitchFamily="34" charset="0"/>
                <a:ea typeface="Tahoma" panose="020B0604030504040204" pitchFamily="34" charset="0"/>
                <a:cs typeface="Tahoma" panose="020B0604030504040204" pitchFamily="34" charset="0"/>
              </a:rPr>
              <a:t>form</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(localized</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vs</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diffuse),</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anatomic</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location,</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patient</a:t>
            </a:r>
            <a:r>
              <a:rPr dirty="0" sz="1600" lang="en-US" spc="31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age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activity</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level,</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previous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treatments,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risk</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spc="10">
                <a:latin typeface="Tahoma" panose="020B0604030504040204" pitchFamily="34" charset="0"/>
                <a:ea typeface="Tahoma" panose="020B0604030504040204" pitchFamily="34" charset="0"/>
                <a:cs typeface="Tahoma" panose="020B0604030504040204" pitchFamily="34" charset="0"/>
              </a:rPr>
              <a:t>comorbidities.</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Furthermore,</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long-</a:t>
            </a:r>
            <a:r>
              <a:rPr dirty="0" sz="1600" lang="en-US" spc="75">
                <a:latin typeface="Tahoma" panose="020B0604030504040204" pitchFamily="34" charset="0"/>
                <a:ea typeface="Tahoma" panose="020B0604030504040204" pitchFamily="34" charset="0"/>
                <a:cs typeface="Tahoma" panose="020B0604030504040204" pitchFamily="34" charset="0"/>
              </a:rPr>
              <a:t>term</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data</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on</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functional</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outcomes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quality</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life</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scarce,</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no</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standardized</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treatment </a:t>
            </a:r>
            <a:r>
              <a:rPr dirty="0" sz="1600" lang="en-US" spc="10">
                <a:latin typeface="Tahoma" panose="020B0604030504040204" pitchFamily="34" charset="0"/>
                <a:ea typeface="Tahoma" panose="020B0604030504040204" pitchFamily="34" charset="0"/>
                <a:cs typeface="Tahoma" panose="020B0604030504040204" pitchFamily="34" charset="0"/>
              </a:rPr>
              <a:t>algorithm</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currently</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exists.</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635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The</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aim</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this</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narrative</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review</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critically</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evaluate</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current </a:t>
            </a:r>
            <a:r>
              <a:rPr dirty="0" sz="1600" lang="en-US">
                <a:latin typeface="Tahoma" panose="020B0604030504040204" pitchFamily="34" charset="0"/>
                <a:ea typeface="Tahoma" panose="020B0604030504040204" pitchFamily="34" charset="0"/>
                <a:cs typeface="Tahoma" panose="020B0604030504040204" pitchFamily="34" charset="0"/>
              </a:rPr>
              <a:t>evidence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regarding</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diagnosis</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treatment</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options</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PVNS.</a:t>
            </a:r>
          </a:p>
          <a:p>
            <a:pPr indent="0" marL="0">
              <a:buNone/>
            </a:pPr>
            <a:endParaRPr dirty="0" sz="1400"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1" name="Title 1"/>
          <p:cNvSpPr>
            <a:spLocks noGrp="1"/>
          </p:cNvSpPr>
          <p:nvPr>
            <p:ph idx="1"/>
          </p:nvPr>
        </p:nvSpPr>
        <p:spPr>
          <a:xfrm>
            <a:off x="73025" y="1309688"/>
            <a:ext cx="12001500" cy="5465762"/>
          </a:xfrm>
        </p:spPr>
        <p:txBody>
          <a:bodyPr/>
          <a:p>
            <a:endParaRPr dirty="0" sz="1400" lang="en-US" spc="-20">
              <a:latin typeface="Tahoma"/>
              <a:cs typeface="Tahoma"/>
            </a:endParaRPr>
          </a:p>
          <a:p>
            <a:pPr algn="just" marL="12700" marR="6350">
              <a:lnSpc>
                <a:spcPct val="110000"/>
              </a:lnSpc>
              <a:spcBef>
                <a:spcPts val="800"/>
              </a:spcBef>
            </a:pPr>
            <a:r>
              <a:rPr b="1" dirty="0" sz="1600" lang="en-US" spc="-10" err="1">
                <a:latin typeface="Tahoma" panose="020B0604030504040204" pitchFamily="34" charset="0"/>
                <a:ea typeface="Tahoma" panose="020B0604030504040204" pitchFamily="34" charset="0"/>
                <a:cs typeface="Tahoma" panose="020B0604030504040204" pitchFamily="34" charset="0"/>
              </a:rPr>
              <a:t>Methadology</a:t>
            </a:r>
            <a:endParaRPr b="1" dirty="0" sz="1600" lang="en-US" spc="-10">
              <a:latin typeface="Tahoma" panose="020B0604030504040204" pitchFamily="34" charset="0"/>
              <a:ea typeface="Tahoma" panose="020B0604030504040204" pitchFamily="34" charset="0"/>
              <a:cs typeface="Tahoma" panose="020B0604030504040204" pitchFamily="34" charset="0"/>
            </a:endParaRPr>
          </a:p>
          <a:p>
            <a:pPr algn="just" marL="12700" marR="6350">
              <a:lnSpc>
                <a:spcPct val="110000"/>
              </a:lnSpc>
              <a:spcBef>
                <a:spcPts val="800"/>
              </a:spcBef>
            </a:pPr>
            <a:r>
              <a:rPr b="1"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 comprehensive narrative review of the literature indexed in PubMed, MEDLINE, and Scopus databases, using search terms: “pigmented”, “villonodular”, “synovitis”, “knee”, “surgery”, and their medical subject headings (</a:t>
            </a:r>
            <a:r>
              <a:rPr dirty="0" sz="1600" lang="en-US" err="1">
                <a:latin typeface="Tahoma" panose="020B0604030504040204" pitchFamily="34" charset="0"/>
                <a:ea typeface="Tahoma" panose="020B0604030504040204" pitchFamily="34" charset="0"/>
                <a:cs typeface="Tahoma" panose="020B0604030504040204" pitchFamily="34" charset="0"/>
              </a:rPr>
              <a:t>MeSH</a:t>
            </a:r>
            <a:r>
              <a:rPr dirty="0" sz="1600" lang="en-US">
                <a:latin typeface="Tahoma" panose="020B0604030504040204" pitchFamily="34" charset="0"/>
                <a:ea typeface="Tahoma" panose="020B0604030504040204" pitchFamily="34" charset="0"/>
                <a:cs typeface="Tahoma" panose="020B0604030504040204" pitchFamily="34" charset="0"/>
              </a:rPr>
              <a:t>) terms in any possible combination, using the Boolean operators “AND” and “OR”, was performed. The reference lists of relevant studies were screened to identify other studies of interest. Both prospective and retrospective studies were considered to ensure a thorough review of the available evidence.</a:t>
            </a:r>
          </a:p>
          <a:p>
            <a:pPr indent="0" marL="0" marR="223520">
              <a:lnSpc>
                <a:spcPct val="143400"/>
              </a:lnSpc>
              <a:spcBef>
                <a:spcPts val="5"/>
              </a:spcBef>
              <a:buNone/>
            </a:pPr>
            <a:r>
              <a:rPr altLang="en-IN" dirty="0" sz="1600" lang="en-US" spc="50">
                <a:latin typeface="Tahoma" panose="020B0604030504040204" pitchFamily="34" charset="0"/>
                <a:ea typeface="Tahoma" panose="020B0604030504040204" pitchFamily="34" charset="0"/>
                <a:cs typeface="Tahoma" panose="020B0604030504040204" pitchFamily="34" charset="0"/>
              </a:rPr>
              <a:t>.</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Stud</a:t>
            </a:r>
            <a:r>
              <a:rPr altLang="en-IN" dirty="0" sz="1600" lang="en-US" spc="20">
                <a:latin typeface="Tahoma" panose="020B0604030504040204" pitchFamily="34" charset="0"/>
                <a:ea typeface="Tahoma" panose="020B0604030504040204" pitchFamily="34" charset="0"/>
                <a:cs typeface="Tahoma" panose="020B0604030504040204" pitchFamily="34" charset="0"/>
              </a:rPr>
              <a:t>y involves </a:t>
            </a:r>
            <a:r>
              <a:rPr dirty="0" sz="1600" lang="en-US" spc="45">
                <a:latin typeface="Tahoma" panose="020B0604030504040204" pitchFamily="34" charset="0"/>
                <a:ea typeface="Tahoma" panose="020B0604030504040204" pitchFamily="34" charset="0"/>
                <a:cs typeface="Tahoma" panose="020B0604030504040204" pitchFamily="34" charset="0"/>
              </a:rPr>
              <a:t>reporting</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on</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epidemiology,</a:t>
            </a:r>
            <a:r>
              <a:rPr dirty="0" sz="1600" lang="en-US" spc="10">
                <a:latin typeface="Tahoma" panose="020B0604030504040204" pitchFamily="34" charset="0"/>
                <a:ea typeface="Tahoma" panose="020B0604030504040204" pitchFamily="34" charset="0"/>
                <a:cs typeface="Tahoma" panose="020B0604030504040204" pitchFamily="34" charset="0"/>
              </a:rPr>
              <a:t> clinical</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features, </a:t>
            </a:r>
            <a:r>
              <a:rPr dirty="0" sz="1600" lang="en-US" spc="10">
                <a:latin typeface="Tahoma" panose="020B0604030504040204" pitchFamily="34" charset="0"/>
                <a:ea typeface="Tahoma" panose="020B0604030504040204" pitchFamily="34" charset="0"/>
                <a:cs typeface="Tahoma" panose="020B0604030504040204" pitchFamily="34" charset="0"/>
              </a:rPr>
              <a:t>imaging,</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treatment,</a:t>
            </a:r>
            <a:r>
              <a:rPr dirty="0" sz="1600" lang="en-US" spc="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and</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outcomes</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were</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included..</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indent="-327025" lvl="1" marL="339725">
              <a:lnSpc>
                <a:spcPct val="100000"/>
              </a:lnSpc>
              <a:spcBef>
                <a:spcPts val="965"/>
              </a:spcBef>
              <a:buAutoNum type="arabicPeriod"/>
              <a:tabLst>
                <a:tab algn="l" pos="339725"/>
              </a:tabLst>
            </a:pPr>
            <a:r>
              <a:rPr b="1" dirty="0" sz="1600" lang="en-US">
                <a:latin typeface="Tahoma" panose="020B0604030504040204" pitchFamily="34" charset="0"/>
                <a:ea typeface="Tahoma" panose="020B0604030504040204" pitchFamily="34" charset="0"/>
                <a:cs typeface="Tahoma" panose="020B0604030504040204" pitchFamily="34" charset="0"/>
              </a:rPr>
              <a:t>Inclusion</a:t>
            </a:r>
            <a:r>
              <a:rPr b="1" dirty="0" sz="1600" lang="en-US" spc="80">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and</a:t>
            </a:r>
            <a:r>
              <a:rPr b="1" dirty="0" sz="1600" lang="en-US" spc="85">
                <a:latin typeface="Tahoma" panose="020B0604030504040204" pitchFamily="34" charset="0"/>
                <a:ea typeface="Tahoma" panose="020B0604030504040204" pitchFamily="34" charset="0"/>
                <a:cs typeface="Tahoma" panose="020B0604030504040204" pitchFamily="34" charset="0"/>
              </a:rPr>
              <a:t> </a:t>
            </a:r>
            <a:r>
              <a:rPr b="1" dirty="0" sz="1600" lang="en-US">
                <a:latin typeface="Tahoma" panose="020B0604030504040204" pitchFamily="34" charset="0"/>
                <a:ea typeface="Tahoma" panose="020B0604030504040204" pitchFamily="34" charset="0"/>
                <a:cs typeface="Tahoma" panose="020B0604030504040204" pitchFamily="34" charset="0"/>
              </a:rPr>
              <a:t>Exclusion</a:t>
            </a:r>
            <a:r>
              <a:rPr b="1" dirty="0" sz="1600" lang="en-US" spc="75">
                <a:latin typeface="Tahoma" panose="020B0604030504040204" pitchFamily="34" charset="0"/>
                <a:ea typeface="Tahoma" panose="020B0604030504040204" pitchFamily="34" charset="0"/>
                <a:cs typeface="Tahoma" panose="020B0604030504040204" pitchFamily="34" charset="0"/>
              </a:rPr>
              <a:t> </a:t>
            </a:r>
            <a:r>
              <a:rPr b="1" dirty="0" sz="1600" lang="en-US" spc="-10">
                <a:latin typeface="Tahoma" panose="020B0604030504040204" pitchFamily="34" charset="0"/>
                <a:ea typeface="Tahoma" panose="020B0604030504040204" pitchFamily="34" charset="0"/>
                <a:cs typeface="Tahoma" panose="020B0604030504040204" pitchFamily="34" charset="0"/>
              </a:rPr>
              <a:t>Criteria</a:t>
            </a:r>
            <a:endParaRPr b="1"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800"/>
              </a:spcBef>
            </a:pPr>
            <a:r>
              <a:rPr dirty="0" sz="1600" lang="en-US">
                <a:latin typeface="Tahoma" panose="020B0604030504040204" pitchFamily="34" charset="0"/>
                <a:ea typeface="Tahoma" panose="020B0604030504040204" pitchFamily="34" charset="0"/>
                <a:cs typeface="Tahoma" panose="020B0604030504040204" pitchFamily="34" charset="0"/>
              </a:rPr>
              <a:t>To</a:t>
            </a:r>
            <a:r>
              <a:rPr dirty="0" sz="1600" lang="en-US" spc="1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ensure</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relevance</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quality</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included</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studies,</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specific </a:t>
            </a:r>
            <a:r>
              <a:rPr dirty="0" sz="1600" lang="en-US">
                <a:latin typeface="Tahoma" panose="020B0604030504040204" pitchFamily="34" charset="0"/>
                <a:ea typeface="Tahoma" panose="020B0604030504040204" pitchFamily="34" charset="0"/>
                <a:cs typeface="Tahoma" panose="020B0604030504040204" pitchFamily="34" charset="0"/>
              </a:rPr>
              <a:t>inclusion</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exclusion</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criteria</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were</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established.</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Included</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this </a:t>
            </a:r>
            <a:r>
              <a:rPr dirty="0" sz="1600" lang="en-US">
                <a:latin typeface="Tahoma" panose="020B0604030504040204" pitchFamily="34" charset="0"/>
                <a:ea typeface="Tahoma" panose="020B0604030504040204" pitchFamily="34" charset="0"/>
                <a:cs typeface="Tahoma" panose="020B0604030504040204" pitchFamily="34" charset="0"/>
              </a:rPr>
              <a:t>review</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studies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reporting</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demographic</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features,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symptoms, </a:t>
            </a:r>
            <a:r>
              <a:rPr dirty="0" sz="1600" lang="en-US">
                <a:latin typeface="Tahoma" panose="020B0604030504040204" pitchFamily="34" charset="0"/>
                <a:ea typeface="Tahoma" panose="020B0604030504040204" pitchFamily="34" charset="0"/>
                <a:cs typeface="Tahoma" panose="020B0604030504040204" pitchFamily="34" charset="0"/>
              </a:rPr>
              <a:t>diagnostic</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settings,</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treatment,</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possible</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complications,</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spc="75">
                <a:latin typeface="Tahoma" panose="020B0604030504040204" pitchFamily="34" charset="0"/>
                <a:ea typeface="Tahoma" panose="020B0604030504040204" pitchFamily="34" charset="0"/>
                <a:cs typeface="Tahoma" panose="020B0604030504040204" pitchFamily="34" charset="0"/>
              </a:rPr>
              <a:t>outcomes</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patients</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Excluded</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from </a:t>
            </a:r>
            <a:r>
              <a:rPr dirty="0" sz="1600" lang="en-US">
                <a:latin typeface="Tahoma" panose="020B0604030504040204" pitchFamily="34" charset="0"/>
                <a:ea typeface="Tahoma" panose="020B0604030504040204" pitchFamily="34" charset="0"/>
                <a:cs typeface="Tahoma" panose="020B0604030504040204" pitchFamily="34" charset="0"/>
              </a:rPr>
              <a:t>this</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review</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were</a:t>
            </a:r>
            <a:r>
              <a:rPr dirty="0" sz="1600" lang="en-US" spc="45">
                <a:latin typeface="Tahoma" panose="020B0604030504040204" pitchFamily="34" charset="0"/>
                <a:ea typeface="Tahoma" panose="020B0604030504040204" pitchFamily="34" charset="0"/>
                <a:cs typeface="Tahoma" panose="020B0604030504040204" pitchFamily="34" charset="0"/>
              </a:rPr>
              <a:t>  reports</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surgical</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technique</a:t>
            </a:r>
            <a:r>
              <a:rPr dirty="0" sz="1600" lang="en-US" spc="35">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indent="0" marL="0">
              <a:buNone/>
            </a:pPr>
            <a:r>
              <a:rPr b="1" dirty="0" sz="1600" lang="en-US">
                <a:latin typeface="Tahoma" panose="020B0604030504040204" pitchFamily="34" charset="0"/>
                <a:ea typeface="Tahoma" panose="020B0604030504040204" pitchFamily="34" charset="0"/>
                <a:cs typeface="Tahoma" panose="020B0604030504040204" pitchFamily="34" charset="0"/>
              </a:rPr>
              <a:t>  Demographical Data</a:t>
            </a:r>
          </a:p>
          <a:p>
            <a:pPr indent="0" marL="0">
              <a:buNone/>
            </a:pPr>
            <a:r>
              <a:rPr dirty="0" sz="1600" lang="en-US">
                <a:latin typeface="Tahoma" panose="020B0604030504040204" pitchFamily="34" charset="0"/>
                <a:ea typeface="Tahoma" panose="020B0604030504040204" pitchFamily="34" charset="0"/>
                <a:cs typeface="Tahoma" panose="020B0604030504040204" pitchFamily="34" charset="0"/>
              </a:rPr>
              <a:t>          In  patients diagnosed with PVNS of the knee were analyzed. The mean age of the patients was 25.7 years (range: 1–74). </a:t>
            </a:r>
          </a:p>
          <a:p>
            <a:endParaRPr b="1" dirty="0" sz="2000" lang="en-US" spc="-20">
              <a:latin typeface="Tahoma"/>
              <a:cs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02" name="Content Placeholder 2"/>
          <p:cNvSpPr>
            <a:spLocks noGrp="1"/>
          </p:cNvSpPr>
          <p:nvPr>
            <p:ph idx="1"/>
          </p:nvPr>
        </p:nvSpPr>
        <p:spPr>
          <a:xfrm>
            <a:off x="68826" y="1327354"/>
            <a:ext cx="12123174" cy="5530645"/>
          </a:xfrm>
        </p:spPr>
        <p:txBody>
          <a:bodyPr/>
          <a:p>
            <a:r>
              <a:rPr b="1" dirty="0" sz="2000" lang="en-US">
                <a:latin typeface="Tahoma" panose="020B0604030504040204" pitchFamily="34" charset="0"/>
                <a:ea typeface="Tahoma" panose="020B0604030504040204" pitchFamily="34" charset="0"/>
                <a:cs typeface="Tahoma" panose="020B0604030504040204" pitchFamily="34" charset="0"/>
              </a:rPr>
              <a:t>Presentation Symptoms and Underlying Conditions</a:t>
            </a:r>
          </a:p>
          <a:p>
            <a:r>
              <a:rPr dirty="0" sz="2000" lang="en-US">
                <a:latin typeface="Tahoma" panose="020B0604030504040204" pitchFamily="34" charset="0"/>
                <a:ea typeface="Tahoma" panose="020B0604030504040204" pitchFamily="34" charset="0"/>
                <a:cs typeface="Tahoma" panose="020B0604030504040204" pitchFamily="34" charset="0"/>
              </a:rPr>
              <a:t>The clinical manifestations of PVNS and related synovial proliferative disorders exhibit notable heterogeneity. Despite this variability, all the patients consistently presented with knee pain and joint swelling, and the majority with mechanical symptoms, including locking, instability, and restricted range of motion. </a:t>
            </a:r>
          </a:p>
          <a:p>
            <a:r>
              <a:rPr dirty="0" sz="2000" lang="en-US">
                <a:latin typeface="Tahoma" panose="020B0604030504040204" pitchFamily="34" charset="0"/>
                <a:ea typeface="Tahoma" panose="020B0604030504040204" pitchFamily="34" charset="0"/>
                <a:cs typeface="Tahoma" panose="020B0604030504040204" pitchFamily="34" charset="0"/>
              </a:rPr>
              <a:t>A substantial subset reported chronic or progressively worsening symptoms, with symptom duration ranging from several weeks to multiple years prior to definitive diagnosis. Misdiagnosis in the early stages was not uncommon, with two cases initially at-tributed to juvenile idiopathic arthritis and one case to Familial Mediterranean Fever, thereby contributing to delays in appropriate management .</a:t>
            </a:r>
          </a:p>
          <a:p>
            <a:r>
              <a:rPr dirty="0" sz="2000" lang="en-US">
                <a:latin typeface="Tahoma" panose="020B0604030504040204" pitchFamily="34" charset="0"/>
                <a:ea typeface="Tahoma" panose="020B0604030504040204" pitchFamily="34" charset="0"/>
                <a:cs typeface="Tahoma" panose="020B0604030504040204" pitchFamily="34" charset="0"/>
              </a:rPr>
              <a:t>Palpable soft tissue masses, typically located in the anterolateral, infrapatellar, or popliteal regions, were frequently associated with localized tenderness and impaired joint function. Mechanical limitations, such as extension block, flexion restriction, and recurrent effusions, were commonly observed and often led to decreased mobility. In more severe presentations, muscle atrophy and alterations in gait mechanics were also noted. While some cases followed a post-traumatic onset, the majority demonstrated an insidious course without clear trauma.</a:t>
            </a:r>
            <a:endParaRPr dirty="0" sz="2000" lang="en-IN">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03" name="Content Placeholder 2"/>
          <p:cNvSpPr>
            <a:spLocks noGrp="1"/>
          </p:cNvSpPr>
          <p:nvPr>
            <p:ph idx="1"/>
          </p:nvPr>
        </p:nvSpPr>
        <p:spPr>
          <a:xfrm>
            <a:off x="0" y="1366684"/>
            <a:ext cx="12192000" cy="5407742"/>
          </a:xfrm>
        </p:spPr>
        <p:txBody>
          <a:bodyPr/>
          <a:p>
            <a:pPr algn="just" indent="0" marL="0" marR="5080">
              <a:lnSpc>
                <a:spcPct val="110000"/>
              </a:lnSpc>
              <a:spcBef>
                <a:spcPts val="100"/>
              </a:spcBef>
              <a:buNone/>
            </a:pPr>
            <a:r>
              <a:rPr dirty="0" sz="2400" lang="en-US" spc="-10">
                <a:solidFill>
                  <a:srgbClr val="040C28"/>
                </a:solidFill>
                <a:latin typeface="Aptos" panose="020B0004020202020204" pitchFamily="34" charset="0"/>
                <a:cs typeface="Tahoma"/>
              </a:rPr>
              <a:t>.</a:t>
            </a:r>
            <a:r>
              <a:rPr dirty="0" sz="2400" lang="en-US" spc="-100">
                <a:solidFill>
                  <a:srgbClr val="040C28"/>
                </a:solidFill>
                <a:latin typeface="Aptos" panose="020B0004020202020204" pitchFamily="34" charset="0"/>
                <a:cs typeface="Tahoma"/>
              </a:rPr>
              <a:t> </a:t>
            </a:r>
            <a:r>
              <a:rPr b="1" dirty="0" sz="2400" lang="en-US" spc="-10">
                <a:solidFill>
                  <a:srgbClr val="040C28"/>
                </a:solidFill>
                <a:latin typeface="Tahoma" panose="020B0604030504040204" pitchFamily="34" charset="0"/>
                <a:ea typeface="Tahoma" panose="020B0604030504040204" pitchFamily="34" charset="0"/>
                <a:cs typeface="Tahoma" panose="020B0604030504040204" pitchFamily="34" charset="0"/>
              </a:rPr>
              <a:t>Diagnosis</a:t>
            </a:r>
            <a:endParaRPr dirty="0" sz="2400" lang="en-US" spc="-10">
              <a:solidFill>
                <a:srgbClr val="040C28"/>
              </a:solidFill>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pPr>
            <a:r>
              <a:rPr dirty="0" sz="2400" lang="en-IN">
                <a:latin typeface="Tahoma" panose="020B0604030504040204" pitchFamily="34" charset="0"/>
                <a:ea typeface="Tahoma" panose="020B0604030504040204" pitchFamily="34" charset="0"/>
                <a:cs typeface="Tahoma" panose="020B0604030504040204" pitchFamily="34" charset="0"/>
              </a:rPr>
              <a:t>Diagnostic strategies varied across studies; however, plain radiography (RX) and magnetic resonance imaging (MRI) were commonly employed as standard modalities.</a:t>
            </a:r>
          </a:p>
          <a:p>
            <a:pPr algn="just" marL="12700" marR="5080">
              <a:lnSpc>
                <a:spcPct val="110000"/>
              </a:lnSpc>
            </a:pPr>
            <a:r>
              <a:rPr dirty="0" sz="2400" lang="en-IN">
                <a:latin typeface="Tahoma" panose="020B0604030504040204" pitchFamily="34" charset="0"/>
                <a:ea typeface="Tahoma" panose="020B0604030504040204" pitchFamily="34" charset="0"/>
                <a:cs typeface="Tahoma" panose="020B0604030504040204" pitchFamily="34" charset="0"/>
              </a:rPr>
              <a:t>. The definitive diagnosis is confirmed by histopathological analysis.</a:t>
            </a:r>
          </a:p>
          <a:p>
            <a:pPr algn="just" marL="12700" marR="5080">
              <a:lnSpc>
                <a:spcPct val="110000"/>
              </a:lnSpc>
            </a:pPr>
            <a:endParaRPr dirty="0" sz="2400" lang="en-IN">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pPr>
            <a:endParaRPr dirty="0" sz="1800"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04" name="Title 1"/>
          <p:cNvSpPr>
            <a:spLocks noGrp="1"/>
          </p:cNvSpPr>
          <p:nvPr>
            <p:ph idx="1"/>
          </p:nvPr>
        </p:nvSpPr>
        <p:spPr>
          <a:xfrm>
            <a:off x="0" y="1308100"/>
            <a:ext cx="12043064" cy="5549900"/>
          </a:xfrm>
        </p:spPr>
        <p:txBody>
          <a:bodyPr/>
          <a:p>
            <a:r>
              <a:rPr b="1" dirty="0" sz="1800" lang="en-US">
                <a:latin typeface="Tahoma" panose="020B0604030504040204" pitchFamily="34" charset="0"/>
                <a:ea typeface="Tahoma" panose="020B0604030504040204" pitchFamily="34" charset="0"/>
                <a:cs typeface="Tahoma" panose="020B0604030504040204" pitchFamily="34" charset="0"/>
              </a:rPr>
              <a:t>Treatment options</a:t>
            </a:r>
          </a:p>
          <a:p>
            <a:r>
              <a:rPr dirty="0" sz="1800" lang="en-US">
                <a:latin typeface="Tahoma" panose="020B0604030504040204" pitchFamily="34" charset="0"/>
                <a:ea typeface="Tahoma" panose="020B0604030504040204" pitchFamily="34" charset="0"/>
                <a:cs typeface="Tahoma" panose="020B0604030504040204" pitchFamily="34" charset="0"/>
              </a:rPr>
              <a:t>The management and treatment of PVNS can involve a combination of preventive measures, intraoperative strategies, and postoperative interventions to mitigate the risk of recurrence. Arthroscopic synovectomy alone was performed in  patients , and few patients underwent arthrotomic synovectomy. A combination of arthroscopic and arthrotomic synovectomy was described in some patients . Patients treated with a combined approach presented with both intra-articular and extra-articular manifestations of PVNS . Klammer G. et al. reported the case of a patient with bilateral diffuse PVNS of the knee, who underwent arthroscopic synovectomy followed by postoperative </a:t>
            </a:r>
            <a:r>
              <a:rPr dirty="0" sz="1800" lang="en-US" err="1">
                <a:latin typeface="Tahoma" panose="020B0604030504040204" pitchFamily="34" charset="0"/>
                <a:ea typeface="Tahoma" panose="020B0604030504040204" pitchFamily="34" charset="0"/>
                <a:cs typeface="Tahoma" panose="020B0604030504040204" pitchFamily="34" charset="0"/>
              </a:rPr>
              <a:t>radiosynoviorthesis</a:t>
            </a:r>
            <a:r>
              <a:rPr dirty="0" sz="1800" lang="en-US">
                <a:latin typeface="Tahoma" panose="020B0604030504040204" pitchFamily="34" charset="0"/>
                <a:ea typeface="Tahoma" panose="020B0604030504040204" pitchFamily="34" charset="0"/>
                <a:cs typeface="Tahoma" panose="020B0604030504040204" pitchFamily="34" charset="0"/>
              </a:rPr>
              <a:t> on the right knee, and combined arthroscopic and open synovectomy on the left knee . Farthing C. et al. reported a case involving a patient treated with a modified Lemaire extra-articular stabilization . Lalam R.K. et al. presented a series of three patients who underwent radiofrequency thermal ablation . Intra-articular injections of infliximab were administered to three patients at baseline and again after one month under ultrasound guidance, followed by arthroscopic synovectomy five months later (Praino et al.) . One patient was treated with four doses of intra-articular adalimumab (Kobak S. et al.) -. Oguz H. et al. administered 15 sessions of intra-articular ozone injections following arthroscopic synovectomy . Gao M. et al. employed an iliac crest bone graft to address a patellar defect after combined arthroscopic and open synovectomy, with postoperative radiotherapy . Chung B.J. et al. reported a case of total knee arthroplasty (TKA) revision due to tibial component loosening in a single patient .</a:t>
            </a:r>
          </a:p>
          <a:p>
            <a:endParaRPr dirty="0" sz="1800"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5" name="Content Placeholder 2"/>
          <p:cNvSpPr>
            <a:spLocks noGrp="1"/>
          </p:cNvSpPr>
          <p:nvPr>
            <p:ph idx="1"/>
          </p:nvPr>
        </p:nvSpPr>
        <p:spPr>
          <a:xfrm>
            <a:off x="0" y="1381990"/>
            <a:ext cx="12074236" cy="5403273"/>
          </a:xfrm>
        </p:spPr>
        <p:txBody>
          <a:bodyPr/>
          <a:p>
            <a:pPr algn="just" marL="12700">
              <a:lnSpc>
                <a:spcPct val="100000"/>
              </a:lnSpc>
              <a:spcBef>
                <a:spcPts val="970"/>
              </a:spcBef>
            </a:pPr>
            <a:r>
              <a:rPr dirty="0" sz="1600" lang="en-US" spc="-90">
                <a:solidFill>
                  <a:srgbClr val="040C28"/>
                </a:solidFill>
                <a:latin typeface="Tahoma" panose="020B0604030504040204" pitchFamily="34" charset="0"/>
                <a:ea typeface="Tahoma" panose="020B0604030504040204" pitchFamily="34" charset="0"/>
                <a:cs typeface="Tahoma" panose="020B0604030504040204" pitchFamily="34" charset="0"/>
              </a:rPr>
              <a:t> </a:t>
            </a:r>
            <a:r>
              <a:rPr b="1" dirty="0" sz="1600" lang="en-US" spc="65">
                <a:solidFill>
                  <a:srgbClr val="040C28"/>
                </a:solidFill>
                <a:latin typeface="Tahoma" panose="020B0604030504040204" pitchFamily="34" charset="0"/>
                <a:ea typeface="Tahoma" panose="020B0604030504040204" pitchFamily="34" charset="0"/>
                <a:cs typeface="Tahoma" panose="020B0604030504040204" pitchFamily="34" charset="0"/>
              </a:rPr>
              <a:t>Outcomes</a:t>
            </a:r>
            <a:endParaRPr dirty="0" sz="1600" lang="en-US">
              <a:solidFill>
                <a:srgbClr val="040C28"/>
              </a:solidFill>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spcBef>
                <a:spcPts val="795"/>
              </a:spcBef>
            </a:pPr>
            <a:r>
              <a:rPr dirty="0" sz="1800" lang="en-US">
                <a:latin typeface="Tahoma" panose="020B0604030504040204" pitchFamily="34" charset="0"/>
                <a:ea typeface="Tahoma" panose="020B0604030504040204" pitchFamily="34" charset="0"/>
                <a:cs typeface="Tahoma" panose="020B0604030504040204" pitchFamily="34" charset="0"/>
              </a:rPr>
              <a:t>The clinical outcomes were reported in 95 cases (79.17%). 85 patients (70.83%) achieved complete recovery, with resolution of symptoms and no recurrence throughout follow-up. Fang Y. et al. and Duan Y. et al. reported two cases of disease recurrence, both managed with arthroscopic synovectomy followed by postoperative radiotherapy . Meftah A. et al. described a patient who developed persistent hemarthrosis, ultimately requiring knee arthrodesis due to treatment failure . Lalam R.K. et al. presented a case involving a residual lesion successfully treated with two sessions of radiofrequency ablation . Auregan J.C. et al. described two patients with diffuse PVNS who experienced recurrence, both of whom were treated with arthroscopic synovectomy[. Krammer G. et al. re-ported a case of recurrence in the left knee, which was managed with arthroscopic dorsoventral synovectomy combined with open popliteal excision and subsequent </a:t>
            </a:r>
            <a:r>
              <a:rPr dirty="0" sz="1800" lang="en-US" err="1">
                <a:latin typeface="Tahoma" panose="020B0604030504040204" pitchFamily="34" charset="0"/>
                <a:ea typeface="Tahoma" panose="020B0604030504040204" pitchFamily="34" charset="0"/>
                <a:cs typeface="Tahoma" panose="020B0604030504040204" pitchFamily="34" charset="0"/>
              </a:rPr>
              <a:t>radiosynoviorthesis</a:t>
            </a:r>
            <a:r>
              <a:rPr dirty="0" sz="1800" lang="en-US">
                <a:latin typeface="Tahoma" panose="020B0604030504040204" pitchFamily="34" charset="0"/>
                <a:ea typeface="Tahoma" panose="020B0604030504040204" pitchFamily="34" charset="0"/>
                <a:cs typeface="Tahoma" panose="020B0604030504040204" pitchFamily="34" charset="0"/>
              </a:rPr>
              <a:t> using a yttrium-90 colloid . Yamashita H. et al. described a patient who underwent open synovectomy for recurrent disease . Jobe C.M. et al. reported a patient with three episodes of recurrence, each treated with arthroscopic synovectomy . Mukhopadhyay K. et al. reported a complex case of multifocal PVNS with bilateral joint involvement . The patient initially underwent arthroscopic synovectomy; however, bilateral total knee arthroplasty was ultimately required, and at the latest follow-up, regression of the disease was observed. Finally, Bouali H. et al. reported a case of disease recurrence managed with arthroscopic excision.</a:t>
            </a:r>
            <a:endParaRPr dirty="0" sz="1800" lang="en-IN">
              <a:latin typeface="Tahoma" panose="020B0604030504040204" pitchFamily="34" charset="0"/>
              <a:ea typeface="Tahoma" panose="020B0604030504040204" pitchFamily="34" charset="0"/>
              <a:cs typeface="Tahoma" panose="020B0604030504040204" pitchFamily="34" charset="0"/>
            </a:endParaRPr>
          </a:p>
          <a:p>
            <a:pPr algn="just" indent="-446405" marL="0">
              <a:lnSpc>
                <a:spcPct val="100000"/>
              </a:lnSpc>
              <a:spcBef>
                <a:spcPts val="1065"/>
              </a:spcBef>
              <a:buSzPct val="92857"/>
              <a:buAutoNum type="arabicPeriod"/>
              <a:tabLst>
                <a:tab algn="l" pos="302895"/>
              </a:tabLst>
            </a:pPr>
            <a:endParaRPr dirty="0" sz="1800" lang="en-US" spc="60">
              <a:solidFill>
                <a:srgbClr val="040C28"/>
              </a:solidFill>
              <a:latin typeface="Tahoma" panose="020B0604030504040204" pitchFamily="34" charset="0"/>
              <a:ea typeface="Tahoma" panose="020B0604030504040204" pitchFamily="34" charset="0"/>
              <a:cs typeface="Tahoma" panose="020B0604030504040204" pitchFamily="34" charset="0"/>
            </a:endParaRPr>
          </a:p>
          <a:p>
            <a:pPr algn="just" indent="-292100" lvl="1" marL="302895">
              <a:lnSpc>
                <a:spcPct val="100000"/>
              </a:lnSpc>
              <a:spcBef>
                <a:spcPts val="1065"/>
              </a:spcBef>
              <a:buSzPct val="92857"/>
              <a:buAutoNum type="arabicPeriod"/>
              <a:tabLst>
                <a:tab algn="l" pos="302895"/>
              </a:tabLst>
            </a:pPr>
            <a:endParaRPr dirty="0" sz="1800" lang="en-US" spc="60">
              <a:solidFill>
                <a:srgbClr val="040C28"/>
              </a:solidFill>
              <a:latin typeface="Tahoma" panose="020B0604030504040204" pitchFamily="34" charset="0"/>
              <a:ea typeface="Tahoma" panose="020B0604030504040204" pitchFamily="34" charset="0"/>
              <a:cs typeface="Tahoma" panose="020B0604030504040204" pitchFamily="34" charset="0"/>
            </a:endParaRPr>
          </a:p>
          <a:p>
            <a:pPr algn="just" indent="-292100" lvl="1" marL="302895">
              <a:lnSpc>
                <a:spcPct val="100000"/>
              </a:lnSpc>
              <a:spcBef>
                <a:spcPts val="1065"/>
              </a:spcBef>
              <a:buSzPct val="92857"/>
              <a:buAutoNum type="arabicPeriod"/>
              <a:tabLst>
                <a:tab algn="l" pos="302895"/>
              </a:tabLst>
            </a:pPr>
            <a:endParaRPr dirty="0" sz="1800" lang="en-US" spc="60">
              <a:solidFill>
                <a:srgbClr val="040C28"/>
              </a:solidFill>
              <a:latin typeface="Aptos" panose="020B0004020202020204" pitchFamily="34" charset="0"/>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a:p>
            <a:pPr algn="just" indent="-292100" lvl="1" marL="302895">
              <a:lnSpc>
                <a:spcPct val="100000"/>
              </a:lnSpc>
              <a:spcBef>
                <a:spcPts val="1065"/>
              </a:spcBef>
              <a:buSzPct val="92857"/>
              <a:buAutoNum type="arabicPeriod"/>
              <a:tabLst>
                <a:tab algn="l" pos="302895"/>
              </a:tabLst>
            </a:pPr>
            <a:endParaRPr dirty="0" sz="1400" lang="en-US" spc="60">
              <a:solidFill>
                <a:srgbClr val="040C28"/>
              </a:solidFill>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06" name="Content Placeholder 2"/>
          <p:cNvSpPr>
            <a:spLocks noGrp="1"/>
          </p:cNvSpPr>
          <p:nvPr>
            <p:ph idx="1"/>
          </p:nvPr>
        </p:nvSpPr>
        <p:spPr>
          <a:xfrm>
            <a:off x="-1" y="1330036"/>
            <a:ext cx="12084627" cy="5455228"/>
          </a:xfrm>
        </p:spPr>
        <p:txBody>
          <a:bodyPr/>
          <a:p>
            <a:pPr algn="just" indent="0" marL="0" marR="36830">
              <a:lnSpc>
                <a:spcPct val="143600"/>
              </a:lnSpc>
              <a:spcBef>
                <a:spcPts val="100"/>
              </a:spcBef>
              <a:buNone/>
            </a:pPr>
            <a:r>
              <a:rPr dirty="0" sz="1400" lang="en-US">
                <a:latin typeface="Tahoma"/>
                <a:cs typeface="Tahoma"/>
              </a:rPr>
              <a:t> </a:t>
            </a:r>
            <a:r>
              <a:rPr b="1" dirty="0" sz="1600" lang="en-US">
                <a:latin typeface="Tahoma"/>
                <a:cs typeface="Tahoma"/>
              </a:rPr>
              <a:t>Discussion   </a:t>
            </a:r>
            <a:r>
              <a:rPr dirty="0" sz="1600" lang="en-US" spc="355">
                <a:latin typeface="Tahoma"/>
                <a:cs typeface="Tahoma"/>
              </a:rPr>
              <a:t> </a:t>
            </a:r>
            <a:r>
              <a:rPr dirty="0" sz="1600" lang="en-US">
                <a:latin typeface="Tahoma"/>
                <a:cs typeface="Tahoma"/>
              </a:rPr>
              <a:t>It</a:t>
            </a:r>
            <a:r>
              <a:rPr dirty="0" sz="1600" lang="en-US" spc="345">
                <a:latin typeface="Tahoma"/>
                <a:cs typeface="Tahoma"/>
              </a:rPr>
              <a:t> </a:t>
            </a:r>
            <a:r>
              <a:rPr dirty="0" sz="1600" lang="en-US" spc="95">
                <a:latin typeface="Tahoma"/>
                <a:cs typeface="Tahoma"/>
              </a:rPr>
              <a:t>most</a:t>
            </a:r>
            <a:r>
              <a:rPr dirty="0" sz="1600" lang="en-US" spc="350">
                <a:latin typeface="Tahoma"/>
                <a:cs typeface="Tahoma"/>
              </a:rPr>
              <a:t> </a:t>
            </a:r>
            <a:r>
              <a:rPr dirty="0" sz="1600" lang="en-US" spc="75">
                <a:latin typeface="Tahoma"/>
                <a:cs typeface="Tahoma"/>
              </a:rPr>
              <a:t>commonly</a:t>
            </a:r>
            <a:r>
              <a:rPr dirty="0" sz="1600" lang="en-US" spc="335">
                <a:latin typeface="Tahoma"/>
                <a:cs typeface="Tahoma"/>
              </a:rPr>
              <a:t> </a:t>
            </a:r>
            <a:r>
              <a:rPr dirty="0" sz="1600" lang="en-US" spc="50">
                <a:latin typeface="Tahoma"/>
                <a:cs typeface="Tahoma"/>
              </a:rPr>
              <a:t>affects </a:t>
            </a:r>
            <a:r>
              <a:rPr dirty="0" sz="1600" lang="en-US" spc="60">
                <a:latin typeface="Tahoma"/>
                <a:cs typeface="Tahoma"/>
              </a:rPr>
              <a:t>the</a:t>
            </a:r>
            <a:r>
              <a:rPr dirty="0" sz="1600" lang="en-US" spc="35">
                <a:latin typeface="Tahoma"/>
                <a:cs typeface="Tahoma"/>
              </a:rPr>
              <a:t> </a:t>
            </a:r>
            <a:r>
              <a:rPr dirty="0" sz="1600" lang="en-US">
                <a:latin typeface="Tahoma"/>
                <a:cs typeface="Tahoma"/>
              </a:rPr>
              <a:t>knee</a:t>
            </a:r>
            <a:r>
              <a:rPr dirty="0" sz="1600" lang="en-US" spc="40">
                <a:latin typeface="Tahoma"/>
                <a:cs typeface="Tahoma"/>
              </a:rPr>
              <a:t> </a:t>
            </a:r>
            <a:r>
              <a:rPr dirty="0" sz="1600" lang="en-US">
                <a:latin typeface="Tahoma"/>
                <a:cs typeface="Tahoma"/>
              </a:rPr>
              <a:t>joint,</a:t>
            </a:r>
            <a:r>
              <a:rPr dirty="0" sz="1600" lang="en-US" spc="40">
                <a:latin typeface="Tahoma"/>
                <a:cs typeface="Tahoma"/>
              </a:rPr>
              <a:t> </a:t>
            </a:r>
            <a:r>
              <a:rPr dirty="0" sz="1600" lang="en-US">
                <a:latin typeface="Tahoma"/>
                <a:cs typeface="Tahoma"/>
              </a:rPr>
              <a:t>particularly</a:t>
            </a:r>
            <a:r>
              <a:rPr dirty="0" sz="1600" lang="en-US" spc="30">
                <a:latin typeface="Tahoma"/>
                <a:cs typeface="Tahoma"/>
              </a:rPr>
              <a:t> </a:t>
            </a:r>
            <a:r>
              <a:rPr dirty="0" sz="1600" lang="en-US">
                <a:latin typeface="Tahoma"/>
                <a:cs typeface="Tahoma"/>
              </a:rPr>
              <a:t>in</a:t>
            </a:r>
            <a:r>
              <a:rPr dirty="0" sz="1600" lang="en-US" spc="30">
                <a:latin typeface="Tahoma"/>
                <a:cs typeface="Tahoma"/>
              </a:rPr>
              <a:t> </a:t>
            </a:r>
            <a:r>
              <a:rPr dirty="0" sz="1600" lang="en-US">
                <a:latin typeface="Tahoma"/>
                <a:cs typeface="Tahoma"/>
              </a:rPr>
              <a:t>adults</a:t>
            </a:r>
            <a:r>
              <a:rPr dirty="0" sz="1600" lang="en-US" spc="25">
                <a:latin typeface="Tahoma"/>
                <a:cs typeface="Tahoma"/>
              </a:rPr>
              <a:t> </a:t>
            </a:r>
            <a:r>
              <a:rPr dirty="0" sz="1600" lang="en-US">
                <a:latin typeface="Tahoma"/>
                <a:cs typeface="Tahoma"/>
              </a:rPr>
              <a:t>aged</a:t>
            </a:r>
            <a:r>
              <a:rPr dirty="0" sz="1600" lang="en-US" spc="40">
                <a:latin typeface="Tahoma"/>
                <a:cs typeface="Tahoma"/>
              </a:rPr>
              <a:t> </a:t>
            </a:r>
            <a:r>
              <a:rPr dirty="0" sz="1600" lang="en-US" spc="80">
                <a:latin typeface="Tahoma"/>
                <a:cs typeface="Tahoma"/>
              </a:rPr>
              <a:t>20</a:t>
            </a:r>
            <a:r>
              <a:rPr dirty="0" sz="1600" lang="en-US" spc="30">
                <a:latin typeface="Tahoma"/>
                <a:cs typeface="Tahoma"/>
              </a:rPr>
              <a:t> </a:t>
            </a:r>
            <a:r>
              <a:rPr dirty="0" sz="1600" lang="en-US" spc="85">
                <a:latin typeface="Tahoma"/>
                <a:cs typeface="Tahoma"/>
              </a:rPr>
              <a:t>to</a:t>
            </a:r>
            <a:r>
              <a:rPr dirty="0" sz="1600" lang="en-US" spc="40">
                <a:latin typeface="Tahoma"/>
                <a:cs typeface="Tahoma"/>
              </a:rPr>
              <a:t> </a:t>
            </a:r>
            <a:r>
              <a:rPr dirty="0" sz="1600" lang="en-US" spc="95">
                <a:latin typeface="Tahoma"/>
                <a:cs typeface="Tahoma"/>
              </a:rPr>
              <a:t>50</a:t>
            </a:r>
            <a:r>
              <a:rPr dirty="0" sz="1600" lang="en-US" spc="40">
                <a:latin typeface="Tahoma"/>
                <a:cs typeface="Tahoma"/>
              </a:rPr>
              <a:t> </a:t>
            </a:r>
            <a:r>
              <a:rPr dirty="0" sz="1600" lang="en-US">
                <a:latin typeface="Tahoma"/>
                <a:cs typeface="Tahoma"/>
              </a:rPr>
              <a:t>years,</a:t>
            </a:r>
            <a:r>
              <a:rPr dirty="0" sz="1600" lang="en-US" spc="30">
                <a:latin typeface="Tahoma"/>
                <a:cs typeface="Tahoma"/>
              </a:rPr>
              <a:t> </a:t>
            </a:r>
            <a:r>
              <a:rPr dirty="0" sz="1600" lang="en-US" spc="70">
                <a:latin typeface="Tahoma"/>
                <a:cs typeface="Tahoma"/>
              </a:rPr>
              <a:t>with</a:t>
            </a:r>
            <a:r>
              <a:rPr dirty="0" sz="1600" lang="en-US" spc="40">
                <a:latin typeface="Tahoma"/>
                <a:cs typeface="Tahoma"/>
              </a:rPr>
              <a:t> </a:t>
            </a:r>
            <a:r>
              <a:rPr dirty="0" sz="1600" lang="en-US" spc="55">
                <a:latin typeface="Tahoma"/>
                <a:cs typeface="Tahoma"/>
              </a:rPr>
              <a:t>no</a:t>
            </a:r>
            <a:r>
              <a:rPr dirty="0" sz="1600" lang="en-US" spc="40">
                <a:latin typeface="Tahoma"/>
                <a:cs typeface="Tahoma"/>
              </a:rPr>
              <a:t> </a:t>
            </a:r>
            <a:r>
              <a:rPr dirty="0" sz="1600" lang="en-US" spc="-25">
                <a:latin typeface="Tahoma"/>
                <a:cs typeface="Tahoma"/>
              </a:rPr>
              <a:t>sex </a:t>
            </a:r>
            <a:r>
              <a:rPr dirty="0" sz="1600" lang="en-US">
                <a:latin typeface="Tahoma"/>
                <a:cs typeface="Tahoma"/>
              </a:rPr>
              <a:t>predilection</a:t>
            </a:r>
            <a:r>
              <a:rPr dirty="0" sz="1600" lang="en-US" spc="320">
                <a:latin typeface="Tahoma"/>
                <a:cs typeface="Tahoma"/>
              </a:rPr>
              <a:t> .</a:t>
            </a:r>
            <a:r>
              <a:rPr dirty="0" sz="1600" lang="en-US" spc="50">
                <a:latin typeface="Tahoma"/>
                <a:cs typeface="Tahoma"/>
              </a:rPr>
              <a:t>PVNS</a:t>
            </a:r>
            <a:r>
              <a:rPr dirty="0" sz="1600" lang="en-US" spc="235">
                <a:latin typeface="Tahoma"/>
                <a:cs typeface="Tahoma"/>
              </a:rPr>
              <a:t> </a:t>
            </a:r>
            <a:r>
              <a:rPr dirty="0" sz="1600" lang="en-US" spc="45">
                <a:latin typeface="Tahoma"/>
                <a:cs typeface="Tahoma"/>
              </a:rPr>
              <a:t>predominantly</a:t>
            </a:r>
            <a:r>
              <a:rPr dirty="0" sz="1600" lang="en-US" spc="235">
                <a:latin typeface="Tahoma"/>
                <a:cs typeface="Tahoma"/>
              </a:rPr>
              <a:t> </a:t>
            </a:r>
            <a:r>
              <a:rPr dirty="0" sz="1600" lang="en-US" spc="60">
                <a:latin typeface="Tahoma"/>
                <a:cs typeface="Tahoma"/>
              </a:rPr>
              <a:t>affects</a:t>
            </a:r>
            <a:r>
              <a:rPr dirty="0" sz="1600" lang="en-US" spc="229">
                <a:latin typeface="Tahoma"/>
                <a:cs typeface="Tahoma"/>
              </a:rPr>
              <a:t> </a:t>
            </a:r>
            <a:r>
              <a:rPr dirty="0" sz="1600" lang="en-US" spc="65">
                <a:latin typeface="Tahoma"/>
                <a:cs typeface="Tahoma"/>
              </a:rPr>
              <a:t>young</a:t>
            </a:r>
            <a:r>
              <a:rPr dirty="0" sz="1600" lang="en-US" spc="220">
                <a:latin typeface="Tahoma"/>
                <a:cs typeface="Tahoma"/>
              </a:rPr>
              <a:t> </a:t>
            </a:r>
            <a:r>
              <a:rPr dirty="0" sz="1600" lang="en-US">
                <a:latin typeface="Tahoma"/>
                <a:cs typeface="Tahoma"/>
              </a:rPr>
              <a:t>adults</a:t>
            </a:r>
            <a:r>
              <a:rPr dirty="0" sz="1600" lang="en-US" spc="229">
                <a:latin typeface="Tahoma"/>
                <a:cs typeface="Tahoma"/>
              </a:rPr>
              <a:t> </a:t>
            </a:r>
            <a:r>
              <a:rPr dirty="0" sz="1600" lang="en-US">
                <a:latin typeface="Tahoma"/>
                <a:cs typeface="Tahoma"/>
              </a:rPr>
              <a:t>(mean</a:t>
            </a:r>
            <a:r>
              <a:rPr dirty="0" sz="1600" lang="en-US" spc="240">
                <a:latin typeface="Tahoma"/>
                <a:cs typeface="Tahoma"/>
              </a:rPr>
              <a:t> </a:t>
            </a:r>
            <a:r>
              <a:rPr dirty="0" sz="1600" lang="en-US">
                <a:latin typeface="Tahoma"/>
                <a:cs typeface="Tahoma"/>
              </a:rPr>
              <a:t>age:</a:t>
            </a:r>
            <a:r>
              <a:rPr dirty="0" sz="1600" lang="en-US" spc="240">
                <a:latin typeface="Tahoma"/>
                <a:cs typeface="Tahoma"/>
              </a:rPr>
              <a:t> </a:t>
            </a:r>
            <a:r>
              <a:rPr dirty="0" sz="1600" lang="en-US">
                <a:latin typeface="Tahoma"/>
                <a:cs typeface="Tahoma"/>
              </a:rPr>
              <a:t>25.7</a:t>
            </a:r>
            <a:r>
              <a:rPr dirty="0" sz="1600" lang="en-US" spc="240">
                <a:latin typeface="Tahoma"/>
                <a:cs typeface="Tahoma"/>
              </a:rPr>
              <a:t> </a:t>
            </a:r>
            <a:r>
              <a:rPr dirty="0" sz="1600" lang="en-US" spc="-10">
                <a:latin typeface="Tahoma"/>
                <a:cs typeface="Tahoma"/>
              </a:rPr>
              <a:t>years), </a:t>
            </a:r>
            <a:r>
              <a:rPr dirty="0" sz="1600" lang="en-US" spc="70">
                <a:latin typeface="Tahoma"/>
                <a:cs typeface="Tahoma"/>
              </a:rPr>
              <a:t>with</a:t>
            </a:r>
            <a:r>
              <a:rPr dirty="0" sz="1600" lang="en-US" spc="125">
                <a:latin typeface="Tahoma"/>
                <a:cs typeface="Tahoma"/>
              </a:rPr>
              <a:t>  </a:t>
            </a:r>
            <a:r>
              <a:rPr dirty="0" sz="1600" lang="en-US">
                <a:latin typeface="Tahoma"/>
                <a:cs typeface="Tahoma"/>
              </a:rPr>
              <a:t>a</a:t>
            </a:r>
            <a:r>
              <a:rPr dirty="0" sz="1600" lang="en-US" spc="135">
                <a:latin typeface="Tahoma"/>
                <a:cs typeface="Tahoma"/>
              </a:rPr>
              <a:t>  </a:t>
            </a:r>
            <a:r>
              <a:rPr dirty="0" sz="1600" lang="en-US">
                <a:latin typeface="Tahoma"/>
                <a:cs typeface="Tahoma"/>
              </a:rPr>
              <a:t>slight</a:t>
            </a:r>
            <a:r>
              <a:rPr dirty="0" sz="1600" lang="en-US" spc="135">
                <a:latin typeface="Tahoma"/>
                <a:cs typeface="Tahoma"/>
              </a:rPr>
              <a:t>  </a:t>
            </a:r>
            <a:r>
              <a:rPr dirty="0" sz="1600" lang="en-US">
                <a:latin typeface="Tahoma"/>
                <a:cs typeface="Tahoma"/>
              </a:rPr>
              <a:t>female</a:t>
            </a:r>
            <a:r>
              <a:rPr dirty="0" sz="1600" lang="en-US" spc="135">
                <a:latin typeface="Tahoma"/>
                <a:cs typeface="Tahoma"/>
              </a:rPr>
              <a:t>  </a:t>
            </a:r>
            <a:r>
              <a:rPr dirty="0" sz="1600" lang="en-US" spc="45">
                <a:latin typeface="Tahoma"/>
                <a:cs typeface="Tahoma"/>
              </a:rPr>
              <a:t>predominance</a:t>
            </a:r>
            <a:r>
              <a:rPr dirty="0" sz="1600" lang="en-US" spc="135">
                <a:latin typeface="Tahoma"/>
                <a:cs typeface="Tahoma"/>
              </a:rPr>
              <a:t>  </a:t>
            </a:r>
            <a:r>
              <a:rPr dirty="0" sz="1600" lang="en-US">
                <a:latin typeface="Tahoma"/>
                <a:cs typeface="Tahoma"/>
              </a:rPr>
              <a:t>(58.3%)</a:t>
            </a:r>
            <a:r>
              <a:rPr dirty="0" sz="1600" lang="en-US" spc="135">
                <a:latin typeface="Tahoma"/>
                <a:cs typeface="Tahoma"/>
              </a:rPr>
              <a:t>  </a:t>
            </a:r>
            <a:r>
              <a:rPr dirty="0" sz="1600" lang="en-US">
                <a:latin typeface="Tahoma"/>
                <a:cs typeface="Tahoma"/>
              </a:rPr>
              <a:t>and</a:t>
            </a:r>
            <a:r>
              <a:rPr dirty="0" sz="1600" lang="en-US" spc="130">
                <a:latin typeface="Tahoma"/>
                <a:cs typeface="Tahoma"/>
              </a:rPr>
              <a:t>  </a:t>
            </a:r>
            <a:r>
              <a:rPr dirty="0" sz="1600" lang="en-US">
                <a:latin typeface="Tahoma"/>
                <a:cs typeface="Tahoma"/>
              </a:rPr>
              <a:t>a</a:t>
            </a:r>
            <a:r>
              <a:rPr dirty="0" sz="1600" lang="en-US" spc="130">
                <a:latin typeface="Tahoma"/>
                <a:cs typeface="Tahoma"/>
              </a:rPr>
              <a:t>  </a:t>
            </a:r>
            <a:r>
              <a:rPr dirty="0" sz="1600" lang="en-US" spc="-10">
                <a:latin typeface="Tahoma"/>
                <a:cs typeface="Tahoma"/>
              </a:rPr>
              <a:t>significant </a:t>
            </a:r>
            <a:r>
              <a:rPr dirty="0" sz="1600" lang="en-US">
                <a:latin typeface="Tahoma"/>
                <a:cs typeface="Tahoma"/>
              </a:rPr>
              <a:t>representation</a:t>
            </a:r>
            <a:r>
              <a:rPr dirty="0" sz="1600" lang="en-US" spc="70">
                <a:latin typeface="Tahoma"/>
                <a:cs typeface="Tahoma"/>
              </a:rPr>
              <a:t>  </a:t>
            </a:r>
            <a:r>
              <a:rPr dirty="0" sz="1600" lang="en-US" spc="90">
                <a:latin typeface="Tahoma"/>
                <a:cs typeface="Tahoma"/>
              </a:rPr>
              <a:t>of</a:t>
            </a:r>
            <a:r>
              <a:rPr dirty="0" sz="1600" lang="en-US" spc="75">
                <a:latin typeface="Tahoma"/>
                <a:cs typeface="Tahoma"/>
              </a:rPr>
              <a:t>  </a:t>
            </a:r>
            <a:r>
              <a:rPr dirty="0" sz="1600" lang="en-US">
                <a:latin typeface="Tahoma"/>
                <a:cs typeface="Tahoma"/>
              </a:rPr>
              <a:t>pediatric</a:t>
            </a:r>
            <a:r>
              <a:rPr dirty="0" sz="1600" lang="en-US" spc="85">
                <a:latin typeface="Tahoma"/>
                <a:cs typeface="Tahoma"/>
              </a:rPr>
              <a:t>  </a:t>
            </a:r>
            <a:r>
              <a:rPr dirty="0" sz="1600" lang="en-US">
                <a:latin typeface="Tahoma"/>
                <a:cs typeface="Tahoma"/>
              </a:rPr>
              <a:t>cases</a:t>
            </a:r>
            <a:r>
              <a:rPr dirty="0" sz="1600" lang="en-US" spc="75">
                <a:latin typeface="Tahoma"/>
                <a:cs typeface="Tahoma"/>
              </a:rPr>
              <a:t>  </a:t>
            </a:r>
            <a:r>
              <a:rPr dirty="0" sz="1600" lang="en-US" spc="-25">
                <a:latin typeface="Tahoma"/>
                <a:cs typeface="Tahoma"/>
              </a:rPr>
              <a:t>(16.7%),</a:t>
            </a:r>
            <a:r>
              <a:rPr dirty="0" sz="1600" lang="en-US" spc="80">
                <a:latin typeface="Tahoma"/>
                <a:cs typeface="Tahoma"/>
              </a:rPr>
              <a:t>  </a:t>
            </a:r>
            <a:r>
              <a:rPr dirty="0" sz="1600" lang="en-US">
                <a:latin typeface="Tahoma"/>
                <a:cs typeface="Tahoma"/>
              </a:rPr>
              <a:t>in</a:t>
            </a:r>
            <a:r>
              <a:rPr dirty="0" sz="1600" lang="en-US" spc="75">
                <a:latin typeface="Tahoma"/>
                <a:cs typeface="Tahoma"/>
              </a:rPr>
              <a:t>  </a:t>
            </a:r>
            <a:r>
              <a:rPr dirty="0" sz="1600" lang="en-US">
                <a:latin typeface="Tahoma"/>
                <a:cs typeface="Tahoma"/>
              </a:rPr>
              <a:t>line</a:t>
            </a:r>
            <a:r>
              <a:rPr dirty="0" sz="1600" lang="en-US" spc="85">
                <a:latin typeface="Tahoma"/>
                <a:cs typeface="Tahoma"/>
              </a:rPr>
              <a:t>  </a:t>
            </a:r>
            <a:r>
              <a:rPr dirty="0" sz="1600" lang="en-US" spc="70">
                <a:latin typeface="Tahoma"/>
                <a:cs typeface="Tahoma"/>
              </a:rPr>
              <a:t>with</a:t>
            </a:r>
            <a:r>
              <a:rPr dirty="0" sz="1600" lang="en-US" spc="75">
                <a:latin typeface="Tahoma"/>
                <a:cs typeface="Tahoma"/>
              </a:rPr>
              <a:t>  </a:t>
            </a:r>
            <a:r>
              <a:rPr dirty="0" sz="1600" lang="en-US" spc="-10">
                <a:latin typeface="Tahoma"/>
                <a:cs typeface="Tahoma"/>
              </a:rPr>
              <a:t>previous </a:t>
            </a:r>
            <a:r>
              <a:rPr dirty="0" sz="1600" lang="en-US" spc="45">
                <a:latin typeface="Tahoma"/>
                <a:cs typeface="Tahoma"/>
              </a:rPr>
              <a:t>reports</a:t>
            </a:r>
            <a:r>
              <a:rPr dirty="0" sz="1600" lang="en-US" spc="459">
                <a:latin typeface="Tahoma"/>
                <a:cs typeface="Tahoma"/>
              </a:rPr>
              <a:t> .</a:t>
            </a:r>
            <a:r>
              <a:rPr dirty="0" sz="1600" lang="en-US">
                <a:latin typeface="Tahoma"/>
                <a:cs typeface="Tahoma"/>
              </a:rPr>
              <a:t>DPVNS</a:t>
            </a:r>
            <a:r>
              <a:rPr dirty="0" sz="1600" lang="en-US" spc="459">
                <a:latin typeface="Tahoma"/>
                <a:cs typeface="Tahoma"/>
              </a:rPr>
              <a:t> </a:t>
            </a:r>
            <a:r>
              <a:rPr dirty="0" sz="1600" lang="en-US" spc="50">
                <a:latin typeface="Tahoma"/>
                <a:cs typeface="Tahoma"/>
              </a:rPr>
              <a:t>was</a:t>
            </a:r>
            <a:r>
              <a:rPr dirty="0" sz="1600" lang="en-US" spc="459">
                <a:latin typeface="Tahoma"/>
                <a:cs typeface="Tahoma"/>
              </a:rPr>
              <a:t> </a:t>
            </a:r>
            <a:r>
              <a:rPr dirty="0" sz="1600" lang="en-US" spc="65">
                <a:latin typeface="Tahoma"/>
                <a:cs typeface="Tahoma"/>
              </a:rPr>
              <a:t>more</a:t>
            </a:r>
            <a:r>
              <a:rPr dirty="0" sz="1600" lang="en-US" spc="465">
                <a:latin typeface="Tahoma"/>
                <a:cs typeface="Tahoma"/>
              </a:rPr>
              <a:t> </a:t>
            </a:r>
            <a:r>
              <a:rPr dirty="0" sz="1600" lang="en-US" spc="95">
                <a:latin typeface="Tahoma"/>
                <a:cs typeface="Tahoma"/>
              </a:rPr>
              <a:t>common</a:t>
            </a:r>
            <a:r>
              <a:rPr dirty="0" sz="1600" lang="en-US" spc="455">
                <a:latin typeface="Tahoma"/>
                <a:cs typeface="Tahoma"/>
              </a:rPr>
              <a:t> </a:t>
            </a:r>
            <a:r>
              <a:rPr dirty="0" sz="1600" lang="en-US">
                <a:latin typeface="Tahoma"/>
                <a:cs typeface="Tahoma"/>
              </a:rPr>
              <a:t>than</a:t>
            </a:r>
            <a:r>
              <a:rPr dirty="0" sz="1600" lang="en-US" spc="455">
                <a:latin typeface="Tahoma"/>
                <a:cs typeface="Tahoma"/>
              </a:rPr>
              <a:t> </a:t>
            </a:r>
            <a:r>
              <a:rPr dirty="0" sz="1600" lang="en-US">
                <a:latin typeface="Tahoma"/>
                <a:cs typeface="Tahoma"/>
              </a:rPr>
              <a:t>LPVNS,</a:t>
            </a:r>
            <a:r>
              <a:rPr dirty="0" sz="1600" lang="en-US" spc="470">
                <a:latin typeface="Tahoma"/>
                <a:cs typeface="Tahoma"/>
              </a:rPr>
              <a:t> </a:t>
            </a:r>
            <a:r>
              <a:rPr dirty="0" sz="1600" lang="en-US" spc="70">
                <a:latin typeface="Tahoma"/>
                <a:cs typeface="Tahoma"/>
              </a:rPr>
              <a:t>with</a:t>
            </a:r>
            <a:r>
              <a:rPr dirty="0" sz="1600" lang="en-US" spc="455">
                <a:latin typeface="Tahoma"/>
                <a:cs typeface="Tahoma"/>
              </a:rPr>
              <a:t> </a:t>
            </a:r>
            <a:r>
              <a:rPr dirty="0" sz="1600" lang="en-US" spc="-50">
                <a:latin typeface="Tahoma"/>
                <a:cs typeface="Tahoma"/>
              </a:rPr>
              <a:t>a </a:t>
            </a:r>
            <a:r>
              <a:rPr dirty="0" sz="1600" lang="en-US">
                <a:latin typeface="Tahoma"/>
                <a:cs typeface="Tahoma"/>
              </a:rPr>
              <a:t>higher</a:t>
            </a:r>
            <a:r>
              <a:rPr dirty="0" sz="1600" lang="en-US" spc="40">
                <a:latin typeface="Tahoma"/>
                <a:cs typeface="Tahoma"/>
              </a:rPr>
              <a:t>  </a:t>
            </a:r>
            <a:r>
              <a:rPr dirty="0" sz="1600" lang="en-US">
                <a:latin typeface="Tahoma"/>
                <a:cs typeface="Tahoma"/>
              </a:rPr>
              <a:t>recurrence</a:t>
            </a:r>
            <a:r>
              <a:rPr dirty="0" sz="1600" lang="en-US" spc="40">
                <a:latin typeface="Tahoma"/>
                <a:cs typeface="Tahoma"/>
              </a:rPr>
              <a:t>  </a:t>
            </a:r>
            <a:r>
              <a:rPr dirty="0" sz="1600" lang="en-US">
                <a:latin typeface="Tahoma"/>
                <a:cs typeface="Tahoma"/>
              </a:rPr>
              <a:t>rate</a:t>
            </a:r>
            <a:r>
              <a:rPr dirty="0" sz="1600" lang="en-US" spc="40">
                <a:latin typeface="Tahoma"/>
                <a:cs typeface="Tahoma"/>
              </a:rPr>
              <a:t>  </a:t>
            </a:r>
            <a:r>
              <a:rPr dirty="0" sz="1600" lang="en-US">
                <a:latin typeface="Tahoma"/>
                <a:cs typeface="Tahoma"/>
              </a:rPr>
              <a:t>and</a:t>
            </a:r>
            <a:r>
              <a:rPr dirty="0" sz="1600" lang="en-US" spc="40">
                <a:latin typeface="Tahoma"/>
                <a:cs typeface="Tahoma"/>
              </a:rPr>
              <a:t>  </a:t>
            </a:r>
            <a:r>
              <a:rPr dirty="0" sz="1600" lang="en-US">
                <a:latin typeface="Tahoma"/>
                <a:cs typeface="Tahoma"/>
              </a:rPr>
              <a:t>technical</a:t>
            </a:r>
            <a:r>
              <a:rPr dirty="0" sz="1600" lang="en-US" spc="40">
                <a:latin typeface="Tahoma"/>
                <a:cs typeface="Tahoma"/>
              </a:rPr>
              <a:t>  </a:t>
            </a:r>
            <a:r>
              <a:rPr dirty="0" sz="1600" lang="en-US" spc="60">
                <a:latin typeface="Tahoma"/>
                <a:cs typeface="Tahoma"/>
              </a:rPr>
              <a:t>complexity</a:t>
            </a:r>
            <a:r>
              <a:rPr dirty="0" sz="1600" lang="en-US" spc="30">
                <a:latin typeface="Tahoma"/>
                <a:cs typeface="Tahoma"/>
              </a:rPr>
              <a:t>  </a:t>
            </a:r>
            <a:r>
              <a:rPr dirty="0" sz="1600" lang="en-US">
                <a:latin typeface="Tahoma"/>
                <a:cs typeface="Tahoma"/>
              </a:rPr>
              <a:t>in</a:t>
            </a:r>
            <a:r>
              <a:rPr dirty="0" sz="1600" lang="en-US" spc="35">
                <a:latin typeface="Tahoma"/>
                <a:cs typeface="Tahoma"/>
              </a:rPr>
              <a:t>  </a:t>
            </a:r>
            <a:r>
              <a:rPr dirty="0" sz="1600" lang="en-US" spc="50">
                <a:latin typeface="Tahoma"/>
                <a:cs typeface="Tahoma"/>
              </a:rPr>
              <a:t>management.</a:t>
            </a:r>
            <a:endParaRPr dirty="0" sz="1600" lang="en-US">
              <a:latin typeface="Tahoma"/>
              <a:cs typeface="Tahoma"/>
            </a:endParaRPr>
          </a:p>
          <a:p>
            <a:pPr algn="just" marL="12700" marR="5080">
              <a:lnSpc>
                <a:spcPct val="110000"/>
              </a:lnSpc>
            </a:pPr>
            <a:r>
              <a:rPr dirty="0" sz="1600" lang="en-US">
                <a:latin typeface="Tahoma"/>
                <a:cs typeface="Tahoma"/>
              </a:rPr>
              <a:t>Regarding</a:t>
            </a:r>
            <a:r>
              <a:rPr dirty="0" sz="1600" lang="en-US" spc="65">
                <a:latin typeface="Tahoma"/>
                <a:cs typeface="Tahoma"/>
              </a:rPr>
              <a:t>  </a:t>
            </a:r>
            <a:r>
              <a:rPr dirty="0" sz="1600" lang="en-US">
                <a:latin typeface="Tahoma"/>
                <a:cs typeface="Tahoma"/>
              </a:rPr>
              <a:t>clinical</a:t>
            </a:r>
            <a:r>
              <a:rPr dirty="0" sz="1600" lang="en-US" spc="75">
                <a:latin typeface="Tahoma"/>
                <a:cs typeface="Tahoma"/>
              </a:rPr>
              <a:t>  </a:t>
            </a:r>
            <a:r>
              <a:rPr dirty="0" sz="1600" lang="en-US">
                <a:latin typeface="Tahoma"/>
                <a:cs typeface="Tahoma"/>
              </a:rPr>
              <a:t>presentation,</a:t>
            </a:r>
            <a:r>
              <a:rPr dirty="0" sz="1600" lang="en-US" spc="75">
                <a:latin typeface="Tahoma"/>
                <a:cs typeface="Tahoma"/>
              </a:rPr>
              <a:t>  </a:t>
            </a:r>
            <a:r>
              <a:rPr dirty="0" sz="1600" lang="en-US">
                <a:latin typeface="Tahoma"/>
                <a:cs typeface="Tahoma"/>
              </a:rPr>
              <a:t>our</a:t>
            </a:r>
            <a:r>
              <a:rPr dirty="0" sz="1600" lang="en-US" spc="75">
                <a:latin typeface="Tahoma"/>
                <a:cs typeface="Tahoma"/>
              </a:rPr>
              <a:t>  </a:t>
            </a:r>
            <a:r>
              <a:rPr dirty="0" sz="1600" lang="en-US">
                <a:latin typeface="Tahoma"/>
                <a:cs typeface="Tahoma"/>
              </a:rPr>
              <a:t>review</a:t>
            </a:r>
            <a:r>
              <a:rPr dirty="0" sz="1600" lang="en-US" spc="70">
                <a:latin typeface="Tahoma"/>
                <a:cs typeface="Tahoma"/>
              </a:rPr>
              <a:t>  </a:t>
            </a:r>
            <a:r>
              <a:rPr dirty="0" sz="1600" lang="en-US" spc="65">
                <a:latin typeface="Tahoma"/>
                <a:cs typeface="Tahoma"/>
              </a:rPr>
              <a:t>found</a:t>
            </a:r>
            <a:r>
              <a:rPr dirty="0" sz="1600" lang="en-US" spc="75">
                <a:latin typeface="Tahoma"/>
                <a:cs typeface="Tahoma"/>
              </a:rPr>
              <a:t>  </a:t>
            </a:r>
            <a:r>
              <a:rPr dirty="0" sz="1600" lang="en-US" spc="55">
                <a:latin typeface="Tahoma"/>
                <a:cs typeface="Tahoma"/>
              </a:rPr>
              <a:t>that</a:t>
            </a:r>
            <a:r>
              <a:rPr dirty="0" sz="1600" lang="en-US" spc="75">
                <a:latin typeface="Tahoma"/>
                <a:cs typeface="Tahoma"/>
              </a:rPr>
              <a:t>  </a:t>
            </a:r>
            <a:r>
              <a:rPr dirty="0" sz="1600" lang="en-US">
                <a:latin typeface="Tahoma"/>
                <a:cs typeface="Tahoma"/>
              </a:rPr>
              <a:t>nearly</a:t>
            </a:r>
            <a:r>
              <a:rPr dirty="0" sz="1600" lang="en-US" spc="65">
                <a:latin typeface="Tahoma"/>
                <a:cs typeface="Tahoma"/>
              </a:rPr>
              <a:t>  </a:t>
            </a:r>
            <a:r>
              <a:rPr dirty="0" sz="1600" lang="en-US" spc="-25">
                <a:latin typeface="Tahoma"/>
                <a:cs typeface="Tahoma"/>
              </a:rPr>
              <a:t>all </a:t>
            </a:r>
            <a:r>
              <a:rPr dirty="0" sz="1600" lang="en-US" spc="45">
                <a:latin typeface="Tahoma"/>
                <a:cs typeface="Tahoma"/>
              </a:rPr>
              <a:t>patients</a:t>
            </a:r>
            <a:r>
              <a:rPr dirty="0" sz="1600" lang="en-US" spc="210">
                <a:latin typeface="Tahoma"/>
                <a:cs typeface="Tahoma"/>
              </a:rPr>
              <a:t> </a:t>
            </a:r>
            <a:r>
              <a:rPr dirty="0" sz="1600" lang="en-US" spc="45">
                <a:latin typeface="Tahoma"/>
                <a:cs typeface="Tahoma"/>
              </a:rPr>
              <a:t>reported</a:t>
            </a:r>
            <a:r>
              <a:rPr dirty="0" sz="1600" lang="en-US" spc="210">
                <a:latin typeface="Tahoma"/>
                <a:cs typeface="Tahoma"/>
              </a:rPr>
              <a:t> </a:t>
            </a:r>
            <a:r>
              <a:rPr dirty="0" sz="1600" lang="en-US">
                <a:latin typeface="Tahoma"/>
                <a:cs typeface="Tahoma"/>
              </a:rPr>
              <a:t>monoarticular</a:t>
            </a:r>
            <a:r>
              <a:rPr dirty="0" sz="1600" lang="en-US" spc="215">
                <a:latin typeface="Tahoma"/>
                <a:cs typeface="Tahoma"/>
              </a:rPr>
              <a:t> </a:t>
            </a:r>
            <a:r>
              <a:rPr dirty="0" sz="1600" lang="en-US">
                <a:latin typeface="Tahoma"/>
                <a:cs typeface="Tahoma"/>
              </a:rPr>
              <a:t>knee</a:t>
            </a:r>
            <a:r>
              <a:rPr dirty="0" sz="1600" lang="en-US" spc="225">
                <a:latin typeface="Tahoma"/>
                <a:cs typeface="Tahoma"/>
              </a:rPr>
              <a:t> </a:t>
            </a:r>
            <a:r>
              <a:rPr dirty="0" sz="1600" lang="en-US">
                <a:latin typeface="Tahoma"/>
                <a:cs typeface="Tahoma"/>
              </a:rPr>
              <a:t>pain</a:t>
            </a:r>
            <a:r>
              <a:rPr dirty="0" sz="1600" lang="en-US" spc="204">
                <a:latin typeface="Tahoma"/>
                <a:cs typeface="Tahoma"/>
              </a:rPr>
              <a:t> </a:t>
            </a:r>
            <a:r>
              <a:rPr dirty="0" sz="1600" lang="en-US">
                <a:latin typeface="Tahoma"/>
                <a:cs typeface="Tahoma"/>
              </a:rPr>
              <a:t>and</a:t>
            </a:r>
            <a:r>
              <a:rPr dirty="0" sz="1600" lang="en-US" spc="215">
                <a:latin typeface="Tahoma"/>
                <a:cs typeface="Tahoma"/>
              </a:rPr>
              <a:t> </a:t>
            </a:r>
            <a:r>
              <a:rPr dirty="0" sz="1600" lang="en-US">
                <a:latin typeface="Tahoma"/>
                <a:cs typeface="Tahoma"/>
              </a:rPr>
              <a:t>swelling,</a:t>
            </a:r>
            <a:r>
              <a:rPr dirty="0" sz="1600" lang="en-US" spc="215">
                <a:latin typeface="Tahoma"/>
                <a:cs typeface="Tahoma"/>
              </a:rPr>
              <a:t> </a:t>
            </a:r>
            <a:r>
              <a:rPr dirty="0" sz="1600" lang="en-US" spc="70">
                <a:latin typeface="Tahoma"/>
                <a:cs typeface="Tahoma"/>
              </a:rPr>
              <a:t>with</a:t>
            </a:r>
            <a:r>
              <a:rPr dirty="0" sz="1600" lang="en-US" spc="210">
                <a:latin typeface="Tahoma"/>
                <a:cs typeface="Tahoma"/>
              </a:rPr>
              <a:t> </a:t>
            </a:r>
            <a:r>
              <a:rPr dirty="0" sz="1600" lang="en-US" spc="45">
                <a:latin typeface="Tahoma"/>
                <a:cs typeface="Tahoma"/>
              </a:rPr>
              <a:t>many </a:t>
            </a:r>
            <a:r>
              <a:rPr dirty="0" sz="1600" lang="en-US" spc="10">
                <a:latin typeface="Tahoma"/>
                <a:cs typeface="Tahoma"/>
              </a:rPr>
              <a:t>also</a:t>
            </a:r>
            <a:r>
              <a:rPr dirty="0" sz="1600" lang="en-US" spc="110">
                <a:latin typeface="Tahoma"/>
                <a:cs typeface="Tahoma"/>
              </a:rPr>
              <a:t> </a:t>
            </a:r>
            <a:r>
              <a:rPr dirty="0" sz="1600" lang="en-US" spc="10">
                <a:latin typeface="Tahoma"/>
                <a:cs typeface="Tahoma"/>
              </a:rPr>
              <a:t>experiencing</a:t>
            </a:r>
            <a:r>
              <a:rPr dirty="0" sz="1600" lang="en-US" spc="90">
                <a:latin typeface="Tahoma"/>
                <a:cs typeface="Tahoma"/>
              </a:rPr>
              <a:t> </a:t>
            </a:r>
            <a:r>
              <a:rPr dirty="0" sz="1600" lang="en-US" spc="10">
                <a:latin typeface="Tahoma"/>
                <a:cs typeface="Tahoma"/>
              </a:rPr>
              <a:t>recurrent</a:t>
            </a:r>
            <a:r>
              <a:rPr dirty="0" sz="1600" lang="en-US" spc="120">
                <a:latin typeface="Tahoma"/>
                <a:cs typeface="Tahoma"/>
              </a:rPr>
              <a:t> </a:t>
            </a:r>
            <a:r>
              <a:rPr dirty="0" sz="1600" lang="en-US" spc="10">
                <a:latin typeface="Tahoma"/>
                <a:cs typeface="Tahoma"/>
              </a:rPr>
              <a:t>joint</a:t>
            </a:r>
            <a:r>
              <a:rPr dirty="0" sz="1600" lang="en-US" spc="125">
                <a:latin typeface="Tahoma"/>
                <a:cs typeface="Tahoma"/>
              </a:rPr>
              <a:t> </a:t>
            </a:r>
            <a:r>
              <a:rPr dirty="0" sz="1600" lang="en-US" spc="50">
                <a:latin typeface="Tahoma"/>
                <a:cs typeface="Tahoma"/>
              </a:rPr>
              <a:t>effusions</a:t>
            </a:r>
            <a:r>
              <a:rPr dirty="0" sz="1600" lang="en-US" spc="100">
                <a:latin typeface="Tahoma"/>
                <a:cs typeface="Tahoma"/>
              </a:rPr>
              <a:t> </a:t>
            </a:r>
            <a:r>
              <a:rPr dirty="0" sz="1600" lang="en-US" spc="10">
                <a:latin typeface="Tahoma"/>
                <a:cs typeface="Tahoma"/>
              </a:rPr>
              <a:t>and</a:t>
            </a:r>
            <a:r>
              <a:rPr dirty="0" sz="1600" lang="en-US" spc="105">
                <a:latin typeface="Tahoma"/>
                <a:cs typeface="Tahoma"/>
              </a:rPr>
              <a:t> </a:t>
            </a:r>
            <a:r>
              <a:rPr dirty="0" sz="1600" lang="en-US" spc="10">
                <a:latin typeface="Tahoma"/>
                <a:cs typeface="Tahoma"/>
              </a:rPr>
              <a:t>progressive</a:t>
            </a:r>
            <a:r>
              <a:rPr dirty="0" sz="1600" lang="en-US" spc="110">
                <a:latin typeface="Tahoma"/>
                <a:cs typeface="Tahoma"/>
              </a:rPr>
              <a:t> </a:t>
            </a:r>
            <a:r>
              <a:rPr dirty="0" sz="1600" lang="en-US" spc="-10">
                <a:latin typeface="Tahoma"/>
                <a:cs typeface="Tahoma"/>
              </a:rPr>
              <a:t>limitation </a:t>
            </a:r>
            <a:r>
              <a:rPr dirty="0" sz="1600" lang="en-US">
                <a:latin typeface="Tahoma"/>
                <a:cs typeface="Tahoma"/>
              </a:rPr>
              <a:t>in</a:t>
            </a:r>
            <a:r>
              <a:rPr dirty="0" sz="1600" lang="en-US" spc="10">
                <a:latin typeface="Tahoma"/>
                <a:cs typeface="Tahoma"/>
              </a:rPr>
              <a:t> </a:t>
            </a:r>
            <a:r>
              <a:rPr dirty="0" sz="1600" lang="en-US">
                <a:latin typeface="Tahoma"/>
                <a:cs typeface="Tahoma"/>
              </a:rPr>
              <a:t>range</a:t>
            </a:r>
            <a:r>
              <a:rPr dirty="0" sz="1600" lang="en-US" spc="25">
                <a:latin typeface="Tahoma"/>
                <a:cs typeface="Tahoma"/>
              </a:rPr>
              <a:t> </a:t>
            </a:r>
            <a:r>
              <a:rPr dirty="0" sz="1600" lang="en-US" spc="90">
                <a:latin typeface="Tahoma"/>
                <a:cs typeface="Tahoma"/>
              </a:rPr>
              <a:t>of</a:t>
            </a:r>
            <a:r>
              <a:rPr dirty="0" sz="1600" lang="en-US" spc="10">
                <a:latin typeface="Tahoma"/>
                <a:cs typeface="Tahoma"/>
              </a:rPr>
              <a:t> </a:t>
            </a:r>
            <a:r>
              <a:rPr dirty="0" sz="1600" lang="en-US" spc="45">
                <a:latin typeface="Tahoma"/>
                <a:cs typeface="Tahoma"/>
              </a:rPr>
              <a:t>motion.</a:t>
            </a:r>
            <a:r>
              <a:rPr dirty="0" sz="1600" lang="en-US" spc="25">
                <a:latin typeface="Tahoma"/>
                <a:cs typeface="Tahoma"/>
              </a:rPr>
              <a:t> </a:t>
            </a:r>
            <a:r>
              <a:rPr dirty="0" sz="1600" lang="en-US">
                <a:latin typeface="Tahoma"/>
                <a:cs typeface="Tahoma"/>
              </a:rPr>
              <a:t>Mechanical</a:t>
            </a:r>
            <a:r>
              <a:rPr dirty="0" sz="1600" lang="en-US" spc="20">
                <a:latin typeface="Tahoma"/>
                <a:cs typeface="Tahoma"/>
              </a:rPr>
              <a:t> </a:t>
            </a:r>
            <a:r>
              <a:rPr dirty="0" sz="1600" lang="en-US" spc="90">
                <a:latin typeface="Tahoma"/>
                <a:cs typeface="Tahoma"/>
              </a:rPr>
              <a:t>symptoms</a:t>
            </a:r>
            <a:r>
              <a:rPr dirty="0" sz="1600" lang="en-US" spc="20">
                <a:latin typeface="Tahoma"/>
                <a:cs typeface="Tahoma"/>
              </a:rPr>
              <a:t> </a:t>
            </a:r>
            <a:r>
              <a:rPr dirty="0" sz="1600" lang="en-US" spc="50">
                <a:latin typeface="Tahoma"/>
                <a:cs typeface="Tahoma"/>
              </a:rPr>
              <a:t>such</a:t>
            </a:r>
            <a:r>
              <a:rPr dirty="0" sz="1600" lang="en-US" spc="10">
                <a:latin typeface="Tahoma"/>
                <a:cs typeface="Tahoma"/>
              </a:rPr>
              <a:t> </a:t>
            </a:r>
            <a:r>
              <a:rPr dirty="0" sz="1600" lang="en-US">
                <a:latin typeface="Tahoma"/>
                <a:cs typeface="Tahoma"/>
              </a:rPr>
              <a:t>as</a:t>
            </a:r>
            <a:r>
              <a:rPr dirty="0" sz="1600" lang="en-US" spc="15">
                <a:latin typeface="Tahoma"/>
                <a:cs typeface="Tahoma"/>
              </a:rPr>
              <a:t> </a:t>
            </a:r>
            <a:r>
              <a:rPr dirty="0" sz="1600" lang="en-US">
                <a:latin typeface="Tahoma"/>
                <a:cs typeface="Tahoma"/>
              </a:rPr>
              <a:t>locking,</a:t>
            </a:r>
            <a:r>
              <a:rPr dirty="0" sz="1600" lang="en-US" spc="15">
                <a:latin typeface="Tahoma"/>
                <a:cs typeface="Tahoma"/>
              </a:rPr>
              <a:t> </a:t>
            </a:r>
            <a:r>
              <a:rPr dirty="0" sz="1600" lang="en-US" spc="-10">
                <a:latin typeface="Tahoma"/>
                <a:cs typeface="Tahoma"/>
              </a:rPr>
              <a:t>instability, </a:t>
            </a:r>
            <a:r>
              <a:rPr dirty="0" sz="1600" lang="en-US">
                <a:latin typeface="Tahoma"/>
                <a:cs typeface="Tahoma"/>
              </a:rPr>
              <a:t>or</a:t>
            </a:r>
            <a:r>
              <a:rPr dirty="0" sz="1600" lang="en-US" spc="484">
                <a:latin typeface="Tahoma"/>
                <a:cs typeface="Tahoma"/>
              </a:rPr>
              <a:t> </a:t>
            </a:r>
            <a:r>
              <a:rPr dirty="0" sz="1600" lang="en-US" spc="45">
                <a:latin typeface="Tahoma"/>
                <a:cs typeface="Tahoma"/>
              </a:rPr>
              <a:t>extension</a:t>
            </a:r>
            <a:r>
              <a:rPr dirty="0" sz="1600" lang="en-US" spc="475">
                <a:latin typeface="Tahoma"/>
                <a:cs typeface="Tahoma"/>
              </a:rPr>
              <a:t> </a:t>
            </a:r>
            <a:r>
              <a:rPr dirty="0" sz="1600" lang="en-US">
                <a:latin typeface="Tahoma"/>
                <a:cs typeface="Tahoma"/>
              </a:rPr>
              <a:t>block</a:t>
            </a:r>
            <a:r>
              <a:rPr dirty="0" sz="1600" lang="en-US" spc="470">
                <a:latin typeface="Tahoma"/>
                <a:cs typeface="Tahoma"/>
              </a:rPr>
              <a:t> </a:t>
            </a:r>
            <a:r>
              <a:rPr dirty="0" sz="1600" lang="en-US" spc="50">
                <a:latin typeface="Tahoma"/>
                <a:cs typeface="Tahoma"/>
              </a:rPr>
              <a:t>were</a:t>
            </a:r>
            <a:r>
              <a:rPr dirty="0" sz="1600" lang="en-US" spc="490">
                <a:latin typeface="Tahoma"/>
                <a:cs typeface="Tahoma"/>
              </a:rPr>
              <a:t> </a:t>
            </a:r>
            <a:r>
              <a:rPr dirty="0" sz="1600" lang="en-US" spc="50">
                <a:latin typeface="Tahoma"/>
                <a:cs typeface="Tahoma"/>
              </a:rPr>
              <a:t>frequently</a:t>
            </a:r>
            <a:r>
              <a:rPr dirty="0" sz="1600" lang="en-US" spc="465">
                <a:latin typeface="Tahoma"/>
                <a:cs typeface="Tahoma"/>
              </a:rPr>
              <a:t> </a:t>
            </a:r>
            <a:r>
              <a:rPr dirty="0" sz="1600" lang="en-US">
                <a:latin typeface="Tahoma"/>
                <a:cs typeface="Tahoma"/>
              </a:rPr>
              <a:t>reported,</a:t>
            </a:r>
            <a:r>
              <a:rPr dirty="0" sz="1600" lang="en-US" spc="484">
                <a:latin typeface="Tahoma"/>
                <a:cs typeface="Tahoma"/>
              </a:rPr>
              <a:t> </a:t>
            </a:r>
            <a:r>
              <a:rPr dirty="0" sz="1600" lang="en-US">
                <a:latin typeface="Tahoma"/>
                <a:cs typeface="Tahoma"/>
              </a:rPr>
              <a:t>especially</a:t>
            </a:r>
            <a:r>
              <a:rPr dirty="0" sz="1600" lang="en-US" spc="470">
                <a:latin typeface="Tahoma"/>
                <a:cs typeface="Tahoma"/>
              </a:rPr>
              <a:t> </a:t>
            </a:r>
            <a:r>
              <a:rPr dirty="0" sz="1600" lang="en-US">
                <a:latin typeface="Tahoma"/>
                <a:cs typeface="Tahoma"/>
              </a:rPr>
              <a:t>in</a:t>
            </a:r>
            <a:r>
              <a:rPr dirty="0" sz="1600" lang="en-US" spc="470">
                <a:latin typeface="Tahoma"/>
                <a:cs typeface="Tahoma"/>
              </a:rPr>
              <a:t> </a:t>
            </a:r>
            <a:r>
              <a:rPr dirty="0" sz="1600" lang="en-US" spc="-10">
                <a:latin typeface="Tahoma"/>
                <a:cs typeface="Tahoma"/>
              </a:rPr>
              <a:t>cases </a:t>
            </a:r>
            <a:r>
              <a:rPr dirty="0" sz="1600" lang="en-US">
                <a:latin typeface="Tahoma"/>
                <a:cs typeface="Tahoma"/>
              </a:rPr>
              <a:t>involving</a:t>
            </a:r>
            <a:r>
              <a:rPr dirty="0" sz="1600" lang="en-US" spc="320">
                <a:latin typeface="Tahoma"/>
                <a:cs typeface="Tahoma"/>
              </a:rPr>
              <a:t>  </a:t>
            </a:r>
            <a:r>
              <a:rPr dirty="0" sz="1600" lang="en-US">
                <a:latin typeface="Tahoma"/>
                <a:cs typeface="Tahoma"/>
              </a:rPr>
              <a:t>intra-articular</a:t>
            </a:r>
            <a:r>
              <a:rPr dirty="0" sz="1600" lang="en-US" spc="325">
                <a:latin typeface="Tahoma"/>
                <a:cs typeface="Tahoma"/>
              </a:rPr>
              <a:t>  </a:t>
            </a:r>
            <a:r>
              <a:rPr dirty="0" sz="1600" lang="en-US">
                <a:latin typeface="Tahoma"/>
                <a:cs typeface="Tahoma"/>
              </a:rPr>
              <a:t>nodules</a:t>
            </a:r>
            <a:r>
              <a:rPr dirty="0" sz="1600" lang="en-US" spc="325">
                <a:latin typeface="Tahoma"/>
                <a:cs typeface="Tahoma"/>
              </a:rPr>
              <a:t>  </a:t>
            </a:r>
            <a:r>
              <a:rPr dirty="0" sz="1600" lang="en-US">
                <a:latin typeface="Tahoma"/>
                <a:cs typeface="Tahoma"/>
              </a:rPr>
              <a:t>or</a:t>
            </a:r>
            <a:r>
              <a:rPr dirty="0" sz="1600" lang="en-US" spc="330">
                <a:latin typeface="Tahoma"/>
                <a:cs typeface="Tahoma"/>
              </a:rPr>
              <a:t>  </a:t>
            </a:r>
            <a:r>
              <a:rPr dirty="0" sz="1600" lang="en-US">
                <a:latin typeface="Tahoma"/>
                <a:cs typeface="Tahoma"/>
              </a:rPr>
              <a:t>anterior</a:t>
            </a:r>
            <a:r>
              <a:rPr dirty="0" sz="1600" lang="en-US" spc="325">
                <a:latin typeface="Tahoma"/>
                <a:cs typeface="Tahoma"/>
              </a:rPr>
              <a:t>  </a:t>
            </a:r>
            <a:r>
              <a:rPr dirty="0" sz="1600" lang="en-US">
                <a:latin typeface="Tahoma"/>
                <a:cs typeface="Tahoma"/>
              </a:rPr>
              <a:t>cruciate</a:t>
            </a:r>
            <a:r>
              <a:rPr dirty="0" sz="1600" lang="en-US" spc="330">
                <a:latin typeface="Tahoma"/>
                <a:cs typeface="Tahoma"/>
              </a:rPr>
              <a:t>  </a:t>
            </a:r>
            <a:r>
              <a:rPr dirty="0" sz="1600" lang="en-US" spc="35">
                <a:latin typeface="Tahoma"/>
                <a:cs typeface="Tahoma"/>
              </a:rPr>
              <a:t>ligament </a:t>
            </a:r>
            <a:r>
              <a:rPr dirty="0" sz="1600" lang="en-US" spc="60">
                <a:latin typeface="Tahoma"/>
                <a:cs typeface="Tahoma"/>
              </a:rPr>
              <a:t>proximity</a:t>
            </a:r>
            <a:r>
              <a:rPr dirty="0" sz="1600" lang="en-US" spc="315">
                <a:latin typeface="Tahoma"/>
                <a:cs typeface="Tahoma"/>
              </a:rPr>
              <a:t> </a:t>
            </a:r>
            <a:endParaRPr dirty="0" sz="1600" lang="en-US">
              <a:latin typeface="Tahoma"/>
              <a:cs typeface="Tahoma"/>
            </a:endParaRPr>
          </a:p>
          <a:p>
            <a:pPr algn="just" marL="12700" marR="5080">
              <a:lnSpc>
                <a:spcPct val="110000"/>
              </a:lnSpc>
              <a:spcBef>
                <a:spcPts val="100"/>
              </a:spcBef>
            </a:pPr>
            <a:r>
              <a:rPr dirty="0" sz="1600" lang="en-US" spc="125">
                <a:latin typeface="Tahoma"/>
                <a:cs typeface="Tahoma"/>
              </a:rPr>
              <a:t>A</a:t>
            </a:r>
            <a:r>
              <a:rPr dirty="0" sz="1600" lang="en-US" spc="40">
                <a:latin typeface="Tahoma"/>
                <a:cs typeface="Tahoma"/>
              </a:rPr>
              <a:t> </a:t>
            </a:r>
            <a:r>
              <a:rPr dirty="0" sz="1600" lang="en-US">
                <a:latin typeface="Tahoma"/>
                <a:cs typeface="Tahoma"/>
              </a:rPr>
              <a:t>small</a:t>
            </a:r>
            <a:r>
              <a:rPr dirty="0" sz="1600" lang="en-US" spc="35">
                <a:latin typeface="Tahoma"/>
                <a:cs typeface="Tahoma"/>
              </a:rPr>
              <a:t> </a:t>
            </a:r>
            <a:r>
              <a:rPr dirty="0" sz="1600" lang="en-US" spc="55">
                <a:latin typeface="Tahoma"/>
                <a:cs typeface="Tahoma"/>
              </a:rPr>
              <a:t>number </a:t>
            </a:r>
            <a:r>
              <a:rPr dirty="0" sz="1600" lang="en-US" spc="90">
                <a:latin typeface="Tahoma"/>
                <a:cs typeface="Tahoma"/>
              </a:rPr>
              <a:t>of</a:t>
            </a:r>
            <a:r>
              <a:rPr dirty="0" sz="1600" lang="en-US" spc="25">
                <a:latin typeface="Tahoma"/>
                <a:cs typeface="Tahoma"/>
              </a:rPr>
              <a:t> </a:t>
            </a:r>
            <a:r>
              <a:rPr dirty="0" sz="1600" lang="en-US" spc="45">
                <a:latin typeface="Tahoma"/>
                <a:cs typeface="Tahoma"/>
              </a:rPr>
              <a:t>patients</a:t>
            </a:r>
            <a:r>
              <a:rPr dirty="0" sz="1600" lang="en-US" spc="35">
                <a:latin typeface="Tahoma"/>
                <a:cs typeface="Tahoma"/>
              </a:rPr>
              <a:t> </a:t>
            </a:r>
            <a:r>
              <a:rPr dirty="0" sz="1600" lang="en-US">
                <a:latin typeface="Tahoma"/>
                <a:cs typeface="Tahoma"/>
              </a:rPr>
              <a:t>also</a:t>
            </a:r>
            <a:r>
              <a:rPr dirty="0" sz="1600" lang="en-US" spc="40">
                <a:latin typeface="Tahoma"/>
                <a:cs typeface="Tahoma"/>
              </a:rPr>
              <a:t> presented </a:t>
            </a:r>
            <a:r>
              <a:rPr dirty="0" sz="1600" lang="en-US" spc="70">
                <a:latin typeface="Tahoma"/>
                <a:cs typeface="Tahoma"/>
              </a:rPr>
              <a:t>with</a:t>
            </a:r>
            <a:r>
              <a:rPr dirty="0" sz="1600" lang="en-US" spc="290">
                <a:latin typeface="Tahoma"/>
                <a:cs typeface="Tahoma"/>
              </a:rPr>
              <a:t> </a:t>
            </a:r>
            <a:r>
              <a:rPr dirty="0" sz="1600" lang="en-US">
                <a:latin typeface="Tahoma"/>
                <a:cs typeface="Tahoma"/>
              </a:rPr>
              <a:t>palpable</a:t>
            </a:r>
            <a:r>
              <a:rPr dirty="0" sz="1600" lang="en-US" spc="295">
                <a:latin typeface="Tahoma"/>
                <a:cs typeface="Tahoma"/>
              </a:rPr>
              <a:t> </a:t>
            </a:r>
            <a:r>
              <a:rPr dirty="0" sz="1600" lang="en-US">
                <a:latin typeface="Tahoma"/>
                <a:cs typeface="Tahoma"/>
              </a:rPr>
              <a:t>masses</a:t>
            </a:r>
            <a:r>
              <a:rPr dirty="0" sz="1600" lang="en-US" spc="285">
                <a:latin typeface="Tahoma"/>
                <a:cs typeface="Tahoma"/>
              </a:rPr>
              <a:t> </a:t>
            </a:r>
            <a:r>
              <a:rPr dirty="0" sz="1600" lang="en-US">
                <a:latin typeface="Tahoma"/>
                <a:cs typeface="Tahoma"/>
              </a:rPr>
              <a:t>or</a:t>
            </a:r>
            <a:r>
              <a:rPr dirty="0" sz="1600" lang="en-US" spc="295">
                <a:latin typeface="Tahoma"/>
                <a:cs typeface="Tahoma"/>
              </a:rPr>
              <a:t> </a:t>
            </a:r>
            <a:r>
              <a:rPr dirty="0" sz="1600" lang="en-US">
                <a:latin typeface="Tahoma"/>
                <a:cs typeface="Tahoma"/>
              </a:rPr>
              <a:t>extra-articular</a:t>
            </a:r>
            <a:r>
              <a:rPr dirty="0" sz="1600" lang="en-US" spc="300">
                <a:latin typeface="Tahoma"/>
                <a:cs typeface="Tahoma"/>
              </a:rPr>
              <a:t> </a:t>
            </a:r>
            <a:r>
              <a:rPr dirty="0" sz="1600" lang="en-US">
                <a:latin typeface="Tahoma"/>
                <a:cs typeface="Tahoma"/>
              </a:rPr>
              <a:t>swelling,</a:t>
            </a:r>
            <a:r>
              <a:rPr dirty="0" sz="1600" lang="en-US" spc="295">
                <a:latin typeface="Tahoma"/>
                <a:cs typeface="Tahoma"/>
              </a:rPr>
              <a:t> </a:t>
            </a:r>
            <a:r>
              <a:rPr dirty="0" sz="1600" lang="en-US">
                <a:latin typeface="Tahoma"/>
                <a:cs typeface="Tahoma"/>
              </a:rPr>
              <a:t>especially</a:t>
            </a:r>
            <a:r>
              <a:rPr dirty="0" sz="1600" lang="en-US" spc="280">
                <a:latin typeface="Tahoma"/>
                <a:cs typeface="Tahoma"/>
              </a:rPr>
              <a:t> </a:t>
            </a:r>
            <a:r>
              <a:rPr dirty="0" sz="1600" lang="en-US">
                <a:latin typeface="Tahoma"/>
                <a:cs typeface="Tahoma"/>
              </a:rPr>
              <a:t>in</a:t>
            </a:r>
            <a:r>
              <a:rPr dirty="0" sz="1600" lang="en-US" spc="285">
                <a:latin typeface="Tahoma"/>
                <a:cs typeface="Tahoma"/>
              </a:rPr>
              <a:t> </a:t>
            </a:r>
            <a:r>
              <a:rPr dirty="0" sz="1600" lang="en-US" spc="-10">
                <a:latin typeface="Tahoma"/>
                <a:cs typeface="Tahoma"/>
              </a:rPr>
              <a:t>cases </a:t>
            </a:r>
            <a:r>
              <a:rPr dirty="0" sz="1600" lang="en-US" spc="90">
                <a:latin typeface="Tahoma"/>
                <a:cs typeface="Tahoma"/>
              </a:rPr>
              <a:t>of</a:t>
            </a:r>
            <a:r>
              <a:rPr dirty="0" sz="1600" lang="en-US" spc="114">
                <a:latin typeface="Tahoma"/>
                <a:cs typeface="Tahoma"/>
              </a:rPr>
              <a:t> </a:t>
            </a:r>
            <a:r>
              <a:rPr dirty="0" sz="1600" lang="en-US" spc="50">
                <a:latin typeface="Tahoma"/>
                <a:cs typeface="Tahoma"/>
              </a:rPr>
              <a:t>diffuse</a:t>
            </a:r>
            <a:r>
              <a:rPr dirty="0" sz="1600" lang="en-US" spc="125">
                <a:latin typeface="Tahoma"/>
                <a:cs typeface="Tahoma"/>
              </a:rPr>
              <a:t> </a:t>
            </a:r>
            <a:r>
              <a:rPr dirty="0" sz="1600" lang="en-US">
                <a:latin typeface="Tahoma"/>
                <a:cs typeface="Tahoma"/>
              </a:rPr>
              <a:t>or</a:t>
            </a:r>
            <a:r>
              <a:rPr dirty="0" sz="1600" lang="en-US" spc="130">
                <a:latin typeface="Tahoma"/>
                <a:cs typeface="Tahoma"/>
              </a:rPr>
              <a:t> </a:t>
            </a:r>
            <a:r>
              <a:rPr dirty="0" sz="1600" lang="en-US">
                <a:latin typeface="Tahoma"/>
                <a:cs typeface="Tahoma"/>
              </a:rPr>
              <a:t>multifocal</a:t>
            </a:r>
            <a:r>
              <a:rPr dirty="0" sz="1600" lang="en-US" spc="130">
                <a:latin typeface="Tahoma"/>
                <a:cs typeface="Tahoma"/>
              </a:rPr>
              <a:t> </a:t>
            </a:r>
            <a:r>
              <a:rPr dirty="0" sz="1600" lang="en-US">
                <a:latin typeface="Tahoma"/>
                <a:cs typeface="Tahoma"/>
              </a:rPr>
              <a:t>disease</a:t>
            </a:r>
            <a:r>
              <a:rPr dirty="0" sz="1600" lang="en-US" spc="120">
                <a:latin typeface="Tahoma"/>
                <a:cs typeface="Tahoma"/>
              </a:rPr>
              <a:t> </a:t>
            </a:r>
            <a:r>
              <a:rPr dirty="0" sz="1600" lang="en-US" spc="-60">
                <a:latin typeface="Tahoma"/>
                <a:cs typeface="Tahoma"/>
              </a:rPr>
              <a:t>.</a:t>
            </a:r>
            <a:r>
              <a:rPr dirty="0" sz="1600" lang="en-US" spc="125">
                <a:latin typeface="Tahoma"/>
                <a:cs typeface="Tahoma"/>
              </a:rPr>
              <a:t> </a:t>
            </a:r>
            <a:r>
              <a:rPr dirty="0" sz="1600" lang="en-US">
                <a:latin typeface="Tahoma"/>
                <a:cs typeface="Tahoma"/>
              </a:rPr>
              <a:t>The</a:t>
            </a:r>
            <a:r>
              <a:rPr dirty="0" sz="1600" lang="en-US" spc="130">
                <a:latin typeface="Tahoma"/>
                <a:cs typeface="Tahoma"/>
              </a:rPr>
              <a:t> </a:t>
            </a:r>
            <a:r>
              <a:rPr dirty="0" sz="1600" lang="en-US" spc="50">
                <a:latin typeface="Tahoma"/>
                <a:cs typeface="Tahoma"/>
              </a:rPr>
              <a:t>heterogeneity</a:t>
            </a:r>
            <a:r>
              <a:rPr dirty="0" sz="1600" lang="en-US" spc="114">
                <a:latin typeface="Tahoma"/>
                <a:cs typeface="Tahoma"/>
              </a:rPr>
              <a:t> </a:t>
            </a:r>
            <a:r>
              <a:rPr dirty="0" sz="1600" lang="en-US" spc="90">
                <a:latin typeface="Tahoma"/>
                <a:cs typeface="Tahoma"/>
              </a:rPr>
              <a:t>of</a:t>
            </a:r>
            <a:r>
              <a:rPr dirty="0" sz="1600" lang="en-US" spc="114">
                <a:latin typeface="Tahoma"/>
                <a:cs typeface="Tahoma"/>
              </a:rPr>
              <a:t> </a:t>
            </a:r>
            <a:r>
              <a:rPr dirty="0" sz="1600" lang="en-US" spc="-10">
                <a:latin typeface="Tahoma"/>
                <a:cs typeface="Tahoma"/>
              </a:rPr>
              <a:t>clinical </a:t>
            </a:r>
            <a:r>
              <a:rPr dirty="0" sz="1600" lang="en-US" spc="45">
                <a:latin typeface="Tahoma"/>
                <a:cs typeface="Tahoma"/>
              </a:rPr>
              <a:t>presentation</a:t>
            </a:r>
            <a:r>
              <a:rPr dirty="0" sz="1600" lang="en-US" spc="365">
                <a:latin typeface="Tahoma"/>
                <a:cs typeface="Tahoma"/>
              </a:rPr>
              <a:t> </a:t>
            </a:r>
            <a:r>
              <a:rPr dirty="0" sz="1600" lang="en-US" spc="70">
                <a:latin typeface="Tahoma"/>
                <a:cs typeface="Tahoma"/>
              </a:rPr>
              <a:t>may</a:t>
            </a:r>
            <a:r>
              <a:rPr dirty="0" sz="1600" lang="en-US" spc="365">
                <a:latin typeface="Tahoma"/>
                <a:cs typeface="Tahoma"/>
              </a:rPr>
              <a:t> </a:t>
            </a:r>
            <a:r>
              <a:rPr dirty="0" sz="1600" lang="en-US" spc="50">
                <a:latin typeface="Tahoma"/>
                <a:cs typeface="Tahoma"/>
              </a:rPr>
              <a:t>contribute</a:t>
            </a:r>
            <a:r>
              <a:rPr dirty="0" sz="1600" lang="en-US" spc="385">
                <a:latin typeface="Tahoma"/>
                <a:cs typeface="Tahoma"/>
              </a:rPr>
              <a:t> </a:t>
            </a:r>
            <a:r>
              <a:rPr dirty="0" sz="1600" lang="en-US" spc="85">
                <a:latin typeface="Tahoma"/>
                <a:cs typeface="Tahoma"/>
              </a:rPr>
              <a:t>to</a:t>
            </a:r>
            <a:r>
              <a:rPr dirty="0" sz="1600" lang="en-US" spc="385">
                <a:latin typeface="Tahoma"/>
                <a:cs typeface="Tahoma"/>
              </a:rPr>
              <a:t> </a:t>
            </a:r>
            <a:r>
              <a:rPr dirty="0" sz="1600" lang="en-US">
                <a:latin typeface="Tahoma"/>
                <a:cs typeface="Tahoma"/>
              </a:rPr>
              <a:t>delayed</a:t>
            </a:r>
            <a:r>
              <a:rPr dirty="0" sz="1600" lang="en-US" spc="380">
                <a:latin typeface="Tahoma"/>
                <a:cs typeface="Tahoma"/>
              </a:rPr>
              <a:t> </a:t>
            </a:r>
            <a:r>
              <a:rPr dirty="0" sz="1600" lang="en-US">
                <a:latin typeface="Tahoma"/>
                <a:cs typeface="Tahoma"/>
              </a:rPr>
              <a:t>diagnosis</a:t>
            </a:r>
            <a:r>
              <a:rPr dirty="0" sz="1600" lang="en-US" spc="375">
                <a:latin typeface="Tahoma"/>
                <a:cs typeface="Tahoma"/>
              </a:rPr>
              <a:t> </a:t>
            </a:r>
            <a:r>
              <a:rPr dirty="0" sz="1600" lang="en-US">
                <a:latin typeface="Tahoma"/>
                <a:cs typeface="Tahoma"/>
              </a:rPr>
              <a:t>and</a:t>
            </a:r>
            <a:r>
              <a:rPr dirty="0" sz="1600" lang="en-US" spc="380">
                <a:latin typeface="Tahoma"/>
                <a:cs typeface="Tahoma"/>
              </a:rPr>
              <a:t> </a:t>
            </a:r>
            <a:r>
              <a:rPr dirty="0" sz="1600" lang="en-US" spc="-10">
                <a:latin typeface="Tahoma"/>
                <a:cs typeface="Tahoma"/>
              </a:rPr>
              <a:t>underlines </a:t>
            </a:r>
            <a:r>
              <a:rPr dirty="0" sz="1600" lang="en-US" spc="60">
                <a:latin typeface="Tahoma"/>
                <a:cs typeface="Tahoma"/>
              </a:rPr>
              <a:t>the</a:t>
            </a:r>
            <a:r>
              <a:rPr dirty="0" sz="1600" lang="en-US" spc="130">
                <a:latin typeface="Tahoma"/>
                <a:cs typeface="Tahoma"/>
              </a:rPr>
              <a:t> </a:t>
            </a:r>
            <a:r>
              <a:rPr dirty="0" sz="1600" lang="en-US">
                <a:latin typeface="Tahoma"/>
                <a:cs typeface="Tahoma"/>
              </a:rPr>
              <a:t>need</a:t>
            </a:r>
            <a:r>
              <a:rPr dirty="0" sz="1600" lang="en-US" spc="135">
                <a:latin typeface="Tahoma"/>
                <a:cs typeface="Tahoma"/>
              </a:rPr>
              <a:t> </a:t>
            </a:r>
            <a:r>
              <a:rPr dirty="0" sz="1600" lang="en-US" spc="55">
                <a:latin typeface="Tahoma"/>
                <a:cs typeface="Tahoma"/>
              </a:rPr>
              <a:t>for</a:t>
            </a:r>
            <a:r>
              <a:rPr dirty="0" sz="1600" lang="en-US" spc="145">
                <a:latin typeface="Tahoma"/>
                <a:cs typeface="Tahoma"/>
              </a:rPr>
              <a:t> </a:t>
            </a:r>
            <a:r>
              <a:rPr dirty="0" sz="1600" lang="en-US">
                <a:latin typeface="Tahoma"/>
                <a:cs typeface="Tahoma"/>
              </a:rPr>
              <a:t>increased</a:t>
            </a:r>
            <a:r>
              <a:rPr dirty="0" sz="1600" lang="en-US" spc="135">
                <a:latin typeface="Tahoma"/>
                <a:cs typeface="Tahoma"/>
              </a:rPr>
              <a:t> </a:t>
            </a:r>
            <a:r>
              <a:rPr dirty="0" sz="1600" lang="en-US">
                <a:latin typeface="Tahoma"/>
                <a:cs typeface="Tahoma"/>
              </a:rPr>
              <a:t>awareness</a:t>
            </a:r>
            <a:r>
              <a:rPr dirty="0" sz="1600" lang="en-US" spc="125">
                <a:latin typeface="Tahoma"/>
                <a:cs typeface="Tahoma"/>
              </a:rPr>
              <a:t> </a:t>
            </a:r>
            <a:r>
              <a:rPr dirty="0" sz="1600" lang="en-US" spc="65">
                <a:latin typeface="Tahoma"/>
                <a:cs typeface="Tahoma"/>
              </a:rPr>
              <a:t>among</a:t>
            </a:r>
            <a:r>
              <a:rPr dirty="0" sz="1600" lang="en-US" spc="120">
                <a:latin typeface="Tahoma"/>
                <a:cs typeface="Tahoma"/>
              </a:rPr>
              <a:t> </a:t>
            </a:r>
            <a:r>
              <a:rPr dirty="0" sz="1600" lang="en-US">
                <a:latin typeface="Tahoma"/>
                <a:cs typeface="Tahoma"/>
              </a:rPr>
              <a:t>clinicians</a:t>
            </a:r>
            <a:r>
              <a:rPr dirty="0" sz="1600" lang="en-US" spc="130">
                <a:latin typeface="Tahoma"/>
                <a:cs typeface="Tahoma"/>
              </a:rPr>
              <a:t> </a:t>
            </a:r>
            <a:r>
              <a:rPr dirty="0" sz="1600" lang="en-US" spc="70">
                <a:latin typeface="Tahoma"/>
                <a:cs typeface="Tahoma"/>
              </a:rPr>
              <a:t>when</a:t>
            </a:r>
            <a:r>
              <a:rPr dirty="0" sz="1600" lang="en-US" spc="125">
                <a:latin typeface="Tahoma"/>
                <a:cs typeface="Tahoma"/>
              </a:rPr>
              <a:t> </a:t>
            </a:r>
            <a:r>
              <a:rPr dirty="0" sz="1600" lang="en-US" spc="-10">
                <a:latin typeface="Tahoma"/>
                <a:cs typeface="Tahoma"/>
              </a:rPr>
              <a:t>evaluating </a:t>
            </a:r>
            <a:r>
              <a:rPr dirty="0" sz="1600" lang="en-US" spc="45">
                <a:latin typeface="Tahoma"/>
                <a:cs typeface="Tahoma"/>
              </a:rPr>
              <a:t>persistent </a:t>
            </a:r>
            <a:r>
              <a:rPr dirty="0" sz="1600" lang="en-US" spc="45" err="1">
                <a:latin typeface="Tahoma"/>
                <a:cs typeface="Tahoma"/>
              </a:rPr>
              <a:t>monoarthritis</a:t>
            </a:r>
            <a:r>
              <a:rPr dirty="0" sz="1600" lang="en-US" spc="30">
                <a:latin typeface="Tahoma"/>
                <a:cs typeface="Tahoma"/>
              </a:rPr>
              <a:t> </a:t>
            </a:r>
            <a:r>
              <a:rPr dirty="0" sz="1600" lang="en-US">
                <a:latin typeface="Tahoma"/>
                <a:cs typeface="Tahoma"/>
              </a:rPr>
              <a:t>in</a:t>
            </a:r>
            <a:r>
              <a:rPr dirty="0" sz="1600" lang="en-US" spc="40">
                <a:latin typeface="Tahoma"/>
                <a:cs typeface="Tahoma"/>
              </a:rPr>
              <a:t> </a:t>
            </a:r>
            <a:r>
              <a:rPr dirty="0" sz="1600" lang="en-US" spc="65">
                <a:latin typeface="Tahoma"/>
                <a:cs typeface="Tahoma"/>
              </a:rPr>
              <a:t>young</a:t>
            </a:r>
            <a:r>
              <a:rPr dirty="0" sz="1600" lang="en-US" spc="20">
                <a:latin typeface="Tahoma"/>
                <a:cs typeface="Tahoma"/>
              </a:rPr>
              <a:t> </a:t>
            </a:r>
            <a:r>
              <a:rPr dirty="0" sz="1600" lang="en-US">
                <a:latin typeface="Tahoma"/>
                <a:cs typeface="Tahoma"/>
              </a:rPr>
              <a:t>adults</a:t>
            </a:r>
            <a:r>
              <a:rPr dirty="0" sz="1600" lang="en-US" spc="30">
                <a:latin typeface="Tahoma"/>
                <a:cs typeface="Tahoma"/>
              </a:rPr>
              <a:t> </a:t>
            </a:r>
            <a:r>
              <a:rPr dirty="0" sz="1600" lang="en-US">
                <a:latin typeface="Tahoma"/>
                <a:cs typeface="Tahoma"/>
              </a:rPr>
              <a:t>or</a:t>
            </a:r>
            <a:r>
              <a:rPr dirty="0" sz="1600" lang="en-US" spc="50">
                <a:latin typeface="Tahoma"/>
                <a:cs typeface="Tahoma"/>
              </a:rPr>
              <a:t> </a:t>
            </a:r>
            <a:r>
              <a:rPr dirty="0" sz="1600" lang="en-US">
                <a:latin typeface="Tahoma"/>
                <a:cs typeface="Tahoma"/>
              </a:rPr>
              <a:t>pediatric</a:t>
            </a:r>
            <a:r>
              <a:rPr dirty="0" sz="1600" lang="en-US" spc="40">
                <a:latin typeface="Tahoma"/>
                <a:cs typeface="Tahoma"/>
              </a:rPr>
              <a:t> </a:t>
            </a:r>
            <a:r>
              <a:rPr dirty="0" sz="1600" lang="en-US" spc="-10">
                <a:latin typeface="Tahoma"/>
                <a:cs typeface="Tahoma"/>
              </a:rPr>
              <a:t>patients.</a:t>
            </a:r>
            <a:endParaRPr dirty="0" sz="1600" lang="en-US">
              <a:latin typeface="Tahoma"/>
              <a:cs typeface="Tahoma"/>
            </a:endParaRPr>
          </a:p>
          <a:p>
            <a:pPr algn="just" marL="12700" marR="5080">
              <a:lnSpc>
                <a:spcPct val="110000"/>
              </a:lnSpc>
            </a:pPr>
            <a:r>
              <a:rPr dirty="0" sz="1600" lang="en-US">
                <a:latin typeface="Tahoma"/>
                <a:cs typeface="Tahoma"/>
              </a:rPr>
              <a:t>Our</a:t>
            </a:r>
            <a:r>
              <a:rPr dirty="0" sz="1600" lang="en-US" spc="114">
                <a:latin typeface="Tahoma"/>
                <a:cs typeface="Tahoma"/>
              </a:rPr>
              <a:t> </a:t>
            </a:r>
            <a:r>
              <a:rPr dirty="0" sz="1600" lang="en-US">
                <a:latin typeface="Tahoma"/>
                <a:cs typeface="Tahoma"/>
              </a:rPr>
              <a:t>findings</a:t>
            </a:r>
            <a:r>
              <a:rPr dirty="0" sz="1600" lang="en-US" spc="105">
                <a:latin typeface="Tahoma"/>
                <a:cs typeface="Tahoma"/>
              </a:rPr>
              <a:t> </a:t>
            </a:r>
            <a:r>
              <a:rPr dirty="0" sz="1600" lang="en-US" spc="60">
                <a:latin typeface="Tahoma"/>
                <a:cs typeface="Tahoma"/>
              </a:rPr>
              <a:t>confirm</a:t>
            </a:r>
            <a:r>
              <a:rPr dirty="0" sz="1600" lang="en-US" spc="114">
                <a:latin typeface="Tahoma"/>
                <a:cs typeface="Tahoma"/>
              </a:rPr>
              <a:t> </a:t>
            </a:r>
            <a:r>
              <a:rPr dirty="0" sz="1600" lang="en-US" spc="50">
                <a:latin typeface="Tahoma"/>
                <a:cs typeface="Tahoma"/>
              </a:rPr>
              <a:t>that</a:t>
            </a:r>
            <a:r>
              <a:rPr dirty="0" sz="1600" lang="en-US" spc="114">
                <a:latin typeface="Tahoma"/>
                <a:cs typeface="Tahoma"/>
              </a:rPr>
              <a:t> </a:t>
            </a:r>
            <a:r>
              <a:rPr dirty="0" sz="1600" lang="en-US" spc="-50">
                <a:latin typeface="Tahoma"/>
                <a:cs typeface="Tahoma"/>
              </a:rPr>
              <a:t>MRI</a:t>
            </a:r>
            <a:r>
              <a:rPr dirty="0" sz="1600" lang="en-US" spc="114">
                <a:latin typeface="Tahoma"/>
                <a:cs typeface="Tahoma"/>
              </a:rPr>
              <a:t> </a:t>
            </a:r>
            <a:r>
              <a:rPr dirty="0" sz="1600" lang="en-US">
                <a:latin typeface="Tahoma"/>
                <a:cs typeface="Tahoma"/>
              </a:rPr>
              <a:t>is</a:t>
            </a:r>
            <a:r>
              <a:rPr dirty="0" sz="1600" lang="en-US" spc="100">
                <a:latin typeface="Tahoma"/>
                <a:cs typeface="Tahoma"/>
              </a:rPr>
              <a:t> </a:t>
            </a:r>
            <a:r>
              <a:rPr dirty="0" sz="1600" lang="en-US" spc="60">
                <a:latin typeface="Tahoma"/>
                <a:cs typeface="Tahoma"/>
              </a:rPr>
              <a:t>the</a:t>
            </a:r>
            <a:r>
              <a:rPr dirty="0" sz="1600" lang="en-US" spc="110">
                <a:latin typeface="Tahoma"/>
                <a:cs typeface="Tahoma"/>
              </a:rPr>
              <a:t> </a:t>
            </a:r>
            <a:r>
              <a:rPr dirty="0" sz="1600" lang="en-US">
                <a:latin typeface="Tahoma"/>
                <a:cs typeface="Tahoma"/>
              </a:rPr>
              <a:t>gold</a:t>
            </a:r>
            <a:r>
              <a:rPr dirty="0" sz="1600" lang="en-US" spc="105">
                <a:latin typeface="Tahoma"/>
                <a:cs typeface="Tahoma"/>
              </a:rPr>
              <a:t> </a:t>
            </a:r>
            <a:r>
              <a:rPr dirty="0" sz="1600" lang="en-US">
                <a:latin typeface="Tahoma"/>
                <a:cs typeface="Tahoma"/>
              </a:rPr>
              <a:t>standard</a:t>
            </a:r>
            <a:r>
              <a:rPr dirty="0" sz="1600" lang="en-US" spc="105">
                <a:latin typeface="Tahoma"/>
                <a:cs typeface="Tahoma"/>
              </a:rPr>
              <a:t> </a:t>
            </a:r>
            <a:r>
              <a:rPr dirty="0" sz="1600" lang="en-US" spc="55">
                <a:latin typeface="Tahoma"/>
                <a:cs typeface="Tahoma"/>
              </a:rPr>
              <a:t>for</a:t>
            </a:r>
            <a:r>
              <a:rPr dirty="0" sz="1600" lang="en-US" spc="120">
                <a:latin typeface="Tahoma"/>
                <a:cs typeface="Tahoma"/>
              </a:rPr>
              <a:t> </a:t>
            </a:r>
            <a:r>
              <a:rPr dirty="0" sz="1600" lang="en-US">
                <a:latin typeface="Tahoma"/>
                <a:cs typeface="Tahoma"/>
              </a:rPr>
              <a:t>diagnosis</a:t>
            </a:r>
            <a:r>
              <a:rPr dirty="0" sz="1600" lang="en-US" spc="100">
                <a:latin typeface="Tahoma"/>
                <a:cs typeface="Tahoma"/>
              </a:rPr>
              <a:t> </a:t>
            </a:r>
            <a:r>
              <a:rPr dirty="0" sz="1600" lang="en-US" spc="-25">
                <a:latin typeface="Tahoma"/>
                <a:cs typeface="Tahoma"/>
              </a:rPr>
              <a:t>due </a:t>
            </a:r>
            <a:r>
              <a:rPr dirty="0" sz="1600" lang="en-US" spc="85">
                <a:latin typeface="Tahoma"/>
                <a:cs typeface="Tahoma"/>
              </a:rPr>
              <a:t>to</a:t>
            </a:r>
            <a:r>
              <a:rPr dirty="0" sz="1600" lang="en-US" spc="390">
                <a:latin typeface="Tahoma"/>
                <a:cs typeface="Tahoma"/>
              </a:rPr>
              <a:t> </a:t>
            </a:r>
            <a:r>
              <a:rPr dirty="0" sz="1600" lang="en-US">
                <a:latin typeface="Tahoma"/>
                <a:cs typeface="Tahoma"/>
              </a:rPr>
              <a:t>its</a:t>
            </a:r>
            <a:r>
              <a:rPr dirty="0" sz="1600" lang="en-US" spc="395">
                <a:latin typeface="Tahoma"/>
                <a:cs typeface="Tahoma"/>
              </a:rPr>
              <a:t> </a:t>
            </a:r>
            <a:r>
              <a:rPr dirty="0" sz="1600" lang="en-US">
                <a:latin typeface="Tahoma"/>
                <a:cs typeface="Tahoma"/>
              </a:rPr>
              <a:t>high</a:t>
            </a:r>
            <a:r>
              <a:rPr dirty="0" sz="1600" lang="en-US" spc="390">
                <a:latin typeface="Tahoma"/>
                <a:cs typeface="Tahoma"/>
              </a:rPr>
              <a:t> </a:t>
            </a:r>
            <a:r>
              <a:rPr dirty="0" sz="1600" lang="en-US" spc="45">
                <a:latin typeface="Tahoma"/>
                <a:cs typeface="Tahoma"/>
              </a:rPr>
              <a:t>sensitivity</a:t>
            </a:r>
            <a:r>
              <a:rPr dirty="0" sz="1600" lang="en-US" spc="385">
                <a:latin typeface="Tahoma"/>
                <a:cs typeface="Tahoma"/>
              </a:rPr>
              <a:t> </a:t>
            </a:r>
            <a:r>
              <a:rPr dirty="0" sz="1600" lang="en-US" spc="55">
                <a:latin typeface="Tahoma"/>
                <a:cs typeface="Tahoma"/>
              </a:rPr>
              <a:t>for</a:t>
            </a:r>
            <a:r>
              <a:rPr dirty="0" sz="1600" lang="en-US" spc="390">
                <a:latin typeface="Tahoma"/>
                <a:cs typeface="Tahoma"/>
              </a:rPr>
              <a:t> </a:t>
            </a:r>
            <a:r>
              <a:rPr dirty="0" sz="1600" lang="en-US" spc="45">
                <a:latin typeface="Tahoma"/>
                <a:cs typeface="Tahoma"/>
              </a:rPr>
              <a:t>hemosiderin</a:t>
            </a:r>
            <a:r>
              <a:rPr dirty="0" sz="1600" lang="en-US" spc="380">
                <a:latin typeface="Tahoma"/>
                <a:cs typeface="Tahoma"/>
              </a:rPr>
              <a:t> </a:t>
            </a:r>
            <a:r>
              <a:rPr dirty="0" sz="1600" lang="en-US">
                <a:latin typeface="Tahoma"/>
                <a:cs typeface="Tahoma"/>
              </a:rPr>
              <a:t>detection.</a:t>
            </a:r>
            <a:r>
              <a:rPr dirty="0" sz="1600" lang="en-US" spc="200">
                <a:latin typeface="Tahoma"/>
                <a:cs typeface="Tahoma"/>
              </a:rPr>
              <a:t>  </a:t>
            </a:r>
            <a:r>
              <a:rPr dirty="0" sz="1600" lang="en-US">
                <a:latin typeface="Tahoma"/>
                <a:cs typeface="Tahoma"/>
              </a:rPr>
              <a:t>However,</a:t>
            </a:r>
            <a:r>
              <a:rPr dirty="0" sz="1600" lang="en-US" spc="200">
                <a:latin typeface="Tahoma"/>
                <a:cs typeface="Tahoma"/>
              </a:rPr>
              <a:t>  </a:t>
            </a:r>
            <a:r>
              <a:rPr dirty="0" sz="1600" lang="en-US" spc="90">
                <a:latin typeface="Tahoma"/>
                <a:cs typeface="Tahoma"/>
              </a:rPr>
              <a:t>we</a:t>
            </a:r>
            <a:r>
              <a:rPr dirty="0" sz="1600" lang="en-US" spc="200">
                <a:latin typeface="Tahoma"/>
                <a:cs typeface="Tahoma"/>
              </a:rPr>
              <a:t>  </a:t>
            </a:r>
            <a:r>
              <a:rPr dirty="0" sz="1600" lang="en-US">
                <a:latin typeface="Tahoma"/>
                <a:cs typeface="Tahoma"/>
              </a:rPr>
              <a:t>also</a:t>
            </a:r>
            <a:r>
              <a:rPr dirty="0" sz="1600" lang="en-US" spc="204">
                <a:latin typeface="Tahoma"/>
                <a:cs typeface="Tahoma"/>
              </a:rPr>
              <a:t>  </a:t>
            </a:r>
            <a:r>
              <a:rPr dirty="0" sz="1600" lang="en-US">
                <a:latin typeface="Tahoma"/>
                <a:cs typeface="Tahoma"/>
              </a:rPr>
              <a:t>identified</a:t>
            </a:r>
            <a:r>
              <a:rPr dirty="0" sz="1600" lang="en-US" spc="200">
                <a:latin typeface="Tahoma"/>
                <a:cs typeface="Tahoma"/>
              </a:rPr>
              <a:t>  </a:t>
            </a:r>
            <a:r>
              <a:rPr dirty="0" sz="1600" lang="en-US" spc="-10">
                <a:latin typeface="Tahoma"/>
                <a:cs typeface="Tahoma"/>
              </a:rPr>
              <a:t>several </a:t>
            </a:r>
            <a:r>
              <a:rPr dirty="0" sz="1600" lang="en-US">
                <a:latin typeface="Tahoma"/>
                <a:cs typeface="Tahoma"/>
              </a:rPr>
              <a:t>advanced</a:t>
            </a:r>
            <a:r>
              <a:rPr dirty="0" sz="1600" lang="en-US" spc="160">
                <a:latin typeface="Tahoma"/>
                <a:cs typeface="Tahoma"/>
              </a:rPr>
              <a:t>  </a:t>
            </a:r>
            <a:r>
              <a:rPr dirty="0" sz="1600" lang="en-US">
                <a:latin typeface="Tahoma"/>
                <a:cs typeface="Tahoma"/>
              </a:rPr>
              <a:t>diagnostic</a:t>
            </a:r>
            <a:r>
              <a:rPr dirty="0" sz="1600" lang="en-US" spc="155">
                <a:latin typeface="Tahoma"/>
                <a:cs typeface="Tahoma"/>
              </a:rPr>
              <a:t>  </a:t>
            </a:r>
            <a:r>
              <a:rPr dirty="0" sz="1600" lang="en-US">
                <a:latin typeface="Tahoma"/>
                <a:cs typeface="Tahoma"/>
              </a:rPr>
              <a:t>modalities,</a:t>
            </a:r>
            <a:r>
              <a:rPr dirty="0" sz="1600" lang="en-US" spc="165">
                <a:latin typeface="Tahoma"/>
                <a:cs typeface="Tahoma"/>
              </a:rPr>
              <a:t>  </a:t>
            </a:r>
            <a:r>
              <a:rPr dirty="0" sz="1600" lang="en-US" spc="50">
                <a:latin typeface="Tahoma"/>
                <a:cs typeface="Tahoma"/>
              </a:rPr>
              <a:t>such</a:t>
            </a:r>
            <a:r>
              <a:rPr dirty="0" sz="1600" lang="en-US" spc="155">
                <a:latin typeface="Tahoma"/>
                <a:cs typeface="Tahoma"/>
              </a:rPr>
              <a:t>  </a:t>
            </a:r>
            <a:r>
              <a:rPr dirty="0" sz="1600" lang="en-US">
                <a:latin typeface="Tahoma"/>
                <a:cs typeface="Tahoma"/>
              </a:rPr>
              <a:t>as</a:t>
            </a:r>
            <a:r>
              <a:rPr dirty="0" sz="1600" lang="en-US" spc="165">
                <a:latin typeface="Tahoma"/>
                <a:cs typeface="Tahoma"/>
              </a:rPr>
              <a:t>  </a:t>
            </a:r>
            <a:r>
              <a:rPr dirty="0" sz="1600" lang="en-US" spc="-55">
                <a:latin typeface="Tahoma"/>
                <a:cs typeface="Tahoma"/>
              </a:rPr>
              <a:t>18F-</a:t>
            </a:r>
            <a:r>
              <a:rPr dirty="0" sz="1600" lang="en-US" spc="60">
                <a:latin typeface="Tahoma"/>
                <a:cs typeface="Tahoma"/>
              </a:rPr>
              <a:t>FDG</a:t>
            </a:r>
            <a:r>
              <a:rPr dirty="0" sz="1600" lang="en-US" spc="155">
                <a:latin typeface="Tahoma"/>
                <a:cs typeface="Tahoma"/>
              </a:rPr>
              <a:t>  </a:t>
            </a:r>
            <a:r>
              <a:rPr dirty="0" sz="1600" lang="en-US">
                <a:latin typeface="Tahoma"/>
                <a:cs typeface="Tahoma"/>
              </a:rPr>
              <a:t>PET/CT</a:t>
            </a:r>
            <a:r>
              <a:rPr dirty="0" sz="1600" lang="en-US" spc="160">
                <a:latin typeface="Tahoma"/>
                <a:cs typeface="Tahoma"/>
              </a:rPr>
              <a:t>  </a:t>
            </a:r>
            <a:r>
              <a:rPr dirty="0" sz="1600" lang="en-US" spc="-10">
                <a:latin typeface="Tahoma"/>
                <a:cs typeface="Tahoma"/>
              </a:rPr>
              <a:t>, </a:t>
            </a:r>
            <a:r>
              <a:rPr dirty="0" sz="1600" lang="en-US">
                <a:latin typeface="Tahoma"/>
                <a:cs typeface="Tahoma"/>
              </a:rPr>
              <a:t>angiography</a:t>
            </a:r>
            <a:r>
              <a:rPr dirty="0" sz="1600" lang="en-US" spc="235">
                <a:latin typeface="Tahoma"/>
                <a:cs typeface="Tahoma"/>
              </a:rPr>
              <a:t>  </a:t>
            </a:r>
            <a:r>
              <a:rPr dirty="0" sz="1600" lang="en-US">
                <a:latin typeface="Tahoma"/>
                <a:cs typeface="Tahoma"/>
              </a:rPr>
              <a:t>,</a:t>
            </a:r>
            <a:r>
              <a:rPr dirty="0" sz="1600" lang="en-US" spc="240">
                <a:latin typeface="Tahoma"/>
                <a:cs typeface="Tahoma"/>
              </a:rPr>
              <a:t>  </a:t>
            </a:r>
            <a:r>
              <a:rPr dirty="0" sz="1600" lang="en-US">
                <a:latin typeface="Tahoma"/>
                <a:cs typeface="Tahoma"/>
              </a:rPr>
              <a:t>CT</a:t>
            </a:r>
            <a:r>
              <a:rPr dirty="0" sz="1600" lang="en-US" spc="235">
                <a:latin typeface="Tahoma"/>
                <a:cs typeface="Tahoma"/>
              </a:rPr>
              <a:t>  </a:t>
            </a:r>
            <a:r>
              <a:rPr dirty="0" sz="1600" lang="en-US">
                <a:latin typeface="Tahoma"/>
                <a:cs typeface="Tahoma"/>
              </a:rPr>
              <a:t>arthrography</a:t>
            </a:r>
            <a:r>
              <a:rPr dirty="0" sz="1600" lang="en-US" spc="235">
                <a:latin typeface="Tahoma"/>
                <a:cs typeface="Tahoma"/>
              </a:rPr>
              <a:t>  ,</a:t>
            </a:r>
            <a:r>
              <a:rPr dirty="0" sz="1600" lang="en-US" spc="240">
                <a:latin typeface="Tahoma"/>
                <a:cs typeface="Tahoma"/>
              </a:rPr>
              <a:t>  </a:t>
            </a:r>
            <a:r>
              <a:rPr dirty="0" sz="1600" lang="en-US">
                <a:latin typeface="Tahoma"/>
                <a:cs typeface="Tahoma"/>
              </a:rPr>
              <a:t>and</a:t>
            </a:r>
            <a:r>
              <a:rPr dirty="0" sz="1600" lang="en-US" spc="235">
                <a:latin typeface="Tahoma"/>
                <a:cs typeface="Tahoma"/>
              </a:rPr>
              <a:t>  </a:t>
            </a:r>
            <a:r>
              <a:rPr dirty="0" sz="1600" lang="en-US" spc="-10">
                <a:latin typeface="Tahoma"/>
                <a:cs typeface="Tahoma"/>
              </a:rPr>
              <a:t>ultrasonography </a:t>
            </a:r>
            <a:r>
              <a:rPr dirty="0" sz="1600" lang="en-US">
                <a:latin typeface="Tahoma"/>
                <a:cs typeface="Tahoma"/>
              </a:rPr>
              <a:t>,</a:t>
            </a:r>
            <a:r>
              <a:rPr dirty="0" sz="1600" lang="en-US" spc="484">
                <a:latin typeface="Tahoma"/>
                <a:cs typeface="Tahoma"/>
              </a:rPr>
              <a:t>  </a:t>
            </a:r>
            <a:r>
              <a:rPr dirty="0" sz="1600" lang="en-US">
                <a:latin typeface="Tahoma"/>
                <a:cs typeface="Tahoma"/>
              </a:rPr>
              <a:t>particularly</a:t>
            </a:r>
            <a:r>
              <a:rPr dirty="0" sz="1600" lang="en-US" spc="480">
                <a:latin typeface="Tahoma"/>
                <a:cs typeface="Tahoma"/>
              </a:rPr>
              <a:t>  </a:t>
            </a:r>
            <a:r>
              <a:rPr dirty="0" sz="1600" lang="en-US">
                <a:latin typeface="Tahoma"/>
                <a:cs typeface="Tahoma"/>
              </a:rPr>
              <a:t>useful</a:t>
            </a:r>
            <a:r>
              <a:rPr dirty="0" sz="1600" lang="en-US" spc="484">
                <a:latin typeface="Tahoma"/>
                <a:cs typeface="Tahoma"/>
              </a:rPr>
              <a:t>  </a:t>
            </a:r>
            <a:r>
              <a:rPr dirty="0" sz="1600" lang="en-US">
                <a:latin typeface="Tahoma"/>
                <a:cs typeface="Tahoma"/>
              </a:rPr>
              <a:t>in</a:t>
            </a:r>
            <a:r>
              <a:rPr dirty="0" sz="1600" lang="en-US" spc="480">
                <a:latin typeface="Tahoma"/>
                <a:cs typeface="Tahoma"/>
              </a:rPr>
              <a:t>  </a:t>
            </a:r>
            <a:r>
              <a:rPr dirty="0" sz="1600" lang="en-US" spc="60">
                <a:latin typeface="Tahoma"/>
                <a:cs typeface="Tahoma"/>
              </a:rPr>
              <a:t>complex</a:t>
            </a:r>
            <a:r>
              <a:rPr dirty="0" sz="1600" lang="en-US" spc="484">
                <a:latin typeface="Tahoma"/>
                <a:cs typeface="Tahoma"/>
              </a:rPr>
              <a:t>  </a:t>
            </a:r>
            <a:r>
              <a:rPr dirty="0" sz="1600" lang="en-US">
                <a:latin typeface="Tahoma"/>
                <a:cs typeface="Tahoma"/>
              </a:rPr>
              <a:t>or</a:t>
            </a:r>
            <a:r>
              <a:rPr dirty="0" sz="1600" lang="en-US" spc="490">
                <a:latin typeface="Tahoma"/>
                <a:cs typeface="Tahoma"/>
              </a:rPr>
              <a:t>  </a:t>
            </a:r>
            <a:r>
              <a:rPr dirty="0" sz="1600" lang="en-US" spc="-10">
                <a:latin typeface="Tahoma"/>
                <a:cs typeface="Tahoma"/>
              </a:rPr>
              <a:t>recurrent </a:t>
            </a:r>
            <a:r>
              <a:rPr dirty="0" sz="1600" lang="en-US">
                <a:latin typeface="Tahoma"/>
                <a:cs typeface="Tahoma"/>
              </a:rPr>
              <a:t>presentations.</a:t>
            </a:r>
            <a:r>
              <a:rPr dirty="0" sz="1600" lang="en-US" spc="45">
                <a:latin typeface="Tahoma"/>
                <a:cs typeface="Tahoma"/>
              </a:rPr>
              <a:t>  </a:t>
            </a:r>
            <a:r>
              <a:rPr dirty="0" sz="1600" lang="en-US">
                <a:latin typeface="Tahoma"/>
                <a:cs typeface="Tahoma"/>
              </a:rPr>
              <a:t>These</a:t>
            </a:r>
            <a:r>
              <a:rPr dirty="0" sz="1600" lang="en-US" spc="40">
                <a:latin typeface="Tahoma"/>
                <a:cs typeface="Tahoma"/>
              </a:rPr>
              <a:t>  </a:t>
            </a:r>
            <a:r>
              <a:rPr dirty="0" sz="1600" lang="en-US" spc="50">
                <a:latin typeface="Tahoma"/>
                <a:cs typeface="Tahoma"/>
              </a:rPr>
              <a:t>tools</a:t>
            </a:r>
            <a:r>
              <a:rPr dirty="0" sz="1600" lang="en-US" spc="40">
                <a:latin typeface="Tahoma"/>
                <a:cs typeface="Tahoma"/>
              </a:rPr>
              <a:t>  </a:t>
            </a:r>
            <a:r>
              <a:rPr dirty="0" sz="1600" lang="en-US" spc="70">
                <a:latin typeface="Tahoma"/>
                <a:cs typeface="Tahoma"/>
              </a:rPr>
              <a:t>may</a:t>
            </a:r>
            <a:r>
              <a:rPr dirty="0" sz="1600" lang="en-US" spc="30">
                <a:latin typeface="Tahoma"/>
                <a:cs typeface="Tahoma"/>
              </a:rPr>
              <a:t>  </a:t>
            </a:r>
            <a:r>
              <a:rPr dirty="0" sz="1600" lang="en-US">
                <a:latin typeface="Tahoma"/>
                <a:cs typeface="Tahoma"/>
              </a:rPr>
              <a:t>enhance</a:t>
            </a:r>
            <a:r>
              <a:rPr dirty="0" sz="1600" lang="en-US" spc="45">
                <a:latin typeface="Tahoma"/>
                <a:cs typeface="Tahoma"/>
              </a:rPr>
              <a:t>  </a:t>
            </a:r>
            <a:r>
              <a:rPr dirty="0" sz="1600" lang="en-US">
                <a:latin typeface="Tahoma"/>
                <a:cs typeface="Tahoma"/>
              </a:rPr>
              <a:t>diagnostic</a:t>
            </a:r>
            <a:r>
              <a:rPr dirty="0" sz="1600" lang="en-US" spc="45">
                <a:latin typeface="Tahoma"/>
                <a:cs typeface="Tahoma"/>
              </a:rPr>
              <a:t>  </a:t>
            </a:r>
            <a:r>
              <a:rPr dirty="0" sz="1600" lang="en-US">
                <a:latin typeface="Tahoma"/>
                <a:cs typeface="Tahoma"/>
              </a:rPr>
              <a:t>accuracy</a:t>
            </a:r>
            <a:r>
              <a:rPr dirty="0" sz="1600" lang="en-US" spc="35">
                <a:latin typeface="Tahoma"/>
                <a:cs typeface="Tahoma"/>
              </a:rPr>
              <a:t>  </a:t>
            </a:r>
            <a:r>
              <a:rPr dirty="0" sz="1600" lang="en-US" spc="-25">
                <a:latin typeface="Tahoma"/>
                <a:cs typeface="Tahoma"/>
              </a:rPr>
              <a:t>and </a:t>
            </a:r>
            <a:r>
              <a:rPr dirty="0" sz="1600" lang="en-US" spc="10">
                <a:latin typeface="Tahoma"/>
                <a:cs typeface="Tahoma"/>
              </a:rPr>
              <a:t>preoperative</a:t>
            </a:r>
            <a:r>
              <a:rPr dirty="0" sz="1600" lang="en-US" spc="150">
                <a:latin typeface="Tahoma"/>
                <a:cs typeface="Tahoma"/>
              </a:rPr>
              <a:t> </a:t>
            </a:r>
            <a:r>
              <a:rPr dirty="0" sz="1600" lang="en-US" spc="10">
                <a:latin typeface="Tahoma"/>
                <a:cs typeface="Tahoma"/>
              </a:rPr>
              <a:t>planning</a:t>
            </a:r>
            <a:r>
              <a:rPr dirty="0" sz="1600" lang="en-US" spc="140">
                <a:latin typeface="Tahoma"/>
                <a:cs typeface="Tahoma"/>
              </a:rPr>
              <a:t> </a:t>
            </a:r>
            <a:r>
              <a:rPr dirty="0" sz="1600" lang="en-US" spc="10">
                <a:latin typeface="Tahoma"/>
                <a:cs typeface="Tahoma"/>
              </a:rPr>
              <a:t>in</a:t>
            </a:r>
            <a:r>
              <a:rPr dirty="0" sz="1600" lang="en-US" spc="135">
                <a:latin typeface="Tahoma"/>
                <a:cs typeface="Tahoma"/>
              </a:rPr>
              <a:t> </a:t>
            </a:r>
            <a:r>
              <a:rPr dirty="0" sz="1600" lang="en-US" spc="10">
                <a:latin typeface="Tahoma"/>
                <a:cs typeface="Tahoma"/>
              </a:rPr>
              <a:t>selected</a:t>
            </a:r>
            <a:r>
              <a:rPr dirty="0" sz="1600" lang="en-US" spc="150">
                <a:latin typeface="Tahoma"/>
                <a:cs typeface="Tahoma"/>
              </a:rPr>
              <a:t> </a:t>
            </a:r>
            <a:r>
              <a:rPr dirty="0" sz="1600" lang="en-US" spc="-10">
                <a:latin typeface="Tahoma"/>
                <a:cs typeface="Tahoma"/>
              </a:rPr>
              <a:t>cases.</a:t>
            </a:r>
            <a:r>
              <a:rPr dirty="0" sz="1600" lang="en-US">
                <a:latin typeface="Tahoma" panose="020B0604030504040204" pitchFamily="34" charset="0"/>
                <a:ea typeface="Tahoma" panose="020B0604030504040204" pitchFamily="34" charset="0"/>
                <a:cs typeface="Tahoma" panose="020B0604030504040204" pitchFamily="34" charset="0"/>
              </a:rPr>
              <a:t> </a:t>
            </a:r>
          </a:p>
          <a:p>
            <a:pPr algn="just" marL="12700" marR="5080">
              <a:lnSpc>
                <a:spcPct val="110000"/>
              </a:lnSpc>
            </a:pPr>
            <a:r>
              <a:rPr dirty="0" sz="1600" lang="en-US">
                <a:latin typeface="Tahoma" panose="020B0604030504040204" pitchFamily="34" charset="0"/>
                <a:ea typeface="Tahoma" panose="020B0604030504040204" pitchFamily="34" charset="0"/>
                <a:cs typeface="Tahoma" panose="020B0604030504040204" pitchFamily="34" charset="0"/>
              </a:rPr>
              <a:t>Histologically,</a:t>
            </a:r>
            <a:r>
              <a:rPr dirty="0" sz="1600" lang="en-US" spc="4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PVNS</a:t>
            </a:r>
            <a:r>
              <a:rPr dirty="0" sz="1600" lang="en-US" spc="4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characterized</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by</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hyperplastic</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synovium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hemosiderin-laden</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macrophages,</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multinucleated</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giant</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cells,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lipid-laden</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histiocytes</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pPr>
            <a:endParaRPr dirty="0" sz="1600" lang="en-US">
              <a:latin typeface="Tahoma"/>
              <a:cs typeface="Tahoma"/>
            </a:endParaRPr>
          </a:p>
          <a:p>
            <a:pPr algn="just" marL="12700" marR="5080">
              <a:lnSpc>
                <a:spcPct val="110000"/>
              </a:lnSpc>
            </a:pPr>
            <a:endParaRPr dirty="0" sz="1600" lang="en-US">
              <a:latin typeface="Tahoma"/>
              <a:cs typeface="Tahoma"/>
            </a:endParaRPr>
          </a:p>
          <a:p>
            <a:pPr algn="just" indent="0" marL="0" marR="5080">
              <a:lnSpc>
                <a:spcPct val="110000"/>
              </a:lnSpc>
              <a:spcBef>
                <a:spcPts val="100"/>
              </a:spcBef>
              <a:buNone/>
            </a:pPr>
            <a:endParaRPr dirty="0" sz="1600" lang="en-US">
              <a:latin typeface="Tahoma"/>
              <a:cs typeface="Tahoma"/>
            </a:endParaRPr>
          </a:p>
          <a:p>
            <a:endParaRPr dirty="0"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07" name="Content Placeholder 2"/>
          <p:cNvSpPr>
            <a:spLocks noGrp="1"/>
          </p:cNvSpPr>
          <p:nvPr>
            <p:ph idx="1"/>
          </p:nvPr>
        </p:nvSpPr>
        <p:spPr>
          <a:xfrm>
            <a:off x="0" y="1298864"/>
            <a:ext cx="12192000" cy="5476010"/>
          </a:xfrm>
        </p:spPr>
        <p:txBody>
          <a:bodyPr/>
          <a:p>
            <a:pPr marL="12700" marR="5080">
              <a:lnSpc>
                <a:spcPct val="110000"/>
              </a:lnSpc>
            </a:pPr>
            <a:r>
              <a:rPr dirty="0" sz="1600" lang="en-US">
                <a:latin typeface="Tahoma" panose="020B0604030504040204" pitchFamily="34" charset="0"/>
                <a:ea typeface="Tahoma" panose="020B0604030504040204" pitchFamily="34" charset="0"/>
                <a:cs typeface="Tahoma" panose="020B0604030504040204" pitchFamily="34" charset="0"/>
              </a:rPr>
              <a:t>Molecular</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studies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have</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identified</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CSF1</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overexpression</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key </a:t>
            </a:r>
            <a:r>
              <a:rPr dirty="0" sz="1600" lang="en-US" spc="50">
                <a:latin typeface="Tahoma" panose="020B0604030504040204" pitchFamily="34" charset="0"/>
                <a:ea typeface="Tahoma" panose="020B0604030504040204" pitchFamily="34" charset="0"/>
                <a:cs typeface="Tahoma" panose="020B0604030504040204" pitchFamily="34" charset="0"/>
              </a:rPr>
              <a:t>factor</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pathogenesis</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reinforcing</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rationale</a:t>
            </a:r>
            <a:r>
              <a:rPr dirty="0" sz="1600" lang="en-US" spc="390">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for </a:t>
            </a:r>
            <a:r>
              <a:rPr dirty="0" sz="1600" lang="en-US" spc="50">
                <a:latin typeface="Tahoma" panose="020B0604030504040204" pitchFamily="34" charset="0"/>
                <a:ea typeface="Tahoma" panose="020B0604030504040204" pitchFamily="34" charset="0"/>
                <a:cs typeface="Tahoma" panose="020B0604030504040204" pitchFamily="34" charset="0"/>
              </a:rPr>
              <a:t>targeted</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therapies</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As</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mentioned</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NCCN</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Soft</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Tissue </a:t>
            </a:r>
            <a:r>
              <a:rPr dirty="0" sz="1600" lang="en-US">
                <a:latin typeface="Tahoma" panose="020B0604030504040204" pitchFamily="34" charset="0"/>
                <a:ea typeface="Tahoma" panose="020B0604030504040204" pitchFamily="34" charset="0"/>
                <a:cs typeface="Tahoma" panose="020B0604030504040204" pitchFamily="34" charset="0"/>
              </a:rPr>
              <a:t>Sarcoma</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Guidelines,</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this</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finding</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supports</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use</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CSF1R</a:t>
            </a:r>
            <a:r>
              <a:rPr dirty="0" sz="1600" lang="en-US" spc="2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inhibitors, </a:t>
            </a:r>
            <a:r>
              <a:rPr dirty="0" sz="1600" lang="en-US" spc="90">
                <a:latin typeface="Tahoma" panose="020B0604030504040204" pitchFamily="34" charset="0"/>
                <a:ea typeface="Tahoma" panose="020B0604030504040204" pitchFamily="34" charset="0"/>
                <a:cs typeface="Tahoma" panose="020B0604030504040204" pitchFamily="34" charset="0"/>
              </a:rPr>
              <a:t>most</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notably</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err="1">
                <a:latin typeface="Tahoma" panose="020B0604030504040204" pitchFamily="34" charset="0"/>
                <a:ea typeface="Tahoma" panose="020B0604030504040204" pitchFamily="34" charset="0"/>
                <a:cs typeface="Tahoma" panose="020B0604030504040204" pitchFamily="34" charset="0"/>
              </a:rPr>
              <a:t>pexidartinib</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symptomatic,</a:t>
            </a:r>
            <a:r>
              <a:rPr dirty="0" sz="1600" lang="en-US" spc="2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unresectable,</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or </a:t>
            </a:r>
            <a:r>
              <a:rPr dirty="0" sz="1600" lang="en-US">
                <a:latin typeface="Tahoma" panose="020B0604030504040204" pitchFamily="34" charset="0"/>
                <a:ea typeface="Tahoma" panose="020B0604030504040204" pitchFamily="34" charset="0"/>
                <a:cs typeface="Tahoma" panose="020B0604030504040204" pitchFamily="34" charset="0"/>
              </a:rPr>
              <a:t>relapsing</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TGCT/PVNS,</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highlighting</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importance</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254">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molecularly </a:t>
            </a:r>
            <a:r>
              <a:rPr dirty="0" sz="1600" lang="en-US" spc="10">
                <a:latin typeface="Tahoma" panose="020B0604030504040204" pitchFamily="34" charset="0"/>
                <a:ea typeface="Tahoma" panose="020B0604030504040204" pitchFamily="34" charset="0"/>
                <a:cs typeface="Tahoma" panose="020B0604030504040204" pitchFamily="34" charset="0"/>
              </a:rPr>
              <a:t>driven</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therapeutic</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approach</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t>
            </a:r>
            <a:endParaRPr dirty="0" sz="1600" lang="en-US">
              <a:latin typeface="Tahoma" panose="020B0604030504040204" pitchFamily="34" charset="0"/>
              <a:ea typeface="Tahoma" panose="020B0604030504040204" pitchFamily="34" charset="0"/>
              <a:cs typeface="Tahoma" panose="020B0604030504040204" pitchFamily="34" charset="0"/>
            </a:endParaRPr>
          </a:p>
          <a:p>
            <a:pPr marL="12700" marR="36830">
              <a:lnSpc>
                <a:spcPct val="110000"/>
              </a:lnSpc>
            </a:pPr>
            <a:r>
              <a:rPr dirty="0" sz="1600" lang="en-US">
                <a:latin typeface="Tahoma" panose="020B0604030504040204" pitchFamily="34" charset="0"/>
                <a:ea typeface="Tahoma" panose="020B0604030504040204" pitchFamily="34" charset="0"/>
                <a:cs typeface="Tahoma" panose="020B0604030504040204" pitchFamily="34" charset="0"/>
              </a:rPr>
              <a:t>Surgical</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synovectomy</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remains</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gold</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standard</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treatment</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Our</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review</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found</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that</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arthroscopic</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synovectomy</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was</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performed</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in 8</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while</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open</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combined</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open-</a:t>
            </a:r>
            <a:r>
              <a:rPr dirty="0" sz="1600" lang="en-US" spc="-10">
                <a:latin typeface="Tahoma" panose="020B0604030504040204" pitchFamily="34" charset="0"/>
                <a:ea typeface="Tahoma" panose="020B0604030504040204" pitchFamily="34" charset="0"/>
                <a:cs typeface="Tahoma" panose="020B0604030504040204" pitchFamily="34" charset="0"/>
              </a:rPr>
              <a:t>arthroscopic </a:t>
            </a:r>
            <a:r>
              <a:rPr dirty="0" sz="1600" lang="en-US">
                <a:latin typeface="Tahoma" panose="020B0604030504040204" pitchFamily="34" charset="0"/>
                <a:ea typeface="Tahoma" panose="020B0604030504040204" pitchFamily="34" charset="0"/>
                <a:cs typeface="Tahoma" panose="020B0604030504040204" pitchFamily="34" charset="0"/>
              </a:rPr>
              <a:t>approaches</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were</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used</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spc="-204">
                <a:latin typeface="Tahoma" panose="020B0604030504040204" pitchFamily="34" charset="0"/>
                <a:ea typeface="Tahoma" panose="020B0604030504040204" pitchFamily="34" charset="0"/>
                <a:cs typeface="Tahoma" panose="020B0604030504040204" pitchFamily="34" charset="0"/>
              </a:rPr>
              <a:t>10</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spc="-110">
                <a:latin typeface="Tahoma" panose="020B0604030504040204" pitchFamily="34" charset="0"/>
                <a:ea typeface="Tahoma" panose="020B0604030504040204" pitchFamily="34" charset="0"/>
                <a:cs typeface="Tahoma" panose="020B0604030504040204" pitchFamily="34" charset="0"/>
              </a:rPr>
              <a:t>2</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respectively.</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The </a:t>
            </a:r>
            <a:r>
              <a:rPr dirty="0" sz="1600" lang="en-US">
                <a:latin typeface="Tahoma" panose="020B0604030504040204" pitchFamily="34" charset="0"/>
                <a:ea typeface="Tahoma" panose="020B0604030504040204" pitchFamily="34" charset="0"/>
                <a:cs typeface="Tahoma" panose="020B0604030504040204" pitchFamily="34" charset="0"/>
              </a:rPr>
              <a:t>latter</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were</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mainly</a:t>
            </a:r>
            <a:r>
              <a:rPr dirty="0" sz="1600" lang="en-US" spc="434">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employed</a:t>
            </a:r>
            <a:r>
              <a:rPr dirty="0" sz="1600" lang="en-US" spc="4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34">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diffuse</a:t>
            </a:r>
            <a:r>
              <a:rPr dirty="0" sz="1600" lang="en-US" spc="4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extra-articular</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disease </a:t>
            </a:r>
            <a:r>
              <a:rPr dirty="0" sz="1600" lang="en-US" spc="-20">
                <a:latin typeface="Tahoma" panose="020B0604030504040204" pitchFamily="34" charset="0"/>
                <a:ea typeface="Tahoma" panose="020B0604030504040204" pitchFamily="34" charset="0"/>
                <a:cs typeface="Tahoma" panose="020B0604030504040204" pitchFamily="34" charset="0"/>
              </a:rPr>
              <a:t>.</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This</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aligns</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with </a:t>
            </a:r>
            <a:r>
              <a:rPr dirty="0" sz="1600" lang="en-US">
                <a:latin typeface="Tahoma" panose="020B0604030504040204" pitchFamily="34" charset="0"/>
                <a:ea typeface="Tahoma" panose="020B0604030504040204" pitchFamily="34" charset="0"/>
                <a:cs typeface="Tahoma" panose="020B0604030504040204" pitchFamily="34" charset="0"/>
              </a:rPr>
              <a:t>prior</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literature</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reporting</a:t>
            </a:r>
            <a:r>
              <a:rPr dirty="0" sz="1600" lang="en-US" spc="3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lower</a:t>
            </a:r>
            <a:r>
              <a:rPr dirty="0" sz="1600" lang="en-US" spc="3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open</a:t>
            </a:r>
            <a:r>
              <a:rPr dirty="0" sz="1600" lang="en-US" spc="3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combined </a:t>
            </a:r>
            <a:r>
              <a:rPr dirty="0" sz="1600" lang="en-US">
                <a:latin typeface="Tahoma" panose="020B0604030504040204" pitchFamily="34" charset="0"/>
                <a:ea typeface="Tahoma" panose="020B0604030504040204" pitchFamily="34" charset="0"/>
                <a:cs typeface="Tahoma" panose="020B0604030504040204" pitchFamily="34" charset="0"/>
              </a:rPr>
              <a:t>procedures</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Sharma</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et</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reported</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rate</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of </a:t>
            </a:r>
            <a:r>
              <a:rPr dirty="0" sz="1600" lang="en-US">
                <a:latin typeface="Tahoma" panose="020B0604030504040204" pitchFamily="34" charset="0"/>
                <a:ea typeface="Tahoma" panose="020B0604030504040204" pitchFamily="34" charset="0"/>
                <a:cs typeface="Tahoma" panose="020B0604030504040204" pitchFamily="34" charset="0"/>
              </a:rPr>
              <a:t>92%</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after</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isolated</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arthroscopy</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versus</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19%</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following</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open </a:t>
            </a:r>
            <a:r>
              <a:rPr dirty="0" sz="1600" lang="en-US" spc="45">
                <a:latin typeface="Tahoma" panose="020B0604030504040204" pitchFamily="34" charset="0"/>
                <a:ea typeface="Tahoma" panose="020B0604030504040204" pitchFamily="34" charset="0"/>
                <a:cs typeface="Tahoma" panose="020B0604030504040204" pitchFamily="34" charset="0"/>
              </a:rPr>
              <a:t>procedures</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while</a:t>
            </a:r>
            <a:r>
              <a:rPr dirty="0" sz="1600" lang="en-US" spc="2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Colman</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et</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suggested</a:t>
            </a:r>
            <a:r>
              <a:rPr dirty="0" sz="1600" lang="en-US" spc="28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that</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combined </a:t>
            </a:r>
            <a:r>
              <a:rPr dirty="0" sz="1600" lang="en-US">
                <a:latin typeface="Tahoma" panose="020B0604030504040204" pitchFamily="34" charset="0"/>
                <a:ea typeface="Tahoma" panose="020B0604030504040204" pitchFamily="34" charset="0"/>
                <a:cs typeface="Tahoma" panose="020B0604030504040204" pitchFamily="34" charset="0"/>
              </a:rPr>
              <a:t>anterior</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arthroscopic</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posterior</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open  </a:t>
            </a:r>
            <a:r>
              <a:rPr dirty="0" sz="1600" lang="en-US">
                <a:latin typeface="Tahoma" panose="020B0604030504040204" pitchFamily="34" charset="0"/>
                <a:ea typeface="Tahoma" panose="020B0604030504040204" pitchFamily="34" charset="0"/>
                <a:cs typeface="Tahoma" panose="020B0604030504040204" pitchFamily="34" charset="0"/>
              </a:rPr>
              <a:t>approach</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could</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reduce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29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9%.</a:t>
            </a:r>
            <a:r>
              <a:rPr dirty="0" sz="1600" lang="en-US" spc="285">
                <a:latin typeface="Tahoma" panose="020B0604030504040204" pitchFamily="34" charset="0"/>
                <a:ea typeface="Tahoma" panose="020B0604030504040204" pitchFamily="34" charset="0"/>
                <a:cs typeface="Tahoma" panose="020B0604030504040204" pitchFamily="34" charset="0"/>
              </a:rPr>
              <a:t> </a:t>
            </a:r>
            <a:endParaRPr dirty="0" sz="1600" lang="en-US">
              <a:latin typeface="Tahoma" panose="020B0604030504040204" pitchFamily="34" charset="0"/>
              <a:ea typeface="Tahoma" panose="020B0604030504040204" pitchFamily="34" charset="0"/>
              <a:cs typeface="Tahoma" panose="020B0604030504040204" pitchFamily="34" charset="0"/>
            </a:endParaRPr>
          </a:p>
          <a:p>
            <a:pPr marL="12700" marR="36830">
              <a:lnSpc>
                <a:spcPct val="110000"/>
              </a:lnSpc>
            </a:pPr>
            <a:r>
              <a:rPr dirty="0" sz="1600" lang="en-US" spc="45">
                <a:latin typeface="Tahoma" panose="020B0604030504040204" pitchFamily="34" charset="0"/>
                <a:ea typeface="Tahoma" panose="020B0604030504040204" pitchFamily="34" charset="0"/>
                <a:cs typeface="Tahoma" panose="020B0604030504040204" pitchFamily="34" charset="0"/>
              </a:rPr>
              <a:t>      Postoperative</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rehabilitation</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is</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critical</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preserving</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function. </a:t>
            </a:r>
            <a:r>
              <a:rPr dirty="0" sz="1600" lang="en-US">
                <a:latin typeface="Tahoma" panose="020B0604030504040204" pitchFamily="34" charset="0"/>
                <a:ea typeface="Tahoma" panose="020B0604030504040204" pitchFamily="34" charset="0"/>
                <a:cs typeface="Tahoma" panose="020B0604030504040204" pitchFamily="34" charset="0"/>
              </a:rPr>
              <a:t>Functional</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outcomes</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following</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synovectomy</a:t>
            </a:r>
            <a:r>
              <a:rPr dirty="0" sz="1600" lang="en-US" spc="32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were</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generally </a:t>
            </a:r>
            <a:r>
              <a:rPr dirty="0" sz="1600" lang="en-US">
                <a:latin typeface="Tahoma" panose="020B0604030504040204" pitchFamily="34" charset="0"/>
                <a:ea typeface="Tahoma" panose="020B0604030504040204" pitchFamily="34" charset="0"/>
                <a:cs typeface="Tahoma" panose="020B0604030504040204" pitchFamily="34" charset="0"/>
              </a:rPr>
              <a:t>favorable</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across</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studies</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reviewed,</a:t>
            </a:r>
            <a:r>
              <a:rPr dirty="0" sz="1600" lang="en-US" spc="3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particularly</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where </a:t>
            </a:r>
            <a:r>
              <a:rPr dirty="0" sz="1600" lang="en-US" spc="65">
                <a:latin typeface="Tahoma" panose="020B0604030504040204" pitchFamily="34" charset="0"/>
                <a:ea typeface="Tahoma" panose="020B0604030504040204" pitchFamily="34" charset="0"/>
                <a:cs typeface="Tahoma" panose="020B0604030504040204" pitchFamily="34" charset="0"/>
              </a:rPr>
              <a:t>complete</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resection</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was</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achieved</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Most</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patients </a:t>
            </a:r>
            <a:r>
              <a:rPr dirty="0" sz="1600" lang="en-US" spc="45">
                <a:latin typeface="Tahoma" panose="020B0604030504040204" pitchFamily="34" charset="0"/>
                <a:ea typeface="Tahoma" panose="020B0604030504040204" pitchFamily="34" charset="0"/>
                <a:cs typeface="Tahoma" panose="020B0604030504040204" pitchFamily="34" charset="0"/>
              </a:rPr>
              <a:t>reported</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significant</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reduction</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pain</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joint</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swelling,</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2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well</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as </a:t>
            </a:r>
            <a:r>
              <a:rPr dirty="0" sz="1600" lang="en-US" spc="65">
                <a:latin typeface="Tahoma" panose="020B0604030504040204" pitchFamily="34" charset="0"/>
                <a:ea typeface="Tahoma" panose="020B0604030504040204" pitchFamily="34" charset="0"/>
                <a:cs typeface="Tahoma" panose="020B0604030504040204" pitchFamily="34" charset="0"/>
              </a:rPr>
              <a:t>improvement</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range</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motion</a:t>
            </a:r>
            <a:r>
              <a:rPr dirty="0" sz="1600" lang="en-US" spc="3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daily</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activity</a:t>
            </a:r>
            <a:r>
              <a:rPr dirty="0" sz="1600" lang="en-US" spc="365">
                <a:latin typeface="Tahoma" panose="020B0604030504040204" pitchFamily="34" charset="0"/>
                <a:ea typeface="Tahoma" panose="020B0604030504040204" pitchFamily="34" charset="0"/>
                <a:cs typeface="Tahoma" panose="020B0604030504040204" pitchFamily="34" charset="0"/>
              </a:rPr>
              <a:t> </a:t>
            </a:r>
            <a:r>
              <a:rPr dirty="0" sz="1600" lang="en-US" spc="40">
                <a:latin typeface="Tahoma" panose="020B0604030504040204" pitchFamily="34" charset="0"/>
                <a:ea typeface="Tahoma" panose="020B0604030504040204" pitchFamily="34" charset="0"/>
                <a:cs typeface="Tahoma" panose="020B0604030504040204" pitchFamily="34" charset="0"/>
              </a:rPr>
              <a:t>performance </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1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However,</a:t>
            </a:r>
            <a:r>
              <a:rPr dirty="0" sz="1600" lang="en-US" spc="1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formal</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evaluation</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functional</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scores,</a:t>
            </a:r>
            <a:r>
              <a:rPr dirty="0" sz="1600" lang="en-US" spc="19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as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Lysholm</a:t>
            </a:r>
            <a:r>
              <a:rPr dirty="0" sz="1600" lang="en-US" spc="2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Tegner</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activity</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scale,</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was</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inconsistently</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reported </a:t>
            </a:r>
            <a:r>
              <a:rPr dirty="0" sz="1600" lang="en-US">
                <a:latin typeface="Tahoma" panose="020B0604030504040204" pitchFamily="34" charset="0"/>
                <a:ea typeface="Tahoma" panose="020B0604030504040204" pitchFamily="34" charset="0"/>
                <a:cs typeface="Tahoma" panose="020B0604030504040204" pitchFamily="34" charset="0"/>
              </a:rPr>
              <a:t>across</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studies,</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limiting</a:t>
            </a:r>
            <a:r>
              <a:rPr dirty="0" sz="1600" lang="en-US" spc="4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46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more</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robust</a:t>
            </a:r>
            <a:r>
              <a:rPr dirty="0" sz="1600" lang="en-US" spc="4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comparison.</a:t>
            </a:r>
            <a:r>
              <a:rPr dirty="0" sz="1600" lang="en-US" spc="46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Postoperative </a:t>
            </a:r>
            <a:r>
              <a:rPr dirty="0" sz="1600" lang="en-US" spc="45">
                <a:latin typeface="Tahoma" panose="020B0604030504040204" pitchFamily="34" charset="0"/>
                <a:ea typeface="Tahoma" panose="020B0604030504040204" pitchFamily="34" charset="0"/>
                <a:cs typeface="Tahoma" panose="020B0604030504040204" pitchFamily="34" charset="0"/>
              </a:rPr>
              <a:t>follow-</a:t>
            </a:r>
            <a:r>
              <a:rPr dirty="0" sz="1600" lang="en-US" spc="65">
                <a:latin typeface="Tahoma" panose="020B0604030504040204" pitchFamily="34" charset="0"/>
                <a:ea typeface="Tahoma" panose="020B0604030504040204" pitchFamily="34" charset="0"/>
                <a:cs typeface="Tahoma" panose="020B0604030504040204" pitchFamily="34" charset="0"/>
              </a:rPr>
              <a:t>up</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protocols</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were</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also</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variable,</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though</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routine</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MRI</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one </a:t>
            </a:r>
            <a:r>
              <a:rPr dirty="0" sz="1600" lang="en-US">
                <a:latin typeface="Tahoma" panose="020B0604030504040204" pitchFamily="34" charset="0"/>
                <a:ea typeface="Tahoma" panose="020B0604030504040204" pitchFamily="34" charset="0"/>
                <a:cs typeface="Tahoma" panose="020B0604030504040204" pitchFamily="34" charset="0"/>
              </a:rPr>
              <a:t>year</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was</a:t>
            </a:r>
            <a:r>
              <a:rPr dirty="0" sz="1600" lang="en-US" spc="17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commonly</a:t>
            </a:r>
            <a:r>
              <a:rPr dirty="0" sz="1600" lang="en-US" spc="1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used</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detect</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subclinical</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17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Auregan </a:t>
            </a:r>
            <a:r>
              <a:rPr dirty="0" sz="1600" lang="en-US" spc="70">
                <a:latin typeface="Tahoma" panose="020B0604030504040204" pitchFamily="34" charset="0"/>
                <a:ea typeface="Tahoma" panose="020B0604030504040204" pitchFamily="34" charset="0"/>
                <a:cs typeface="Tahoma" panose="020B0604030504040204" pitchFamily="34" charset="0"/>
              </a:rPr>
              <a:t>et</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[9]</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reported</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that</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although</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all</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patients</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had</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negative</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MRI </a:t>
            </a:r>
            <a:r>
              <a:rPr dirty="0" sz="1600" lang="en-US">
                <a:latin typeface="Tahoma" panose="020B0604030504040204" pitchFamily="34" charset="0"/>
                <a:ea typeface="Tahoma" panose="020B0604030504040204" pitchFamily="34" charset="0"/>
                <a:cs typeface="Tahoma" panose="020B0604030504040204" pitchFamily="34" charset="0"/>
              </a:rPr>
              <a:t>findings</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spc="-215">
                <a:latin typeface="Tahoma" panose="020B0604030504040204" pitchFamily="34" charset="0"/>
                <a:ea typeface="Tahoma" panose="020B0604030504040204" pitchFamily="34" charset="0"/>
                <a:cs typeface="Tahoma" panose="020B0604030504040204" pitchFamily="34" charset="0"/>
              </a:rPr>
              <a:t>12</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months,</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105">
                <a:latin typeface="Tahoma" panose="020B0604030504040204" pitchFamily="34" charset="0"/>
                <a:ea typeface="Tahoma" panose="020B0604030504040204" pitchFamily="34" charset="0"/>
                <a:cs typeface="Tahoma" panose="020B0604030504040204" pitchFamily="34" charset="0"/>
              </a:rPr>
              <a:t>two</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experienced</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clinical</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relapse</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at</a:t>
            </a:r>
            <a:r>
              <a:rPr dirty="0" sz="1600" lang="en-US" spc="1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year</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2</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a:latin typeface="Tahoma" panose="020B0604030504040204" pitchFamily="34" charset="0"/>
                <a:ea typeface="Tahoma" panose="020B0604030504040204" pitchFamily="34" charset="0"/>
                <a:cs typeface="Tahoma" panose="020B0604030504040204" pitchFamily="34" charset="0"/>
              </a:rPr>
              <a:t>year</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5,</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reinforcing</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need</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long-</a:t>
            </a:r>
            <a:r>
              <a:rPr dirty="0" sz="1600" lang="en-US" spc="75">
                <a:latin typeface="Tahoma" panose="020B0604030504040204" pitchFamily="34" charset="0"/>
                <a:ea typeface="Tahoma" panose="020B0604030504040204" pitchFamily="34" charset="0"/>
                <a:cs typeface="Tahoma" panose="020B0604030504040204" pitchFamily="34" charset="0"/>
              </a:rPr>
              <a:t>term</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radiological</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monitoring </a:t>
            </a:r>
            <a:r>
              <a:rPr dirty="0" sz="1600" lang="en-US" spc="55">
                <a:latin typeface="Tahoma" panose="020B0604030504040204" pitchFamily="34" charset="0"/>
                <a:ea typeface="Tahoma" panose="020B0604030504040204" pitchFamily="34" charset="0"/>
                <a:cs typeface="Tahoma" panose="020B0604030504040204" pitchFamily="34" charset="0"/>
              </a:rPr>
              <a:t>beyond</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first</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postoperative</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year.</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The</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heterogeneity</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follow-</a:t>
            </a:r>
            <a:r>
              <a:rPr dirty="0" sz="1600" lang="en-US" spc="40">
                <a:latin typeface="Tahoma" panose="020B0604030504040204" pitchFamily="34" charset="0"/>
                <a:ea typeface="Tahoma" panose="020B0604030504040204" pitchFamily="34" charset="0"/>
                <a:cs typeface="Tahoma" panose="020B0604030504040204" pitchFamily="34" charset="0"/>
              </a:rPr>
              <a:t>up </a:t>
            </a:r>
            <a:r>
              <a:rPr dirty="0" sz="1600" lang="en-US">
                <a:latin typeface="Tahoma" panose="020B0604030504040204" pitchFamily="34" charset="0"/>
                <a:ea typeface="Tahoma" panose="020B0604030504040204" pitchFamily="34" charset="0"/>
                <a:cs typeface="Tahoma" panose="020B0604030504040204" pitchFamily="34" charset="0"/>
              </a:rPr>
              <a:t>duration</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434">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reporting</a:t>
            </a:r>
            <a:r>
              <a:rPr dirty="0" sz="1600" lang="en-US" spc="4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across</a:t>
            </a:r>
            <a:r>
              <a:rPr dirty="0" sz="1600" lang="en-US" spc="434">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included</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studies</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highlights</a:t>
            </a:r>
            <a:r>
              <a:rPr dirty="0" sz="1600" lang="en-US" spc="42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 </a:t>
            </a:r>
            <a:r>
              <a:rPr dirty="0" sz="1600" lang="en-US">
                <a:latin typeface="Tahoma" panose="020B0604030504040204" pitchFamily="34" charset="0"/>
                <a:ea typeface="Tahoma" panose="020B0604030504040204" pitchFamily="34" charset="0"/>
                <a:cs typeface="Tahoma" panose="020B0604030504040204" pitchFamily="34" charset="0"/>
              </a:rPr>
              <a:t>need</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standardized</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80">
                <a:latin typeface="Tahoma" panose="020B0604030504040204" pitchFamily="34" charset="0"/>
                <a:ea typeface="Tahoma" panose="020B0604030504040204" pitchFamily="34" charset="0"/>
                <a:cs typeface="Tahoma" panose="020B0604030504040204" pitchFamily="34" charset="0"/>
              </a:rPr>
              <a:t>outcome</a:t>
            </a:r>
            <a:r>
              <a:rPr dirty="0" sz="1600" lang="en-US" spc="2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measures</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imaging</a:t>
            </a:r>
            <a:r>
              <a:rPr dirty="0" sz="1600" lang="en-US" spc="26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intervals</a:t>
            </a:r>
            <a:r>
              <a:rPr dirty="0" sz="1600" lang="en-US" spc="27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to optimize</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long-</a:t>
            </a:r>
            <a:r>
              <a:rPr dirty="0" sz="1600" lang="en-US" spc="75">
                <a:latin typeface="Tahoma" panose="020B0604030504040204" pitchFamily="34" charset="0"/>
                <a:ea typeface="Tahoma" panose="020B0604030504040204" pitchFamily="34" charset="0"/>
                <a:cs typeface="Tahoma" panose="020B0604030504040204" pitchFamily="34" charset="0"/>
              </a:rPr>
              <a:t>term</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surveillance</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functional</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assessment</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PVNS </a:t>
            </a:r>
            <a:r>
              <a:rPr dirty="0" sz="1600" lang="en-US" spc="-10">
                <a:latin typeface="Tahoma" panose="020B0604030504040204" pitchFamily="34" charset="0"/>
                <a:ea typeface="Tahoma" panose="020B0604030504040204" pitchFamily="34" charset="0"/>
                <a:cs typeface="Tahoma" panose="020B0604030504040204" pitchFamily="34" charset="0"/>
              </a:rPr>
              <a:t>patients</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a:lnSpc>
                <a:spcPct val="100000"/>
              </a:lnSpc>
              <a:spcBef>
                <a:spcPts val="1065"/>
              </a:spcBef>
            </a:pPr>
            <a:endParaRPr dirty="0" sz="1400" lang="en-US" spc="30">
              <a:solidFill>
                <a:srgbClr val="040C28"/>
              </a:solidFill>
              <a:latin typeface="Tahoma"/>
              <a:cs typeface="Tahom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08" name="Content Placeholder 2"/>
          <p:cNvSpPr>
            <a:spLocks noGrp="1"/>
          </p:cNvSpPr>
          <p:nvPr>
            <p:ph idx="1"/>
          </p:nvPr>
        </p:nvSpPr>
        <p:spPr>
          <a:xfrm>
            <a:off x="83127" y="1330036"/>
            <a:ext cx="12108873" cy="5424055"/>
          </a:xfrm>
        </p:spPr>
        <p:txBody>
          <a:bodyPr/>
          <a:p>
            <a:pPr algn="just" marL="12700" marR="36195">
              <a:lnSpc>
                <a:spcPct val="110000"/>
              </a:lnSpc>
              <a:spcBef>
                <a:spcPts val="100"/>
              </a:spcBef>
            </a:pPr>
            <a:r>
              <a:rPr dirty="0" sz="1400" lang="en-US" spc="-10">
                <a:latin typeface="Tahoma"/>
                <a:cs typeface="Tahoma"/>
              </a:rPr>
              <a:t>.</a:t>
            </a:r>
            <a:endParaRPr dirty="0" sz="1400" lang="en-US">
              <a:latin typeface="Tahoma"/>
              <a:cs typeface="Tahoma"/>
            </a:endParaRPr>
          </a:p>
          <a:p>
            <a:pPr algn="just" marL="12700" marR="5080">
              <a:lnSpc>
                <a:spcPct val="110000"/>
              </a:lnSpc>
            </a:pPr>
            <a:r>
              <a:rPr dirty="0" sz="1600" lang="en-US">
                <a:latin typeface="Tahoma"/>
                <a:cs typeface="Tahoma"/>
              </a:rPr>
              <a:t>Recurrence,</a:t>
            </a:r>
            <a:r>
              <a:rPr dirty="0" sz="1600" lang="en-US" spc="135">
                <a:latin typeface="Tahoma"/>
                <a:cs typeface="Tahoma"/>
              </a:rPr>
              <a:t>  </a:t>
            </a:r>
            <a:r>
              <a:rPr dirty="0" sz="1600" lang="en-US" spc="45">
                <a:latin typeface="Tahoma"/>
                <a:cs typeface="Tahoma"/>
              </a:rPr>
              <a:t>reported</a:t>
            </a:r>
            <a:r>
              <a:rPr dirty="0" sz="1600" lang="en-US" spc="135">
                <a:latin typeface="Tahoma"/>
                <a:cs typeface="Tahoma"/>
              </a:rPr>
              <a:t>  </a:t>
            </a:r>
            <a:r>
              <a:rPr dirty="0" sz="1600" lang="en-US">
                <a:latin typeface="Tahoma"/>
                <a:cs typeface="Tahoma"/>
              </a:rPr>
              <a:t>in</a:t>
            </a:r>
            <a:r>
              <a:rPr dirty="0" sz="1600" lang="en-US" spc="135">
                <a:latin typeface="Tahoma"/>
                <a:cs typeface="Tahoma"/>
              </a:rPr>
              <a:t>  </a:t>
            </a:r>
            <a:r>
              <a:rPr dirty="0" sz="1600" lang="en-US">
                <a:latin typeface="Tahoma"/>
                <a:cs typeface="Tahoma"/>
              </a:rPr>
              <a:t>14–56%</a:t>
            </a:r>
            <a:r>
              <a:rPr dirty="0" sz="1600" lang="en-US" spc="135">
                <a:latin typeface="Tahoma"/>
                <a:cs typeface="Tahoma"/>
              </a:rPr>
              <a:t>  </a:t>
            </a:r>
            <a:r>
              <a:rPr dirty="0" sz="1600" lang="en-US" spc="90">
                <a:latin typeface="Tahoma"/>
                <a:cs typeface="Tahoma"/>
              </a:rPr>
              <a:t>of</a:t>
            </a:r>
            <a:r>
              <a:rPr dirty="0" sz="1600" lang="en-US" spc="130">
                <a:latin typeface="Tahoma"/>
                <a:cs typeface="Tahoma"/>
              </a:rPr>
              <a:t>  </a:t>
            </a:r>
            <a:r>
              <a:rPr dirty="0" sz="1600" lang="en-US">
                <a:latin typeface="Tahoma"/>
                <a:cs typeface="Tahoma"/>
              </a:rPr>
              <a:t>cases,</a:t>
            </a:r>
            <a:r>
              <a:rPr dirty="0" sz="1600" lang="en-US" spc="140">
                <a:latin typeface="Tahoma"/>
                <a:cs typeface="Tahoma"/>
              </a:rPr>
              <a:t>  </a:t>
            </a:r>
            <a:r>
              <a:rPr dirty="0" sz="1600" lang="en-US">
                <a:latin typeface="Tahoma"/>
                <a:cs typeface="Tahoma"/>
              </a:rPr>
              <a:t>remains</a:t>
            </a:r>
            <a:r>
              <a:rPr dirty="0" sz="1600" lang="en-US" spc="130">
                <a:latin typeface="Tahoma"/>
                <a:cs typeface="Tahoma"/>
              </a:rPr>
              <a:t>  </a:t>
            </a:r>
            <a:r>
              <a:rPr dirty="0" sz="1600" lang="en-US" spc="60">
                <a:latin typeface="Tahoma"/>
                <a:cs typeface="Tahoma"/>
              </a:rPr>
              <a:t>the</a:t>
            </a:r>
            <a:r>
              <a:rPr dirty="0" sz="1600" lang="en-US" spc="140">
                <a:latin typeface="Tahoma"/>
                <a:cs typeface="Tahoma"/>
              </a:rPr>
              <a:t>  </a:t>
            </a:r>
            <a:r>
              <a:rPr dirty="0" sz="1600" lang="en-US" spc="-10">
                <a:latin typeface="Tahoma"/>
                <a:cs typeface="Tahoma"/>
              </a:rPr>
              <a:t>major </a:t>
            </a:r>
            <a:r>
              <a:rPr dirty="0" sz="1600" lang="en-US">
                <a:latin typeface="Tahoma"/>
                <a:cs typeface="Tahoma"/>
              </a:rPr>
              <a:t>challenge</a:t>
            </a:r>
            <a:r>
              <a:rPr dirty="0" sz="1600" lang="en-US" spc="245">
                <a:latin typeface="Tahoma"/>
                <a:cs typeface="Tahoma"/>
              </a:rPr>
              <a:t> </a:t>
            </a:r>
            <a:r>
              <a:rPr dirty="0" sz="1600" lang="en-US" spc="-20">
                <a:latin typeface="Tahoma"/>
                <a:cs typeface="Tahoma"/>
              </a:rPr>
              <a:t>.</a:t>
            </a:r>
            <a:r>
              <a:rPr dirty="0" sz="1600" lang="en-US" spc="250">
                <a:latin typeface="Tahoma"/>
                <a:cs typeface="Tahoma"/>
              </a:rPr>
              <a:t> </a:t>
            </a:r>
            <a:r>
              <a:rPr dirty="0" sz="1600" lang="en-US">
                <a:latin typeface="Tahoma"/>
                <a:cs typeface="Tahoma"/>
              </a:rPr>
              <a:t>In</a:t>
            </a:r>
            <a:r>
              <a:rPr dirty="0" sz="1600" lang="en-US" spc="235">
                <a:latin typeface="Tahoma"/>
                <a:cs typeface="Tahoma"/>
              </a:rPr>
              <a:t> </a:t>
            </a:r>
            <a:r>
              <a:rPr dirty="0" sz="1600" lang="en-US">
                <a:latin typeface="Tahoma"/>
                <a:cs typeface="Tahoma"/>
              </a:rPr>
              <a:t>our</a:t>
            </a:r>
            <a:r>
              <a:rPr dirty="0" sz="1600" lang="en-US" spc="245">
                <a:latin typeface="Tahoma"/>
                <a:cs typeface="Tahoma"/>
              </a:rPr>
              <a:t> </a:t>
            </a:r>
            <a:r>
              <a:rPr dirty="0" sz="1600" lang="en-US">
                <a:latin typeface="Tahoma"/>
                <a:cs typeface="Tahoma"/>
              </a:rPr>
              <a:t>cohort,</a:t>
            </a:r>
            <a:r>
              <a:rPr dirty="0" sz="1600" lang="en-US" spc="240">
                <a:latin typeface="Tahoma"/>
                <a:cs typeface="Tahoma"/>
              </a:rPr>
              <a:t> </a:t>
            </a:r>
            <a:r>
              <a:rPr dirty="0" sz="1600" lang="en-US">
                <a:latin typeface="Tahoma"/>
                <a:cs typeface="Tahoma"/>
              </a:rPr>
              <a:t>20.8%</a:t>
            </a:r>
            <a:r>
              <a:rPr dirty="0" sz="1600" lang="en-US" spc="235">
                <a:latin typeface="Tahoma"/>
                <a:cs typeface="Tahoma"/>
              </a:rPr>
              <a:t> </a:t>
            </a:r>
            <a:r>
              <a:rPr dirty="0" sz="1600" lang="en-US" spc="90">
                <a:latin typeface="Tahoma"/>
                <a:cs typeface="Tahoma"/>
              </a:rPr>
              <a:t>of</a:t>
            </a:r>
            <a:r>
              <a:rPr dirty="0" sz="1600" lang="en-US" spc="235">
                <a:latin typeface="Tahoma"/>
                <a:cs typeface="Tahoma"/>
              </a:rPr>
              <a:t> </a:t>
            </a:r>
            <a:r>
              <a:rPr dirty="0" sz="1600" lang="en-US" spc="45">
                <a:latin typeface="Tahoma"/>
                <a:cs typeface="Tahoma"/>
              </a:rPr>
              <a:t>patients</a:t>
            </a:r>
            <a:r>
              <a:rPr dirty="0" sz="1600" lang="en-US" spc="235">
                <a:latin typeface="Tahoma"/>
                <a:cs typeface="Tahoma"/>
              </a:rPr>
              <a:t> </a:t>
            </a:r>
            <a:r>
              <a:rPr dirty="0" sz="1600" lang="en-US" spc="-10">
                <a:latin typeface="Tahoma"/>
                <a:cs typeface="Tahoma"/>
              </a:rPr>
              <a:t>experienced </a:t>
            </a:r>
            <a:r>
              <a:rPr dirty="0" sz="1600" lang="en-US">
                <a:latin typeface="Tahoma"/>
                <a:cs typeface="Tahoma"/>
              </a:rPr>
              <a:t>recurrence,</a:t>
            </a:r>
            <a:r>
              <a:rPr dirty="0" sz="1600" lang="en-US" spc="280">
                <a:latin typeface="Tahoma"/>
                <a:cs typeface="Tahoma"/>
              </a:rPr>
              <a:t> </a:t>
            </a:r>
            <a:r>
              <a:rPr dirty="0" sz="1600" lang="en-US">
                <a:latin typeface="Tahoma"/>
                <a:cs typeface="Tahoma"/>
              </a:rPr>
              <a:t>particularly</a:t>
            </a:r>
            <a:r>
              <a:rPr dirty="0" sz="1600" lang="en-US" spc="265">
                <a:latin typeface="Tahoma"/>
                <a:cs typeface="Tahoma"/>
              </a:rPr>
              <a:t> </a:t>
            </a:r>
            <a:r>
              <a:rPr dirty="0" sz="1600" lang="en-US">
                <a:latin typeface="Tahoma"/>
                <a:cs typeface="Tahoma"/>
              </a:rPr>
              <a:t>in</a:t>
            </a:r>
            <a:r>
              <a:rPr dirty="0" sz="1600" lang="en-US" spc="275">
                <a:latin typeface="Tahoma"/>
                <a:cs typeface="Tahoma"/>
              </a:rPr>
              <a:t> </a:t>
            </a:r>
            <a:r>
              <a:rPr dirty="0" sz="1600" lang="en-US" spc="50">
                <a:latin typeface="Tahoma"/>
                <a:cs typeface="Tahoma"/>
              </a:rPr>
              <a:t>diffuse</a:t>
            </a:r>
            <a:r>
              <a:rPr dirty="0" sz="1600" lang="en-US" spc="280">
                <a:latin typeface="Tahoma"/>
                <a:cs typeface="Tahoma"/>
              </a:rPr>
              <a:t> </a:t>
            </a:r>
            <a:r>
              <a:rPr dirty="0" sz="1600" lang="en-US">
                <a:latin typeface="Tahoma"/>
                <a:cs typeface="Tahoma"/>
              </a:rPr>
              <a:t>disease</a:t>
            </a:r>
            <a:r>
              <a:rPr dirty="0" sz="1600" lang="en-US" spc="290">
                <a:latin typeface="Tahoma"/>
                <a:cs typeface="Tahoma"/>
              </a:rPr>
              <a:t> </a:t>
            </a:r>
            <a:r>
              <a:rPr dirty="0" sz="1600" lang="en-US">
                <a:latin typeface="Tahoma"/>
                <a:cs typeface="Tahoma"/>
              </a:rPr>
              <a:t>or</a:t>
            </a:r>
            <a:r>
              <a:rPr dirty="0" sz="1600" lang="en-US" spc="280">
                <a:latin typeface="Tahoma"/>
                <a:cs typeface="Tahoma"/>
              </a:rPr>
              <a:t> </a:t>
            </a:r>
            <a:r>
              <a:rPr dirty="0" sz="1600" lang="en-US">
                <a:latin typeface="Tahoma"/>
                <a:cs typeface="Tahoma"/>
              </a:rPr>
              <a:t>after</a:t>
            </a:r>
            <a:r>
              <a:rPr dirty="0" sz="1600" lang="en-US" spc="285">
                <a:latin typeface="Tahoma"/>
                <a:cs typeface="Tahoma"/>
              </a:rPr>
              <a:t> </a:t>
            </a:r>
            <a:r>
              <a:rPr dirty="0" sz="1600" lang="en-US">
                <a:latin typeface="Tahoma"/>
                <a:cs typeface="Tahoma"/>
              </a:rPr>
              <a:t>limited</a:t>
            </a:r>
            <a:r>
              <a:rPr dirty="0" sz="1600" lang="en-US" spc="275">
                <a:latin typeface="Tahoma"/>
                <a:cs typeface="Tahoma"/>
              </a:rPr>
              <a:t> </a:t>
            </a:r>
            <a:r>
              <a:rPr dirty="0" sz="1600" lang="en-US" spc="-10">
                <a:latin typeface="Tahoma"/>
                <a:cs typeface="Tahoma"/>
              </a:rPr>
              <a:t>resection. </a:t>
            </a:r>
            <a:r>
              <a:rPr dirty="0" sz="1600" lang="en-US">
                <a:latin typeface="Tahoma"/>
                <a:cs typeface="Tahoma"/>
              </a:rPr>
              <a:t>Risk</a:t>
            </a:r>
            <a:r>
              <a:rPr dirty="0" sz="1600" lang="en-US" spc="175">
                <a:latin typeface="Tahoma"/>
                <a:cs typeface="Tahoma"/>
              </a:rPr>
              <a:t> </a:t>
            </a:r>
            <a:r>
              <a:rPr dirty="0" sz="1600" lang="en-US" spc="50">
                <a:latin typeface="Tahoma"/>
                <a:cs typeface="Tahoma"/>
              </a:rPr>
              <a:t>factors</a:t>
            </a:r>
            <a:r>
              <a:rPr dirty="0" sz="1600" lang="en-US" spc="170">
                <a:latin typeface="Tahoma"/>
                <a:cs typeface="Tahoma"/>
              </a:rPr>
              <a:t> </a:t>
            </a:r>
            <a:r>
              <a:rPr dirty="0" sz="1600" lang="en-US">
                <a:latin typeface="Tahoma"/>
                <a:cs typeface="Tahoma"/>
              </a:rPr>
              <a:t>included</a:t>
            </a:r>
            <a:r>
              <a:rPr dirty="0" sz="1600" lang="en-US" spc="185">
                <a:latin typeface="Tahoma"/>
                <a:cs typeface="Tahoma"/>
              </a:rPr>
              <a:t> </a:t>
            </a:r>
            <a:r>
              <a:rPr dirty="0" sz="1600" lang="en-US" spc="45">
                <a:latin typeface="Tahoma"/>
                <a:cs typeface="Tahoma"/>
              </a:rPr>
              <a:t>posterior</a:t>
            </a:r>
            <a:r>
              <a:rPr dirty="0" sz="1600" lang="en-US" spc="185">
                <a:latin typeface="Tahoma"/>
                <a:cs typeface="Tahoma"/>
              </a:rPr>
              <a:t> </a:t>
            </a:r>
            <a:r>
              <a:rPr dirty="0" sz="1600" lang="en-US">
                <a:latin typeface="Tahoma"/>
                <a:cs typeface="Tahoma"/>
              </a:rPr>
              <a:t>or</a:t>
            </a:r>
            <a:r>
              <a:rPr dirty="0" sz="1600" lang="en-US" spc="190">
                <a:latin typeface="Tahoma"/>
                <a:cs typeface="Tahoma"/>
              </a:rPr>
              <a:t> </a:t>
            </a:r>
            <a:r>
              <a:rPr dirty="0" sz="1600" lang="en-US">
                <a:latin typeface="Tahoma"/>
                <a:cs typeface="Tahoma"/>
              </a:rPr>
              <a:t>extra-articular</a:t>
            </a:r>
            <a:r>
              <a:rPr dirty="0" sz="1600" lang="en-US" spc="180">
                <a:latin typeface="Tahoma"/>
                <a:cs typeface="Tahoma"/>
              </a:rPr>
              <a:t> </a:t>
            </a:r>
            <a:r>
              <a:rPr dirty="0" sz="1600" lang="en-US" spc="50">
                <a:latin typeface="Tahoma"/>
                <a:cs typeface="Tahoma"/>
              </a:rPr>
              <a:t>involvement</a:t>
            </a:r>
            <a:r>
              <a:rPr dirty="0" sz="1600" lang="en-US" spc="190">
                <a:latin typeface="Tahoma"/>
                <a:cs typeface="Tahoma"/>
              </a:rPr>
              <a:t> </a:t>
            </a:r>
            <a:r>
              <a:rPr dirty="0" sz="1600" lang="en-US" spc="-10">
                <a:latin typeface="Tahoma"/>
                <a:cs typeface="Tahoma"/>
              </a:rPr>
              <a:t>[2,62], </a:t>
            </a:r>
            <a:r>
              <a:rPr dirty="0" sz="1600" lang="en-US" spc="10">
                <a:latin typeface="Tahoma"/>
                <a:cs typeface="Tahoma"/>
              </a:rPr>
              <a:t>prior</a:t>
            </a:r>
            <a:r>
              <a:rPr dirty="0" sz="1600" lang="en-US" spc="260">
                <a:latin typeface="Tahoma"/>
                <a:cs typeface="Tahoma"/>
              </a:rPr>
              <a:t> </a:t>
            </a:r>
            <a:r>
              <a:rPr dirty="0" sz="1600" lang="en-US" spc="10">
                <a:latin typeface="Tahoma"/>
                <a:cs typeface="Tahoma"/>
              </a:rPr>
              <a:t>surgery,</a:t>
            </a:r>
            <a:r>
              <a:rPr dirty="0" sz="1600" lang="en-US" spc="275">
                <a:latin typeface="Tahoma"/>
                <a:cs typeface="Tahoma"/>
              </a:rPr>
              <a:t> </a:t>
            </a:r>
            <a:r>
              <a:rPr dirty="0" sz="1600" lang="en-US" spc="10">
                <a:latin typeface="Tahoma"/>
                <a:cs typeface="Tahoma"/>
              </a:rPr>
              <a:t>and</a:t>
            </a:r>
            <a:r>
              <a:rPr dirty="0" sz="1600" lang="en-US" spc="265">
                <a:latin typeface="Tahoma"/>
                <a:cs typeface="Tahoma"/>
              </a:rPr>
              <a:t> </a:t>
            </a:r>
            <a:r>
              <a:rPr dirty="0" sz="1600" lang="en-US" spc="10">
                <a:latin typeface="Tahoma"/>
                <a:cs typeface="Tahoma"/>
              </a:rPr>
              <a:t>possibly</a:t>
            </a:r>
            <a:r>
              <a:rPr dirty="0" sz="1600" lang="en-US" spc="265">
                <a:latin typeface="Tahoma"/>
                <a:cs typeface="Tahoma"/>
              </a:rPr>
              <a:t> </a:t>
            </a:r>
            <a:r>
              <a:rPr dirty="0" sz="1600" lang="en-US" spc="10">
                <a:latin typeface="Tahoma"/>
                <a:cs typeface="Tahoma"/>
              </a:rPr>
              <a:t>iatrogenic</a:t>
            </a:r>
            <a:r>
              <a:rPr dirty="0" sz="1600" lang="en-US" spc="285">
                <a:latin typeface="Tahoma"/>
                <a:cs typeface="Tahoma"/>
              </a:rPr>
              <a:t> </a:t>
            </a:r>
            <a:r>
              <a:rPr dirty="0" sz="1600" lang="en-US" spc="10">
                <a:latin typeface="Tahoma"/>
                <a:cs typeface="Tahoma"/>
              </a:rPr>
              <a:t>causes.</a:t>
            </a:r>
            <a:r>
              <a:rPr dirty="0" sz="1600" lang="en-US" spc="280">
                <a:latin typeface="Tahoma"/>
                <a:cs typeface="Tahoma"/>
              </a:rPr>
              <a:t> </a:t>
            </a:r>
            <a:r>
              <a:rPr dirty="0" sz="1600" lang="en-US" spc="10">
                <a:latin typeface="Tahoma"/>
                <a:cs typeface="Tahoma"/>
              </a:rPr>
              <a:t>Rare</a:t>
            </a:r>
            <a:r>
              <a:rPr dirty="0" sz="1600" lang="en-US" spc="275">
                <a:latin typeface="Tahoma"/>
                <a:cs typeface="Tahoma"/>
              </a:rPr>
              <a:t> </a:t>
            </a:r>
            <a:r>
              <a:rPr dirty="0" sz="1600" lang="en-US" spc="10">
                <a:latin typeface="Tahoma"/>
                <a:cs typeface="Tahoma"/>
              </a:rPr>
              <a:t>presentations</a:t>
            </a:r>
            <a:r>
              <a:rPr dirty="0" sz="1600" lang="en-US" spc="275">
                <a:latin typeface="Tahoma"/>
                <a:cs typeface="Tahoma"/>
              </a:rPr>
              <a:t> </a:t>
            </a:r>
            <a:r>
              <a:rPr dirty="0" sz="1600" lang="en-US" spc="-25">
                <a:latin typeface="Tahoma"/>
                <a:cs typeface="Tahoma"/>
              </a:rPr>
              <a:t>in </a:t>
            </a:r>
            <a:r>
              <a:rPr dirty="0" sz="1600" lang="en-US">
                <a:latin typeface="Tahoma"/>
                <a:cs typeface="Tahoma"/>
              </a:rPr>
              <a:t>locations</a:t>
            </a:r>
            <a:r>
              <a:rPr dirty="0" sz="1600" lang="en-US" spc="290">
                <a:latin typeface="Tahoma"/>
                <a:cs typeface="Tahoma"/>
              </a:rPr>
              <a:t> </a:t>
            </a:r>
            <a:r>
              <a:rPr dirty="0" sz="1600" lang="en-US" spc="50">
                <a:latin typeface="Tahoma"/>
                <a:cs typeface="Tahoma"/>
              </a:rPr>
              <a:t>such</a:t>
            </a:r>
            <a:r>
              <a:rPr dirty="0" sz="1600" lang="en-US" spc="285">
                <a:latin typeface="Tahoma"/>
                <a:cs typeface="Tahoma"/>
              </a:rPr>
              <a:t> </a:t>
            </a:r>
            <a:r>
              <a:rPr dirty="0" sz="1600" lang="en-US">
                <a:latin typeface="Tahoma"/>
                <a:cs typeface="Tahoma"/>
              </a:rPr>
              <a:t>as</a:t>
            </a:r>
            <a:r>
              <a:rPr dirty="0" sz="1600" lang="en-US" spc="290">
                <a:latin typeface="Tahoma"/>
                <a:cs typeface="Tahoma"/>
              </a:rPr>
              <a:t> </a:t>
            </a:r>
            <a:r>
              <a:rPr dirty="0" sz="1600" lang="en-US" spc="45">
                <a:latin typeface="Tahoma"/>
                <a:cs typeface="Tahoma"/>
              </a:rPr>
              <a:t>Hoffa’s</a:t>
            </a:r>
            <a:r>
              <a:rPr dirty="0" sz="1600" lang="en-US" spc="295">
                <a:latin typeface="Tahoma"/>
                <a:cs typeface="Tahoma"/>
              </a:rPr>
              <a:t> </a:t>
            </a:r>
            <a:r>
              <a:rPr dirty="0" sz="1600" lang="en-US" spc="55">
                <a:latin typeface="Tahoma"/>
                <a:cs typeface="Tahoma"/>
              </a:rPr>
              <a:t>fat</a:t>
            </a:r>
            <a:r>
              <a:rPr dirty="0" sz="1600" lang="en-US" spc="300">
                <a:latin typeface="Tahoma"/>
                <a:cs typeface="Tahoma"/>
              </a:rPr>
              <a:t> </a:t>
            </a:r>
            <a:r>
              <a:rPr dirty="0" sz="1600" lang="en-US">
                <a:latin typeface="Tahoma"/>
                <a:cs typeface="Tahoma"/>
              </a:rPr>
              <a:t>pad</a:t>
            </a:r>
            <a:r>
              <a:rPr dirty="0" sz="1600" lang="en-US" spc="290">
                <a:latin typeface="Tahoma"/>
                <a:cs typeface="Tahoma"/>
              </a:rPr>
              <a:t> </a:t>
            </a:r>
            <a:r>
              <a:rPr dirty="0" sz="1600" lang="en-US">
                <a:latin typeface="Tahoma"/>
                <a:cs typeface="Tahoma"/>
              </a:rPr>
              <a:t>and</a:t>
            </a:r>
            <a:r>
              <a:rPr dirty="0" sz="1600" lang="en-US" spc="300">
                <a:latin typeface="Tahoma"/>
                <a:cs typeface="Tahoma"/>
              </a:rPr>
              <a:t> </a:t>
            </a:r>
            <a:r>
              <a:rPr dirty="0" sz="1600" lang="en-US">
                <a:latin typeface="Tahoma"/>
                <a:cs typeface="Tahoma"/>
              </a:rPr>
              <a:t>patellar</a:t>
            </a:r>
            <a:r>
              <a:rPr dirty="0" sz="1600" lang="en-US" spc="300">
                <a:latin typeface="Tahoma"/>
                <a:cs typeface="Tahoma"/>
              </a:rPr>
              <a:t> </a:t>
            </a:r>
            <a:r>
              <a:rPr dirty="0" sz="1600" lang="en-US" spc="60">
                <a:latin typeface="Tahoma"/>
                <a:cs typeface="Tahoma"/>
              </a:rPr>
              <a:t>tendon</a:t>
            </a:r>
            <a:r>
              <a:rPr dirty="0" sz="1600" lang="en-US" spc="285">
                <a:latin typeface="Tahoma"/>
                <a:cs typeface="Tahoma"/>
              </a:rPr>
              <a:t> </a:t>
            </a:r>
            <a:r>
              <a:rPr dirty="0" sz="1600" lang="en-US">
                <a:latin typeface="Tahoma"/>
                <a:cs typeface="Tahoma"/>
              </a:rPr>
              <a:t>sheath</a:t>
            </a:r>
            <a:r>
              <a:rPr dirty="0" sz="1600" lang="en-US" spc="290">
                <a:latin typeface="Tahoma"/>
                <a:cs typeface="Tahoma"/>
              </a:rPr>
              <a:t> </a:t>
            </a:r>
            <a:r>
              <a:rPr dirty="0" sz="1600" lang="en-US" spc="45">
                <a:latin typeface="Tahoma"/>
                <a:cs typeface="Tahoma"/>
              </a:rPr>
              <a:t>may </a:t>
            </a:r>
            <a:r>
              <a:rPr dirty="0" sz="1600" lang="en-US">
                <a:latin typeface="Tahoma"/>
                <a:cs typeface="Tahoma"/>
              </a:rPr>
              <a:t>also</a:t>
            </a:r>
            <a:r>
              <a:rPr dirty="0" sz="1600" lang="en-US" spc="60">
                <a:latin typeface="Tahoma"/>
                <a:cs typeface="Tahoma"/>
              </a:rPr>
              <a:t> </a:t>
            </a:r>
            <a:r>
              <a:rPr dirty="0" sz="1600" lang="en-US" spc="50">
                <a:latin typeface="Tahoma"/>
                <a:cs typeface="Tahoma"/>
              </a:rPr>
              <a:t>complicate</a:t>
            </a:r>
            <a:r>
              <a:rPr dirty="0" sz="1600" lang="en-US" spc="60">
                <a:latin typeface="Tahoma"/>
                <a:cs typeface="Tahoma"/>
              </a:rPr>
              <a:t> </a:t>
            </a:r>
            <a:r>
              <a:rPr dirty="0" sz="1600" lang="en-US">
                <a:latin typeface="Tahoma"/>
                <a:cs typeface="Tahoma"/>
              </a:rPr>
              <a:t>diagnosis</a:t>
            </a:r>
            <a:r>
              <a:rPr dirty="0" sz="1600" lang="en-US" spc="55">
                <a:latin typeface="Tahoma"/>
                <a:cs typeface="Tahoma"/>
              </a:rPr>
              <a:t> </a:t>
            </a:r>
            <a:r>
              <a:rPr dirty="0" sz="1600" lang="en-US">
                <a:latin typeface="Tahoma"/>
                <a:cs typeface="Tahoma"/>
              </a:rPr>
              <a:t>and</a:t>
            </a:r>
            <a:r>
              <a:rPr dirty="0" sz="1600" lang="en-US" spc="55">
                <a:latin typeface="Tahoma"/>
                <a:cs typeface="Tahoma"/>
              </a:rPr>
              <a:t> </a:t>
            </a:r>
            <a:r>
              <a:rPr dirty="0" sz="1600" lang="en-US" spc="50">
                <a:latin typeface="Tahoma"/>
                <a:cs typeface="Tahoma"/>
              </a:rPr>
              <a:t>contribute</a:t>
            </a:r>
            <a:r>
              <a:rPr dirty="0" sz="1600" lang="en-US" spc="55">
                <a:latin typeface="Tahoma"/>
                <a:cs typeface="Tahoma"/>
              </a:rPr>
              <a:t> </a:t>
            </a:r>
            <a:r>
              <a:rPr dirty="0" sz="1600" lang="en-US" spc="85">
                <a:latin typeface="Tahoma"/>
                <a:cs typeface="Tahoma"/>
              </a:rPr>
              <a:t>to</a:t>
            </a:r>
            <a:r>
              <a:rPr dirty="0" sz="1600" lang="en-US" spc="65">
                <a:latin typeface="Tahoma"/>
                <a:cs typeface="Tahoma"/>
              </a:rPr>
              <a:t> </a:t>
            </a:r>
            <a:r>
              <a:rPr dirty="0" sz="1600" lang="en-US">
                <a:latin typeface="Tahoma"/>
                <a:cs typeface="Tahoma"/>
              </a:rPr>
              <a:t>recurrence</a:t>
            </a:r>
            <a:r>
              <a:rPr dirty="0" sz="1600" lang="en-US" spc="60">
                <a:latin typeface="Tahoma"/>
                <a:cs typeface="Tahoma"/>
              </a:rPr>
              <a:t> </a:t>
            </a:r>
            <a:r>
              <a:rPr dirty="0" sz="1600" lang="en-US" spc="-10">
                <a:latin typeface="Tahoma"/>
                <a:cs typeface="Tahoma"/>
              </a:rPr>
              <a:t>[65,66,67,68]. </a:t>
            </a:r>
            <a:r>
              <a:rPr dirty="0" sz="1600" lang="en-US">
                <a:latin typeface="Tahoma"/>
                <a:cs typeface="Tahoma"/>
              </a:rPr>
              <a:t>Do</a:t>
            </a:r>
            <a:r>
              <a:rPr dirty="0" sz="1600" lang="en-US" spc="320">
                <a:latin typeface="Tahoma"/>
                <a:cs typeface="Tahoma"/>
              </a:rPr>
              <a:t> </a:t>
            </a:r>
            <a:r>
              <a:rPr dirty="0" sz="1600" lang="en-US" spc="65">
                <a:latin typeface="Tahoma"/>
                <a:cs typeface="Tahoma"/>
              </a:rPr>
              <a:t>Cho</a:t>
            </a:r>
            <a:r>
              <a:rPr dirty="0" sz="1600" lang="en-US" spc="320">
                <a:latin typeface="Tahoma"/>
                <a:cs typeface="Tahoma"/>
              </a:rPr>
              <a:t> </a:t>
            </a:r>
            <a:r>
              <a:rPr dirty="0" sz="1600" lang="en-US" spc="70">
                <a:latin typeface="Tahoma"/>
                <a:cs typeface="Tahoma"/>
              </a:rPr>
              <a:t>et</a:t>
            </a:r>
            <a:r>
              <a:rPr dirty="0" sz="1600" lang="en-US" spc="325">
                <a:latin typeface="Tahoma"/>
                <a:cs typeface="Tahoma"/>
              </a:rPr>
              <a:t> </a:t>
            </a:r>
            <a:r>
              <a:rPr dirty="0" sz="1600" lang="en-US">
                <a:latin typeface="Tahoma"/>
                <a:cs typeface="Tahoma"/>
              </a:rPr>
              <a:t>al.</a:t>
            </a:r>
            <a:r>
              <a:rPr dirty="0" sz="1600" lang="en-US" spc="325">
                <a:latin typeface="Tahoma"/>
                <a:cs typeface="Tahoma"/>
              </a:rPr>
              <a:t> </a:t>
            </a:r>
            <a:r>
              <a:rPr dirty="0" sz="1600" lang="en-US">
                <a:latin typeface="Tahoma"/>
                <a:cs typeface="Tahoma"/>
              </a:rPr>
              <a:t>described</a:t>
            </a:r>
            <a:r>
              <a:rPr dirty="0" sz="1600" lang="en-US" spc="320">
                <a:latin typeface="Tahoma"/>
                <a:cs typeface="Tahoma"/>
              </a:rPr>
              <a:t> </a:t>
            </a:r>
            <a:r>
              <a:rPr dirty="0" sz="1600" lang="en-US">
                <a:latin typeface="Tahoma"/>
                <a:cs typeface="Tahoma"/>
              </a:rPr>
              <a:t>recurrence</a:t>
            </a:r>
            <a:r>
              <a:rPr dirty="0" sz="1600" lang="en-US" spc="325">
                <a:latin typeface="Tahoma"/>
                <a:cs typeface="Tahoma"/>
              </a:rPr>
              <a:t> </a:t>
            </a:r>
            <a:r>
              <a:rPr dirty="0" sz="1600" lang="en-US">
                <a:latin typeface="Tahoma"/>
                <a:cs typeface="Tahoma"/>
              </a:rPr>
              <a:t>after</a:t>
            </a:r>
            <a:r>
              <a:rPr dirty="0" sz="1600" lang="en-US" spc="330">
                <a:latin typeface="Tahoma"/>
                <a:cs typeface="Tahoma"/>
              </a:rPr>
              <a:t> </a:t>
            </a:r>
            <a:r>
              <a:rPr dirty="0" sz="1600" lang="en-US" spc="90">
                <a:latin typeface="Tahoma"/>
                <a:cs typeface="Tahoma"/>
              </a:rPr>
              <a:t>ACL</a:t>
            </a:r>
            <a:r>
              <a:rPr dirty="0" sz="1600" lang="en-US" spc="315">
                <a:latin typeface="Tahoma"/>
                <a:cs typeface="Tahoma"/>
              </a:rPr>
              <a:t> </a:t>
            </a:r>
            <a:r>
              <a:rPr dirty="0" sz="1600" lang="en-US" spc="50">
                <a:latin typeface="Tahoma"/>
                <a:cs typeface="Tahoma"/>
              </a:rPr>
              <a:t>reconstruction</a:t>
            </a:r>
            <a:r>
              <a:rPr dirty="0" sz="1600" lang="en-US" spc="310">
                <a:latin typeface="Tahoma"/>
                <a:cs typeface="Tahoma"/>
              </a:rPr>
              <a:t> </a:t>
            </a:r>
            <a:r>
              <a:rPr dirty="0" sz="1600" lang="en-US" spc="50">
                <a:latin typeface="Tahoma"/>
                <a:cs typeface="Tahoma"/>
              </a:rPr>
              <a:t>with </a:t>
            </a:r>
            <a:r>
              <a:rPr dirty="0" sz="1600" lang="en-US" spc="55">
                <a:latin typeface="Tahoma"/>
                <a:cs typeface="Tahoma"/>
              </a:rPr>
              <a:t>synthetic</a:t>
            </a:r>
            <a:r>
              <a:rPr dirty="0" sz="1600" lang="en-US" spc="165">
                <a:latin typeface="Tahoma"/>
                <a:cs typeface="Tahoma"/>
              </a:rPr>
              <a:t> </a:t>
            </a:r>
            <a:r>
              <a:rPr dirty="0" sz="1600" lang="en-US">
                <a:latin typeface="Tahoma"/>
                <a:cs typeface="Tahoma"/>
              </a:rPr>
              <a:t>graft,</a:t>
            </a:r>
            <a:r>
              <a:rPr dirty="0" sz="1600" lang="en-US" spc="160">
                <a:latin typeface="Tahoma"/>
                <a:cs typeface="Tahoma"/>
              </a:rPr>
              <a:t> </a:t>
            </a:r>
            <a:r>
              <a:rPr dirty="0" sz="1600" lang="en-US" spc="55">
                <a:latin typeface="Tahoma"/>
                <a:cs typeface="Tahoma"/>
              </a:rPr>
              <a:t>suggesting</a:t>
            </a:r>
            <a:r>
              <a:rPr dirty="0" sz="1600" lang="en-US" spc="140">
                <a:latin typeface="Tahoma"/>
                <a:cs typeface="Tahoma"/>
              </a:rPr>
              <a:t> </a:t>
            </a:r>
            <a:r>
              <a:rPr dirty="0" sz="1600" lang="en-US">
                <a:latin typeface="Tahoma"/>
                <a:cs typeface="Tahoma"/>
              </a:rPr>
              <a:t>a</a:t>
            </a:r>
            <a:r>
              <a:rPr dirty="0" sz="1600" lang="en-US" spc="165">
                <a:latin typeface="Tahoma"/>
                <a:cs typeface="Tahoma"/>
              </a:rPr>
              <a:t> </a:t>
            </a:r>
            <a:r>
              <a:rPr dirty="0" sz="1600" lang="en-US">
                <a:latin typeface="Tahoma"/>
                <a:cs typeface="Tahoma"/>
              </a:rPr>
              <a:t>potential</a:t>
            </a:r>
            <a:r>
              <a:rPr dirty="0" sz="1600" lang="en-US" spc="155">
                <a:latin typeface="Tahoma"/>
                <a:cs typeface="Tahoma"/>
              </a:rPr>
              <a:t> </a:t>
            </a:r>
            <a:r>
              <a:rPr dirty="0" sz="1600" lang="en-US">
                <a:latin typeface="Tahoma"/>
                <a:cs typeface="Tahoma"/>
              </a:rPr>
              <a:t>link</a:t>
            </a:r>
            <a:r>
              <a:rPr dirty="0" sz="1600" lang="en-US" spc="145">
                <a:latin typeface="Tahoma"/>
                <a:cs typeface="Tahoma"/>
              </a:rPr>
              <a:t> </a:t>
            </a:r>
            <a:r>
              <a:rPr dirty="0" sz="1600" lang="en-US" spc="85">
                <a:latin typeface="Tahoma"/>
                <a:cs typeface="Tahoma"/>
              </a:rPr>
              <a:t>to</a:t>
            </a:r>
            <a:r>
              <a:rPr dirty="0" sz="1600" lang="en-US" spc="170">
                <a:latin typeface="Tahoma"/>
                <a:cs typeface="Tahoma"/>
              </a:rPr>
              <a:t> </a:t>
            </a:r>
            <a:r>
              <a:rPr dirty="0" sz="1600" lang="en-US">
                <a:latin typeface="Tahoma"/>
                <a:cs typeface="Tahoma"/>
              </a:rPr>
              <a:t>foreign-</a:t>
            </a:r>
            <a:r>
              <a:rPr dirty="0" sz="1600" lang="en-US" spc="65">
                <a:latin typeface="Tahoma"/>
                <a:cs typeface="Tahoma"/>
              </a:rPr>
              <a:t>body</a:t>
            </a:r>
            <a:r>
              <a:rPr dirty="0" sz="1600" lang="en-US" spc="145">
                <a:latin typeface="Tahoma"/>
                <a:cs typeface="Tahoma"/>
              </a:rPr>
              <a:t> </a:t>
            </a:r>
            <a:r>
              <a:rPr dirty="0" sz="1600" lang="en-US" spc="-10">
                <a:latin typeface="Tahoma"/>
                <a:cs typeface="Tahoma"/>
              </a:rPr>
              <a:t>reaction [68].</a:t>
            </a:r>
            <a:endParaRPr dirty="0" sz="1600" lang="en-US">
              <a:latin typeface="Tahoma"/>
              <a:cs typeface="Tahoma"/>
            </a:endParaRPr>
          </a:p>
          <a:p>
            <a:pPr algn="just" indent="335280" marL="12700" marR="36195">
              <a:lnSpc>
                <a:spcPct val="110000"/>
              </a:lnSpc>
            </a:pPr>
            <a:r>
              <a:rPr dirty="0" sz="1600" lang="en-US">
                <a:latin typeface="Tahoma"/>
                <a:cs typeface="Tahoma"/>
              </a:rPr>
              <a:t>Adjuvant</a:t>
            </a:r>
            <a:r>
              <a:rPr dirty="0" sz="1600" lang="en-US" spc="215">
                <a:latin typeface="Tahoma"/>
                <a:cs typeface="Tahoma"/>
              </a:rPr>
              <a:t> </a:t>
            </a:r>
            <a:r>
              <a:rPr dirty="0" sz="1600" lang="en-US" spc="60">
                <a:latin typeface="Tahoma"/>
                <a:cs typeface="Tahoma"/>
              </a:rPr>
              <a:t>treatments</a:t>
            </a:r>
            <a:r>
              <a:rPr dirty="0" sz="1600" lang="en-US" spc="210">
                <a:latin typeface="Tahoma"/>
                <a:cs typeface="Tahoma"/>
              </a:rPr>
              <a:t> </a:t>
            </a:r>
            <a:r>
              <a:rPr dirty="0" sz="1600" lang="en-US" spc="50">
                <a:latin typeface="Tahoma"/>
                <a:cs typeface="Tahoma"/>
              </a:rPr>
              <a:t>were</a:t>
            </a:r>
            <a:r>
              <a:rPr dirty="0" sz="1600" lang="en-US" spc="225">
                <a:latin typeface="Tahoma"/>
                <a:cs typeface="Tahoma"/>
              </a:rPr>
              <a:t> </a:t>
            </a:r>
            <a:r>
              <a:rPr dirty="0" sz="1600" lang="en-US" spc="45">
                <a:latin typeface="Tahoma"/>
                <a:cs typeface="Tahoma"/>
              </a:rPr>
              <a:t>reported</a:t>
            </a:r>
            <a:r>
              <a:rPr dirty="0" sz="1600" lang="en-US" spc="210">
                <a:latin typeface="Tahoma"/>
                <a:cs typeface="Tahoma"/>
              </a:rPr>
              <a:t> </a:t>
            </a:r>
            <a:r>
              <a:rPr dirty="0" sz="1600" lang="en-US">
                <a:latin typeface="Tahoma"/>
                <a:cs typeface="Tahoma"/>
              </a:rPr>
              <a:t>in</a:t>
            </a:r>
            <a:r>
              <a:rPr dirty="0" sz="1600" lang="en-US" spc="204">
                <a:latin typeface="Tahoma"/>
                <a:cs typeface="Tahoma"/>
              </a:rPr>
              <a:t> </a:t>
            </a:r>
            <a:r>
              <a:rPr dirty="0" sz="1600" lang="en-US">
                <a:latin typeface="Tahoma"/>
                <a:cs typeface="Tahoma"/>
              </a:rPr>
              <a:t>a</a:t>
            </a:r>
            <a:r>
              <a:rPr dirty="0" sz="1600" lang="en-US" spc="220">
                <a:latin typeface="Tahoma"/>
                <a:cs typeface="Tahoma"/>
              </a:rPr>
              <a:t> </a:t>
            </a:r>
            <a:r>
              <a:rPr dirty="0" sz="1600" lang="en-US" spc="55">
                <a:latin typeface="Tahoma"/>
                <a:cs typeface="Tahoma"/>
              </a:rPr>
              <a:t>minority</a:t>
            </a:r>
            <a:r>
              <a:rPr dirty="0" sz="1600" lang="en-US" spc="210">
                <a:latin typeface="Tahoma"/>
                <a:cs typeface="Tahoma"/>
              </a:rPr>
              <a:t> </a:t>
            </a:r>
            <a:r>
              <a:rPr dirty="0" sz="1600" lang="en-US" spc="90">
                <a:latin typeface="Tahoma"/>
                <a:cs typeface="Tahoma"/>
              </a:rPr>
              <a:t>of</a:t>
            </a:r>
            <a:r>
              <a:rPr dirty="0" sz="1600" lang="en-US" spc="204">
                <a:latin typeface="Tahoma"/>
                <a:cs typeface="Tahoma"/>
              </a:rPr>
              <a:t> </a:t>
            </a:r>
            <a:r>
              <a:rPr dirty="0" sz="1600" lang="en-US">
                <a:latin typeface="Tahoma"/>
                <a:cs typeface="Tahoma"/>
              </a:rPr>
              <a:t>cases</a:t>
            </a:r>
            <a:r>
              <a:rPr dirty="0" sz="1600" lang="en-US" spc="204">
                <a:latin typeface="Tahoma"/>
                <a:cs typeface="Tahoma"/>
              </a:rPr>
              <a:t> </a:t>
            </a:r>
            <a:r>
              <a:rPr dirty="0" sz="1600" lang="en-US" spc="40">
                <a:latin typeface="Tahoma"/>
                <a:cs typeface="Tahoma"/>
              </a:rPr>
              <a:t>but </a:t>
            </a:r>
            <a:r>
              <a:rPr dirty="0" sz="1600" lang="en-US" spc="65">
                <a:latin typeface="Tahoma"/>
                <a:cs typeface="Tahoma"/>
              </a:rPr>
              <a:t>showed</a:t>
            </a:r>
            <a:r>
              <a:rPr dirty="0" sz="1600" lang="en-US" spc="250">
                <a:latin typeface="Tahoma"/>
                <a:cs typeface="Tahoma"/>
              </a:rPr>
              <a:t> </a:t>
            </a:r>
            <a:r>
              <a:rPr dirty="0" sz="1600" lang="en-US" spc="50">
                <a:latin typeface="Tahoma"/>
                <a:cs typeface="Tahoma"/>
              </a:rPr>
              <a:t>promising</a:t>
            </a:r>
            <a:r>
              <a:rPr dirty="0" sz="1600" lang="en-US" spc="254">
                <a:latin typeface="Tahoma"/>
                <a:cs typeface="Tahoma"/>
              </a:rPr>
              <a:t> </a:t>
            </a:r>
            <a:r>
              <a:rPr dirty="0" sz="1600" lang="en-US" spc="55">
                <a:latin typeface="Tahoma"/>
                <a:cs typeface="Tahoma"/>
              </a:rPr>
              <a:t>outcomes.</a:t>
            </a:r>
            <a:r>
              <a:rPr dirty="0" sz="1600" lang="en-US" spc="260">
                <a:latin typeface="Tahoma"/>
                <a:cs typeface="Tahoma"/>
              </a:rPr>
              <a:t> </a:t>
            </a:r>
            <a:r>
              <a:rPr dirty="0" sz="1600" lang="en-US" spc="10" err="1">
                <a:latin typeface="Tahoma"/>
                <a:cs typeface="Tahoma"/>
              </a:rPr>
              <a:t>Radiosynoviorthesis</a:t>
            </a:r>
            <a:r>
              <a:rPr dirty="0" sz="1600" lang="en-US" spc="254">
                <a:latin typeface="Tahoma"/>
                <a:cs typeface="Tahoma"/>
              </a:rPr>
              <a:t> </a:t>
            </a:r>
            <a:r>
              <a:rPr dirty="0" sz="1600" lang="en-US" spc="70">
                <a:latin typeface="Tahoma"/>
                <a:cs typeface="Tahoma"/>
              </a:rPr>
              <a:t>with</a:t>
            </a:r>
            <a:r>
              <a:rPr dirty="0" sz="1600" lang="en-US" spc="245">
                <a:latin typeface="Tahoma"/>
                <a:cs typeface="Tahoma"/>
              </a:rPr>
              <a:t> </a:t>
            </a:r>
            <a:r>
              <a:rPr dirty="0" sz="1600" lang="en-US" spc="60">
                <a:latin typeface="Tahoma"/>
                <a:cs typeface="Tahoma"/>
              </a:rPr>
              <a:t>yttrium-</a:t>
            </a:r>
            <a:r>
              <a:rPr dirty="0" sz="1600" lang="en-US" spc="85">
                <a:latin typeface="Tahoma"/>
                <a:cs typeface="Tahoma"/>
              </a:rPr>
              <a:t>90 </a:t>
            </a:r>
            <a:r>
              <a:rPr dirty="0" sz="1600" lang="en-US">
                <a:latin typeface="Tahoma"/>
                <a:cs typeface="Tahoma"/>
              </a:rPr>
              <a:t>or</a:t>
            </a:r>
            <a:r>
              <a:rPr dirty="0" sz="1600" lang="en-US" spc="215">
                <a:latin typeface="Tahoma"/>
                <a:cs typeface="Tahoma"/>
              </a:rPr>
              <a:t> </a:t>
            </a:r>
            <a:r>
              <a:rPr dirty="0" sz="1600" lang="en-US" spc="65">
                <a:latin typeface="Tahoma"/>
                <a:cs typeface="Tahoma"/>
              </a:rPr>
              <a:t>osmic</a:t>
            </a:r>
            <a:r>
              <a:rPr dirty="0" sz="1600" lang="en-US" spc="220">
                <a:latin typeface="Tahoma"/>
                <a:cs typeface="Tahoma"/>
              </a:rPr>
              <a:t> </a:t>
            </a:r>
            <a:r>
              <a:rPr dirty="0" sz="1600" lang="en-US">
                <a:latin typeface="Tahoma"/>
                <a:cs typeface="Tahoma"/>
              </a:rPr>
              <a:t>acid</a:t>
            </a:r>
            <a:r>
              <a:rPr dirty="0" sz="1600" lang="en-US" spc="215">
                <a:latin typeface="Tahoma"/>
                <a:cs typeface="Tahoma"/>
              </a:rPr>
              <a:t> </a:t>
            </a:r>
            <a:r>
              <a:rPr dirty="0" sz="1600" lang="en-US" spc="50">
                <a:latin typeface="Tahoma"/>
                <a:cs typeface="Tahoma"/>
              </a:rPr>
              <a:t>was</a:t>
            </a:r>
            <a:r>
              <a:rPr dirty="0" sz="1600" lang="en-US" spc="215">
                <a:latin typeface="Tahoma"/>
                <a:cs typeface="Tahoma"/>
              </a:rPr>
              <a:t> </a:t>
            </a:r>
            <a:r>
              <a:rPr dirty="0" sz="1600" lang="en-US">
                <a:latin typeface="Tahoma"/>
                <a:cs typeface="Tahoma"/>
              </a:rPr>
              <a:t>used</a:t>
            </a:r>
            <a:r>
              <a:rPr dirty="0" sz="1600" lang="en-US" spc="215">
                <a:latin typeface="Tahoma"/>
                <a:cs typeface="Tahoma"/>
              </a:rPr>
              <a:t> </a:t>
            </a:r>
            <a:r>
              <a:rPr dirty="0" sz="1600" lang="en-US">
                <a:latin typeface="Tahoma"/>
                <a:cs typeface="Tahoma"/>
              </a:rPr>
              <a:t>in</a:t>
            </a:r>
            <a:r>
              <a:rPr dirty="0" sz="1600" lang="en-US" spc="210">
                <a:latin typeface="Tahoma"/>
                <a:cs typeface="Tahoma"/>
              </a:rPr>
              <a:t> </a:t>
            </a:r>
            <a:r>
              <a:rPr dirty="0" sz="1600" lang="en-US">
                <a:latin typeface="Tahoma"/>
                <a:cs typeface="Tahoma"/>
              </a:rPr>
              <a:t>selected</a:t>
            </a:r>
            <a:r>
              <a:rPr dirty="0" sz="1600" lang="en-US" spc="215">
                <a:latin typeface="Tahoma"/>
                <a:cs typeface="Tahoma"/>
              </a:rPr>
              <a:t> </a:t>
            </a:r>
            <a:r>
              <a:rPr dirty="0" sz="1600" lang="en-US">
                <a:latin typeface="Tahoma"/>
                <a:cs typeface="Tahoma"/>
              </a:rPr>
              <a:t>cases,</a:t>
            </a:r>
            <a:r>
              <a:rPr dirty="0" sz="1600" lang="en-US" spc="215">
                <a:latin typeface="Tahoma"/>
                <a:cs typeface="Tahoma"/>
              </a:rPr>
              <a:t> </a:t>
            </a:r>
            <a:r>
              <a:rPr dirty="0" sz="1600" lang="en-US">
                <a:latin typeface="Tahoma"/>
                <a:cs typeface="Tahoma"/>
              </a:rPr>
              <a:t>especially</a:t>
            </a:r>
            <a:r>
              <a:rPr dirty="0" sz="1600" lang="en-US" spc="200">
                <a:latin typeface="Tahoma"/>
                <a:cs typeface="Tahoma"/>
              </a:rPr>
              <a:t> </a:t>
            </a:r>
            <a:r>
              <a:rPr dirty="0" sz="1600" lang="en-US" spc="70">
                <a:latin typeface="Tahoma"/>
                <a:cs typeface="Tahoma"/>
              </a:rPr>
              <a:t>when</a:t>
            </a:r>
            <a:r>
              <a:rPr dirty="0" sz="1600" lang="en-US" spc="210">
                <a:latin typeface="Tahoma"/>
                <a:cs typeface="Tahoma"/>
              </a:rPr>
              <a:t> </a:t>
            </a:r>
            <a:r>
              <a:rPr dirty="0" sz="1600" lang="en-US" spc="-10">
                <a:latin typeface="Tahoma"/>
                <a:cs typeface="Tahoma"/>
              </a:rPr>
              <a:t>margins </a:t>
            </a:r>
            <a:r>
              <a:rPr dirty="0" sz="1600" lang="en-US" spc="55">
                <a:latin typeface="Tahoma"/>
                <a:cs typeface="Tahoma"/>
              </a:rPr>
              <a:t>were</a:t>
            </a:r>
            <a:r>
              <a:rPr dirty="0" sz="1600" lang="en-US" spc="365">
                <a:latin typeface="Tahoma"/>
                <a:cs typeface="Tahoma"/>
              </a:rPr>
              <a:t> </a:t>
            </a:r>
            <a:r>
              <a:rPr dirty="0" sz="1600" lang="en-US" spc="55">
                <a:latin typeface="Tahoma"/>
                <a:cs typeface="Tahoma"/>
              </a:rPr>
              <a:t>incomplete</a:t>
            </a:r>
            <a:r>
              <a:rPr dirty="0" sz="1600" lang="en-US" spc="365">
                <a:latin typeface="Tahoma"/>
                <a:cs typeface="Tahoma"/>
              </a:rPr>
              <a:t> </a:t>
            </a:r>
            <a:r>
              <a:rPr dirty="0" sz="1600" lang="en-US">
                <a:latin typeface="Tahoma"/>
                <a:cs typeface="Tahoma"/>
              </a:rPr>
              <a:t>or</a:t>
            </a:r>
            <a:r>
              <a:rPr dirty="0" sz="1600" lang="en-US" spc="375">
                <a:latin typeface="Tahoma"/>
                <a:cs typeface="Tahoma"/>
              </a:rPr>
              <a:t> </a:t>
            </a:r>
            <a:r>
              <a:rPr dirty="0" sz="1600" lang="en-US">
                <a:latin typeface="Tahoma"/>
                <a:cs typeface="Tahoma"/>
              </a:rPr>
              <a:t>recurrence</a:t>
            </a:r>
            <a:r>
              <a:rPr dirty="0" sz="1600" lang="en-US" spc="365">
                <a:latin typeface="Tahoma"/>
                <a:cs typeface="Tahoma"/>
              </a:rPr>
              <a:t> </a:t>
            </a:r>
            <a:r>
              <a:rPr dirty="0" sz="1600" lang="en-US">
                <a:latin typeface="Tahoma"/>
                <a:cs typeface="Tahoma"/>
              </a:rPr>
              <a:t>occurred</a:t>
            </a:r>
            <a:r>
              <a:rPr dirty="0" sz="1600" lang="en-US" spc="365">
                <a:latin typeface="Tahoma"/>
                <a:cs typeface="Tahoma"/>
              </a:rPr>
              <a:t> </a:t>
            </a:r>
            <a:r>
              <a:rPr dirty="0" sz="1600" lang="en-US">
                <a:latin typeface="Tahoma"/>
                <a:cs typeface="Tahoma"/>
              </a:rPr>
              <a:t>[9,67].</a:t>
            </a:r>
            <a:r>
              <a:rPr dirty="0" sz="1600" lang="en-US" spc="365">
                <a:latin typeface="Tahoma"/>
                <a:cs typeface="Tahoma"/>
              </a:rPr>
              <a:t> </a:t>
            </a:r>
            <a:r>
              <a:rPr dirty="0" sz="1600" lang="en-US">
                <a:latin typeface="Tahoma"/>
                <a:cs typeface="Tahoma"/>
              </a:rPr>
              <a:t>Biologic</a:t>
            </a:r>
            <a:r>
              <a:rPr dirty="0" sz="1600" lang="en-US" spc="370">
                <a:latin typeface="Tahoma"/>
                <a:cs typeface="Tahoma"/>
              </a:rPr>
              <a:t> </a:t>
            </a:r>
            <a:r>
              <a:rPr dirty="0" sz="1600" lang="en-US" spc="-10">
                <a:latin typeface="Tahoma"/>
                <a:cs typeface="Tahoma"/>
              </a:rPr>
              <a:t>therapies </a:t>
            </a:r>
            <a:r>
              <a:rPr dirty="0" sz="1600" lang="en-US">
                <a:latin typeface="Tahoma"/>
                <a:cs typeface="Tahoma"/>
              </a:rPr>
              <a:t>(e.g.,</a:t>
            </a:r>
            <a:r>
              <a:rPr dirty="0" sz="1600" lang="en-US" spc="370">
                <a:latin typeface="Tahoma"/>
                <a:cs typeface="Tahoma"/>
              </a:rPr>
              <a:t> </a:t>
            </a:r>
            <a:r>
              <a:rPr dirty="0" sz="1600" lang="en-US">
                <a:latin typeface="Tahoma"/>
                <a:cs typeface="Tahoma"/>
              </a:rPr>
              <a:t>infliximab,</a:t>
            </a:r>
            <a:r>
              <a:rPr dirty="0" sz="1600" lang="en-US" spc="375">
                <a:latin typeface="Tahoma"/>
                <a:cs typeface="Tahoma"/>
              </a:rPr>
              <a:t> </a:t>
            </a:r>
            <a:r>
              <a:rPr dirty="0" sz="1600" lang="en-US">
                <a:latin typeface="Tahoma"/>
                <a:cs typeface="Tahoma"/>
              </a:rPr>
              <a:t>adalimumab)</a:t>
            </a:r>
            <a:r>
              <a:rPr dirty="0" sz="1600" lang="en-US" spc="375">
                <a:latin typeface="Tahoma"/>
                <a:cs typeface="Tahoma"/>
              </a:rPr>
              <a:t> </a:t>
            </a:r>
            <a:r>
              <a:rPr dirty="0" sz="1600" lang="en-US" spc="55">
                <a:latin typeface="Tahoma"/>
                <a:cs typeface="Tahoma"/>
              </a:rPr>
              <a:t>were</a:t>
            </a:r>
            <a:r>
              <a:rPr dirty="0" sz="1600" lang="en-US" spc="375">
                <a:latin typeface="Tahoma"/>
                <a:cs typeface="Tahoma"/>
              </a:rPr>
              <a:t> </a:t>
            </a:r>
            <a:r>
              <a:rPr dirty="0" sz="1600" lang="en-US">
                <a:latin typeface="Tahoma"/>
                <a:cs typeface="Tahoma"/>
              </a:rPr>
              <a:t>administered</a:t>
            </a:r>
            <a:r>
              <a:rPr dirty="0" sz="1600" lang="en-US" spc="370">
                <a:latin typeface="Tahoma"/>
                <a:cs typeface="Tahoma"/>
              </a:rPr>
              <a:t> </a:t>
            </a:r>
            <a:r>
              <a:rPr dirty="0" sz="1600" lang="en-US">
                <a:latin typeface="Tahoma"/>
                <a:cs typeface="Tahoma"/>
              </a:rPr>
              <a:t>intra-</a:t>
            </a:r>
            <a:r>
              <a:rPr dirty="0" sz="1600" lang="en-US" err="1">
                <a:latin typeface="Tahoma"/>
                <a:cs typeface="Tahoma"/>
              </a:rPr>
              <a:t>articularly</a:t>
            </a:r>
            <a:r>
              <a:rPr dirty="0" sz="1600" lang="en-US" spc="360">
                <a:latin typeface="Tahoma"/>
                <a:cs typeface="Tahoma"/>
              </a:rPr>
              <a:t> </a:t>
            </a:r>
            <a:r>
              <a:rPr dirty="0" sz="1600" lang="en-US" spc="-25">
                <a:latin typeface="Tahoma"/>
                <a:cs typeface="Tahoma"/>
              </a:rPr>
              <a:t>in </a:t>
            </a:r>
            <a:r>
              <a:rPr dirty="0" sz="1600" lang="en-US" spc="45">
                <a:latin typeface="Tahoma"/>
                <a:cs typeface="Tahoma"/>
              </a:rPr>
              <a:t>patients</a:t>
            </a:r>
            <a:r>
              <a:rPr dirty="0" sz="1600" lang="en-US" spc="55">
                <a:latin typeface="Tahoma"/>
                <a:cs typeface="Tahoma"/>
              </a:rPr>
              <a:t> </a:t>
            </a:r>
            <a:r>
              <a:rPr dirty="0" sz="1600" lang="en-US" spc="70">
                <a:latin typeface="Tahoma"/>
                <a:cs typeface="Tahoma"/>
              </a:rPr>
              <a:t>with</a:t>
            </a:r>
            <a:r>
              <a:rPr dirty="0" sz="1600" lang="en-US" spc="65">
                <a:latin typeface="Tahoma"/>
                <a:cs typeface="Tahoma"/>
              </a:rPr>
              <a:t> </a:t>
            </a:r>
            <a:r>
              <a:rPr dirty="0" sz="1600" lang="en-US" spc="10">
                <a:latin typeface="Tahoma"/>
                <a:cs typeface="Tahoma"/>
              </a:rPr>
              <a:t>refractory</a:t>
            </a:r>
            <a:r>
              <a:rPr dirty="0" sz="1600" lang="en-US" spc="60">
                <a:latin typeface="Tahoma"/>
                <a:cs typeface="Tahoma"/>
              </a:rPr>
              <a:t> </a:t>
            </a:r>
            <a:r>
              <a:rPr dirty="0" sz="1600" lang="en-US" spc="10">
                <a:latin typeface="Tahoma"/>
                <a:cs typeface="Tahoma"/>
              </a:rPr>
              <a:t>or</a:t>
            </a:r>
            <a:r>
              <a:rPr dirty="0" sz="1600" lang="en-US" spc="80">
                <a:latin typeface="Tahoma"/>
                <a:cs typeface="Tahoma"/>
              </a:rPr>
              <a:t> </a:t>
            </a:r>
            <a:r>
              <a:rPr dirty="0" sz="1600" lang="en-US" spc="10">
                <a:latin typeface="Tahoma"/>
                <a:cs typeface="Tahoma"/>
              </a:rPr>
              <a:t>recurrent</a:t>
            </a:r>
            <a:r>
              <a:rPr dirty="0" sz="1600" lang="en-US" spc="75">
                <a:latin typeface="Tahoma"/>
                <a:cs typeface="Tahoma"/>
              </a:rPr>
              <a:t> </a:t>
            </a:r>
            <a:r>
              <a:rPr dirty="0" sz="1600" lang="en-US" spc="10">
                <a:latin typeface="Tahoma"/>
                <a:cs typeface="Tahoma"/>
              </a:rPr>
              <a:t>disease,</a:t>
            </a:r>
            <a:r>
              <a:rPr dirty="0" sz="1600" lang="en-US" spc="80">
                <a:latin typeface="Tahoma"/>
                <a:cs typeface="Tahoma"/>
              </a:rPr>
              <a:t> </a:t>
            </a:r>
            <a:r>
              <a:rPr dirty="0" sz="1600" lang="en-US" spc="70">
                <a:latin typeface="Tahoma"/>
                <a:cs typeface="Tahoma"/>
              </a:rPr>
              <a:t>with</a:t>
            </a:r>
            <a:r>
              <a:rPr dirty="0" sz="1600" lang="en-US" spc="55">
                <a:latin typeface="Tahoma"/>
                <a:cs typeface="Tahoma"/>
              </a:rPr>
              <a:t> </a:t>
            </a:r>
            <a:r>
              <a:rPr dirty="0" sz="1600" lang="en-US" spc="75">
                <a:latin typeface="Tahoma"/>
                <a:cs typeface="Tahoma"/>
              </a:rPr>
              <a:t>symptomatic</a:t>
            </a:r>
            <a:r>
              <a:rPr dirty="0" sz="1600" lang="en-US" spc="80">
                <a:latin typeface="Tahoma"/>
                <a:cs typeface="Tahoma"/>
              </a:rPr>
              <a:t> </a:t>
            </a:r>
            <a:r>
              <a:rPr dirty="0" sz="1600" lang="en-US" spc="-25">
                <a:latin typeface="Tahoma"/>
                <a:cs typeface="Tahoma"/>
              </a:rPr>
              <a:t>and </a:t>
            </a:r>
            <a:r>
              <a:rPr dirty="0" sz="1600" lang="en-US">
                <a:latin typeface="Tahoma"/>
                <a:cs typeface="Tahoma"/>
              </a:rPr>
              <a:t>histological</a:t>
            </a:r>
            <a:r>
              <a:rPr dirty="0" sz="1600" lang="en-US" spc="130">
                <a:latin typeface="Tahoma"/>
                <a:cs typeface="Tahoma"/>
              </a:rPr>
              <a:t>  </a:t>
            </a:r>
            <a:r>
              <a:rPr dirty="0" sz="1600" lang="en-US" spc="65">
                <a:latin typeface="Tahoma"/>
                <a:cs typeface="Tahoma"/>
              </a:rPr>
              <a:t>improvements</a:t>
            </a:r>
            <a:r>
              <a:rPr dirty="0" sz="1600" lang="en-US" spc="125">
                <a:latin typeface="Tahoma"/>
                <a:cs typeface="Tahoma"/>
              </a:rPr>
              <a:t>  </a:t>
            </a:r>
            <a:r>
              <a:rPr dirty="0" sz="1600" lang="en-US">
                <a:latin typeface="Tahoma"/>
                <a:cs typeface="Tahoma"/>
              </a:rPr>
              <a:t>[17,25,40].</a:t>
            </a:r>
            <a:r>
              <a:rPr dirty="0" sz="1600" lang="en-US" spc="125">
                <a:latin typeface="Tahoma"/>
                <a:cs typeface="Tahoma"/>
              </a:rPr>
              <a:t>  </a:t>
            </a:r>
            <a:r>
              <a:rPr dirty="0" sz="1600" lang="en-US" spc="55">
                <a:latin typeface="Tahoma"/>
                <a:cs typeface="Tahoma"/>
              </a:rPr>
              <a:t>Ozone</a:t>
            </a:r>
            <a:r>
              <a:rPr dirty="0" sz="1600" lang="en-US" spc="130">
                <a:latin typeface="Tahoma"/>
                <a:cs typeface="Tahoma"/>
              </a:rPr>
              <a:t>  </a:t>
            </a:r>
            <a:r>
              <a:rPr dirty="0" sz="1600" lang="en-US" spc="45">
                <a:latin typeface="Tahoma"/>
                <a:cs typeface="Tahoma"/>
              </a:rPr>
              <a:t>therapy</a:t>
            </a:r>
            <a:r>
              <a:rPr dirty="0" sz="1600" lang="en-US" spc="130">
                <a:latin typeface="Tahoma"/>
                <a:cs typeface="Tahoma"/>
              </a:rPr>
              <a:t>  </a:t>
            </a:r>
            <a:r>
              <a:rPr dirty="0" sz="1600" lang="en-US" spc="50">
                <a:latin typeface="Tahoma"/>
                <a:cs typeface="Tahoma"/>
              </a:rPr>
              <a:t>was</a:t>
            </a:r>
            <a:r>
              <a:rPr dirty="0" sz="1600" lang="en-US" spc="125">
                <a:latin typeface="Tahoma"/>
                <a:cs typeface="Tahoma"/>
              </a:rPr>
              <a:t>  </a:t>
            </a:r>
            <a:r>
              <a:rPr dirty="0" sz="1600" lang="en-US" spc="-20">
                <a:latin typeface="Tahoma"/>
                <a:cs typeface="Tahoma"/>
              </a:rPr>
              <a:t>also </a:t>
            </a:r>
            <a:r>
              <a:rPr dirty="0" sz="1600" lang="en-US" spc="60">
                <a:latin typeface="Tahoma"/>
                <a:cs typeface="Tahoma"/>
              </a:rPr>
              <a:t>employed</a:t>
            </a:r>
            <a:r>
              <a:rPr dirty="0" sz="1600" lang="en-US" spc="150">
                <a:latin typeface="Tahoma"/>
                <a:cs typeface="Tahoma"/>
              </a:rPr>
              <a:t> </a:t>
            </a:r>
            <a:r>
              <a:rPr dirty="0" sz="1600" lang="en-US">
                <a:latin typeface="Tahoma"/>
                <a:cs typeface="Tahoma"/>
              </a:rPr>
              <a:t>in</a:t>
            </a:r>
            <a:r>
              <a:rPr dirty="0" sz="1600" lang="en-US" spc="150">
                <a:latin typeface="Tahoma"/>
                <a:cs typeface="Tahoma"/>
              </a:rPr>
              <a:t> </a:t>
            </a:r>
            <a:r>
              <a:rPr dirty="0" sz="1600" lang="en-US" spc="50">
                <a:latin typeface="Tahoma"/>
                <a:cs typeface="Tahoma"/>
              </a:rPr>
              <a:t>one</a:t>
            </a:r>
            <a:r>
              <a:rPr dirty="0" sz="1600" lang="en-US" spc="160">
                <a:latin typeface="Tahoma"/>
                <a:cs typeface="Tahoma"/>
              </a:rPr>
              <a:t> </a:t>
            </a:r>
            <a:r>
              <a:rPr dirty="0" sz="1600" lang="en-US">
                <a:latin typeface="Tahoma"/>
                <a:cs typeface="Tahoma"/>
              </a:rPr>
              <a:t>case</a:t>
            </a:r>
            <a:r>
              <a:rPr dirty="0" sz="1600" lang="en-US" spc="160">
                <a:latin typeface="Tahoma"/>
                <a:cs typeface="Tahoma"/>
              </a:rPr>
              <a:t> </a:t>
            </a:r>
            <a:r>
              <a:rPr dirty="0" sz="1600" lang="en-US" spc="-95">
                <a:latin typeface="Tahoma"/>
                <a:cs typeface="Tahoma"/>
              </a:rPr>
              <a:t>[19].</a:t>
            </a:r>
            <a:r>
              <a:rPr dirty="0" sz="1600" lang="en-US" spc="160">
                <a:latin typeface="Tahoma"/>
                <a:cs typeface="Tahoma"/>
              </a:rPr>
              <a:t> </a:t>
            </a:r>
            <a:r>
              <a:rPr dirty="0" sz="1600" lang="en-US">
                <a:latin typeface="Tahoma"/>
                <a:cs typeface="Tahoma"/>
              </a:rPr>
              <a:t>These</a:t>
            </a:r>
            <a:r>
              <a:rPr dirty="0" sz="1600" lang="en-US" spc="155">
                <a:latin typeface="Tahoma"/>
                <a:cs typeface="Tahoma"/>
              </a:rPr>
              <a:t> </a:t>
            </a:r>
            <a:r>
              <a:rPr dirty="0" sz="1600" lang="en-US" spc="45">
                <a:latin typeface="Tahoma"/>
                <a:cs typeface="Tahoma"/>
              </a:rPr>
              <a:t>therapeutic</a:t>
            </a:r>
            <a:r>
              <a:rPr dirty="0" sz="1600" lang="en-US" spc="160">
                <a:latin typeface="Tahoma"/>
                <a:cs typeface="Tahoma"/>
              </a:rPr>
              <a:t> </a:t>
            </a:r>
            <a:r>
              <a:rPr dirty="0" sz="1600" lang="en-US">
                <a:latin typeface="Tahoma"/>
                <a:cs typeface="Tahoma"/>
              </a:rPr>
              <a:t>options,</a:t>
            </a:r>
            <a:r>
              <a:rPr dirty="0" sz="1600" lang="en-US" spc="155">
                <a:latin typeface="Tahoma"/>
                <a:cs typeface="Tahoma"/>
              </a:rPr>
              <a:t> </a:t>
            </a:r>
            <a:r>
              <a:rPr dirty="0" sz="1600" lang="en-US">
                <a:latin typeface="Tahoma"/>
                <a:cs typeface="Tahoma"/>
              </a:rPr>
              <a:t>although</a:t>
            </a:r>
            <a:r>
              <a:rPr dirty="0" sz="1600" lang="en-US" spc="155">
                <a:latin typeface="Tahoma"/>
                <a:cs typeface="Tahoma"/>
              </a:rPr>
              <a:t> </a:t>
            </a:r>
            <a:r>
              <a:rPr dirty="0" sz="1600" lang="en-US" spc="45">
                <a:latin typeface="Tahoma"/>
                <a:cs typeface="Tahoma"/>
              </a:rPr>
              <a:t>not </a:t>
            </a:r>
            <a:r>
              <a:rPr dirty="0" sz="1600" lang="en-US" spc="50">
                <a:latin typeface="Tahoma"/>
                <a:cs typeface="Tahoma"/>
              </a:rPr>
              <a:t>uniformly</a:t>
            </a:r>
            <a:r>
              <a:rPr dirty="0" sz="1600" lang="en-US" spc="150">
                <a:latin typeface="Tahoma"/>
                <a:cs typeface="Tahoma"/>
              </a:rPr>
              <a:t> </a:t>
            </a:r>
            <a:r>
              <a:rPr dirty="0" sz="1600" lang="en-US">
                <a:latin typeface="Tahoma"/>
                <a:cs typeface="Tahoma"/>
              </a:rPr>
              <a:t>established</a:t>
            </a:r>
            <a:r>
              <a:rPr dirty="0" sz="1600" lang="en-US" spc="155">
                <a:latin typeface="Tahoma"/>
                <a:cs typeface="Tahoma"/>
              </a:rPr>
              <a:t> </a:t>
            </a:r>
            <a:r>
              <a:rPr dirty="0" sz="1600" lang="en-US">
                <a:latin typeface="Tahoma"/>
                <a:cs typeface="Tahoma"/>
              </a:rPr>
              <a:t>in</a:t>
            </a:r>
            <a:r>
              <a:rPr dirty="0" sz="1600" lang="en-US" spc="160">
                <a:latin typeface="Tahoma"/>
                <a:cs typeface="Tahoma"/>
              </a:rPr>
              <a:t> </a:t>
            </a:r>
            <a:r>
              <a:rPr dirty="0" sz="1600" lang="en-US">
                <a:latin typeface="Tahoma"/>
                <a:cs typeface="Tahoma"/>
              </a:rPr>
              <a:t>guidelines,</a:t>
            </a:r>
            <a:r>
              <a:rPr dirty="0" sz="1600" lang="en-US" spc="160">
                <a:latin typeface="Tahoma"/>
                <a:cs typeface="Tahoma"/>
              </a:rPr>
              <a:t> </a:t>
            </a:r>
            <a:r>
              <a:rPr dirty="0" sz="1600" lang="en-US">
                <a:latin typeface="Tahoma"/>
                <a:cs typeface="Tahoma"/>
              </a:rPr>
              <a:t>reflect</a:t>
            </a:r>
            <a:r>
              <a:rPr dirty="0" sz="1600" lang="en-US" spc="170">
                <a:latin typeface="Tahoma"/>
                <a:cs typeface="Tahoma"/>
              </a:rPr>
              <a:t> </a:t>
            </a:r>
            <a:r>
              <a:rPr dirty="0" sz="1600" lang="en-US" spc="60">
                <a:latin typeface="Tahoma"/>
                <a:cs typeface="Tahoma"/>
              </a:rPr>
              <a:t>the</a:t>
            </a:r>
            <a:r>
              <a:rPr dirty="0" sz="1600" lang="en-US" spc="160">
                <a:latin typeface="Tahoma"/>
                <a:cs typeface="Tahoma"/>
              </a:rPr>
              <a:t> </a:t>
            </a:r>
            <a:r>
              <a:rPr dirty="0" sz="1600" lang="en-US">
                <a:latin typeface="Tahoma"/>
                <a:cs typeface="Tahoma"/>
              </a:rPr>
              <a:t>evolving</a:t>
            </a:r>
            <a:r>
              <a:rPr dirty="0" sz="1600" lang="en-US" spc="155">
                <a:latin typeface="Tahoma"/>
                <a:cs typeface="Tahoma"/>
              </a:rPr>
              <a:t> </a:t>
            </a:r>
            <a:r>
              <a:rPr dirty="0" sz="1600" lang="en-US">
                <a:latin typeface="Tahoma"/>
                <a:cs typeface="Tahoma"/>
              </a:rPr>
              <a:t>landscape</a:t>
            </a:r>
            <a:r>
              <a:rPr dirty="0" sz="1600" lang="en-US" spc="160">
                <a:latin typeface="Tahoma"/>
                <a:cs typeface="Tahoma"/>
              </a:rPr>
              <a:t> </a:t>
            </a:r>
            <a:r>
              <a:rPr dirty="0" sz="1600" lang="en-US" spc="65">
                <a:latin typeface="Tahoma"/>
                <a:cs typeface="Tahoma"/>
              </a:rPr>
              <a:t>of </a:t>
            </a:r>
            <a:r>
              <a:rPr dirty="0" sz="1600" lang="en-US">
                <a:latin typeface="Tahoma"/>
                <a:cs typeface="Tahoma"/>
              </a:rPr>
              <a:t>personalized</a:t>
            </a:r>
            <a:r>
              <a:rPr dirty="0" sz="1600" lang="en-US" spc="125">
                <a:latin typeface="Tahoma"/>
                <a:cs typeface="Tahoma"/>
              </a:rPr>
              <a:t> </a:t>
            </a:r>
            <a:r>
              <a:rPr dirty="0" sz="1600" lang="en-US" spc="50">
                <a:latin typeface="Tahoma"/>
                <a:cs typeface="Tahoma"/>
              </a:rPr>
              <a:t>PVNS</a:t>
            </a:r>
            <a:r>
              <a:rPr dirty="0" sz="1600" lang="en-US" spc="130">
                <a:latin typeface="Tahoma"/>
                <a:cs typeface="Tahoma"/>
              </a:rPr>
              <a:t> </a:t>
            </a:r>
            <a:r>
              <a:rPr dirty="0" sz="1600" lang="en-US" spc="35">
                <a:latin typeface="Tahoma"/>
                <a:cs typeface="Tahoma"/>
              </a:rPr>
              <a:t>management.</a:t>
            </a:r>
            <a:endParaRPr dirty="0" sz="1600" lang="en-US">
              <a:latin typeface="Tahoma"/>
              <a:cs typeface="Tahoma"/>
            </a:endParaRPr>
          </a:p>
          <a:p>
            <a:pPr algn="just" marL="12700" marR="36195">
              <a:lnSpc>
                <a:spcPct val="110000"/>
              </a:lnSpc>
            </a:pPr>
            <a:r>
              <a:rPr dirty="0" sz="1600" lang="en-US">
                <a:latin typeface="Tahoma"/>
                <a:cs typeface="Tahoma"/>
              </a:rPr>
              <a:t>The</a:t>
            </a:r>
            <a:r>
              <a:rPr dirty="0" sz="1600" lang="en-US" spc="140">
                <a:latin typeface="Tahoma"/>
                <a:cs typeface="Tahoma"/>
              </a:rPr>
              <a:t>  </a:t>
            </a:r>
            <a:r>
              <a:rPr dirty="0" sz="1600" lang="en-US" spc="50">
                <a:latin typeface="Tahoma"/>
                <a:cs typeface="Tahoma"/>
              </a:rPr>
              <a:t>introduction</a:t>
            </a:r>
            <a:r>
              <a:rPr dirty="0" sz="1600" lang="en-US" spc="135">
                <a:latin typeface="Tahoma"/>
                <a:cs typeface="Tahoma"/>
              </a:rPr>
              <a:t>  </a:t>
            </a:r>
            <a:r>
              <a:rPr dirty="0" sz="1600" lang="en-US" spc="90">
                <a:latin typeface="Tahoma"/>
                <a:cs typeface="Tahoma"/>
              </a:rPr>
              <a:t>of</a:t>
            </a:r>
            <a:r>
              <a:rPr dirty="0" sz="1600" lang="en-US" spc="140">
                <a:latin typeface="Tahoma"/>
                <a:cs typeface="Tahoma"/>
              </a:rPr>
              <a:t>  </a:t>
            </a:r>
            <a:r>
              <a:rPr dirty="0" sz="1600" lang="en-US">
                <a:latin typeface="Tahoma"/>
                <a:cs typeface="Tahoma"/>
              </a:rPr>
              <a:t>CSF1R</a:t>
            </a:r>
            <a:r>
              <a:rPr dirty="0" sz="1600" lang="en-US" spc="135">
                <a:latin typeface="Tahoma"/>
                <a:cs typeface="Tahoma"/>
              </a:rPr>
              <a:t>  </a:t>
            </a:r>
            <a:r>
              <a:rPr dirty="0" sz="1600" lang="en-US">
                <a:latin typeface="Tahoma"/>
                <a:cs typeface="Tahoma"/>
              </a:rPr>
              <a:t>inhibitors</a:t>
            </a:r>
            <a:r>
              <a:rPr dirty="0" sz="1600" lang="en-US" spc="145">
                <a:latin typeface="Tahoma"/>
                <a:cs typeface="Tahoma"/>
              </a:rPr>
              <a:t>  </a:t>
            </a:r>
            <a:r>
              <a:rPr dirty="0" sz="1600" lang="en-US" spc="50">
                <a:latin typeface="Tahoma"/>
                <a:cs typeface="Tahoma"/>
              </a:rPr>
              <a:t>such</a:t>
            </a:r>
            <a:r>
              <a:rPr dirty="0" sz="1600" lang="en-US" spc="135">
                <a:latin typeface="Tahoma"/>
                <a:cs typeface="Tahoma"/>
              </a:rPr>
              <a:t>  </a:t>
            </a:r>
            <a:r>
              <a:rPr dirty="0" sz="1600" lang="en-US">
                <a:latin typeface="Tahoma"/>
                <a:cs typeface="Tahoma"/>
              </a:rPr>
              <a:t>as</a:t>
            </a:r>
            <a:r>
              <a:rPr dirty="0" sz="1600" lang="en-US" spc="140">
                <a:latin typeface="Tahoma"/>
                <a:cs typeface="Tahoma"/>
              </a:rPr>
              <a:t>  </a:t>
            </a:r>
            <a:r>
              <a:rPr dirty="0" sz="1600" lang="en-US" err="1">
                <a:latin typeface="Tahoma"/>
                <a:cs typeface="Tahoma"/>
              </a:rPr>
              <a:t>pexidartinib</a:t>
            </a:r>
            <a:r>
              <a:rPr dirty="0" sz="1600" lang="en-US" spc="145">
                <a:latin typeface="Tahoma"/>
                <a:cs typeface="Tahoma"/>
              </a:rPr>
              <a:t>  </a:t>
            </a:r>
            <a:r>
              <a:rPr dirty="0" sz="1600" lang="en-US" spc="-25">
                <a:latin typeface="Tahoma"/>
                <a:cs typeface="Tahoma"/>
              </a:rPr>
              <a:t>has </a:t>
            </a:r>
            <a:r>
              <a:rPr dirty="0" sz="1600" lang="en-US">
                <a:latin typeface="Tahoma"/>
                <a:cs typeface="Tahoma"/>
              </a:rPr>
              <a:t>expanded</a:t>
            </a:r>
            <a:r>
              <a:rPr dirty="0" sz="1600" lang="en-US" spc="290">
                <a:latin typeface="Tahoma"/>
                <a:cs typeface="Tahoma"/>
              </a:rPr>
              <a:t>  </a:t>
            </a:r>
            <a:r>
              <a:rPr dirty="0" sz="1600" lang="en-US" spc="65">
                <a:latin typeface="Tahoma"/>
                <a:cs typeface="Tahoma"/>
              </a:rPr>
              <a:t>systemic</a:t>
            </a:r>
            <a:r>
              <a:rPr dirty="0" sz="1600" lang="en-US" spc="295">
                <a:latin typeface="Tahoma"/>
                <a:cs typeface="Tahoma"/>
              </a:rPr>
              <a:t>  </a:t>
            </a:r>
            <a:r>
              <a:rPr dirty="0" sz="1600" lang="en-US" spc="60">
                <a:latin typeface="Tahoma"/>
                <a:cs typeface="Tahoma"/>
              </a:rPr>
              <a:t>treatment</a:t>
            </a:r>
            <a:r>
              <a:rPr dirty="0" sz="1600" lang="en-US" spc="290">
                <a:latin typeface="Tahoma"/>
                <a:cs typeface="Tahoma"/>
              </a:rPr>
              <a:t>  </a:t>
            </a:r>
            <a:r>
              <a:rPr dirty="0" sz="1600" lang="en-US">
                <a:latin typeface="Tahoma"/>
                <a:cs typeface="Tahoma"/>
              </a:rPr>
              <a:t>options.</a:t>
            </a:r>
            <a:r>
              <a:rPr dirty="0" sz="1600" lang="en-US" spc="290">
                <a:latin typeface="Tahoma"/>
                <a:cs typeface="Tahoma"/>
              </a:rPr>
              <a:t>  </a:t>
            </a:r>
            <a:r>
              <a:rPr dirty="0" sz="1600" lang="en-US">
                <a:latin typeface="Tahoma"/>
                <a:cs typeface="Tahoma"/>
              </a:rPr>
              <a:t>Tap</a:t>
            </a:r>
            <a:r>
              <a:rPr dirty="0" sz="1600" lang="en-US" spc="290">
                <a:latin typeface="Tahoma"/>
                <a:cs typeface="Tahoma"/>
              </a:rPr>
              <a:t>  </a:t>
            </a:r>
            <a:r>
              <a:rPr dirty="0" sz="1600" lang="en-US" spc="70">
                <a:latin typeface="Tahoma"/>
                <a:cs typeface="Tahoma"/>
              </a:rPr>
              <a:t>et</a:t>
            </a:r>
            <a:r>
              <a:rPr dirty="0" sz="1600" lang="en-US" spc="295">
                <a:latin typeface="Tahoma"/>
                <a:cs typeface="Tahoma"/>
              </a:rPr>
              <a:t>  </a:t>
            </a:r>
            <a:r>
              <a:rPr dirty="0" sz="1600" lang="en-US">
                <a:latin typeface="Tahoma"/>
                <a:cs typeface="Tahoma"/>
              </a:rPr>
              <a:t>al.</a:t>
            </a:r>
            <a:r>
              <a:rPr dirty="0" sz="1600" lang="en-US" spc="295">
                <a:latin typeface="Tahoma"/>
                <a:cs typeface="Tahoma"/>
              </a:rPr>
              <a:t>  </a:t>
            </a:r>
            <a:r>
              <a:rPr dirty="0" sz="1600" lang="en-US" spc="35">
                <a:latin typeface="Tahoma"/>
                <a:cs typeface="Tahoma"/>
              </a:rPr>
              <a:t>reported </a:t>
            </a:r>
            <a:r>
              <a:rPr dirty="0" sz="1600" lang="en-US">
                <a:latin typeface="Tahoma"/>
                <a:cs typeface="Tahoma"/>
              </a:rPr>
              <a:t>significant</a:t>
            </a:r>
            <a:r>
              <a:rPr dirty="0" sz="1600" lang="en-US" spc="35">
                <a:latin typeface="Tahoma"/>
                <a:cs typeface="Tahoma"/>
              </a:rPr>
              <a:t>  </a:t>
            </a:r>
            <a:r>
              <a:rPr dirty="0" sz="1600" lang="en-US" spc="75">
                <a:latin typeface="Tahoma"/>
                <a:cs typeface="Tahoma"/>
              </a:rPr>
              <a:t>tumor</a:t>
            </a:r>
            <a:r>
              <a:rPr dirty="0" sz="1600" lang="en-US" spc="35">
                <a:latin typeface="Tahoma"/>
                <a:cs typeface="Tahoma"/>
              </a:rPr>
              <a:t>  </a:t>
            </a:r>
            <a:r>
              <a:rPr dirty="0" sz="1600" lang="en-US">
                <a:latin typeface="Tahoma"/>
                <a:cs typeface="Tahoma"/>
              </a:rPr>
              <a:t>regression</a:t>
            </a:r>
            <a:r>
              <a:rPr dirty="0" sz="1600" lang="en-US" spc="30">
                <a:latin typeface="Tahoma"/>
                <a:cs typeface="Tahoma"/>
              </a:rPr>
              <a:t>  </a:t>
            </a:r>
            <a:r>
              <a:rPr dirty="0" sz="1600" lang="en-US">
                <a:latin typeface="Tahoma"/>
                <a:cs typeface="Tahoma"/>
              </a:rPr>
              <a:t>and</a:t>
            </a:r>
            <a:r>
              <a:rPr dirty="0" sz="1600" lang="en-US" spc="30">
                <a:latin typeface="Tahoma"/>
                <a:cs typeface="Tahoma"/>
              </a:rPr>
              <a:t>  </a:t>
            </a:r>
            <a:r>
              <a:rPr dirty="0" sz="1600" lang="en-US" spc="100">
                <a:latin typeface="Tahoma"/>
                <a:cs typeface="Tahoma"/>
              </a:rPr>
              <a:t>symptom</a:t>
            </a:r>
            <a:r>
              <a:rPr dirty="0" sz="1600" lang="en-US" spc="35">
                <a:latin typeface="Tahoma"/>
                <a:cs typeface="Tahoma"/>
              </a:rPr>
              <a:t>  </a:t>
            </a:r>
            <a:r>
              <a:rPr dirty="0" sz="1600" lang="en-US">
                <a:latin typeface="Tahoma"/>
                <a:cs typeface="Tahoma"/>
              </a:rPr>
              <a:t>relief</a:t>
            </a:r>
            <a:r>
              <a:rPr dirty="0" sz="1600" lang="en-US" spc="495">
                <a:latin typeface="Tahoma"/>
                <a:cs typeface="Tahoma"/>
              </a:rPr>
              <a:t> </a:t>
            </a:r>
            <a:r>
              <a:rPr dirty="0" sz="1600" lang="en-US">
                <a:latin typeface="Tahoma"/>
                <a:cs typeface="Tahoma"/>
              </a:rPr>
              <a:t>in</a:t>
            </a:r>
            <a:r>
              <a:rPr dirty="0" sz="1600" lang="en-US" spc="495">
                <a:latin typeface="Tahoma"/>
                <a:cs typeface="Tahoma"/>
              </a:rPr>
              <a:t> </a:t>
            </a:r>
            <a:r>
              <a:rPr dirty="0" sz="1600" lang="en-US" spc="-10">
                <a:latin typeface="Tahoma"/>
                <a:cs typeface="Tahoma"/>
              </a:rPr>
              <a:t>unresectable </a:t>
            </a:r>
            <a:r>
              <a:rPr dirty="0" sz="1600" lang="en-US" spc="50">
                <a:latin typeface="Tahoma"/>
                <a:cs typeface="Tahoma"/>
              </a:rPr>
              <a:t>PVNS</a:t>
            </a:r>
            <a:r>
              <a:rPr dirty="0" sz="1600" lang="en-US" spc="155">
                <a:latin typeface="Tahoma"/>
                <a:cs typeface="Tahoma"/>
              </a:rPr>
              <a:t> </a:t>
            </a:r>
            <a:r>
              <a:rPr dirty="0" sz="1600" lang="en-US">
                <a:latin typeface="Tahoma"/>
                <a:cs typeface="Tahoma"/>
              </a:rPr>
              <a:t>[67],</a:t>
            </a:r>
            <a:r>
              <a:rPr dirty="0" sz="1600" lang="en-US" spc="165">
                <a:latin typeface="Tahoma"/>
                <a:cs typeface="Tahoma"/>
              </a:rPr>
              <a:t> </a:t>
            </a:r>
            <a:r>
              <a:rPr dirty="0" sz="1600" lang="en-US">
                <a:latin typeface="Tahoma"/>
                <a:cs typeface="Tahoma"/>
              </a:rPr>
              <a:t>although</a:t>
            </a:r>
            <a:r>
              <a:rPr dirty="0" sz="1600" lang="en-US" spc="150">
                <a:latin typeface="Tahoma"/>
                <a:cs typeface="Tahoma"/>
              </a:rPr>
              <a:t> </a:t>
            </a:r>
            <a:r>
              <a:rPr dirty="0" sz="1600" lang="en-US" spc="45">
                <a:latin typeface="Tahoma"/>
                <a:cs typeface="Tahoma"/>
              </a:rPr>
              <a:t>concerns</a:t>
            </a:r>
            <a:r>
              <a:rPr dirty="0" sz="1600" lang="en-US" spc="145">
                <a:latin typeface="Tahoma"/>
                <a:cs typeface="Tahoma"/>
              </a:rPr>
              <a:t> </a:t>
            </a:r>
            <a:r>
              <a:rPr dirty="0" sz="1600" lang="en-US">
                <a:latin typeface="Tahoma"/>
                <a:cs typeface="Tahoma"/>
              </a:rPr>
              <a:t>regarding</a:t>
            </a:r>
            <a:r>
              <a:rPr dirty="0" sz="1600" lang="en-US" spc="150">
                <a:latin typeface="Tahoma"/>
                <a:cs typeface="Tahoma"/>
              </a:rPr>
              <a:t> </a:t>
            </a:r>
            <a:r>
              <a:rPr dirty="0" sz="1600" lang="en-US" spc="55">
                <a:latin typeface="Tahoma"/>
                <a:cs typeface="Tahoma"/>
              </a:rPr>
              <a:t>hepatotoxicity</a:t>
            </a:r>
            <a:r>
              <a:rPr dirty="0" sz="1600" lang="en-US" spc="145">
                <a:latin typeface="Tahoma"/>
                <a:cs typeface="Tahoma"/>
              </a:rPr>
              <a:t> </a:t>
            </a:r>
            <a:r>
              <a:rPr dirty="0" sz="1600" lang="en-US">
                <a:latin typeface="Tahoma"/>
                <a:cs typeface="Tahoma"/>
              </a:rPr>
              <a:t>remain.</a:t>
            </a:r>
            <a:r>
              <a:rPr dirty="0" sz="1600" lang="en-US" spc="165">
                <a:latin typeface="Tahoma"/>
                <a:cs typeface="Tahoma"/>
              </a:rPr>
              <a:t> </a:t>
            </a:r>
            <a:r>
              <a:rPr dirty="0" sz="1600" lang="en-US" spc="-25">
                <a:latin typeface="Tahoma"/>
                <a:cs typeface="Tahoma"/>
              </a:rPr>
              <a:t>Our </a:t>
            </a:r>
            <a:r>
              <a:rPr dirty="0" sz="1600" lang="en-US">
                <a:latin typeface="Tahoma"/>
                <a:cs typeface="Tahoma"/>
              </a:rPr>
              <a:t>review</a:t>
            </a:r>
            <a:r>
              <a:rPr dirty="0" sz="1600" lang="en-US" spc="495">
                <a:latin typeface="Tahoma"/>
                <a:cs typeface="Tahoma"/>
              </a:rPr>
              <a:t> </a:t>
            </a:r>
            <a:r>
              <a:rPr dirty="0" sz="1600" lang="en-US" spc="55">
                <a:latin typeface="Tahoma"/>
                <a:cs typeface="Tahoma"/>
              </a:rPr>
              <a:t>supports</a:t>
            </a:r>
            <a:r>
              <a:rPr dirty="0" sz="1600" lang="en-US" spc="495">
                <a:latin typeface="Tahoma"/>
                <a:cs typeface="Tahoma"/>
              </a:rPr>
              <a:t> </a:t>
            </a:r>
            <a:r>
              <a:rPr dirty="0" sz="1600" lang="en-US" spc="60">
                <a:latin typeface="Tahoma"/>
                <a:cs typeface="Tahoma"/>
              </a:rPr>
              <a:t>the</a:t>
            </a:r>
            <a:r>
              <a:rPr dirty="0" sz="1600" lang="en-US" spc="495">
                <a:latin typeface="Tahoma"/>
                <a:cs typeface="Tahoma"/>
              </a:rPr>
              <a:t> </a:t>
            </a:r>
            <a:r>
              <a:rPr dirty="0" sz="1600" lang="en-US">
                <a:latin typeface="Tahoma"/>
                <a:cs typeface="Tahoma"/>
              </a:rPr>
              <a:t>use</a:t>
            </a:r>
            <a:r>
              <a:rPr dirty="0" sz="1600" lang="en-US" spc="30">
                <a:latin typeface="Tahoma"/>
                <a:cs typeface="Tahoma"/>
              </a:rPr>
              <a:t>  </a:t>
            </a:r>
            <a:r>
              <a:rPr dirty="0" sz="1600" lang="en-US" spc="90">
                <a:latin typeface="Tahoma"/>
                <a:cs typeface="Tahoma"/>
              </a:rPr>
              <a:t>of</a:t>
            </a:r>
            <a:r>
              <a:rPr dirty="0" sz="1600" lang="en-US" spc="490">
                <a:latin typeface="Tahoma"/>
                <a:cs typeface="Tahoma"/>
              </a:rPr>
              <a:t> </a:t>
            </a:r>
            <a:r>
              <a:rPr dirty="0" sz="1600" lang="en-US" spc="50">
                <a:latin typeface="Tahoma"/>
                <a:cs typeface="Tahoma"/>
              </a:rPr>
              <a:t>these</a:t>
            </a:r>
            <a:r>
              <a:rPr dirty="0" sz="1600" lang="en-US" spc="30">
                <a:latin typeface="Tahoma"/>
                <a:cs typeface="Tahoma"/>
              </a:rPr>
              <a:t>  </a:t>
            </a:r>
            <a:r>
              <a:rPr dirty="0" sz="1600" lang="en-US">
                <a:latin typeface="Tahoma"/>
                <a:cs typeface="Tahoma"/>
              </a:rPr>
              <a:t>agents</a:t>
            </a:r>
            <a:r>
              <a:rPr dirty="0" sz="1600" lang="en-US" spc="30">
                <a:latin typeface="Tahoma"/>
                <a:cs typeface="Tahoma"/>
              </a:rPr>
              <a:t>  </a:t>
            </a:r>
            <a:r>
              <a:rPr dirty="0" sz="1600" lang="en-US">
                <a:latin typeface="Tahoma"/>
                <a:cs typeface="Tahoma"/>
              </a:rPr>
              <a:t>in</a:t>
            </a:r>
            <a:r>
              <a:rPr dirty="0" sz="1600" lang="en-US" spc="480">
                <a:latin typeface="Tahoma"/>
                <a:cs typeface="Tahoma"/>
              </a:rPr>
              <a:t> </a:t>
            </a:r>
            <a:r>
              <a:rPr dirty="0" sz="1600" lang="en-US">
                <a:latin typeface="Tahoma"/>
                <a:cs typeface="Tahoma"/>
              </a:rPr>
              <a:t>select</a:t>
            </a:r>
            <a:r>
              <a:rPr dirty="0" sz="1600" lang="en-US" spc="495">
                <a:latin typeface="Tahoma"/>
                <a:cs typeface="Tahoma"/>
              </a:rPr>
              <a:t> </a:t>
            </a:r>
            <a:r>
              <a:rPr dirty="0" sz="1600" lang="en-US">
                <a:latin typeface="Tahoma"/>
                <a:cs typeface="Tahoma"/>
              </a:rPr>
              <a:t>cases,</a:t>
            </a:r>
            <a:r>
              <a:rPr dirty="0" sz="1600" lang="en-US" spc="30">
                <a:latin typeface="Tahoma"/>
                <a:cs typeface="Tahoma"/>
              </a:rPr>
              <a:t>  </a:t>
            </a:r>
            <a:r>
              <a:rPr dirty="0" sz="1600" lang="en-US" spc="-10">
                <a:latin typeface="Tahoma"/>
                <a:cs typeface="Tahoma"/>
              </a:rPr>
              <a:t>while </a:t>
            </a:r>
            <a:r>
              <a:rPr dirty="0" sz="1600" lang="en-US" spc="10">
                <a:latin typeface="Tahoma"/>
                <a:cs typeface="Tahoma"/>
              </a:rPr>
              <a:t>highlighting</a:t>
            </a:r>
            <a:r>
              <a:rPr dirty="0" sz="1600" lang="en-US" spc="35">
                <a:latin typeface="Tahoma"/>
                <a:cs typeface="Tahoma"/>
              </a:rPr>
              <a:t> </a:t>
            </a:r>
            <a:r>
              <a:rPr dirty="0" sz="1600" lang="en-US" spc="60">
                <a:latin typeface="Tahoma"/>
                <a:cs typeface="Tahoma"/>
              </a:rPr>
              <a:t>the </a:t>
            </a:r>
            <a:r>
              <a:rPr dirty="0" sz="1600" lang="en-US" spc="10">
                <a:latin typeface="Tahoma"/>
                <a:cs typeface="Tahoma"/>
              </a:rPr>
              <a:t>need</a:t>
            </a:r>
            <a:r>
              <a:rPr dirty="0" sz="1600" lang="en-US" spc="50">
                <a:latin typeface="Tahoma"/>
                <a:cs typeface="Tahoma"/>
              </a:rPr>
              <a:t> </a:t>
            </a:r>
            <a:r>
              <a:rPr dirty="0" sz="1600" lang="en-US" spc="55">
                <a:latin typeface="Tahoma"/>
                <a:cs typeface="Tahoma"/>
              </a:rPr>
              <a:t>for</a:t>
            </a:r>
            <a:r>
              <a:rPr dirty="0" sz="1600" lang="en-US" spc="65">
                <a:latin typeface="Tahoma"/>
                <a:cs typeface="Tahoma"/>
              </a:rPr>
              <a:t> </a:t>
            </a:r>
            <a:r>
              <a:rPr dirty="0" sz="1600" lang="en-US" spc="10">
                <a:latin typeface="Tahoma"/>
                <a:cs typeface="Tahoma"/>
              </a:rPr>
              <a:t>long-</a:t>
            </a:r>
            <a:r>
              <a:rPr dirty="0" sz="1600" lang="en-US" spc="75">
                <a:latin typeface="Tahoma"/>
                <a:cs typeface="Tahoma"/>
              </a:rPr>
              <a:t>term</a:t>
            </a:r>
            <a:r>
              <a:rPr dirty="0" sz="1600" lang="en-US" spc="60">
                <a:latin typeface="Tahoma"/>
                <a:cs typeface="Tahoma"/>
              </a:rPr>
              <a:t> </a:t>
            </a:r>
            <a:r>
              <a:rPr dirty="0" sz="1600" lang="en-US" spc="55">
                <a:latin typeface="Tahoma"/>
                <a:cs typeface="Tahoma"/>
              </a:rPr>
              <a:t>safety</a:t>
            </a:r>
            <a:r>
              <a:rPr dirty="0" sz="1600" lang="en-US" spc="45">
                <a:latin typeface="Tahoma"/>
                <a:cs typeface="Tahoma"/>
              </a:rPr>
              <a:t> </a:t>
            </a:r>
            <a:r>
              <a:rPr dirty="0" sz="1600" lang="en-US" spc="-10">
                <a:latin typeface="Tahoma"/>
                <a:cs typeface="Tahoma"/>
              </a:rPr>
              <a:t>data</a:t>
            </a:r>
            <a:endParaRPr dirty="0" sz="1600" lang="en-US">
              <a:latin typeface="Tahoma"/>
              <a:cs typeface="Tahoma"/>
            </a:endParaRPr>
          </a:p>
          <a:p>
            <a:pPr algn="just" marL="12700">
              <a:lnSpc>
                <a:spcPct val="100000"/>
              </a:lnSpc>
              <a:spcBef>
                <a:spcPts val="970"/>
              </a:spcBef>
            </a:pPr>
            <a:endParaRPr dirty="0" sz="1400"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09" name="Content Placeholder 2"/>
          <p:cNvSpPr>
            <a:spLocks noGrp="1"/>
          </p:cNvSpPr>
          <p:nvPr>
            <p:ph idx="1"/>
          </p:nvPr>
        </p:nvSpPr>
        <p:spPr>
          <a:xfrm>
            <a:off x="-1" y="1371600"/>
            <a:ext cx="12105409" cy="5486400"/>
          </a:xfrm>
        </p:spPr>
        <p:txBody>
          <a:bodyPr/>
          <a:p>
            <a:pPr algn="just" indent="0" marL="0">
              <a:lnSpc>
                <a:spcPct val="100000"/>
              </a:lnSpc>
              <a:spcBef>
                <a:spcPts val="265"/>
              </a:spcBef>
              <a:buNone/>
            </a:pPr>
            <a:r>
              <a:rPr dirty="0" sz="1400" lang="en-US" spc="-10">
                <a:latin typeface="Tahoma"/>
                <a:cs typeface="Tahoma"/>
              </a:rPr>
              <a:t>.</a:t>
            </a:r>
            <a:endParaRPr dirty="0" sz="1400" lang="en-US">
              <a:latin typeface="Tahoma"/>
              <a:cs typeface="Tahoma"/>
            </a:endParaRPr>
          </a:p>
          <a:p>
            <a:pPr algn="just" marL="12700" marR="6350">
              <a:lnSpc>
                <a:spcPct val="110000"/>
              </a:lnSpc>
            </a:pPr>
            <a:r>
              <a:rPr dirty="0" sz="1600" lang="en-US">
                <a:latin typeface="Tahoma" panose="020B0604030504040204" pitchFamily="34" charset="0"/>
                <a:ea typeface="Tahoma" panose="020B0604030504040204" pitchFamily="34" charset="0"/>
                <a:cs typeface="Tahoma" panose="020B0604030504040204" pitchFamily="34" charset="0"/>
              </a:rPr>
              <a:t>Our</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findings</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align</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with</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current</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NCCN</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guidelines,</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which </a:t>
            </a:r>
            <a:r>
              <a:rPr dirty="0" sz="1600" lang="en-US" spc="70">
                <a:latin typeface="Tahoma" panose="020B0604030504040204" pitchFamily="34" charset="0"/>
                <a:ea typeface="Tahoma" panose="020B0604030504040204" pitchFamily="34" charset="0"/>
                <a:cs typeface="Tahoma" panose="020B0604030504040204" pitchFamily="34" charset="0"/>
              </a:rPr>
              <a:t>recommend</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MRI</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imaging</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modality</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choice</a:t>
            </a:r>
            <a:r>
              <a:rPr dirty="0" sz="1600" lang="en-US" spc="3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surgical </a:t>
            </a:r>
            <a:r>
              <a:rPr dirty="0" sz="1600" lang="en-US" spc="75">
                <a:latin typeface="Tahoma" panose="020B0604030504040204" pitchFamily="34" charset="0"/>
                <a:ea typeface="Tahoma" panose="020B0604030504040204" pitchFamily="34" charset="0"/>
                <a:cs typeface="Tahoma" panose="020B0604030504040204" pitchFamily="34" charset="0"/>
              </a:rPr>
              <a:t>synovectomy</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standard</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treatment</a:t>
            </a:r>
            <a:r>
              <a:rPr dirty="0" sz="1600" lang="en-US" spc="49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for</a:t>
            </a:r>
            <a:r>
              <a:rPr dirty="0" sz="1600" lang="en-US" spc="49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both</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localized</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and </a:t>
            </a:r>
            <a:r>
              <a:rPr dirty="0" sz="1600" lang="en-US" spc="50">
                <a:latin typeface="Tahoma" panose="020B0604030504040204" pitchFamily="34" charset="0"/>
                <a:ea typeface="Tahoma" panose="020B0604030504040204" pitchFamily="34" charset="0"/>
                <a:cs typeface="Tahoma" panose="020B0604030504040204" pitchFamily="34" charset="0"/>
              </a:rPr>
              <a:t>diffuse</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forms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6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PVNS.</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Furthermore,</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they</a:t>
            </a:r>
            <a:r>
              <a:rPr dirty="0" sz="1600" lang="en-US" spc="60">
                <a:latin typeface="Tahoma" panose="020B0604030504040204" pitchFamily="34" charset="0"/>
                <a:ea typeface="Tahoma" panose="020B0604030504040204" pitchFamily="34" charset="0"/>
                <a:cs typeface="Tahoma" panose="020B0604030504040204" pitchFamily="34" charset="0"/>
              </a:rPr>
              <a:t> support</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use</a:t>
            </a:r>
            <a:r>
              <a:rPr dirty="0" sz="1600" lang="en-US" spc="7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6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CSF1R </a:t>
            </a:r>
            <a:r>
              <a:rPr dirty="0" sz="1600" lang="en-US">
                <a:latin typeface="Tahoma" panose="020B0604030504040204" pitchFamily="34" charset="0"/>
                <a:ea typeface="Tahoma" panose="020B0604030504040204" pitchFamily="34" charset="0"/>
                <a:cs typeface="Tahoma" panose="020B0604030504040204" pitchFamily="34" charset="0"/>
              </a:rPr>
              <a:t>inhibitors</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43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err="1">
                <a:latin typeface="Tahoma" panose="020B0604030504040204" pitchFamily="34" charset="0"/>
                <a:ea typeface="Tahoma" panose="020B0604030504040204" pitchFamily="34" charset="0"/>
                <a:cs typeface="Tahoma" panose="020B0604030504040204" pitchFamily="34" charset="0"/>
              </a:rPr>
              <a:t>pexidartinib</a:t>
            </a:r>
            <a:r>
              <a:rPr dirty="0" sz="1600" lang="en-US" spc="4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3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43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symptomatic, </a:t>
            </a:r>
            <a:r>
              <a:rPr dirty="0" sz="1600" lang="en-US">
                <a:latin typeface="Tahoma" panose="020B0604030504040204" pitchFamily="34" charset="0"/>
                <a:ea typeface="Tahoma" panose="020B0604030504040204" pitchFamily="34" charset="0"/>
                <a:cs typeface="Tahoma" panose="020B0604030504040204" pitchFamily="34" charset="0"/>
              </a:rPr>
              <a:t>unresectable,</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1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relapsing</a:t>
            </a:r>
            <a:r>
              <a:rPr dirty="0" sz="1600" lang="en-US" spc="13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disease.</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pPr>
            <a:r>
              <a:rPr dirty="0" sz="1600" lang="en-US" spc="100">
                <a:latin typeface="Tahoma" panose="020B0604030504040204" pitchFamily="34" charset="0"/>
                <a:ea typeface="Tahoma" panose="020B0604030504040204" pitchFamily="34" charset="0"/>
                <a:cs typeface="Tahoma" panose="020B0604030504040204" pitchFamily="34" charset="0"/>
              </a:rPr>
              <a:t>We</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performed</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comprehensive</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evaluation</a:t>
            </a:r>
            <a:r>
              <a:rPr dirty="0" sz="1600" lang="en-US" spc="33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3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both</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conventional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emerging</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imaging</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modalities,</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including</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PET/CT,</a:t>
            </a:r>
            <a:r>
              <a:rPr dirty="0" sz="1600" lang="en-US" spc="11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angiography,</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CT </a:t>
            </a:r>
            <a:r>
              <a:rPr dirty="0" sz="1600" lang="en-US">
                <a:latin typeface="Tahoma" panose="020B0604030504040204" pitchFamily="34" charset="0"/>
                <a:ea typeface="Tahoma" panose="020B0604030504040204" pitchFamily="34" charset="0"/>
                <a:cs typeface="Tahoma" panose="020B0604030504040204" pitchFamily="34" charset="0"/>
              </a:rPr>
              <a:t>arthrography,</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2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ultrasonography,</a:t>
            </a:r>
            <a:r>
              <a:rPr dirty="0" sz="1600" lang="en-US" spc="23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which</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not</a:t>
            </a:r>
            <a:r>
              <a:rPr dirty="0" sz="1600" lang="en-US" spc="2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explicitly</a:t>
            </a:r>
            <a:r>
              <a:rPr dirty="0" sz="1600" lang="en-US" spc="22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detailed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55">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NCCN</a:t>
            </a:r>
            <a:r>
              <a:rPr dirty="0" sz="1600" lang="en-US" spc="4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guidelines</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but</a:t>
            </a:r>
            <a:r>
              <a:rPr dirty="0" sz="1600" lang="en-US" spc="47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may</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enhance</a:t>
            </a:r>
            <a:r>
              <a:rPr dirty="0" sz="1600" lang="en-US" spc="47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diagnostic</a:t>
            </a:r>
            <a:r>
              <a:rPr dirty="0" sz="1600" lang="en-US" spc="45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accuracy</a:t>
            </a:r>
            <a:r>
              <a:rPr dirty="0" sz="1600" lang="en-US" spc="45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in </a:t>
            </a:r>
            <a:r>
              <a:rPr dirty="0" sz="1600" lang="en-US" spc="60">
                <a:latin typeface="Tahoma" panose="020B0604030504040204" pitchFamily="34" charset="0"/>
                <a:ea typeface="Tahoma" panose="020B0604030504040204" pitchFamily="34" charset="0"/>
                <a:cs typeface="Tahoma" panose="020B0604030504040204" pitchFamily="34" charset="0"/>
              </a:rPr>
              <a:t>complex</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recurrent</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Additionally,</a:t>
            </a:r>
            <a:r>
              <a:rPr dirty="0" sz="1600" lang="en-US" spc="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our</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data</a:t>
            </a:r>
            <a:r>
              <a:rPr dirty="0" sz="1600" lang="en-US" spc="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highlight</a:t>
            </a:r>
            <a:r>
              <a:rPr dirty="0" sz="1600" lang="en-US" spc="75">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 </a:t>
            </a:r>
            <a:r>
              <a:rPr dirty="0" sz="1600" lang="en-US" spc="50">
                <a:latin typeface="Tahoma" panose="020B0604030504040204" pitchFamily="34" charset="0"/>
                <a:ea typeface="Tahoma" panose="020B0604030504040204" pitchFamily="34" charset="0"/>
                <a:cs typeface="Tahoma" panose="020B0604030504040204" pitchFamily="34" charset="0"/>
              </a:rPr>
              <a:t>importance</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combined</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surgical</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approaches</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(arthroscopic</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plus </a:t>
            </a:r>
            <a:r>
              <a:rPr dirty="0" sz="1600" lang="en-US" spc="60">
                <a:latin typeface="Tahoma" panose="020B0604030504040204" pitchFamily="34" charset="0"/>
                <a:ea typeface="Tahoma" panose="020B0604030504040204" pitchFamily="34" charset="0"/>
                <a:cs typeface="Tahoma" panose="020B0604030504040204" pitchFamily="34" charset="0"/>
              </a:rPr>
              <a:t>open</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techniques)</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reducing</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rates</a:t>
            </a:r>
            <a:r>
              <a:rPr dirty="0" sz="1600" lang="en-US" spc="3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diffuse</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an </a:t>
            </a:r>
            <a:r>
              <a:rPr dirty="0" sz="1600" lang="en-US" spc="50">
                <a:latin typeface="Tahoma" panose="020B0604030504040204" pitchFamily="34" charset="0"/>
                <a:ea typeface="Tahoma" panose="020B0604030504040204" pitchFamily="34" charset="0"/>
                <a:cs typeface="Tahoma" panose="020B0604030504040204" pitchFamily="34" charset="0"/>
              </a:rPr>
              <a:t>aspect</a:t>
            </a:r>
            <a:r>
              <a:rPr dirty="0" sz="1600" lang="en-US" spc="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only</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briefly </a:t>
            </a:r>
            <a:r>
              <a:rPr dirty="0" sz="1600" lang="en-US" spc="60">
                <a:latin typeface="Tahoma" panose="020B0604030504040204" pitchFamily="34" charset="0"/>
                <a:ea typeface="Tahoma" panose="020B0604030504040204" pitchFamily="34" charset="0"/>
                <a:cs typeface="Tahoma" panose="020B0604030504040204" pitchFamily="34" charset="0"/>
              </a:rPr>
              <a:t>touched</a:t>
            </a:r>
            <a:r>
              <a:rPr dirty="0" sz="1600" lang="en-US" spc="1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upon</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existing</a:t>
            </a:r>
            <a:r>
              <a:rPr dirty="0" sz="1600" lang="en-US" spc="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protocols.</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6350">
              <a:lnSpc>
                <a:spcPct val="110000"/>
              </a:lnSpc>
            </a:pPr>
            <a:r>
              <a:rPr dirty="0" sz="1600" lang="en-US" spc="100">
                <a:latin typeface="Tahoma" panose="020B0604030504040204" pitchFamily="34" charset="0"/>
                <a:ea typeface="Tahoma" panose="020B0604030504040204" pitchFamily="34" charset="0"/>
                <a:cs typeface="Tahoma" panose="020B0604030504040204" pitchFamily="34" charset="0"/>
              </a:rPr>
              <a:t>We</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also</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emphasize</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integration</a:t>
            </a:r>
            <a:r>
              <a:rPr dirty="0" sz="1600" lang="en-US" spc="12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12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adjuvant</a:t>
            </a:r>
            <a:r>
              <a:rPr dirty="0" sz="1600" lang="en-US" spc="1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3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systemic </a:t>
            </a:r>
            <a:r>
              <a:rPr dirty="0" sz="1600" lang="en-US">
                <a:latin typeface="Tahoma" panose="020B0604030504040204" pitchFamily="34" charset="0"/>
                <a:ea typeface="Tahoma" panose="020B0604030504040204" pitchFamily="34" charset="0"/>
                <a:cs typeface="Tahoma" panose="020B0604030504040204" pitchFamily="34" charset="0"/>
              </a:rPr>
              <a:t>therapies</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405">
                <a:latin typeface="Tahoma" panose="020B0604030504040204" pitchFamily="34" charset="0"/>
                <a:ea typeface="Tahoma" panose="020B0604030504040204" pitchFamily="34" charset="0"/>
                <a:cs typeface="Tahoma" panose="020B0604030504040204" pitchFamily="34" charset="0"/>
              </a:rPr>
              <a:t>  </a:t>
            </a:r>
            <a:r>
              <a:rPr dirty="0" sz="1600" lang="en-US" err="1">
                <a:latin typeface="Tahoma" panose="020B0604030504040204" pitchFamily="34" charset="0"/>
                <a:ea typeface="Tahoma" panose="020B0604030504040204" pitchFamily="34" charset="0"/>
                <a:cs typeface="Tahoma" panose="020B0604030504040204" pitchFamily="34" charset="0"/>
              </a:rPr>
              <a:t>radiosynoviorthesis</a:t>
            </a:r>
            <a:r>
              <a:rPr dirty="0" sz="1600" lang="en-US">
                <a:latin typeface="Tahoma" panose="020B0604030504040204" pitchFamily="34" charset="0"/>
                <a:ea typeface="Tahoma" panose="020B0604030504040204" pitchFamily="34" charset="0"/>
                <a:cs typeface="Tahoma" panose="020B0604030504040204" pitchFamily="34" charset="0"/>
              </a:rPr>
              <a:t>,</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biologic</a:t>
            </a:r>
            <a:r>
              <a:rPr dirty="0" sz="1600" lang="en-US" spc="4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agents</a:t>
            </a:r>
            <a:r>
              <a:rPr dirty="0" sz="1600" lang="en-US" spc="409">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(e.g., </a:t>
            </a:r>
            <a:r>
              <a:rPr dirty="0" sz="1600" lang="en-US">
                <a:latin typeface="Tahoma" panose="020B0604030504040204" pitchFamily="34" charset="0"/>
                <a:ea typeface="Tahoma" panose="020B0604030504040204" pitchFamily="34" charset="0"/>
                <a:cs typeface="Tahoma" panose="020B0604030504040204" pitchFamily="34" charset="0"/>
              </a:rPr>
              <a:t>infliximab,</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adalimumab),</a:t>
            </a:r>
            <a:r>
              <a:rPr dirty="0" sz="1600" lang="en-US" spc="48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ozone</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therapy</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4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selected</a:t>
            </a:r>
            <a:r>
              <a:rPr dirty="0" sz="1600" lang="en-US" spc="49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patients, </a:t>
            </a:r>
            <a:r>
              <a:rPr dirty="0" sz="1600" lang="en-US">
                <a:latin typeface="Tahoma" panose="020B0604030504040204" pitchFamily="34" charset="0"/>
                <a:ea typeface="Tahoma" panose="020B0604030504040204" pitchFamily="34" charset="0"/>
                <a:cs typeface="Tahoma" panose="020B0604030504040204" pitchFamily="34" charset="0"/>
              </a:rPr>
              <a:t>especially</a:t>
            </a:r>
            <a:r>
              <a:rPr dirty="0" sz="1600" lang="en-US" spc="3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a:t>
            </a:r>
            <a:r>
              <a:rPr dirty="0" sz="1600" lang="en-US" spc="3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recurrence</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45">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incomplete</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resection.</a:t>
            </a:r>
            <a:r>
              <a:rPr dirty="0" sz="1600" lang="en-US" spc="4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These </a:t>
            </a:r>
            <a:r>
              <a:rPr dirty="0" sz="1600" lang="en-US" spc="60">
                <a:latin typeface="Tahoma" panose="020B0604030504040204" pitchFamily="34" charset="0"/>
                <a:ea typeface="Tahoma" panose="020B0604030504040204" pitchFamily="34" charset="0"/>
                <a:cs typeface="Tahoma" panose="020B0604030504040204" pitchFamily="34" charset="0"/>
              </a:rPr>
              <a:t>treatment</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options,</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while</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not</a:t>
            </a:r>
            <a:r>
              <a:rPr dirty="0" sz="1600" lang="en-US" spc="355">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yet</a:t>
            </a:r>
            <a:r>
              <a:rPr dirty="0" sz="1600" lang="en-US" spc="3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uniformly</a:t>
            </a:r>
            <a:r>
              <a:rPr dirty="0" sz="1600" lang="en-US" spc="335">
                <a:latin typeface="Tahoma" panose="020B0604030504040204" pitchFamily="34" charset="0"/>
                <a:ea typeface="Tahoma" panose="020B0604030504040204" pitchFamily="34" charset="0"/>
                <a:cs typeface="Tahoma" panose="020B0604030504040204" pitchFamily="34" charset="0"/>
              </a:rPr>
              <a:t> </a:t>
            </a:r>
            <a:r>
              <a:rPr dirty="0" sz="1600" lang="en-US" spc="65">
                <a:latin typeface="Tahoma" panose="020B0604030504040204" pitchFamily="34" charset="0"/>
                <a:ea typeface="Tahoma" panose="020B0604030504040204" pitchFamily="34" charset="0"/>
                <a:cs typeface="Tahoma" panose="020B0604030504040204" pitchFamily="34" charset="0"/>
              </a:rPr>
              <a:t>recommended</a:t>
            </a:r>
            <a:r>
              <a:rPr dirty="0" sz="1600" lang="en-US" spc="3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34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 </a:t>
            </a:r>
            <a:r>
              <a:rPr dirty="0" sz="1600" lang="en-US">
                <a:latin typeface="Tahoma" panose="020B0604030504040204" pitchFamily="34" charset="0"/>
                <a:ea typeface="Tahoma" panose="020B0604030504040204" pitchFamily="34" charset="0"/>
                <a:cs typeface="Tahoma" panose="020B0604030504040204" pitchFamily="34" charset="0"/>
              </a:rPr>
              <a:t>guidelines,</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reflect</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evolving</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landscape</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of  </a:t>
            </a:r>
            <a:r>
              <a:rPr dirty="0" sz="1600" lang="en-US">
                <a:latin typeface="Tahoma" panose="020B0604030504040204" pitchFamily="34" charset="0"/>
                <a:ea typeface="Tahoma" panose="020B0604030504040204" pitchFamily="34" charset="0"/>
                <a:cs typeface="Tahoma" panose="020B0604030504040204" pitchFamily="34" charset="0"/>
              </a:rPr>
              <a:t>personalized</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30">
                <a:latin typeface="Tahoma" panose="020B0604030504040204" pitchFamily="34" charset="0"/>
                <a:ea typeface="Tahoma" panose="020B0604030504040204" pitchFamily="34" charset="0"/>
                <a:cs typeface="Tahoma" panose="020B0604030504040204" pitchFamily="34" charset="0"/>
              </a:rPr>
              <a:t>PVNS </a:t>
            </a:r>
            <a:r>
              <a:rPr dirty="0" sz="1600" lang="en-US" spc="35">
                <a:latin typeface="Tahoma" panose="020B0604030504040204" pitchFamily="34" charset="0"/>
                <a:ea typeface="Tahoma" panose="020B0604030504040204" pitchFamily="34" charset="0"/>
                <a:cs typeface="Tahoma" panose="020B0604030504040204" pitchFamily="34" charset="0"/>
              </a:rPr>
              <a:t>management.</a:t>
            </a:r>
            <a:endParaRPr dirty="0" sz="1600" lang="en-US">
              <a:latin typeface="Tahoma" panose="020B0604030504040204" pitchFamily="34" charset="0"/>
              <a:ea typeface="Tahoma" panose="020B0604030504040204" pitchFamily="34" charset="0"/>
              <a:cs typeface="Tahoma" panose="020B0604030504040204" pitchFamily="34" charset="0"/>
            </a:endParaRPr>
          </a:p>
          <a:p>
            <a:pPr algn="just" marL="12700" marR="5080">
              <a:lnSpc>
                <a:spcPct val="110000"/>
              </a:lnSpc>
            </a:pPr>
            <a:r>
              <a:rPr dirty="0" sz="1600" lang="en-US">
                <a:latin typeface="Tahoma" panose="020B0604030504040204" pitchFamily="34" charset="0"/>
                <a:ea typeface="Tahoma" panose="020B0604030504040204" pitchFamily="34" charset="0"/>
                <a:cs typeface="Tahoma" panose="020B0604030504040204" pitchFamily="34" charset="0"/>
              </a:rPr>
              <a:t>Finally,</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we</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have</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70">
                <a:latin typeface="Tahoma" panose="020B0604030504040204" pitchFamily="34" charset="0"/>
                <a:ea typeface="Tahoma" panose="020B0604030504040204" pitchFamily="34" charset="0"/>
                <a:cs typeface="Tahoma" panose="020B0604030504040204" pitchFamily="34" charset="0"/>
              </a:rPr>
              <a:t>shown</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the</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rare</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10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underrepresented</a:t>
            </a:r>
            <a:r>
              <a:rPr dirty="0" sz="1600" lang="en-US" spc="11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clinical </a:t>
            </a:r>
            <a:r>
              <a:rPr dirty="0" sz="1600" lang="en-US">
                <a:latin typeface="Tahoma" panose="020B0604030504040204" pitchFamily="34" charset="0"/>
                <a:ea typeface="Tahoma" panose="020B0604030504040204" pitchFamily="34" charset="0"/>
                <a:cs typeface="Tahoma" panose="020B0604030504040204" pitchFamily="34" charset="0"/>
              </a:rPr>
              <a:t>scenarios,</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such</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as</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pediatric</a:t>
            </a:r>
            <a:r>
              <a:rPr dirty="0" sz="1600" lang="en-US" spc="16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PVNS,</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cases</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following</a:t>
            </a:r>
            <a:r>
              <a:rPr dirty="0" sz="1600" lang="en-US" spc="1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total</a:t>
            </a:r>
            <a:r>
              <a:rPr dirty="0" sz="1600" lang="en-US" spc="155">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knee </a:t>
            </a:r>
            <a:r>
              <a:rPr dirty="0" sz="1600" lang="en-US">
                <a:latin typeface="Tahoma" panose="020B0604030504040204" pitchFamily="34" charset="0"/>
                <a:ea typeface="Tahoma" panose="020B0604030504040204" pitchFamily="34" charset="0"/>
                <a:cs typeface="Tahoma" panose="020B0604030504040204" pitchFamily="34" charset="0"/>
              </a:rPr>
              <a:t>arthroplasty,</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45">
                <a:latin typeface="Tahoma" panose="020B0604030504040204" pitchFamily="34" charset="0"/>
                <a:ea typeface="Tahoma" panose="020B0604030504040204" pitchFamily="34" charset="0"/>
                <a:cs typeface="Tahoma" panose="020B0604030504040204" pitchFamily="34" charset="0"/>
              </a:rPr>
              <a:t>multifocal</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or</a:t>
            </a:r>
            <a:r>
              <a:rPr dirty="0" sz="1600" lang="en-US" spc="24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extra-articular</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forms.</a:t>
            </a:r>
            <a:r>
              <a:rPr dirty="0" sz="1600" lang="en-US" spc="250">
                <a:latin typeface="Tahoma" panose="020B0604030504040204" pitchFamily="34" charset="0"/>
                <a:ea typeface="Tahoma" panose="020B0604030504040204" pitchFamily="34" charset="0"/>
                <a:cs typeface="Tahoma" panose="020B0604030504040204" pitchFamily="34" charset="0"/>
              </a:rPr>
              <a:t>   </a:t>
            </a:r>
            <a:r>
              <a:rPr dirty="0" sz="1600" lang="en-US" spc="25">
                <a:latin typeface="Tahoma" panose="020B0604030504040204" pitchFamily="34" charset="0"/>
                <a:ea typeface="Tahoma" panose="020B0604030504040204" pitchFamily="34" charset="0"/>
                <a:cs typeface="Tahoma" panose="020B0604030504040204" pitchFamily="34" charset="0"/>
              </a:rPr>
              <a:t>By </a:t>
            </a:r>
            <a:r>
              <a:rPr dirty="0" sz="1600" lang="en-US">
                <a:latin typeface="Tahoma" panose="020B0604030504040204" pitchFamily="34" charset="0"/>
                <a:ea typeface="Tahoma" panose="020B0604030504040204" pitchFamily="34" charset="0"/>
                <a:cs typeface="Tahoma" panose="020B0604030504040204" pitchFamily="34" charset="0"/>
              </a:rPr>
              <a:t>systematically</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including</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50">
                <a:latin typeface="Tahoma" panose="020B0604030504040204" pitchFamily="34" charset="0"/>
                <a:ea typeface="Tahoma" panose="020B0604030504040204" pitchFamily="34" charset="0"/>
                <a:cs typeface="Tahoma" panose="020B0604030504040204" pitchFamily="34" charset="0"/>
              </a:rPr>
              <a:t>these</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variants,</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90">
                <a:latin typeface="Tahoma" panose="020B0604030504040204" pitchFamily="34" charset="0"/>
                <a:ea typeface="Tahoma" panose="020B0604030504040204" pitchFamily="34" charset="0"/>
                <a:cs typeface="Tahoma" panose="020B0604030504040204" pitchFamily="34" charset="0"/>
              </a:rPr>
              <a:t>we</a:t>
            </a:r>
            <a:r>
              <a:rPr dirty="0" sz="1600" lang="en-US" spc="9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aim</a:t>
            </a:r>
            <a:r>
              <a:rPr dirty="0" sz="1600" lang="en-US" spc="100">
                <a:latin typeface="Tahoma" panose="020B0604030504040204" pitchFamily="34" charset="0"/>
                <a:ea typeface="Tahoma" panose="020B0604030504040204" pitchFamily="34" charset="0"/>
                <a:cs typeface="Tahoma" panose="020B0604030504040204" pitchFamily="34" charset="0"/>
              </a:rPr>
              <a:t>  </a:t>
            </a:r>
            <a:r>
              <a:rPr dirty="0" sz="1600" lang="en-US" spc="85">
                <a:latin typeface="Tahoma" panose="020B0604030504040204" pitchFamily="34" charset="0"/>
                <a:ea typeface="Tahoma" panose="020B0604030504040204" pitchFamily="34" charset="0"/>
                <a:cs typeface="Tahoma" panose="020B0604030504040204" pitchFamily="34" charset="0"/>
              </a:rPr>
              <a:t>to</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broaden</a:t>
            </a:r>
            <a:r>
              <a:rPr dirty="0" sz="1600" lang="en-US" spc="90">
                <a:latin typeface="Tahoma" panose="020B0604030504040204" pitchFamily="34" charset="0"/>
                <a:ea typeface="Tahoma" panose="020B0604030504040204" pitchFamily="34" charset="0"/>
                <a:cs typeface="Tahoma" panose="020B0604030504040204" pitchFamily="34" charset="0"/>
              </a:rPr>
              <a:t>  </a:t>
            </a:r>
            <a:r>
              <a:rPr dirty="0" sz="1600" lang="en-US" spc="35">
                <a:latin typeface="Tahoma" panose="020B0604030504040204" pitchFamily="34" charset="0"/>
                <a:ea typeface="Tahoma" panose="020B0604030504040204" pitchFamily="34" charset="0"/>
                <a:cs typeface="Tahoma" panose="020B0604030504040204" pitchFamily="34" charset="0"/>
              </a:rPr>
              <a:t>the </a:t>
            </a:r>
            <a:r>
              <a:rPr dirty="0" sz="1600" lang="en-US">
                <a:latin typeface="Tahoma" panose="020B0604030504040204" pitchFamily="34" charset="0"/>
                <a:ea typeface="Tahoma" panose="020B0604030504040204" pitchFamily="34" charset="0"/>
                <a:cs typeface="Tahoma" panose="020B0604030504040204" pitchFamily="34" charset="0"/>
              </a:rPr>
              <a:t>clinical</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awareness</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and</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guide</a:t>
            </a:r>
            <a:r>
              <a:rPr dirty="0" sz="1600" lang="en-US" spc="21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tailored</a:t>
            </a:r>
            <a:r>
              <a:rPr dirty="0" sz="1600" lang="en-US" spc="210">
                <a:latin typeface="Tahoma" panose="020B0604030504040204" pitchFamily="34" charset="0"/>
                <a:ea typeface="Tahoma" panose="020B0604030504040204" pitchFamily="34" charset="0"/>
                <a:cs typeface="Tahoma" panose="020B0604030504040204" pitchFamily="34" charset="0"/>
              </a:rPr>
              <a:t> </a:t>
            </a:r>
            <a:r>
              <a:rPr dirty="0" sz="1600" lang="en-US" spc="60">
                <a:latin typeface="Tahoma" panose="020B0604030504040204" pitchFamily="34" charset="0"/>
                <a:ea typeface="Tahoma" panose="020B0604030504040204" pitchFamily="34" charset="0"/>
                <a:cs typeface="Tahoma" panose="020B0604030504040204" pitchFamily="34" charset="0"/>
              </a:rPr>
              <a:t>management</a:t>
            </a:r>
            <a:r>
              <a:rPr dirty="0" sz="1600" lang="en-US" spc="22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strategies</a:t>
            </a:r>
            <a:r>
              <a:rPr dirty="0" sz="1600" lang="en-US" spc="204">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20">
                <a:latin typeface="Tahoma" panose="020B0604030504040204" pitchFamily="34" charset="0"/>
                <a:ea typeface="Tahoma" panose="020B0604030504040204" pitchFamily="34" charset="0"/>
                <a:cs typeface="Tahoma" panose="020B0604030504040204" pitchFamily="34" charset="0"/>
              </a:rPr>
              <a:t>less </a:t>
            </a:r>
            <a:r>
              <a:rPr dirty="0" sz="1600" lang="en-US">
                <a:latin typeface="Tahoma" panose="020B0604030504040204" pitchFamily="34" charset="0"/>
                <a:ea typeface="Tahoma" panose="020B0604030504040204" pitchFamily="34" charset="0"/>
                <a:cs typeface="Tahoma" panose="020B0604030504040204" pitchFamily="34" charset="0"/>
              </a:rPr>
              <a:t>typical</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presentations,</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55">
                <a:latin typeface="Tahoma" panose="020B0604030504040204" pitchFamily="34" charset="0"/>
                <a:ea typeface="Tahoma" panose="020B0604030504040204" pitchFamily="34" charset="0"/>
                <a:cs typeface="Tahoma" panose="020B0604030504040204" pitchFamily="34" charset="0"/>
              </a:rPr>
              <a:t>which</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are</a:t>
            </a:r>
            <a:r>
              <a:rPr dirty="0" sz="1600" lang="en-US" spc="190">
                <a:latin typeface="Tahoma" panose="020B0604030504040204" pitchFamily="34" charset="0"/>
                <a:ea typeface="Tahoma" panose="020B0604030504040204" pitchFamily="34" charset="0"/>
                <a:cs typeface="Tahoma" panose="020B0604030504040204" pitchFamily="34" charset="0"/>
              </a:rPr>
              <a:t>  </a:t>
            </a:r>
            <a:r>
              <a:rPr dirty="0" sz="1600" lang="en-US" spc="75">
                <a:latin typeface="Tahoma" panose="020B0604030504040204" pitchFamily="34" charset="0"/>
                <a:ea typeface="Tahoma" panose="020B0604030504040204" pitchFamily="34" charset="0"/>
                <a:cs typeface="Tahoma" panose="020B0604030504040204" pitchFamily="34" charset="0"/>
              </a:rPr>
              <a:t>often</a:t>
            </a:r>
            <a:r>
              <a:rPr dirty="0" sz="1600" lang="en-US" spc="180">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overlooked</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a:latin typeface="Tahoma" panose="020B0604030504040204" pitchFamily="34" charset="0"/>
                <a:ea typeface="Tahoma" panose="020B0604030504040204" pitchFamily="34" charset="0"/>
                <a:cs typeface="Tahoma" panose="020B0604030504040204" pitchFamily="34" charset="0"/>
              </a:rPr>
              <a:t>in</a:t>
            </a:r>
            <a:r>
              <a:rPr dirty="0" sz="1600" lang="en-US" spc="185">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standard </a:t>
            </a:r>
            <a:r>
              <a:rPr dirty="0" sz="1600" lang="en-US">
                <a:latin typeface="Tahoma" panose="020B0604030504040204" pitchFamily="34" charset="0"/>
                <a:ea typeface="Tahoma" panose="020B0604030504040204" pitchFamily="34" charset="0"/>
                <a:cs typeface="Tahoma" panose="020B0604030504040204" pitchFamily="34" charset="0"/>
              </a:rPr>
              <a:t>guideline</a:t>
            </a:r>
            <a:r>
              <a:rPr dirty="0" sz="1600" lang="en-US" spc="200">
                <a:latin typeface="Tahoma" panose="020B0604030504040204" pitchFamily="34" charset="0"/>
                <a:ea typeface="Tahoma" panose="020B0604030504040204" pitchFamily="34" charset="0"/>
                <a:cs typeface="Tahoma" panose="020B0604030504040204" pitchFamily="34" charset="0"/>
              </a:rPr>
              <a:t> </a:t>
            </a:r>
            <a:r>
              <a:rPr dirty="0" sz="1600" lang="en-US" spc="-10">
                <a:latin typeface="Tahoma" panose="020B0604030504040204" pitchFamily="34" charset="0"/>
                <a:ea typeface="Tahoma" panose="020B0604030504040204" pitchFamily="34" charset="0"/>
                <a:cs typeface="Tahoma" panose="020B0604030504040204" pitchFamily="34" charset="0"/>
              </a:rPr>
              <a:t>frameworks.</a:t>
            </a:r>
            <a:endParaRPr dirty="0" sz="1600" lang="en-IN">
              <a:latin typeface="Tahoma" panose="020B0604030504040204" pitchFamily="34" charset="0"/>
              <a:ea typeface="Tahoma" panose="020B0604030504040204" pitchFamily="34" charset="0"/>
              <a:cs typeface="Tahoma" panose="020B0604030504040204" pitchFamily="34" charset="0"/>
            </a:endParaRPr>
          </a:p>
          <a:p>
            <a:endParaRPr dirty="0" sz="1400"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10" name="Content Placeholder 2"/>
          <p:cNvSpPr>
            <a:spLocks noGrp="1"/>
          </p:cNvSpPr>
          <p:nvPr>
            <p:ph idx="1"/>
          </p:nvPr>
        </p:nvSpPr>
        <p:spPr>
          <a:xfrm>
            <a:off x="0" y="1298864"/>
            <a:ext cx="12115800" cy="5559136"/>
          </a:xfrm>
        </p:spPr>
        <p:txBody>
          <a:bodyPr/>
          <a:p>
            <a:r>
              <a:rPr b="1" dirty="0" sz="1800" lang="en-US">
                <a:latin typeface="Tahoma" panose="020B0604030504040204" pitchFamily="34" charset="0"/>
                <a:ea typeface="Tahoma" panose="020B0604030504040204" pitchFamily="34" charset="0"/>
                <a:cs typeface="Tahoma" panose="020B0604030504040204" pitchFamily="34" charset="0"/>
              </a:rPr>
              <a:t>Conclusions</a:t>
            </a:r>
          </a:p>
          <a:p>
            <a:r>
              <a:rPr dirty="0" sz="1800" lang="en-US">
                <a:latin typeface="Tahoma" panose="020B0604030504040204" pitchFamily="34" charset="0"/>
                <a:ea typeface="Tahoma" panose="020B0604030504040204" pitchFamily="34" charset="0"/>
                <a:cs typeface="Tahoma" panose="020B0604030504040204" pitchFamily="34" charset="0"/>
              </a:rPr>
              <a:t>Pigmented villonodular synovitis (PVNS) of the knee is a rare but potentially aggressive condition that necessitates a multidisciplinary approach. Accurate and timely diagnosis, comprehensive preoperative imaging, and complete surgical excision are essential to minimize the risk of recurrence and preserve joint function. In cases of diffuse or recurrent disease, a combined open-arthroscopic synovectomy should be considered to im-prove surgical access and outcomes. Furthermore, in patients with particularly high risk of relapse or incomplete resection, adjunctive modalities such as </a:t>
            </a:r>
            <a:r>
              <a:rPr dirty="0" sz="1800" lang="en-US" err="1">
                <a:latin typeface="Tahoma" panose="020B0604030504040204" pitchFamily="34" charset="0"/>
                <a:ea typeface="Tahoma" panose="020B0604030504040204" pitchFamily="34" charset="0"/>
                <a:cs typeface="Tahoma" panose="020B0604030504040204" pitchFamily="34" charset="0"/>
              </a:rPr>
              <a:t>radiosynoviorthesis</a:t>
            </a:r>
            <a:r>
              <a:rPr dirty="0" sz="1800" lang="en-US">
                <a:latin typeface="Tahoma" panose="020B0604030504040204" pitchFamily="34" charset="0"/>
                <a:ea typeface="Tahoma" panose="020B0604030504040204" pitchFamily="34" charset="0"/>
                <a:cs typeface="Tahoma" panose="020B0604030504040204" pitchFamily="34" charset="0"/>
              </a:rPr>
              <a:t> or systemic therapies targeting the CSF1–CSF1R axis may be valuable options within an individualized treatment plan. This narrative review is subject to several limitations, primarily due to the nature of the included studies. Most of the literature analyzed consists of case reports or small case series, which inherently carry a low level of evidence and a high degree of heterogeneity. As such, the generalizability of the findings remains limited, and definitive conclusions regarding best practices must be interpreted with caution.</a:t>
            </a:r>
          </a:p>
          <a:p>
            <a:r>
              <a:rPr dirty="0" sz="1800" lang="en-US">
                <a:latin typeface="Tahoma" panose="020B0604030504040204" pitchFamily="34" charset="0"/>
                <a:ea typeface="Tahoma" panose="020B0604030504040204" pitchFamily="34" charset="0"/>
                <a:cs typeface="Tahoma" panose="020B0604030504040204" pitchFamily="34" charset="0"/>
              </a:rPr>
              <a:t>Future research should focus on high-quality, multicenter, prospective studies with standardized diagnostic and treatment protocols. Comparative analyses of surgical approaches, long-term follow-up data, and the evaluation of adjuvant and systemic therapies will be crucial to establish evidence-based management algorithms and optimize patient outcomes.</a:t>
            </a:r>
            <a:endParaRPr dirty="0" sz="1800" lang="en-IN">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motorola edge 50 fusion</dc:creator>
  <cp:lastModifiedBy>Anusha Kesarla</cp:lastModifiedBy>
  <dcterms:created xsi:type="dcterms:W3CDTF">2026-02-16T06:25:43Z</dcterms:created>
  <dcterms:modified xsi:type="dcterms:W3CDTF">2026-02-16T06:25:43Z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5759d5e64bcb4b1c8a090d70b178e88b</vt:lpwstr>
  </property>
</Properties>
</file>