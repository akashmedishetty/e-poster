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sldIdLst>
    <p:sldId id="256" r:id="rId3"/>
  </p:sldIdLst>
  <p:sldSz cx="32918400" cy="438912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0EBB9BF-81C3-400E-9530-667D9EF39D8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0EBB9BF-81C3-400E-9530-667D9EF39D8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endParaRPr lang="en-US"/>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endParaRPr lang="en-US"/>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0EBB9BF-81C3-400E-9530-667D9EF39D8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EBB9BF-81C3-400E-9530-667D9EF39D8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BB9BF-81C3-400E-9530-667D9EF39D8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0EBB9BF-81C3-400E-9530-667D9EF39D8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0EBB9BF-81C3-400E-9530-667D9EF39D8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0EBB9BF-81C3-400E-9530-667D9EF39D8B}" type="datetimeFigureOut">
              <a:rPr lang="en-IN" smtClean="0"/>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0884481-57DA-4ECD-BB2B-B1F153A8CF8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tags" Target="../tags/tag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5" name="Google Shape;125;p1"/>
          <p:cNvSpPr/>
          <p:nvPr/>
        </p:nvSpPr>
        <p:spPr>
          <a:xfrm>
            <a:off x="0" y="0"/>
            <a:ext cx="32862600" cy="6861000"/>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6" name="Google Shape;126;p1"/>
          <p:cNvSpPr/>
          <p:nvPr/>
        </p:nvSpPr>
        <p:spPr>
          <a:xfrm>
            <a:off x="0" y="556590"/>
            <a:ext cx="5608347" cy="5408602"/>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1"/>
            <a:stretch>
              <a:fillRect t="-9939" r="-4889" b="-108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7" name="Google Shape;127;p1"/>
          <p:cNvPicPr preferRelativeResize="0"/>
          <p:nvPr/>
        </p:nvPicPr>
        <p:blipFill rotWithShape="1">
          <a:blip r:embed="rId2"/>
          <a:srcRect/>
          <a:stretch>
            <a:fillRect/>
          </a:stretch>
        </p:blipFill>
        <p:spPr>
          <a:xfrm>
            <a:off x="25640458" y="561105"/>
            <a:ext cx="3578087" cy="2025555"/>
          </a:xfrm>
          <a:prstGeom prst="rect">
            <a:avLst/>
          </a:prstGeom>
          <a:noFill/>
          <a:ln>
            <a:noFill/>
          </a:ln>
        </p:spPr>
      </p:pic>
      <p:pic>
        <p:nvPicPr>
          <p:cNvPr id="128" name="Google Shape;128;p1"/>
          <p:cNvPicPr preferRelativeResize="0"/>
          <p:nvPr/>
        </p:nvPicPr>
        <p:blipFill rotWithShape="1">
          <a:blip r:embed="rId3"/>
          <a:srcRect/>
          <a:stretch>
            <a:fillRect/>
          </a:stretch>
        </p:blipFill>
        <p:spPr>
          <a:xfrm>
            <a:off x="26318930" y="2213789"/>
            <a:ext cx="2362530" cy="2867425"/>
          </a:xfrm>
          <a:prstGeom prst="rect">
            <a:avLst/>
          </a:prstGeom>
          <a:noFill/>
          <a:ln>
            <a:noFill/>
          </a:ln>
        </p:spPr>
      </p:pic>
      <p:pic>
        <p:nvPicPr>
          <p:cNvPr id="129" name="Google Shape;129;p1"/>
          <p:cNvPicPr preferRelativeResize="0"/>
          <p:nvPr/>
        </p:nvPicPr>
        <p:blipFill rotWithShape="1">
          <a:blip r:embed="rId4"/>
          <a:srcRect/>
          <a:stretch>
            <a:fillRect/>
          </a:stretch>
        </p:blipFill>
        <p:spPr>
          <a:xfrm>
            <a:off x="28790931" y="505651"/>
            <a:ext cx="3992097" cy="4818880"/>
          </a:xfrm>
          <a:prstGeom prst="rect">
            <a:avLst/>
          </a:prstGeom>
          <a:noFill/>
          <a:ln>
            <a:noFill/>
          </a:ln>
        </p:spPr>
      </p:pic>
      <p:sp>
        <p:nvSpPr>
          <p:cNvPr id="130" name="Google Shape;130;p1"/>
          <p:cNvSpPr txBox="1"/>
          <p:nvPr/>
        </p:nvSpPr>
        <p:spPr>
          <a:xfrm>
            <a:off x="5373703" y="505650"/>
            <a:ext cx="20382000" cy="45218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panose="020B0604020202020204"/>
              <a:buNone/>
            </a:pPr>
            <a:r>
              <a:rPr lang="en-US" altLang="en-US" sz="7200" dirty="0">
                <a:ln w="0"/>
                <a:solidFill>
                  <a:schemeClr val="bg1"/>
                </a:solidFill>
                <a:effectLst>
                  <a:outerShdw blurRad="38100" dist="19050" dir="2700000" algn="tl" rotWithShape="0">
                    <a:schemeClr val="dk1">
                      <a:alpha val="40000"/>
                    </a:schemeClr>
                  </a:outerShdw>
                </a:effectLst>
                <a:sym typeface="+mn-ea"/>
              </a:rPr>
              <a:t>EFFECTIVENESS OF BISPHOSPHONATE IN FUNCTIONAL OUTCOME OF AVASCULAR NECROSIS OF HEAD OF FEMUR</a:t>
            </a:r>
            <a:endParaRPr lang="en-US" altLang="en-US" sz="7200" b="0" cap="none" spc="0" dirty="0">
              <a:ln w="0"/>
              <a:solidFill>
                <a:schemeClr val="bg1"/>
              </a:solidFill>
              <a:effectLst>
                <a:outerShdw blurRad="38100" dist="19050" dir="2700000" algn="tl" rotWithShape="0">
                  <a:schemeClr val="dk1">
                    <a:alpha val="40000"/>
                  </a:schemeClr>
                </a:outerShdw>
              </a:effectLst>
            </a:endParaRPr>
          </a:p>
          <a:p>
            <a:pPr marL="0" marR="0" lvl="0" indent="0" algn="l" rtl="0">
              <a:spcBef>
                <a:spcPts val="0"/>
              </a:spcBef>
              <a:spcAft>
                <a:spcPts val="0"/>
              </a:spcAft>
              <a:buClr>
                <a:schemeClr val="lt1"/>
              </a:buClr>
              <a:buSzPts val="1800"/>
              <a:buFont typeface="Arial" panose="020B0604020202020204"/>
              <a:buNone/>
            </a:pPr>
            <a:endParaRPr lang="en-US" altLang="en-US" sz="7200" b="0" cap="none" spc="0" dirty="0">
              <a:ln w="0"/>
              <a:solidFill>
                <a:schemeClr val="bg1"/>
              </a:solidFill>
              <a:effectLst>
                <a:outerShdw blurRad="38100" dist="19050" dir="2700000" algn="tl" rotWithShape="0">
                  <a:schemeClr val="dk1">
                    <a:alpha val="40000"/>
                  </a:schemeClr>
                </a:outerShdw>
              </a:effectLst>
            </a:endParaRPr>
          </a:p>
        </p:txBody>
      </p:sp>
      <p:sp>
        <p:nvSpPr>
          <p:cNvPr id="131" name="Google Shape;131;p1"/>
          <p:cNvSpPr txBox="1"/>
          <p:nvPr/>
        </p:nvSpPr>
        <p:spPr>
          <a:xfrm>
            <a:off x="5478482" y="4135318"/>
            <a:ext cx="21951000" cy="10750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600"/>
              <a:buFont typeface="Arial" panose="020B0604020202020204"/>
              <a:buNone/>
            </a:pPr>
            <a:r>
              <a:rPr lang="en-US" sz="6400" b="1" i="0" u="none" strike="noStrike" cap="none">
                <a:solidFill>
                  <a:schemeClr val="lt1"/>
                </a:solidFill>
                <a:latin typeface="Arial" panose="020B0604020202020204"/>
                <a:ea typeface="Arial" panose="020B0604020202020204"/>
                <a:cs typeface="Arial" panose="020B0604020202020204"/>
                <a:sym typeface="Arial" panose="020B0604020202020204"/>
              </a:rPr>
              <a:t>AUTHOR : Dr. JEEVAN VALLURU -POSTGRDUATE</a:t>
            </a:r>
            <a:endParaRPr sz="6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2" name="Google Shape;132;p1"/>
          <p:cNvSpPr txBox="1"/>
          <p:nvPr/>
        </p:nvSpPr>
        <p:spPr>
          <a:xfrm>
            <a:off x="5363914" y="5333050"/>
            <a:ext cx="21095700" cy="9207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chemeClr val="lt1"/>
                </a:solidFill>
                <a:latin typeface="Arial" panose="020B0604020202020204"/>
                <a:ea typeface="Arial" panose="020B0604020202020204"/>
                <a:cs typeface="Arial" panose="020B0604020202020204"/>
                <a:sym typeface="Arial" panose="020B0604020202020204"/>
              </a:rPr>
              <a:t>CO-AUTHORS: Dr. V NAGESWARA RAO-PROF AND HOD</a:t>
            </a:r>
            <a:endParaRPr lang="en-US" sz="5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3" name="Google Shape;133;p1"/>
          <p:cNvSpPr/>
          <p:nvPr/>
        </p:nvSpPr>
        <p:spPr>
          <a:xfrm>
            <a:off x="-2" y="6912044"/>
            <a:ext cx="10706100" cy="1103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1" i="0" u="none" strike="noStrike" cap="none">
                <a:solidFill>
                  <a:schemeClr val="dk1"/>
                </a:solidFill>
                <a:latin typeface="Arial" panose="020B0604020202020204"/>
                <a:ea typeface="Arial" panose="020B0604020202020204"/>
                <a:cs typeface="Arial" panose="020B0604020202020204"/>
                <a:sym typeface="Arial" panose="020B0604020202020204"/>
              </a:rPr>
              <a:t>ABSTRACT</a:t>
            </a: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2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4" name="Google Shape;134;p1"/>
          <p:cNvSpPr txBox="1"/>
          <p:nvPr/>
        </p:nvSpPr>
        <p:spPr>
          <a:xfrm>
            <a:off x="-102870" y="8150860"/>
            <a:ext cx="10808970" cy="1100645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r>
              <a:rPr lang="en-US" altLang="en-US" sz="6000">
                <a:latin typeface="Calibri" panose="020F0502020204030204" charset="0"/>
                <a:cs typeface="Calibri" panose="020F0502020204030204" charset="0"/>
                <a:sym typeface="+mn-ea"/>
              </a:rPr>
              <a:t>Avascular necrosis (AVN) of the femoral head is a severe illness marked by the gradual death of bone tissue resulting from impaired blood flow.our aim in this study is to </a:t>
            </a:r>
            <a:r>
              <a:rPr lang="en-US" altLang="en-US" sz="6000">
                <a:latin typeface="Calibri" panose="020F0502020204030204" charset="0"/>
                <a:cs typeface="Calibri" panose="020F0502020204030204" charset="0"/>
                <a:sym typeface="+mn-ea"/>
              </a:rPr>
              <a:t>determine the improvement in hip joint pain, function before and after </a:t>
            </a:r>
            <a:endParaRPr lang="en-US" altLang="en-US" sz="6000">
              <a:solidFill>
                <a:schemeClr val="tx1"/>
              </a:solidFill>
              <a:latin typeface="Calibri" panose="020F0502020204030204" charset="0"/>
              <a:cs typeface="Calibri" panose="020F0502020204030204" charset="0"/>
            </a:endParaRPr>
          </a:p>
          <a:p>
            <a:pPr algn="l"/>
            <a:r>
              <a:rPr lang="en-US" altLang="en-US" sz="6000">
                <a:latin typeface="Calibri" panose="020F0502020204030204" charset="0"/>
                <a:cs typeface="Calibri" panose="020F0502020204030204" charset="0"/>
                <a:sym typeface="+mn-ea"/>
              </a:rPr>
              <a:t>bisphosphonate therapy in AVN </a:t>
            </a:r>
            <a:endParaRPr lang="en-US" sz="6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5" name="Google Shape;135;p1"/>
          <p:cNvSpPr/>
          <p:nvPr/>
        </p:nvSpPr>
        <p:spPr>
          <a:xfrm>
            <a:off x="10706099" y="6912044"/>
            <a:ext cx="12077700" cy="1103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6000" b="1" i="0" u="none" strike="noStrike" cap="none">
                <a:solidFill>
                  <a:schemeClr val="dk1"/>
                </a:solidFill>
                <a:latin typeface="Arial" panose="020B0604020202020204"/>
                <a:ea typeface="Arial" panose="020B0604020202020204"/>
                <a:cs typeface="Arial" panose="020B0604020202020204"/>
                <a:sym typeface="Arial" panose="020B0604020202020204"/>
              </a:rPr>
              <a:t>MATERIALS AND METHODS</a:t>
            </a:r>
            <a:endParaRPr lang="en-US" sz="6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6" name="Google Shape;136;p1"/>
          <p:cNvSpPr txBox="1"/>
          <p:nvPr/>
        </p:nvSpPr>
        <p:spPr>
          <a:xfrm>
            <a:off x="10706100" y="8066405"/>
            <a:ext cx="12077700" cy="121996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r>
              <a:rPr lang="en-US" altLang="en-US" sz="5400">
                <a:sym typeface="+mn-ea"/>
              </a:rPr>
              <a:t>The comparison of outcome is done before and after treatment with </a:t>
            </a:r>
            <a:r>
              <a:rPr lang="en-US" altLang="en-US" sz="5400" b="1">
                <a:sym typeface="+mn-ea"/>
              </a:rPr>
              <a:t>TAB. ALENDRONATE70mg weekly once for 1 year .</a:t>
            </a:r>
            <a:r>
              <a:rPr lang="en-US" altLang="en-US" sz="5400">
                <a:sym typeface="+mn-ea"/>
              </a:rPr>
              <a:t>outcome measured in term of clinically-Harris hip score(HHS),visual analogue score(VAS) and radiologically-FICAT stage,location of lesion.58 patients who was diagnosed with AVN of head of femur -FICAT ARLET stage 1,2A,2B-early stages were taken into study for period of 12 months</a:t>
            </a:r>
            <a:endParaRPr lang="en-US" sz="5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8" name="Google Shape;138;p1"/>
          <p:cNvSpPr/>
          <p:nvPr/>
        </p:nvSpPr>
        <p:spPr>
          <a:xfrm>
            <a:off x="-4445" y="18273395"/>
            <a:ext cx="10710545" cy="119888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6000" b="1" i="0" u="none" strike="noStrike" cap="none">
                <a:solidFill>
                  <a:schemeClr val="dk1"/>
                </a:solidFill>
                <a:latin typeface="Arial" panose="020B0604020202020204"/>
                <a:ea typeface="Arial" panose="020B0604020202020204"/>
                <a:cs typeface="Arial" panose="020B0604020202020204"/>
                <a:sym typeface="Arial" panose="020B0604020202020204"/>
              </a:rPr>
              <a:t>INTRODUCTION</a:t>
            </a:r>
            <a:endParaRPr lang="en-US" sz="6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9" name="Google Shape;139;p1"/>
          <p:cNvSpPr txBox="1"/>
          <p:nvPr/>
        </p:nvSpPr>
        <p:spPr>
          <a:xfrm>
            <a:off x="-45085" y="19450050"/>
            <a:ext cx="10751185" cy="1250823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endParaRPr lang="en-US" altLang="en-US" sz="4000">
              <a:solidFill>
                <a:schemeClr val="tx1"/>
              </a:solidFill>
            </a:endParaRPr>
          </a:p>
          <a:p>
            <a:pPr algn="l"/>
            <a:r>
              <a:rPr lang="en-US" altLang="en-US" sz="5400">
                <a:sym typeface="+mn-ea"/>
              </a:rPr>
              <a:t>Avascular necrosis (AVN) frequently results in femoral head collapse and eventual osteoarthritis, significantly impairing patients' mobility and quality of life...Bisphosphonates, primarily used in osteoporosis and other bone metabolic disorders, function by inhibiting osteoclast-mediated bone resorption. Their role in AVN is hypothesized to prevent femoral head collapse by reducing bone turnover, stabilizing the necrotic bone, and potentially promoting repair mechanisms</a:t>
            </a:r>
            <a:endParaRPr lang="en-US" sz="5400">
              <a:solidFill>
                <a:schemeClr val="dk1"/>
              </a:solidFill>
              <a:latin typeface="Arial" panose="020B0604020202020204"/>
              <a:ea typeface="Arial" panose="020B0604020202020204"/>
              <a:cs typeface="Arial" panose="020B0604020202020204"/>
              <a:sym typeface="Arial" panose="020B0604020202020204"/>
            </a:endParaRPr>
          </a:p>
        </p:txBody>
      </p:sp>
      <p:sp>
        <p:nvSpPr>
          <p:cNvPr id="146" name="Google Shape;146;p1"/>
          <p:cNvSpPr/>
          <p:nvPr/>
        </p:nvSpPr>
        <p:spPr>
          <a:xfrm>
            <a:off x="22783799" y="6912044"/>
            <a:ext cx="10078800" cy="1103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1" u="none">
                <a:solidFill>
                  <a:schemeClr val="dk1"/>
                </a:solidFill>
                <a:latin typeface="Arial" panose="020B0604020202020204"/>
                <a:ea typeface="Arial" panose="020B0604020202020204"/>
                <a:cs typeface="Arial" panose="020B0604020202020204"/>
                <a:sym typeface="Arial" panose="020B0604020202020204"/>
              </a:rPr>
              <a:t>RESULTS</a:t>
            </a:r>
            <a:endParaRPr sz="2800" b="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47" name="Google Shape;147;p1"/>
          <p:cNvSpPr txBox="1"/>
          <p:nvPr/>
        </p:nvSpPr>
        <p:spPr>
          <a:xfrm>
            <a:off x="22766655" y="8066405"/>
            <a:ext cx="10095865" cy="659955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lnSpc>
                <a:spcPct val="80000"/>
              </a:lnSpc>
            </a:pPr>
            <a:r>
              <a:rPr lang="en-US" altLang="en-US" sz="6000">
                <a:sym typeface="+mn-ea"/>
              </a:rPr>
              <a:t>Statistically significant improvements were observed across FICAT stages and area of involvement, affirming the effectiveness of bisphosphonates, particularly Alendronate</a:t>
            </a:r>
            <a:endParaRPr lang="en-US" altLang="en-US" sz="6000">
              <a:solidFill>
                <a:schemeClr val="tx1"/>
              </a:solidFill>
            </a:endParaRPr>
          </a:p>
          <a:p>
            <a:pPr algn="l">
              <a:lnSpc>
                <a:spcPct val="80000"/>
              </a:lnSpc>
            </a:pPr>
            <a:r>
              <a:rPr lang="en-US" altLang="en-US" sz="6000">
                <a:sym typeface="+mn-ea"/>
              </a:rPr>
              <a:t>(10mg daily) in early-stage AVN (FICAT I and II)</a:t>
            </a:r>
            <a:r>
              <a:rPr lang="en-US" altLang="en-US" sz="3800">
                <a:sym typeface="+mn-ea"/>
              </a:rPr>
              <a:t>.</a:t>
            </a:r>
            <a:endParaRPr lang="en-US" sz="3800">
              <a:solidFill>
                <a:schemeClr val="dk1"/>
              </a:solidFill>
              <a:latin typeface="Arial" panose="020B0604020202020204"/>
              <a:ea typeface="Arial" panose="020B0604020202020204"/>
              <a:cs typeface="Arial" panose="020B0604020202020204"/>
              <a:sym typeface="Arial" panose="020B0604020202020204"/>
            </a:endParaRPr>
          </a:p>
        </p:txBody>
      </p:sp>
      <p:sp>
        <p:nvSpPr>
          <p:cNvPr id="148" name="Google Shape;148;p1"/>
          <p:cNvSpPr/>
          <p:nvPr/>
        </p:nvSpPr>
        <p:spPr>
          <a:xfrm>
            <a:off x="22723475" y="14672945"/>
            <a:ext cx="10194925" cy="1287145"/>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1" u="none">
                <a:solidFill>
                  <a:schemeClr val="dk1"/>
                </a:solidFill>
                <a:latin typeface="Arial" panose="020B0604020202020204"/>
                <a:ea typeface="Arial" panose="020B0604020202020204"/>
                <a:cs typeface="Arial" panose="020B0604020202020204"/>
                <a:sym typeface="Arial" panose="020B0604020202020204"/>
              </a:rPr>
              <a:t>DISCUSSION</a:t>
            </a:r>
            <a:endParaRPr sz="2800" b="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49" name="Google Shape;149;p1"/>
          <p:cNvSpPr txBox="1"/>
          <p:nvPr/>
        </p:nvSpPr>
        <p:spPr>
          <a:xfrm>
            <a:off x="22764115" y="15966440"/>
            <a:ext cx="10054590" cy="1355598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r>
              <a:rPr lang="en-US" altLang="en-US" sz="6000">
                <a:sym typeface="+mn-ea"/>
              </a:rPr>
              <a:t>Progressive improvement in HHS,VAS suggests that the therapeutic intervention employed was effective in halting disease progression and promoting joint preservation. The most notable gains were observed within the first six months, indicating a critical period for early functional </a:t>
            </a:r>
            <a:endParaRPr lang="en-US" altLang="en-US" sz="6000">
              <a:solidFill>
                <a:schemeClr val="tx1"/>
              </a:solidFill>
            </a:endParaRPr>
          </a:p>
          <a:p>
            <a:pPr algn="l"/>
            <a:r>
              <a:rPr lang="en-US" altLang="en-US" sz="6000">
                <a:sym typeface="+mn-ea"/>
              </a:rPr>
              <a:t>recovery. However, longer-term follow-up would be necessary to assess the durability of these </a:t>
            </a:r>
            <a:endParaRPr lang="en-US" altLang="en-US" sz="6000">
              <a:solidFill>
                <a:schemeClr val="tx1"/>
              </a:solidFill>
            </a:endParaRPr>
          </a:p>
          <a:p>
            <a:pPr algn="l"/>
            <a:r>
              <a:rPr lang="en-US" altLang="en-US" sz="6000">
                <a:sym typeface="+mn-ea"/>
              </a:rPr>
              <a:t>outcomes and the risk of late deterioration.</a:t>
            </a:r>
            <a:r>
              <a:rPr lang="en-US" altLang="en-US" sz="4000">
                <a:sym typeface="+mn-ea"/>
              </a:rPr>
              <a:t> </a:t>
            </a:r>
            <a:endParaRPr lang="en-US" altLang="en-US" sz="4000">
              <a:solidFill>
                <a:schemeClr val="tx1"/>
              </a:solidFill>
            </a:endParaRPr>
          </a:p>
          <a:p>
            <a:pPr marL="0" marR="0" lvl="0" indent="0" algn="l" rtl="0">
              <a:spcBef>
                <a:spcPts val="0"/>
              </a:spcBef>
              <a:spcAft>
                <a:spcPts val="0"/>
              </a:spcAft>
              <a:buClr>
                <a:schemeClr val="dk1"/>
              </a:buClr>
              <a:buSzPts val="4000"/>
              <a:buFont typeface="Calibri" panose="020F0502020204030204"/>
              <a:buNone/>
            </a:pPr>
            <a:endParaRPr sz="4000">
              <a:solidFill>
                <a:schemeClr val="dk1"/>
              </a:solidFill>
              <a:latin typeface="Arial" panose="020B0604020202020204"/>
              <a:ea typeface="Arial" panose="020B0604020202020204"/>
              <a:cs typeface="Arial" panose="020B0604020202020204"/>
              <a:sym typeface="Arial" panose="020B0604020202020204"/>
            </a:endParaRPr>
          </a:p>
        </p:txBody>
      </p:sp>
      <p:sp>
        <p:nvSpPr>
          <p:cNvPr id="152" name="Google Shape;152;p1"/>
          <p:cNvSpPr/>
          <p:nvPr/>
        </p:nvSpPr>
        <p:spPr>
          <a:xfrm>
            <a:off x="50162" y="31810448"/>
            <a:ext cx="10584900" cy="1103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0" u="none">
                <a:solidFill>
                  <a:schemeClr val="dk1"/>
                </a:solidFill>
                <a:latin typeface="Arial" panose="020B0604020202020204"/>
                <a:ea typeface="Arial" panose="020B0604020202020204"/>
                <a:cs typeface="Arial" panose="020B0604020202020204"/>
                <a:sym typeface="Arial" panose="020B0604020202020204"/>
              </a:rPr>
              <a:t>BEFORE ALENDRONATE</a:t>
            </a:r>
            <a:endParaRPr lang="en-US" sz="5400" b="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5" name="Google Shape;155;p1"/>
          <p:cNvSpPr/>
          <p:nvPr/>
        </p:nvSpPr>
        <p:spPr>
          <a:xfrm>
            <a:off x="22756846" y="29539193"/>
            <a:ext cx="10100400" cy="1103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1" u="none">
                <a:solidFill>
                  <a:schemeClr val="dk1"/>
                </a:solidFill>
                <a:latin typeface="Arial" panose="020B0604020202020204"/>
                <a:ea typeface="Arial" panose="020B0604020202020204"/>
                <a:cs typeface="Arial" panose="020B0604020202020204"/>
                <a:sym typeface="Arial" panose="020B0604020202020204"/>
              </a:rPr>
              <a:t>CONCLUSION</a:t>
            </a:r>
            <a:endParaRPr sz="2800" b="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6" name="Google Shape;156;p1"/>
          <p:cNvSpPr txBox="1"/>
          <p:nvPr/>
        </p:nvSpPr>
        <p:spPr>
          <a:xfrm>
            <a:off x="22771735" y="30739080"/>
            <a:ext cx="10085705" cy="912939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l"/>
            <a:r>
              <a:rPr lang="en-US" altLang="en-US" sz="4800">
                <a:sym typeface="+mn-ea"/>
              </a:rPr>
              <a:t>The study confirms findings showing bisphosphonates delay disease progression, reduce early needs for surgery, and improve clinical outcomes.The most favourable responses were observed in younger patients, those with central lesions, and individuals with less than 30% femoral head involvement. patients with risk factors such as alcohol use, smoking, or advanced-stage disease showed limited improvement.</a:t>
            </a:r>
            <a:r>
              <a:rPr lang="en-US" altLang="en-US" sz="3800">
                <a:sym typeface="+mn-ea"/>
              </a:rPr>
              <a:t> </a:t>
            </a:r>
            <a:endParaRPr sz="3800">
              <a:solidFill>
                <a:schemeClr val="dk1"/>
              </a:solidFill>
              <a:latin typeface="Arial" panose="020B0604020202020204"/>
              <a:ea typeface="Arial" panose="020B0604020202020204"/>
              <a:cs typeface="Arial" panose="020B0604020202020204"/>
              <a:sym typeface="Arial" panose="020B0604020202020204"/>
            </a:endParaRPr>
          </a:p>
        </p:txBody>
      </p:sp>
      <p:sp>
        <p:nvSpPr>
          <p:cNvPr id="157" name="Google Shape;157;p1"/>
          <p:cNvSpPr/>
          <p:nvPr/>
        </p:nvSpPr>
        <p:spPr>
          <a:xfrm>
            <a:off x="22810288" y="40024440"/>
            <a:ext cx="10034700" cy="7230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1" u="none">
                <a:solidFill>
                  <a:schemeClr val="dk1"/>
                </a:solidFill>
                <a:latin typeface="Arial" panose="020B0604020202020204"/>
                <a:ea typeface="Arial" panose="020B0604020202020204"/>
                <a:cs typeface="Arial" panose="020B0604020202020204"/>
                <a:sym typeface="Arial" panose="020B0604020202020204"/>
              </a:rPr>
              <a:t>ACKNOWLEDGEMENT</a:t>
            </a:r>
            <a:endParaRPr sz="5400" b="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8" name="Google Shape;158;p1"/>
          <p:cNvSpPr txBox="1"/>
          <p:nvPr/>
        </p:nvSpPr>
        <p:spPr>
          <a:xfrm>
            <a:off x="22806660" y="40747315"/>
            <a:ext cx="10050780" cy="310007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a:solidFill>
                  <a:schemeClr val="dk1"/>
                </a:solidFill>
                <a:latin typeface="Arial" panose="020B0604020202020204"/>
                <a:ea typeface="Arial" panose="020B0604020202020204"/>
                <a:cs typeface="Arial" panose="020B0604020202020204"/>
                <a:sym typeface="Arial" panose="020B0604020202020204"/>
              </a:rPr>
              <a:t>I sincerely thank  </a:t>
            </a:r>
            <a:r>
              <a:rPr lang="en-US" sz="4000" b="1">
                <a:solidFill>
                  <a:schemeClr val="dk1"/>
                </a:solidFill>
                <a:latin typeface="Arial" panose="020B0604020202020204"/>
                <a:ea typeface="Arial" panose="020B0604020202020204"/>
                <a:cs typeface="Arial" panose="020B0604020202020204"/>
                <a:sym typeface="Arial" panose="020B0604020202020204"/>
              </a:rPr>
              <a:t>Dr. V. Nageswara Rao-HOD </a:t>
            </a:r>
            <a:r>
              <a:rPr lang="en-US" sz="4000">
                <a:solidFill>
                  <a:schemeClr val="dk1"/>
                </a:solidFill>
                <a:latin typeface="Arial" panose="020B0604020202020204"/>
                <a:ea typeface="Arial" panose="020B0604020202020204"/>
                <a:cs typeface="Arial" panose="020B0604020202020204"/>
                <a:sym typeface="Arial" panose="020B0604020202020204"/>
              </a:rPr>
              <a:t>along with the faculty of Orthopaedics and the Department of Radiology, GSL Medical College &amp; General Hospital, for their guidance and support.</a:t>
            </a:r>
            <a:endParaRPr sz="4000">
              <a:solidFill>
                <a:schemeClr val="dk1"/>
              </a:solidFill>
              <a:latin typeface="Arial" panose="020B0604020202020204"/>
              <a:ea typeface="Arial" panose="020B0604020202020204"/>
              <a:cs typeface="Arial" panose="020B0604020202020204"/>
              <a:sym typeface="Arial" panose="020B0604020202020204"/>
            </a:endParaRPr>
          </a:p>
        </p:txBody>
      </p:sp>
      <p:pic>
        <p:nvPicPr>
          <p:cNvPr id="12" name="Picture 11"/>
          <p:cNvPicPr>
            <a:picLocks noChangeAspect="1"/>
          </p:cNvPicPr>
          <p:nvPr/>
        </p:nvPicPr>
        <p:blipFill>
          <a:blip r:embed="rId5"/>
          <a:stretch>
            <a:fillRect/>
          </a:stretch>
        </p:blipFill>
        <p:spPr>
          <a:xfrm>
            <a:off x="-635" y="32890460"/>
            <a:ext cx="10583545" cy="10811510"/>
          </a:xfrm>
          <a:prstGeom prst="rect">
            <a:avLst/>
          </a:prstGeom>
        </p:spPr>
      </p:pic>
      <p:graphicFrame>
        <p:nvGraphicFramePr>
          <p:cNvPr id="14" name="Table 13"/>
          <p:cNvGraphicFramePr/>
          <p:nvPr>
            <p:custDataLst>
              <p:tags r:id="rId6"/>
            </p:custDataLst>
          </p:nvPr>
        </p:nvGraphicFramePr>
        <p:xfrm>
          <a:off x="10727055" y="17193260"/>
          <a:ext cx="12035790" cy="8355330"/>
        </p:xfrm>
        <a:graphic>
          <a:graphicData uri="http://schemas.openxmlformats.org/drawingml/2006/table">
            <a:tbl>
              <a:tblPr firstRow="1" bandRow="1">
                <a:tableStyleId>{5C22544A-7EE6-4342-B048-85BDC9FD1C3A}</a:tableStyleId>
              </a:tblPr>
              <a:tblGrid>
                <a:gridCol w="4011930"/>
                <a:gridCol w="4011930"/>
                <a:gridCol w="4011930"/>
              </a:tblGrid>
              <a:tr h="2785110">
                <a:tc>
                  <a:txBody>
                    <a:bodyPr/>
                    <a:p>
                      <a:pPr>
                        <a:buNone/>
                      </a:pPr>
                      <a:endParaRPr lang="en-US"/>
                    </a:p>
                  </a:txBody>
                  <a:tcPr/>
                </a:tc>
                <a:tc>
                  <a:txBody>
                    <a:bodyPr/>
                    <a:p>
                      <a:pPr>
                        <a:buNone/>
                      </a:pPr>
                      <a:r>
                        <a:rPr lang="en-US" sz="5500"/>
                        <a:t>before alendronate</a:t>
                      </a:r>
                      <a:endParaRPr lang="en-US" sz="5500"/>
                    </a:p>
                  </a:txBody>
                  <a:tcPr/>
                </a:tc>
                <a:tc>
                  <a:txBody>
                    <a:bodyPr/>
                    <a:p>
                      <a:pPr>
                        <a:buNone/>
                      </a:pPr>
                      <a:r>
                        <a:rPr lang="en-US" sz="5500"/>
                        <a:t>after alendronate</a:t>
                      </a:r>
                      <a:endParaRPr lang="en-US" sz="5500"/>
                    </a:p>
                  </a:txBody>
                  <a:tcPr/>
                </a:tc>
              </a:tr>
              <a:tr h="2785110">
                <a:tc>
                  <a:txBody>
                    <a:bodyPr/>
                    <a:p>
                      <a:pPr>
                        <a:buNone/>
                      </a:pPr>
                      <a:r>
                        <a:rPr lang="en-US"/>
                        <a:t>HHS</a:t>
                      </a:r>
                      <a:endParaRPr lang="en-US"/>
                    </a:p>
                  </a:txBody>
                  <a:tcPr/>
                </a:tc>
                <a:tc>
                  <a:txBody>
                    <a:bodyPr/>
                    <a:p>
                      <a:pPr>
                        <a:buNone/>
                      </a:pPr>
                      <a:r>
                        <a:rPr lang="en-US"/>
                        <a:t>68</a:t>
                      </a:r>
                      <a:endParaRPr lang="en-US"/>
                    </a:p>
                  </a:txBody>
                  <a:tcPr/>
                </a:tc>
                <a:tc>
                  <a:txBody>
                    <a:bodyPr/>
                    <a:p>
                      <a:pPr>
                        <a:buNone/>
                      </a:pPr>
                      <a:r>
                        <a:rPr lang="en-US"/>
                        <a:t>93.8</a:t>
                      </a:r>
                      <a:endParaRPr lang="en-US"/>
                    </a:p>
                  </a:txBody>
                  <a:tcPr/>
                </a:tc>
              </a:tr>
              <a:tr h="2785110">
                <a:tc>
                  <a:txBody>
                    <a:bodyPr/>
                    <a:p>
                      <a:pPr>
                        <a:buNone/>
                      </a:pPr>
                      <a:r>
                        <a:rPr lang="en-US"/>
                        <a:t>VAS</a:t>
                      </a:r>
                      <a:endParaRPr lang="en-US"/>
                    </a:p>
                  </a:txBody>
                  <a:tcPr/>
                </a:tc>
                <a:tc>
                  <a:txBody>
                    <a:bodyPr/>
                    <a:p>
                      <a:pPr>
                        <a:buNone/>
                      </a:pPr>
                      <a:r>
                        <a:rPr lang="en-US"/>
                        <a:t>5.81</a:t>
                      </a:r>
                      <a:endParaRPr lang="en-US"/>
                    </a:p>
                  </a:txBody>
                  <a:tcPr/>
                </a:tc>
                <a:tc>
                  <a:txBody>
                    <a:bodyPr/>
                    <a:p>
                      <a:pPr>
                        <a:buNone/>
                      </a:pPr>
                      <a:r>
                        <a:rPr lang="en-US"/>
                        <a:t>1.72</a:t>
                      </a:r>
                      <a:endParaRPr lang="en-US"/>
                    </a:p>
                  </a:txBody>
                  <a:tcPr/>
                </a:tc>
              </a:tr>
            </a:tbl>
          </a:graphicData>
        </a:graphic>
      </p:graphicFrame>
      <p:pic>
        <p:nvPicPr>
          <p:cNvPr id="9" name="Picture 8"/>
          <p:cNvPicPr>
            <a:picLocks noChangeAspect="1"/>
          </p:cNvPicPr>
          <p:nvPr/>
        </p:nvPicPr>
        <p:blipFill>
          <a:blip r:embed="rId7"/>
          <a:stretch>
            <a:fillRect/>
          </a:stretch>
        </p:blipFill>
        <p:spPr>
          <a:xfrm>
            <a:off x="10634980" y="32746950"/>
            <a:ext cx="12120880" cy="10922635"/>
          </a:xfrm>
          <a:prstGeom prst="rect">
            <a:avLst/>
          </a:prstGeom>
        </p:spPr>
      </p:pic>
      <p:sp>
        <p:nvSpPr>
          <p:cNvPr id="3" name="Text Box 2"/>
          <p:cNvSpPr txBox="1"/>
          <p:nvPr/>
        </p:nvSpPr>
        <p:spPr>
          <a:xfrm>
            <a:off x="16746220" y="30441265"/>
            <a:ext cx="10972800" cy="368300"/>
          </a:xfrm>
          <a:prstGeom prst="rect">
            <a:avLst/>
          </a:prstGeom>
          <a:noFill/>
        </p:spPr>
        <p:txBody>
          <a:bodyPr wrap="square" rtlCol="0">
            <a:spAutoFit/>
          </a:bodyPr>
          <a:p>
            <a:endParaRPr lang="en-US"/>
          </a:p>
        </p:txBody>
      </p:sp>
      <p:sp>
        <p:nvSpPr>
          <p:cNvPr id="6" name="Google Shape;152;p1"/>
          <p:cNvSpPr/>
          <p:nvPr/>
        </p:nvSpPr>
        <p:spPr>
          <a:xfrm>
            <a:off x="10634980" y="31656020"/>
            <a:ext cx="12037060" cy="12192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r>
              <a:rPr lang="en-US" sz="5400" b="0" u="none">
                <a:solidFill>
                  <a:schemeClr val="dk1"/>
                </a:solidFill>
                <a:latin typeface="Arial" panose="020B0604020202020204"/>
                <a:ea typeface="Arial" panose="020B0604020202020204"/>
                <a:cs typeface="Arial" panose="020B0604020202020204"/>
                <a:sym typeface="Arial" panose="020B0604020202020204"/>
              </a:rPr>
              <a:t>AFTER ALENDRONATE</a:t>
            </a:r>
            <a:endParaRPr lang="en-US" sz="5400" b="0" u="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6" name="Picture 15"/>
          <p:cNvPicPr>
            <a:picLocks noChangeAspect="1"/>
          </p:cNvPicPr>
          <p:nvPr/>
        </p:nvPicPr>
        <p:blipFill>
          <a:blip r:embed="rId8"/>
          <a:srcRect t="12815" r="22753"/>
          <a:stretch>
            <a:fillRect/>
          </a:stretch>
        </p:blipFill>
        <p:spPr>
          <a:xfrm>
            <a:off x="10772140" y="25561925"/>
            <a:ext cx="11918950" cy="5969000"/>
          </a:xfrm>
          <a:prstGeom prst="rect">
            <a:avLst/>
          </a:prstGeom>
        </p:spPr>
      </p:pic>
      <p:sp>
        <p:nvSpPr>
          <p:cNvPr id="1" name="Text Box 0"/>
          <p:cNvSpPr txBox="1"/>
          <p:nvPr/>
        </p:nvSpPr>
        <p:spPr>
          <a:xfrm>
            <a:off x="24236045" y="5455920"/>
            <a:ext cx="10972800" cy="11085195"/>
          </a:xfrm>
          <a:prstGeom prst="rect">
            <a:avLst/>
          </a:prstGeom>
          <a:noFill/>
        </p:spPr>
        <p:txBody>
          <a:bodyPr wrap="square" rtlCol="0">
            <a:noAutofit/>
          </a:bodyPr>
          <a:p>
            <a:r>
              <a:rPr lang="en-US" sz="7200">
                <a:solidFill>
                  <a:schemeClr val="bg1"/>
                </a:solidFill>
              </a:rPr>
              <a:t>OSSAP ID 394</a:t>
            </a:r>
            <a:endParaRPr lang="en-US" sz="7200">
              <a:solidFill>
                <a:schemeClr val="bg1"/>
              </a:solidFill>
            </a:endParaRPr>
          </a:p>
        </p:txBody>
      </p:sp>
    </p:spTree>
  </p:cSld>
  <p:clrMapOvr>
    <a:masterClrMapping/>
  </p:clrMapOvr>
</p:sld>
</file>

<file path=ppt/tags/tag1.xml><?xml version="1.0" encoding="utf-8"?>
<p:tagLst xmlns:p="http://schemas.openxmlformats.org/presentationml/2006/main">
  <p:tag name="TABLE_ENDDRAG_ORIGIN_RECT" val="947*657"/>
  <p:tag name="TABLE_ENDDRAG_RECT" val="844*1353*947*657"/>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2733</Words>
  <Application>WPS Presentation</Application>
  <PresentationFormat/>
  <Paragraphs>62</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Arial</vt:lpstr>
      <vt:lpstr>Calibri</vt:lpstr>
      <vt:lpstr>Calibri</vt:lpstr>
      <vt:lpstr>Microsoft YaHei</vt:lpstr>
      <vt:lpstr>Arial Unicode MS</vt:lpstr>
      <vt:lpstr>Calibri Light</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ram koushik</cp:lastModifiedBy>
  <cp:revision>3</cp:revision>
  <dcterms:created xsi:type="dcterms:W3CDTF">2026-01-29T17:31:00Z</dcterms:created>
  <dcterms:modified xsi:type="dcterms:W3CDTF">2026-01-30T19:55:26Z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F9C639D30B364B1C8199F1B65DD6B1A0_13</vt:lpwstr>
  </property>
  <property fmtid="{D5CDD505-2E9C-101B-9397-08002B2CF9AE}" pid="3" name="KSOProductBuildVer">
    <vt:lpwstr>1033-12.2.0.23196</vt:lpwstr>
  </property>
</Properties>
</file>