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438912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1pPr>
    <a:lvl2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2pPr>
    <a:lvl3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3pPr>
    <a:lvl4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4pPr>
    <a:lvl5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5pPr>
    <a:lvl6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6pPr>
    <a:lvl7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7pPr>
    <a:lvl8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8pPr>
    <a:lvl9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41" autoAdjust="0"/>
  </p:normalViewPr>
  <p:slideViewPr>
    <p:cSldViewPr snapToGrid="0">
      <p:cViewPr>
        <p:scale>
          <a:sx n="26" d="100"/>
          <a:sy n="26" d="100"/>
        </p:scale>
        <p:origin x="516"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 name="Shape 104"/>
          <p:cNvSpPr>
            <a:spLocks noGrp="1" noRot="1" noChangeAspect="1"/>
          </p:cNvSpPr>
          <p:nvPr>
            <p:ph type="sldImg"/>
          </p:nvPr>
        </p:nvSpPr>
        <p:spPr>
          <a:xfrm>
            <a:off x="1143000" y="685800"/>
            <a:ext cx="4572000" cy="3429000"/>
          </a:xfrm>
          <a:prstGeom prst="rect">
            <a:avLst/>
          </a:prstGeom>
        </p:spPr>
        <p:txBody>
          <a:bodyPr/>
          <a:lstStyle/>
          <a:p>
            <a:endParaRPr/>
          </a:p>
        </p:txBody>
      </p:sp>
      <p:sp>
        <p:nvSpPr>
          <p:cNvPr id="105" name="Shape 10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5852159" latinLnBrk="0">
      <a:defRPr sz="7400">
        <a:latin typeface="+mn-lt"/>
        <a:ea typeface="+mn-ea"/>
        <a:cs typeface="+mn-cs"/>
        <a:sym typeface="Aptos"/>
      </a:defRPr>
    </a:lvl1pPr>
    <a:lvl2pPr indent="228600" defTabSz="5852159" latinLnBrk="0">
      <a:defRPr sz="7400">
        <a:latin typeface="+mn-lt"/>
        <a:ea typeface="+mn-ea"/>
        <a:cs typeface="+mn-cs"/>
        <a:sym typeface="Aptos"/>
      </a:defRPr>
    </a:lvl2pPr>
    <a:lvl3pPr indent="457200" defTabSz="5852159" latinLnBrk="0">
      <a:defRPr sz="7400">
        <a:latin typeface="+mn-lt"/>
        <a:ea typeface="+mn-ea"/>
        <a:cs typeface="+mn-cs"/>
        <a:sym typeface="Aptos"/>
      </a:defRPr>
    </a:lvl3pPr>
    <a:lvl4pPr indent="685800" defTabSz="5852159" latinLnBrk="0">
      <a:defRPr sz="7400">
        <a:latin typeface="+mn-lt"/>
        <a:ea typeface="+mn-ea"/>
        <a:cs typeface="+mn-cs"/>
        <a:sym typeface="Aptos"/>
      </a:defRPr>
    </a:lvl4pPr>
    <a:lvl5pPr indent="914400" defTabSz="5852159" latinLnBrk="0">
      <a:defRPr sz="7400">
        <a:latin typeface="+mn-lt"/>
        <a:ea typeface="+mn-ea"/>
        <a:cs typeface="+mn-cs"/>
        <a:sym typeface="Aptos"/>
      </a:defRPr>
    </a:lvl5pPr>
    <a:lvl6pPr indent="1143000" defTabSz="5852159" latinLnBrk="0">
      <a:defRPr sz="7400">
        <a:latin typeface="+mn-lt"/>
        <a:ea typeface="+mn-ea"/>
        <a:cs typeface="+mn-cs"/>
        <a:sym typeface="Aptos"/>
      </a:defRPr>
    </a:lvl6pPr>
    <a:lvl7pPr indent="1371600" defTabSz="5852159" latinLnBrk="0">
      <a:defRPr sz="7400">
        <a:latin typeface="+mn-lt"/>
        <a:ea typeface="+mn-ea"/>
        <a:cs typeface="+mn-cs"/>
        <a:sym typeface="Aptos"/>
      </a:defRPr>
    </a:lvl7pPr>
    <a:lvl8pPr indent="1600200" defTabSz="5852159" latinLnBrk="0">
      <a:defRPr sz="7400">
        <a:latin typeface="+mn-lt"/>
        <a:ea typeface="+mn-ea"/>
        <a:cs typeface="+mn-cs"/>
        <a:sym typeface="Aptos"/>
      </a:defRPr>
    </a:lvl8pPr>
    <a:lvl9pPr indent="1828800" defTabSz="5852159" latinLnBrk="0">
      <a:defRPr sz="7400">
        <a:latin typeface="+mn-lt"/>
        <a:ea typeface="+mn-ea"/>
        <a:cs typeface="+mn-cs"/>
        <a:sym typeface="Apto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9" name="Rectangle 1"/>
          <p:cNvSpPr/>
          <p:nvPr/>
        </p:nvSpPr>
        <p:spPr>
          <a:xfrm>
            <a:off x="1" y="-1685"/>
            <a:ext cx="32918392" cy="5140041"/>
          </a:xfrm>
          <a:prstGeom prst="rect">
            <a:avLst/>
          </a:prstGeom>
          <a:solidFill>
            <a:srgbClr val="01234D"/>
          </a:solidFill>
          <a:ln w="38100">
            <a:solidFill>
              <a:srgbClr val="525755"/>
            </a:solidFill>
            <a:miter/>
          </a:ln>
        </p:spPr>
        <p:txBody>
          <a:bodyPr lIns="123442" tIns="123442" rIns="123442" bIns="123442" anchor="ctr"/>
          <a:lstStyle/>
          <a:p>
            <a:pPr algn="ctr">
              <a:defRPr>
                <a:solidFill>
                  <a:srgbClr val="FFFFFF"/>
                </a:solidFill>
              </a:defRPr>
            </a:pPr>
            <a:endParaRPr/>
          </a:p>
        </p:txBody>
      </p:sp>
      <p:pic>
        <p:nvPicPr>
          <p:cNvPr id="20" name="Picture 15" descr="Picture 15"/>
          <p:cNvPicPr>
            <a:picLocks noChangeAspect="1"/>
          </p:cNvPicPr>
          <p:nvPr/>
        </p:nvPicPr>
        <p:blipFill>
          <a:blip r:embed="rId2"/>
          <a:stretch>
            <a:fillRect/>
          </a:stretch>
        </p:blipFill>
        <p:spPr>
          <a:xfrm>
            <a:off x="26379909" y="1078389"/>
            <a:ext cx="2979892" cy="2979892"/>
          </a:xfrm>
          <a:prstGeom prst="rect">
            <a:avLst/>
          </a:prstGeom>
          <a:ln w="12700">
            <a:miter lim="400000"/>
          </a:ln>
        </p:spPr>
      </p:pic>
      <p:sp>
        <p:nvSpPr>
          <p:cNvPr id="21" name="TextBox 18"/>
          <p:cNvSpPr txBox="1"/>
          <p:nvPr/>
        </p:nvSpPr>
        <p:spPr>
          <a:xfrm>
            <a:off x="7146731" y="14452821"/>
            <a:ext cx="16783350" cy="25074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spAutoFit/>
          </a:bodyPr>
          <a:lstStyle>
            <a:lvl1pPr>
              <a:defRPr sz="7400" b="1">
                <a:solidFill>
                  <a:srgbClr val="FFFFFF"/>
                </a:solidFill>
                <a:latin typeface="Gordita "/>
                <a:ea typeface="Gordita "/>
                <a:cs typeface="Gordita "/>
                <a:sym typeface="Gordita "/>
              </a:defRPr>
            </a:lvl1pPr>
          </a:lstStyle>
          <a:p>
            <a:r>
              <a:t>Date 6 – 8 February,2026, Venue : Kurnool Medical College</a:t>
            </a:r>
          </a:p>
        </p:txBody>
      </p:sp>
      <p:sp>
        <p:nvSpPr>
          <p:cNvPr id="22" name="Freeform 13"/>
          <p:cNvSpPr/>
          <p:nvPr/>
        </p:nvSpPr>
        <p:spPr>
          <a:xfrm>
            <a:off x="160959" y="840123"/>
            <a:ext cx="4065017" cy="3456426"/>
          </a:xfrm>
          <a:prstGeom prst="rect">
            <a:avLst/>
          </a:prstGeom>
          <a:blipFill>
            <a:blip r:embed="rId3"/>
            <a:stretch>
              <a:fillRect/>
            </a:stretch>
          </a:blipFill>
          <a:ln w="12700">
            <a:miter lim="400000"/>
          </a:ln>
        </p:spPr>
        <p:txBody>
          <a:bodyPr lIns="123442" tIns="123442" rIns="123442" bIns="123442"/>
          <a:lstStyle/>
          <a:p>
            <a:endParaRPr/>
          </a:p>
        </p:txBody>
      </p:sp>
      <p:pic>
        <p:nvPicPr>
          <p:cNvPr id="23" name="Picture 17" descr="Picture 17"/>
          <p:cNvPicPr>
            <a:picLocks noChangeAspect="1"/>
          </p:cNvPicPr>
          <p:nvPr/>
        </p:nvPicPr>
        <p:blipFill>
          <a:blip r:embed="rId4"/>
          <a:stretch>
            <a:fillRect/>
          </a:stretch>
        </p:blipFill>
        <p:spPr>
          <a:xfrm>
            <a:off x="29905495" y="809523"/>
            <a:ext cx="2386016" cy="2863220"/>
          </a:xfrm>
          <a:prstGeom prst="rect">
            <a:avLst/>
          </a:prstGeom>
          <a:ln w="12700">
            <a:miter lim="400000"/>
          </a:ln>
        </p:spPr>
      </p:pic>
      <p:sp>
        <p:nvSpPr>
          <p:cNvPr id="24" name="Bilateral Slipped Capital Femoral Epiphysis Managed…"/>
          <p:cNvSpPr txBox="1"/>
          <p:nvPr/>
        </p:nvSpPr>
        <p:spPr>
          <a:xfrm>
            <a:off x="3915120" y="451288"/>
            <a:ext cx="24025949" cy="19745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3442" tIns="123442" rIns="123442" bIns="123442">
            <a:spAutoFit/>
          </a:bodyPr>
          <a:lstStyle/>
          <a:p>
            <a:pPr defTabSz="914400">
              <a:defRPr sz="6000" b="1">
                <a:solidFill>
                  <a:srgbClr val="FFFFFF"/>
                </a:solidFill>
                <a:latin typeface="Arial"/>
                <a:ea typeface="Arial"/>
                <a:cs typeface="Arial"/>
                <a:sym typeface="Arial"/>
              </a:defRPr>
            </a:pPr>
            <a:r>
              <a:t>A Rare Pattern of Multiple Metatarsophalangeal Joint Disruptions </a:t>
            </a:r>
          </a:p>
          <a:p>
            <a:pPr lvl="8" indent="3657600" defTabSz="914400">
              <a:defRPr sz="6000" b="1">
                <a:solidFill>
                  <a:srgbClr val="FFFFFF"/>
                </a:solidFill>
                <a:latin typeface="Arial"/>
                <a:ea typeface="Arial"/>
                <a:cs typeface="Arial"/>
                <a:sym typeface="Arial"/>
              </a:defRPr>
            </a:pPr>
            <a:r>
              <a:t>Treated with Closed Reduction</a:t>
            </a:r>
          </a:p>
        </p:txBody>
      </p:sp>
      <p:sp>
        <p:nvSpPr>
          <p:cNvPr id="25" name="AUTHOR – DR  C.SAI.BHARATH POST GRADUATE, GSL MEDICAL COLLEGE…"/>
          <p:cNvSpPr txBox="1"/>
          <p:nvPr/>
        </p:nvSpPr>
        <p:spPr>
          <a:xfrm>
            <a:off x="7453844" y="2658690"/>
            <a:ext cx="14291224" cy="22851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3442" tIns="123442" rIns="123442" bIns="123442">
            <a:spAutoFit/>
          </a:bodyPr>
          <a:lstStyle/>
          <a:p>
            <a:pPr algn="ctr" defTabSz="914400">
              <a:defRPr sz="4600" b="1">
                <a:solidFill>
                  <a:srgbClr val="FFFFFF"/>
                </a:solidFill>
                <a:latin typeface="Arial"/>
                <a:ea typeface="Arial"/>
                <a:cs typeface="Arial"/>
                <a:sym typeface="Arial"/>
              </a:defRPr>
            </a:pPr>
            <a:r>
              <a:t>AUTHOR – DR  K .LITESH CHANDRA CHOWDARY </a:t>
            </a:r>
          </a:p>
          <a:p>
            <a:pPr algn="ctr" defTabSz="914400">
              <a:defRPr sz="4600" b="1">
                <a:solidFill>
                  <a:srgbClr val="FFFFFF"/>
                </a:solidFill>
                <a:latin typeface="Arial"/>
                <a:ea typeface="Arial"/>
                <a:cs typeface="Arial"/>
                <a:sym typeface="Arial"/>
              </a:defRPr>
            </a:pPr>
            <a:r>
              <a:t>POST GRADUATE, GSL MEDICAL COLLEGE</a:t>
            </a:r>
          </a:p>
          <a:p>
            <a:pPr algn="ctr" defTabSz="914400">
              <a:defRPr sz="4600" b="1">
                <a:solidFill>
                  <a:srgbClr val="FFFFFF"/>
                </a:solidFill>
                <a:latin typeface="Arial"/>
                <a:ea typeface="Arial"/>
                <a:cs typeface="Arial"/>
                <a:sym typeface="Arial"/>
              </a:defRPr>
            </a:pPr>
            <a:r>
              <a:t>CO – AUTHOR – DR V NAGESWARA RAO</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33" name="Title Text"/>
          <p:cNvSpPr txBox="1">
            <a:spLocks noGrp="1"/>
          </p:cNvSpPr>
          <p:nvPr>
            <p:ph type="title"/>
          </p:nvPr>
        </p:nvSpPr>
        <p:spPr>
          <a:prstGeom prst="rect">
            <a:avLst/>
          </a:prstGeom>
        </p:spPr>
        <p:txBody>
          <a:bodyPr/>
          <a:lstStyle/>
          <a:p>
            <a:r>
              <a:t>Title Text</a:t>
            </a:r>
          </a:p>
        </p:txBody>
      </p:sp>
      <p:sp>
        <p:nvSpPr>
          <p:cNvPr id="34" name="Body Level One…"/>
          <p:cNvSpPr txBox="1">
            <a:spLocks noGrp="1"/>
          </p:cNvSpPr>
          <p:nvPr>
            <p:ph type="body" sz="half"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42" name="Title Text"/>
          <p:cNvSpPr txBox="1">
            <a:spLocks noGrp="1"/>
          </p:cNvSpPr>
          <p:nvPr>
            <p:ph type="title"/>
          </p:nvPr>
        </p:nvSpPr>
        <p:spPr>
          <a:xfrm>
            <a:off x="2245995" y="17303593"/>
            <a:ext cx="28392119" cy="7702392"/>
          </a:xfrm>
          <a:prstGeom prst="rect">
            <a:avLst/>
          </a:prstGeom>
        </p:spPr>
        <p:txBody>
          <a:bodyPr anchor="b"/>
          <a:lstStyle>
            <a:lvl1pPr>
              <a:defRPr sz="38400"/>
            </a:lvl1pPr>
          </a:lstStyle>
          <a:p>
            <a:r>
              <a:t>Title Text</a:t>
            </a:r>
          </a:p>
        </p:txBody>
      </p:sp>
      <p:sp>
        <p:nvSpPr>
          <p:cNvPr id="43" name="Body Level One…"/>
          <p:cNvSpPr txBox="1">
            <a:spLocks noGrp="1"/>
          </p:cNvSpPr>
          <p:nvPr>
            <p:ph type="body" sz="quarter" idx="1"/>
          </p:nvPr>
        </p:nvSpPr>
        <p:spPr>
          <a:xfrm>
            <a:off x="2245995" y="25078849"/>
            <a:ext cx="28392119" cy="4050506"/>
          </a:xfrm>
          <a:prstGeom prst="rect">
            <a:avLst/>
          </a:prstGeom>
        </p:spPr>
        <p:txBody>
          <a:bodyPr/>
          <a:lstStyle>
            <a:lvl1pPr marL="0" indent="0">
              <a:buSzTx/>
              <a:buFontTx/>
              <a:buNone/>
              <a:defRPr sz="15200">
                <a:solidFill>
                  <a:srgbClr val="757575"/>
                </a:solidFill>
              </a:defRPr>
            </a:lvl1pPr>
            <a:lvl2pPr marL="0" indent="0">
              <a:buSzTx/>
              <a:buFontTx/>
              <a:buNone/>
              <a:defRPr sz="15200">
                <a:solidFill>
                  <a:srgbClr val="757575"/>
                </a:solidFill>
              </a:defRPr>
            </a:lvl2pPr>
            <a:lvl3pPr marL="0" indent="0">
              <a:buSzTx/>
              <a:buFontTx/>
              <a:buNone/>
              <a:defRPr sz="15200">
                <a:solidFill>
                  <a:srgbClr val="757575"/>
                </a:solidFill>
              </a:defRPr>
            </a:lvl3pPr>
            <a:lvl4pPr marL="0" indent="0">
              <a:buSzTx/>
              <a:buFontTx/>
              <a:buNone/>
              <a:defRPr sz="15200">
                <a:solidFill>
                  <a:srgbClr val="757575"/>
                </a:solidFill>
              </a:defRPr>
            </a:lvl4pPr>
            <a:lvl5pPr marL="0" indent="0">
              <a:buSzTx/>
              <a:buFontTx/>
              <a:buNone/>
              <a:defRPr sz="15200">
                <a:solidFill>
                  <a:srgbClr val="757575"/>
                </a:solidFill>
              </a:defRPr>
            </a:lvl5p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51" name="Title Text"/>
          <p:cNvSpPr txBox="1">
            <a:spLocks noGrp="1"/>
          </p:cNvSpPr>
          <p:nvPr>
            <p:ph type="title"/>
          </p:nvPr>
        </p:nvSpPr>
        <p:spPr>
          <a:prstGeom prst="rect">
            <a:avLst/>
          </a:prstGeom>
        </p:spPr>
        <p:txBody>
          <a:bodyPr/>
          <a:lstStyle/>
          <a:p>
            <a:r>
              <a:t>Title Text</a:t>
            </a:r>
          </a:p>
        </p:txBody>
      </p:sp>
      <p:sp>
        <p:nvSpPr>
          <p:cNvPr id="52" name="Body Level One…"/>
          <p:cNvSpPr txBox="1">
            <a:spLocks noGrp="1"/>
          </p:cNvSpPr>
          <p:nvPr>
            <p:ph type="body" sz="quarter" idx="1"/>
          </p:nvPr>
        </p:nvSpPr>
        <p:spPr>
          <a:xfrm>
            <a:off x="2263138" y="17616487"/>
            <a:ext cx="13990324" cy="11748615"/>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0" name="Title Text"/>
          <p:cNvSpPr txBox="1">
            <a:spLocks noGrp="1"/>
          </p:cNvSpPr>
          <p:nvPr>
            <p:ph type="title"/>
          </p:nvPr>
        </p:nvSpPr>
        <p:spPr>
          <a:xfrm>
            <a:off x="2267425" y="13673137"/>
            <a:ext cx="28392126" cy="3579023"/>
          </a:xfrm>
          <a:prstGeom prst="rect">
            <a:avLst/>
          </a:prstGeom>
        </p:spPr>
        <p:txBody>
          <a:bodyPr/>
          <a:lstStyle/>
          <a:p>
            <a:r>
              <a:t>Title Text</a:t>
            </a:r>
          </a:p>
        </p:txBody>
      </p:sp>
      <p:sp>
        <p:nvSpPr>
          <p:cNvPr id="61" name="Body Level One…"/>
          <p:cNvSpPr txBox="1">
            <a:spLocks noGrp="1"/>
          </p:cNvSpPr>
          <p:nvPr>
            <p:ph type="body" sz="quarter" idx="1"/>
          </p:nvPr>
        </p:nvSpPr>
        <p:spPr>
          <a:xfrm>
            <a:off x="2267425" y="17226438"/>
            <a:ext cx="13926029" cy="2224566"/>
          </a:xfrm>
          <a:prstGeom prst="rect">
            <a:avLst/>
          </a:prstGeom>
        </p:spPr>
        <p:txBody>
          <a:bodyPr anchor="b"/>
          <a:lstStyle>
            <a:lvl1pPr marL="0" indent="0">
              <a:buSzTx/>
              <a:buFontTx/>
              <a:buNone/>
              <a:defRPr sz="15200" b="1"/>
            </a:lvl1pPr>
            <a:lvl2pPr marL="0" indent="0">
              <a:buSzTx/>
              <a:buFontTx/>
              <a:buNone/>
              <a:defRPr sz="15200" b="1"/>
            </a:lvl2pPr>
            <a:lvl3pPr marL="0" indent="0">
              <a:buSzTx/>
              <a:buFontTx/>
              <a:buNone/>
              <a:defRPr sz="15200" b="1"/>
            </a:lvl3pPr>
            <a:lvl4pPr marL="0" indent="0">
              <a:buSzTx/>
              <a:buFontTx/>
              <a:buNone/>
              <a:defRPr sz="15200" b="1"/>
            </a:lvl4pPr>
            <a:lvl5pPr marL="0" indent="0">
              <a:buSzTx/>
              <a:buFontTx/>
              <a:buNone/>
              <a:defRPr sz="15200" b="1"/>
            </a:lvl5pPr>
          </a:lstStyle>
          <a:p>
            <a:r>
              <a:t>Body Level One</a:t>
            </a:r>
          </a:p>
          <a:p>
            <a:pPr lvl="1"/>
            <a:r>
              <a:t>Body Level Two</a:t>
            </a:r>
          </a:p>
          <a:p>
            <a:pPr lvl="2"/>
            <a:r>
              <a:t>Body Level Three</a:t>
            </a:r>
          </a:p>
          <a:p>
            <a:pPr lvl="3"/>
            <a:r>
              <a:t>Body Level Four</a:t>
            </a:r>
          </a:p>
          <a:p>
            <a:pPr lvl="4"/>
            <a:r>
              <a:t>Body Level Five</a:t>
            </a:r>
          </a:p>
        </p:txBody>
      </p:sp>
      <p:sp>
        <p:nvSpPr>
          <p:cNvPr id="62" name="Text Placeholder 4"/>
          <p:cNvSpPr>
            <a:spLocks noGrp="1"/>
          </p:cNvSpPr>
          <p:nvPr>
            <p:ph type="body" sz="quarter" idx="21"/>
          </p:nvPr>
        </p:nvSpPr>
        <p:spPr>
          <a:xfrm>
            <a:off x="16664939" y="17226438"/>
            <a:ext cx="13994607" cy="2224566"/>
          </a:xfrm>
          <a:prstGeom prst="rect">
            <a:avLst/>
          </a:prstGeom>
        </p:spPr>
        <p:txBody>
          <a:bodyPr anchor="b"/>
          <a:lstStyle/>
          <a:p>
            <a:pPr marL="1060866" indent="-1060866" defTabSz="4272076">
              <a:spcBef>
                <a:spcPts val="4600"/>
              </a:spcBef>
              <a:defRPr sz="12994"/>
            </a:pPr>
            <a:endParaRP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0" name="Title Text"/>
          <p:cNvSpPr txBox="1">
            <a:spLocks noGrp="1"/>
          </p:cNvSpPr>
          <p:nvPr>
            <p:ph type="title"/>
          </p:nvPr>
        </p:nvSpPr>
        <p:spPr>
          <a:prstGeom prst="rect">
            <a:avLst/>
          </a:prstGeom>
        </p:spPr>
        <p:txBody>
          <a:bodyPr/>
          <a:lstStyle/>
          <a:p>
            <a:r>
              <a:t>Title Text</a:t>
            </a:r>
          </a:p>
        </p:txBody>
      </p:sp>
      <p:sp>
        <p:nvSpPr>
          <p:cNvPr id="7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85" name="Title Text"/>
          <p:cNvSpPr txBox="1">
            <a:spLocks noGrp="1"/>
          </p:cNvSpPr>
          <p:nvPr>
            <p:ph type="title"/>
          </p:nvPr>
        </p:nvSpPr>
        <p:spPr>
          <a:xfrm>
            <a:off x="2267425" y="13921739"/>
            <a:ext cx="10617044" cy="4320543"/>
          </a:xfrm>
          <a:prstGeom prst="rect">
            <a:avLst/>
          </a:prstGeom>
        </p:spPr>
        <p:txBody>
          <a:bodyPr anchor="b"/>
          <a:lstStyle>
            <a:lvl1pPr>
              <a:defRPr sz="20200"/>
            </a:lvl1pPr>
          </a:lstStyle>
          <a:p>
            <a:r>
              <a:t>Title Text</a:t>
            </a:r>
          </a:p>
        </p:txBody>
      </p:sp>
      <p:sp>
        <p:nvSpPr>
          <p:cNvPr id="86" name="Body Level One…"/>
          <p:cNvSpPr txBox="1">
            <a:spLocks noGrp="1"/>
          </p:cNvSpPr>
          <p:nvPr>
            <p:ph type="body" sz="quarter" idx="1"/>
          </p:nvPr>
        </p:nvSpPr>
        <p:spPr>
          <a:xfrm>
            <a:off x="13994606" y="15353348"/>
            <a:ext cx="16664943" cy="13158788"/>
          </a:xfrm>
          <a:prstGeom prst="rect">
            <a:avLst/>
          </a:prstGeom>
        </p:spPr>
        <p:txBody>
          <a:bodyPr/>
          <a:lstStyle>
            <a:lvl1pPr marL="1443037" indent="-1443037">
              <a:defRPr sz="20200"/>
            </a:lvl1pPr>
            <a:lvl2pPr marL="2106384" indent="-1649184">
              <a:defRPr sz="20200"/>
            </a:lvl2pPr>
            <a:lvl3pPr marL="2838450" indent="-1924050">
              <a:defRPr sz="20200"/>
            </a:lvl3pPr>
            <a:lvl4pPr marL="3680459" indent="-2308859">
              <a:defRPr sz="20200"/>
            </a:lvl4pPr>
            <a:lvl5pPr marL="4137659" indent="-2308859">
              <a:defRPr sz="20200"/>
            </a:lvl5pPr>
          </a:lstStyle>
          <a:p>
            <a:r>
              <a:t>Body Level One</a:t>
            </a:r>
          </a:p>
          <a:p>
            <a:pPr lvl="1"/>
            <a:r>
              <a:t>Body Level Two</a:t>
            </a:r>
          </a:p>
          <a:p>
            <a:pPr lvl="2"/>
            <a:r>
              <a:t>Body Level Three</a:t>
            </a:r>
          </a:p>
          <a:p>
            <a:pPr lvl="3"/>
            <a:r>
              <a:t>Body Level Four</a:t>
            </a:r>
          </a:p>
          <a:p>
            <a:pPr lvl="4"/>
            <a:r>
              <a:t>Body Level Five</a:t>
            </a:r>
          </a:p>
        </p:txBody>
      </p:sp>
      <p:sp>
        <p:nvSpPr>
          <p:cNvPr id="87" name="Text Placeholder 3"/>
          <p:cNvSpPr>
            <a:spLocks noGrp="1"/>
          </p:cNvSpPr>
          <p:nvPr>
            <p:ph type="body" sz="quarter" idx="21"/>
          </p:nvPr>
        </p:nvSpPr>
        <p:spPr>
          <a:xfrm>
            <a:off x="2267426" y="18242280"/>
            <a:ext cx="10617043" cy="10291290"/>
          </a:xfrm>
          <a:prstGeom prst="rect">
            <a:avLst/>
          </a:prstGeom>
        </p:spPr>
        <p:txBody>
          <a:bodyPr/>
          <a:lstStyle/>
          <a:p>
            <a:endParaRP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95" name="Title Text"/>
          <p:cNvSpPr txBox="1">
            <a:spLocks noGrp="1"/>
          </p:cNvSpPr>
          <p:nvPr>
            <p:ph type="title"/>
          </p:nvPr>
        </p:nvSpPr>
        <p:spPr>
          <a:xfrm>
            <a:off x="2267425" y="13921739"/>
            <a:ext cx="10617044" cy="4320543"/>
          </a:xfrm>
          <a:prstGeom prst="rect">
            <a:avLst/>
          </a:prstGeom>
        </p:spPr>
        <p:txBody>
          <a:bodyPr anchor="b"/>
          <a:lstStyle>
            <a:lvl1pPr>
              <a:defRPr sz="20200"/>
            </a:lvl1pPr>
          </a:lstStyle>
          <a:p>
            <a:r>
              <a:t>Title Text</a:t>
            </a:r>
          </a:p>
        </p:txBody>
      </p:sp>
      <p:sp>
        <p:nvSpPr>
          <p:cNvPr id="96" name="Picture Placeholder 2"/>
          <p:cNvSpPr>
            <a:spLocks noGrp="1"/>
          </p:cNvSpPr>
          <p:nvPr>
            <p:ph type="pic" sz="quarter" idx="21"/>
          </p:nvPr>
        </p:nvSpPr>
        <p:spPr>
          <a:xfrm>
            <a:off x="13994606" y="15353348"/>
            <a:ext cx="16664943" cy="13158788"/>
          </a:xfrm>
          <a:prstGeom prst="rect">
            <a:avLst/>
          </a:prstGeom>
        </p:spPr>
        <p:txBody>
          <a:bodyPr lIns="91439" tIns="45719" rIns="91439" bIns="45719">
            <a:noAutofit/>
          </a:bodyPr>
          <a:lstStyle/>
          <a:p>
            <a:endParaRPr/>
          </a:p>
        </p:txBody>
      </p:sp>
      <p:sp>
        <p:nvSpPr>
          <p:cNvPr id="97" name="Body Level One…"/>
          <p:cNvSpPr txBox="1">
            <a:spLocks noGrp="1"/>
          </p:cNvSpPr>
          <p:nvPr>
            <p:ph type="body" sz="quarter" idx="1"/>
          </p:nvPr>
        </p:nvSpPr>
        <p:spPr>
          <a:xfrm>
            <a:off x="2267425" y="18242280"/>
            <a:ext cx="10617044" cy="10291290"/>
          </a:xfrm>
          <a:prstGeom prst="rect">
            <a:avLst/>
          </a:prstGeom>
        </p:spPr>
        <p:txBody>
          <a:bodyPr/>
          <a:lstStyle>
            <a:lvl1pPr marL="0" indent="0">
              <a:buSzTx/>
              <a:buFontTx/>
              <a:buNone/>
              <a:defRPr sz="10000"/>
            </a:lvl1pPr>
            <a:lvl2pPr marL="0" indent="0">
              <a:buSzTx/>
              <a:buFontTx/>
              <a:buNone/>
              <a:defRPr sz="10000"/>
            </a:lvl2pPr>
            <a:lvl3pPr marL="0" indent="0">
              <a:buSzTx/>
              <a:buFontTx/>
              <a:buNone/>
              <a:defRPr sz="10000"/>
            </a:lvl3pPr>
            <a:lvl4pPr marL="0" indent="0">
              <a:buSzTx/>
              <a:buFontTx/>
              <a:buNone/>
              <a:defRPr sz="10000"/>
            </a:lvl4pPr>
            <a:lvl5pPr marL="0" indent="0">
              <a:buSzTx/>
              <a:buFontTx/>
              <a:buNone/>
              <a:defRPr sz="10000"/>
            </a:lvl5pPr>
          </a:lstStyle>
          <a:p>
            <a:r>
              <a:t>Body Level One</a:t>
            </a:r>
          </a:p>
          <a:p>
            <a:pPr lvl="1"/>
            <a:r>
              <a:t>Body Level Two</a:t>
            </a:r>
          </a:p>
          <a:p>
            <a:pPr lvl="2"/>
            <a:r>
              <a:t>Body Level Three</a:t>
            </a:r>
          </a:p>
          <a:p>
            <a:pPr lvl="3"/>
            <a:r>
              <a:t>Body Level Four</a:t>
            </a:r>
          </a:p>
          <a:p>
            <a:pPr lvl="4"/>
            <a:r>
              <a:t>Body Level Five</a:t>
            </a:r>
          </a:p>
        </p:txBody>
      </p:sp>
      <p:sp>
        <p:nvSpPr>
          <p:cNvPr id="9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 y="12687300"/>
            <a:ext cx="32918394" cy="3456422"/>
          </a:xfrm>
          <a:prstGeom prst="rect">
            <a:avLst/>
          </a:prstGeom>
          <a:solidFill>
            <a:srgbClr val="01234D"/>
          </a:solidFill>
          <a:ln w="38100">
            <a:solidFill>
              <a:srgbClr val="525755"/>
            </a:solidFill>
            <a:miter/>
          </a:ln>
        </p:spPr>
        <p:txBody>
          <a:bodyPr lIns="123442" tIns="123442" rIns="123442" bIns="123442" anchor="ctr"/>
          <a:lstStyle/>
          <a:p>
            <a:pPr algn="ctr">
              <a:defRPr>
                <a:solidFill>
                  <a:srgbClr val="FFFFFF"/>
                </a:solidFill>
              </a:defRPr>
            </a:pPr>
            <a:endParaRPr/>
          </a:p>
        </p:txBody>
      </p:sp>
      <p:pic>
        <p:nvPicPr>
          <p:cNvPr id="3" name="Picture 14" descr="Picture 14"/>
          <p:cNvPicPr>
            <a:picLocks noChangeAspect="1"/>
          </p:cNvPicPr>
          <p:nvPr/>
        </p:nvPicPr>
        <p:blipFill>
          <a:blip r:embed="rId11"/>
          <a:stretch>
            <a:fillRect/>
          </a:stretch>
        </p:blipFill>
        <p:spPr>
          <a:xfrm>
            <a:off x="24318585" y="12889317"/>
            <a:ext cx="2816519" cy="2816519"/>
          </a:xfrm>
          <a:prstGeom prst="rect">
            <a:avLst/>
          </a:prstGeom>
          <a:ln w="12700">
            <a:miter lim="400000"/>
          </a:ln>
        </p:spPr>
      </p:pic>
      <p:pic>
        <p:nvPicPr>
          <p:cNvPr id="4" name="Picture 15" descr="Picture 15"/>
          <p:cNvPicPr>
            <a:picLocks noChangeAspect="1"/>
          </p:cNvPicPr>
          <p:nvPr/>
        </p:nvPicPr>
        <p:blipFill>
          <a:blip r:embed="rId12"/>
          <a:stretch>
            <a:fillRect/>
          </a:stretch>
        </p:blipFill>
        <p:spPr>
          <a:xfrm>
            <a:off x="29557752" y="13020453"/>
            <a:ext cx="2386930" cy="2386930"/>
          </a:xfrm>
          <a:prstGeom prst="rect">
            <a:avLst/>
          </a:prstGeom>
          <a:ln w="12700">
            <a:miter lim="400000"/>
          </a:ln>
        </p:spPr>
      </p:pic>
      <p:pic>
        <p:nvPicPr>
          <p:cNvPr id="5" name="Picture 16" descr="Picture 16"/>
          <p:cNvPicPr>
            <a:picLocks noChangeAspect="1"/>
          </p:cNvPicPr>
          <p:nvPr/>
        </p:nvPicPr>
        <p:blipFill>
          <a:blip r:embed="rId13"/>
          <a:stretch>
            <a:fillRect/>
          </a:stretch>
        </p:blipFill>
        <p:spPr>
          <a:xfrm>
            <a:off x="27345310" y="13206516"/>
            <a:ext cx="2122041" cy="2122041"/>
          </a:xfrm>
          <a:prstGeom prst="rect">
            <a:avLst/>
          </a:prstGeom>
          <a:ln w="12700">
            <a:miter lim="400000"/>
          </a:ln>
        </p:spPr>
      </p:pic>
      <p:sp>
        <p:nvSpPr>
          <p:cNvPr id="6" name="TextBox 17"/>
          <p:cNvSpPr txBox="1"/>
          <p:nvPr/>
        </p:nvSpPr>
        <p:spPr>
          <a:xfrm>
            <a:off x="7076615" y="12761344"/>
            <a:ext cx="15948653" cy="89463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spAutoFit/>
          </a:bodyPr>
          <a:lstStyle/>
          <a:p>
            <a:pPr>
              <a:defRPr b="1">
                <a:solidFill>
                  <a:srgbClr val="FFFFFF"/>
                </a:solidFill>
                <a:latin typeface="Gordita "/>
                <a:ea typeface="Gordita "/>
                <a:cs typeface="Gordita "/>
                <a:sym typeface="Gordita "/>
              </a:defRPr>
            </a:pPr>
            <a:r>
              <a:t>55</a:t>
            </a:r>
            <a:r>
              <a:rPr baseline="31683"/>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7146731" y="14452821"/>
            <a:ext cx="16783350" cy="25074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spAutoFit/>
          </a:bodyPr>
          <a:lstStyle>
            <a:lvl1pPr>
              <a:defRPr sz="7400" b="1">
                <a:solidFill>
                  <a:srgbClr val="FFFFFF"/>
                </a:solidFill>
                <a:latin typeface="Gordita "/>
                <a:ea typeface="Gordita "/>
                <a:cs typeface="Gordita "/>
                <a:sym typeface="Gordita "/>
              </a:defRPr>
            </a:lvl1pPr>
          </a:lstStyle>
          <a:p>
            <a:r>
              <a:t>Date 6 – 8 February,2026, Venue : Kurnool Medical College</a:t>
            </a:r>
          </a:p>
        </p:txBody>
      </p:sp>
      <p:sp>
        <p:nvSpPr>
          <p:cNvPr id="8" name="TextBox 19"/>
          <p:cNvSpPr txBox="1"/>
          <p:nvPr/>
        </p:nvSpPr>
        <p:spPr>
          <a:xfrm>
            <a:off x="7076616" y="15153318"/>
            <a:ext cx="18960998" cy="36377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spAutoFit/>
          </a:bodyPr>
          <a:lstStyle>
            <a:lvl1pPr>
              <a:defRPr sz="7400" b="1">
                <a:solidFill>
                  <a:srgbClr val="FFFFFF"/>
                </a:solidFill>
                <a:latin typeface="Gordita "/>
                <a:ea typeface="Gordita "/>
                <a:cs typeface="Gordita "/>
                <a:sym typeface="Gordita "/>
              </a:defRPr>
            </a:lvl1pPr>
          </a:lstStyle>
          <a:p>
            <a:r>
              <a:t>Organized by : Department of Orthopaedics, Kurnool Medical College Kurnool</a:t>
            </a:r>
          </a:p>
        </p:txBody>
      </p:sp>
      <p:sp>
        <p:nvSpPr>
          <p:cNvPr id="9" name="Freeform 13"/>
          <p:cNvSpPr/>
          <p:nvPr/>
        </p:nvSpPr>
        <p:spPr>
          <a:xfrm>
            <a:off x="1514197" y="12725788"/>
            <a:ext cx="4065018" cy="3456426"/>
          </a:xfrm>
          <a:prstGeom prst="rect">
            <a:avLst/>
          </a:prstGeom>
          <a:blipFill>
            <a:blip r:embed="rId14"/>
            <a:stretch>
              <a:fillRect/>
            </a:stretch>
          </a:blipFill>
          <a:ln w="12700">
            <a:miter lim="400000"/>
          </a:ln>
        </p:spPr>
        <p:txBody>
          <a:bodyPr lIns="123442" tIns="123442" rIns="123442" bIns="123442"/>
          <a:lstStyle/>
          <a:p>
            <a:endParaRPr/>
          </a:p>
        </p:txBody>
      </p:sp>
      <p:sp>
        <p:nvSpPr>
          <p:cNvPr id="10" name="Title Text"/>
          <p:cNvSpPr txBox="1">
            <a:spLocks noGrp="1"/>
          </p:cNvSpPr>
          <p:nvPr>
            <p:ph type="title"/>
          </p:nvPr>
        </p:nvSpPr>
        <p:spPr>
          <a:xfrm>
            <a:off x="2263138" y="13673137"/>
            <a:ext cx="28392123" cy="35790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normAutofit/>
          </a:bodyPr>
          <a:lstStyle/>
          <a:p>
            <a:r>
              <a:t>Title Text</a:t>
            </a:r>
          </a:p>
        </p:txBody>
      </p:sp>
      <p:sp>
        <p:nvSpPr>
          <p:cNvPr id="11" name="Body Level One…"/>
          <p:cNvSpPr txBox="1">
            <a:spLocks noGrp="1"/>
          </p:cNvSpPr>
          <p:nvPr>
            <p:ph type="body" idx="1"/>
          </p:nvPr>
        </p:nvSpPr>
        <p:spPr>
          <a:xfrm>
            <a:off x="2263138" y="17616487"/>
            <a:ext cx="28392123" cy="117486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3442" tIns="123442" rIns="123442" bIns="123442">
            <a:normAutofit/>
          </a:bodyPr>
          <a:lstStyle/>
          <a:p>
            <a:r>
              <a:t>Body Level One</a:t>
            </a:r>
          </a:p>
          <a:p>
            <a:pPr lvl="1"/>
            <a:r>
              <a:t>Body Level Two</a:t>
            </a:r>
          </a:p>
          <a:p>
            <a:pPr lvl="2"/>
            <a:r>
              <a:t>Body Level Three</a:t>
            </a:r>
          </a:p>
          <a:p>
            <a:pPr lvl="3"/>
            <a:r>
              <a:t>Body Level Four</a:t>
            </a:r>
          </a:p>
          <a:p>
            <a:pPr lvl="4"/>
            <a:r>
              <a:t>Body Level Five</a:t>
            </a:r>
          </a:p>
        </p:txBody>
      </p:sp>
      <p:sp>
        <p:nvSpPr>
          <p:cNvPr id="12" name="Slide Number"/>
          <p:cNvSpPr txBox="1">
            <a:spLocks noGrp="1"/>
          </p:cNvSpPr>
          <p:nvPr>
            <p:ph type="sldNum" sz="quarter" idx="2"/>
          </p:nvPr>
        </p:nvSpPr>
        <p:spPr>
          <a:xfrm>
            <a:off x="23248619" y="29849446"/>
            <a:ext cx="1869980" cy="1986785"/>
          </a:xfrm>
          <a:prstGeom prst="rect">
            <a:avLst/>
          </a:prstGeom>
          <a:ln w="12700">
            <a:miter lim="400000"/>
          </a:ln>
        </p:spPr>
        <p:txBody>
          <a:bodyPr wrap="none" lIns="123442" tIns="123442" rIns="123442" bIns="123442">
            <a:spAutoFit/>
          </a:body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1pPr>
      <a:lvl2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2pPr>
      <a:lvl3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3pPr>
      <a:lvl4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4pPr>
      <a:lvl5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5pPr>
      <a:lvl6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6pPr>
      <a:lvl7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7pPr>
      <a:lvl8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8pPr>
      <a:lvl9pPr marL="0" marR="0" indent="0" algn="l" defTabSz="5852159" rtl="0" latinLnBrk="0">
        <a:lnSpc>
          <a:spcPct val="90000"/>
        </a:lnSpc>
        <a:spcBef>
          <a:spcPts val="0"/>
        </a:spcBef>
        <a:spcAft>
          <a:spcPts val="0"/>
        </a:spcAft>
        <a:buClrTx/>
        <a:buSzTx/>
        <a:buFontTx/>
        <a:buNone/>
        <a:tabLst/>
        <a:defRPr sz="28000" b="0" i="0" u="none" strike="noStrike" cap="none" spc="0" baseline="0">
          <a:solidFill>
            <a:srgbClr val="000000"/>
          </a:solidFill>
          <a:uFillTx/>
          <a:latin typeface="Aptos Display"/>
          <a:ea typeface="Aptos Display"/>
          <a:cs typeface="Aptos Display"/>
          <a:sym typeface="Aptos Display"/>
        </a:defRPr>
      </a:lvl9pPr>
    </p:titleStyle>
    <p:bodyStyle>
      <a:lvl1pPr marL="1453242" marR="0" indent="-1453242"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1pPr>
      <a:lvl2pPr marL="2152650" marR="0" indent="-169545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2pPr>
      <a:lvl3pPr marL="2948938" marR="0" indent="-2034538"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3pPr>
      <a:lvl4pPr marL="36322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4pPr>
      <a:lvl5pPr marL="40894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5pPr>
      <a:lvl6pPr marL="45466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6pPr>
      <a:lvl7pPr marL="50038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7pPr>
      <a:lvl8pPr marL="54610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8pPr>
      <a:lvl9pPr marL="5918200" marR="0" indent="-2260600" algn="l" defTabSz="5852159" rtl="0" latinLnBrk="0">
        <a:lnSpc>
          <a:spcPct val="90000"/>
        </a:lnSpc>
        <a:spcBef>
          <a:spcPts val="6400"/>
        </a:spcBef>
        <a:spcAft>
          <a:spcPts val="0"/>
        </a:spcAft>
        <a:buClrTx/>
        <a:buSzPct val="100000"/>
        <a:buFont typeface="Arial"/>
        <a:buChar char="•"/>
        <a:tabLst/>
        <a:defRPr sz="17800" b="0" i="0" u="none" strike="noStrike" cap="none" spc="0" baseline="0">
          <a:solidFill>
            <a:srgbClr val="000000"/>
          </a:solidFill>
          <a:uFillTx/>
          <a:latin typeface="+mn-lt"/>
          <a:ea typeface="+mn-ea"/>
          <a:cs typeface="+mn-cs"/>
          <a:sym typeface="Aptos"/>
        </a:defRPr>
      </a:lvl9pPr>
    </p:bodyStyle>
    <p:otherStyle>
      <a:lvl1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1pPr>
      <a:lvl2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2pPr>
      <a:lvl3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3pPr>
      <a:lvl4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4pPr>
      <a:lvl5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5pPr>
      <a:lvl6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6pPr>
      <a:lvl7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7pPr>
      <a:lvl8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8pPr>
      <a:lvl9pPr marL="0" marR="0" indent="0" algn="l" defTabSz="5852159" rtl="0" latinLnBrk="0">
        <a:lnSpc>
          <a:spcPct val="100000"/>
        </a:lnSpc>
        <a:spcBef>
          <a:spcPts val="0"/>
        </a:spcBef>
        <a:spcAft>
          <a:spcPts val="0"/>
        </a:spcAft>
        <a:buClrTx/>
        <a:buSzTx/>
        <a:buFontTx/>
        <a:buNone/>
        <a:tabLst/>
        <a:defRPr sz="114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png"/><Relationship Id="rId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ACKNOWLEDGEMENT…"/>
          <p:cNvGrpSpPr/>
          <p:nvPr/>
        </p:nvGrpSpPr>
        <p:grpSpPr>
          <a:xfrm>
            <a:off x="23123111" y="38611633"/>
            <a:ext cx="9528895" cy="5035220"/>
            <a:chOff x="-262514" y="-88532"/>
            <a:chExt cx="8746799" cy="4426699"/>
          </a:xfrm>
        </p:grpSpPr>
        <p:sp>
          <p:nvSpPr>
            <p:cNvPr id="107" name="Rectangle"/>
            <p:cNvSpPr/>
            <p:nvPr/>
          </p:nvSpPr>
          <p:spPr>
            <a:xfrm>
              <a:off x="-262514" y="-1"/>
              <a:ext cx="8746799" cy="4249642"/>
            </a:xfrm>
            <a:prstGeom prst="rect">
              <a:avLst/>
            </a:prstGeom>
            <a:solidFill>
              <a:srgbClr val="FFFFFF"/>
            </a:solidFill>
            <a:ln w="38100" cap="flat">
              <a:solidFill>
                <a:schemeClr val="accent1"/>
              </a:solidFill>
              <a:prstDash val="solid"/>
              <a:miter lim="800000"/>
            </a:ln>
            <a:effectLst/>
          </p:spPr>
          <p:txBody>
            <a:bodyPr wrap="square" lIns="123442" tIns="123442" rIns="123442" bIns="123442" numCol="1" anchor="ctr">
              <a:noAutofit/>
            </a:bodyPr>
            <a:lstStyle/>
            <a:p>
              <a:pPr defTabSz="457200">
                <a:spcBef>
                  <a:spcPts val="1200"/>
                </a:spcBef>
                <a:defRPr sz="3500">
                  <a:latin typeface="Arial"/>
                  <a:ea typeface="Arial"/>
                  <a:cs typeface="Arial"/>
                  <a:sym typeface="Arial"/>
                </a:defRPr>
              </a:pPr>
              <a:endParaRPr/>
            </a:p>
          </p:txBody>
        </p:sp>
        <p:sp>
          <p:nvSpPr>
            <p:cNvPr id="108" name="ACKNOWLEDGEMENT…"/>
            <p:cNvSpPr txBox="1"/>
            <p:nvPr/>
          </p:nvSpPr>
          <p:spPr>
            <a:xfrm>
              <a:off x="-173037" y="-88532"/>
              <a:ext cx="8657322" cy="442669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p>
              <a:pPr defTabSz="457200">
                <a:spcBef>
                  <a:spcPts val="1600"/>
                </a:spcBef>
                <a:defRPr sz="3500" b="1">
                  <a:latin typeface="Arial"/>
                  <a:ea typeface="Arial"/>
                  <a:cs typeface="Arial"/>
                  <a:sym typeface="Arial"/>
                </a:defRPr>
              </a:pPr>
              <a:r>
                <a:rPr lang="en-US" sz="4300" dirty="0"/>
                <a:t>ACKNOWLEDGEMENT</a:t>
              </a:r>
            </a:p>
            <a:p>
              <a:pPr defTabSz="457200">
                <a:spcBef>
                  <a:spcPts val="1200"/>
                </a:spcBef>
                <a:defRPr sz="3500">
                  <a:latin typeface="Arial"/>
                  <a:ea typeface="Arial"/>
                  <a:cs typeface="Arial"/>
                  <a:sym typeface="Arial"/>
                </a:defRPr>
              </a:pPr>
              <a:r>
                <a:rPr lang="en-US" sz="4300" dirty="0"/>
                <a:t>I express my gratitude to </a:t>
              </a:r>
              <a:r>
                <a:rPr lang="en-US" sz="4300" dirty="0" err="1"/>
                <a:t>Dr.V</a:t>
              </a:r>
              <a:r>
                <a:rPr lang="en-US" sz="4300" dirty="0"/>
                <a:t> Nageswara Rao (HOD), </a:t>
              </a:r>
              <a:r>
                <a:rPr lang="en-US" sz="4300" dirty="0" err="1"/>
                <a:t>Dr.Siva</a:t>
              </a:r>
              <a:r>
                <a:rPr lang="en-US" sz="4300" dirty="0"/>
                <a:t> Praful (SR) and faculty from Department of </a:t>
              </a:r>
              <a:r>
                <a:rPr lang="en-US" sz="4300" dirty="0" err="1"/>
                <a:t>Orthopaedics</a:t>
              </a:r>
              <a:r>
                <a:rPr lang="en-US" sz="4300" dirty="0"/>
                <a:t>, GSL Medical College &amp; General Hospital, for their guidance and support.</a:t>
              </a:r>
            </a:p>
          </p:txBody>
        </p:sp>
      </p:grpSp>
      <p:grpSp>
        <p:nvGrpSpPr>
          <p:cNvPr id="112" name="Rectangle 9"/>
          <p:cNvGrpSpPr/>
          <p:nvPr/>
        </p:nvGrpSpPr>
        <p:grpSpPr>
          <a:xfrm>
            <a:off x="356999" y="5482721"/>
            <a:ext cx="10729668" cy="1379837"/>
            <a:chOff x="-1" y="-1"/>
            <a:chExt cx="10870364" cy="1379836"/>
          </a:xfrm>
        </p:grpSpPr>
        <p:sp>
          <p:nvSpPr>
            <p:cNvPr id="110" name="Rectangle"/>
            <p:cNvSpPr/>
            <p:nvPr/>
          </p:nvSpPr>
          <p:spPr>
            <a:xfrm>
              <a:off x="-2" y="-2"/>
              <a:ext cx="10870366" cy="1379837"/>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11" name="INTRODUCTION"/>
            <p:cNvSpPr txBox="1"/>
            <p:nvPr/>
          </p:nvSpPr>
          <p:spPr>
            <a:xfrm>
              <a:off x="193161" y="286284"/>
              <a:ext cx="10484041" cy="80726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INTRODUCTION </a:t>
              </a:r>
            </a:p>
          </p:txBody>
        </p:sp>
      </p:grpSp>
      <p:grpSp>
        <p:nvGrpSpPr>
          <p:cNvPr id="115" name="Metatarsophalangeal (MTP) joint dislocations are uncommon injuries, most frequently involving the first MTP joint. Simultaneous disruption of multiple MTP joints is extremely rare and usually associated with high-energy trauma. Early diagnosis and prompt"/>
          <p:cNvGrpSpPr/>
          <p:nvPr/>
        </p:nvGrpSpPr>
        <p:grpSpPr>
          <a:xfrm>
            <a:off x="356998" y="7102699"/>
            <a:ext cx="10740817" cy="11012361"/>
            <a:chOff x="-307969" y="-795418"/>
            <a:chExt cx="10726964" cy="10755029"/>
          </a:xfrm>
        </p:grpSpPr>
        <p:sp>
          <p:nvSpPr>
            <p:cNvPr id="113" name="Rectangle"/>
            <p:cNvSpPr/>
            <p:nvPr/>
          </p:nvSpPr>
          <p:spPr>
            <a:xfrm>
              <a:off x="-307969" y="-795418"/>
              <a:ext cx="10726964" cy="10755029"/>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14" name="Metatarsophalangeal (MTP) joint dislocations are uncommon injuries, most frequently involving the first MTP joint. Simultaneous disruption of multiple MTP joints is extremely rare and usually associated with high-energy trauma. Early diagnosis and prompt"/>
            <p:cNvSpPr txBox="1"/>
            <p:nvPr/>
          </p:nvSpPr>
          <p:spPr>
            <a:xfrm>
              <a:off x="-293702" y="-795418"/>
              <a:ext cx="10701564" cy="1059058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lvl1pPr defTabSz="914400">
                <a:defRPr sz="4000">
                  <a:latin typeface="Arial"/>
                  <a:ea typeface="Arial"/>
                  <a:cs typeface="Arial"/>
                  <a:sym typeface="Arial"/>
                </a:defRPr>
              </a:lvl1pPr>
            </a:lstStyle>
            <a:p>
              <a:r>
                <a:rPr sz="4800" dirty="0"/>
                <a:t>Metatarsophalangeal (MTP) joint dislocations are uncommon injuries, most frequently involving the first MTP joint. Simultaneous disruption of multiple MTP joints is extremely rare and usually associated with high-energy trauma. Early diagnosis and prompt reduction are crucial to restore joint congruity and prevent long-term complications such as stiffness, instability, and post-traumatic arthritis. We present a rare case of multiple MTP joint disruptions successfully managed with closed reduction.</a:t>
              </a:r>
            </a:p>
          </p:txBody>
        </p:sp>
      </p:grpSp>
      <p:grpSp>
        <p:nvGrpSpPr>
          <p:cNvPr id="118" name="Rectangle 12"/>
          <p:cNvGrpSpPr/>
          <p:nvPr/>
        </p:nvGrpSpPr>
        <p:grpSpPr>
          <a:xfrm>
            <a:off x="371283" y="18421244"/>
            <a:ext cx="11019103" cy="1368358"/>
            <a:chOff x="0" y="0"/>
            <a:chExt cx="10779931" cy="1368356"/>
          </a:xfrm>
        </p:grpSpPr>
        <p:sp>
          <p:nvSpPr>
            <p:cNvPr id="116" name="Rectangle"/>
            <p:cNvSpPr/>
            <p:nvPr/>
          </p:nvSpPr>
          <p:spPr>
            <a:xfrm>
              <a:off x="-1" y="-1"/>
              <a:ext cx="10779933" cy="1368357"/>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17" name="CASE REPORT"/>
            <p:cNvSpPr txBox="1"/>
            <p:nvPr/>
          </p:nvSpPr>
          <p:spPr>
            <a:xfrm>
              <a:off x="191554" y="280545"/>
              <a:ext cx="10396823" cy="80726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solidFill>
                    <a:srgbClr val="0D0D0D"/>
                  </a:solidFill>
                  <a:latin typeface="Arial"/>
                  <a:ea typeface="Arial"/>
                  <a:cs typeface="Arial"/>
                  <a:sym typeface="Arial"/>
                </a:defRPr>
              </a:lvl1pPr>
            </a:lstStyle>
            <a:p>
              <a:r>
                <a:rPr dirty="0"/>
                <a:t>CASE REPORT</a:t>
              </a:r>
            </a:p>
          </p:txBody>
        </p:sp>
      </p:grpSp>
      <p:grpSp>
        <p:nvGrpSpPr>
          <p:cNvPr id="121" name="Case Presentation…"/>
          <p:cNvGrpSpPr/>
          <p:nvPr/>
        </p:nvGrpSpPr>
        <p:grpSpPr>
          <a:xfrm>
            <a:off x="473329" y="19971019"/>
            <a:ext cx="10917057" cy="11462882"/>
            <a:chOff x="-1" y="0"/>
            <a:chExt cx="10802677" cy="10755029"/>
          </a:xfrm>
        </p:grpSpPr>
        <p:sp>
          <p:nvSpPr>
            <p:cNvPr id="119" name="Rectangle"/>
            <p:cNvSpPr/>
            <p:nvPr/>
          </p:nvSpPr>
          <p:spPr>
            <a:xfrm>
              <a:off x="-1" y="0"/>
              <a:ext cx="10802677" cy="10755029"/>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20" name="Case Presentation…"/>
            <p:cNvSpPr txBox="1"/>
            <p:nvPr/>
          </p:nvSpPr>
          <p:spPr>
            <a:xfrm>
              <a:off x="25399" y="1354"/>
              <a:ext cx="10777277" cy="106296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p>
              <a:pPr defTabSz="914400">
                <a:defRPr sz="4000" b="1" u="sng">
                  <a:latin typeface="Arial"/>
                  <a:ea typeface="Arial"/>
                  <a:cs typeface="Arial"/>
                  <a:sym typeface="Arial"/>
                </a:defRPr>
              </a:pPr>
              <a:r>
                <a:rPr sz="4800" dirty="0"/>
                <a:t>Case Presentation</a:t>
              </a:r>
            </a:p>
            <a:p>
              <a:pPr defTabSz="914400">
                <a:defRPr sz="4000">
                  <a:latin typeface="Arial"/>
                  <a:ea typeface="Arial"/>
                  <a:cs typeface="Arial"/>
                  <a:sym typeface="Arial"/>
                </a:defRPr>
              </a:pPr>
              <a:r>
                <a:rPr sz="4800" dirty="0"/>
                <a:t>A 44 yr old female patient with alleged history of fall from bike presented following a high-energy traumatic event with pain, swelling, and deformity of the forefoot. The patient was unable to bear weight on the affected limb.</a:t>
              </a:r>
              <a:endParaRPr lang="en-IN" sz="4800" dirty="0"/>
            </a:p>
            <a:p>
              <a:pPr defTabSz="914400">
                <a:defRPr sz="4000">
                  <a:latin typeface="Arial"/>
                  <a:ea typeface="Arial"/>
                  <a:cs typeface="Arial"/>
                  <a:sym typeface="Arial"/>
                </a:defRPr>
              </a:pPr>
              <a:endParaRPr sz="4800" dirty="0"/>
            </a:p>
            <a:p>
              <a:pPr defTabSz="914400">
                <a:defRPr sz="4000" b="1" u="sng">
                  <a:latin typeface="Arial"/>
                  <a:ea typeface="Arial"/>
                  <a:cs typeface="Arial"/>
                  <a:sym typeface="Arial"/>
                </a:defRPr>
              </a:pPr>
              <a:r>
                <a:rPr sz="4800" dirty="0"/>
                <a:t>Clinical Examination</a:t>
              </a:r>
            </a:p>
            <a:p>
              <a:pPr defTabSz="914400">
                <a:defRPr sz="4000">
                  <a:latin typeface="Arial"/>
                  <a:ea typeface="Arial"/>
                  <a:cs typeface="Arial"/>
                  <a:sym typeface="Arial"/>
                </a:defRPr>
              </a:pPr>
              <a:r>
                <a:rPr sz="4800" dirty="0"/>
                <a:t>•Diffuse swelling over the forefoot</a:t>
              </a:r>
            </a:p>
            <a:p>
              <a:pPr defTabSz="914400">
                <a:defRPr sz="4000">
                  <a:latin typeface="Arial"/>
                  <a:ea typeface="Arial"/>
                  <a:cs typeface="Arial"/>
                  <a:sym typeface="Arial"/>
                </a:defRPr>
              </a:pPr>
              <a:r>
                <a:rPr sz="4800" dirty="0"/>
                <a:t>•Visible deformity at the metatarsophalangeal joint level</a:t>
              </a:r>
            </a:p>
            <a:p>
              <a:pPr defTabSz="914400">
                <a:defRPr sz="4000">
                  <a:latin typeface="Arial"/>
                  <a:ea typeface="Arial"/>
                  <a:cs typeface="Arial"/>
                  <a:sym typeface="Arial"/>
                </a:defRPr>
              </a:pPr>
              <a:r>
                <a:rPr sz="4800" dirty="0"/>
                <a:t>•Tenderness over involved MTP joints</a:t>
              </a:r>
            </a:p>
            <a:p>
              <a:pPr defTabSz="914400">
                <a:defRPr sz="4000">
                  <a:latin typeface="Arial"/>
                  <a:ea typeface="Arial"/>
                  <a:cs typeface="Arial"/>
                  <a:sym typeface="Arial"/>
                </a:defRPr>
              </a:pPr>
              <a:r>
                <a:rPr sz="4800" dirty="0"/>
                <a:t>•Restricted and painful toe movements</a:t>
              </a:r>
            </a:p>
            <a:p>
              <a:pPr defTabSz="914400">
                <a:defRPr sz="4000">
                  <a:latin typeface="Arial"/>
                  <a:ea typeface="Arial"/>
                  <a:cs typeface="Arial"/>
                  <a:sym typeface="Arial"/>
                </a:defRPr>
              </a:pPr>
              <a:r>
                <a:rPr sz="4800" dirty="0"/>
                <a:t>•Distal neurovascular status intact</a:t>
              </a:r>
            </a:p>
          </p:txBody>
        </p:sp>
      </p:grpSp>
      <p:grpSp>
        <p:nvGrpSpPr>
          <p:cNvPr id="124" name="Plain radiographs of the foot (anteroposterior, oblique, and lateral views) revealed dorsal dislocation of multiple metatarsophalangeal joints without associated fractures. Loss of joint congruency and dorsal displacement of proximal phalanges relative t"/>
          <p:cNvGrpSpPr/>
          <p:nvPr/>
        </p:nvGrpSpPr>
        <p:grpSpPr>
          <a:xfrm>
            <a:off x="11593262" y="6984315"/>
            <a:ext cx="11246178" cy="7020379"/>
            <a:chOff x="-187510" y="-272257"/>
            <a:chExt cx="11043840" cy="6118051"/>
          </a:xfrm>
        </p:grpSpPr>
        <p:sp>
          <p:nvSpPr>
            <p:cNvPr id="122" name="Rectangle"/>
            <p:cNvSpPr/>
            <p:nvPr/>
          </p:nvSpPr>
          <p:spPr>
            <a:xfrm>
              <a:off x="-187510" y="-152034"/>
              <a:ext cx="11032474" cy="5848446"/>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23" name="Plain radiographs of the foot (anteroposterior, oblique) revealed dorsal dislocation of 1st ,2nd metatarsophalangeal joints and 3rd metatarsal subluxation without fractures. Loss of joint congruency and dorsal displacement of proximal phalanges relative "/>
            <p:cNvSpPr txBox="1"/>
            <p:nvPr/>
          </p:nvSpPr>
          <p:spPr>
            <a:xfrm>
              <a:off x="36766" y="-272257"/>
              <a:ext cx="10819564" cy="61180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lvl1pPr defTabSz="914400">
                <a:defRPr sz="4000">
                  <a:latin typeface="Arial"/>
                  <a:ea typeface="Arial"/>
                  <a:cs typeface="Arial"/>
                  <a:sym typeface="Arial"/>
                </a:defRPr>
              </a:lvl1pPr>
            </a:lstStyle>
            <a:p>
              <a:r>
                <a:rPr sz="4400" dirty="0"/>
                <a:t>Plain radiographs of the foot (anteroposterior, oblique) revealed dorsal dislocation of 1st ,2nd metatarsophalangeal joints and 3rd metatarsal subluxation without fracture</a:t>
              </a:r>
              <a:r>
                <a:rPr lang="en-IN" sz="4400" dirty="0"/>
                <a:t>(Jahs</a:t>
              </a:r>
              <a:r>
                <a:rPr sz="4400" dirty="0"/>
                <a:t>s</a:t>
              </a:r>
              <a:r>
                <a:rPr lang="en-IN" sz="4400" dirty="0"/>
                <a:t> classification type 2A).</a:t>
              </a:r>
              <a:r>
                <a:rPr sz="4400" dirty="0"/>
                <a:t>Loss of joint congruency and dorsal displacement of proximal phalanges relative to the metatarsal heads were</a:t>
              </a:r>
              <a:r>
                <a:rPr lang="en-IN" sz="4400" dirty="0"/>
                <a:t> </a:t>
              </a:r>
              <a:r>
                <a:rPr sz="4400" dirty="0"/>
                <a:t>evident</a:t>
              </a:r>
              <a:r>
                <a:rPr lang="en-IN" sz="4400" dirty="0"/>
                <a:t>.</a:t>
              </a:r>
              <a:endParaRPr sz="4400" dirty="0"/>
            </a:p>
          </p:txBody>
        </p:sp>
      </p:grpSp>
      <p:pic>
        <p:nvPicPr>
          <p:cNvPr id="125" name="Picture 27" descr="Picture 27"/>
          <p:cNvPicPr>
            <a:picLocks noChangeAspect="1"/>
          </p:cNvPicPr>
          <p:nvPr/>
        </p:nvPicPr>
        <p:blipFill>
          <a:blip r:embed="rId2"/>
          <a:srcRect t="15597" b="26184"/>
          <a:stretch>
            <a:fillRect/>
          </a:stretch>
        </p:blipFill>
        <p:spPr>
          <a:xfrm>
            <a:off x="14453797" y="14048859"/>
            <a:ext cx="5624280" cy="3495376"/>
          </a:xfrm>
          <a:prstGeom prst="rect">
            <a:avLst/>
          </a:prstGeom>
          <a:ln w="12700">
            <a:miter lim="400000"/>
          </a:ln>
        </p:spPr>
      </p:pic>
      <p:pic>
        <p:nvPicPr>
          <p:cNvPr id="126" name="Picture 28" descr="Picture 28"/>
          <p:cNvPicPr>
            <a:picLocks noChangeAspect="1"/>
          </p:cNvPicPr>
          <p:nvPr/>
        </p:nvPicPr>
        <p:blipFill>
          <a:blip r:embed="rId3"/>
          <a:srcRect r="6711"/>
          <a:stretch>
            <a:fillRect/>
          </a:stretch>
        </p:blipFill>
        <p:spPr>
          <a:xfrm>
            <a:off x="17537069" y="17779630"/>
            <a:ext cx="4549419" cy="5192817"/>
          </a:xfrm>
          <a:prstGeom prst="rect">
            <a:avLst/>
          </a:prstGeom>
          <a:ln w="12700">
            <a:miter lim="400000"/>
          </a:ln>
        </p:spPr>
      </p:pic>
      <p:grpSp>
        <p:nvGrpSpPr>
          <p:cNvPr id="129" name="Rectangle 26"/>
          <p:cNvGrpSpPr/>
          <p:nvPr/>
        </p:nvGrpSpPr>
        <p:grpSpPr>
          <a:xfrm>
            <a:off x="11716096" y="23304031"/>
            <a:ext cx="11259112" cy="997524"/>
            <a:chOff x="-1" y="-1"/>
            <a:chExt cx="10978380" cy="942865"/>
          </a:xfrm>
        </p:grpSpPr>
        <p:sp>
          <p:nvSpPr>
            <p:cNvPr id="127" name="Rectangle"/>
            <p:cNvSpPr/>
            <p:nvPr/>
          </p:nvSpPr>
          <p:spPr>
            <a:xfrm>
              <a:off x="-2" y="-2"/>
              <a:ext cx="10978381" cy="942866"/>
            </a:xfrm>
            <a:prstGeom prst="rect">
              <a:avLst/>
            </a:prstGeom>
            <a:solidFill>
              <a:srgbClr val="A6CAEC"/>
            </a:solidFill>
            <a:ln w="19050" cap="flat">
              <a:solidFill>
                <a:srgbClr val="092937"/>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28" name="POST REDUCTION IMAGING"/>
            <p:cNvSpPr txBox="1"/>
            <p:nvPr/>
          </p:nvSpPr>
          <p:spPr>
            <a:xfrm>
              <a:off x="131990" y="67799"/>
              <a:ext cx="10714398" cy="80726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t>POST REDUCTION IMAGING </a:t>
              </a:r>
            </a:p>
          </p:txBody>
        </p:sp>
      </p:grpSp>
      <p:grpSp>
        <p:nvGrpSpPr>
          <p:cNvPr id="132" name="Post-reduction radiographs demonstrated successful concentric reduction of the involved MTP joints with restoration of normal joint alignment and articular congruity. No residual subluxation or instability was noted."/>
          <p:cNvGrpSpPr/>
          <p:nvPr/>
        </p:nvGrpSpPr>
        <p:grpSpPr>
          <a:xfrm>
            <a:off x="11752046" y="24414048"/>
            <a:ext cx="11260004" cy="4311946"/>
            <a:chOff x="-1" y="-112494"/>
            <a:chExt cx="11260002" cy="4311945"/>
          </a:xfrm>
        </p:grpSpPr>
        <p:sp>
          <p:nvSpPr>
            <p:cNvPr id="130" name="Rectangle"/>
            <p:cNvSpPr/>
            <p:nvPr/>
          </p:nvSpPr>
          <p:spPr>
            <a:xfrm>
              <a:off x="-1" y="-1"/>
              <a:ext cx="11260002" cy="4086959"/>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31" name="Post-reduction radiographs demonstrated successful concentric reduction of the involved MTP joints with restoration of normal joint alignment and articular congruity. No residual subluxation or instability was noted."/>
            <p:cNvSpPr txBox="1"/>
            <p:nvPr/>
          </p:nvSpPr>
          <p:spPr>
            <a:xfrm>
              <a:off x="12699" y="-112494"/>
              <a:ext cx="11234602" cy="431194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lvl1pPr defTabSz="914400">
                <a:defRPr sz="4000">
                  <a:latin typeface="Arial"/>
                  <a:ea typeface="Arial"/>
                  <a:cs typeface="Arial"/>
                  <a:sym typeface="Arial"/>
                </a:defRPr>
              </a:lvl1pPr>
            </a:lstStyle>
            <a:p>
              <a:r>
                <a:rPr sz="4400" dirty="0"/>
                <a:t>Post-reduction radiographs demonstrated successful concentric reduction of the involved MTP joints with restoration of normal joint alignment and articular congruity. No residual subluxation or instability was noted.</a:t>
              </a:r>
            </a:p>
          </p:txBody>
        </p:sp>
      </p:grpSp>
      <p:grpSp>
        <p:nvGrpSpPr>
          <p:cNvPr id="135" name="• Procedure performed under adequate analgesia/sedation…"/>
          <p:cNvGrpSpPr/>
          <p:nvPr/>
        </p:nvGrpSpPr>
        <p:grpSpPr>
          <a:xfrm>
            <a:off x="435482" y="33544800"/>
            <a:ext cx="11053019" cy="9978545"/>
            <a:chOff x="-1" y="-1"/>
            <a:chExt cx="11053017" cy="9009562"/>
          </a:xfrm>
        </p:grpSpPr>
        <p:sp>
          <p:nvSpPr>
            <p:cNvPr id="133" name="Rectangle"/>
            <p:cNvSpPr/>
            <p:nvPr/>
          </p:nvSpPr>
          <p:spPr>
            <a:xfrm>
              <a:off x="-1" y="-1"/>
              <a:ext cx="11053017" cy="9009562"/>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34" name="• Procedure performed under adequate analgesia/sedation…"/>
            <p:cNvSpPr txBox="1"/>
            <p:nvPr/>
          </p:nvSpPr>
          <p:spPr>
            <a:xfrm>
              <a:off x="12699" y="112741"/>
              <a:ext cx="11027617" cy="878408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p>
              <a:pPr defTabSz="914400">
                <a:defRPr sz="4000">
                  <a:latin typeface="Arial"/>
                  <a:ea typeface="Arial"/>
                  <a:cs typeface="Arial"/>
                  <a:sym typeface="Arial"/>
                </a:defRPr>
              </a:pPr>
              <a:r>
                <a:rPr lang="en-IN" sz="4400" b="1" dirty="0"/>
                <a:t>Reduction manoeuvre :</a:t>
              </a:r>
              <a:endParaRPr lang="en-IN" sz="4400" dirty="0"/>
            </a:p>
            <a:p>
              <a:pPr defTabSz="914400">
                <a:defRPr sz="4000">
                  <a:latin typeface="Arial"/>
                  <a:ea typeface="Arial"/>
                  <a:cs typeface="Arial"/>
                  <a:sym typeface="Arial"/>
                </a:defRPr>
              </a:pPr>
              <a:r>
                <a:rPr sz="4400" dirty="0"/>
                <a:t>• Procedure performed under adequate analgesia</a:t>
              </a:r>
            </a:p>
            <a:p>
              <a:pPr defTabSz="914400">
                <a:defRPr sz="4000">
                  <a:latin typeface="Arial"/>
                  <a:ea typeface="Arial"/>
                  <a:cs typeface="Arial"/>
                  <a:sym typeface="Arial"/>
                </a:defRPr>
              </a:pPr>
              <a:r>
                <a:rPr sz="4400" dirty="0"/>
                <a:t>• Longitudinal traction applied to the affected toes</a:t>
              </a:r>
              <a:r>
                <a:rPr lang="en-IN" sz="4400" dirty="0"/>
                <a:t> against counter traction over leg with knee in flexion eliminating gravity</a:t>
              </a:r>
              <a:endParaRPr sz="4400" dirty="0"/>
            </a:p>
            <a:p>
              <a:pPr defTabSz="914400">
                <a:defRPr sz="4000">
                  <a:latin typeface="Arial"/>
                  <a:ea typeface="Arial"/>
                  <a:cs typeface="Arial"/>
                  <a:sym typeface="Arial"/>
                </a:defRPr>
              </a:pPr>
              <a:r>
                <a:rPr sz="4400" dirty="0"/>
                <a:t>• Gentle plantar translation of the proximal phalanges</a:t>
              </a:r>
            </a:p>
            <a:p>
              <a:pPr defTabSz="914400">
                <a:defRPr sz="4000">
                  <a:latin typeface="Arial"/>
                  <a:ea typeface="Arial"/>
                  <a:cs typeface="Arial"/>
                  <a:sym typeface="Arial"/>
                </a:defRPr>
              </a:pPr>
              <a:r>
                <a:rPr sz="4400" dirty="0"/>
                <a:t>• Sequential reduction of each involved MTP joint</a:t>
              </a:r>
            </a:p>
            <a:p>
              <a:pPr defTabSz="914400">
                <a:defRPr sz="4000">
                  <a:latin typeface="Arial"/>
                  <a:ea typeface="Arial"/>
                  <a:cs typeface="Arial"/>
                  <a:sym typeface="Arial"/>
                </a:defRPr>
              </a:pPr>
              <a:r>
                <a:rPr sz="4400" dirty="0"/>
                <a:t>• Confirmation of reduction clinically and fluoroscopically</a:t>
              </a:r>
            </a:p>
            <a:p>
              <a:pPr defTabSz="914400">
                <a:defRPr sz="4000">
                  <a:latin typeface="Arial"/>
                  <a:ea typeface="Arial"/>
                  <a:cs typeface="Arial"/>
                  <a:sym typeface="Arial"/>
                </a:defRPr>
              </a:pPr>
              <a:r>
                <a:rPr sz="4400" dirty="0"/>
                <a:t>• Immobilization in a below-knee slab </a:t>
              </a:r>
              <a:r>
                <a:rPr lang="en-IN" sz="4400" dirty="0"/>
                <a:t>and buddy strapping applied to 1,2,3, toes.</a:t>
              </a:r>
              <a:endParaRPr sz="4400" dirty="0"/>
            </a:p>
          </p:txBody>
        </p:sp>
      </p:grpSp>
      <p:grpSp>
        <p:nvGrpSpPr>
          <p:cNvPr id="138" name="Rectangle 11"/>
          <p:cNvGrpSpPr/>
          <p:nvPr/>
        </p:nvGrpSpPr>
        <p:grpSpPr>
          <a:xfrm>
            <a:off x="22975208" y="5444919"/>
            <a:ext cx="9732587" cy="1408203"/>
            <a:chOff x="-138721" y="5322"/>
            <a:chExt cx="9128377" cy="796621"/>
          </a:xfrm>
        </p:grpSpPr>
        <p:sp>
          <p:nvSpPr>
            <p:cNvPr id="136" name="Rectangle"/>
            <p:cNvSpPr/>
            <p:nvPr/>
          </p:nvSpPr>
          <p:spPr>
            <a:xfrm>
              <a:off x="0" y="5322"/>
              <a:ext cx="8989656" cy="796621"/>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37" name="DISCUSSION"/>
            <p:cNvSpPr txBox="1"/>
            <p:nvPr/>
          </p:nvSpPr>
          <p:spPr>
            <a:xfrm>
              <a:off x="-138721" y="137469"/>
              <a:ext cx="8989655" cy="50693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solidFill>
                    <a:srgbClr val="0D0D0D"/>
                  </a:solidFill>
                  <a:latin typeface="Arial"/>
                  <a:ea typeface="Arial"/>
                  <a:cs typeface="Arial"/>
                  <a:sym typeface="Arial"/>
                </a:defRPr>
              </a:lvl1pPr>
            </a:lstStyle>
            <a:p>
              <a:r>
                <a:rPr dirty="0"/>
                <a:t>DISCUSSION</a:t>
              </a:r>
            </a:p>
          </p:txBody>
        </p:sp>
      </p:grpSp>
      <p:grpSp>
        <p:nvGrpSpPr>
          <p:cNvPr id="141" name="Multiple MTP joint dislocations are rare due to the strong plantar plate and ligamentous support. Dorsal dislocations commonly result from hyperextension forces. Closed reduction is often successful when performed early; however, interposition of the pla"/>
          <p:cNvGrpSpPr/>
          <p:nvPr/>
        </p:nvGrpSpPr>
        <p:grpSpPr>
          <a:xfrm>
            <a:off x="23111611" y="7042351"/>
            <a:ext cx="9597597" cy="9567964"/>
            <a:chOff x="-1" y="0"/>
            <a:chExt cx="9102248" cy="7748850"/>
          </a:xfrm>
        </p:grpSpPr>
        <p:sp>
          <p:nvSpPr>
            <p:cNvPr id="139" name="Rectangle"/>
            <p:cNvSpPr/>
            <p:nvPr/>
          </p:nvSpPr>
          <p:spPr>
            <a:xfrm>
              <a:off x="-1" y="0"/>
              <a:ext cx="9042657" cy="7705312"/>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40" name="Multiple MTP joint dislocations are rare due to the strong plantar plate and ligamentous support. Dorsal dislocations commonly result from hyperextension forces. Closed reduction is often successful when performed early; however, interposition of the pla"/>
            <p:cNvSpPr txBox="1"/>
            <p:nvPr/>
          </p:nvSpPr>
          <p:spPr>
            <a:xfrm>
              <a:off x="84990" y="143919"/>
              <a:ext cx="9017257" cy="760493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lvl1pPr defTabSz="914400">
                <a:defRPr sz="4000">
                  <a:latin typeface="Arial"/>
                  <a:ea typeface="Arial"/>
                  <a:cs typeface="Arial"/>
                  <a:sym typeface="Arial"/>
                </a:defRPr>
              </a:lvl1pPr>
            </a:lstStyle>
            <a:p>
              <a:r>
                <a:rPr lang="en-US" sz="3300" dirty="0"/>
                <a:t>Multiple metatarsophalangeal (MTP) joint dislocations are uncommon due to the strong plantar plate and ligamentous support. Dorsal dislocations most commonly result from hyperextension forces. These injuries often require open reduction because of interposition of the plantar plate, surrounding soft tissues or associated sesamoid fractures. However, closed reduction may be successful when performed early. In the present case, reduction was achieved by applying countertraction over the leg with the knee maintained in flexion eliminating gravity, along with longitudinal traction applied over the toes and gentle manipulative maneuver. This case highlights that even multiple MTP joint dislocations, which are usually managed operatively, can be treated conservatively with timely and appropriate intervention.</a:t>
              </a:r>
            </a:p>
          </p:txBody>
        </p:sp>
      </p:grpSp>
      <p:grpSp>
        <p:nvGrpSpPr>
          <p:cNvPr id="144" name="Rectangle 35"/>
          <p:cNvGrpSpPr/>
          <p:nvPr/>
        </p:nvGrpSpPr>
        <p:grpSpPr>
          <a:xfrm>
            <a:off x="11847865" y="35601813"/>
            <a:ext cx="10836144" cy="877108"/>
            <a:chOff x="0" y="0"/>
            <a:chExt cx="10836143" cy="807264"/>
          </a:xfrm>
        </p:grpSpPr>
        <p:sp>
          <p:nvSpPr>
            <p:cNvPr id="142" name="Rectangle"/>
            <p:cNvSpPr/>
            <p:nvPr/>
          </p:nvSpPr>
          <p:spPr>
            <a:xfrm>
              <a:off x="0" y="44994"/>
              <a:ext cx="10836144" cy="717276"/>
            </a:xfrm>
            <a:prstGeom prst="rect">
              <a:avLst/>
            </a:prstGeom>
            <a:solidFill>
              <a:srgbClr val="A6CAEC"/>
            </a:solidFill>
            <a:ln w="19050" cap="flat">
              <a:solidFill>
                <a:srgbClr val="092937"/>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43" name="RESULTS"/>
            <p:cNvSpPr txBox="1"/>
            <p:nvPr/>
          </p:nvSpPr>
          <p:spPr>
            <a:xfrm>
              <a:off x="134861" y="-1"/>
              <a:ext cx="10566422" cy="80726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RESULTS </a:t>
              </a:r>
            </a:p>
          </p:txBody>
        </p:sp>
      </p:grpSp>
      <p:grpSp>
        <p:nvGrpSpPr>
          <p:cNvPr id="147" name="• Successful closed reduction of all involved MTP joints…"/>
          <p:cNvGrpSpPr/>
          <p:nvPr/>
        </p:nvGrpSpPr>
        <p:grpSpPr>
          <a:xfrm>
            <a:off x="11898743" y="36286368"/>
            <a:ext cx="10886291" cy="7250707"/>
            <a:chOff x="-1" y="-351291"/>
            <a:chExt cx="10886289" cy="5504034"/>
          </a:xfrm>
        </p:grpSpPr>
        <p:sp>
          <p:nvSpPr>
            <p:cNvPr id="145" name="Rectangle"/>
            <p:cNvSpPr/>
            <p:nvPr/>
          </p:nvSpPr>
          <p:spPr>
            <a:xfrm>
              <a:off x="-1" y="-1"/>
              <a:ext cx="10830580" cy="5152744"/>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dirty="0"/>
            </a:p>
          </p:txBody>
        </p:sp>
        <p:sp>
          <p:nvSpPr>
            <p:cNvPr id="146" name="• Successful closed reduction of all involved MTP joints…"/>
            <p:cNvSpPr txBox="1"/>
            <p:nvPr/>
          </p:nvSpPr>
          <p:spPr>
            <a:xfrm>
              <a:off x="81108" y="-351291"/>
              <a:ext cx="10805180" cy="308776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p>
              <a:pPr defTabSz="914400">
                <a:defRPr sz="4000">
                  <a:latin typeface="Arial"/>
                  <a:ea typeface="Arial"/>
                  <a:cs typeface="Arial"/>
                  <a:sym typeface="Arial"/>
                </a:defRPr>
              </a:pPr>
              <a:r>
                <a:rPr dirty="0"/>
                <a:t>• Successful closed reduction of all involved MTP joints</a:t>
              </a:r>
            </a:p>
            <a:p>
              <a:pPr defTabSz="914400">
                <a:defRPr sz="4000">
                  <a:latin typeface="Arial"/>
                  <a:ea typeface="Arial"/>
                  <a:cs typeface="Arial"/>
                  <a:sym typeface="Arial"/>
                </a:defRPr>
              </a:pPr>
              <a:r>
                <a:rPr dirty="0"/>
                <a:t>• Stable joints on follow-up</a:t>
              </a:r>
            </a:p>
            <a:p>
              <a:pPr defTabSz="914400">
                <a:defRPr sz="4000">
                  <a:latin typeface="Arial"/>
                  <a:ea typeface="Arial"/>
                  <a:cs typeface="Arial"/>
                  <a:sym typeface="Arial"/>
                </a:defRPr>
              </a:pPr>
              <a:r>
                <a:rPr dirty="0"/>
                <a:t>• Pain relief and restoration of toe alignment</a:t>
              </a:r>
            </a:p>
            <a:p>
              <a:pPr defTabSz="914400">
                <a:defRPr sz="4000">
                  <a:latin typeface="Arial"/>
                  <a:ea typeface="Arial"/>
                  <a:cs typeface="Arial"/>
                  <a:sym typeface="Arial"/>
                </a:defRPr>
              </a:pPr>
              <a:r>
                <a:rPr dirty="0"/>
                <a:t>• Gradual return to weight bearing and function</a:t>
              </a:r>
            </a:p>
          </p:txBody>
        </p:sp>
      </p:grpSp>
      <p:grpSp>
        <p:nvGrpSpPr>
          <p:cNvPr id="150" name="• Multiple MTP joint dislocations, though rare, should be suspected in high-energy forefoot trauma…"/>
          <p:cNvGrpSpPr/>
          <p:nvPr/>
        </p:nvGrpSpPr>
        <p:grpSpPr>
          <a:xfrm>
            <a:off x="23241850" y="18190607"/>
            <a:ext cx="9502788" cy="5954354"/>
            <a:chOff x="0" y="0"/>
            <a:chExt cx="8909805" cy="5342040"/>
          </a:xfrm>
        </p:grpSpPr>
        <p:sp>
          <p:nvSpPr>
            <p:cNvPr id="148" name="Rectangle"/>
            <p:cNvSpPr/>
            <p:nvPr/>
          </p:nvSpPr>
          <p:spPr>
            <a:xfrm>
              <a:off x="0" y="0"/>
              <a:ext cx="8909805" cy="5342040"/>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49" name="• Multiple MTP joint dislocations, though rare, should be suspected in high-energy forefoot trauma…"/>
            <p:cNvSpPr txBox="1"/>
            <p:nvPr/>
          </p:nvSpPr>
          <p:spPr>
            <a:xfrm>
              <a:off x="12700" y="84161"/>
              <a:ext cx="8884405" cy="517371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p>
              <a:pPr defTabSz="914400">
                <a:defRPr sz="4000">
                  <a:latin typeface="Arial"/>
                  <a:ea typeface="Arial"/>
                  <a:cs typeface="Arial"/>
                  <a:sym typeface="Arial"/>
                </a:defRPr>
              </a:pPr>
              <a:r>
                <a:rPr sz="4400" dirty="0"/>
                <a:t>• Multiple MTP joint dislocations, though </a:t>
              </a:r>
              <a:r>
                <a:rPr lang="en-IN" sz="4400" dirty="0"/>
                <a:t>uncommon</a:t>
              </a:r>
              <a:r>
                <a:rPr sz="4400" dirty="0"/>
                <a:t>, should be suspected in high-energy forefoot trauma</a:t>
              </a:r>
            </a:p>
            <a:p>
              <a:pPr defTabSz="914400">
                <a:defRPr sz="4000">
                  <a:latin typeface="Arial"/>
                  <a:ea typeface="Arial"/>
                  <a:cs typeface="Arial"/>
                  <a:sym typeface="Arial"/>
                </a:defRPr>
              </a:pPr>
              <a:r>
                <a:rPr sz="4400" dirty="0"/>
                <a:t>• Early recognition and prompt closed reduction can avoid surgery</a:t>
              </a:r>
            </a:p>
            <a:p>
              <a:pPr defTabSz="914400">
                <a:defRPr sz="4000">
                  <a:latin typeface="Arial"/>
                  <a:ea typeface="Arial"/>
                  <a:cs typeface="Arial"/>
                  <a:sym typeface="Arial"/>
                </a:defRPr>
              </a:pPr>
              <a:r>
                <a:rPr sz="4400" dirty="0"/>
                <a:t>• Post-reduction imaging is essential to confirm joint congruity</a:t>
              </a:r>
            </a:p>
          </p:txBody>
        </p:sp>
      </p:grpSp>
      <p:grpSp>
        <p:nvGrpSpPr>
          <p:cNvPr id="153" name="Simultaneous multiple metatarsophalangeal joint disruptions are rare injuries. Early diagnosis and closed reduction can result in excellent functional outcomes when there is no soft tissue interposition. Awareness of such injury patterns is important for"/>
          <p:cNvGrpSpPr/>
          <p:nvPr/>
        </p:nvGrpSpPr>
        <p:grpSpPr>
          <a:xfrm>
            <a:off x="23241850" y="25909412"/>
            <a:ext cx="9502788" cy="5280982"/>
            <a:chOff x="0" y="0"/>
            <a:chExt cx="8851777" cy="5280980"/>
          </a:xfrm>
        </p:grpSpPr>
        <p:sp>
          <p:nvSpPr>
            <p:cNvPr id="151" name="Rectangle"/>
            <p:cNvSpPr/>
            <p:nvPr/>
          </p:nvSpPr>
          <p:spPr>
            <a:xfrm>
              <a:off x="0" y="0"/>
              <a:ext cx="8851777" cy="5280980"/>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52" name="Simultaneous multiple metatarsophalangeal joint disruptions are rare injuries. Early diagnosis and closed reduction can result in excellent functional outcomes when there is no soft tissue interposition. Awareness of such injury patterns is important for"/>
            <p:cNvSpPr txBox="1"/>
            <p:nvPr/>
          </p:nvSpPr>
          <p:spPr>
            <a:xfrm>
              <a:off x="12700" y="53631"/>
              <a:ext cx="8826377" cy="517371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spAutoFit/>
            </a:bodyPr>
            <a:lstStyle>
              <a:lvl1pPr defTabSz="914400">
                <a:defRPr sz="4000">
                  <a:latin typeface="Arial"/>
                  <a:ea typeface="Arial"/>
                  <a:cs typeface="Arial"/>
                  <a:sym typeface="Arial"/>
                </a:defRPr>
              </a:lvl1pPr>
            </a:lstStyle>
            <a:p>
              <a:r>
                <a:rPr dirty="0"/>
                <a:t>Simultaneous multiple metatarsophalangeal joint disruptions are rare injuries. Early diagnosis and closed reduction can result in excellent functional outcomes when there is no </a:t>
              </a:r>
              <a:r>
                <a:rPr lang="en-IN" dirty="0"/>
                <a:t>associated fractures</a:t>
              </a:r>
              <a:r>
                <a:rPr dirty="0"/>
                <a:t>. Awareness of such injury patterns is important for optimal management</a:t>
              </a:r>
            </a:p>
          </p:txBody>
        </p:sp>
      </p:grpSp>
      <p:grpSp>
        <p:nvGrpSpPr>
          <p:cNvPr id="156" name="1.Jahss MH. Traumatic dislocations of the first metatarsophalangeal joint. Foot Ankle.…"/>
          <p:cNvGrpSpPr/>
          <p:nvPr/>
        </p:nvGrpSpPr>
        <p:grpSpPr>
          <a:xfrm>
            <a:off x="23136408" y="33120870"/>
            <a:ext cx="9781992" cy="5359799"/>
            <a:chOff x="-1" y="-43784"/>
            <a:chExt cx="9443068" cy="5359798"/>
          </a:xfrm>
        </p:grpSpPr>
        <p:sp>
          <p:nvSpPr>
            <p:cNvPr id="154" name="Rectangle"/>
            <p:cNvSpPr/>
            <p:nvPr/>
          </p:nvSpPr>
          <p:spPr>
            <a:xfrm>
              <a:off x="-1" y="-43784"/>
              <a:ext cx="9189193" cy="5359798"/>
            </a:xfrm>
            <a:prstGeom prst="rect">
              <a:avLst/>
            </a:prstGeom>
            <a:solidFill>
              <a:srgbClr val="FFFFFF"/>
            </a:solidFill>
            <a:ln w="25400" cap="flat">
              <a:solidFill>
                <a:schemeClr val="accent1"/>
              </a:solidFill>
              <a:prstDash val="solid"/>
              <a:round/>
            </a:ln>
            <a:effectLst/>
          </p:spPr>
          <p:txBody>
            <a:bodyPr wrap="square" lIns="123442" tIns="123442" rIns="123442" bIns="123442" numCol="1" anchor="ctr">
              <a:noAutofit/>
            </a:bodyPr>
            <a:lstStyle/>
            <a:p>
              <a:pPr defTabSz="914400">
                <a:defRPr sz="4000">
                  <a:latin typeface="Arial"/>
                  <a:ea typeface="Arial"/>
                  <a:cs typeface="Arial"/>
                  <a:sym typeface="Arial"/>
                </a:defRPr>
              </a:pPr>
              <a:endParaRPr/>
            </a:p>
          </p:txBody>
        </p:sp>
        <p:sp>
          <p:nvSpPr>
            <p:cNvPr id="155" name="1.Jahss MH. Traumatic dislocations of the first metatarsophalangeal joint. Foot Ankle.…"/>
            <p:cNvSpPr txBox="1"/>
            <p:nvPr/>
          </p:nvSpPr>
          <p:spPr>
            <a:xfrm>
              <a:off x="89155" y="304302"/>
              <a:ext cx="9353912" cy="44978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ctr">
              <a:noAutofit/>
            </a:bodyPr>
            <a:lstStyle/>
            <a:p>
              <a:pPr defTabSz="914400">
                <a:defRPr sz="3000">
                  <a:latin typeface="Arial"/>
                  <a:ea typeface="Arial"/>
                  <a:cs typeface="Arial"/>
                  <a:sym typeface="Arial"/>
                </a:defRPr>
              </a:pPr>
              <a:endParaRPr sz="3600" dirty="0"/>
            </a:p>
            <a:p>
              <a:pPr defTabSz="914400">
                <a:defRPr sz="3000">
                  <a:latin typeface="Arial"/>
                  <a:ea typeface="Arial"/>
                  <a:cs typeface="Arial"/>
                  <a:sym typeface="Arial"/>
                </a:defRPr>
              </a:pPr>
              <a:r>
                <a:rPr lang="en-IN" sz="3600" dirty="0"/>
                <a:t>1</a:t>
              </a:r>
              <a:r>
                <a:rPr sz="3600" dirty="0"/>
                <a:t>.Bassil GF Sr, Nader F, </a:t>
              </a:r>
              <a:r>
                <a:rPr sz="3600" dirty="0" err="1"/>
                <a:t>Lajmi</a:t>
              </a:r>
              <a:r>
                <a:rPr sz="3600" dirty="0"/>
                <a:t> A, Missaoui Z. Dorsal dislocation of the first and second metatarsophalangeal joint: a case report and literature review. </a:t>
              </a:r>
              <a:r>
                <a:rPr sz="3600" i="1" dirty="0" err="1"/>
                <a:t>Cureus</a:t>
              </a:r>
              <a:r>
                <a:rPr sz="3600" i="1" dirty="0"/>
                <a:t>.</a:t>
              </a:r>
              <a:r>
                <a:rPr sz="3600" dirty="0"/>
                <a:t> 2023;15(9)</a:t>
              </a:r>
              <a:endParaRPr lang="en-IN" sz="3600" dirty="0"/>
            </a:p>
            <a:p>
              <a:pPr defTabSz="914400">
                <a:defRPr sz="3000">
                  <a:latin typeface="Arial"/>
                  <a:ea typeface="Arial"/>
                  <a:cs typeface="Arial"/>
                  <a:sym typeface="Arial"/>
                </a:defRPr>
              </a:pPr>
              <a:endParaRPr lang="en-IN" sz="3600" dirty="0"/>
            </a:p>
            <a:p>
              <a:pPr defTabSz="914400">
                <a:defRPr sz="3000">
                  <a:latin typeface="Arial"/>
                  <a:ea typeface="Arial"/>
                  <a:cs typeface="Arial"/>
                  <a:sym typeface="Arial"/>
                </a:defRPr>
              </a:pPr>
              <a:r>
                <a:rPr lang="en-IN" sz="3600" dirty="0">
                  <a:sym typeface="Arial"/>
                </a:rPr>
                <a:t>2.Jahss MH. Classic article: foot &amp; ankle 1:15, 1980 traumatic dislocations of the first metatarsophalangeal joint. Foot Ankle Int. 2006 Jun;27(6):401-6.</a:t>
              </a:r>
              <a:endParaRPr sz="3600" dirty="0"/>
            </a:p>
          </p:txBody>
        </p:sp>
      </p:grpSp>
      <p:grpSp>
        <p:nvGrpSpPr>
          <p:cNvPr id="159" name="Rectangle 12"/>
          <p:cNvGrpSpPr/>
          <p:nvPr/>
        </p:nvGrpSpPr>
        <p:grpSpPr>
          <a:xfrm>
            <a:off x="473329" y="31701879"/>
            <a:ext cx="11026589" cy="1399666"/>
            <a:chOff x="0" y="0"/>
            <a:chExt cx="11026588" cy="1399665"/>
          </a:xfrm>
        </p:grpSpPr>
        <p:sp>
          <p:nvSpPr>
            <p:cNvPr id="157" name="Rectangle"/>
            <p:cNvSpPr/>
            <p:nvPr/>
          </p:nvSpPr>
          <p:spPr>
            <a:xfrm>
              <a:off x="-1" y="-1"/>
              <a:ext cx="11026589" cy="1399666"/>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58" name="PROCEDURE STEPS"/>
            <p:cNvSpPr txBox="1"/>
            <p:nvPr/>
          </p:nvSpPr>
          <p:spPr>
            <a:xfrm>
              <a:off x="1890713" y="255537"/>
              <a:ext cx="6638878" cy="96271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3442" tIns="123442" rIns="123442" bIns="123442" numCol="1" anchor="t">
              <a:spAutoFit/>
            </a:bodyPr>
            <a:lstStyle>
              <a:lvl1pPr algn="ctr" defTabSz="914400">
                <a:defRPr sz="5000" b="1">
                  <a:ln w="12801" cap="flat">
                    <a:solidFill>
                      <a:srgbClr val="000000"/>
                    </a:solidFill>
                    <a:prstDash val="solid"/>
                    <a:miter lim="400000"/>
                  </a:ln>
                  <a:latin typeface="Arial"/>
                  <a:ea typeface="Arial"/>
                  <a:cs typeface="Arial"/>
                  <a:sym typeface="Arial"/>
                </a:defRPr>
              </a:lvl1pPr>
            </a:lstStyle>
            <a:p>
              <a:r>
                <a:rPr dirty="0"/>
                <a:t>PROCEDURE STEPS </a:t>
              </a:r>
            </a:p>
          </p:txBody>
        </p:sp>
      </p:grpSp>
      <p:pic>
        <p:nvPicPr>
          <p:cNvPr id="160" name="pasted-movie.png" descr="pasted-movie.png"/>
          <p:cNvPicPr>
            <a:picLocks noChangeAspect="1"/>
          </p:cNvPicPr>
          <p:nvPr/>
        </p:nvPicPr>
        <p:blipFill>
          <a:blip r:embed="rId4"/>
          <a:stretch>
            <a:fillRect/>
          </a:stretch>
        </p:blipFill>
        <p:spPr>
          <a:xfrm>
            <a:off x="11732332" y="17779630"/>
            <a:ext cx="4557591" cy="5210571"/>
          </a:xfrm>
          <a:prstGeom prst="rect">
            <a:avLst/>
          </a:prstGeom>
          <a:ln w="12700">
            <a:miter lim="400000"/>
          </a:ln>
        </p:spPr>
      </p:pic>
      <p:grpSp>
        <p:nvGrpSpPr>
          <p:cNvPr id="163" name="Rectangle 26"/>
          <p:cNvGrpSpPr/>
          <p:nvPr/>
        </p:nvGrpSpPr>
        <p:grpSpPr>
          <a:xfrm>
            <a:off x="11593262" y="5482719"/>
            <a:ext cx="11101215" cy="1404155"/>
            <a:chOff x="-1" y="-2"/>
            <a:chExt cx="10978380" cy="942866"/>
          </a:xfrm>
        </p:grpSpPr>
        <p:sp>
          <p:nvSpPr>
            <p:cNvPr id="161" name="Rectangle"/>
            <p:cNvSpPr/>
            <p:nvPr/>
          </p:nvSpPr>
          <p:spPr>
            <a:xfrm>
              <a:off x="-1" y="-2"/>
              <a:ext cx="10978380" cy="942866"/>
            </a:xfrm>
            <a:prstGeom prst="rect">
              <a:avLst/>
            </a:prstGeom>
            <a:solidFill>
              <a:srgbClr val="A6CAEC"/>
            </a:solidFill>
            <a:ln w="19050" cap="flat">
              <a:solidFill>
                <a:srgbClr val="092937"/>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62" name="PRE REDUCTION IMAGING"/>
            <p:cNvSpPr txBox="1"/>
            <p:nvPr/>
          </p:nvSpPr>
          <p:spPr>
            <a:xfrm>
              <a:off x="182645" y="190643"/>
              <a:ext cx="10663742" cy="58886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PRE REDUCTION IMAGING </a:t>
              </a:r>
            </a:p>
          </p:txBody>
        </p:sp>
      </p:grpSp>
      <p:grpSp>
        <p:nvGrpSpPr>
          <p:cNvPr id="166" name="Rectangle 9"/>
          <p:cNvGrpSpPr/>
          <p:nvPr/>
        </p:nvGrpSpPr>
        <p:grpSpPr>
          <a:xfrm>
            <a:off x="23223838" y="16845984"/>
            <a:ext cx="9520799" cy="1051731"/>
            <a:chOff x="-2" y="-2"/>
            <a:chExt cx="9406168" cy="1181909"/>
          </a:xfrm>
        </p:grpSpPr>
        <p:sp>
          <p:nvSpPr>
            <p:cNvPr id="164" name="Rectangle"/>
            <p:cNvSpPr/>
            <p:nvPr/>
          </p:nvSpPr>
          <p:spPr>
            <a:xfrm>
              <a:off x="-2" y="-2"/>
              <a:ext cx="9311082" cy="1181909"/>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65" name="TAKE HOME MESSAGE"/>
            <p:cNvSpPr txBox="1"/>
            <p:nvPr/>
          </p:nvSpPr>
          <p:spPr>
            <a:xfrm>
              <a:off x="95084" y="229136"/>
              <a:ext cx="9311082" cy="86176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TAKE HOME MESSAGE </a:t>
              </a:r>
            </a:p>
          </p:txBody>
        </p:sp>
      </p:grpSp>
      <p:grpSp>
        <p:nvGrpSpPr>
          <p:cNvPr id="169" name="Rectangle 9"/>
          <p:cNvGrpSpPr/>
          <p:nvPr/>
        </p:nvGrpSpPr>
        <p:grpSpPr>
          <a:xfrm>
            <a:off x="23194715" y="24385426"/>
            <a:ext cx="9549922" cy="1293498"/>
            <a:chOff x="-1" y="-1"/>
            <a:chExt cx="9311080" cy="1181907"/>
          </a:xfrm>
        </p:grpSpPr>
        <p:sp>
          <p:nvSpPr>
            <p:cNvPr id="167" name="Rectangle"/>
            <p:cNvSpPr/>
            <p:nvPr/>
          </p:nvSpPr>
          <p:spPr>
            <a:xfrm>
              <a:off x="-2" y="-2"/>
              <a:ext cx="9311082" cy="1181909"/>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1800">
                  <a:solidFill>
                    <a:srgbClr val="FFFFFF"/>
                  </a:solidFill>
                </a:defRPr>
              </a:pPr>
              <a:endParaRPr/>
            </a:p>
          </p:txBody>
        </p:sp>
        <p:sp>
          <p:nvSpPr>
            <p:cNvPr id="168" name="CONCLUSION"/>
            <p:cNvSpPr txBox="1"/>
            <p:nvPr/>
          </p:nvSpPr>
          <p:spPr>
            <a:xfrm>
              <a:off x="165454" y="187320"/>
              <a:ext cx="8980173" cy="80726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CONCLUSION</a:t>
              </a:r>
            </a:p>
          </p:txBody>
        </p:sp>
      </p:grpSp>
      <p:grpSp>
        <p:nvGrpSpPr>
          <p:cNvPr id="172" name="Rectangle 9"/>
          <p:cNvGrpSpPr/>
          <p:nvPr/>
        </p:nvGrpSpPr>
        <p:grpSpPr>
          <a:xfrm>
            <a:off x="23153366" y="31391223"/>
            <a:ext cx="9498640" cy="1497982"/>
            <a:chOff x="-19807" y="0"/>
            <a:chExt cx="9330886" cy="1181906"/>
          </a:xfrm>
        </p:grpSpPr>
        <p:sp>
          <p:nvSpPr>
            <p:cNvPr id="170" name="Rectangle"/>
            <p:cNvSpPr/>
            <p:nvPr/>
          </p:nvSpPr>
          <p:spPr>
            <a:xfrm>
              <a:off x="-1" y="0"/>
              <a:ext cx="9311080" cy="1181906"/>
            </a:xfrm>
            <a:prstGeom prst="rect">
              <a:avLst/>
            </a:prstGeom>
            <a:solidFill>
              <a:srgbClr val="A6CAEC"/>
            </a:solidFill>
            <a:ln w="19050" cap="flat">
              <a:solidFill>
                <a:srgbClr val="0F465F"/>
              </a:solidFill>
              <a:prstDash val="solid"/>
              <a:miter lim="800000"/>
            </a:ln>
            <a:effectLst/>
          </p:spPr>
          <p:txBody>
            <a:bodyPr wrap="square" lIns="123442" tIns="123442" rIns="123442" bIns="123442" numCol="1" anchor="ctr">
              <a:noAutofit/>
            </a:bodyPr>
            <a:lstStyle/>
            <a:p>
              <a:pPr algn="ctr" defTabSz="914400">
                <a:defRPr sz="5000" b="1">
                  <a:latin typeface="Arial"/>
                  <a:ea typeface="Arial"/>
                  <a:cs typeface="Arial"/>
                  <a:sym typeface="Arial"/>
                </a:defRPr>
              </a:pPr>
              <a:endParaRPr/>
            </a:p>
          </p:txBody>
        </p:sp>
        <p:sp>
          <p:nvSpPr>
            <p:cNvPr id="171" name="REFERENCES"/>
            <p:cNvSpPr txBox="1"/>
            <p:nvPr/>
          </p:nvSpPr>
          <p:spPr>
            <a:xfrm>
              <a:off x="-19807" y="187320"/>
              <a:ext cx="9292030" cy="807266"/>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ctr">
              <a:spAutoFit/>
            </a:bodyPr>
            <a:lstStyle>
              <a:lvl1pPr algn="ctr" defTabSz="914400">
                <a:defRPr sz="5000" b="1">
                  <a:latin typeface="Arial"/>
                  <a:ea typeface="Arial"/>
                  <a:cs typeface="Arial"/>
                  <a:sym typeface="Arial"/>
                </a:defRPr>
              </a:lvl1pPr>
            </a:lstStyle>
            <a:p>
              <a:r>
                <a:rPr dirty="0"/>
                <a:t>REFERENCES</a:t>
              </a:r>
            </a:p>
          </p:txBody>
        </p:sp>
      </p:grpSp>
      <p:pic>
        <p:nvPicPr>
          <p:cNvPr id="173" name="pasted-movie.png" descr="pasted-movie.png"/>
          <p:cNvPicPr>
            <a:picLocks noChangeAspect="1"/>
          </p:cNvPicPr>
          <p:nvPr/>
        </p:nvPicPr>
        <p:blipFill>
          <a:blip r:embed="rId5"/>
          <a:srcRect b="5262"/>
          <a:stretch>
            <a:fillRect/>
          </a:stretch>
        </p:blipFill>
        <p:spPr>
          <a:xfrm>
            <a:off x="11848087" y="28961389"/>
            <a:ext cx="5270501" cy="6485042"/>
          </a:xfrm>
          <a:prstGeom prst="rect">
            <a:avLst/>
          </a:prstGeom>
          <a:ln w="12700">
            <a:miter lim="400000"/>
          </a:ln>
        </p:spPr>
      </p:pic>
      <p:pic>
        <p:nvPicPr>
          <p:cNvPr id="174" name="pasted-movie.png" descr="pasted-movie.png"/>
          <p:cNvPicPr>
            <a:picLocks noChangeAspect="1"/>
          </p:cNvPicPr>
          <p:nvPr/>
        </p:nvPicPr>
        <p:blipFill>
          <a:blip r:embed="rId6"/>
          <a:stretch>
            <a:fillRect/>
          </a:stretch>
        </p:blipFill>
        <p:spPr>
          <a:xfrm>
            <a:off x="17950428" y="28937937"/>
            <a:ext cx="4733582" cy="6451932"/>
          </a:xfrm>
          <a:prstGeom prst="rect">
            <a:avLst/>
          </a:prstGeom>
          <a:ln w="12700">
            <a:miter lim="400000"/>
          </a:ln>
        </p:spPr>
      </p:pic>
      <p:pic>
        <p:nvPicPr>
          <p:cNvPr id="3" name="Picture 2">
            <a:extLst>
              <a:ext uri="{FF2B5EF4-FFF2-40B4-BE49-F238E27FC236}">
                <a16:creationId xmlns:a16="http://schemas.microsoft.com/office/drawing/2014/main" id="{DD118F85-2933-26C3-CFF4-AF2296DB3DE8}"/>
              </a:ext>
            </a:extLst>
          </p:cNvPr>
          <p:cNvPicPr>
            <a:picLocks noChangeAspect="1"/>
          </p:cNvPicPr>
          <p:nvPr/>
        </p:nvPicPr>
        <p:blipFill>
          <a:blip r:embed="rId7">
            <a:extLst>
              <a:ext uri="{28A0092B-C50C-407E-A947-70E740481C1C}">
                <a14:useLocalDpi xmlns:a14="http://schemas.microsoft.com/office/drawing/2010/main" val="0"/>
              </a:ext>
            </a:extLst>
          </a:blip>
          <a:srcRect l="12222" t="17006" r="13664" b="15332"/>
          <a:stretch>
            <a:fillRect/>
          </a:stretch>
        </p:blipFill>
        <p:spPr>
          <a:xfrm>
            <a:off x="12059260" y="39845673"/>
            <a:ext cx="3292194" cy="3516926"/>
          </a:xfrm>
          <a:prstGeom prst="rect">
            <a:avLst/>
          </a:prstGeom>
        </p:spPr>
      </p:pic>
      <p:pic>
        <p:nvPicPr>
          <p:cNvPr id="7" name="Picture 6">
            <a:extLst>
              <a:ext uri="{FF2B5EF4-FFF2-40B4-BE49-F238E27FC236}">
                <a16:creationId xmlns:a16="http://schemas.microsoft.com/office/drawing/2014/main" id="{8A5CF2E0-10B1-A368-D415-19AA163964A6}"/>
              </a:ext>
            </a:extLst>
          </p:cNvPr>
          <p:cNvPicPr>
            <a:picLocks noChangeAspect="1"/>
          </p:cNvPicPr>
          <p:nvPr/>
        </p:nvPicPr>
        <p:blipFill>
          <a:blip r:embed="rId8">
            <a:extLst>
              <a:ext uri="{28A0092B-C50C-407E-A947-70E740481C1C}">
                <a14:useLocalDpi xmlns:a14="http://schemas.microsoft.com/office/drawing/2010/main" val="0"/>
              </a:ext>
            </a:extLst>
          </a:blip>
          <a:srcRect l="22566" t="11182" r="-14568" b="22276"/>
          <a:stretch>
            <a:fillRect/>
          </a:stretch>
        </p:blipFill>
        <p:spPr>
          <a:xfrm>
            <a:off x="15511972" y="39862625"/>
            <a:ext cx="4071428" cy="3516925"/>
          </a:xfrm>
          <a:prstGeom prst="rect">
            <a:avLst/>
          </a:prstGeom>
        </p:spPr>
      </p:pic>
      <p:pic>
        <p:nvPicPr>
          <p:cNvPr id="9" name="Picture 8">
            <a:extLst>
              <a:ext uri="{FF2B5EF4-FFF2-40B4-BE49-F238E27FC236}">
                <a16:creationId xmlns:a16="http://schemas.microsoft.com/office/drawing/2014/main" id="{45F19A6E-1A0A-B440-8B60-156D817D841A}"/>
              </a:ext>
            </a:extLst>
          </p:cNvPr>
          <p:cNvPicPr>
            <a:picLocks noChangeAspect="1"/>
          </p:cNvPicPr>
          <p:nvPr/>
        </p:nvPicPr>
        <p:blipFill>
          <a:blip r:embed="rId9">
            <a:extLst>
              <a:ext uri="{28A0092B-C50C-407E-A947-70E740481C1C}">
                <a14:useLocalDpi xmlns:a14="http://schemas.microsoft.com/office/drawing/2010/main" val="0"/>
              </a:ext>
            </a:extLst>
          </a:blip>
          <a:srcRect l="25870" t="19022" b="16861"/>
          <a:stretch>
            <a:fillRect/>
          </a:stretch>
        </p:blipFill>
        <p:spPr>
          <a:xfrm>
            <a:off x="19114304" y="39862625"/>
            <a:ext cx="3569706" cy="3499974"/>
          </a:xfrm>
          <a:prstGeom prst="rect">
            <a:avLst/>
          </a:prstGeom>
        </p:spPr>
      </p:pic>
      <p:sp>
        <p:nvSpPr>
          <p:cNvPr id="10" name="Rectangle 9">
            <a:extLst>
              <a:ext uri="{FF2B5EF4-FFF2-40B4-BE49-F238E27FC236}">
                <a16:creationId xmlns:a16="http://schemas.microsoft.com/office/drawing/2014/main" id="{5C7E73AC-5C10-500A-5518-2577F49D4901}"/>
              </a:ext>
            </a:extLst>
          </p:cNvPr>
          <p:cNvSpPr/>
          <p:nvPr/>
        </p:nvSpPr>
        <p:spPr>
          <a:xfrm>
            <a:off x="0" y="45206"/>
            <a:ext cx="32918400" cy="4946593"/>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3">
            <a:extLst>
              <a:ext uri="{FF2B5EF4-FFF2-40B4-BE49-F238E27FC236}">
                <a16:creationId xmlns:a16="http://schemas.microsoft.com/office/drawing/2014/main" id="{44E5DA2A-6558-085B-7A44-027F406E931C}"/>
              </a:ext>
            </a:extLst>
          </p:cNvPr>
          <p:cNvSpPr/>
          <p:nvPr/>
        </p:nvSpPr>
        <p:spPr>
          <a:xfrm>
            <a:off x="0" y="516353"/>
            <a:ext cx="4531458" cy="4615720"/>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0"/>
            <a:stretch>
              <a:fillRect t="-9937" r="-4895" b="-10857"/>
            </a:stretch>
          </a:blipFill>
        </p:spPr>
        <p:txBody>
          <a:bodyPr/>
          <a:lstStyle/>
          <a:p>
            <a:endParaRPr lang="en-US" dirty="0"/>
          </a:p>
        </p:txBody>
      </p:sp>
      <p:sp>
        <p:nvSpPr>
          <p:cNvPr id="12" name="TextBox 11">
            <a:extLst>
              <a:ext uri="{FF2B5EF4-FFF2-40B4-BE49-F238E27FC236}">
                <a16:creationId xmlns:a16="http://schemas.microsoft.com/office/drawing/2014/main" id="{20D6EB4C-DBB4-B748-A4B2-96CC29FD030F}"/>
              </a:ext>
            </a:extLst>
          </p:cNvPr>
          <p:cNvSpPr txBox="1"/>
          <p:nvPr/>
        </p:nvSpPr>
        <p:spPr>
          <a:xfrm>
            <a:off x="4737223" y="675279"/>
            <a:ext cx="26612938" cy="1569660"/>
          </a:xfrm>
          <a:prstGeom prst="rect">
            <a:avLst/>
          </a:prstGeom>
          <a:noFill/>
        </p:spPr>
        <p:txBody>
          <a:bodyPr wrap="square" rtlCol="0">
            <a:spAutoFit/>
          </a:bodyPr>
          <a:lstStyle/>
          <a:p>
            <a:r>
              <a:rPr lang="en-US" sz="4800" b="1" dirty="0">
                <a:solidFill>
                  <a:schemeClr val="bg1"/>
                </a:solidFill>
                <a:latin typeface="Arial" panose="020B0604020202020204" pitchFamily="34" charset="0"/>
                <a:cs typeface="Arial" panose="020B0604020202020204" pitchFamily="34" charset="0"/>
              </a:rPr>
              <a:t>A RARE PATTERN OF MULTIPLE METATARSOPHALANGEAL JOINT DISRUPTIONS TREATED WITH CLOSED REDUCTION</a:t>
            </a:r>
          </a:p>
        </p:txBody>
      </p:sp>
      <p:sp>
        <p:nvSpPr>
          <p:cNvPr id="13" name="TextBox 12">
            <a:extLst>
              <a:ext uri="{FF2B5EF4-FFF2-40B4-BE49-F238E27FC236}">
                <a16:creationId xmlns:a16="http://schemas.microsoft.com/office/drawing/2014/main" id="{E8B84098-FA2B-561E-AE8C-A01F47CEE96C}"/>
              </a:ext>
            </a:extLst>
          </p:cNvPr>
          <p:cNvSpPr txBox="1"/>
          <p:nvPr/>
        </p:nvSpPr>
        <p:spPr>
          <a:xfrm>
            <a:off x="4531458" y="2622140"/>
            <a:ext cx="29692354" cy="2554545"/>
          </a:xfrm>
          <a:prstGeom prst="rect">
            <a:avLst/>
          </a:prstGeom>
          <a:noFill/>
        </p:spPr>
        <p:txBody>
          <a:bodyPr wrap="square" rtlCol="0">
            <a:spAutoFit/>
          </a:bodyPr>
          <a:lstStyle/>
          <a:p>
            <a:r>
              <a:rPr lang="en-IN" sz="4000" dirty="0">
                <a:solidFill>
                  <a:schemeClr val="bg1"/>
                </a:solidFill>
                <a:latin typeface="Arial" panose="020B0604020202020204" pitchFamily="34" charset="0"/>
                <a:cs typeface="Arial" panose="020B0604020202020204" pitchFamily="34" charset="0"/>
              </a:rPr>
              <a:t> AUTHOR – DR K.LITESH CHANDRA CHOWDARY (POST GRADUATE)</a:t>
            </a:r>
          </a:p>
          <a:p>
            <a:r>
              <a:rPr lang="en-IN" sz="4000" dirty="0">
                <a:solidFill>
                  <a:schemeClr val="bg1"/>
                </a:solidFill>
                <a:latin typeface="Arial" panose="020B0604020202020204" pitchFamily="34" charset="0"/>
                <a:cs typeface="Arial" panose="020B0604020202020204" pitchFamily="34" charset="0"/>
              </a:rPr>
              <a:t> CO-AUTHOR – DR V.NAGESWARA RAO (HOD), DR SIVA PRAFUL (SENIOR RESIDENT)</a:t>
            </a:r>
          </a:p>
          <a:p>
            <a:r>
              <a:rPr lang="en-IN" sz="4000" dirty="0">
                <a:solidFill>
                  <a:schemeClr val="bg1"/>
                </a:solidFill>
                <a:latin typeface="Arial" panose="020B0604020202020204" pitchFamily="34" charset="0"/>
                <a:cs typeface="Arial" panose="020B0604020202020204" pitchFamily="34" charset="0"/>
              </a:rPr>
              <a:t> DEPARTMENT OF ORTHOPAEDICS, GSL MEDICAL COLLEGE AND GENERAL HOSPITAL </a:t>
            </a:r>
          </a:p>
          <a:p>
            <a:endParaRPr lang="en-IN" sz="4000" dirty="0">
              <a:solidFill>
                <a:schemeClr val="bg1"/>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E875DD34-AE20-F08C-D78F-3F5B57F5D57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342121" y="1292459"/>
            <a:ext cx="3096140" cy="3724674"/>
          </a:xfrm>
          <a:prstGeom prst="rect">
            <a:avLst/>
          </a:prstGeom>
        </p:spPr>
      </p:pic>
      <p:pic>
        <p:nvPicPr>
          <p:cNvPr id="15" name="Picture 14">
            <a:extLst>
              <a:ext uri="{FF2B5EF4-FFF2-40B4-BE49-F238E27FC236}">
                <a16:creationId xmlns:a16="http://schemas.microsoft.com/office/drawing/2014/main" id="{B2B4D092-86A5-0889-0A1A-676BD82607C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648497" y="1438099"/>
            <a:ext cx="3096140" cy="2956558"/>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123442" tIns="123442" rIns="123442" bIns="123442" numCol="1" spcCol="38100" rtlCol="0" anchor="ctr">
        <a:spAutoFit/>
      </a:bodyPr>
      <a:lstStyle>
        <a:def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123442" tIns="123442" rIns="123442" bIns="123442" numCol="1" spcCol="38100" rtlCol="0" anchor="t">
        <a:spAutoFit/>
      </a:bodyPr>
      <a:lstStyle>
        <a:def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123442" tIns="123442" rIns="123442" bIns="123442" numCol="1" spcCol="38100" rtlCol="0" anchor="ctr">
        <a:spAutoFit/>
      </a:bodyPr>
      <a:lstStyle>
        <a:def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123442" tIns="123442" rIns="123442" bIns="123442" numCol="1" spcCol="38100" rtlCol="0" anchor="t">
        <a:spAutoFit/>
      </a:bodyPr>
      <a:lstStyle>
        <a:defPPr marL="0" marR="0" indent="0" algn="l" defTabSz="5852159" rtl="0" fontAlgn="auto" latinLnBrk="0" hangingPunct="0">
          <a:lnSpc>
            <a:spcPct val="100000"/>
          </a:lnSpc>
          <a:spcBef>
            <a:spcPts val="0"/>
          </a:spcBef>
          <a:spcAft>
            <a:spcPts val="0"/>
          </a:spcAft>
          <a:buClrTx/>
          <a:buSzTx/>
          <a:buFontTx/>
          <a:buNone/>
          <a:tabLst/>
          <a:defRPr kumimoji="0" sz="11400" b="0" i="0" u="none" strike="noStrike" cap="none" spc="0" normalizeH="0" baseline="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266</TotalTime>
  <Words>704</Words>
  <Application>Microsoft Office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HONEY</dc:creator>
  <cp:lastModifiedBy>Harshitha chowdary</cp:lastModifiedBy>
  <cp:revision>18</cp:revision>
  <dcterms:modified xsi:type="dcterms:W3CDTF">2026-02-11T20:06:24Z</dcterms:modified>
</cp:coreProperties>
</file>