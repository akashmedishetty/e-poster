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1" name="Shape 12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/>
          <p:cNvSpPr/>
          <p:nvPr/>
        </p:nvSpPr>
        <p:spPr>
          <a:xfrm>
            <a:off x="-1" y="-1"/>
            <a:ext cx="12192000" cy="1280158"/>
          </a:xfrm>
          <a:prstGeom prst="rect">
            <a:avLst/>
          </a:prstGeom>
          <a:solidFill>
            <a:srgbClr val="01234D"/>
          </a:solidFill>
          <a:ln w="19050">
            <a:solidFill>
              <a:srgbClr val="525755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0" name="Picture 14" descr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84" y="74822"/>
            <a:ext cx="1043155" cy="1043154"/>
          </a:xfrm>
          <a:prstGeom prst="rect">
            <a:avLst/>
          </a:prstGeom>
          <a:ln w="12700">
            <a:miter lim="400000"/>
          </a:ln>
        </p:spPr>
      </p:pic>
      <p:pic>
        <p:nvPicPr>
          <p:cNvPr id="21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7316" y="123389"/>
            <a:ext cx="884048" cy="8840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" name="Picture 16" descr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7892" y="192303"/>
            <a:ext cx="785941" cy="78594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TextBox 17"/>
          <p:cNvSpPr txBox="1"/>
          <p:nvPr/>
        </p:nvSpPr>
        <p:spPr>
          <a:xfrm>
            <a:off x="2620968" y="27424"/>
            <a:ext cx="5906909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55</a:t>
            </a:r>
            <a:r>
              <a:rPr baseline="30000"/>
              <a:t>th</a:t>
            </a:r>
            <a:r>
              <a:t>   Annual Conference of </a:t>
            </a:r>
          </a:p>
          <a:p>
            <a:pPr>
              <a:defRPr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Orthopedic Surgeon Society of Andhra Pradesh</a:t>
            </a:r>
          </a:p>
        </p:txBody>
      </p:sp>
      <p:sp>
        <p:nvSpPr>
          <p:cNvPr id="24" name="TextBox 18"/>
          <p:cNvSpPr txBox="1"/>
          <p:nvPr/>
        </p:nvSpPr>
        <p:spPr>
          <a:xfrm>
            <a:off x="2646937" y="653897"/>
            <a:ext cx="6216055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lvl1pPr>
          </a:lstStyle>
          <a:p>
            <a:r>
              <a:t>Date 6 – 8 February,2026, Venue : Kurnool Medical College</a:t>
            </a:r>
          </a:p>
        </p:txBody>
      </p:sp>
      <p:sp>
        <p:nvSpPr>
          <p:cNvPr id="25" name="TextBox 19"/>
          <p:cNvSpPr txBox="1"/>
          <p:nvPr/>
        </p:nvSpPr>
        <p:spPr>
          <a:xfrm>
            <a:off x="2620969" y="913339"/>
            <a:ext cx="8981145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lvl1pPr>
          </a:lstStyle>
          <a:p>
            <a:r>
              <a:t>Organized by : Department of Orthopaedics, Kurnool Medical College Kurnool.                     ID : OSSAP - 099</a:t>
            </a:r>
          </a:p>
        </p:txBody>
      </p:sp>
      <p:sp>
        <p:nvSpPr>
          <p:cNvPr id="26" name="Freeform 13"/>
          <p:cNvSpPr/>
          <p:nvPr/>
        </p:nvSpPr>
        <p:spPr>
          <a:xfrm>
            <a:off x="560813" y="14254"/>
            <a:ext cx="1505562" cy="1280159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4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2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-1" y="-1"/>
            <a:ext cx="12192000" cy="1280158"/>
          </a:xfrm>
          <a:prstGeom prst="rect">
            <a:avLst/>
          </a:prstGeom>
          <a:solidFill>
            <a:srgbClr val="01234D"/>
          </a:solidFill>
          <a:ln w="19050">
            <a:solidFill>
              <a:srgbClr val="525755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86" name="Picture 14" descr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84" y="74822"/>
            <a:ext cx="1043155" cy="1043154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7316" y="123389"/>
            <a:ext cx="884048" cy="884049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Picture 16" descr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7892" y="192303"/>
            <a:ext cx="785941" cy="785941"/>
          </a:xfrm>
          <a:prstGeom prst="rect">
            <a:avLst/>
          </a:prstGeom>
          <a:ln w="12700">
            <a:miter lim="400000"/>
          </a:ln>
        </p:spPr>
      </p:pic>
      <p:sp>
        <p:nvSpPr>
          <p:cNvPr id="89" name="TextBox 17"/>
          <p:cNvSpPr txBox="1"/>
          <p:nvPr/>
        </p:nvSpPr>
        <p:spPr>
          <a:xfrm>
            <a:off x="2620968" y="27424"/>
            <a:ext cx="5906909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55</a:t>
            </a:r>
            <a:r>
              <a:rPr baseline="30000"/>
              <a:t>th</a:t>
            </a:r>
            <a:r>
              <a:t>   Annual Conference of </a:t>
            </a:r>
          </a:p>
          <a:p>
            <a:pPr>
              <a:defRPr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Orthopedic Surgeon Society of Andhra Pradesh</a:t>
            </a:r>
          </a:p>
        </p:txBody>
      </p:sp>
      <p:sp>
        <p:nvSpPr>
          <p:cNvPr id="90" name="TextBox 18"/>
          <p:cNvSpPr txBox="1"/>
          <p:nvPr/>
        </p:nvSpPr>
        <p:spPr>
          <a:xfrm>
            <a:off x="2646937" y="653897"/>
            <a:ext cx="6216055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lvl1pPr>
          </a:lstStyle>
          <a:p>
            <a:r>
              <a:t>Date 6 – 8 February,2026, Venue : Kurnool Medical College</a:t>
            </a:r>
          </a:p>
        </p:txBody>
      </p:sp>
      <p:sp>
        <p:nvSpPr>
          <p:cNvPr id="91" name="TextBox 19"/>
          <p:cNvSpPr txBox="1"/>
          <p:nvPr/>
        </p:nvSpPr>
        <p:spPr>
          <a:xfrm>
            <a:off x="2620969" y="913339"/>
            <a:ext cx="702259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lvl1pPr>
          </a:lstStyle>
          <a:p>
            <a:r>
              <a:t>Organized by : Department of Orthopaedics, Kurnool Medical College Kurnool</a:t>
            </a:r>
          </a:p>
        </p:txBody>
      </p:sp>
      <p:sp>
        <p:nvSpPr>
          <p:cNvPr id="92" name="Freeform 13"/>
          <p:cNvSpPr/>
          <p:nvPr/>
        </p:nvSpPr>
        <p:spPr>
          <a:xfrm>
            <a:off x="560813" y="14254"/>
            <a:ext cx="1505562" cy="1280159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3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9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5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-1" y="-1"/>
            <a:ext cx="12192000" cy="1280158"/>
          </a:xfrm>
          <a:prstGeom prst="rect">
            <a:avLst/>
          </a:prstGeom>
          <a:solidFill>
            <a:srgbClr val="01234D"/>
          </a:solidFill>
          <a:ln w="19050">
            <a:solidFill>
              <a:srgbClr val="525755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04" name="Picture 14" descr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84" y="74822"/>
            <a:ext cx="1043155" cy="104315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7316" y="123389"/>
            <a:ext cx="884048" cy="88404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Picture 16" descr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7892" y="192303"/>
            <a:ext cx="785941" cy="785941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TextBox 17"/>
          <p:cNvSpPr txBox="1"/>
          <p:nvPr/>
        </p:nvSpPr>
        <p:spPr>
          <a:xfrm>
            <a:off x="2620968" y="27424"/>
            <a:ext cx="5906909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55</a:t>
            </a:r>
            <a:r>
              <a:rPr baseline="30000"/>
              <a:t>th</a:t>
            </a:r>
            <a:r>
              <a:t>   Annual Conference of </a:t>
            </a:r>
          </a:p>
          <a:p>
            <a:pPr>
              <a:defRPr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Orthopedic Surgeon Society of Andhra Pradesh</a:t>
            </a:r>
          </a:p>
        </p:txBody>
      </p:sp>
      <p:sp>
        <p:nvSpPr>
          <p:cNvPr id="108" name="TextBox 18"/>
          <p:cNvSpPr txBox="1"/>
          <p:nvPr/>
        </p:nvSpPr>
        <p:spPr>
          <a:xfrm>
            <a:off x="2646937" y="653897"/>
            <a:ext cx="6216055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lvl1pPr>
          </a:lstStyle>
          <a:p>
            <a:r>
              <a:t>Date 6 – 8 February,2026, Venue : Kurnool Medical College</a:t>
            </a:r>
          </a:p>
        </p:txBody>
      </p:sp>
      <p:sp>
        <p:nvSpPr>
          <p:cNvPr id="109" name="TextBox 19"/>
          <p:cNvSpPr txBox="1"/>
          <p:nvPr/>
        </p:nvSpPr>
        <p:spPr>
          <a:xfrm>
            <a:off x="2620969" y="913339"/>
            <a:ext cx="702259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lvl1pPr>
          </a:lstStyle>
          <a:p>
            <a:r>
              <a:t>Organized by : Department of Orthopaedics, Kurnool Medical College Kurnool</a:t>
            </a:r>
          </a:p>
        </p:txBody>
      </p:sp>
      <p:sp>
        <p:nvSpPr>
          <p:cNvPr id="110" name="Freeform 13"/>
          <p:cNvSpPr/>
          <p:nvPr/>
        </p:nvSpPr>
        <p:spPr>
          <a:xfrm>
            <a:off x="560813" y="14254"/>
            <a:ext cx="1505562" cy="1280159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12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1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3.pn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image" Target="../media/image2.png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image" Target="../media/image1.png" /><Relationship Id="rId5" Type="http://schemas.openxmlformats.org/officeDocument/2006/relationships/slideLayout" Target="../slideLayouts/slideLayout5.xml" /><Relationship Id="rId10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image" Target="../media/image4.pn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-1"/>
            <a:ext cx="12192000" cy="1280158"/>
          </a:xfrm>
          <a:prstGeom prst="rect">
            <a:avLst/>
          </a:prstGeom>
          <a:solidFill>
            <a:srgbClr val="01234D"/>
          </a:solidFill>
          <a:ln w="19050">
            <a:solidFill>
              <a:srgbClr val="525755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" name="Picture 14" descr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06884" y="74822"/>
            <a:ext cx="1043155" cy="104315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Picture 15" descr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47316" y="123389"/>
            <a:ext cx="884048" cy="8840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16" descr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27892" y="192303"/>
            <a:ext cx="785941" cy="785941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Box 17"/>
          <p:cNvSpPr txBox="1"/>
          <p:nvPr/>
        </p:nvSpPr>
        <p:spPr>
          <a:xfrm>
            <a:off x="2620968" y="27424"/>
            <a:ext cx="5906909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55</a:t>
            </a:r>
            <a:r>
              <a:rPr baseline="30000"/>
              <a:t>th</a:t>
            </a:r>
            <a:r>
              <a:t>   Annual Conference of </a:t>
            </a:r>
          </a:p>
          <a:p>
            <a:pPr>
              <a:defRPr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Orthopedic Surgeon Society of Andhra Pradesh</a:t>
            </a:r>
          </a:p>
        </p:txBody>
      </p:sp>
      <p:sp>
        <p:nvSpPr>
          <p:cNvPr id="7" name="TextBox 18"/>
          <p:cNvSpPr txBox="1"/>
          <p:nvPr/>
        </p:nvSpPr>
        <p:spPr>
          <a:xfrm>
            <a:off x="2646937" y="653897"/>
            <a:ext cx="6216055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lvl1pPr>
          </a:lstStyle>
          <a:p>
            <a:r>
              <a:t>Date 6 – 8 February,2026, Venue : Kurnool Medical College</a:t>
            </a:r>
          </a:p>
        </p:txBody>
      </p:sp>
      <p:sp>
        <p:nvSpPr>
          <p:cNvPr id="8" name="TextBox 19"/>
          <p:cNvSpPr txBox="1"/>
          <p:nvPr/>
        </p:nvSpPr>
        <p:spPr>
          <a:xfrm>
            <a:off x="2620969" y="913339"/>
            <a:ext cx="702259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lvl1pPr>
          </a:lstStyle>
          <a:p>
            <a:r>
              <a:t>Organized by : Department of Orthopaedics, Kurnool Medical College Kurnool</a:t>
            </a:r>
          </a:p>
        </p:txBody>
      </p:sp>
      <p:sp>
        <p:nvSpPr>
          <p:cNvPr id="9" name="Freeform 13"/>
          <p:cNvSpPr/>
          <p:nvPr/>
        </p:nvSpPr>
        <p:spPr>
          <a:xfrm>
            <a:off x="560813" y="14254"/>
            <a:ext cx="1505562" cy="1280159"/>
          </a:xfrm>
          <a:prstGeom prst="rect">
            <a:avLst/>
          </a:prstGeom>
          <a:blipFill>
            <a:blip r:embed="rId1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" name="Title Text"/>
          <p:cNvSpPr txBox="1">
            <a:spLocks noGrp="1"/>
          </p:cNvSpPr>
          <p:nvPr>
            <p:ph type="title"/>
          </p:nvPr>
        </p:nvSpPr>
        <p:spPr>
          <a:xfrm>
            <a:off x="1217669" y="3694667"/>
            <a:ext cx="10515601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Title Text</a:t>
            </a:r>
          </a:p>
        </p:txBody>
      </p:sp>
      <p:sp>
        <p:nvSpPr>
          <p:cNvPr id="11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10600" y="6356350"/>
            <a:ext cx="358413" cy="37084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5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5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A COMPARATIVE STUDY OF OUTCOME  OF DISTAL RADIOULNAR INSTABILITY IN GALEAZZI FRACTURES TREATED WITH CONSERVATIVE VS K-WIRE FIXATION"/>
          <p:cNvSpPr txBox="1">
            <a:spLocks noGrp="1"/>
          </p:cNvSpPr>
          <p:nvPr>
            <p:ph type="ctrTitle" idx="4294967295"/>
          </p:nvPr>
        </p:nvSpPr>
        <p:spPr>
          <a:xfrm>
            <a:off x="359055" y="2579543"/>
            <a:ext cx="11473890" cy="1698914"/>
          </a:xfrm>
          <a:prstGeom prst="rect">
            <a:avLst/>
          </a:prstGeom>
        </p:spPr>
        <p:txBody>
          <a:bodyPr/>
          <a:lstStyle>
            <a:lvl1pPr defTabSz="713231">
              <a:defRPr sz="3432" b="1" i="1"/>
            </a:lvl1pPr>
          </a:lstStyle>
          <a:p>
            <a:r>
              <a:t>A COMPARATIVE STUDY OF OUTCOME  OF DISTAL RADIOULNAR INSTABILITY IN GALEAZZI FRACTURES TREATED WITH CONSERVATIVE VS K-WIRE FIXATION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Design: Prospective study, October 2023–December 2024, at King George Hospital, Visakhapatnam.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763480" cy="4351338"/>
          </a:xfrm>
          <a:prstGeom prst="rect">
            <a:avLst/>
          </a:prstGeom>
        </p:spPr>
        <p:txBody>
          <a:bodyPr/>
          <a:lstStyle/>
          <a:p>
            <a:pPr>
              <a:defRPr sz="1900"/>
            </a:pPr>
            <a:r>
              <a:t>Design: Prospective study, October 2023–December 2024, at King George Hospital, Visakhapatnam.</a:t>
            </a:r>
          </a:p>
          <a:p>
            <a:pPr>
              <a:defRPr sz="1900"/>
            </a:pPr>
            <a:endParaRPr/>
          </a:p>
          <a:p>
            <a:pPr>
              <a:defRPr sz="1900"/>
            </a:pPr>
            <a:r>
              <a:t>Sample: 30 adults (&gt;18 years) with Galeazzi fracture and intra‑operative DRUJ instability, all treated with radius ORIF using a 3.5 mm DCP plate.</a:t>
            </a:r>
          </a:p>
          <a:p>
            <a:pPr>
              <a:defRPr sz="1900"/>
            </a:pPr>
            <a:endParaRPr/>
          </a:p>
          <a:p>
            <a:pPr>
              <a:defRPr sz="1900"/>
            </a:pPr>
            <a:r>
              <a:t>Groups (non‑randomized, 15 patients each):</a:t>
            </a:r>
          </a:p>
        </p:txBody>
      </p:sp>
      <p:sp>
        <p:nvSpPr>
          <p:cNvPr id="126" name="Conservative group: Above‑elbow POP cast in full supination for 4–6 weeks.…"/>
          <p:cNvSpPr txBox="1"/>
          <p:nvPr/>
        </p:nvSpPr>
        <p:spPr>
          <a:xfrm>
            <a:off x="1480855" y="4553363"/>
            <a:ext cx="9302820" cy="1036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1900"/>
            </a:pPr>
            <a:r>
              <a:t>Conservative group: Above‑elbow POP cast in full supination for 4–6 weeks.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1900"/>
            </a:pPr>
            <a:r>
              <a:t>K‑wire group: DRUJ transfixation with 1.6/1.8 mm K‑wire from ulna to radius, 2–3 cm proximal to distal radius, forearm in full supination, K‑wire removed at 4–6 week     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IMG_1424.jpeg" descr="IMG_142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594" y="1635495"/>
            <a:ext cx="9366804" cy="51074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OMPARISON OF RANGE OF MOVEMENTS"/>
          <p:cNvSpPr txBox="1">
            <a:spLocks noGrp="1"/>
          </p:cNvSpPr>
          <p:nvPr>
            <p:ph type="title"/>
          </p:nvPr>
        </p:nvSpPr>
        <p:spPr>
          <a:xfrm>
            <a:off x="183474" y="1418255"/>
            <a:ext cx="11647890" cy="1325564"/>
          </a:xfrm>
          <a:prstGeom prst="rect">
            <a:avLst/>
          </a:prstGeom>
        </p:spPr>
        <p:txBody>
          <a:bodyPr/>
          <a:lstStyle>
            <a:lvl1pPr>
              <a:defRPr sz="3400" b="1"/>
            </a:lvl1pPr>
          </a:lstStyle>
          <a:p>
            <a:r>
              <a:t>COMPARISON OF RANGE OF MOVEMENTS </a:t>
            </a:r>
          </a:p>
        </p:txBody>
      </p:sp>
      <p:pic>
        <p:nvPicPr>
          <p:cNvPr id="131" name="pasted-movie.heic" descr="pasted-movie.he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37" y="2382201"/>
            <a:ext cx="4408585" cy="44167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2" name="pasted-movie.heic" descr="pasted-movie.he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500" y="2382201"/>
            <a:ext cx="4384754" cy="44167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RIP STRENGTH PROGRESSION"/>
          <p:cNvSpPr txBox="1">
            <a:spLocks noGrp="1"/>
          </p:cNvSpPr>
          <p:nvPr>
            <p:ph type="title"/>
          </p:nvPr>
        </p:nvSpPr>
        <p:spPr>
          <a:xfrm>
            <a:off x="316622" y="1599346"/>
            <a:ext cx="10515601" cy="1325564"/>
          </a:xfrm>
          <a:prstGeom prst="rect">
            <a:avLst/>
          </a:prstGeom>
        </p:spPr>
        <p:txBody>
          <a:bodyPr/>
          <a:lstStyle>
            <a:lvl1pPr>
              <a:defRPr sz="4200" b="1"/>
            </a:lvl1pPr>
          </a:lstStyle>
          <a:p>
            <a:r>
              <a:t>GRIP STRENGTH PROGRESSION </a:t>
            </a:r>
          </a:p>
        </p:txBody>
      </p:sp>
      <p:sp>
        <p:nvSpPr>
          <p:cNvPr id="135" name="Both groups show steady recovery; K‑wire group is consistently ~0.5–1.5 kg higher but clinically small."/>
          <p:cNvSpPr txBox="1"/>
          <p:nvPr/>
        </p:nvSpPr>
        <p:spPr>
          <a:xfrm>
            <a:off x="316622" y="2382696"/>
            <a:ext cx="1056344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r>
              <a:t>Both groups show steady recovery; K‑wire group is consistently ~0.5–1.5 kg higher but clinically small.</a:t>
            </a:r>
          </a:p>
        </p:txBody>
      </p:sp>
      <p:pic>
        <p:nvPicPr>
          <p:cNvPr id="136" name="pasted-movie.heic" descr="pasted-movie.he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896" y="2924909"/>
            <a:ext cx="7983664" cy="38112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FUNCTIONAL OUTCOME ( GARTLAND AND WERLEY ) at 6 months"/>
          <p:cNvSpPr txBox="1">
            <a:spLocks noGrp="1"/>
          </p:cNvSpPr>
          <p:nvPr>
            <p:ph type="title"/>
          </p:nvPr>
        </p:nvSpPr>
        <p:spPr>
          <a:xfrm>
            <a:off x="191016" y="1575234"/>
            <a:ext cx="11531601" cy="1325564"/>
          </a:xfrm>
          <a:prstGeom prst="rect">
            <a:avLst/>
          </a:prstGeom>
        </p:spPr>
        <p:txBody>
          <a:bodyPr/>
          <a:lstStyle>
            <a:lvl1pPr>
              <a:defRPr sz="3400" b="1"/>
            </a:lvl1pPr>
          </a:lstStyle>
          <a:p>
            <a:r>
              <a:t>FUNCTIONAL OUTCOME ( GARTLAND AND WERLEY ) at 6 months</a:t>
            </a:r>
          </a:p>
        </p:txBody>
      </p:sp>
      <p:pic>
        <p:nvPicPr>
          <p:cNvPr id="139" name="pasted-movie.heic" descr="pasted-movie.he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892" y="2900797"/>
            <a:ext cx="8763001" cy="37211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KEY STATISTICAL TAKEAWAYS"/>
          <p:cNvSpPr txBox="1">
            <a:spLocks noGrp="1"/>
          </p:cNvSpPr>
          <p:nvPr>
            <p:ph type="title"/>
          </p:nvPr>
        </p:nvSpPr>
        <p:spPr>
          <a:xfrm>
            <a:off x="165654" y="1418255"/>
            <a:ext cx="10515601" cy="1325564"/>
          </a:xfrm>
          <a:prstGeom prst="rect">
            <a:avLst/>
          </a:prstGeom>
        </p:spPr>
        <p:txBody>
          <a:bodyPr/>
          <a:lstStyle>
            <a:lvl1pPr>
              <a:defRPr sz="3700" b="1"/>
            </a:lvl1pPr>
          </a:lstStyle>
          <a:p>
            <a:r>
              <a:t>KEY STATISTICAL TAKEAWAYS</a:t>
            </a:r>
          </a:p>
        </p:txBody>
      </p:sp>
      <p:sp>
        <p:nvSpPr>
          <p:cNvPr id="142" name="Sample: 30 patients, equally split: 15 conservative, 15 K‑wire.…"/>
          <p:cNvSpPr txBox="1"/>
          <p:nvPr/>
        </p:nvSpPr>
        <p:spPr>
          <a:xfrm>
            <a:off x="866798" y="2357773"/>
            <a:ext cx="9776334" cy="3888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900"/>
            </a:pPr>
            <a:r>
              <a:rPr b="1"/>
              <a:t>Sample</a:t>
            </a:r>
            <a:r>
              <a:t>: 30 patients, equally split: 15 conservative, 15 K‑wire.</a:t>
            </a:r>
          </a:p>
          <a:p>
            <a:pPr>
              <a:defRPr sz="1900"/>
            </a:pPr>
            <a:endParaRPr/>
          </a:p>
          <a:p>
            <a:pPr>
              <a:defRPr sz="1900"/>
            </a:pPr>
            <a:r>
              <a:rPr b="1"/>
              <a:t>Demography</a:t>
            </a:r>
            <a:r>
              <a:t>: young predominance (50% aged 18–30), male 73.3%, right‑side injury 66.7%, RTA mechanism 56.7%.</a:t>
            </a:r>
          </a:p>
          <a:p>
            <a:pPr>
              <a:defRPr sz="1900"/>
            </a:pPr>
            <a:endParaRPr/>
          </a:p>
          <a:p>
            <a:pPr>
              <a:defRPr sz="1900"/>
            </a:pPr>
            <a:r>
              <a:rPr b="1"/>
              <a:t>ROM</a:t>
            </a:r>
            <a:r>
              <a:t>: majority in highest strata for flexion (≥55°), extension (≥45°), pronation (≥65°) and supination (≥75°); no severe motion loss.</a:t>
            </a:r>
          </a:p>
          <a:p>
            <a:pPr>
              <a:defRPr sz="1900"/>
            </a:pPr>
            <a:endParaRPr/>
          </a:p>
          <a:p>
            <a:pPr>
              <a:defRPr sz="1900"/>
            </a:pPr>
            <a:r>
              <a:rPr b="1"/>
              <a:t>Grip strength</a:t>
            </a:r>
            <a:r>
              <a:t>: improved by ~6 kg over 6 months in both groups; final means 24.0 vs 24.5 kg.</a:t>
            </a:r>
          </a:p>
          <a:p>
            <a:pPr>
              <a:defRPr sz="1900"/>
            </a:pPr>
            <a:endParaRPr/>
          </a:p>
          <a:p>
            <a:pPr>
              <a:defRPr sz="1900"/>
            </a:pPr>
            <a:r>
              <a:rPr b="1"/>
              <a:t>Function</a:t>
            </a:r>
            <a:r>
              <a:t>: at 6 months, 100% of patients in both groups fall into excellent or good categories on Gartland &amp; Werley; no fair/poor outcomes.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ONCLUSION"/>
          <p:cNvSpPr txBox="1">
            <a:spLocks noGrp="1"/>
          </p:cNvSpPr>
          <p:nvPr>
            <p:ph type="title"/>
          </p:nvPr>
        </p:nvSpPr>
        <p:spPr>
          <a:xfrm>
            <a:off x="316622" y="1647947"/>
            <a:ext cx="10515601" cy="1325564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t>CONCLUSION </a:t>
            </a:r>
          </a:p>
        </p:txBody>
      </p:sp>
      <p:sp>
        <p:nvSpPr>
          <p:cNvPr id="145" name="POP casing in full supination and DRUJ K‑wire transfixation, following stable radius plating, are clinically equivalent at 6 months for DRUJ instability in Galeazzi fractures in this cohort."/>
          <p:cNvSpPr txBox="1"/>
          <p:nvPr/>
        </p:nvSpPr>
        <p:spPr>
          <a:xfrm>
            <a:off x="1313594" y="3327046"/>
            <a:ext cx="9993776" cy="1082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200"/>
            </a:lvl1pPr>
          </a:lstStyle>
          <a:p>
            <a:r>
              <a:t>POP casing in full supination and DRUJ K‑wire transfixation, following stable radius plating, are clinically equivalent at 6 months for DRUJ instability in Galeazzi fractures in this cohort.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A COMPARATIVE STUDY OF OUTCOME  OF DISTAL RADIOULNAR INSTABILITY IN GALEAZZI FRACTURES TREATED WITH CONSERVATIVE VS K-WIRE FIXATION</vt:lpstr>
      <vt:lpstr>PowerPoint Presentation</vt:lpstr>
      <vt:lpstr>PowerPoint Presentation</vt:lpstr>
      <vt:lpstr>COMPARISON OF RANGE OF MOVEMENTS </vt:lpstr>
      <vt:lpstr>GRIP STRENGTH PROGRESSION </vt:lpstr>
      <vt:lpstr>FUNCTIONAL OUTCOME ( GARTLAND AND WERLEY ) at 6 months</vt:lpstr>
      <vt:lpstr>KEY STATISTICAL TAKEAWAYS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COMPARATIVE STUDY OF OUTCOME  OF DISTAL RADIOULNAR INSTABILITY IN GALEAZZI FRACTURES TREATED WITH CONSERVATIVE VS K-WIRE FIXATION</dc:title>
  <cp:lastModifiedBy>pravn.karri@gmail.com</cp:lastModifiedBy>
  <cp:revision>1</cp:revision>
  <dcterms:modified xsi:type="dcterms:W3CDTF">2026-02-03T16:43:58Z</dcterms:modified>
</cp:coreProperties>
</file>