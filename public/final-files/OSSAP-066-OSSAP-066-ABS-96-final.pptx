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525755"/>
    <a:srgbClr val="01234D"/>
    <a:srgbClr val="D9F2D0"/>
  </p:clrMru>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snapVertSplitter="1" vertBarState="minimized" horzBarState="maximized">
    <p:restoredLeft sz="14995" autoAdjust="0"/>
    <p:restoredTop sz="94300" autoAdjust="0"/>
  </p:normalViewPr>
  <p:slideViewPr>
    <p:cSldViewPr snapToGrid="0">
      <p:cViewPr varScale="1">
        <p:scale>
          <a:sx n="63" d="100"/>
          <a:sy n="63" d="100"/>
        </p:scale>
        <p:origin x="1160"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tableStyles" Target="tableStyles.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27" name=""/>
        <p:cNvGrpSpPr/>
        <p:nvPr/>
      </p:nvGrpSpPr>
      <p:grpSpPr>
        <a:xfrm>
          <a:off x="0" y="0"/>
          <a:ext cx="0" cy="0"/>
          <a:chOff x="0" y="0"/>
          <a:chExt cx="0" cy="0"/>
        </a:xfrm>
      </p:grpSpPr>
      <p:sp>
        <p:nvSpPr>
          <p:cNvPr id="1048664"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5"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6"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7"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8"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9"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15"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a:prstGeom prst="rect"/>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a:prstGeom prst="rect"/>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584" name="Footer Placeholder 4"/>
          <p:cNvSpPr>
            <a:spLocks noGrp="1"/>
          </p:cNvSpPr>
          <p:nvPr>
            <p:ph type="ftr" sz="quarter" idx="11"/>
          </p:nvPr>
        </p:nvSpPr>
        <p:spPr>
          <a:xfrm>
            <a:off x="4038600" y="6356350"/>
            <a:ext cx="4114800" cy="365125"/>
          </a:xfrm>
          <a:prstGeom prst="rect"/>
        </p:spPr>
        <p:txBody>
          <a:bodyPr/>
          <a:p>
            <a:endParaRPr lang="en-US"/>
          </a:p>
        </p:txBody>
      </p:sp>
      <p:sp>
        <p:nvSpPr>
          <p:cNvPr id="104858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9" name=""/>
        <p:cNvGrpSpPr/>
        <p:nvPr/>
      </p:nvGrpSpPr>
      <p:grpSpPr>
        <a:xfrm>
          <a:off x="0" y="0"/>
          <a:ext cx="0" cy="0"/>
          <a:chOff x="0" y="0"/>
          <a:chExt cx="0" cy="0"/>
        </a:xfrm>
      </p:grpSpPr>
      <p:sp>
        <p:nvSpPr>
          <p:cNvPr id="1048620"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21" name="Content Placeholder 2"/>
          <p:cNvSpPr>
            <a:spLocks noGrp="1"/>
          </p:cNvSpPr>
          <p:nvPr>
            <p:ph idx="1"/>
          </p:nvPr>
        </p:nvSpPr>
        <p:spPr>
          <a:xfrm>
            <a:off x="838200" y="1825625"/>
            <a:ext cx="10515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2"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23" name="Footer Placeholder 4"/>
          <p:cNvSpPr>
            <a:spLocks noGrp="1"/>
          </p:cNvSpPr>
          <p:nvPr>
            <p:ph type="ftr" sz="quarter" idx="11"/>
          </p:nvPr>
        </p:nvSpPr>
        <p:spPr>
          <a:xfrm>
            <a:off x="4038600" y="6356350"/>
            <a:ext cx="4114800" cy="365125"/>
          </a:xfrm>
          <a:prstGeom prst="rect"/>
        </p:spPr>
        <p:txBody>
          <a:bodyPr/>
          <a:p>
            <a:endParaRPr lang="en-US"/>
          </a:p>
        </p:txBody>
      </p:sp>
      <p:sp>
        <p:nvSpPr>
          <p:cNvPr id="1048624"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22" name=""/>
        <p:cNvGrpSpPr/>
        <p:nvPr/>
      </p:nvGrpSpPr>
      <p:grpSpPr>
        <a:xfrm>
          <a:off x="0" y="0"/>
          <a:ext cx="0" cy="0"/>
          <a:chOff x="0" y="0"/>
          <a:chExt cx="0" cy="0"/>
        </a:xfrm>
      </p:grpSpPr>
      <p:sp>
        <p:nvSpPr>
          <p:cNvPr id="1048636" name="Title 1"/>
          <p:cNvSpPr>
            <a:spLocks noGrp="1"/>
          </p:cNvSpPr>
          <p:nvPr>
            <p:ph type="title"/>
          </p:nvPr>
        </p:nvSpPr>
        <p:spPr>
          <a:xfrm>
            <a:off x="831850" y="1709738"/>
            <a:ext cx="10515600" cy="2852737"/>
          </a:xfrm>
          <a:prstGeom prst="rect"/>
        </p:spPr>
        <p:txBody>
          <a:bodyPr anchor="b"/>
          <a:lstStyle>
            <a:lvl1pPr>
              <a:defRPr sz="6000"/>
            </a:lvl1pPr>
          </a:lstStyle>
          <a:p>
            <a:r>
              <a:rPr lang="en-US"/>
              <a:t>Click to edit Master title style</a:t>
            </a:r>
          </a:p>
        </p:txBody>
      </p:sp>
      <p:sp>
        <p:nvSpPr>
          <p:cNvPr id="1048637" name="Text Placeholder 2"/>
          <p:cNvSpPr>
            <a:spLocks noGrp="1"/>
          </p:cNvSpPr>
          <p:nvPr>
            <p:ph type="body" idx="1"/>
          </p:nvPr>
        </p:nvSpPr>
        <p:spPr>
          <a:xfrm>
            <a:off x="831850" y="4589463"/>
            <a:ext cx="10515600" cy="1500187"/>
          </a:xfrm>
          <a:prstGeom prst="rect"/>
        </p:spPr>
        <p:txBody>
          <a:bodyPr/>
          <a:lstStyle>
            <a:lvl1pPr indent="0" marL="0">
              <a:buNone/>
              <a:defRPr sz="2400">
                <a:solidFill>
                  <a:schemeClr val="tx1">
                    <a:tint val="82000"/>
                  </a:schemeClr>
                </a:solidFill>
              </a:defRPr>
            </a:lvl1pPr>
            <a:lvl2pPr indent="0" marL="457200">
              <a:buNone/>
              <a:defRPr sz="2000">
                <a:solidFill>
                  <a:schemeClr val="tx1">
                    <a:tint val="82000"/>
                  </a:schemeClr>
                </a:solidFill>
              </a:defRPr>
            </a:lvl2pPr>
            <a:lvl3pPr indent="0" marL="914400">
              <a:buNone/>
              <a:defRPr sz="1800">
                <a:solidFill>
                  <a:schemeClr val="tx1">
                    <a:tint val="82000"/>
                  </a:schemeClr>
                </a:solidFill>
              </a:defRPr>
            </a:lvl3pPr>
            <a:lvl4pPr indent="0" marL="1371600">
              <a:buNone/>
              <a:defRPr sz="1600">
                <a:solidFill>
                  <a:schemeClr val="tx1">
                    <a:tint val="82000"/>
                  </a:schemeClr>
                </a:solidFill>
              </a:defRPr>
            </a:lvl4pPr>
            <a:lvl5pPr indent="0" marL="1828800">
              <a:buNone/>
              <a:defRPr sz="1600">
                <a:solidFill>
                  <a:schemeClr val="tx1">
                    <a:tint val="82000"/>
                  </a:schemeClr>
                </a:solidFill>
              </a:defRPr>
            </a:lvl5pPr>
            <a:lvl6pPr indent="0" marL="2286000">
              <a:buNone/>
              <a:defRPr sz="1600">
                <a:solidFill>
                  <a:schemeClr val="tx1">
                    <a:tint val="82000"/>
                  </a:schemeClr>
                </a:solidFill>
              </a:defRPr>
            </a:lvl6pPr>
            <a:lvl7pPr indent="0" marL="2743200">
              <a:buNone/>
              <a:defRPr sz="1600">
                <a:solidFill>
                  <a:schemeClr val="tx1">
                    <a:tint val="82000"/>
                  </a:schemeClr>
                </a:solidFill>
              </a:defRPr>
            </a:lvl7pPr>
            <a:lvl8pPr indent="0" marL="3200400">
              <a:buNone/>
              <a:defRPr sz="1600">
                <a:solidFill>
                  <a:schemeClr val="tx1">
                    <a:tint val="82000"/>
                  </a:schemeClr>
                </a:solidFill>
              </a:defRPr>
            </a:lvl8pPr>
            <a:lvl9pPr indent="0" marL="3657600">
              <a:buNone/>
              <a:defRPr sz="1600">
                <a:solidFill>
                  <a:schemeClr val="tx1">
                    <a:tint val="82000"/>
                  </a:schemeClr>
                </a:solidFill>
              </a:defRPr>
            </a:lvl9pPr>
          </a:lstStyle>
          <a:p>
            <a:pPr lvl="0"/>
            <a:r>
              <a:rPr lang="en-US"/>
              <a:t>Click to edit Master text styles</a:t>
            </a:r>
          </a:p>
        </p:txBody>
      </p:sp>
      <p:sp>
        <p:nvSpPr>
          <p:cNvPr id="1048638"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39" name="Footer Placeholder 4"/>
          <p:cNvSpPr>
            <a:spLocks noGrp="1"/>
          </p:cNvSpPr>
          <p:nvPr>
            <p:ph type="ftr" sz="quarter" idx="11"/>
          </p:nvPr>
        </p:nvSpPr>
        <p:spPr>
          <a:xfrm>
            <a:off x="4038600" y="6356350"/>
            <a:ext cx="4114800" cy="365125"/>
          </a:xfrm>
          <a:prstGeom prst="rect"/>
        </p:spPr>
        <p:txBody>
          <a:bodyPr/>
          <a:p>
            <a:endParaRPr lang="en-US"/>
          </a:p>
        </p:txBody>
      </p:sp>
      <p:sp>
        <p:nvSpPr>
          <p:cNvPr id="1048640"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23" name=""/>
        <p:cNvGrpSpPr/>
        <p:nvPr/>
      </p:nvGrpSpPr>
      <p:grpSpPr>
        <a:xfrm>
          <a:off x="0" y="0"/>
          <a:ext cx="0" cy="0"/>
          <a:chOff x="0" y="0"/>
          <a:chExt cx="0" cy="0"/>
        </a:xfrm>
      </p:grpSpPr>
      <p:sp>
        <p:nvSpPr>
          <p:cNvPr id="1048641"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42" name="Content Placeholder 2"/>
          <p:cNvSpPr>
            <a:spLocks noGrp="1"/>
          </p:cNvSpPr>
          <p:nvPr>
            <p:ph sz="half" idx="1"/>
          </p:nvPr>
        </p:nvSpPr>
        <p:spPr>
          <a:xfrm>
            <a:off x="838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3" name="Content Placeholder 3"/>
          <p:cNvSpPr>
            <a:spLocks noGrp="1"/>
          </p:cNvSpPr>
          <p:nvPr>
            <p:ph sz="half" idx="2"/>
          </p:nvPr>
        </p:nvSpPr>
        <p:spPr>
          <a:xfrm>
            <a:off x="6172200" y="1825625"/>
            <a:ext cx="5181600" cy="435133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4"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45" name="Footer Placeholder 5"/>
          <p:cNvSpPr>
            <a:spLocks noGrp="1"/>
          </p:cNvSpPr>
          <p:nvPr>
            <p:ph type="ftr" sz="quarter" idx="11"/>
          </p:nvPr>
        </p:nvSpPr>
        <p:spPr>
          <a:xfrm>
            <a:off x="4038600" y="6356350"/>
            <a:ext cx="4114800" cy="365125"/>
          </a:xfrm>
          <a:prstGeom prst="rect"/>
        </p:spPr>
        <p:txBody>
          <a:bodyPr/>
          <a:p>
            <a:endParaRPr lang="en-US"/>
          </a:p>
        </p:txBody>
      </p:sp>
      <p:sp>
        <p:nvSpPr>
          <p:cNvPr id="1048646"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24" name=""/>
        <p:cNvGrpSpPr/>
        <p:nvPr/>
      </p:nvGrpSpPr>
      <p:grpSpPr>
        <a:xfrm>
          <a:off x="0" y="0"/>
          <a:ext cx="0" cy="0"/>
          <a:chOff x="0" y="0"/>
          <a:chExt cx="0" cy="0"/>
        </a:xfrm>
      </p:grpSpPr>
      <p:sp>
        <p:nvSpPr>
          <p:cNvPr id="1048647" name="Title 1"/>
          <p:cNvSpPr>
            <a:spLocks noGrp="1"/>
          </p:cNvSpPr>
          <p:nvPr>
            <p:ph type="title"/>
          </p:nvPr>
        </p:nvSpPr>
        <p:spPr>
          <a:xfrm>
            <a:off x="839788" y="365125"/>
            <a:ext cx="10515600" cy="1325563"/>
          </a:xfrm>
          <a:prstGeom prst="rect"/>
        </p:spPr>
        <p:txBody>
          <a:bodyPr/>
          <a:p>
            <a:r>
              <a:rPr lang="en-US"/>
              <a:t>Click to edit Master title style</a:t>
            </a:r>
          </a:p>
        </p:txBody>
      </p:sp>
      <p:sp>
        <p:nvSpPr>
          <p:cNvPr id="1048648" name="Text Placeholder 2"/>
          <p:cNvSpPr>
            <a:spLocks noGrp="1"/>
          </p:cNvSpPr>
          <p:nvPr>
            <p:ph type="body" idx="1"/>
          </p:nvPr>
        </p:nvSpPr>
        <p:spPr>
          <a:xfrm>
            <a:off x="839788" y="1681163"/>
            <a:ext cx="5157787"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49" name="Content Placeholder 3"/>
          <p:cNvSpPr>
            <a:spLocks noGrp="1"/>
          </p:cNvSpPr>
          <p:nvPr>
            <p:ph sz="half" idx="2"/>
          </p:nvPr>
        </p:nvSpPr>
        <p:spPr>
          <a:xfrm>
            <a:off x="839788" y="2505075"/>
            <a:ext cx="5157787"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0" name="Text Placeholder 4"/>
          <p:cNvSpPr>
            <a:spLocks noGrp="1"/>
          </p:cNvSpPr>
          <p:nvPr>
            <p:ph type="body" sz="quarter" idx="3"/>
          </p:nvPr>
        </p:nvSpPr>
        <p:spPr>
          <a:xfrm>
            <a:off x="6172200" y="1681163"/>
            <a:ext cx="5183188" cy="823912"/>
          </a:xfrm>
          <a:prstGeom prst="rect"/>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1" name="Content Placeholder 5"/>
          <p:cNvSpPr>
            <a:spLocks noGrp="1"/>
          </p:cNvSpPr>
          <p:nvPr>
            <p:ph sz="quarter" idx="4"/>
          </p:nvPr>
        </p:nvSpPr>
        <p:spPr>
          <a:xfrm>
            <a:off x="6172200" y="2505075"/>
            <a:ext cx="5183188" cy="3684588"/>
          </a:xfrm>
          <a:prstGeom prst="rect"/>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2" name="Date Placeholder 6"/>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53" name="Footer Placeholder 7"/>
          <p:cNvSpPr>
            <a:spLocks noGrp="1"/>
          </p:cNvSpPr>
          <p:nvPr>
            <p:ph type="ftr" sz="quarter" idx="11"/>
          </p:nvPr>
        </p:nvSpPr>
        <p:spPr>
          <a:xfrm>
            <a:off x="4038600" y="6356350"/>
            <a:ext cx="4114800" cy="365125"/>
          </a:xfrm>
          <a:prstGeom prst="rect"/>
        </p:spPr>
        <p:txBody>
          <a:bodyPr/>
          <a:p>
            <a:endParaRPr lang="en-US"/>
          </a:p>
        </p:txBody>
      </p:sp>
      <p:sp>
        <p:nvSpPr>
          <p:cNvPr id="1048654" name="Slide Number Placeholder 8"/>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17" name=""/>
        <p:cNvGrpSpPr/>
        <p:nvPr/>
      </p:nvGrpSpPr>
      <p:grpSpPr>
        <a:xfrm>
          <a:off x="0" y="0"/>
          <a:ext cx="0" cy="0"/>
          <a:chOff x="0" y="0"/>
          <a:chExt cx="0" cy="0"/>
        </a:xfrm>
      </p:grpSpPr>
      <p:sp>
        <p:nvSpPr>
          <p:cNvPr id="1048611"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12" name="Date Placeholder 2"/>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13" name="Footer Placeholder 3"/>
          <p:cNvSpPr>
            <a:spLocks noGrp="1"/>
          </p:cNvSpPr>
          <p:nvPr>
            <p:ph type="ftr" sz="quarter" idx="11"/>
          </p:nvPr>
        </p:nvSpPr>
        <p:spPr>
          <a:xfrm>
            <a:off x="4038600" y="6356350"/>
            <a:ext cx="4114800" cy="365125"/>
          </a:xfrm>
          <a:prstGeom prst="rect"/>
        </p:spPr>
        <p:txBody>
          <a:bodyPr/>
          <a:p>
            <a:endParaRPr lang="en-US"/>
          </a:p>
        </p:txBody>
      </p:sp>
      <p:sp>
        <p:nvSpPr>
          <p:cNvPr id="1048614" name="Slide Number Placeholder 4"/>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25" name=""/>
        <p:cNvGrpSpPr/>
        <p:nvPr/>
      </p:nvGrpSpPr>
      <p:grpSpPr>
        <a:xfrm>
          <a:off x="0" y="0"/>
          <a:ext cx="0" cy="0"/>
          <a:chOff x="0" y="0"/>
          <a:chExt cx="0" cy="0"/>
        </a:xfrm>
      </p:grpSpPr>
      <p:sp>
        <p:nvSpPr>
          <p:cNvPr id="1048655" name="Date Placeholder 1"/>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56" name="Footer Placeholder 2"/>
          <p:cNvSpPr>
            <a:spLocks noGrp="1"/>
          </p:cNvSpPr>
          <p:nvPr>
            <p:ph type="ftr" sz="quarter" idx="11"/>
          </p:nvPr>
        </p:nvSpPr>
        <p:spPr>
          <a:xfrm>
            <a:off x="4038600" y="6356350"/>
            <a:ext cx="4114800" cy="365125"/>
          </a:xfrm>
          <a:prstGeom prst="rect"/>
        </p:spPr>
        <p:txBody>
          <a:bodyPr/>
          <a:p>
            <a:endParaRPr lang="en-US"/>
          </a:p>
        </p:txBody>
      </p:sp>
      <p:sp>
        <p:nvSpPr>
          <p:cNvPr id="1048657" name="Slide Number Placeholder 3"/>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26" name=""/>
        <p:cNvGrpSpPr/>
        <p:nvPr/>
      </p:nvGrpSpPr>
      <p:grpSpPr>
        <a:xfrm>
          <a:off x="0" y="0"/>
          <a:ext cx="0" cy="0"/>
          <a:chOff x="0" y="0"/>
          <a:chExt cx="0" cy="0"/>
        </a:xfrm>
      </p:grpSpPr>
      <p:sp>
        <p:nvSpPr>
          <p:cNvPr id="1048658"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59" name="Content Placeholder 2"/>
          <p:cNvSpPr>
            <a:spLocks noGrp="1"/>
          </p:cNvSpPr>
          <p:nvPr>
            <p:ph idx="1"/>
          </p:nvPr>
        </p:nvSpPr>
        <p:spPr>
          <a:xfrm>
            <a:off x="5183188" y="987425"/>
            <a:ext cx="6172200" cy="4873625"/>
          </a:xfrm>
          <a:prstGeom prst="rect"/>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0"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61"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62" name="Footer Placeholder 5"/>
          <p:cNvSpPr>
            <a:spLocks noGrp="1"/>
          </p:cNvSpPr>
          <p:nvPr>
            <p:ph type="ftr" sz="quarter" idx="11"/>
          </p:nvPr>
        </p:nvSpPr>
        <p:spPr>
          <a:xfrm>
            <a:off x="4038600" y="6356350"/>
            <a:ext cx="4114800" cy="365125"/>
          </a:xfrm>
          <a:prstGeom prst="rect"/>
        </p:spPr>
        <p:txBody>
          <a:bodyPr/>
          <a:p>
            <a:endParaRPr lang="en-US"/>
          </a:p>
        </p:txBody>
      </p:sp>
      <p:sp>
        <p:nvSpPr>
          <p:cNvPr id="1048663"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20" name=""/>
        <p:cNvGrpSpPr/>
        <p:nvPr/>
      </p:nvGrpSpPr>
      <p:grpSpPr>
        <a:xfrm>
          <a:off x="0" y="0"/>
          <a:ext cx="0" cy="0"/>
          <a:chOff x="0" y="0"/>
          <a:chExt cx="0" cy="0"/>
        </a:xfrm>
      </p:grpSpPr>
      <p:sp>
        <p:nvSpPr>
          <p:cNvPr id="1048625" name="Title 1"/>
          <p:cNvSpPr>
            <a:spLocks noGrp="1"/>
          </p:cNvSpPr>
          <p:nvPr>
            <p:ph type="title"/>
          </p:nvPr>
        </p:nvSpPr>
        <p:spPr>
          <a:xfrm>
            <a:off x="839788" y="457200"/>
            <a:ext cx="3932237" cy="1600200"/>
          </a:xfrm>
          <a:prstGeom prst="rect"/>
        </p:spPr>
        <p:txBody>
          <a:bodyPr anchor="b"/>
          <a:lstStyle>
            <a:lvl1pPr>
              <a:defRPr sz="3200"/>
            </a:lvl1pPr>
          </a:lstStyle>
          <a:p>
            <a:r>
              <a:rPr lang="en-US"/>
              <a:t>Click to edit Master title style</a:t>
            </a:r>
          </a:p>
        </p:txBody>
      </p:sp>
      <p:sp>
        <p:nvSpPr>
          <p:cNvPr id="1048626" name="Picture Placeholder 2"/>
          <p:cNvSpPr>
            <a:spLocks noGrp="1"/>
          </p:cNvSpPr>
          <p:nvPr>
            <p:ph type="pic" idx="1"/>
          </p:nvPr>
        </p:nvSpPr>
        <p:spPr>
          <a:xfrm>
            <a:off x="5183188" y="987425"/>
            <a:ext cx="6172200" cy="4873625"/>
          </a:xfrm>
          <a:prstGeom prst="rect"/>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27" name="Text Placeholder 3"/>
          <p:cNvSpPr>
            <a:spLocks noGrp="1"/>
          </p:cNvSpPr>
          <p:nvPr>
            <p:ph type="body" sz="half" idx="2"/>
          </p:nvPr>
        </p:nvSpPr>
        <p:spPr>
          <a:xfrm>
            <a:off x="839788" y="2057400"/>
            <a:ext cx="3932237" cy="3811588"/>
          </a:xfrm>
          <a:prstGeom prst="rect"/>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628" name="Date Placeholder 4"/>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29" name="Footer Placeholder 5"/>
          <p:cNvSpPr>
            <a:spLocks noGrp="1"/>
          </p:cNvSpPr>
          <p:nvPr>
            <p:ph type="ftr" sz="quarter" idx="11"/>
          </p:nvPr>
        </p:nvSpPr>
        <p:spPr>
          <a:xfrm>
            <a:off x="4038600" y="6356350"/>
            <a:ext cx="4114800" cy="365125"/>
          </a:xfrm>
          <a:prstGeom prst="rect"/>
        </p:spPr>
        <p:txBody>
          <a:bodyPr/>
          <a:p>
            <a:endParaRPr lang="en-US"/>
          </a:p>
        </p:txBody>
      </p:sp>
      <p:sp>
        <p:nvSpPr>
          <p:cNvPr id="1048630" name="Slide Number Placeholder 6"/>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21" name=""/>
        <p:cNvGrpSpPr/>
        <p:nvPr/>
      </p:nvGrpSpPr>
      <p:grpSpPr>
        <a:xfrm>
          <a:off x="0" y="0"/>
          <a:ext cx="0" cy="0"/>
          <a:chOff x="0" y="0"/>
          <a:chExt cx="0" cy="0"/>
        </a:xfrm>
      </p:grpSpPr>
      <p:sp>
        <p:nvSpPr>
          <p:cNvPr id="1048631" name="Title 1"/>
          <p:cNvSpPr>
            <a:spLocks noGrp="1"/>
          </p:cNvSpPr>
          <p:nvPr>
            <p:ph type="title"/>
          </p:nvPr>
        </p:nvSpPr>
        <p:spPr>
          <a:xfrm>
            <a:off x="838200" y="365125"/>
            <a:ext cx="10515600" cy="1325563"/>
          </a:xfrm>
          <a:prstGeom prst="rect"/>
        </p:spPr>
        <p:txBody>
          <a:bodyPr/>
          <a:p>
            <a:r>
              <a:rPr lang="en-US"/>
              <a:t>Click to edit Master title style</a:t>
            </a:r>
          </a:p>
        </p:txBody>
      </p:sp>
      <p:sp>
        <p:nvSpPr>
          <p:cNvPr id="1048632" name="Vertical Text Placeholder 2"/>
          <p:cNvSpPr>
            <a:spLocks noGrp="1"/>
          </p:cNvSpPr>
          <p:nvPr>
            <p:ph type="body" orient="vert" idx="1"/>
          </p:nvPr>
        </p:nvSpPr>
        <p:spPr>
          <a:xfrm>
            <a:off x="838200" y="1825625"/>
            <a:ext cx="10515600" cy="43513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3"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34" name="Footer Placeholder 4"/>
          <p:cNvSpPr>
            <a:spLocks noGrp="1"/>
          </p:cNvSpPr>
          <p:nvPr>
            <p:ph type="ftr" sz="quarter" idx="11"/>
          </p:nvPr>
        </p:nvSpPr>
        <p:spPr>
          <a:xfrm>
            <a:off x="4038600" y="6356350"/>
            <a:ext cx="4114800" cy="365125"/>
          </a:xfrm>
          <a:prstGeom prst="rect"/>
        </p:spPr>
        <p:txBody>
          <a:bodyPr/>
          <a:p>
            <a:endParaRPr lang="en-US"/>
          </a:p>
        </p:txBody>
      </p:sp>
      <p:sp>
        <p:nvSpPr>
          <p:cNvPr id="1048635"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18" name=""/>
        <p:cNvGrpSpPr/>
        <p:nvPr/>
      </p:nvGrpSpPr>
      <p:grpSpPr>
        <a:xfrm>
          <a:off x="0" y="0"/>
          <a:ext cx="0" cy="0"/>
          <a:chOff x="0" y="0"/>
          <a:chExt cx="0" cy="0"/>
        </a:xfrm>
      </p:grpSpPr>
      <p:sp>
        <p:nvSpPr>
          <p:cNvPr id="1048615" name="Vertical Title 1"/>
          <p:cNvSpPr>
            <a:spLocks noGrp="1"/>
          </p:cNvSpPr>
          <p:nvPr>
            <p:ph type="title" orient="vert"/>
          </p:nvPr>
        </p:nvSpPr>
        <p:spPr>
          <a:xfrm>
            <a:off x="8724900" y="365125"/>
            <a:ext cx="2628900" cy="5811838"/>
          </a:xfrm>
          <a:prstGeom prst="rect"/>
        </p:spPr>
        <p:txBody>
          <a:bodyPr vert="eaVert"/>
          <a:p>
            <a:r>
              <a:rPr lang="en-US"/>
              <a:t>Click to edit Master title style</a:t>
            </a:r>
          </a:p>
        </p:txBody>
      </p:sp>
      <p:sp>
        <p:nvSpPr>
          <p:cNvPr id="1048616" name="Vertical Text Placeholder 2"/>
          <p:cNvSpPr>
            <a:spLocks noGrp="1"/>
          </p:cNvSpPr>
          <p:nvPr>
            <p:ph type="body" orient="vert" idx="1"/>
          </p:nvPr>
        </p:nvSpPr>
        <p:spPr>
          <a:xfrm>
            <a:off x="838200" y="365125"/>
            <a:ext cx="7734300" cy="5811838"/>
          </a:xfrm>
          <a:prstGeom prst="rect"/>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7" name="Date Placeholder 3"/>
          <p:cNvSpPr>
            <a:spLocks noGrp="1"/>
          </p:cNvSpPr>
          <p:nvPr>
            <p:ph type="dt" sz="half" idx="10"/>
          </p:nvPr>
        </p:nvSpPr>
        <p:spPr>
          <a:xfrm>
            <a:off x="838200" y="6356350"/>
            <a:ext cx="2743200" cy="365125"/>
          </a:xfrm>
          <a:prstGeom prst="rect"/>
        </p:spPr>
        <p:txBody>
          <a:bodyPr/>
          <a:p>
            <a:fld id="{FD73274A-A2CD-4D7F-B977-66E290A1AB78}" type="datetimeFigureOut">
              <a:rPr lang="en-US" smtClean="0"/>
              <a:t>2/12/2026</a:t>
            </a:fld>
            <a:endParaRPr lang="en-US"/>
          </a:p>
        </p:txBody>
      </p:sp>
      <p:sp>
        <p:nvSpPr>
          <p:cNvPr id="1048618" name="Footer Placeholder 4"/>
          <p:cNvSpPr>
            <a:spLocks noGrp="1"/>
          </p:cNvSpPr>
          <p:nvPr>
            <p:ph type="ftr" sz="quarter" idx="11"/>
          </p:nvPr>
        </p:nvSpPr>
        <p:spPr>
          <a:xfrm>
            <a:off x="4038600" y="6356350"/>
            <a:ext cx="4114800" cy="365125"/>
          </a:xfrm>
          <a:prstGeom prst="rect"/>
        </p:spPr>
        <p:txBody>
          <a:bodyPr/>
          <a:p>
            <a:endParaRPr lang="en-US"/>
          </a:p>
        </p:txBody>
      </p:sp>
      <p:sp>
        <p:nvSpPr>
          <p:cNvPr id="1048619" name="Slide Number Placeholder 5"/>
          <p:cNvSpPr>
            <a:spLocks noGrp="1"/>
          </p:cNvSpPr>
          <p:nvPr>
            <p:ph type="sldNum" sz="quarter" idx="12"/>
          </p:nvPr>
        </p:nvSpPr>
        <p:spPr>
          <a:xfrm>
            <a:off x="8610600" y="6356350"/>
            <a:ext cx="2743200" cy="365125"/>
          </a:xfrm>
          <a:prstGeom prst="rect"/>
        </p:spPr>
        <p:txBody>
          <a:bodyPr/>
          <a:p>
            <a:fld id="{32FB2461-14E4-41EF-9449-AE0E6559CB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3" name=""/>
        <p:cNvGrpSpPr/>
        <p:nvPr/>
      </p:nvGrpSpPr>
      <p:grpSpPr>
        <a:xfrm>
          <a:off x="0" y="0"/>
          <a:ext cx="0" cy="0"/>
          <a:chOff x="0" y="0"/>
          <a:chExt cx="0" cy="0"/>
        </a:xfrm>
      </p:grpSpPr>
      <p:sp>
        <p:nvSpPr>
          <p:cNvPr id="1048576" name="Rectangle 1"/>
          <p:cNvSpPr/>
          <p:nvPr userDrawn="1"/>
        </p:nvSpPr>
        <p:spPr>
          <a:xfrm>
            <a:off x="0" y="0"/>
            <a:ext cx="12191998" cy="1280156"/>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dirty="0" lang="en-US"/>
          </a:p>
        </p:txBody>
      </p:sp>
      <p:pic>
        <p:nvPicPr>
          <p:cNvPr id="2097152" name="Picture 14"/>
          <p:cNvPicPr>
            <a:picLocks noChangeAspect="1"/>
          </p:cNvPicPr>
          <p:nvPr userDrawn="1"/>
        </p:nvPicPr>
        <p:blipFill>
          <a:blip xmlns:r="http://schemas.openxmlformats.org/officeDocument/2006/relationships" r:embed="rId12" cstate="print"/>
          <a:stretch>
            <a:fillRect/>
          </a:stretch>
        </p:blipFill>
        <p:spPr>
          <a:xfrm>
            <a:off x="9006884" y="74822"/>
            <a:ext cx="1043154" cy="1043154"/>
          </a:xfrm>
          <a:prstGeom prst="rect"/>
        </p:spPr>
      </p:pic>
      <p:pic>
        <p:nvPicPr>
          <p:cNvPr id="2097153" name="Picture 15"/>
          <p:cNvPicPr>
            <a:picLocks noChangeAspect="1"/>
          </p:cNvPicPr>
          <p:nvPr userDrawn="1"/>
        </p:nvPicPr>
        <p:blipFill>
          <a:blip xmlns:r="http://schemas.openxmlformats.org/officeDocument/2006/relationships" r:embed="rId13" cstate="print"/>
          <a:stretch>
            <a:fillRect/>
          </a:stretch>
        </p:blipFill>
        <p:spPr>
          <a:xfrm>
            <a:off x="10947316" y="123390"/>
            <a:ext cx="884047" cy="884047"/>
          </a:xfrm>
          <a:prstGeom prst="rect"/>
        </p:spPr>
      </p:pic>
      <p:pic>
        <p:nvPicPr>
          <p:cNvPr id="2097154" name="Picture 16"/>
          <p:cNvPicPr>
            <a:picLocks noChangeAspect="1"/>
          </p:cNvPicPr>
          <p:nvPr userDrawn="1"/>
        </p:nvPicPr>
        <p:blipFill>
          <a:blip xmlns:r="http://schemas.openxmlformats.org/officeDocument/2006/relationships" r:embed="rId14" cstate="print"/>
          <a:stretch>
            <a:fillRect/>
          </a:stretch>
        </p:blipFill>
        <p:spPr>
          <a:xfrm>
            <a:off x="10127893" y="192303"/>
            <a:ext cx="785940" cy="785940"/>
          </a:xfrm>
          <a:prstGeom prst="rect"/>
        </p:spPr>
      </p:pic>
      <p:sp>
        <p:nvSpPr>
          <p:cNvPr id="1048577" name="TextBox 17"/>
          <p:cNvSpPr txBox="1"/>
          <p:nvPr userDrawn="1"/>
        </p:nvSpPr>
        <p:spPr>
          <a:xfrm>
            <a:off x="2575249" y="27424"/>
            <a:ext cx="5998348" cy="646331"/>
          </a:xfrm>
          <a:prstGeom prst="rect"/>
          <a:noFill/>
        </p:spPr>
        <p:txBody>
          <a:bodyPr rtlCol="0" wrap="square">
            <a:spAutoFit/>
          </a:bodyPr>
          <a:p>
            <a:r>
              <a:rPr b="1" dirty="0" lang="en-US">
                <a:solidFill>
                  <a:schemeClr val="bg1"/>
                </a:solidFill>
                <a:latin typeface="Gordita "/>
              </a:rPr>
              <a:t>55</a:t>
            </a:r>
            <a:r>
              <a:rPr baseline="30000" b="1" dirty="0" lang="en-US">
                <a:solidFill>
                  <a:schemeClr val="bg1"/>
                </a:solidFill>
                <a:latin typeface="Gordita "/>
              </a:rPr>
              <a:t>th</a:t>
            </a:r>
            <a:r>
              <a:rPr b="1" dirty="0" lang="en-US">
                <a:solidFill>
                  <a:schemeClr val="bg1"/>
                </a:solidFill>
                <a:latin typeface="Gordita "/>
              </a:rPr>
              <a:t>   Annual Conference of </a:t>
            </a:r>
          </a:p>
          <a:p>
            <a:r>
              <a:rPr b="1" dirty="0" lang="en-US">
                <a:solidFill>
                  <a:schemeClr val="bg1"/>
                </a:solidFill>
                <a:latin typeface="Gordita "/>
              </a:rPr>
              <a:t>Orthopedic Surgeon Society of Andhra Pradesh</a:t>
            </a:r>
          </a:p>
        </p:txBody>
      </p:sp>
      <p:sp>
        <p:nvSpPr>
          <p:cNvPr id="1048578" name="TextBox 18"/>
          <p:cNvSpPr txBox="1"/>
          <p:nvPr userDrawn="1"/>
        </p:nvSpPr>
        <p:spPr>
          <a:xfrm>
            <a:off x="2601218" y="653897"/>
            <a:ext cx="6307494" cy="276999"/>
          </a:xfrm>
          <a:prstGeom prst="rect"/>
          <a:noFill/>
        </p:spPr>
        <p:txBody>
          <a:bodyPr rtlCol="0" wrap="square">
            <a:spAutoFit/>
          </a:bodyPr>
          <a:p>
            <a:r>
              <a:rPr b="1" dirty="0" sz="1200" lang="en-US">
                <a:solidFill>
                  <a:schemeClr val="bg1"/>
                </a:solidFill>
                <a:latin typeface="Gordita "/>
              </a:rPr>
              <a:t>Date 6 – 8 February,2026, Venue : Kurnool Medical College</a:t>
            </a:r>
          </a:p>
        </p:txBody>
      </p:sp>
      <p:sp>
        <p:nvSpPr>
          <p:cNvPr id="1048579" name="TextBox 19"/>
          <p:cNvSpPr txBox="1"/>
          <p:nvPr userDrawn="1"/>
        </p:nvSpPr>
        <p:spPr>
          <a:xfrm>
            <a:off x="2575249" y="913340"/>
            <a:ext cx="7114032" cy="276999"/>
          </a:xfrm>
          <a:prstGeom prst="rect"/>
          <a:noFill/>
        </p:spPr>
        <p:txBody>
          <a:bodyPr rtlCol="0" wrap="square">
            <a:spAutoFit/>
          </a:bodyPr>
          <a:p>
            <a:r>
              <a:rPr b="1" dirty="0" sz="1200" lang="en-US">
                <a:solidFill>
                  <a:schemeClr val="bg1"/>
                </a:solidFill>
                <a:latin typeface="Gordita "/>
              </a:rPr>
              <a:t>Organized by : Department of </a:t>
            </a:r>
            <a:r>
              <a:rPr b="1" dirty="0" sz="1200" lang="en-US" err="1">
                <a:solidFill>
                  <a:schemeClr val="bg1"/>
                </a:solidFill>
                <a:latin typeface="Gordita "/>
              </a:rPr>
              <a:t>Orthopaedics</a:t>
            </a:r>
            <a:r>
              <a:rPr b="1" dirty="0" sz="1200" lang="en-US">
                <a:solidFill>
                  <a:schemeClr val="bg1"/>
                </a:solidFill>
                <a:latin typeface="Gordita "/>
              </a:rPr>
              <a:t>, Kurnool Medical College Kurnool</a:t>
            </a:r>
          </a:p>
        </p:txBody>
      </p:sp>
      <p:sp>
        <p:nvSpPr>
          <p:cNvPr id="1048580" name="Freeform 13"/>
          <p:cNvSpPr/>
          <p:nvPr userDrawn="1"/>
        </p:nvSpPr>
        <p:spPr>
          <a:xfrm>
            <a:off x="560814" y="14255"/>
            <a:ext cx="1505561" cy="1280157"/>
          </a:xfrm>
          <a:custGeom>
            <a:avLst/>
            <a:ahLst/>
            <a:rect l="l" t="t" r="r" b="b"/>
            <a:pathLst>
              <a:path w="2254612" h="1957865">
                <a:moveTo>
                  <a:pt x="0" y="0"/>
                </a:moveTo>
                <a:lnTo>
                  <a:pt x="2254612" y="0"/>
                </a:lnTo>
                <a:lnTo>
                  <a:pt x="2254612" y="1957865"/>
                </a:lnTo>
                <a:lnTo>
                  <a:pt x="0" y="1957865"/>
                </a:lnTo>
                <a:lnTo>
                  <a:pt x="0" y="0"/>
                </a:lnTo>
                <a:close/>
              </a:path>
            </a:pathLst>
          </a:custGeom>
          <a:blipFill>
            <a:blip xmlns:r="http://schemas.openxmlformats.org/officeDocument/2006/relationships" r:embed="rId15" cstate="print"/>
            <a:stretch>
              <a:fillRect t="-9937" r="-4895" b="-10857"/>
            </a:stretch>
          </a:blipFill>
        </p:spPr>
        <p:txBody>
          <a:bodyPr/>
          <a:p>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jpeg"/><Relationship Id="rId7" Type="http://schemas.openxmlformats.org/officeDocument/2006/relationships/image" Target="../media/image11.jpeg"/><Relationship Id="rId8" Type="http://schemas.openxmlformats.org/officeDocument/2006/relationships/image" Target="../media/image12.jpeg"/><Relationship Id="rId9" Type="http://schemas.openxmlformats.org/officeDocument/2006/relationships/image" Target="../media/image13.jpeg"/><Relationship Id="rId10" Type="http://schemas.openxmlformats.org/officeDocument/2006/relationships/image" Target="../media/image14.jpeg"/><Relationship Id="rId11" Type="http://schemas.openxmlformats.org/officeDocument/2006/relationships/image" Target="../media/image15.jpeg"/><Relationship Id="rId12" Type="http://schemas.openxmlformats.org/officeDocument/2006/relationships/image" Target="../media/image16.png"/><Relationship Id="rId13" Type="http://schemas.openxmlformats.org/officeDocument/2006/relationships/image" Target="../media/image17.jpeg"/><Relationship Id="rId14" Type="http://schemas.openxmlformats.org/officeDocument/2006/relationships/image" Target="../media/image18.jpeg"/><Relationship Id="rId15" Type="http://schemas.openxmlformats.org/officeDocument/2006/relationships/image" Target="../media/image19.png"/><Relationship Id="rId16"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6" name=""/>
        <p:cNvGrpSpPr/>
        <p:nvPr/>
      </p:nvGrpSpPr>
      <p:grpSpPr>
        <a:xfrm>
          <a:off x="0" y="0"/>
          <a:ext cx="0" cy="0"/>
          <a:chOff x="0" y="0"/>
          <a:chExt cx="0" cy="0"/>
        </a:xfrm>
      </p:grpSpPr>
      <p:sp>
        <p:nvSpPr>
          <p:cNvPr id="1048586" name="Rectangle 13"/>
          <p:cNvSpPr/>
          <p:nvPr/>
        </p:nvSpPr>
        <p:spPr>
          <a:xfrm>
            <a:off x="-1" y="-1"/>
            <a:ext cx="12192001" cy="1519835"/>
          </a:xfrm>
          <a:prstGeom prst="rect"/>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anchor="ctr" rtlCol="0"/>
          <a:p>
            <a:pPr algn="ctr"/>
            <a:r>
              <a:rPr dirty="0" sz="1100" lang="en-US">
                <a:solidFill>
                  <a:schemeClr val="bg1"/>
                </a:solidFill>
              </a:rPr>
              <a:t>                                                                      </a:t>
            </a:r>
          </a:p>
          <a:p>
            <a:pPr algn="ctr"/>
            <a:endParaRPr dirty="0" sz="1100" lang="en-US">
              <a:solidFill>
                <a:schemeClr val="bg1"/>
              </a:solidFill>
            </a:endParaRPr>
          </a:p>
        </p:txBody>
      </p:sp>
      <p:pic>
        <p:nvPicPr>
          <p:cNvPr id="2097155" name="Picture 14"/>
          <p:cNvPicPr>
            <a:picLocks noChangeAspect="1"/>
          </p:cNvPicPr>
          <p:nvPr/>
        </p:nvPicPr>
        <p:blipFill>
          <a:blip xmlns:r="http://schemas.openxmlformats.org/officeDocument/2006/relationships" r:embed="rId1" cstate="print"/>
          <a:stretch>
            <a:fillRect/>
          </a:stretch>
        </p:blipFill>
        <p:spPr>
          <a:xfrm>
            <a:off x="9189909" y="58204"/>
            <a:ext cx="929577" cy="751597"/>
          </a:xfrm>
          <a:prstGeom prst="rect"/>
        </p:spPr>
      </p:pic>
      <p:pic>
        <p:nvPicPr>
          <p:cNvPr id="2097156" name="Picture 15"/>
          <p:cNvPicPr>
            <a:picLocks noChangeAspect="1"/>
          </p:cNvPicPr>
          <p:nvPr/>
        </p:nvPicPr>
        <p:blipFill>
          <a:blip xmlns:r="http://schemas.openxmlformats.org/officeDocument/2006/relationships" r:embed="rId2" cstate="print"/>
          <a:stretch>
            <a:fillRect/>
          </a:stretch>
        </p:blipFill>
        <p:spPr>
          <a:xfrm>
            <a:off x="10286933" y="-7377"/>
            <a:ext cx="929577" cy="774187"/>
          </a:xfrm>
          <a:prstGeom prst="rect"/>
        </p:spPr>
      </p:pic>
      <p:pic>
        <p:nvPicPr>
          <p:cNvPr id="2097157" name="Picture 16"/>
          <p:cNvPicPr>
            <a:picLocks noChangeAspect="1"/>
          </p:cNvPicPr>
          <p:nvPr/>
        </p:nvPicPr>
        <p:blipFill>
          <a:blip xmlns:r="http://schemas.openxmlformats.org/officeDocument/2006/relationships" r:embed="rId3" cstate="print"/>
          <a:stretch>
            <a:fillRect/>
          </a:stretch>
        </p:blipFill>
        <p:spPr>
          <a:xfrm>
            <a:off x="11177143" y="-66085"/>
            <a:ext cx="1055943" cy="1055943"/>
          </a:xfrm>
          <a:prstGeom prst="rect"/>
        </p:spPr>
      </p:pic>
      <p:sp>
        <p:nvSpPr>
          <p:cNvPr id="1048587" name="TextBox 17"/>
          <p:cNvSpPr txBox="1"/>
          <p:nvPr/>
        </p:nvSpPr>
        <p:spPr>
          <a:xfrm>
            <a:off x="1948541" y="78138"/>
            <a:ext cx="9339796" cy="276999"/>
          </a:xfrm>
          <a:prstGeom prst="rect"/>
          <a:noFill/>
        </p:spPr>
        <p:txBody>
          <a:bodyPr rtlCol="0" wrap="square">
            <a:spAutoFit/>
          </a:bodyPr>
          <a:p>
            <a:pPr algn="ctr"/>
            <a:r>
              <a:rPr b="1" dirty="0" sz="1200" lang="en-US">
                <a:solidFill>
                  <a:schemeClr val="bg1"/>
                </a:solidFill>
                <a:latin typeface="Gordita "/>
              </a:rPr>
              <a:t>55</a:t>
            </a:r>
            <a:r>
              <a:rPr baseline="30000" b="1" dirty="0" sz="1200" lang="en-US">
                <a:solidFill>
                  <a:schemeClr val="bg1"/>
                </a:solidFill>
                <a:latin typeface="Gordita "/>
              </a:rPr>
              <a:t>th</a:t>
            </a:r>
            <a:r>
              <a:rPr b="1" dirty="0" sz="1200" lang="en-US">
                <a:solidFill>
                  <a:schemeClr val="bg1"/>
                </a:solidFill>
                <a:latin typeface="Gordita "/>
              </a:rPr>
              <a:t>   Annual Conference of Orthopedic Surgeon Society of Andhra Pradesh</a:t>
            </a:r>
            <a:endParaRPr dirty="0" sz="1200"/>
          </a:p>
        </p:txBody>
      </p:sp>
      <p:sp>
        <p:nvSpPr>
          <p:cNvPr id="1048588" name="TextBox 18"/>
          <p:cNvSpPr txBox="1"/>
          <p:nvPr/>
        </p:nvSpPr>
        <p:spPr>
          <a:xfrm>
            <a:off x="2079171" y="273605"/>
            <a:ext cx="9209164" cy="276999"/>
          </a:xfrm>
          <a:prstGeom prst="rect"/>
          <a:noFill/>
        </p:spPr>
        <p:txBody>
          <a:bodyPr rtlCol="0" wrap="square">
            <a:spAutoFit/>
          </a:bodyPr>
          <a:p>
            <a:pPr algn="ctr"/>
            <a:r>
              <a:rPr b="1" dirty="0" sz="1200" lang="en-US">
                <a:solidFill>
                  <a:schemeClr val="bg1"/>
                </a:solidFill>
                <a:latin typeface="Gordita "/>
              </a:rPr>
              <a:t>Date 6 – 8 February,2026, Venue : Kurnool Medical College</a:t>
            </a:r>
          </a:p>
        </p:txBody>
      </p:sp>
      <p:sp>
        <p:nvSpPr>
          <p:cNvPr id="1048589" name="TextBox 19"/>
          <p:cNvSpPr txBox="1"/>
          <p:nvPr/>
        </p:nvSpPr>
        <p:spPr>
          <a:xfrm rot="10800000" flipV="1">
            <a:off x="2079171" y="489811"/>
            <a:ext cx="9209164" cy="276999"/>
          </a:xfrm>
          <a:prstGeom prst="rect"/>
          <a:noFill/>
        </p:spPr>
        <p:txBody>
          <a:bodyPr rtlCol="0" wrap="square">
            <a:spAutoFit/>
          </a:bodyPr>
          <a:p>
            <a:pPr algn="ctr"/>
            <a:r>
              <a:rPr b="1" dirty="0" sz="1200" lang="en-US">
                <a:solidFill>
                  <a:schemeClr val="bg1"/>
                </a:solidFill>
                <a:latin typeface="Gordita "/>
              </a:rPr>
              <a:t>Organized by : Department of </a:t>
            </a:r>
            <a:r>
              <a:rPr b="1" dirty="0" sz="1200" lang="en-US" err="1">
                <a:solidFill>
                  <a:schemeClr val="bg1"/>
                </a:solidFill>
                <a:latin typeface="Gordita "/>
              </a:rPr>
              <a:t>Orthopaedics</a:t>
            </a:r>
            <a:r>
              <a:rPr b="1" dirty="0" sz="1200" lang="en-US">
                <a:solidFill>
                  <a:schemeClr val="bg1"/>
                </a:solidFill>
                <a:latin typeface="Gordita "/>
              </a:rPr>
              <a:t> , Kurnool Medical College Kurnool</a:t>
            </a:r>
          </a:p>
        </p:txBody>
      </p:sp>
      <p:sp>
        <p:nvSpPr>
          <p:cNvPr id="1048590" name="Rectangle 4"/>
          <p:cNvSpPr/>
          <p:nvPr/>
        </p:nvSpPr>
        <p:spPr>
          <a:xfrm>
            <a:off x="-1" y="1938351"/>
            <a:ext cx="3654899" cy="1502019"/>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sz="1100" lang="en-US">
              <a:solidFill>
                <a:schemeClr val="tx1"/>
              </a:solidFill>
            </a:endParaRPr>
          </a:p>
        </p:txBody>
      </p:sp>
      <p:sp>
        <p:nvSpPr>
          <p:cNvPr id="1048591" name="Rectangle 5"/>
          <p:cNvSpPr/>
          <p:nvPr/>
        </p:nvSpPr>
        <p:spPr>
          <a:xfrm>
            <a:off x="0" y="3770284"/>
            <a:ext cx="3643136" cy="3087716"/>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sz="1100" lang="en-US">
              <a:solidFill>
                <a:schemeClr val="tx1"/>
              </a:solidFill>
            </a:endParaRPr>
          </a:p>
        </p:txBody>
      </p:sp>
      <p:sp>
        <p:nvSpPr>
          <p:cNvPr id="1048592" name="Rectangle 6"/>
          <p:cNvSpPr/>
          <p:nvPr/>
        </p:nvSpPr>
        <p:spPr>
          <a:xfrm>
            <a:off x="3667760" y="1953362"/>
            <a:ext cx="4383954" cy="4904637"/>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b="0" dirty="0" sz="1100" lang="en-US">
              <a:solidFill>
                <a:schemeClr val="tx1"/>
              </a:solidFill>
            </a:endParaRPr>
          </a:p>
        </p:txBody>
      </p:sp>
      <p:sp>
        <p:nvSpPr>
          <p:cNvPr id="1048593" name="Rectangle 7"/>
          <p:cNvSpPr/>
          <p:nvPr/>
        </p:nvSpPr>
        <p:spPr>
          <a:xfrm>
            <a:off x="8051714" y="1937531"/>
            <a:ext cx="4140286" cy="1209771"/>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sz="1100" lang="en-US">
              <a:solidFill>
                <a:schemeClr val="tx1"/>
              </a:solidFill>
            </a:endParaRPr>
          </a:p>
        </p:txBody>
      </p:sp>
      <p:sp>
        <p:nvSpPr>
          <p:cNvPr id="1048594" name="Rectangle 8"/>
          <p:cNvSpPr/>
          <p:nvPr/>
        </p:nvSpPr>
        <p:spPr>
          <a:xfrm>
            <a:off x="8056928" y="3511143"/>
            <a:ext cx="4135072" cy="3346857"/>
          </a:xfrm>
          <a:prstGeom prst="rect"/>
          <a:no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sz="1100" lang="en-US">
              <a:solidFill>
                <a:schemeClr val="tx1"/>
              </a:solidFill>
            </a:endParaRPr>
          </a:p>
        </p:txBody>
      </p:sp>
      <p:sp>
        <p:nvSpPr>
          <p:cNvPr id="1048595" name="Rectangle 9"/>
          <p:cNvSpPr/>
          <p:nvPr/>
        </p:nvSpPr>
        <p:spPr>
          <a:xfrm>
            <a:off x="0" y="1541089"/>
            <a:ext cx="3654898" cy="416170"/>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1100" lang="en-US">
                <a:solidFill>
                  <a:schemeClr val="tx1"/>
                </a:solidFill>
              </a:rPr>
              <a:t>INTRODUCTION </a:t>
            </a:r>
          </a:p>
        </p:txBody>
      </p:sp>
      <p:sp>
        <p:nvSpPr>
          <p:cNvPr id="1048596" name="Rectangle 10"/>
          <p:cNvSpPr/>
          <p:nvPr/>
        </p:nvSpPr>
        <p:spPr>
          <a:xfrm>
            <a:off x="3643137" y="1532450"/>
            <a:ext cx="4402030" cy="412274"/>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1100" lang="en-US">
                <a:solidFill>
                  <a:schemeClr val="tx1">
                    <a:lumMod val="95000"/>
                    <a:lumOff val="5000"/>
                  </a:schemeClr>
                </a:solidFill>
              </a:rPr>
              <a:t>OPERATIVE FINDINGS</a:t>
            </a:r>
          </a:p>
        </p:txBody>
      </p:sp>
      <p:sp>
        <p:nvSpPr>
          <p:cNvPr id="1048597" name="Rectangle 11"/>
          <p:cNvSpPr/>
          <p:nvPr/>
        </p:nvSpPr>
        <p:spPr>
          <a:xfrm>
            <a:off x="8045168" y="1531164"/>
            <a:ext cx="4146832" cy="410867"/>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1100" lang="en-US">
                <a:solidFill>
                  <a:schemeClr val="tx1">
                    <a:lumMod val="95000"/>
                    <a:lumOff val="5000"/>
                  </a:schemeClr>
                </a:solidFill>
              </a:rPr>
              <a:t>DISCUSSION</a:t>
            </a:r>
          </a:p>
        </p:txBody>
      </p:sp>
      <p:sp>
        <p:nvSpPr>
          <p:cNvPr id="1048598" name="Rectangle 12"/>
          <p:cNvSpPr/>
          <p:nvPr/>
        </p:nvSpPr>
        <p:spPr>
          <a:xfrm>
            <a:off x="-1" y="3428999"/>
            <a:ext cx="3662547" cy="353163"/>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1100" lang="en-US">
                <a:solidFill>
                  <a:schemeClr val="tx1">
                    <a:lumMod val="95000"/>
                    <a:lumOff val="5000"/>
                  </a:schemeClr>
                </a:solidFill>
              </a:rPr>
              <a:t>CASE REPORT</a:t>
            </a:r>
          </a:p>
        </p:txBody>
      </p:sp>
      <p:sp>
        <p:nvSpPr>
          <p:cNvPr id="1048599" name="Rectangle 21"/>
          <p:cNvSpPr/>
          <p:nvPr/>
        </p:nvSpPr>
        <p:spPr>
          <a:xfrm>
            <a:off x="8051714" y="3161556"/>
            <a:ext cx="4140286" cy="328674"/>
          </a:xfrm>
          <a:prstGeom prst="rect"/>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rtlCol="0"/>
          <a:p>
            <a:pPr algn="ctr"/>
            <a:r>
              <a:rPr b="1" dirty="0" sz="1100" lang="en-US">
                <a:solidFill>
                  <a:schemeClr val="tx1">
                    <a:lumMod val="95000"/>
                    <a:lumOff val="5000"/>
                  </a:schemeClr>
                </a:solidFill>
              </a:rPr>
              <a:t>CONCLUSION</a:t>
            </a:r>
          </a:p>
        </p:txBody>
      </p:sp>
      <p:sp>
        <p:nvSpPr>
          <p:cNvPr id="1048600" name="TextBox 1048660"/>
          <p:cNvSpPr txBox="1"/>
          <p:nvPr/>
        </p:nvSpPr>
        <p:spPr>
          <a:xfrm rot="10800000" flipV="1">
            <a:off x="1885642" y="700482"/>
            <a:ext cx="9417863" cy="523220"/>
          </a:xfrm>
          <a:prstGeom prst="rect"/>
        </p:spPr>
        <p:txBody>
          <a:bodyPr rtlCol="0" wrap="square">
            <a:spAutoFit/>
          </a:bodyPr>
          <a:p>
            <a:pPr algn="ctr"/>
            <a:r>
              <a:rPr b="1" dirty="0" sz="1400" lang="en-US">
                <a:solidFill>
                  <a:srgbClr val="FFFF00"/>
                </a:solidFill>
                <a:latin typeface="Times New Roman" panose="02020603050405020304" pitchFamily="18" charset="0"/>
                <a:cs typeface="Times New Roman" panose="02020603050405020304" pitchFamily="18" charset="0"/>
              </a:rPr>
              <a:t>Correction of Forearm Deformity by Corrective Radial Osteotomy and Ulnar Lengthening by Distraction Osteogenesis  in Hereditary Multiple </a:t>
            </a:r>
            <a:r>
              <a:rPr b="1" dirty="0" sz="1400" lang="en-US" err="1">
                <a:solidFill>
                  <a:srgbClr val="FFFF00"/>
                </a:solidFill>
                <a:latin typeface="Times New Roman" panose="02020603050405020304" pitchFamily="18" charset="0"/>
                <a:cs typeface="Times New Roman" panose="02020603050405020304" pitchFamily="18" charset="0"/>
              </a:rPr>
              <a:t>Osteochondromatosis</a:t>
            </a:r>
            <a:r>
              <a:rPr b="1" dirty="0" sz="1400" lang="en-US">
                <a:solidFill>
                  <a:srgbClr val="FFFF00"/>
                </a:solidFill>
                <a:latin typeface="Times New Roman" panose="02020603050405020304" pitchFamily="18" charset="0"/>
                <a:cs typeface="Times New Roman" panose="02020603050405020304" pitchFamily="18" charset="0"/>
              </a:rPr>
              <a:t>-a </a:t>
            </a:r>
            <a:r>
              <a:rPr b="1" dirty="0" sz="1400" lang="en-IN">
                <a:solidFill>
                  <a:srgbClr val="FFFF00"/>
                </a:solidFill>
                <a:latin typeface="Times New Roman" panose="02020603050405020304" pitchFamily="18" charset="0"/>
                <a:cs typeface="Times New Roman" panose="02020603050405020304" pitchFamily="18" charset="0"/>
              </a:rPr>
              <a:t>case report”</a:t>
            </a:r>
          </a:p>
        </p:txBody>
      </p:sp>
      <p:sp>
        <p:nvSpPr>
          <p:cNvPr id="1048601" name="TextBox 1"/>
          <p:cNvSpPr txBox="1"/>
          <p:nvPr/>
        </p:nvSpPr>
        <p:spPr>
          <a:xfrm>
            <a:off x="2079171" y="1178148"/>
            <a:ext cx="9318026" cy="276999"/>
          </a:xfrm>
          <a:prstGeom prst="rect"/>
          <a:noFill/>
        </p:spPr>
        <p:txBody>
          <a:bodyPr rtlCol="0" wrap="square">
            <a:spAutoFit/>
          </a:bodyPr>
          <a:p>
            <a:pPr algn="ctr"/>
            <a:r>
              <a:rPr dirty="0" sz="1200" lang="en-US">
                <a:solidFill>
                  <a:schemeClr val="bg1"/>
                </a:solidFill>
              </a:rPr>
              <a:t>AUTHOR : T BALAJI, POST GRADUATE</a:t>
            </a:r>
          </a:p>
        </p:txBody>
      </p:sp>
      <p:sp>
        <p:nvSpPr>
          <p:cNvPr id="1048602" name="TextBox 3"/>
          <p:cNvSpPr txBox="1"/>
          <p:nvPr/>
        </p:nvSpPr>
        <p:spPr>
          <a:xfrm>
            <a:off x="0" y="1938351"/>
            <a:ext cx="3615212" cy="1577339"/>
          </a:xfrm>
          <a:prstGeom prst="rect"/>
          <a:noFill/>
        </p:spPr>
        <p:txBody>
          <a:bodyPr wrap="square">
            <a:spAutoFit/>
          </a:bodyPr>
          <a:p>
            <a:r>
              <a:rPr altLang="en-IN" dirty="0" sz="1100" lang="en-US">
                <a:latin typeface="Calibri" panose="020F0502020204030204" pitchFamily="34" charset="0"/>
                <a:ea typeface="Calibri" panose="020F0502020204030204" pitchFamily="34" charset="0"/>
                <a:cs typeface="Calibri" panose="020F0502020204030204" pitchFamily="34" charset="0"/>
              </a:rPr>
              <a:t>Multiple Hereditary Exostoses (MHE) is an autosomal dominant condition caused by EXT1 or EXT2 gene </a:t>
            </a:r>
            <a:r>
              <a:rPr altLang="en-IN" dirty="0" sz="1100" lang="en-US" err="1">
                <a:latin typeface="Calibri" panose="020F0502020204030204" pitchFamily="34" charset="0"/>
                <a:ea typeface="Calibri" panose="020F0502020204030204" pitchFamily="34" charset="0"/>
                <a:cs typeface="Calibri" panose="020F0502020204030204" pitchFamily="34" charset="0"/>
              </a:rPr>
              <a:t>mutation.One</a:t>
            </a:r>
            <a:r>
              <a:rPr altLang="en-IN" dirty="0" sz="1100" lang="en-US">
                <a:latin typeface="Calibri" panose="020F0502020204030204" pitchFamily="34" charset="0"/>
                <a:ea typeface="Calibri" panose="020F0502020204030204" pitchFamily="34" charset="0"/>
                <a:cs typeface="Calibri" panose="020F0502020204030204" pitchFamily="34" charset="0"/>
              </a:rPr>
              <a:t> of the manifestations of MHE is forearm </a:t>
            </a:r>
            <a:r>
              <a:rPr altLang="en-IN" dirty="0" sz="1100" lang="en-US" err="1">
                <a:latin typeface="Calibri" panose="020F0502020204030204" pitchFamily="34" charset="0"/>
                <a:ea typeface="Calibri" panose="020F0502020204030204" pitchFamily="34" charset="0"/>
                <a:cs typeface="Calibri" panose="020F0502020204030204" pitchFamily="34" charset="0"/>
              </a:rPr>
              <a:t>deformity.Prevalence</a:t>
            </a:r>
            <a:r>
              <a:rPr altLang="en-IN" dirty="0" sz="1100" lang="en-US">
                <a:latin typeface="Calibri" panose="020F0502020204030204" pitchFamily="34" charset="0"/>
                <a:ea typeface="Calibri" panose="020F0502020204030204" pitchFamily="34" charset="0"/>
                <a:cs typeface="Calibri" panose="020F0502020204030204" pitchFamily="34" charset="0"/>
              </a:rPr>
              <a:t> of the forearm deformity in MHE patients ranged from 40% to 74%.This forearm deformity causes cosmetic and functional prob-</a:t>
            </a:r>
            <a:r>
              <a:rPr altLang="en-IN" dirty="0" sz="1100" lang="en-US" err="1">
                <a:latin typeface="Calibri" panose="020F0502020204030204" pitchFamily="34" charset="0"/>
                <a:ea typeface="Calibri" panose="020F0502020204030204" pitchFamily="34" charset="0"/>
                <a:cs typeface="Calibri" panose="020F0502020204030204" pitchFamily="34" charset="0"/>
              </a:rPr>
              <a:t>lems.Masada</a:t>
            </a:r>
            <a:r>
              <a:rPr altLang="en-IN" dirty="0" sz="1100" lang="en-US">
                <a:latin typeface="Calibri" panose="020F0502020204030204" pitchFamily="34" charset="0"/>
                <a:ea typeface="Calibri" panose="020F0502020204030204" pitchFamily="34" charset="0"/>
                <a:cs typeface="Calibri" panose="020F0502020204030204" pitchFamily="34" charset="0"/>
              </a:rPr>
              <a:t> et al proposed a classification system for forearm deformities in order to help in planning of the treatment.</a:t>
            </a:r>
            <a:endParaRPr dirty="0" sz="1100" lang="en-US">
              <a:latin typeface="Calibri" panose="020F0502020204030204" pitchFamily="34" charset="0"/>
              <a:ea typeface="Calibri" panose="020F0502020204030204" pitchFamily="34" charset="0"/>
              <a:cs typeface="Calibri" panose="020F0502020204030204" pitchFamily="34" charset="0"/>
            </a:endParaRPr>
          </a:p>
        </p:txBody>
      </p:sp>
      <p:sp>
        <p:nvSpPr>
          <p:cNvPr id="1048603" name="TextBox 5"/>
          <p:cNvSpPr txBox="1"/>
          <p:nvPr/>
        </p:nvSpPr>
        <p:spPr>
          <a:xfrm>
            <a:off x="0" y="3798331"/>
            <a:ext cx="3022449" cy="3558539"/>
          </a:xfrm>
          <a:prstGeom prst="rect"/>
          <a:noFill/>
        </p:spPr>
        <p:txBody>
          <a:bodyPr wrap="square">
            <a:spAutoFit/>
          </a:bodyPr>
          <a:p>
            <a:pPr algn="ctr"/>
            <a:r>
              <a:rPr dirty="0" sz="1100" lang="en-US">
                <a:latin typeface="Calibri" panose="020F0502020204030204" pitchFamily="34" charset="0"/>
                <a:ea typeface="Calibri" panose="020F0502020204030204" pitchFamily="34" charset="0"/>
                <a:cs typeface="Calibri" panose="020F0502020204030204" pitchFamily="34" charset="0"/>
              </a:rPr>
              <a:t>A </a:t>
            </a:r>
            <a:r>
              <a:rPr b="1" dirty="0" sz="1100" lang="en-US">
                <a:latin typeface="Calibri" panose="020F0502020204030204" pitchFamily="34" charset="0"/>
                <a:ea typeface="Calibri" panose="020F0502020204030204" pitchFamily="34" charset="0"/>
                <a:cs typeface="Calibri" panose="020F0502020204030204" pitchFamily="34" charset="0"/>
              </a:rPr>
              <a:t>15 years female </a:t>
            </a:r>
            <a:r>
              <a:rPr dirty="0" sz="1100" lang="en-US">
                <a:latin typeface="Calibri" panose="020F0502020204030204" pitchFamily="34" charset="0"/>
                <a:ea typeface="Calibri" panose="020F0502020204030204" pitchFamily="34" charset="0"/>
                <a:cs typeface="Calibri" panose="020F0502020204030204" pitchFamily="34" charset="0"/>
              </a:rPr>
              <a:t>patient came to </a:t>
            </a:r>
            <a:r>
              <a:rPr dirty="0" sz="1100" lang="en-US" err="1">
                <a:latin typeface="Calibri" panose="020F0502020204030204" pitchFamily="34" charset="0"/>
                <a:ea typeface="Calibri" panose="020F0502020204030204" pitchFamily="34" charset="0"/>
                <a:cs typeface="Calibri" panose="020F0502020204030204" pitchFamily="34" charset="0"/>
              </a:rPr>
              <a:t>opd</a:t>
            </a:r>
            <a:r>
              <a:rPr dirty="0" sz="1100" lang="en-US">
                <a:latin typeface="Calibri" panose="020F0502020204030204" pitchFamily="34" charset="0"/>
                <a:ea typeface="Calibri" panose="020F0502020204030204" pitchFamily="34" charset="0"/>
                <a:cs typeface="Calibri" panose="020F0502020204030204" pitchFamily="34" charset="0"/>
              </a:rPr>
              <a:t> with  deformity over left forearm and swelling over volar aspect of wrist. No history of trauma, </a:t>
            </a:r>
            <a:r>
              <a:rPr dirty="0" sz="1100" lang="en-US" err="1">
                <a:latin typeface="Calibri" panose="020F0502020204030204" pitchFamily="34" charset="0"/>
                <a:ea typeface="Calibri" panose="020F0502020204030204" pitchFamily="34" charset="0"/>
                <a:cs typeface="Calibri" panose="020F0502020204030204" pitchFamily="34" charset="0"/>
              </a:rPr>
              <a:t>fever.No</a:t>
            </a:r>
            <a:r>
              <a:rPr dirty="0" sz="1100" lang="en-US">
                <a:latin typeface="Calibri" panose="020F0502020204030204" pitchFamily="34" charset="0"/>
                <a:ea typeface="Calibri" panose="020F0502020204030204" pitchFamily="34" charset="0"/>
                <a:cs typeface="Calibri" panose="020F0502020204030204" pitchFamily="34" charset="0"/>
              </a:rPr>
              <a:t> h/o loss of weight and </a:t>
            </a:r>
            <a:r>
              <a:rPr dirty="0" sz="1100" lang="en-US" err="1">
                <a:latin typeface="Calibri" panose="020F0502020204030204" pitchFamily="34" charset="0"/>
                <a:ea typeface="Calibri" panose="020F0502020204030204" pitchFamily="34" charset="0"/>
                <a:cs typeface="Calibri" panose="020F0502020204030204" pitchFamily="34" charset="0"/>
              </a:rPr>
              <a:t>apetite</a:t>
            </a:r>
            <a:endParaRPr dirty="0" sz="1100" lang="en-US">
              <a:latin typeface="Calibri" panose="020F0502020204030204" pitchFamily="34" charset="0"/>
              <a:ea typeface="Calibri" panose="020F0502020204030204" pitchFamily="34" charset="0"/>
              <a:cs typeface="Calibri" panose="020F0502020204030204" pitchFamily="34" charset="0"/>
            </a:endParaRPr>
          </a:p>
          <a:p>
            <a:pPr algn="ctr"/>
            <a:r>
              <a:rPr dirty="0" sz="1100" lang="en-US">
                <a:latin typeface="Calibri" panose="020F0502020204030204" pitchFamily="34" charset="0"/>
                <a:ea typeface="Calibri" panose="020F0502020204030204" pitchFamily="34" charset="0"/>
                <a:cs typeface="Calibri" panose="020F0502020204030204" pitchFamily="34" charset="0"/>
              </a:rPr>
              <a:t>On examination swelling was present over volar aspect of   distal </a:t>
            </a:r>
            <a:r>
              <a:rPr dirty="0" sz="1100" lang="en-US" err="1">
                <a:latin typeface="Calibri" panose="020F0502020204030204" pitchFamily="34" charset="0"/>
                <a:ea typeface="Calibri" panose="020F0502020204030204" pitchFamily="34" charset="0"/>
                <a:cs typeface="Calibri" panose="020F0502020204030204" pitchFamily="34" charset="0"/>
              </a:rPr>
              <a:t>forearm.swelling</a:t>
            </a:r>
            <a:r>
              <a:rPr dirty="0" sz="1100" lang="en-US">
                <a:latin typeface="Calibri" panose="020F0502020204030204" pitchFamily="34" charset="0"/>
                <a:ea typeface="Calibri" panose="020F0502020204030204" pitchFamily="34" charset="0"/>
                <a:cs typeface="Calibri" panose="020F0502020204030204" pitchFamily="34" charset="0"/>
              </a:rPr>
              <a:t> was  globular of size 5cm in </a:t>
            </a:r>
            <a:r>
              <a:rPr dirty="0" sz="1100" lang="en-US" err="1">
                <a:latin typeface="Calibri" panose="020F0502020204030204" pitchFamily="34" charset="0"/>
                <a:ea typeface="Calibri" panose="020F0502020204030204" pitchFamily="34" charset="0"/>
                <a:cs typeface="Calibri" panose="020F0502020204030204" pitchFamily="34" charset="0"/>
              </a:rPr>
              <a:t>diameter,With</a:t>
            </a:r>
            <a:r>
              <a:rPr dirty="0" sz="1100" lang="en-US">
                <a:latin typeface="Calibri" panose="020F0502020204030204" pitchFamily="34" charset="0"/>
                <a:ea typeface="Calibri" panose="020F0502020204030204" pitchFamily="34" charset="0"/>
                <a:cs typeface="Calibri" panose="020F0502020204030204" pitchFamily="34" charset="0"/>
              </a:rPr>
              <a:t> smooth </a:t>
            </a:r>
            <a:r>
              <a:rPr dirty="0" sz="1100" lang="en-US" err="1">
                <a:latin typeface="Calibri" panose="020F0502020204030204" pitchFamily="34" charset="0"/>
                <a:ea typeface="Calibri" panose="020F0502020204030204" pitchFamily="34" charset="0"/>
                <a:cs typeface="Calibri" panose="020F0502020204030204" pitchFamily="34" charset="0"/>
              </a:rPr>
              <a:t>surface,broad</a:t>
            </a:r>
            <a:r>
              <a:rPr dirty="0" sz="1100" lang="en-US">
                <a:latin typeface="Calibri" panose="020F0502020204030204" pitchFamily="34" charset="0"/>
                <a:ea typeface="Calibri" panose="020F0502020204030204" pitchFamily="34" charset="0"/>
                <a:cs typeface="Calibri" panose="020F0502020204030204" pitchFamily="34" charset="0"/>
              </a:rPr>
              <a:t> based ,sessile ,non </a:t>
            </a:r>
            <a:r>
              <a:rPr dirty="0" sz="1100" lang="en-US" err="1">
                <a:latin typeface="Calibri" panose="020F0502020204030204" pitchFamily="34" charset="0"/>
                <a:ea typeface="Calibri" panose="020F0502020204030204" pitchFamily="34" charset="0"/>
                <a:cs typeface="Calibri" panose="020F0502020204030204" pitchFamily="34" charset="0"/>
              </a:rPr>
              <a:t>tender.Angular</a:t>
            </a:r>
            <a:r>
              <a:rPr dirty="0" sz="1100" lang="en-US">
                <a:latin typeface="Calibri" panose="020F0502020204030204" pitchFamily="34" charset="0"/>
                <a:ea typeface="Calibri" panose="020F0502020204030204" pitchFamily="34" charset="0"/>
                <a:cs typeface="Calibri" panose="020F0502020204030204" pitchFamily="34" charset="0"/>
              </a:rPr>
              <a:t> deformity over shaft of radius with apex facing radially and shortening of 5cm compared to right forearm No distal neurovascular deficit</a:t>
            </a:r>
          </a:p>
          <a:p>
            <a:pPr algn="ctr"/>
            <a:r>
              <a:rPr dirty="0" sz="1100" lang="en-US">
                <a:latin typeface="Calibri" panose="020F0502020204030204" pitchFamily="34" charset="0"/>
                <a:ea typeface="Calibri" panose="020F0502020204030204" pitchFamily="34" charset="0"/>
                <a:cs typeface="Calibri" panose="020F0502020204030204" pitchFamily="34" charset="0"/>
              </a:rPr>
              <a:t>On evaluation radiographs shows  Approximately 4.2 x 1.7 x 1.7 cm sized exophytic sessile osseous lesion with focal inflammatory changes noted arising from the distal end of ulna and displacing the deep muscle facia </a:t>
            </a:r>
            <a:r>
              <a:rPr dirty="0" sz="1100" lang="en-US" err="1">
                <a:latin typeface="Calibri" panose="020F0502020204030204" pitchFamily="34" charset="0"/>
                <a:ea typeface="Calibri" panose="020F0502020204030204" pitchFamily="34" charset="0"/>
                <a:cs typeface="Calibri" panose="020F0502020204030204" pitchFamily="34" charset="0"/>
              </a:rPr>
              <a:t>anteriorly.The</a:t>
            </a:r>
            <a:r>
              <a:rPr dirty="0" sz="1100" lang="en-US">
                <a:latin typeface="Calibri" panose="020F0502020204030204" pitchFamily="34" charset="0"/>
                <a:ea typeface="Calibri" panose="020F0502020204030204" pitchFamily="34" charset="0"/>
                <a:cs typeface="Calibri" panose="020F0502020204030204" pitchFamily="34" charset="0"/>
              </a:rPr>
              <a:t> lesion is continuous. The cartilage cap thickness 1.6 mm.</a:t>
            </a:r>
          </a:p>
        </p:txBody>
      </p:sp>
      <p:sp>
        <p:nvSpPr>
          <p:cNvPr id="1048604" name="TextBox 7"/>
          <p:cNvSpPr txBox="1"/>
          <p:nvPr/>
        </p:nvSpPr>
        <p:spPr>
          <a:xfrm>
            <a:off x="3654898" y="1971514"/>
            <a:ext cx="4380111" cy="3723640"/>
          </a:xfrm>
          <a:prstGeom prst="rect"/>
          <a:noFill/>
        </p:spPr>
        <p:txBody>
          <a:bodyPr wrap="square">
            <a:spAutoFit/>
          </a:bodyPr>
          <a:p>
            <a:r>
              <a:rPr b="1" dirty="0" sz="1100" lang="en-US">
                <a:latin typeface="Calibri" panose="020F0502020204030204" pitchFamily="34" charset="0"/>
                <a:ea typeface="Calibri" panose="020F0502020204030204" pitchFamily="34" charset="0"/>
                <a:cs typeface="Calibri" panose="020F0502020204030204" pitchFamily="34" charset="0"/>
              </a:rPr>
              <a:t>MASADA CLASSIFICATION </a:t>
            </a:r>
          </a:p>
          <a:p>
            <a:r>
              <a:rPr b="1" dirty="0" sz="1100" lang="en-US">
                <a:latin typeface="Calibri" panose="020F0502020204030204" pitchFamily="34" charset="0"/>
                <a:ea typeface="Calibri" panose="020F0502020204030204" pitchFamily="34" charset="0"/>
                <a:cs typeface="Calibri" panose="020F0502020204030204" pitchFamily="34" charset="0"/>
              </a:rPr>
              <a:t>Type I</a:t>
            </a:r>
            <a:r>
              <a:rPr dirty="0" sz="1100" lang="en-US">
                <a:latin typeface="Calibri" panose="020F0502020204030204" pitchFamily="34" charset="0"/>
                <a:ea typeface="Calibri" panose="020F0502020204030204" pitchFamily="34" charset="0"/>
                <a:cs typeface="Calibri" panose="020F0502020204030204" pitchFamily="34" charset="0"/>
              </a:rPr>
              <a:t> The main osteochondroma formation is located in the distal portion of the ulna. The ulna is shortened, and there is bowing of the radius. However, the radial head is not dislocated-
</a:t>
            </a:r>
            <a:r>
              <a:rPr b="1" dirty="0" sz="1100" lang="en-US">
                <a:latin typeface="Calibri" panose="020F0502020204030204" pitchFamily="34" charset="0"/>
                <a:ea typeface="Calibri" panose="020F0502020204030204" pitchFamily="34" charset="0"/>
                <a:cs typeface="Calibri" panose="020F0502020204030204" pitchFamily="34" charset="0"/>
              </a:rPr>
              <a:t>Type II</a:t>
            </a:r>
            <a:r>
              <a:rPr dirty="0" sz="1100" lang="en-US">
                <a:latin typeface="Calibri" panose="020F0502020204030204" pitchFamily="34" charset="0"/>
                <a:ea typeface="Calibri" panose="020F0502020204030204" pitchFamily="34" charset="0"/>
                <a:cs typeface="Calibri" panose="020F0502020204030204" pitchFamily="34" charset="0"/>
              </a:rPr>
              <a:t> In addition to ulnar shortening, the radial head is dislocated </a:t>
            </a:r>
          </a:p>
          <a:p>
            <a:r>
              <a:rPr b="1" dirty="0" sz="1100" lang="en-US">
                <a:latin typeface="Calibri" panose="020F0502020204030204" pitchFamily="34" charset="0"/>
                <a:ea typeface="Calibri" panose="020F0502020204030204" pitchFamily="34" charset="0"/>
                <a:cs typeface="Calibri" panose="020F0502020204030204" pitchFamily="34" charset="0"/>
              </a:rPr>
              <a:t>Type III</a:t>
            </a:r>
            <a:r>
              <a:rPr dirty="0" sz="1100" lang="en-US">
                <a:latin typeface="Calibri" panose="020F0502020204030204" pitchFamily="34" charset="0"/>
                <a:ea typeface="Calibri" panose="020F0502020204030204" pitchFamily="34" charset="0"/>
                <a:cs typeface="Calibri" panose="020F0502020204030204" pitchFamily="34" charset="0"/>
              </a:rPr>
              <a:t> The main osteochondroma formation is in the metaphysis of the distal radius, and there is relative shortening of the radius.</a:t>
            </a:r>
          </a:p>
          <a:p>
            <a:endParaRPr dirty="0" sz="1100" lang="en-US">
              <a:latin typeface="Calibri" panose="020F0502020204030204" pitchFamily="34" charset="0"/>
              <a:ea typeface="Calibri" panose="020F0502020204030204" pitchFamily="34" charset="0"/>
              <a:cs typeface="Calibri" panose="020F0502020204030204" pitchFamily="34" charset="0"/>
            </a:endParaRPr>
          </a:p>
          <a:p>
            <a:r>
              <a:rPr dirty="0" sz="1100" lang="en-US">
                <a:latin typeface="Calibri" panose="020F0502020204030204" pitchFamily="34" charset="0"/>
                <a:ea typeface="Calibri" panose="020F0502020204030204" pitchFamily="34" charset="0"/>
                <a:cs typeface="Calibri" panose="020F0502020204030204" pitchFamily="34" charset="0"/>
              </a:rPr>
              <a:t>Excision of osteochondroma ,Osteotomy of the </a:t>
            </a:r>
            <a:r>
              <a:rPr dirty="0" sz="1100" lang="en-US" err="1">
                <a:latin typeface="Calibri" panose="020F0502020204030204" pitchFamily="34" charset="0"/>
                <a:ea typeface="Calibri" panose="020F0502020204030204" pitchFamily="34" charset="0"/>
                <a:cs typeface="Calibri" panose="020F0502020204030204" pitchFamily="34" charset="0"/>
              </a:rPr>
              <a:t>radius,Immediate</a:t>
            </a:r>
            <a:r>
              <a:rPr dirty="0" sz="1100" lang="en-US">
                <a:latin typeface="Calibri" panose="020F0502020204030204" pitchFamily="34" charset="0"/>
                <a:ea typeface="Calibri" panose="020F0502020204030204" pitchFamily="34" charset="0"/>
                <a:cs typeface="Calibri" panose="020F0502020204030204" pitchFamily="34" charset="0"/>
              </a:rPr>
              <a:t> ulnar lengthening was suggested for Masada type 1 deformities </a:t>
            </a:r>
          </a:p>
          <a:p>
            <a:r>
              <a:rPr dirty="0" sz="1100" lang="en-US">
                <a:latin typeface="Calibri" panose="020F0502020204030204" pitchFamily="34" charset="0"/>
                <a:ea typeface="Calibri" panose="020F0502020204030204" pitchFamily="34" charset="0"/>
                <a:cs typeface="Calibri" panose="020F0502020204030204" pitchFamily="34" charset="0"/>
              </a:rPr>
              <a:t>We performed  excision of the osteochondroma and radial correction by a closing wedge osteotomy at the center of rotation of angulation (CORA). The radius was fixed with a plate. For ulnar lengthening, osteotomy was performed at the proximal third of the ulna. Subsequently, It is fixed with </a:t>
            </a:r>
            <a:r>
              <a:rPr dirty="0" sz="1100" lang="en-US" err="1">
                <a:latin typeface="Calibri" panose="020F0502020204030204" pitchFamily="34" charset="0"/>
                <a:ea typeface="Calibri" panose="020F0502020204030204" pitchFamily="34" charset="0"/>
                <a:cs typeface="Calibri" panose="020F0502020204030204" pitchFamily="34" charset="0"/>
              </a:rPr>
              <a:t>monolateral</a:t>
            </a:r>
            <a:r>
              <a:rPr dirty="0" sz="1100" lang="en-US">
                <a:latin typeface="Calibri" panose="020F0502020204030204" pitchFamily="34" charset="0"/>
                <a:ea typeface="Calibri" panose="020F0502020204030204" pitchFamily="34" charset="0"/>
                <a:cs typeface="Calibri" panose="020F0502020204030204" pitchFamily="34" charset="0"/>
              </a:rPr>
              <a:t> external fixator. Finally, an intramedullary tens nail is inserted over the ulna to guide the regeneration.
The distraction process started 7 to 10 days after the surgery at a rate of 1 mm per day. The endpoint of distraction included neutral ulnar variance. At the end of lengthening, the fixator was kept in place until bone consolidation gets completed.</a:t>
            </a:r>
          </a:p>
        </p:txBody>
      </p:sp>
      <p:sp>
        <p:nvSpPr>
          <p:cNvPr id="1048605" name="TextBox 9"/>
          <p:cNvSpPr txBox="1"/>
          <p:nvPr/>
        </p:nvSpPr>
        <p:spPr>
          <a:xfrm>
            <a:off x="8006814" y="1906827"/>
            <a:ext cx="4140285" cy="1247140"/>
          </a:xfrm>
          <a:prstGeom prst="rect"/>
          <a:noFill/>
        </p:spPr>
        <p:txBody>
          <a:bodyPr wrap="square">
            <a:spAutoFit/>
          </a:bodyPr>
          <a:p>
            <a:pPr algn="ctr"/>
            <a:r>
              <a:rPr dirty="0" sz="1100" lang="en-US">
                <a:latin typeface="Calibri" panose="020F0502020204030204" pitchFamily="34" charset="0"/>
                <a:ea typeface="Calibri" panose="020F0502020204030204" pitchFamily="34" charset="0"/>
                <a:cs typeface="Calibri" panose="020F0502020204030204" pitchFamily="34" charset="0"/>
              </a:rPr>
              <a:t>Patient followed up Post operatively for 6 </a:t>
            </a:r>
            <a:r>
              <a:rPr dirty="0" sz="1100" lang="en-US" err="1">
                <a:latin typeface="Calibri" panose="020F0502020204030204" pitchFamily="34" charset="0"/>
                <a:ea typeface="Calibri" panose="020F0502020204030204" pitchFamily="34" charset="0"/>
                <a:cs typeface="Calibri" panose="020F0502020204030204" pitchFamily="34" charset="0"/>
              </a:rPr>
              <a:t>months.The</a:t>
            </a:r>
            <a:r>
              <a:rPr dirty="0" sz="1100" lang="en-US">
                <a:latin typeface="Calibri" panose="020F0502020204030204" pitchFamily="34" charset="0"/>
                <a:ea typeface="Calibri" panose="020F0502020204030204" pitchFamily="34" charset="0"/>
                <a:cs typeface="Calibri" panose="020F0502020204030204" pitchFamily="34" charset="0"/>
              </a:rPr>
              <a:t> preoperative Radial articular angle (RAA), supination and pronation of forearm ,carpal slip(CS),Ulnar variance(UV),Radial bowing (RB ) were improved post operatively. There is no Postoperative </a:t>
            </a:r>
            <a:r>
              <a:rPr dirty="0" sz="1100" lang="en-US" err="1">
                <a:latin typeface="Calibri" panose="020F0502020204030204" pitchFamily="34" charset="0"/>
                <a:ea typeface="Calibri" panose="020F0502020204030204" pitchFamily="34" charset="0"/>
                <a:cs typeface="Calibri" panose="020F0502020204030204" pitchFamily="34" charset="0"/>
              </a:rPr>
              <a:t>complications,Left</a:t>
            </a:r>
            <a:r>
              <a:rPr dirty="0" sz="1100" lang="en-US">
                <a:latin typeface="Calibri" panose="020F0502020204030204" pitchFamily="34" charset="0"/>
                <a:ea typeface="Calibri" panose="020F0502020204030204" pitchFamily="34" charset="0"/>
                <a:cs typeface="Calibri" panose="020F0502020204030204" pitchFamily="34" charset="0"/>
              </a:rPr>
              <a:t>  radius bowing were almost corrected and cosmetically </a:t>
            </a:r>
            <a:r>
              <a:rPr dirty="0" sz="1100" lang="en-US" err="1">
                <a:latin typeface="Calibri" panose="020F0502020204030204" pitchFamily="34" charset="0"/>
                <a:ea typeface="Calibri" panose="020F0502020204030204" pitchFamily="34" charset="0"/>
                <a:cs typeface="Calibri" panose="020F0502020204030204" pitchFamily="34" charset="0"/>
              </a:rPr>
              <a:t>improved.Forearm</a:t>
            </a:r>
            <a:r>
              <a:rPr dirty="0" sz="1100" lang="en-US">
                <a:latin typeface="Calibri" panose="020F0502020204030204" pitchFamily="34" charset="0"/>
                <a:ea typeface="Calibri" panose="020F0502020204030204" pitchFamily="34" charset="0"/>
                <a:cs typeface="Calibri" panose="020F0502020204030204" pitchFamily="34" charset="0"/>
              </a:rPr>
              <a:t> shortening compared to other forearm reduced .</a:t>
            </a:r>
          </a:p>
        </p:txBody>
      </p:sp>
      <p:sp>
        <p:nvSpPr>
          <p:cNvPr id="1048606" name="TextBox 11"/>
          <p:cNvSpPr txBox="1"/>
          <p:nvPr/>
        </p:nvSpPr>
        <p:spPr>
          <a:xfrm>
            <a:off x="8006815" y="3490230"/>
            <a:ext cx="4140284" cy="938719"/>
          </a:xfrm>
          <a:prstGeom prst="rect"/>
          <a:noFill/>
        </p:spPr>
        <p:txBody>
          <a:bodyPr wrap="square">
            <a:spAutoFit/>
          </a:bodyPr>
          <a:p>
            <a:r>
              <a:rPr dirty="0" sz="1100" lang="en-US">
                <a:latin typeface="Calibri" panose="020F0502020204030204" pitchFamily="34" charset="0"/>
                <a:ea typeface="Calibri" panose="020F0502020204030204" pitchFamily="34" charset="0"/>
                <a:cs typeface="Calibri" panose="020F0502020204030204" pitchFamily="34" charset="0"/>
              </a:rPr>
              <a:t>Gradual ulnar lengthening significantly reduces cosmetic deformity and improves function in patients with Masada type I deformity. Our results supported early ulnar lengthening for patients with a tendency of dislocation of the radial head in type 1 </a:t>
            </a:r>
            <a:r>
              <a:rPr dirty="0" sz="1100" lang="en-US" err="1">
                <a:latin typeface="Calibri" panose="020F0502020204030204" pitchFamily="34" charset="0"/>
                <a:ea typeface="Calibri" panose="020F0502020204030204" pitchFamily="34" charset="0"/>
                <a:cs typeface="Calibri" panose="020F0502020204030204" pitchFamily="34" charset="0"/>
              </a:rPr>
              <a:t>masada</a:t>
            </a:r>
            <a:r>
              <a:rPr dirty="0" sz="1100" lang="en-US">
                <a:latin typeface="Calibri" panose="020F0502020204030204" pitchFamily="34" charset="0"/>
                <a:ea typeface="Calibri" panose="020F0502020204030204" pitchFamily="34" charset="0"/>
                <a:cs typeface="Calibri" panose="020F0502020204030204" pitchFamily="34" charset="0"/>
              </a:rPr>
              <a:t> deformities </a:t>
            </a:r>
          </a:p>
        </p:txBody>
      </p:sp>
      <p:pic>
        <p:nvPicPr>
          <p:cNvPr id="2097158" name="Picture 25"/>
          <p:cNvPicPr>
            <a:picLocks noChangeAspect="1"/>
          </p:cNvPicPr>
          <p:nvPr/>
        </p:nvPicPr>
        <p:blipFill>
          <a:blip xmlns:r="http://schemas.openxmlformats.org/officeDocument/2006/relationships" r:embed="rId4"/>
          <a:stretch>
            <a:fillRect/>
          </a:stretch>
        </p:blipFill>
        <p:spPr>
          <a:xfrm>
            <a:off x="2911919" y="5507299"/>
            <a:ext cx="954819" cy="1338109"/>
          </a:xfrm>
          <a:prstGeom prst="rect"/>
        </p:spPr>
      </p:pic>
      <p:pic>
        <p:nvPicPr>
          <p:cNvPr id="2097159" name="Picture 26"/>
          <p:cNvPicPr>
            <a:picLocks noChangeAspect="1"/>
          </p:cNvPicPr>
          <p:nvPr/>
        </p:nvPicPr>
        <p:blipFill>
          <a:blip xmlns:r="http://schemas.openxmlformats.org/officeDocument/2006/relationships" r:embed="rId5"/>
          <a:stretch>
            <a:fillRect/>
          </a:stretch>
        </p:blipFill>
        <p:spPr>
          <a:xfrm>
            <a:off x="3853348" y="5493081"/>
            <a:ext cx="901143" cy="1353936"/>
          </a:xfrm>
          <a:prstGeom prst="rect"/>
        </p:spPr>
      </p:pic>
      <p:pic>
        <p:nvPicPr>
          <p:cNvPr id="2097160" name="Picture 14"/>
          <p:cNvPicPr>
            <a:picLocks noChangeAspect="1"/>
          </p:cNvPicPr>
          <p:nvPr/>
        </p:nvPicPr>
        <p:blipFill>
          <a:blip xmlns:r="http://schemas.openxmlformats.org/officeDocument/2006/relationships" r:embed="rId6"/>
          <a:stretch>
            <a:fillRect/>
          </a:stretch>
        </p:blipFill>
        <p:spPr>
          <a:xfrm>
            <a:off x="4734832" y="5508909"/>
            <a:ext cx="1116790" cy="1338108"/>
          </a:xfrm>
          <a:prstGeom prst="rect"/>
        </p:spPr>
      </p:pic>
      <p:pic>
        <p:nvPicPr>
          <p:cNvPr id="2097161" name="Picture 5"/>
          <p:cNvPicPr>
            <a:picLocks noChangeAspect="1"/>
          </p:cNvPicPr>
          <p:nvPr/>
        </p:nvPicPr>
        <p:blipFill>
          <a:blip xmlns:r="http://schemas.openxmlformats.org/officeDocument/2006/relationships" r:embed="rId7"/>
          <a:stretch>
            <a:fillRect/>
          </a:stretch>
        </p:blipFill>
        <p:spPr>
          <a:xfrm>
            <a:off x="5792260" y="5504232"/>
            <a:ext cx="890261" cy="1342785"/>
          </a:xfrm>
          <a:prstGeom prst="rect"/>
        </p:spPr>
      </p:pic>
      <p:pic>
        <p:nvPicPr>
          <p:cNvPr id="2097162" name="Picture 20"/>
          <p:cNvPicPr>
            <a:picLocks noChangeAspect="1"/>
          </p:cNvPicPr>
          <p:nvPr/>
        </p:nvPicPr>
        <p:blipFill>
          <a:blip xmlns:r="http://schemas.openxmlformats.org/officeDocument/2006/relationships" r:embed="rId8"/>
          <a:stretch>
            <a:fillRect/>
          </a:stretch>
        </p:blipFill>
        <p:spPr>
          <a:xfrm>
            <a:off x="6674487" y="5480551"/>
            <a:ext cx="814254" cy="1353936"/>
          </a:xfrm>
          <a:prstGeom prst="rect"/>
        </p:spPr>
      </p:pic>
      <p:pic>
        <p:nvPicPr>
          <p:cNvPr id="2097163" name="Picture 18"/>
          <p:cNvPicPr>
            <a:picLocks noChangeAspect="1"/>
          </p:cNvPicPr>
          <p:nvPr/>
        </p:nvPicPr>
        <p:blipFill>
          <a:blip xmlns:r="http://schemas.openxmlformats.org/officeDocument/2006/relationships" r:embed="rId9"/>
          <a:stretch>
            <a:fillRect/>
          </a:stretch>
        </p:blipFill>
        <p:spPr>
          <a:xfrm>
            <a:off x="7442930" y="5488618"/>
            <a:ext cx="783116" cy="1338107"/>
          </a:xfrm>
          <a:prstGeom prst="rect"/>
        </p:spPr>
      </p:pic>
      <p:pic>
        <p:nvPicPr>
          <p:cNvPr id="2097164" name="Picture 18"/>
          <p:cNvPicPr>
            <a:picLocks noChangeAspect="1"/>
          </p:cNvPicPr>
          <p:nvPr/>
        </p:nvPicPr>
        <p:blipFill>
          <a:blip xmlns:r="http://schemas.openxmlformats.org/officeDocument/2006/relationships" r:embed="rId10"/>
          <a:stretch>
            <a:fillRect/>
          </a:stretch>
        </p:blipFill>
        <p:spPr>
          <a:xfrm>
            <a:off x="8169769" y="5494901"/>
            <a:ext cx="724681" cy="1358613"/>
          </a:xfrm>
          <a:prstGeom prst="rect"/>
        </p:spPr>
      </p:pic>
      <p:pic>
        <p:nvPicPr>
          <p:cNvPr id="2097165" name="Picture 29"/>
          <p:cNvPicPr>
            <a:picLocks noChangeAspect="1"/>
          </p:cNvPicPr>
          <p:nvPr/>
        </p:nvPicPr>
        <p:blipFill>
          <a:blip xmlns:r="http://schemas.openxmlformats.org/officeDocument/2006/relationships" r:embed="rId11"/>
          <a:stretch>
            <a:fillRect/>
          </a:stretch>
        </p:blipFill>
        <p:spPr>
          <a:xfrm>
            <a:off x="8885963" y="5480551"/>
            <a:ext cx="836044" cy="1364857"/>
          </a:xfrm>
          <a:prstGeom prst="rect"/>
        </p:spPr>
      </p:pic>
      <p:pic>
        <p:nvPicPr>
          <p:cNvPr id="2097166" name="Picture 23"/>
          <p:cNvPicPr>
            <a:picLocks noChangeAspect="1"/>
          </p:cNvPicPr>
          <p:nvPr/>
        </p:nvPicPr>
        <p:blipFill>
          <a:blip xmlns:r="http://schemas.openxmlformats.org/officeDocument/2006/relationships" r:embed="rId12"/>
          <a:stretch>
            <a:fillRect/>
          </a:stretch>
        </p:blipFill>
        <p:spPr>
          <a:xfrm>
            <a:off x="199879" y="75454"/>
            <a:ext cx="1289174" cy="1409705"/>
          </a:xfrm>
          <a:prstGeom prst="rect"/>
        </p:spPr>
      </p:pic>
      <p:pic>
        <p:nvPicPr>
          <p:cNvPr id="2097167" name="Picture 31"/>
          <p:cNvPicPr>
            <a:picLocks noChangeAspect="1"/>
          </p:cNvPicPr>
          <p:nvPr/>
        </p:nvPicPr>
        <p:blipFill>
          <a:blip xmlns:r="http://schemas.openxmlformats.org/officeDocument/2006/relationships" r:embed="rId13"/>
          <a:stretch>
            <a:fillRect/>
          </a:stretch>
        </p:blipFill>
        <p:spPr>
          <a:xfrm>
            <a:off x="9745404" y="5480551"/>
            <a:ext cx="693869" cy="1346174"/>
          </a:xfrm>
          <a:prstGeom prst="rect"/>
        </p:spPr>
      </p:pic>
      <p:pic>
        <p:nvPicPr>
          <p:cNvPr id="2097168" name="Picture 28"/>
          <p:cNvPicPr>
            <a:picLocks noChangeAspect="1"/>
          </p:cNvPicPr>
          <p:nvPr/>
        </p:nvPicPr>
        <p:blipFill>
          <a:blip xmlns:r="http://schemas.openxmlformats.org/officeDocument/2006/relationships" r:embed="rId14"/>
          <a:stretch>
            <a:fillRect/>
          </a:stretch>
        </p:blipFill>
        <p:spPr>
          <a:xfrm>
            <a:off x="10331153" y="5480550"/>
            <a:ext cx="687320" cy="1364857"/>
          </a:xfrm>
          <a:prstGeom prst="rect"/>
        </p:spPr>
      </p:pic>
      <p:pic>
        <p:nvPicPr>
          <p:cNvPr id="2097169" name="Picture 30"/>
          <p:cNvPicPr>
            <a:picLocks noChangeAspect="1"/>
          </p:cNvPicPr>
          <p:nvPr/>
        </p:nvPicPr>
        <p:blipFill>
          <a:blip xmlns:r="http://schemas.openxmlformats.org/officeDocument/2006/relationships" r:embed="rId15"/>
          <a:stretch>
            <a:fillRect/>
          </a:stretch>
        </p:blipFill>
        <p:spPr>
          <a:xfrm>
            <a:off x="11030808" y="5055939"/>
            <a:ext cx="1161191" cy="1770786"/>
          </a:xfrm>
          <a:prstGeom prst="rect"/>
        </p:spPr>
      </p:pic>
      <p:sp>
        <p:nvSpPr>
          <p:cNvPr id="1048607" name="Oval 31"/>
          <p:cNvSpPr/>
          <p:nvPr/>
        </p:nvSpPr>
        <p:spPr>
          <a:xfrm>
            <a:off x="9232866" y="5504232"/>
            <a:ext cx="276307" cy="362240"/>
          </a:xfrm>
          <a:prstGeom prst="ellipse"/>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8" name="Oval 32"/>
          <p:cNvSpPr/>
          <p:nvPr/>
        </p:nvSpPr>
        <p:spPr>
          <a:xfrm>
            <a:off x="10022583" y="5427801"/>
            <a:ext cx="184602" cy="312031"/>
          </a:xfrm>
          <a:prstGeom prst="ellipse"/>
        </p:spPr>
        <p:style>
          <a:lnRef idx="2">
            <a:schemeClr val="accent1">
              <a:shade val="15000"/>
            </a:schemeClr>
          </a:lnRef>
          <a:fillRef idx="1">
            <a:schemeClr val="accent1"/>
          </a:fillRef>
          <a:effectRef idx="0">
            <a:schemeClr val="accent1"/>
          </a:effectRef>
          <a:fontRef idx="minor">
            <a:schemeClr val="lt1"/>
          </a:fontRef>
        </p:style>
        <p:txBody>
          <a:bodyPr anchor="ctr" rtlCol="0"/>
          <a:p>
            <a:pPr algn="ctr"/>
            <a:endParaRPr lang="en-IN"/>
          </a:p>
        </p:txBody>
      </p:sp>
      <p:sp>
        <p:nvSpPr>
          <p:cNvPr id="1048609" name="TextBox 33"/>
          <p:cNvSpPr txBox="1"/>
          <p:nvPr/>
        </p:nvSpPr>
        <p:spPr>
          <a:xfrm rot="10800000" flipV="1">
            <a:off x="9995646" y="1041246"/>
            <a:ext cx="2125234" cy="369332"/>
          </a:xfrm>
          <a:prstGeom prst="rect"/>
          <a:noFill/>
        </p:spPr>
        <p:txBody>
          <a:bodyPr rtlCol="0" wrap="square">
            <a:spAutoFit/>
          </a:bodyPr>
          <a:p>
            <a:pPr algn="ctr"/>
            <a:r>
              <a:rPr b="1" dirty="0" lang="en-IN">
                <a:solidFill>
                  <a:schemeClr val="bg1"/>
                </a:solidFill>
                <a:latin typeface="Arial" panose="020B0604020202020204" pitchFamily="34" charset="0"/>
                <a:cs typeface="Arial" panose="020B0604020202020204" pitchFamily="34" charset="0"/>
              </a:rPr>
              <a:t>OSSAP_066</a:t>
            </a:r>
          </a:p>
        </p:txBody>
      </p:sp>
      <p:sp>
        <p:nvSpPr>
          <p:cNvPr id="1048610" name="TextBox 2"/>
          <p:cNvSpPr txBox="1"/>
          <p:nvPr/>
        </p:nvSpPr>
        <p:spPr>
          <a:xfrm>
            <a:off x="8074695" y="4428949"/>
            <a:ext cx="2983746" cy="1107440"/>
          </a:xfrm>
          <a:prstGeom prst="rect"/>
          <a:noFill/>
        </p:spPr>
        <p:txBody>
          <a:bodyPr rtlCol="0" wrap="square">
            <a:spAutoFit/>
          </a:bodyPr>
          <a:p>
            <a:r>
              <a:rPr b="1" dirty="0" sz="900" lang="en-US">
                <a:latin typeface="Calibri" panose="020F0502020204030204" pitchFamily="34" charset="0"/>
                <a:ea typeface="Calibri" panose="020F0502020204030204" pitchFamily="34" charset="0"/>
                <a:cs typeface="Calibri" panose="020F0502020204030204" pitchFamily="34" charset="0"/>
              </a:rPr>
              <a:t>References:</a:t>
            </a:r>
          </a:p>
          <a:p>
            <a:r>
              <a:rPr dirty="0" sz="900" lang="en-US">
                <a:latin typeface="Times New Roman" panose="02020603050405020304" pitchFamily="18" charset="0"/>
                <a:cs typeface="Times New Roman" panose="02020603050405020304" pitchFamily="18" charset="0"/>
              </a:rPr>
              <a:t>1.Fogel Gretal (1984) Management of deformities of the forearm in multiple hereditary osteochondromas. J Bone Joint Surg Am 66(5):670–680 
2.Masada K et al (1989) Operations for forearm deformity caused by multiple osteochondromas. J Bone Joint Sur Br vol 71(1):24–29</a:t>
            </a:r>
          </a:p>
          <a:p>
            <a:endParaRPr dirty="0" sz="900" lang="en-IN"/>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Virinchi Vinay</dc:creator>
  <cp:lastModifiedBy>Chennaiah G</cp:lastModifiedBy>
  <dcterms:created xsi:type="dcterms:W3CDTF">2026-01-08T01:24:43Z</dcterms:created>
  <dcterms:modified xsi:type="dcterms:W3CDTF">2026-02-16T08:14:13Z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49824e554b064607955ef7832db6c4f1</vt:lpwstr>
  </property>
</Properties>
</file>