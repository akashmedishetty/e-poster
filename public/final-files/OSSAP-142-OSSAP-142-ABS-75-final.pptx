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5755"/>
    <a:srgbClr val="01234D"/>
    <a:srgbClr val="D9F2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image" Target="../media/image4.png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image" Target="../media/image3.png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image" Target="../media/image2.png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E82E09-9CEE-8584-D464-24E0EC391B80}"/>
              </a:ext>
            </a:extLst>
          </p:cNvPr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BE4274-EF19-EE7E-5761-D489EED61B8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1A2BA2-F38B-80BA-A985-5949FC76FEA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4524FB-BCF4-1B74-A89E-4EDE8596787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2F88F76-11B2-42F9-7CED-3DAC2835AF8A}"/>
              </a:ext>
            </a:extLst>
          </p:cNvPr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ADD6F6-E35D-B7F8-9AC5-43234D897C09}"/>
              </a:ext>
            </a:extLst>
          </p:cNvPr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6DFFE-ACF0-208A-4880-3B35F597866F}"/>
              </a:ext>
            </a:extLst>
          </p:cNvPr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FD934B23-4A0F-DA26-1C91-6993B84BADB9}"/>
              </a:ext>
            </a:extLst>
          </p:cNvPr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 /><Relationship Id="rId3" Type="http://schemas.openxmlformats.org/officeDocument/2006/relationships/image" Target="../media/image2.png" /><Relationship Id="rId7" Type="http://schemas.openxmlformats.org/officeDocument/2006/relationships/image" Target="../media/image6.jpe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jpeg" /><Relationship Id="rId5" Type="http://schemas.openxmlformats.org/officeDocument/2006/relationships/image" Target="../media/image4.png" /><Relationship Id="rId10" Type="http://schemas.openxmlformats.org/officeDocument/2006/relationships/image" Target="../media/image9.jpeg" /><Relationship Id="rId4" Type="http://schemas.openxmlformats.org/officeDocument/2006/relationships/image" Target="../media/image3.png" /><Relationship Id="rId9" Type="http://schemas.openxmlformats.org/officeDocument/2006/relationships/image" Target="../media/image8.jpe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72BCCA-09F4-9D91-AE26-B5E437D7714E}"/>
              </a:ext>
            </a:extLst>
          </p:cNvPr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4B9414-324A-B4ED-525E-CF04D2394B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155" y="118501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23EAFB-E583-3DAF-08B5-661672CE88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796" y="167792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C21D24D-75B4-7ADE-170F-FE845B818D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9158" y="265899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A6BB7B0-D981-FEB6-4479-7A49704B2B87}"/>
              </a:ext>
            </a:extLst>
          </p:cNvPr>
          <p:cNvSpPr txBox="1"/>
          <p:nvPr/>
        </p:nvSpPr>
        <p:spPr>
          <a:xfrm>
            <a:off x="1706269" y="84369"/>
            <a:ext cx="7509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Gordita "/>
              </a:rPr>
              <a:t>CHRONIC TENDOACHILLES TENDON TEAR TREATED WITH FHL TENDON AUGUMENTATION WITH INTERFERENCE SCREW FIXATION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1F608A-7742-BF27-09EC-3BB7CA324D68}"/>
              </a:ext>
            </a:extLst>
          </p:cNvPr>
          <p:cNvSpPr txBox="1"/>
          <p:nvPr/>
        </p:nvSpPr>
        <p:spPr>
          <a:xfrm>
            <a:off x="1995889" y="636272"/>
            <a:ext cx="72465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  <a:latin typeface="Gordita "/>
              </a:rPr>
              <a:t>AUTHOR : DR.M.PRIYADARSINI  PG  ,  CO-AUTHOOR : DR.CH.V. MURALI KRISHNA MS ORTHO  (PROFESSOR )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16687-624D-607B-6F85-335EE46873F1}"/>
              </a:ext>
            </a:extLst>
          </p:cNvPr>
          <p:cNvSpPr txBox="1"/>
          <p:nvPr/>
        </p:nvSpPr>
        <p:spPr>
          <a:xfrm>
            <a:off x="2059332" y="938416"/>
            <a:ext cx="71140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  <a:latin typeface="Gordita "/>
              </a:rPr>
              <a:t>DEPARTMENT O ORTHOPEDICS, ANDHRA MEDICAL COLLEGE , KING GEORGE HOSPITAL VISAKHAPATNAM </a:t>
            </a:r>
          </a:p>
        </p:txBody>
      </p:sp>
      <p:sp>
        <p:nvSpPr>
          <p:cNvPr id="4" name="Freeform 13">
            <a:extLst>
              <a:ext uri="{FF2B5EF4-FFF2-40B4-BE49-F238E27FC236}">
                <a16:creationId xmlns:a16="http://schemas.microsoft.com/office/drawing/2014/main" id="{0F401C6F-33A3-A415-AD1A-709059E901BF}"/>
              </a:ext>
            </a:extLst>
          </p:cNvPr>
          <p:cNvSpPr/>
          <p:nvPr/>
        </p:nvSpPr>
        <p:spPr>
          <a:xfrm>
            <a:off x="245164" y="74822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4F9D5A-1DDA-4BC3-63F3-F36226B86C87}"/>
              </a:ext>
            </a:extLst>
          </p:cNvPr>
          <p:cNvSpPr/>
          <p:nvPr/>
        </p:nvSpPr>
        <p:spPr>
          <a:xfrm>
            <a:off x="-14437" y="1465417"/>
            <a:ext cx="3108960" cy="33303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Chronic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tendoachilles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ruptures are injuries which presented &gt;4-6 weeks after injury. 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delay in presentation leads to tendon 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retraction,degeneration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gap formation primary end to end suturing not possible flexor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longus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augmentation provides dynamic plantar flexion strength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094F03-F93B-9B6D-7C11-87F9C75E6ABB}"/>
              </a:ext>
            </a:extLst>
          </p:cNvPr>
          <p:cNvSpPr/>
          <p:nvPr/>
        </p:nvSpPr>
        <p:spPr>
          <a:xfrm>
            <a:off x="0" y="5202452"/>
            <a:ext cx="3108960" cy="16555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HISTORY: 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55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yr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male presented with chronic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rt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heel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pain,limp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f/b trauma </a:t>
            </a:r>
          </a:p>
          <a:p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F: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palpable gap over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tendoachilles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positive Thompson test,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plantarlexion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A47E9-312C-D04A-D368-EE96CE32C982}"/>
              </a:ext>
            </a:extLst>
          </p:cNvPr>
          <p:cNvSpPr/>
          <p:nvPr/>
        </p:nvSpPr>
        <p:spPr>
          <a:xfrm>
            <a:off x="3136575" y="714900"/>
            <a:ext cx="3185962" cy="557784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Investigations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:mri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showing:chronic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rupture with retracted ends ,calcification, attenuation of tendon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fiers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posterior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approach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Signifiant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tendon gap is                    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identified,with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poor tendon quality and surrounding scar tissue is excised , gap is measured using sterile scale,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Fhl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tendon harvested and transferred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Tendon passed through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calaneal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tunnel and fixed with interference screw     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A874B9-B8E1-A36B-AA38-6FCC7D5D8F32}"/>
              </a:ext>
            </a:extLst>
          </p:cNvPr>
          <p:cNvSpPr/>
          <p:nvPr/>
        </p:nvSpPr>
        <p:spPr>
          <a:xfrm>
            <a:off x="6305541" y="983566"/>
            <a:ext cx="5839326" cy="361513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Tendo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Achilles is the most commonly ruptured tendon in the lower limb.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Chronic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tendoachilles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tears are challenging due to delayed presentation and poor tissue quality 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flexor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longus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tendon  also a plantar flexor acting in the same phase of gait cycle as Achilles tendon advantages with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fhl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augumentation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with interference screw fixation : strong initial fixation , biological and mechanical reinforcement ,allows early rehabilitation 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FC2BB9-1938-0DF3-F424-CAC28C6D9880}"/>
              </a:ext>
            </a:extLst>
          </p:cNvPr>
          <p:cNvSpPr/>
          <p:nvPr/>
        </p:nvSpPr>
        <p:spPr>
          <a:xfrm>
            <a:off x="6352674" y="5080536"/>
            <a:ext cx="5839326" cy="17774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Flexor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halluccis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longus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augumentation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using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intereferene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screw fixation is safe and reliable technique for chronic </a:t>
            </a:r>
            <a:r>
              <a:rPr lang="en-US" sz="16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tendoachilles</a:t>
            </a:r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tear</a:t>
            </a:r>
          </a:p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restores plantar flexion strength and provides good functional recovery</a:t>
            </a:r>
          </a:p>
          <a:p>
            <a:r>
              <a:rPr lang="en-US"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en-US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0C050E-DD7C-3885-8EBF-D74C223C0531}"/>
              </a:ext>
            </a:extLst>
          </p:cNvPr>
          <p:cNvSpPr/>
          <p:nvPr/>
        </p:nvSpPr>
        <p:spPr>
          <a:xfrm>
            <a:off x="0" y="1280157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INTRODUCTION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EBCB5-BB50-7945-E88B-86122853702B}"/>
              </a:ext>
            </a:extLst>
          </p:cNvPr>
          <p:cNvSpPr/>
          <p:nvPr/>
        </p:nvSpPr>
        <p:spPr>
          <a:xfrm>
            <a:off x="3137836" y="1280157"/>
            <a:ext cx="3185962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OPERATIVE FINDINGS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9DCDE1-7E85-0646-3543-9C1638CEB9CA}"/>
              </a:ext>
            </a:extLst>
          </p:cNvPr>
          <p:cNvSpPr/>
          <p:nvPr/>
        </p:nvSpPr>
        <p:spPr>
          <a:xfrm>
            <a:off x="6338235" y="1280312"/>
            <a:ext cx="5839325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DISCUSSION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30820-FF42-EA8A-339B-145E1FC668F5}"/>
              </a:ext>
            </a:extLst>
          </p:cNvPr>
          <p:cNvSpPr/>
          <p:nvPr/>
        </p:nvSpPr>
        <p:spPr>
          <a:xfrm>
            <a:off x="-14437" y="4807815"/>
            <a:ext cx="3108960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CASE REPORT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633B59-00B8-9FD5-0D31-D1688B16556B}"/>
              </a:ext>
            </a:extLst>
          </p:cNvPr>
          <p:cNvSpPr/>
          <p:nvPr/>
        </p:nvSpPr>
        <p:spPr>
          <a:xfrm>
            <a:off x="6364589" y="4621583"/>
            <a:ext cx="5839324" cy="394637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CONCLUSION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7493" y="5617659"/>
            <a:ext cx="889283" cy="118509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763" y="5599293"/>
            <a:ext cx="883669" cy="118509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223" y="5636025"/>
            <a:ext cx="857225" cy="114835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9692510" y="3417659"/>
            <a:ext cx="1217597" cy="1161627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177" y="3448517"/>
            <a:ext cx="841211" cy="116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5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264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Virinchi Vinay</dc:creator>
  <cp:lastModifiedBy>medapati priyadarsini</cp:lastModifiedBy>
  <cp:revision>19</cp:revision>
  <dcterms:created xsi:type="dcterms:W3CDTF">2026-01-11T06:24:43Z</dcterms:created>
  <dcterms:modified xsi:type="dcterms:W3CDTF">2026-02-12T18:23:07Z</dcterms:modified>
</cp:coreProperties>
</file>