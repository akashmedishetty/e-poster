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29184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7" autoAdjust="0"/>
    <p:restoredTop sz="94660"/>
  </p:normalViewPr>
  <p:slideViewPr>
    <p:cSldViewPr snapToGrid="0">
      <p:cViewPr>
        <p:scale>
          <a:sx n="20" d="100"/>
          <a:sy n="20" d="100"/>
        </p:scale>
        <p:origin x="356" y="-17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feefa batool" userId="128665e938f38213" providerId="LiveId" clId="{47F6FDA4-64B5-49E8-9D0A-ACE3B06C01A8}"/>
    <pc:docChg chg="modSld">
      <pc:chgData name="afeefa batool" userId="128665e938f38213" providerId="LiveId" clId="{47F6FDA4-64B5-49E8-9D0A-ACE3B06C01A8}" dt="2026-01-31T06:40:53.172" v="20" actId="20577"/>
      <pc:docMkLst>
        <pc:docMk/>
      </pc:docMkLst>
      <pc:sldChg chg="modSp mod">
        <pc:chgData name="afeefa batool" userId="128665e938f38213" providerId="LiveId" clId="{47F6FDA4-64B5-49E8-9D0A-ACE3B06C01A8}" dt="2026-01-31T06:40:53.172" v="20" actId="20577"/>
        <pc:sldMkLst>
          <pc:docMk/>
          <pc:sldMk cId="1161690695" sldId="256"/>
        </pc:sldMkLst>
        <pc:spChg chg="mod">
          <ac:chgData name="afeefa batool" userId="128665e938f38213" providerId="LiveId" clId="{47F6FDA4-64B5-49E8-9D0A-ACE3B06C01A8}" dt="2026-01-31T06:40:53.172" v="20" actId="20577"/>
          <ac:spMkLst>
            <pc:docMk/>
            <pc:sldMk cId="1161690695" sldId="256"/>
            <ac:spMk id="22" creationId="{D6A93688-5DCA-B66C-5D14-93087E6B1C4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7183123"/>
            <a:ext cx="27980640" cy="1528064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23053043"/>
            <a:ext cx="24688800" cy="10596877"/>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2792342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16489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942333"/>
            <a:ext cx="28392120" cy="18257517"/>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29372573"/>
            <a:ext cx="28392120" cy="9601197"/>
          </a:xfrm>
        </p:spPr>
        <p:txBody>
          <a:bodyPr/>
          <a:lstStyle>
            <a:lvl1pPr marL="0" indent="0">
              <a:buNone/>
              <a:defRPr sz="8640">
                <a:solidFill>
                  <a:schemeClr val="tx1"/>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EBB9BF-81C3-400E-9530-667D9EF39D8B}"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2199502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EBB9BF-81C3-400E-9530-667D9EF39D8B}"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4114752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336810"/>
            <a:ext cx="2839212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10759443"/>
            <a:ext cx="13926024"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267431" y="16032480"/>
            <a:ext cx="13926024"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10759443"/>
            <a:ext cx="13994608"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6664942" y="16032480"/>
            <a:ext cx="13994608"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EBB9BF-81C3-400E-9530-667D9EF39D8B}" type="datetimeFigureOut">
              <a:rPr lang="en-IN" smtClean="0"/>
              <a:t>31-01-2026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828818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EBB9BF-81C3-400E-9530-667D9EF39D8B}" type="datetimeFigureOut">
              <a:rPr lang="en-IN" smtClean="0"/>
              <a:t>31-01-2026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400209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EBB9BF-81C3-400E-9530-667D9EF39D8B}" type="datetimeFigureOut">
              <a:rPr lang="en-IN" smtClean="0"/>
              <a:t>31-01-2026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508199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6319530"/>
            <a:ext cx="16664940" cy="311912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A0EBB9BF-81C3-400E-9530-667D9EF39D8B}"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440359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6319530"/>
            <a:ext cx="16664940" cy="311912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A0EBB9BF-81C3-400E-9530-667D9EF39D8B}"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170475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1295532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336800"/>
            <a:ext cx="7098030"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2336800"/>
            <a:ext cx="20882610"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073748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336810"/>
            <a:ext cx="2839212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11684000"/>
            <a:ext cx="2839212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40680650"/>
            <a:ext cx="7406640" cy="2336800"/>
          </a:xfrm>
          <a:prstGeom prst="rect">
            <a:avLst/>
          </a:prstGeom>
        </p:spPr>
        <p:txBody>
          <a:bodyPr vert="horz" lIns="91440" tIns="45720" rIns="91440" bIns="45720" rtlCol="0" anchor="ctr"/>
          <a:lstStyle>
            <a:lvl1pPr algn="l">
              <a:defRPr sz="4320">
                <a:solidFill>
                  <a:schemeClr val="tx1">
                    <a:tint val="75000"/>
                  </a:schemeClr>
                </a:solidFill>
              </a:defRPr>
            </a:lvl1pPr>
          </a:lstStyle>
          <a:p>
            <a:fld id="{A0EBB9BF-81C3-400E-9530-667D9EF39D8B}" type="datetimeFigureOut">
              <a:rPr lang="en-IN" smtClean="0"/>
              <a:t>31-01-2026</a:t>
            </a:fld>
            <a:endParaRPr lang="en-IN"/>
          </a:p>
        </p:txBody>
      </p:sp>
      <p:sp>
        <p:nvSpPr>
          <p:cNvPr id="5" name="Footer Placeholder 4"/>
          <p:cNvSpPr>
            <a:spLocks noGrp="1"/>
          </p:cNvSpPr>
          <p:nvPr>
            <p:ph type="ftr" sz="quarter" idx="3"/>
          </p:nvPr>
        </p:nvSpPr>
        <p:spPr>
          <a:xfrm>
            <a:off x="10904220" y="40680650"/>
            <a:ext cx="11109960" cy="23368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23248620" y="40680650"/>
            <a:ext cx="7406640" cy="2336800"/>
          </a:xfrm>
          <a:prstGeom prst="rect">
            <a:avLst/>
          </a:prstGeom>
        </p:spPr>
        <p:txBody>
          <a:bodyPr vert="horz" lIns="91440" tIns="45720" rIns="91440" bIns="45720" rtlCol="0" anchor="ctr"/>
          <a:lstStyle>
            <a:lvl1pPr algn="r">
              <a:defRPr sz="4320">
                <a:solidFill>
                  <a:schemeClr val="tx1">
                    <a:tint val="75000"/>
                  </a:schemeClr>
                </a:solidFill>
              </a:defRPr>
            </a:lvl1pPr>
          </a:lstStyle>
          <a:p>
            <a:fld id="{D0884481-57DA-4ECD-BB2B-B1F153A8CF8C}" type="slidenum">
              <a:rPr lang="en-IN" smtClean="0"/>
              <a:t>‹#›</a:t>
            </a:fld>
            <a:endParaRPr lang="en-IN"/>
          </a:p>
        </p:txBody>
      </p:sp>
    </p:spTree>
    <p:extLst>
      <p:ext uri="{BB962C8B-B14F-4D97-AF65-F5344CB8AC3E}">
        <p14:creationId xmlns:p14="http://schemas.microsoft.com/office/powerpoint/2010/main" val="21326879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jpeg"/><Relationship Id="rId3" Type="http://schemas.openxmlformats.org/officeDocument/2006/relationships/image" Target="../media/image2.png"/><Relationship Id="rId7" Type="http://schemas.openxmlformats.org/officeDocument/2006/relationships/image" Target="../media/image5.jpeg"/><Relationship Id="rId12"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eg"/><Relationship Id="rId5" Type="http://schemas.microsoft.com/office/2007/relationships/hdphoto" Target="../media/hdphoto1.wdp"/><Relationship Id="rId15" Type="http://schemas.openxmlformats.org/officeDocument/2006/relationships/image" Target="../media/image13.jpe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jpeg"/><Relationship Id="rId1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55">
            <a:extLst>
              <a:ext uri="{FF2B5EF4-FFF2-40B4-BE49-F238E27FC236}">
                <a16:creationId xmlns:a16="http://schemas.microsoft.com/office/drawing/2014/main" id="{23AE0009-68DA-0F37-2AC4-7429B5F352E4}"/>
              </a:ext>
            </a:extLst>
          </p:cNvPr>
          <p:cNvSpPr/>
          <p:nvPr/>
        </p:nvSpPr>
        <p:spPr>
          <a:xfrm>
            <a:off x="10685443" y="37224929"/>
            <a:ext cx="5991086" cy="66662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 name="Google Shape;170;p1">
            <a:extLst>
              <a:ext uri="{FF2B5EF4-FFF2-40B4-BE49-F238E27FC236}">
                <a16:creationId xmlns:a16="http://schemas.microsoft.com/office/drawing/2014/main" id="{7F096925-8E14-2B28-C4B9-50762487E8E9}"/>
              </a:ext>
            </a:extLst>
          </p:cNvPr>
          <p:cNvSpPr/>
          <p:nvPr/>
        </p:nvSpPr>
        <p:spPr>
          <a:xfrm>
            <a:off x="0" y="0"/>
            <a:ext cx="32862652" cy="6861104"/>
          </a:xfrm>
          <a:prstGeom prst="rect">
            <a:avLst/>
          </a:prstGeom>
          <a:solidFill>
            <a:srgbClr val="01234D"/>
          </a:solidFill>
          <a:ln w="19050" cap="flat" cmpd="sng">
            <a:solidFill>
              <a:srgbClr val="525755"/>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endParaRPr sz="1800" dirty="0">
              <a:solidFill>
                <a:schemeClr val="lt1"/>
              </a:solidFill>
              <a:latin typeface="Arial"/>
              <a:ea typeface="Arial"/>
              <a:cs typeface="Arial"/>
              <a:sym typeface="Arial"/>
            </a:endParaRPr>
          </a:p>
        </p:txBody>
      </p:sp>
      <p:sp>
        <p:nvSpPr>
          <p:cNvPr id="5" name="Google Shape;174;p1">
            <a:extLst>
              <a:ext uri="{FF2B5EF4-FFF2-40B4-BE49-F238E27FC236}">
                <a16:creationId xmlns:a16="http://schemas.microsoft.com/office/drawing/2014/main" id="{1809CFC8-C9DD-7E63-AB9C-AABC41FA1757}"/>
              </a:ext>
            </a:extLst>
          </p:cNvPr>
          <p:cNvSpPr/>
          <p:nvPr/>
        </p:nvSpPr>
        <p:spPr>
          <a:xfrm>
            <a:off x="0" y="556590"/>
            <a:ext cx="5605671" cy="5406887"/>
          </a:xfrm>
          <a:custGeom>
            <a:avLst/>
            <a:gdLst/>
            <a:ahLst/>
            <a:cxnLst/>
            <a:rect l="l" t="t" r="r" b="b"/>
            <a:pathLst>
              <a:path w="2254612" h="1957865" extrusionOk="0">
                <a:moveTo>
                  <a:pt x="0" y="0"/>
                </a:moveTo>
                <a:lnTo>
                  <a:pt x="2254612" y="0"/>
                </a:lnTo>
                <a:lnTo>
                  <a:pt x="2254612" y="1957865"/>
                </a:lnTo>
                <a:lnTo>
                  <a:pt x="0" y="1957865"/>
                </a:lnTo>
                <a:lnTo>
                  <a:pt x="0" y="0"/>
                </a:lnTo>
                <a:close/>
              </a:path>
            </a:pathLst>
          </a:custGeom>
          <a:blipFill rotWithShape="1">
            <a:blip r:embed="rId2">
              <a:alphaModFix/>
            </a:blip>
            <a:stretch>
              <a:fillRect t="-9939" r="-4889" b="-10849"/>
            </a:stretch>
          </a:blipFill>
          <a:ln>
            <a:noFill/>
          </a:ln>
        </p:spPr>
        <p:txBody>
          <a:bodyPr spcFirstLastPara="1" wrap="square" lIns="91425" tIns="45700" rIns="91425" bIns="45700" anchor="t"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pic>
        <p:nvPicPr>
          <p:cNvPr id="6" name="Google Shape;171;p1">
            <a:extLst>
              <a:ext uri="{FF2B5EF4-FFF2-40B4-BE49-F238E27FC236}">
                <a16:creationId xmlns:a16="http://schemas.microsoft.com/office/drawing/2014/main" id="{C1BD0457-DFC6-BE13-FDC9-6C668C2F4F70}"/>
              </a:ext>
            </a:extLst>
          </p:cNvPr>
          <p:cNvPicPr preferRelativeResize="0"/>
          <p:nvPr/>
        </p:nvPicPr>
        <p:blipFill rotWithShape="1">
          <a:blip r:embed="rId3">
            <a:alphaModFix/>
          </a:blip>
          <a:srcRect/>
          <a:stretch/>
        </p:blipFill>
        <p:spPr>
          <a:xfrm>
            <a:off x="27312729" y="126006"/>
            <a:ext cx="3578088" cy="2025555"/>
          </a:xfrm>
          <a:prstGeom prst="rect">
            <a:avLst/>
          </a:prstGeom>
          <a:noFill/>
          <a:ln>
            <a:noFill/>
          </a:ln>
        </p:spPr>
      </p:pic>
      <p:pic>
        <p:nvPicPr>
          <p:cNvPr id="8" name="Picture 7">
            <a:extLst>
              <a:ext uri="{FF2B5EF4-FFF2-40B4-BE49-F238E27FC236}">
                <a16:creationId xmlns:a16="http://schemas.microsoft.com/office/drawing/2014/main" id="{EB066290-1C8E-15CB-51E2-07D1EE9CD2C7}"/>
              </a:ext>
            </a:extLst>
          </p:cNvPr>
          <p:cNvPicPr>
            <a:picLocks noChangeAspect="1"/>
          </p:cNvPicPr>
          <p:nvPr/>
        </p:nvPicPr>
        <p:blipFill>
          <a:blip r:embed="rId4">
            <a:extLst>
              <a:ext uri="{BEBA8EAE-BF5A-486C-A8C5-ECC9F3942E4B}">
                <a14:imgProps xmlns:a14="http://schemas.microsoft.com/office/drawing/2010/main">
                  <a14:imgLayer r:embed="rId5">
                    <a14:imgEffect>
                      <a14:saturation sat="101000"/>
                    </a14:imgEffect>
                  </a14:imgLayer>
                </a14:imgProps>
              </a:ext>
              <a:ext uri="{28A0092B-C50C-407E-A947-70E740481C1C}">
                <a14:useLocalDpi xmlns:a14="http://schemas.microsoft.com/office/drawing/2010/main" val="0"/>
              </a:ext>
            </a:extLst>
          </a:blip>
          <a:stretch>
            <a:fillRect/>
          </a:stretch>
        </p:blipFill>
        <p:spPr>
          <a:xfrm>
            <a:off x="26131464" y="2510839"/>
            <a:ext cx="2362530" cy="2867425"/>
          </a:xfrm>
          <a:prstGeom prst="rect">
            <a:avLst/>
          </a:prstGeom>
        </p:spPr>
      </p:pic>
      <p:pic>
        <p:nvPicPr>
          <p:cNvPr id="9" name="Google Shape;172;p1">
            <a:extLst>
              <a:ext uri="{FF2B5EF4-FFF2-40B4-BE49-F238E27FC236}">
                <a16:creationId xmlns:a16="http://schemas.microsoft.com/office/drawing/2014/main" id="{D477A907-CCDA-F301-1069-1406A2D4810E}"/>
              </a:ext>
            </a:extLst>
          </p:cNvPr>
          <p:cNvPicPr preferRelativeResize="0"/>
          <p:nvPr/>
        </p:nvPicPr>
        <p:blipFill rotWithShape="1">
          <a:blip r:embed="rId6">
            <a:alphaModFix/>
          </a:blip>
          <a:srcRect/>
          <a:stretch/>
        </p:blipFill>
        <p:spPr>
          <a:xfrm>
            <a:off x="28592699" y="1855554"/>
            <a:ext cx="3992097" cy="4293937"/>
          </a:xfrm>
          <a:prstGeom prst="rect">
            <a:avLst/>
          </a:prstGeom>
          <a:noFill/>
          <a:ln>
            <a:noFill/>
          </a:ln>
        </p:spPr>
      </p:pic>
      <p:sp>
        <p:nvSpPr>
          <p:cNvPr id="10" name="Google Shape;185;p1">
            <a:extLst>
              <a:ext uri="{FF2B5EF4-FFF2-40B4-BE49-F238E27FC236}">
                <a16:creationId xmlns:a16="http://schemas.microsoft.com/office/drawing/2014/main" id="{5389D1AE-3E63-EBCF-E9A3-77B4BCB6DA87}"/>
              </a:ext>
            </a:extLst>
          </p:cNvPr>
          <p:cNvSpPr txBox="1"/>
          <p:nvPr/>
        </p:nvSpPr>
        <p:spPr>
          <a:xfrm>
            <a:off x="5605671" y="227495"/>
            <a:ext cx="20381950" cy="4524275"/>
          </a:xfrm>
          <a:prstGeom prst="rect">
            <a:avLst/>
          </a:prstGeom>
          <a:noFill/>
          <a:ln>
            <a:noFill/>
          </a:ln>
        </p:spPr>
        <p:txBody>
          <a:bodyPr spcFirstLastPara="1" wrap="square" lIns="91425" tIns="45700" rIns="91425" bIns="45700" anchor="t" anchorCtr="0">
            <a:sp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l" rtl="0">
              <a:spcBef>
                <a:spcPts val="0"/>
              </a:spcBef>
              <a:spcAft>
                <a:spcPts val="0"/>
              </a:spcAft>
              <a:buClr>
                <a:schemeClr val="lt1"/>
              </a:buClr>
              <a:buSzPts val="1800"/>
              <a:buFont typeface="Arial"/>
              <a:buNone/>
            </a:pPr>
            <a:r>
              <a:rPr lang="en-US" sz="7200" b="1" dirty="0">
                <a:solidFill>
                  <a:schemeClr val="lt1"/>
                </a:solidFill>
                <a:latin typeface="Arial"/>
                <a:ea typeface="Arial"/>
                <a:cs typeface="Arial"/>
                <a:sym typeface="Arial"/>
              </a:rPr>
              <a:t>MANAGEMENT OF SYMPTOMATIC PROXIMAL HUMERUS ENCHONDROMA WITH CURRATAGE AND AUTOLOGOUS BONE GRAFTING AND CEMENTING</a:t>
            </a:r>
            <a:endParaRPr sz="7200" b="1" dirty="0">
              <a:solidFill>
                <a:schemeClr val="lt1"/>
              </a:solidFill>
              <a:latin typeface="Arial"/>
              <a:ea typeface="Arial"/>
              <a:cs typeface="Arial"/>
              <a:sym typeface="Arial"/>
            </a:endParaRPr>
          </a:p>
        </p:txBody>
      </p:sp>
      <p:sp>
        <p:nvSpPr>
          <p:cNvPr id="11" name="Google Shape;186;p1">
            <a:extLst>
              <a:ext uri="{FF2B5EF4-FFF2-40B4-BE49-F238E27FC236}">
                <a16:creationId xmlns:a16="http://schemas.microsoft.com/office/drawing/2014/main" id="{384706A3-0554-C8B7-4134-98926425868B}"/>
              </a:ext>
            </a:extLst>
          </p:cNvPr>
          <p:cNvSpPr txBox="1"/>
          <p:nvPr/>
        </p:nvSpPr>
        <p:spPr>
          <a:xfrm>
            <a:off x="5704376" y="4768805"/>
            <a:ext cx="21951020" cy="923289"/>
          </a:xfrm>
          <a:prstGeom prst="rect">
            <a:avLst/>
          </a:prstGeom>
          <a:noFill/>
          <a:ln>
            <a:noFill/>
          </a:ln>
        </p:spPr>
        <p:txBody>
          <a:bodyPr spcFirstLastPara="1" wrap="square" lIns="91425" tIns="45700" rIns="91425" bIns="45700" anchor="t" anchorCtr="0">
            <a:sp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l" rtl="0">
              <a:spcBef>
                <a:spcPts val="0"/>
              </a:spcBef>
              <a:spcAft>
                <a:spcPts val="0"/>
              </a:spcAft>
              <a:buClr>
                <a:schemeClr val="lt1"/>
              </a:buClr>
              <a:buSzPts val="1600"/>
              <a:buFont typeface="Arial"/>
              <a:buNone/>
            </a:pPr>
            <a:r>
              <a:rPr lang="en-US" sz="5400" b="1" dirty="0">
                <a:solidFill>
                  <a:schemeClr val="lt1"/>
                </a:solidFill>
                <a:latin typeface="Arial"/>
                <a:ea typeface="Arial"/>
                <a:cs typeface="Arial"/>
                <a:sym typeface="Arial"/>
              </a:rPr>
              <a:t>AUTHOR: Dr. HARI RAMA SATYA SANTHOSH P</a:t>
            </a:r>
            <a:endParaRPr lang="en-IN" sz="5400" dirty="0">
              <a:solidFill>
                <a:schemeClr val="dk1"/>
              </a:solidFill>
              <a:latin typeface="Arial"/>
              <a:ea typeface="Arial"/>
              <a:cs typeface="Arial"/>
              <a:sym typeface="Arial"/>
            </a:endParaRPr>
          </a:p>
        </p:txBody>
      </p:sp>
      <p:sp>
        <p:nvSpPr>
          <p:cNvPr id="13" name="TextBox 12">
            <a:extLst>
              <a:ext uri="{FF2B5EF4-FFF2-40B4-BE49-F238E27FC236}">
                <a16:creationId xmlns:a16="http://schemas.microsoft.com/office/drawing/2014/main" id="{DE64B2F5-3B8C-3D5C-A435-07DC77E50EFA}"/>
              </a:ext>
            </a:extLst>
          </p:cNvPr>
          <p:cNvSpPr txBox="1"/>
          <p:nvPr/>
        </p:nvSpPr>
        <p:spPr>
          <a:xfrm>
            <a:off x="5724685" y="5710920"/>
            <a:ext cx="21095678" cy="830997"/>
          </a:xfrm>
          <a:prstGeom prst="rect">
            <a:avLst/>
          </a:prstGeom>
          <a:noFill/>
        </p:spPr>
        <p:txBody>
          <a:bodyPr wrap="square" rtlCol="0">
            <a:spAutoFit/>
          </a:bodyPr>
          <a:lstStyle/>
          <a:p>
            <a:pPr lvl="0">
              <a:buClr>
                <a:schemeClr val="lt1"/>
              </a:buClr>
              <a:buSzPts val="1600"/>
            </a:pPr>
            <a:r>
              <a:rPr lang="en-US" sz="4800" b="1" dirty="0">
                <a:solidFill>
                  <a:schemeClr val="lt1"/>
                </a:solidFill>
                <a:latin typeface="Arial"/>
                <a:ea typeface="Arial"/>
                <a:cs typeface="Arial"/>
                <a:sym typeface="Arial"/>
              </a:rPr>
              <a:t>CO-AUTHORS: DR. R. SATYA SRI TEJA, DR. V. NAGESWARA RAO</a:t>
            </a:r>
          </a:p>
        </p:txBody>
      </p:sp>
      <p:sp>
        <p:nvSpPr>
          <p:cNvPr id="14" name="Google Shape;180;p1">
            <a:extLst>
              <a:ext uri="{FF2B5EF4-FFF2-40B4-BE49-F238E27FC236}">
                <a16:creationId xmlns:a16="http://schemas.microsoft.com/office/drawing/2014/main" id="{41643913-CD36-48D0-8DCF-31DB39C9A9E0}"/>
              </a:ext>
            </a:extLst>
          </p:cNvPr>
          <p:cNvSpPr/>
          <p:nvPr/>
        </p:nvSpPr>
        <p:spPr>
          <a:xfrm>
            <a:off x="-2" y="6912044"/>
            <a:ext cx="10706101"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a:ea typeface="Arial"/>
                <a:cs typeface="Arial"/>
                <a:sym typeface="Arial"/>
              </a:rPr>
              <a:t>INTRODUCTION</a:t>
            </a:r>
            <a:r>
              <a:rPr lang="en-US" sz="2800" b="1" dirty="0">
                <a:solidFill>
                  <a:schemeClr val="dk1"/>
                </a:solidFill>
                <a:latin typeface="Arial"/>
                <a:ea typeface="Arial"/>
                <a:cs typeface="Arial"/>
                <a:sym typeface="Arial"/>
              </a:rPr>
              <a:t> </a:t>
            </a:r>
            <a:endParaRPr sz="2800" dirty="0">
              <a:solidFill>
                <a:schemeClr val="dk1"/>
              </a:solidFill>
              <a:latin typeface="Arial"/>
              <a:ea typeface="Arial"/>
              <a:cs typeface="Arial"/>
              <a:sym typeface="Arial"/>
            </a:endParaRPr>
          </a:p>
        </p:txBody>
      </p:sp>
      <p:sp>
        <p:nvSpPr>
          <p:cNvPr id="15" name="TextBox 14">
            <a:extLst>
              <a:ext uri="{FF2B5EF4-FFF2-40B4-BE49-F238E27FC236}">
                <a16:creationId xmlns:a16="http://schemas.microsoft.com/office/drawing/2014/main" id="{A89DE6CB-F971-ACB8-2124-D1D2F1834505}"/>
              </a:ext>
            </a:extLst>
          </p:cNvPr>
          <p:cNvSpPr txBox="1"/>
          <p:nvPr/>
        </p:nvSpPr>
        <p:spPr>
          <a:xfrm>
            <a:off x="20652" y="8066114"/>
            <a:ext cx="10685447" cy="10433625"/>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buFontTx/>
              <a:buChar char="•"/>
            </a:pPr>
            <a:r>
              <a:rPr lang="en-US" altLang="en-US" sz="4800" b="1" dirty="0">
                <a:latin typeface="Arial" panose="020B0604020202020204" pitchFamily="34" charset="0"/>
              </a:rPr>
              <a:t>Enchondroma</a:t>
            </a:r>
            <a:r>
              <a:rPr lang="en-US" altLang="en-US" sz="4800" dirty="0">
                <a:latin typeface="Arial" panose="020B0604020202020204" pitchFamily="34" charset="0"/>
              </a:rPr>
              <a:t> is a benign intramedullary cartilaginous tumor, commonly involving long bones such as the </a:t>
            </a:r>
            <a:r>
              <a:rPr lang="en-US" altLang="en-US" sz="4800" b="1" dirty="0">
                <a:latin typeface="Arial" panose="020B0604020202020204" pitchFamily="34" charset="0"/>
              </a:rPr>
              <a:t>proximal humerus</a:t>
            </a:r>
            <a:r>
              <a:rPr lang="en-US" altLang="en-US" sz="4800" dirty="0">
                <a:latin typeface="Arial" panose="020B0604020202020204" pitchFamily="34" charset="0"/>
              </a:rPr>
              <a:t>.</a:t>
            </a:r>
          </a:p>
          <a:p>
            <a:pPr lvl="0" defTabSz="914400" eaLnBrk="0" fontAlgn="base" hangingPunct="0">
              <a:spcBef>
                <a:spcPct val="0"/>
              </a:spcBef>
              <a:spcAft>
                <a:spcPct val="0"/>
              </a:spcAft>
              <a:buFontTx/>
              <a:buChar char="•"/>
            </a:pPr>
            <a:r>
              <a:rPr lang="en-US" altLang="en-US" sz="4800" dirty="0">
                <a:latin typeface="Arial" panose="020B0604020202020204" pitchFamily="34" charset="0"/>
              </a:rPr>
              <a:t>Most lesions are </a:t>
            </a:r>
            <a:r>
              <a:rPr lang="en-US" altLang="en-US" sz="4800" b="1" dirty="0">
                <a:latin typeface="Arial" panose="020B0604020202020204" pitchFamily="34" charset="0"/>
              </a:rPr>
              <a:t>asymptomatic</a:t>
            </a:r>
            <a:r>
              <a:rPr lang="en-US" altLang="en-US" sz="4800" dirty="0">
                <a:latin typeface="Arial" panose="020B0604020202020204" pitchFamily="34" charset="0"/>
              </a:rPr>
              <a:t>, but some present with </a:t>
            </a:r>
            <a:r>
              <a:rPr lang="en-US" altLang="en-US" sz="4800" b="1" dirty="0">
                <a:latin typeface="Arial" panose="020B0604020202020204" pitchFamily="34" charset="0"/>
              </a:rPr>
              <a:t>pain or pathological fracture</a:t>
            </a:r>
            <a:r>
              <a:rPr lang="en-US" altLang="en-US" sz="4800" dirty="0">
                <a:latin typeface="Arial" panose="020B0604020202020204" pitchFamily="34" charset="0"/>
              </a:rPr>
              <a:t>, necessitating surgical intervention.</a:t>
            </a:r>
          </a:p>
          <a:p>
            <a:pPr lvl="0" defTabSz="914400" eaLnBrk="0" fontAlgn="base" hangingPunct="0">
              <a:spcBef>
                <a:spcPct val="0"/>
              </a:spcBef>
              <a:spcAft>
                <a:spcPct val="0"/>
              </a:spcAft>
              <a:buFontTx/>
              <a:buChar char="•"/>
            </a:pPr>
            <a:r>
              <a:rPr lang="en-US" altLang="en-US" sz="4800" b="1" dirty="0">
                <a:latin typeface="Arial" panose="020B0604020202020204" pitchFamily="34" charset="0"/>
              </a:rPr>
              <a:t>Intralesional curettage</a:t>
            </a:r>
            <a:r>
              <a:rPr lang="en-US" altLang="en-US" sz="4800" dirty="0">
                <a:latin typeface="Arial" panose="020B0604020202020204" pitchFamily="34" charset="0"/>
              </a:rPr>
              <a:t> is the standard surgical treatment for symptomatic lesions.</a:t>
            </a:r>
          </a:p>
          <a:p>
            <a:pPr lvl="0" defTabSz="914400" eaLnBrk="0" fontAlgn="base" hangingPunct="0">
              <a:spcBef>
                <a:spcPct val="0"/>
              </a:spcBef>
              <a:spcAft>
                <a:spcPct val="0"/>
              </a:spcAft>
              <a:buFontTx/>
              <a:buChar char="•"/>
            </a:pPr>
            <a:r>
              <a:rPr lang="en-US" altLang="en-US" sz="4800" b="1" dirty="0">
                <a:latin typeface="Arial" panose="020B0604020202020204" pitchFamily="34" charset="0"/>
              </a:rPr>
              <a:t>Autologous bone grafting</a:t>
            </a:r>
            <a:r>
              <a:rPr lang="en-US" altLang="en-US" sz="4800" dirty="0">
                <a:latin typeface="Arial" panose="020B0604020202020204" pitchFamily="34" charset="0"/>
              </a:rPr>
              <a:t> promotes biological healing, while </a:t>
            </a:r>
            <a:r>
              <a:rPr lang="en-US" altLang="en-US" sz="4800" b="1" dirty="0">
                <a:latin typeface="Arial" panose="020B0604020202020204" pitchFamily="34" charset="0"/>
              </a:rPr>
              <a:t>bone cement</a:t>
            </a:r>
            <a:r>
              <a:rPr lang="en-US" altLang="en-US" sz="4800" dirty="0">
                <a:latin typeface="Arial" panose="020B0604020202020204" pitchFamily="34" charset="0"/>
              </a:rPr>
              <a:t> provides immediate structural stability.</a:t>
            </a:r>
          </a:p>
        </p:txBody>
      </p:sp>
      <p:sp>
        <p:nvSpPr>
          <p:cNvPr id="16" name="Google Shape;180;p1">
            <a:extLst>
              <a:ext uri="{FF2B5EF4-FFF2-40B4-BE49-F238E27FC236}">
                <a16:creationId xmlns:a16="http://schemas.microsoft.com/office/drawing/2014/main" id="{220F6E65-60B9-DF6F-A646-D76A8B5C53CF}"/>
              </a:ext>
            </a:extLst>
          </p:cNvPr>
          <p:cNvSpPr/>
          <p:nvPr/>
        </p:nvSpPr>
        <p:spPr>
          <a:xfrm>
            <a:off x="10706099" y="6912044"/>
            <a:ext cx="12077700"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a:ea typeface="Arial"/>
                <a:cs typeface="Arial"/>
                <a:sym typeface="Arial"/>
              </a:rPr>
              <a:t>OPERATIVE FINDINGS</a:t>
            </a:r>
            <a:endParaRPr sz="2800" dirty="0">
              <a:solidFill>
                <a:schemeClr val="dk1"/>
              </a:solidFill>
              <a:latin typeface="Arial"/>
              <a:ea typeface="Arial"/>
              <a:cs typeface="Arial"/>
              <a:sym typeface="Arial"/>
            </a:endParaRPr>
          </a:p>
        </p:txBody>
      </p:sp>
      <p:sp>
        <p:nvSpPr>
          <p:cNvPr id="17" name="TextBox 16">
            <a:extLst>
              <a:ext uri="{FF2B5EF4-FFF2-40B4-BE49-F238E27FC236}">
                <a16:creationId xmlns:a16="http://schemas.microsoft.com/office/drawing/2014/main" id="{0DD3A80D-D47F-D6F8-995C-63F1044C564B}"/>
              </a:ext>
            </a:extLst>
          </p:cNvPr>
          <p:cNvSpPr txBox="1"/>
          <p:nvPr/>
        </p:nvSpPr>
        <p:spPr>
          <a:xfrm>
            <a:off x="10706100" y="8066114"/>
            <a:ext cx="12077699" cy="11603176"/>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buFontTx/>
              <a:buChar char="•"/>
            </a:pPr>
            <a:r>
              <a:rPr lang="en-US" altLang="en-US" sz="4400" dirty="0">
                <a:latin typeface="Arial" panose="020B0604020202020204" pitchFamily="34" charset="0"/>
              </a:rPr>
              <a:t>Procedure performed under </a:t>
            </a:r>
            <a:r>
              <a:rPr lang="en-US" altLang="en-US" sz="4400" b="1" dirty="0">
                <a:latin typeface="Arial" panose="020B0604020202020204" pitchFamily="34" charset="0"/>
              </a:rPr>
              <a:t>general anesthesia</a:t>
            </a:r>
            <a:r>
              <a:rPr lang="en-US" altLang="en-US" sz="4400" dirty="0">
                <a:latin typeface="Arial" panose="020B0604020202020204" pitchFamily="34" charset="0"/>
              </a:rPr>
              <a:t> in </a:t>
            </a:r>
            <a:r>
              <a:rPr lang="en-US" altLang="en-US" sz="4400" b="1" dirty="0">
                <a:latin typeface="Arial" panose="020B0604020202020204" pitchFamily="34" charset="0"/>
              </a:rPr>
              <a:t>beach-chair position</a:t>
            </a:r>
            <a:endParaRPr lang="en-US" altLang="en-US" sz="4400" dirty="0">
              <a:latin typeface="Arial" panose="020B0604020202020204" pitchFamily="34" charset="0"/>
            </a:endParaRPr>
          </a:p>
          <a:p>
            <a:pPr lvl="0" defTabSz="914400" eaLnBrk="0" fontAlgn="base" hangingPunct="0">
              <a:spcBef>
                <a:spcPct val="0"/>
              </a:spcBef>
              <a:spcAft>
                <a:spcPct val="0"/>
              </a:spcAft>
              <a:buFontTx/>
              <a:buChar char="•"/>
            </a:pPr>
            <a:r>
              <a:rPr lang="en-US" altLang="en-US" sz="4400" b="1" dirty="0">
                <a:latin typeface="Arial" panose="020B0604020202020204" pitchFamily="34" charset="0"/>
              </a:rPr>
              <a:t>Deltopectoral approach</a:t>
            </a:r>
            <a:r>
              <a:rPr lang="en-US" altLang="en-US" sz="4400" dirty="0">
                <a:latin typeface="Arial" panose="020B0604020202020204" pitchFamily="34" charset="0"/>
              </a:rPr>
              <a:t> used to expose the left proximal humerus</a:t>
            </a:r>
          </a:p>
          <a:p>
            <a:pPr lvl="0" defTabSz="914400" eaLnBrk="0" fontAlgn="base" hangingPunct="0">
              <a:spcBef>
                <a:spcPct val="0"/>
              </a:spcBef>
              <a:spcAft>
                <a:spcPct val="0"/>
              </a:spcAft>
              <a:buFontTx/>
              <a:buChar char="•"/>
            </a:pPr>
            <a:r>
              <a:rPr lang="en-US" altLang="en-US" sz="4400" b="1" dirty="0">
                <a:latin typeface="Arial" panose="020B0604020202020204" pitchFamily="34" charset="0"/>
              </a:rPr>
              <a:t>Cortical window</a:t>
            </a:r>
            <a:r>
              <a:rPr lang="en-US" altLang="en-US" sz="4400" dirty="0">
                <a:latin typeface="Arial" panose="020B0604020202020204" pitchFamily="34" charset="0"/>
              </a:rPr>
              <a:t> created over the lesion</a:t>
            </a:r>
          </a:p>
          <a:p>
            <a:pPr lvl="0" defTabSz="914400" eaLnBrk="0" fontAlgn="base" hangingPunct="0">
              <a:spcBef>
                <a:spcPct val="0"/>
              </a:spcBef>
              <a:spcAft>
                <a:spcPct val="0"/>
              </a:spcAft>
              <a:buFontTx/>
              <a:buChar char="•"/>
            </a:pPr>
            <a:r>
              <a:rPr lang="en-US" altLang="en-US" sz="4400" b="1" dirty="0">
                <a:latin typeface="Arial" panose="020B0604020202020204" pitchFamily="34" charset="0"/>
              </a:rPr>
              <a:t>Grayish-white cartilaginous tissue</a:t>
            </a:r>
            <a:r>
              <a:rPr lang="en-US" altLang="en-US" sz="4400" dirty="0">
                <a:latin typeface="Arial" panose="020B0604020202020204" pitchFamily="34" charset="0"/>
              </a:rPr>
              <a:t> encountered within the medullary cavity and sent to histopathological examination.</a:t>
            </a:r>
          </a:p>
          <a:p>
            <a:pPr lvl="0" defTabSz="914400" eaLnBrk="0" fontAlgn="base" hangingPunct="0">
              <a:spcBef>
                <a:spcPct val="0"/>
              </a:spcBef>
              <a:spcAft>
                <a:spcPct val="0"/>
              </a:spcAft>
              <a:buFontTx/>
              <a:buChar char="•"/>
            </a:pPr>
            <a:r>
              <a:rPr lang="en-US" altLang="en-US" sz="4400" b="1" dirty="0">
                <a:latin typeface="Arial" panose="020B0604020202020204" pitchFamily="34" charset="0"/>
              </a:rPr>
              <a:t>Thorough intralesional curettage</a:t>
            </a:r>
            <a:r>
              <a:rPr lang="en-US" altLang="en-US" sz="4400" dirty="0">
                <a:latin typeface="Arial" panose="020B0604020202020204" pitchFamily="34" charset="0"/>
              </a:rPr>
              <a:t> performed</a:t>
            </a:r>
          </a:p>
          <a:p>
            <a:pPr lvl="0" defTabSz="914400" eaLnBrk="0" fontAlgn="base" hangingPunct="0">
              <a:spcBef>
                <a:spcPct val="0"/>
              </a:spcBef>
              <a:spcAft>
                <a:spcPct val="0"/>
              </a:spcAft>
              <a:buFontTx/>
              <a:buChar char="•"/>
            </a:pPr>
            <a:r>
              <a:rPr lang="en-US" altLang="en-US" sz="4400" b="1" dirty="0">
                <a:latin typeface="Arial" panose="020B0604020202020204" pitchFamily="34" charset="0"/>
              </a:rPr>
              <a:t>High-speed burring</a:t>
            </a:r>
            <a:r>
              <a:rPr lang="en-US" altLang="en-US" sz="4400" dirty="0">
                <a:latin typeface="Arial" panose="020B0604020202020204" pitchFamily="34" charset="0"/>
              </a:rPr>
              <a:t> of cavity margins done</a:t>
            </a:r>
          </a:p>
          <a:p>
            <a:pPr lvl="0" defTabSz="914400" eaLnBrk="0" fontAlgn="base" hangingPunct="0">
              <a:spcBef>
                <a:spcPct val="0"/>
              </a:spcBef>
              <a:spcAft>
                <a:spcPct val="0"/>
              </a:spcAft>
              <a:buFontTx/>
              <a:buChar char="•"/>
            </a:pPr>
            <a:r>
              <a:rPr lang="en-US" altLang="en-US" sz="4400" dirty="0">
                <a:latin typeface="Arial" panose="020B0604020202020204" pitchFamily="34" charset="0"/>
              </a:rPr>
              <a:t>Defect filled with </a:t>
            </a:r>
            <a:r>
              <a:rPr lang="en-US" altLang="en-US" sz="4400" b="1" dirty="0">
                <a:latin typeface="Arial" panose="020B0604020202020204" pitchFamily="34" charset="0"/>
              </a:rPr>
              <a:t>autologous cancellous bone graft from ASIS</a:t>
            </a:r>
            <a:endParaRPr lang="en-US" altLang="en-US" sz="4400" dirty="0">
              <a:latin typeface="Arial" panose="020B0604020202020204" pitchFamily="34" charset="0"/>
            </a:endParaRPr>
          </a:p>
          <a:p>
            <a:pPr lvl="0" defTabSz="914400" eaLnBrk="0" fontAlgn="base" hangingPunct="0">
              <a:spcBef>
                <a:spcPct val="0"/>
              </a:spcBef>
              <a:spcAft>
                <a:spcPct val="0"/>
              </a:spcAft>
              <a:buFontTx/>
              <a:buChar char="•"/>
            </a:pPr>
            <a:r>
              <a:rPr lang="en-US" altLang="en-US" sz="4400" b="1" dirty="0">
                <a:latin typeface="Arial" panose="020B0604020202020204" pitchFamily="34" charset="0"/>
              </a:rPr>
              <a:t>Bone cement augmentation</a:t>
            </a:r>
            <a:r>
              <a:rPr lang="en-US" altLang="en-US" sz="4400" dirty="0">
                <a:latin typeface="Arial" panose="020B0604020202020204" pitchFamily="34" charset="0"/>
              </a:rPr>
              <a:t> provided structural stability</a:t>
            </a:r>
          </a:p>
          <a:p>
            <a:pPr lvl="0" defTabSz="914400" eaLnBrk="0" fontAlgn="base" hangingPunct="0">
              <a:spcBef>
                <a:spcPct val="0"/>
              </a:spcBef>
              <a:spcAft>
                <a:spcPct val="0"/>
              </a:spcAft>
              <a:buFontTx/>
              <a:buChar char="•"/>
            </a:pPr>
            <a:r>
              <a:rPr lang="en-US" altLang="en-US" sz="4400" b="1" dirty="0">
                <a:latin typeface="Arial" panose="020B0604020202020204" pitchFamily="34" charset="0"/>
              </a:rPr>
              <a:t>Adequate hemostasis</a:t>
            </a:r>
            <a:r>
              <a:rPr lang="en-US" altLang="en-US" sz="4400" dirty="0">
                <a:latin typeface="Arial" panose="020B0604020202020204" pitchFamily="34" charset="0"/>
              </a:rPr>
              <a:t> achieved</a:t>
            </a:r>
          </a:p>
          <a:p>
            <a:pPr lvl="0" defTabSz="914400" eaLnBrk="0" fontAlgn="base" hangingPunct="0">
              <a:spcBef>
                <a:spcPct val="0"/>
              </a:spcBef>
              <a:spcAft>
                <a:spcPct val="0"/>
              </a:spcAft>
              <a:buFontTx/>
              <a:buChar char="•"/>
            </a:pPr>
            <a:r>
              <a:rPr lang="en-US" altLang="en-US" sz="4400" b="1" dirty="0">
                <a:latin typeface="Arial" panose="020B0604020202020204" pitchFamily="34" charset="0"/>
              </a:rPr>
              <a:t>Layered wound closure</a:t>
            </a:r>
            <a:r>
              <a:rPr lang="en-US" altLang="en-US" sz="4400" dirty="0">
                <a:latin typeface="Arial" panose="020B0604020202020204" pitchFamily="34" charset="0"/>
              </a:rPr>
              <a:t> performed without complications</a:t>
            </a:r>
          </a:p>
        </p:txBody>
      </p:sp>
      <p:sp>
        <p:nvSpPr>
          <p:cNvPr id="21" name="Google Shape;180;p1">
            <a:extLst>
              <a:ext uri="{FF2B5EF4-FFF2-40B4-BE49-F238E27FC236}">
                <a16:creationId xmlns:a16="http://schemas.microsoft.com/office/drawing/2014/main" id="{63515AA6-0C46-8EA1-62A3-03D86E5BA634}"/>
              </a:ext>
            </a:extLst>
          </p:cNvPr>
          <p:cNvSpPr/>
          <p:nvPr/>
        </p:nvSpPr>
        <p:spPr>
          <a:xfrm>
            <a:off x="-34095" y="18249455"/>
            <a:ext cx="10703104"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a:ea typeface="Arial"/>
                <a:cs typeface="Arial"/>
                <a:sym typeface="Arial"/>
              </a:rPr>
              <a:t>CASE REPORT</a:t>
            </a:r>
            <a:endParaRPr sz="2800" dirty="0">
              <a:solidFill>
                <a:schemeClr val="dk1"/>
              </a:solidFill>
              <a:latin typeface="Arial"/>
              <a:ea typeface="Arial"/>
              <a:cs typeface="Arial"/>
              <a:sym typeface="Arial"/>
            </a:endParaRPr>
          </a:p>
        </p:txBody>
      </p:sp>
      <p:sp>
        <p:nvSpPr>
          <p:cNvPr id="22" name="TextBox 21">
            <a:extLst>
              <a:ext uri="{FF2B5EF4-FFF2-40B4-BE49-F238E27FC236}">
                <a16:creationId xmlns:a16="http://schemas.microsoft.com/office/drawing/2014/main" id="{D6A93688-5DCA-B66C-5D14-93087E6B1C4F}"/>
              </a:ext>
            </a:extLst>
          </p:cNvPr>
          <p:cNvSpPr txBox="1"/>
          <p:nvPr/>
        </p:nvSpPr>
        <p:spPr>
          <a:xfrm>
            <a:off x="20651" y="19469144"/>
            <a:ext cx="10614010" cy="14126944"/>
          </a:xfrm>
          <a:prstGeom prst="rect">
            <a:avLst/>
          </a:prstGeom>
          <a:noFill/>
          <a:ln>
            <a:solidFill>
              <a:schemeClr val="tx1"/>
            </a:solidFill>
          </a:ln>
        </p:spPr>
        <p:txBody>
          <a:bodyPr wrap="square" rtlCol="0">
            <a:spAutoFit/>
          </a:bodyPr>
          <a:lstStyle/>
          <a:p>
            <a:r>
              <a:rPr lang="en-US" sz="4800" b="1" dirty="0">
                <a:latin typeface="Arial" panose="020B0604020202020204" pitchFamily="34" charset="0"/>
                <a:cs typeface="Arial" panose="020B0604020202020204" pitchFamily="34" charset="0"/>
              </a:rPr>
              <a:t>Case Presentation</a:t>
            </a:r>
          </a:p>
          <a:p>
            <a:r>
              <a:rPr lang="en-GB" sz="4800" dirty="0"/>
              <a:t>A patient presented with complaints of pain in the left shoulder following a trivial trauma, which was gradually associated with swelling and progressive restriction of shoulder movements. The symptoms persisted despite initial conservative management, prompting further evaluation and definitive treatment.</a:t>
            </a:r>
          </a:p>
          <a:p>
            <a:r>
              <a:rPr lang="en-US" sz="4800" b="1" dirty="0">
                <a:latin typeface="Arial" panose="020B0604020202020204" pitchFamily="34" charset="0"/>
                <a:cs typeface="Arial" panose="020B0604020202020204" pitchFamily="34" charset="0"/>
              </a:rPr>
              <a:t>Clinical Examination</a:t>
            </a:r>
          </a:p>
          <a:p>
            <a:r>
              <a:rPr lang="en-GB" sz="4800" dirty="0"/>
              <a:t>Clinical examination revealed localized swelling and tenderness over the left proximal humerus with painful limitation of shoulder movements. There were no skin changes or signs of infection. Distal neurovascular examination of the affected limb was normal.</a:t>
            </a:r>
          </a:p>
          <a:p>
            <a:endParaRPr lang="en-US" sz="4800" dirty="0">
              <a:latin typeface="Arial" panose="020B0604020202020204" pitchFamily="34" charset="0"/>
              <a:cs typeface="Arial" panose="020B0604020202020204" pitchFamily="34" charset="0"/>
            </a:endParaRPr>
          </a:p>
          <a:p>
            <a:endParaRPr lang="en-US" sz="4800" dirty="0">
              <a:latin typeface="Arial" panose="020B0604020202020204" pitchFamily="34" charset="0"/>
              <a:cs typeface="Arial" panose="020B0604020202020204" pitchFamily="34" charset="0"/>
            </a:endParaRPr>
          </a:p>
        </p:txBody>
      </p:sp>
      <p:sp>
        <p:nvSpPr>
          <p:cNvPr id="30" name="Google Shape;180;p1">
            <a:extLst>
              <a:ext uri="{FF2B5EF4-FFF2-40B4-BE49-F238E27FC236}">
                <a16:creationId xmlns:a16="http://schemas.microsoft.com/office/drawing/2014/main" id="{FA064588-F9D0-A7CD-CB56-51D159F9D8C0}"/>
              </a:ext>
            </a:extLst>
          </p:cNvPr>
          <p:cNvSpPr/>
          <p:nvPr/>
        </p:nvSpPr>
        <p:spPr>
          <a:xfrm>
            <a:off x="10693903" y="37146958"/>
            <a:ext cx="5952496" cy="1033322"/>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4400" b="1" dirty="0">
                <a:solidFill>
                  <a:schemeClr val="dk1"/>
                </a:solidFill>
                <a:latin typeface="Arial"/>
                <a:ea typeface="Arial"/>
                <a:cs typeface="Arial"/>
                <a:sym typeface="Arial"/>
              </a:rPr>
              <a:t>POST-OP IMAGING</a:t>
            </a:r>
            <a:endParaRPr sz="4400" dirty="0">
              <a:solidFill>
                <a:schemeClr val="dk1"/>
              </a:solidFill>
              <a:latin typeface="Arial"/>
              <a:ea typeface="Arial"/>
              <a:cs typeface="Arial"/>
              <a:sym typeface="Arial"/>
            </a:endParaRPr>
          </a:p>
        </p:txBody>
      </p:sp>
      <p:sp>
        <p:nvSpPr>
          <p:cNvPr id="52" name="Google Shape;180;p1">
            <a:extLst>
              <a:ext uri="{FF2B5EF4-FFF2-40B4-BE49-F238E27FC236}">
                <a16:creationId xmlns:a16="http://schemas.microsoft.com/office/drawing/2014/main" id="{BB057721-8D09-D904-BCCD-1CBB785E2718}"/>
              </a:ext>
            </a:extLst>
          </p:cNvPr>
          <p:cNvSpPr/>
          <p:nvPr/>
        </p:nvSpPr>
        <p:spPr>
          <a:xfrm>
            <a:off x="22783799" y="6912044"/>
            <a:ext cx="10078853"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a:ea typeface="Arial"/>
                <a:cs typeface="Arial"/>
                <a:sym typeface="Arial"/>
              </a:rPr>
              <a:t>DISCUSSION</a:t>
            </a:r>
            <a:endParaRPr sz="2800" dirty="0">
              <a:solidFill>
                <a:schemeClr val="dk1"/>
              </a:solidFill>
              <a:latin typeface="Arial"/>
              <a:ea typeface="Arial"/>
              <a:cs typeface="Arial"/>
              <a:sym typeface="Arial"/>
            </a:endParaRPr>
          </a:p>
        </p:txBody>
      </p:sp>
      <p:sp>
        <p:nvSpPr>
          <p:cNvPr id="55" name="TextBox 54">
            <a:extLst>
              <a:ext uri="{FF2B5EF4-FFF2-40B4-BE49-F238E27FC236}">
                <a16:creationId xmlns:a16="http://schemas.microsoft.com/office/drawing/2014/main" id="{A84A370F-036E-1144-8504-0A42F9E68F2F}"/>
              </a:ext>
            </a:extLst>
          </p:cNvPr>
          <p:cNvSpPr txBox="1"/>
          <p:nvPr/>
        </p:nvSpPr>
        <p:spPr>
          <a:xfrm>
            <a:off x="22766612" y="8066113"/>
            <a:ext cx="10096041" cy="10479792"/>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pPr>
            <a:r>
              <a:rPr lang="en-US" altLang="en-US" sz="4500" dirty="0">
                <a:latin typeface="Arial" panose="020B0604020202020204" pitchFamily="34" charset="0"/>
              </a:rPr>
              <a:t>Enchondroma of the proximal humerus may become symptomatic following trivial trauma due to structural weakening and fracture risk.</a:t>
            </a:r>
          </a:p>
          <a:p>
            <a:pPr lvl="0" defTabSz="914400" eaLnBrk="0" fontAlgn="base" hangingPunct="0">
              <a:spcBef>
                <a:spcPct val="0"/>
              </a:spcBef>
              <a:spcAft>
                <a:spcPct val="0"/>
              </a:spcAft>
              <a:buFontTx/>
              <a:buChar char="•"/>
            </a:pPr>
            <a:r>
              <a:rPr lang="en-US" altLang="en-US" sz="4500" dirty="0">
                <a:latin typeface="Arial" panose="020B0604020202020204" pitchFamily="34" charset="0"/>
              </a:rPr>
              <a:t>Symptomatic lesions warrant </a:t>
            </a:r>
            <a:r>
              <a:rPr lang="en-US" altLang="en-US" sz="4500" b="1" dirty="0">
                <a:latin typeface="Arial" panose="020B0604020202020204" pitchFamily="34" charset="0"/>
              </a:rPr>
              <a:t>surgical management</a:t>
            </a:r>
            <a:r>
              <a:rPr lang="en-US" altLang="en-US" sz="4500" dirty="0">
                <a:latin typeface="Arial" panose="020B0604020202020204" pitchFamily="34" charset="0"/>
              </a:rPr>
              <a:t>, with intralesional curettage being the treatment of choice.</a:t>
            </a:r>
          </a:p>
          <a:p>
            <a:pPr lvl="0" defTabSz="914400" eaLnBrk="0" fontAlgn="base" hangingPunct="0">
              <a:spcBef>
                <a:spcPct val="0"/>
              </a:spcBef>
              <a:spcAft>
                <a:spcPct val="0"/>
              </a:spcAft>
              <a:buFontTx/>
              <a:buChar char="•"/>
            </a:pPr>
            <a:r>
              <a:rPr lang="en-US" altLang="en-US" sz="4500" b="1" dirty="0">
                <a:latin typeface="Arial" panose="020B0604020202020204" pitchFamily="34" charset="0"/>
              </a:rPr>
              <a:t>High-speed burring</a:t>
            </a:r>
            <a:r>
              <a:rPr lang="en-US" altLang="en-US" sz="4500" dirty="0">
                <a:latin typeface="Arial" panose="020B0604020202020204" pitchFamily="34" charset="0"/>
              </a:rPr>
              <a:t> helps minimize residual tumor and recurrence.</a:t>
            </a:r>
          </a:p>
          <a:p>
            <a:pPr lvl="0" defTabSz="914400" eaLnBrk="0" fontAlgn="base" hangingPunct="0">
              <a:spcBef>
                <a:spcPct val="0"/>
              </a:spcBef>
              <a:spcAft>
                <a:spcPct val="0"/>
              </a:spcAft>
              <a:buFontTx/>
              <a:buChar char="•"/>
            </a:pPr>
            <a:r>
              <a:rPr lang="en-US" altLang="en-US" sz="4500" b="1" dirty="0">
                <a:latin typeface="Arial" panose="020B0604020202020204" pitchFamily="34" charset="0"/>
              </a:rPr>
              <a:t>Autologous bone graft with bone cement</a:t>
            </a:r>
            <a:r>
              <a:rPr lang="en-US" altLang="en-US" sz="4500" dirty="0">
                <a:latin typeface="Arial" panose="020B0604020202020204" pitchFamily="34" charset="0"/>
              </a:rPr>
              <a:t> provides biological healing and immediate stability, enabling early functional recovery.</a:t>
            </a:r>
          </a:p>
          <a:p>
            <a:pPr lvl="0" defTabSz="914400" eaLnBrk="0" fontAlgn="base" hangingPunct="0">
              <a:spcBef>
                <a:spcPct val="0"/>
              </a:spcBef>
              <a:spcAft>
                <a:spcPct val="0"/>
              </a:spcAft>
            </a:pPr>
            <a:endParaRPr lang="en-US" altLang="en-US" sz="4500" dirty="0">
              <a:latin typeface="Arial" panose="020B0604020202020204" pitchFamily="34" charset="0"/>
            </a:endParaRPr>
          </a:p>
        </p:txBody>
      </p:sp>
      <p:sp>
        <p:nvSpPr>
          <p:cNvPr id="59" name="Google Shape;180;p1">
            <a:extLst>
              <a:ext uri="{FF2B5EF4-FFF2-40B4-BE49-F238E27FC236}">
                <a16:creationId xmlns:a16="http://schemas.microsoft.com/office/drawing/2014/main" id="{D9D7F7C4-9715-A5F2-D1B9-F09FCBF2F58E}"/>
              </a:ext>
            </a:extLst>
          </p:cNvPr>
          <p:cNvSpPr/>
          <p:nvPr/>
        </p:nvSpPr>
        <p:spPr>
          <a:xfrm>
            <a:off x="22851974" y="18595529"/>
            <a:ext cx="10096041"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a:ea typeface="Arial"/>
                <a:cs typeface="Arial"/>
                <a:sym typeface="Arial"/>
              </a:rPr>
              <a:t>RESULTS</a:t>
            </a:r>
            <a:endParaRPr lang="en-US" sz="2800" dirty="0">
              <a:solidFill>
                <a:schemeClr val="dk1"/>
              </a:solidFill>
              <a:latin typeface="Arial"/>
              <a:ea typeface="Arial"/>
              <a:cs typeface="Arial"/>
              <a:sym typeface="Arial"/>
            </a:endParaRPr>
          </a:p>
        </p:txBody>
      </p:sp>
      <p:sp>
        <p:nvSpPr>
          <p:cNvPr id="62" name="TextBox 61">
            <a:extLst>
              <a:ext uri="{FF2B5EF4-FFF2-40B4-BE49-F238E27FC236}">
                <a16:creationId xmlns:a16="http://schemas.microsoft.com/office/drawing/2014/main" id="{43D3C752-EB75-17D1-2E1E-1888ACD59125}"/>
              </a:ext>
            </a:extLst>
          </p:cNvPr>
          <p:cNvSpPr txBox="1"/>
          <p:nvPr/>
        </p:nvSpPr>
        <p:spPr>
          <a:xfrm>
            <a:off x="22813928" y="19747285"/>
            <a:ext cx="10048724" cy="6863417"/>
          </a:xfrm>
          <a:prstGeom prst="rect">
            <a:avLst/>
          </a:prstGeom>
          <a:noFill/>
          <a:ln>
            <a:solidFill>
              <a:schemeClr val="tx1"/>
            </a:solidFill>
          </a:ln>
        </p:spPr>
        <p:txBody>
          <a:bodyPr wrap="square" rtlCol="0">
            <a:spAutoFit/>
          </a:bodyPr>
          <a:lstStyle/>
          <a:p>
            <a:r>
              <a:rPr lang="en-GB" sz="4000" dirty="0"/>
              <a:t>The postoperative course was </a:t>
            </a:r>
            <a:r>
              <a:rPr lang="en-GB" sz="4000" b="1" dirty="0"/>
              <a:t>uneventful</a:t>
            </a:r>
            <a:r>
              <a:rPr lang="en-GB" sz="4000" dirty="0"/>
              <a:t>, with no local or donor-site complications.</a:t>
            </a:r>
          </a:p>
          <a:p>
            <a:r>
              <a:rPr lang="en-GB" sz="4000" b="1" dirty="0"/>
              <a:t>Pain and shoulder function improved significantly</a:t>
            </a:r>
            <a:r>
              <a:rPr lang="en-GB" sz="4000" dirty="0"/>
              <a:t> following surgery.</a:t>
            </a:r>
          </a:p>
          <a:p>
            <a:r>
              <a:rPr lang="en-GB" sz="4000" dirty="0"/>
              <a:t>The </a:t>
            </a:r>
            <a:r>
              <a:rPr lang="en-GB" sz="4000" b="1" dirty="0"/>
              <a:t>Constant–Murley score improved from 42 preoperatively to 86 at 3-month follow-up</a:t>
            </a:r>
            <a:r>
              <a:rPr lang="en-GB" sz="4000" dirty="0"/>
              <a:t>, indicating good functional recovery.</a:t>
            </a:r>
          </a:p>
          <a:p>
            <a:r>
              <a:rPr lang="en-GB" sz="4000" b="1" dirty="0"/>
              <a:t>Histopathological examination</a:t>
            </a:r>
            <a:r>
              <a:rPr lang="en-GB" sz="4000" dirty="0"/>
              <a:t> showed lobules of mature hyaline cartilage with chondrocytes in lacunae, confirming </a:t>
            </a:r>
            <a:r>
              <a:rPr lang="en-GB" sz="4000" b="1" dirty="0"/>
              <a:t>enchondroma</a:t>
            </a:r>
            <a:r>
              <a:rPr lang="en-GB" sz="4000" dirty="0"/>
              <a:t>, with no evidence of malignancy.</a:t>
            </a:r>
          </a:p>
        </p:txBody>
      </p:sp>
      <p:sp>
        <p:nvSpPr>
          <p:cNvPr id="64" name="Google Shape;180;p1">
            <a:extLst>
              <a:ext uri="{FF2B5EF4-FFF2-40B4-BE49-F238E27FC236}">
                <a16:creationId xmlns:a16="http://schemas.microsoft.com/office/drawing/2014/main" id="{3DF12F48-1FE4-CF6E-6D39-3F44088355F1}"/>
              </a:ext>
            </a:extLst>
          </p:cNvPr>
          <p:cNvSpPr/>
          <p:nvPr/>
        </p:nvSpPr>
        <p:spPr>
          <a:xfrm>
            <a:off x="22766612" y="26671762"/>
            <a:ext cx="10048723"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a:ea typeface="Arial"/>
                <a:cs typeface="Arial"/>
                <a:sym typeface="Arial"/>
              </a:rPr>
              <a:t>TAKE HOME MESSAGE</a:t>
            </a:r>
            <a:endParaRPr lang="en-US" sz="2800" dirty="0">
              <a:solidFill>
                <a:schemeClr val="dk1"/>
              </a:solidFill>
              <a:latin typeface="Arial"/>
              <a:ea typeface="Arial"/>
              <a:cs typeface="Arial"/>
              <a:sym typeface="Arial"/>
            </a:endParaRPr>
          </a:p>
        </p:txBody>
      </p:sp>
      <p:sp>
        <p:nvSpPr>
          <p:cNvPr id="65" name="TextBox 64">
            <a:extLst>
              <a:ext uri="{FF2B5EF4-FFF2-40B4-BE49-F238E27FC236}">
                <a16:creationId xmlns:a16="http://schemas.microsoft.com/office/drawing/2014/main" id="{452077E3-5657-1998-879E-2A1CE9C742DF}"/>
              </a:ext>
            </a:extLst>
          </p:cNvPr>
          <p:cNvSpPr txBox="1"/>
          <p:nvPr/>
        </p:nvSpPr>
        <p:spPr>
          <a:xfrm>
            <a:off x="22813926" y="27774892"/>
            <a:ext cx="10028072" cy="5509200"/>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buFontTx/>
              <a:buChar char="•"/>
            </a:pPr>
            <a:r>
              <a:rPr lang="en-IN" sz="4400" dirty="0"/>
              <a:t>Intralesional curettage combined with autologous bone grafting and cement augmentation provides a safe, reliable, and effective treatment for symptomatic proximal humeral enchondroma, ensuring structural stability, pain relief, and excellent functional recovery with minimal complications.</a:t>
            </a:r>
            <a:endParaRPr lang="en-US" altLang="en-US" sz="4400" dirty="0">
              <a:latin typeface="Arial" panose="020B0604020202020204" pitchFamily="34" charset="0"/>
            </a:endParaRPr>
          </a:p>
        </p:txBody>
      </p:sp>
      <p:sp>
        <p:nvSpPr>
          <p:cNvPr id="67" name="Google Shape;180;p1">
            <a:extLst>
              <a:ext uri="{FF2B5EF4-FFF2-40B4-BE49-F238E27FC236}">
                <a16:creationId xmlns:a16="http://schemas.microsoft.com/office/drawing/2014/main" id="{01BD7522-5069-F2F5-1A22-7CEEA98BEE33}"/>
              </a:ext>
            </a:extLst>
          </p:cNvPr>
          <p:cNvSpPr/>
          <p:nvPr/>
        </p:nvSpPr>
        <p:spPr>
          <a:xfrm>
            <a:off x="-67969" y="32857424"/>
            <a:ext cx="10614010" cy="1803843"/>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4400" b="1" dirty="0">
                <a:solidFill>
                  <a:schemeClr val="dk1"/>
                </a:solidFill>
                <a:latin typeface="Arial"/>
                <a:ea typeface="Arial"/>
                <a:cs typeface="Arial"/>
                <a:sym typeface="Arial"/>
              </a:rPr>
              <a:t>PRE-OP IMAGING</a:t>
            </a:r>
            <a:endParaRPr sz="4400" dirty="0">
              <a:solidFill>
                <a:schemeClr val="dk1"/>
              </a:solidFill>
              <a:latin typeface="Arial"/>
              <a:ea typeface="Arial"/>
              <a:cs typeface="Arial"/>
              <a:sym typeface="Arial"/>
            </a:endParaRPr>
          </a:p>
        </p:txBody>
      </p:sp>
      <p:sp>
        <p:nvSpPr>
          <p:cNvPr id="68" name="Google Shape;180;p1">
            <a:extLst>
              <a:ext uri="{FF2B5EF4-FFF2-40B4-BE49-F238E27FC236}">
                <a16:creationId xmlns:a16="http://schemas.microsoft.com/office/drawing/2014/main" id="{42C15216-5ACA-B582-4DF8-6AD9784355DF}"/>
              </a:ext>
            </a:extLst>
          </p:cNvPr>
          <p:cNvSpPr/>
          <p:nvPr/>
        </p:nvSpPr>
        <p:spPr>
          <a:xfrm>
            <a:off x="16733913" y="37224925"/>
            <a:ext cx="5992499" cy="1362705"/>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4400" b="1" dirty="0">
                <a:solidFill>
                  <a:schemeClr val="dk1"/>
                </a:solidFill>
                <a:latin typeface="Arial"/>
                <a:ea typeface="Arial"/>
                <a:cs typeface="Arial"/>
                <a:sym typeface="Arial"/>
              </a:rPr>
              <a:t>REFERENCES</a:t>
            </a:r>
            <a:endParaRPr sz="4400" dirty="0">
              <a:solidFill>
                <a:schemeClr val="dk1"/>
              </a:solidFill>
              <a:latin typeface="Arial"/>
              <a:ea typeface="Arial"/>
              <a:cs typeface="Arial"/>
              <a:sym typeface="Arial"/>
            </a:endParaRPr>
          </a:p>
        </p:txBody>
      </p:sp>
      <p:sp>
        <p:nvSpPr>
          <p:cNvPr id="69" name="TextBox 68">
            <a:extLst>
              <a:ext uri="{FF2B5EF4-FFF2-40B4-BE49-F238E27FC236}">
                <a16:creationId xmlns:a16="http://schemas.microsoft.com/office/drawing/2014/main" id="{55D6AA1B-528A-3564-77E7-7F60598B893F}"/>
              </a:ext>
            </a:extLst>
          </p:cNvPr>
          <p:cNvSpPr txBox="1"/>
          <p:nvPr/>
        </p:nvSpPr>
        <p:spPr>
          <a:xfrm>
            <a:off x="16733914" y="38702225"/>
            <a:ext cx="5607078" cy="5155257"/>
          </a:xfrm>
          <a:prstGeom prst="rect">
            <a:avLst/>
          </a:prstGeom>
          <a:noFill/>
          <a:ln>
            <a:solidFill>
              <a:schemeClr val="bg1"/>
            </a:solidFill>
          </a:ln>
        </p:spPr>
        <p:txBody>
          <a:bodyPr wrap="square" rtlCol="0">
            <a:spAutoFit/>
          </a:bodyPr>
          <a:lstStyle/>
          <a:p>
            <a:pPr lvl="0" defTabSz="914400" eaLnBrk="0" fontAlgn="base" hangingPunct="0">
              <a:spcBef>
                <a:spcPct val="0"/>
              </a:spcBef>
              <a:spcAft>
                <a:spcPct val="0"/>
              </a:spcAft>
              <a:buFontTx/>
              <a:buChar char="•"/>
            </a:pPr>
            <a:r>
              <a:rPr lang="en-US" altLang="en-US" sz="2350" dirty="0">
                <a:latin typeface="Arial" panose="020B0604020202020204" pitchFamily="34" charset="0"/>
              </a:rPr>
              <a:t>Omlor GW, </a:t>
            </a:r>
            <a:r>
              <a:rPr lang="en-US" altLang="en-US" sz="2350" dirty="0" err="1">
                <a:latin typeface="Arial" panose="020B0604020202020204" pitchFamily="34" charset="0"/>
              </a:rPr>
              <a:t>Lohnherr</a:t>
            </a:r>
            <a:r>
              <a:rPr lang="en-US" altLang="en-US" sz="2350" dirty="0">
                <a:latin typeface="Arial" panose="020B0604020202020204" pitchFamily="34" charset="0"/>
              </a:rPr>
              <a:t> V, Lange J, Gantz S, Merle C, </a:t>
            </a:r>
            <a:r>
              <a:rPr lang="en-US" altLang="en-US" sz="2350" dirty="0" err="1">
                <a:latin typeface="Arial" panose="020B0604020202020204" pitchFamily="34" charset="0"/>
              </a:rPr>
              <a:t>Fellenberg</a:t>
            </a:r>
            <a:r>
              <a:rPr lang="en-US" altLang="en-US" sz="2350" dirty="0">
                <a:latin typeface="Arial" panose="020B0604020202020204" pitchFamily="34" charset="0"/>
              </a:rPr>
              <a:t> J, </a:t>
            </a:r>
            <a:r>
              <a:rPr lang="en-US" altLang="en-US" sz="2350" dirty="0" err="1">
                <a:latin typeface="Arial" panose="020B0604020202020204" pitchFamily="34" charset="0"/>
              </a:rPr>
              <a:t>Raiss</a:t>
            </a:r>
            <a:r>
              <a:rPr lang="en-US" altLang="en-US" sz="2350" dirty="0">
                <a:latin typeface="Arial" panose="020B0604020202020204" pitchFamily="34" charset="0"/>
              </a:rPr>
              <a:t> P, Lehner B. Intralesional resection and bone cement filling for enchondromas and atypical cartilaginous tumors of the proximal humerus: retrospective analysis of 42 cases with long‑term follow‑up. </a:t>
            </a:r>
            <a:r>
              <a:rPr lang="en-US" altLang="en-US" sz="2350" i="1" dirty="0">
                <a:latin typeface="Arial" panose="020B0604020202020204" pitchFamily="34" charset="0"/>
              </a:rPr>
              <a:t>World J Surg Oncol</a:t>
            </a:r>
            <a:r>
              <a:rPr lang="en-US" altLang="en-US" sz="2350" dirty="0">
                <a:latin typeface="Arial" panose="020B0604020202020204" pitchFamily="34" charset="0"/>
              </a:rPr>
              <a:t>. 2018;16:139. </a:t>
            </a:r>
          </a:p>
          <a:p>
            <a:pPr lvl="0" defTabSz="914400" eaLnBrk="0" fontAlgn="base" hangingPunct="0">
              <a:spcBef>
                <a:spcPct val="0"/>
              </a:spcBef>
              <a:spcAft>
                <a:spcPct val="0"/>
              </a:spcAft>
              <a:buFontTx/>
              <a:buChar char="•"/>
            </a:pPr>
            <a:r>
              <a:rPr lang="en-US" altLang="en-US" sz="2350" dirty="0">
                <a:latin typeface="Arial" panose="020B0604020202020204" pitchFamily="34" charset="0"/>
              </a:rPr>
              <a:t>Hakim DN, Pelly T, </a:t>
            </a:r>
            <a:r>
              <a:rPr lang="en-US" altLang="en-US" sz="2350" dirty="0" err="1">
                <a:latin typeface="Arial" panose="020B0604020202020204" pitchFamily="34" charset="0"/>
              </a:rPr>
              <a:t>Kulendran</a:t>
            </a:r>
            <a:r>
              <a:rPr lang="en-US" altLang="en-US" sz="2350" dirty="0">
                <a:latin typeface="Arial" panose="020B0604020202020204" pitchFamily="34" charset="0"/>
              </a:rPr>
              <a:t> M, Caris JA. Benign bone tumors: review of enchondroma diagnosis and management including curettage and grafting techniques. </a:t>
            </a:r>
            <a:r>
              <a:rPr lang="en-US" altLang="en-US" sz="2350" i="1" dirty="0">
                <a:latin typeface="Arial" panose="020B0604020202020204" pitchFamily="34" charset="0"/>
              </a:rPr>
              <a:t>J Bone Oncol</a:t>
            </a:r>
            <a:r>
              <a:rPr lang="en-US" altLang="en-US" sz="2350" dirty="0">
                <a:latin typeface="Arial" panose="020B0604020202020204" pitchFamily="34" charset="0"/>
              </a:rPr>
              <a:t>. 2015;4:37–41.</a:t>
            </a:r>
          </a:p>
        </p:txBody>
      </p:sp>
      <p:sp>
        <p:nvSpPr>
          <p:cNvPr id="72" name="Google Shape;180;p1">
            <a:extLst>
              <a:ext uri="{FF2B5EF4-FFF2-40B4-BE49-F238E27FC236}">
                <a16:creationId xmlns:a16="http://schemas.microsoft.com/office/drawing/2014/main" id="{BC8D1AB3-3AE5-57AE-8A05-348A396A54C7}"/>
              </a:ext>
            </a:extLst>
          </p:cNvPr>
          <p:cNvSpPr/>
          <p:nvPr/>
        </p:nvSpPr>
        <p:spPr>
          <a:xfrm>
            <a:off x="22793275" y="33353312"/>
            <a:ext cx="10048723"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Arial"/>
                <a:ea typeface="Arial"/>
                <a:cs typeface="Arial"/>
                <a:sym typeface="Arial"/>
              </a:rPr>
              <a:t>CONCLUSION</a:t>
            </a:r>
            <a:endParaRPr lang="en-US" sz="2800" dirty="0">
              <a:solidFill>
                <a:schemeClr val="dk1"/>
              </a:solidFill>
              <a:latin typeface="Arial"/>
              <a:ea typeface="Arial"/>
              <a:cs typeface="Arial"/>
              <a:sym typeface="Arial"/>
            </a:endParaRPr>
          </a:p>
        </p:txBody>
      </p:sp>
      <p:sp>
        <p:nvSpPr>
          <p:cNvPr id="73" name="TextBox 72">
            <a:extLst>
              <a:ext uri="{FF2B5EF4-FFF2-40B4-BE49-F238E27FC236}">
                <a16:creationId xmlns:a16="http://schemas.microsoft.com/office/drawing/2014/main" id="{C80FA5E0-95EB-CC62-4CD4-2CDDAB0AB22E}"/>
              </a:ext>
            </a:extLst>
          </p:cNvPr>
          <p:cNvSpPr txBox="1"/>
          <p:nvPr/>
        </p:nvSpPr>
        <p:spPr>
          <a:xfrm>
            <a:off x="22813926" y="34525662"/>
            <a:ext cx="10028072" cy="6186309"/>
          </a:xfrm>
          <a:prstGeom prst="rect">
            <a:avLst/>
          </a:prstGeom>
          <a:noFill/>
          <a:ln>
            <a:solidFill>
              <a:schemeClr val="tx1"/>
            </a:solidFill>
          </a:ln>
        </p:spPr>
        <p:txBody>
          <a:bodyPr wrap="square" rtlCol="0">
            <a:spAutoFit/>
          </a:bodyPr>
          <a:lstStyle/>
          <a:p>
            <a:r>
              <a:rPr lang="en-GB" sz="3600" dirty="0"/>
              <a:t>Symptomatic proximal humeral enchondromas can cause pain, swelling, and functional limitation.</a:t>
            </a:r>
          </a:p>
          <a:p>
            <a:r>
              <a:rPr lang="en-GB" sz="3600" b="1" dirty="0"/>
              <a:t>Intralesional curettage</a:t>
            </a:r>
            <a:r>
              <a:rPr lang="en-GB" sz="3600" dirty="0"/>
              <a:t> effectively removes the </a:t>
            </a:r>
            <a:r>
              <a:rPr lang="en-GB" sz="3600" dirty="0" err="1"/>
              <a:t>tumor</a:t>
            </a:r>
            <a:r>
              <a:rPr lang="en-GB" sz="3600" dirty="0"/>
              <a:t> while preserving bone.</a:t>
            </a:r>
          </a:p>
          <a:p>
            <a:r>
              <a:rPr lang="en-GB" sz="3600" b="1" dirty="0"/>
              <a:t>Autologous bone grafting with cement augmentation</a:t>
            </a:r>
            <a:r>
              <a:rPr lang="en-GB" sz="3600" dirty="0"/>
              <a:t> restores structural integrity and allows early mobilization.</a:t>
            </a:r>
          </a:p>
          <a:p>
            <a:r>
              <a:rPr lang="en-GB" sz="3600" dirty="0"/>
              <a:t>This approach results in </a:t>
            </a:r>
            <a:r>
              <a:rPr lang="en-GB" sz="3600" b="1" dirty="0"/>
              <a:t>excellent functional recovery</a:t>
            </a:r>
            <a:r>
              <a:rPr lang="en-GB" sz="3600" dirty="0"/>
              <a:t> with minimal complications.</a:t>
            </a:r>
          </a:p>
          <a:p>
            <a:r>
              <a:rPr lang="en-GB" sz="3600" dirty="0"/>
              <a:t>Surgical management ensures </a:t>
            </a:r>
            <a:r>
              <a:rPr lang="en-GB" sz="3600" b="1" dirty="0"/>
              <a:t>durable outcomes and low recurrence risk</a:t>
            </a:r>
            <a:r>
              <a:rPr lang="en-GB" sz="3600" dirty="0"/>
              <a:t>.</a:t>
            </a:r>
          </a:p>
        </p:txBody>
      </p:sp>
      <p:sp>
        <p:nvSpPr>
          <p:cNvPr id="74" name="Google Shape;180;p1">
            <a:extLst>
              <a:ext uri="{FF2B5EF4-FFF2-40B4-BE49-F238E27FC236}">
                <a16:creationId xmlns:a16="http://schemas.microsoft.com/office/drawing/2014/main" id="{2CB630B8-0F84-4370-A147-A7FF077118AA}"/>
              </a:ext>
            </a:extLst>
          </p:cNvPr>
          <p:cNvSpPr/>
          <p:nvPr/>
        </p:nvSpPr>
        <p:spPr>
          <a:xfrm>
            <a:off x="22913337" y="40638337"/>
            <a:ext cx="10048723" cy="742024"/>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4800" b="1" dirty="0">
                <a:solidFill>
                  <a:schemeClr val="dk1"/>
                </a:solidFill>
                <a:latin typeface="Arial"/>
                <a:ea typeface="Arial"/>
                <a:cs typeface="Arial"/>
                <a:sym typeface="Arial"/>
              </a:rPr>
              <a:t>ACKNOWLEDGEMENT</a:t>
            </a:r>
            <a:endParaRPr lang="en-US" sz="4800" dirty="0">
              <a:solidFill>
                <a:schemeClr val="dk1"/>
              </a:solidFill>
              <a:latin typeface="Arial"/>
              <a:ea typeface="Arial"/>
              <a:cs typeface="Arial"/>
              <a:sym typeface="Arial"/>
            </a:endParaRPr>
          </a:p>
        </p:txBody>
      </p:sp>
      <p:sp>
        <p:nvSpPr>
          <p:cNvPr id="76" name="TextBox 75">
            <a:extLst>
              <a:ext uri="{FF2B5EF4-FFF2-40B4-BE49-F238E27FC236}">
                <a16:creationId xmlns:a16="http://schemas.microsoft.com/office/drawing/2014/main" id="{0CBE702D-3146-651F-E7B3-FED3190404FE}"/>
              </a:ext>
            </a:extLst>
          </p:cNvPr>
          <p:cNvSpPr txBox="1"/>
          <p:nvPr/>
        </p:nvSpPr>
        <p:spPr>
          <a:xfrm>
            <a:off x="22828471" y="41491696"/>
            <a:ext cx="9972322" cy="2554545"/>
          </a:xfrm>
          <a:prstGeom prst="rect">
            <a:avLst/>
          </a:prstGeom>
          <a:noFill/>
          <a:ln>
            <a:solidFill>
              <a:schemeClr val="tx1"/>
            </a:solidFill>
          </a:ln>
        </p:spPr>
        <p:txBody>
          <a:bodyPr wrap="square" rtlCol="0">
            <a:spAutoFit/>
          </a:bodyPr>
          <a:lstStyle/>
          <a:p>
            <a:r>
              <a:rPr lang="en-GB" sz="3200" dirty="0"/>
              <a:t>I sincerely thank </a:t>
            </a:r>
            <a:r>
              <a:rPr lang="en-GB" sz="3200" b="1" dirty="0" err="1"/>
              <a:t>Dr.</a:t>
            </a:r>
            <a:r>
              <a:rPr lang="en-GB" sz="3200" b="1" dirty="0"/>
              <a:t> V. Nageswara Rao</a:t>
            </a:r>
            <a:r>
              <a:rPr lang="en-GB" sz="3200" dirty="0"/>
              <a:t>, Head of the Department of Orthopaedics and Dr. R. Satya Sri </a:t>
            </a:r>
            <a:r>
              <a:rPr lang="en-GB" sz="3200" dirty="0" err="1"/>
              <a:t>Teja</a:t>
            </a:r>
            <a:r>
              <a:rPr lang="en-GB" sz="3200" dirty="0"/>
              <a:t>, Associate Professor along with the faculty of Orthopaedics and the Department of Radiology, GSL Medical College &amp; General Hospital, for their guidance and support.</a:t>
            </a:r>
            <a:endParaRPr lang="en-IN" sz="3200" dirty="0">
              <a:latin typeface="Arial" panose="020B0604020202020204" pitchFamily="34" charset="0"/>
              <a:cs typeface="Arial" panose="020B0604020202020204" pitchFamily="34" charset="0"/>
            </a:endParaRPr>
          </a:p>
        </p:txBody>
      </p:sp>
      <p:pic>
        <p:nvPicPr>
          <p:cNvPr id="28" name="Picture 27" descr="A close-up of a mri&#10;&#10;AI-generated content may be incorrect.">
            <a:extLst>
              <a:ext uri="{FF2B5EF4-FFF2-40B4-BE49-F238E27FC236}">
                <a16:creationId xmlns:a16="http://schemas.microsoft.com/office/drawing/2014/main" id="{BC80479A-683E-7C85-787C-4BEF02E4F38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7607" y="39853668"/>
            <a:ext cx="5607078" cy="4037531"/>
          </a:xfrm>
          <a:prstGeom prst="rect">
            <a:avLst/>
          </a:prstGeom>
        </p:spPr>
      </p:pic>
      <p:pic>
        <p:nvPicPr>
          <p:cNvPr id="31" name="Picture 30" descr="A close up of a blue and white image&#10;&#10;AI-generated content may be incorrect.">
            <a:extLst>
              <a:ext uri="{FF2B5EF4-FFF2-40B4-BE49-F238E27FC236}">
                <a16:creationId xmlns:a16="http://schemas.microsoft.com/office/drawing/2014/main" id="{49CA51D3-F752-BD33-40BD-2B29148FC8F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605671" y="39760539"/>
            <a:ext cx="5100428" cy="4130661"/>
          </a:xfrm>
          <a:prstGeom prst="rect">
            <a:avLst/>
          </a:prstGeom>
        </p:spPr>
      </p:pic>
      <p:pic>
        <p:nvPicPr>
          <p:cNvPr id="34" name="Picture 33" descr="X-ray of a person's shoulder&#10;&#10;AI-generated content may be incorrect.">
            <a:extLst>
              <a:ext uri="{FF2B5EF4-FFF2-40B4-BE49-F238E27FC236}">
                <a16:creationId xmlns:a16="http://schemas.microsoft.com/office/drawing/2014/main" id="{0BB383D5-1EC2-9E14-4088-E11BD852D062}"/>
              </a:ext>
            </a:extLst>
          </p:cNvPr>
          <p:cNvPicPr>
            <a:picLocks noChangeAspect="1"/>
          </p:cNvPicPr>
          <p:nvPr/>
        </p:nvPicPr>
        <p:blipFill>
          <a:blip r:embed="rId9">
            <a:extLst>
              <a:ext uri="{28A0092B-C50C-407E-A947-70E740481C1C}">
                <a14:useLocalDpi xmlns:a14="http://schemas.microsoft.com/office/drawing/2010/main" val="0"/>
              </a:ext>
            </a:extLst>
          </a:blip>
          <a:srcRect l="9119" b="30865"/>
          <a:stretch>
            <a:fillRect/>
          </a:stretch>
        </p:blipFill>
        <p:spPr>
          <a:xfrm>
            <a:off x="117608" y="34724690"/>
            <a:ext cx="10475718" cy="5128979"/>
          </a:xfrm>
          <a:prstGeom prst="rect">
            <a:avLst/>
          </a:prstGeom>
        </p:spPr>
      </p:pic>
      <p:pic>
        <p:nvPicPr>
          <p:cNvPr id="38" name="Picture 37" descr="A x-ray of a bird&#10;&#10;AI-generated content may be incorrect.">
            <a:extLst>
              <a:ext uri="{FF2B5EF4-FFF2-40B4-BE49-F238E27FC236}">
                <a16:creationId xmlns:a16="http://schemas.microsoft.com/office/drawing/2014/main" id="{F4601E4F-1F05-B916-4165-5941BB1E3867}"/>
              </a:ext>
            </a:extLst>
          </p:cNvPr>
          <p:cNvPicPr>
            <a:picLocks noChangeAspect="1"/>
          </p:cNvPicPr>
          <p:nvPr/>
        </p:nvPicPr>
        <p:blipFill>
          <a:blip r:embed="rId10">
            <a:extLst>
              <a:ext uri="{28A0092B-C50C-407E-A947-70E740481C1C}">
                <a14:useLocalDpi xmlns:a14="http://schemas.microsoft.com/office/drawing/2010/main" val="0"/>
              </a:ext>
            </a:extLst>
          </a:blip>
          <a:srcRect l="4544" t="15219" r="10688" b="35680"/>
          <a:stretch>
            <a:fillRect/>
          </a:stretch>
        </p:blipFill>
        <p:spPr>
          <a:xfrm>
            <a:off x="10764403" y="38253935"/>
            <a:ext cx="5912126" cy="5603547"/>
          </a:xfrm>
          <a:prstGeom prst="rect">
            <a:avLst/>
          </a:prstGeom>
        </p:spPr>
      </p:pic>
      <p:pic>
        <p:nvPicPr>
          <p:cNvPr id="57" name="Picture 56" descr="A close up of a surgery&#10;&#10;AI-generated content may be incorrect.">
            <a:extLst>
              <a:ext uri="{FF2B5EF4-FFF2-40B4-BE49-F238E27FC236}">
                <a16:creationId xmlns:a16="http://schemas.microsoft.com/office/drawing/2014/main" id="{A7B55F0C-6CB0-20FD-1C3D-8AF97E3801D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764403" y="19570970"/>
            <a:ext cx="5991086" cy="6863417"/>
          </a:xfrm>
          <a:prstGeom prst="rect">
            <a:avLst/>
          </a:prstGeom>
        </p:spPr>
      </p:pic>
      <p:pic>
        <p:nvPicPr>
          <p:cNvPr id="63" name="Picture 62" descr="A gloved hand holding a bowl of pink substance&#10;&#10;AI-generated content may be incorrect.">
            <a:extLst>
              <a:ext uri="{FF2B5EF4-FFF2-40B4-BE49-F238E27FC236}">
                <a16:creationId xmlns:a16="http://schemas.microsoft.com/office/drawing/2014/main" id="{1CCB2D83-EE7E-61BD-4191-2AEBDAD9DD9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6960189" y="26671762"/>
            <a:ext cx="5779759" cy="5094197"/>
          </a:xfrm>
          <a:prstGeom prst="rect">
            <a:avLst/>
          </a:prstGeom>
        </p:spPr>
      </p:pic>
      <p:pic>
        <p:nvPicPr>
          <p:cNvPr id="70" name="Picture 69" descr="A bowl of red food&#10;&#10;AI-generated content may be incorrect.">
            <a:extLst>
              <a:ext uri="{FF2B5EF4-FFF2-40B4-BE49-F238E27FC236}">
                <a16:creationId xmlns:a16="http://schemas.microsoft.com/office/drawing/2014/main" id="{E56C643D-E0E2-0B24-39EE-B091946B686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764403" y="26610702"/>
            <a:ext cx="6007655" cy="5155257"/>
          </a:xfrm>
          <a:prstGeom prst="rect">
            <a:avLst/>
          </a:prstGeom>
        </p:spPr>
      </p:pic>
      <p:pic>
        <p:nvPicPr>
          <p:cNvPr id="79" name="Picture 78" descr="A person's chest with surgery tools&#10;&#10;AI-generated content may be incorrect.">
            <a:extLst>
              <a:ext uri="{FF2B5EF4-FFF2-40B4-BE49-F238E27FC236}">
                <a16:creationId xmlns:a16="http://schemas.microsoft.com/office/drawing/2014/main" id="{EA9AB3D6-5A70-28E5-875E-1AE530DF10B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692046" y="31765958"/>
            <a:ext cx="12026352" cy="5266405"/>
          </a:xfrm>
          <a:prstGeom prst="rect">
            <a:avLst/>
          </a:prstGeom>
        </p:spPr>
      </p:pic>
      <p:pic>
        <p:nvPicPr>
          <p:cNvPr id="81" name="Picture 80" descr="A person with surgical instrument&#10;&#10;AI-generated content may be incorrect.">
            <a:extLst>
              <a:ext uri="{FF2B5EF4-FFF2-40B4-BE49-F238E27FC236}">
                <a16:creationId xmlns:a16="http://schemas.microsoft.com/office/drawing/2014/main" id="{0FF08532-A44B-44C8-5DC3-863C7EB159D8}"/>
              </a:ext>
            </a:extLst>
          </p:cNvPr>
          <p:cNvPicPr>
            <a:picLocks noChangeAspect="1"/>
          </p:cNvPicPr>
          <p:nvPr/>
        </p:nvPicPr>
        <p:blipFill>
          <a:blip r:embed="rId15">
            <a:extLst>
              <a:ext uri="{28A0092B-C50C-407E-A947-70E740481C1C}">
                <a14:useLocalDpi xmlns:a14="http://schemas.microsoft.com/office/drawing/2010/main" val="0"/>
              </a:ext>
            </a:extLst>
          </a:blip>
          <a:srcRect r="7003" b="39787"/>
          <a:stretch>
            <a:fillRect/>
          </a:stretch>
        </p:blipFill>
        <p:spPr>
          <a:xfrm>
            <a:off x="16885232" y="19570969"/>
            <a:ext cx="5908044" cy="7004511"/>
          </a:xfrm>
          <a:prstGeom prst="rect">
            <a:avLst/>
          </a:prstGeom>
        </p:spPr>
      </p:pic>
    </p:spTree>
    <p:extLst>
      <p:ext uri="{BB962C8B-B14F-4D97-AF65-F5344CB8AC3E}">
        <p14:creationId xmlns:p14="http://schemas.microsoft.com/office/powerpoint/2010/main" val="116169069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757</TotalTime>
  <Words>647</Words>
  <Application>Microsoft Office PowerPoint</Application>
  <PresentationFormat>Custom</PresentationFormat>
  <Paragraphs>49</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venkata ramana</dc:creator>
  <cp:lastModifiedBy>afeefa batool</cp:lastModifiedBy>
  <cp:revision>6</cp:revision>
  <dcterms:created xsi:type="dcterms:W3CDTF">2026-01-22T16:12:08Z</dcterms:created>
  <dcterms:modified xsi:type="dcterms:W3CDTF">2026-01-31T06:40:56Z</dcterms:modified>
</cp:coreProperties>
</file>