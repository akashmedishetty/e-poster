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5"/>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85319" y="434232"/>
            <a:ext cx="1043154" cy="1043154"/>
          </a:xfrm>
          <a:prstGeom prst="rect">
            <a:avLst/>
          </a:prstGeom>
        </p:spPr>
      </p:pic>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8996" y="320875"/>
            <a:ext cx="884047" cy="884047"/>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3278" y="589178"/>
            <a:ext cx="785940" cy="785940"/>
          </a:xfrm>
          <a:prstGeom prst="rect">
            <a:avLst/>
          </a:prstGeom>
        </p:spPr>
      </p:pic>
      <p:sp>
        <p:nvSpPr>
          <p:cNvPr id="18" name="TextBox 17"/>
          <p:cNvSpPr txBox="1"/>
          <p:nvPr/>
        </p:nvSpPr>
        <p:spPr>
          <a:xfrm>
            <a:off x="1251585" y="180975"/>
            <a:ext cx="5998210" cy="277495"/>
          </a:xfrm>
          <a:prstGeom prst="rect">
            <a:avLst/>
          </a:prstGeom>
          <a:noFill/>
        </p:spPr>
        <p:txBody>
          <a:bodyPr wrap="square" rtlCol="0">
            <a:no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p:nvSpPr>
        <p:spPr>
          <a:xfrm>
            <a:off x="1251843" y="730732"/>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p:nvSpPr>
        <p:spPr>
          <a:xfrm>
            <a:off x="1251585" y="956945"/>
            <a:ext cx="7113905" cy="306070"/>
          </a:xfrm>
          <a:prstGeom prst="rect">
            <a:avLst/>
          </a:prstGeom>
          <a:noFill/>
        </p:spPr>
        <p:txBody>
          <a:bodyPr wrap="square" rtlCol="0">
            <a:no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4" name="Freeform 13"/>
          <p:cNvSpPr/>
          <p:nvPr/>
        </p:nvSpPr>
        <p:spPr>
          <a:xfrm>
            <a:off x="-148481" y="4346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4"/>
            <a:stretch>
              <a:fillRect t="-9937" r="-4895" b="-10857"/>
            </a:stretch>
          </a:blipFill>
        </p:spPr>
        <p:txBody>
          <a:bodyPr/>
          <a:lstStyle/>
          <a:p>
            <a:endParaRPr lang="en-US"/>
          </a:p>
        </p:txBody>
      </p:sp>
      <p:sp>
        <p:nvSpPr>
          <p:cNvPr id="5" name="Rectangle 4"/>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endParaRPr lang="en-US" b="1" dirty="0">
              <a:solidFill>
                <a:schemeClr val="tx1"/>
              </a:solidFill>
            </a:endParaRPr>
          </a:p>
        </p:txBody>
      </p:sp>
      <p:sp>
        <p:nvSpPr>
          <p:cNvPr id="11" name="Rectangle 10"/>
          <p:cNvSpPr/>
          <p:nvPr/>
        </p:nvSpPr>
        <p:spPr>
          <a:xfrm>
            <a:off x="3137535" y="1280160"/>
            <a:ext cx="3185795" cy="537210"/>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GB" b="1" dirty="0">
                <a:solidFill>
                  <a:schemeClr val="tx1">
                    <a:lumMod val="95000"/>
                    <a:lumOff val="5000"/>
                  </a:schemeClr>
                </a:solidFill>
              </a:rPr>
              <a:t>MATERIALS AND METHODS</a:t>
            </a:r>
            <a:endParaRPr lang="en-US" altLang="en-GB" b="1" dirty="0">
              <a:solidFill>
                <a:schemeClr val="tx1">
                  <a:lumMod val="95000"/>
                  <a:lumOff val="5000"/>
                </a:schemeClr>
              </a:solidFill>
            </a:endParaRPr>
          </a:p>
        </p:txBody>
      </p:sp>
      <p:sp>
        <p:nvSpPr>
          <p:cNvPr id="12" name="Rectangle 11"/>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GB" b="1" dirty="0">
                <a:solidFill>
                  <a:schemeClr val="tx1">
                    <a:lumMod val="95000"/>
                    <a:lumOff val="5000"/>
                  </a:schemeClr>
                </a:solidFill>
              </a:rPr>
              <a:t>DISCUSSION</a:t>
            </a:r>
            <a:endParaRPr lang="en-US" altLang="en-GB" b="1" dirty="0">
              <a:solidFill>
                <a:schemeClr val="tx1">
                  <a:lumMod val="95000"/>
                  <a:lumOff val="5000"/>
                </a:schemeClr>
              </a:solidFill>
            </a:endParaRPr>
          </a:p>
        </p:txBody>
      </p:sp>
      <p:sp>
        <p:nvSpPr>
          <p:cNvPr id="13" name="Rectangle 12"/>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b="1" dirty="0">
                <a:solidFill>
                  <a:schemeClr val="tx1">
                    <a:lumMod val="95000"/>
                    <a:lumOff val="5000"/>
                  </a:schemeClr>
                </a:solidFill>
              </a:rPr>
              <a:t>AIMS &amp; OBJECTIVES</a:t>
            </a:r>
            <a:endParaRPr lang="en-IN" altLang="en-US" b="1" dirty="0">
              <a:solidFill>
                <a:schemeClr val="tx1">
                  <a:lumMod val="95000"/>
                  <a:lumOff val="5000"/>
                </a:schemeClr>
              </a:solidFill>
            </a:endParaRPr>
          </a:p>
        </p:txBody>
      </p:sp>
      <p:sp>
        <p:nvSpPr>
          <p:cNvPr id="22" name="Rectangle 21"/>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endParaRPr lang="en-US" b="1" dirty="0">
              <a:solidFill>
                <a:schemeClr val="tx1">
                  <a:lumMod val="95000"/>
                  <a:lumOff val="5000"/>
                </a:schemeClr>
              </a:solidFill>
            </a:endParaRPr>
          </a:p>
        </p:txBody>
      </p:sp>
      <p:sp>
        <p:nvSpPr>
          <p:cNvPr id="23" name="Text Box 22"/>
          <p:cNvSpPr txBox="1"/>
          <p:nvPr/>
        </p:nvSpPr>
        <p:spPr>
          <a:xfrm>
            <a:off x="93345" y="1691640"/>
            <a:ext cx="3014980" cy="3206750"/>
          </a:xfrm>
          <a:prstGeom prst="rect">
            <a:avLst/>
          </a:prstGeom>
          <a:noFill/>
        </p:spPr>
        <p:txBody>
          <a:bodyPr wrap="square" rtlCol="0">
            <a:noAutofit/>
          </a:bodyPr>
          <a:p>
            <a:pPr algn="just"/>
            <a:r>
              <a:rPr lang="en-US" altLang="en-GB" sz="1200">
                <a:latin typeface="Arial" panose="020B0604020202020204" pitchFamily="34" charset="0"/>
                <a:cs typeface="Arial" panose="020B0604020202020204" pitchFamily="34" charset="0"/>
              </a:rPr>
              <a:t>Surgical fixation of humeral shaft fractures generally involves plating or nailing. Despite the extensive literature comparing outcomes after ORIF with plating and IMIL</a:t>
            </a:r>
            <a:r>
              <a:rPr lang="en-IN" altLang="en-US" sz="1200">
                <a:latin typeface="Arial" panose="020B0604020202020204" pitchFamily="34" charset="0"/>
                <a:cs typeface="Arial" panose="020B0604020202020204" pitchFamily="34" charset="0"/>
              </a:rPr>
              <a:t>nailing</a:t>
            </a:r>
            <a:r>
              <a:rPr lang="en-US" altLang="en-GB" sz="1200">
                <a:latin typeface="Arial" panose="020B0604020202020204" pitchFamily="34" charset="0"/>
                <a:cs typeface="Arial" panose="020B0604020202020204" pitchFamily="34" charset="0"/>
              </a:rPr>
              <a:t> for acute humeral diaphyseal fractures, the superior treatment strategy still remains controversial.</a:t>
            </a:r>
            <a:endParaRPr lang="en-US" altLang="en-GB" sz="1200">
              <a:latin typeface="Arial" panose="020B0604020202020204" pitchFamily="34" charset="0"/>
              <a:cs typeface="Arial" panose="020B0604020202020204" pitchFamily="34" charset="0"/>
            </a:endParaRPr>
          </a:p>
          <a:p>
            <a:pPr algn="just"/>
            <a:r>
              <a:rPr lang="en-US" altLang="en-GB" sz="1200">
                <a:latin typeface="Arial" panose="020B0604020202020204" pitchFamily="34" charset="0"/>
                <a:cs typeface="Arial" panose="020B0604020202020204" pitchFamily="34" charset="0"/>
              </a:rPr>
              <a:t>The purpose of this study is to compare the functional outcome of each method of fixation (dynamic compression plating and interlocking nailing) for the shaft of humerus fracture and to analyse statistically significant difference in the results of these two methods in terms of functional outcome, rate of healing and complications.</a:t>
            </a:r>
            <a:endParaRPr lang="en-US" altLang="en-GB" sz="1200">
              <a:latin typeface="Arial" panose="020B0604020202020204" pitchFamily="34" charset="0"/>
              <a:cs typeface="Arial" panose="020B0604020202020204" pitchFamily="34" charset="0"/>
            </a:endParaRPr>
          </a:p>
          <a:p>
            <a:pPr algn="just"/>
            <a:endParaRPr lang="en-GB" altLang="en-US" sz="1200">
              <a:latin typeface="Arial" panose="020B0604020202020204" pitchFamily="34" charset="0"/>
              <a:cs typeface="Arial" panose="020B0604020202020204" pitchFamily="34" charset="0"/>
            </a:endParaRPr>
          </a:p>
        </p:txBody>
      </p:sp>
      <p:sp>
        <p:nvSpPr>
          <p:cNvPr id="24" name="Text Box 23"/>
          <p:cNvSpPr txBox="1"/>
          <p:nvPr/>
        </p:nvSpPr>
        <p:spPr>
          <a:xfrm>
            <a:off x="33655" y="5399405"/>
            <a:ext cx="3103880" cy="1382395"/>
          </a:xfrm>
          <a:prstGeom prst="rect">
            <a:avLst/>
          </a:prstGeom>
          <a:noFill/>
        </p:spPr>
        <p:txBody>
          <a:bodyPr wrap="square" rtlCol="0">
            <a:noAutofit/>
          </a:bodyPr>
          <a:p>
            <a:pPr algn="just"/>
            <a:r>
              <a:rPr lang="en-US" altLang="en-GB" sz="1200">
                <a:latin typeface="Arial" panose="020B0604020202020204" pitchFamily="34" charset="0"/>
                <a:cs typeface="Arial" panose="020B0604020202020204" pitchFamily="34" charset="0"/>
              </a:rPr>
              <a:t>To compare the results of Compression Plating and Interlocking Nailing in the treatment of shaft of humerus fracture with reference to Rate of healing, Functional outcome, Complications &amp; Morbidity.</a:t>
            </a:r>
            <a:endParaRPr lang="en-US" altLang="en-GB" sz="1200">
              <a:latin typeface="Arial" panose="020B0604020202020204" pitchFamily="34" charset="0"/>
              <a:cs typeface="Arial" panose="020B0604020202020204" pitchFamily="34" charset="0"/>
            </a:endParaRPr>
          </a:p>
          <a:p>
            <a:endParaRPr lang="en-US" altLang="en-GB" sz="1200">
              <a:latin typeface="Arial" panose="020B0604020202020204" pitchFamily="34" charset="0"/>
              <a:cs typeface="Arial" panose="020B0604020202020204" pitchFamily="34" charset="0"/>
            </a:endParaRPr>
          </a:p>
        </p:txBody>
      </p:sp>
      <p:sp>
        <p:nvSpPr>
          <p:cNvPr id="25" name="Text Box 24"/>
          <p:cNvSpPr txBox="1"/>
          <p:nvPr/>
        </p:nvSpPr>
        <p:spPr>
          <a:xfrm>
            <a:off x="3137535" y="1837055"/>
            <a:ext cx="3215005" cy="4998720"/>
          </a:xfrm>
          <a:prstGeom prst="rect">
            <a:avLst/>
          </a:prstGeom>
          <a:noFill/>
        </p:spPr>
        <p:txBody>
          <a:bodyPr wrap="square" rtlCol="0">
            <a:noAutofit/>
          </a:bodyPr>
          <a:p>
            <a:pPr algn="just"/>
            <a:r>
              <a:rPr lang="en-US" altLang="en-GB" sz="1200">
                <a:latin typeface="Arial" panose="020B0604020202020204" pitchFamily="34" charset="0"/>
                <a:cs typeface="Arial" panose="020B0604020202020204" pitchFamily="34" charset="0"/>
              </a:rPr>
              <a:t>We conducted a prospective randomized control trial study from December </a:t>
            </a:r>
            <a:r>
              <a:rPr lang="en-IN" altLang="en-US" sz="1200">
                <a:latin typeface="Arial" panose="020B0604020202020204" pitchFamily="34" charset="0"/>
                <a:cs typeface="Arial" panose="020B0604020202020204" pitchFamily="34" charset="0"/>
              </a:rPr>
              <a:t>2023</a:t>
            </a:r>
            <a:r>
              <a:rPr lang="en-US" altLang="en-GB" sz="1200">
                <a:latin typeface="Arial" panose="020B0604020202020204" pitchFamily="34" charset="0"/>
                <a:cs typeface="Arial" panose="020B0604020202020204" pitchFamily="34" charset="0"/>
              </a:rPr>
              <a:t> to May 202</a:t>
            </a:r>
            <a:r>
              <a:rPr lang="en-IN" altLang="en-US" sz="1200">
                <a:latin typeface="Arial" panose="020B0604020202020204" pitchFamily="34" charset="0"/>
                <a:cs typeface="Arial" panose="020B0604020202020204" pitchFamily="34" charset="0"/>
              </a:rPr>
              <a:t>5</a:t>
            </a:r>
            <a:r>
              <a:rPr lang="en-US" altLang="en-GB" sz="1200">
                <a:latin typeface="Arial" panose="020B0604020202020204" pitchFamily="34" charset="0"/>
                <a:cs typeface="Arial" panose="020B0604020202020204" pitchFamily="34" charset="0"/>
              </a:rPr>
              <a:t>. We selected patients above 18 years of age with humerus shaft fracture. We excluded patients treated other than compression plate or interlocking nail, those with pre-existing shoulder and elbow pathology &amp; pathological fractures of humerus.</a:t>
            </a:r>
            <a:endParaRPr lang="en-US" altLang="en-GB" sz="1200">
              <a:latin typeface="Arial" panose="020B0604020202020204" pitchFamily="34" charset="0"/>
              <a:cs typeface="Arial" panose="020B0604020202020204" pitchFamily="34" charset="0"/>
            </a:endParaRPr>
          </a:p>
          <a:p>
            <a:pPr algn="just"/>
            <a:r>
              <a:rPr lang="en-US" altLang="en-GB" sz="1200">
                <a:latin typeface="Arial" panose="020B0604020202020204" pitchFamily="34" charset="0"/>
                <a:cs typeface="Arial" panose="020B0604020202020204" pitchFamily="34" charset="0"/>
              </a:rPr>
              <a:t>On the first post-operative day the adequacy of fixation was evaluated using plain radiography and if found satisfactory active shoulder and elbow mobilization was started. All the patients in both the groups received 3 days of standard antibiotic protocol. All the patients were clinically evaluated using DASH score and with plain radiography at 1 month, 3 months and 6 months follow up.</a:t>
            </a:r>
            <a:endParaRPr lang="en-US" altLang="en-GB" sz="1200">
              <a:latin typeface="Arial" panose="020B0604020202020204" pitchFamily="34" charset="0"/>
              <a:cs typeface="Arial" panose="020B0604020202020204" pitchFamily="34" charset="0"/>
            </a:endParaRPr>
          </a:p>
          <a:p>
            <a:pPr algn="just"/>
            <a:r>
              <a:rPr lang="en-US" altLang="en-GB" sz="1200">
                <a:latin typeface="Arial" panose="020B0604020202020204" pitchFamily="34" charset="0"/>
                <a:cs typeface="Arial" panose="020B0604020202020204" pitchFamily="34" charset="0"/>
              </a:rPr>
              <a:t>The duration for clinical and radiological union was noted. If there are no signs of clinical and radiological union after 16 weeks of fracture considered as delayed union and if the absence of union of fracture even after 32 weeks after injury are categorized as non-union. The Functional outcome with DASH Score was analysed by independent chi-square test (p value).</a:t>
            </a:r>
            <a:endParaRPr lang="en-GB" altLang="en-US" sz="1200">
              <a:latin typeface="Arial" panose="020B0604020202020204" pitchFamily="34" charset="0"/>
              <a:cs typeface="Arial" panose="020B0604020202020204" pitchFamily="34" charset="0"/>
            </a:endParaRPr>
          </a:p>
        </p:txBody>
      </p:sp>
      <p:sp>
        <p:nvSpPr>
          <p:cNvPr id="26" name="Text Box 25"/>
          <p:cNvSpPr txBox="1"/>
          <p:nvPr/>
        </p:nvSpPr>
        <p:spPr>
          <a:xfrm>
            <a:off x="6352540" y="3143885"/>
            <a:ext cx="5838825" cy="1663700"/>
          </a:xfrm>
          <a:prstGeom prst="rect">
            <a:avLst/>
          </a:prstGeom>
          <a:noFill/>
        </p:spPr>
        <p:txBody>
          <a:bodyPr wrap="square" rtlCol="0">
            <a:noAutofit/>
          </a:bodyPr>
          <a:p>
            <a:pPr algn="just"/>
            <a:r>
              <a:rPr lang="en-US" altLang="en-GB" sz="1200">
                <a:latin typeface="Arial" panose="020B0604020202020204" pitchFamily="34" charset="0"/>
                <a:cs typeface="Arial" panose="020B0604020202020204" pitchFamily="34" charset="0"/>
              </a:rPr>
              <a:t>The average fracture healing time in our study was found to be 11.75 weeks for plating group and 15.2 weeks for nailing group. Our findings of better functional outcome and less complications in the DCP group. Nailing incurs a greater risk of complications related to the shoulder function. Our study shows no statistical significant difference in intra operative complications, but there is significant difference in the case of post-operative complications especially shoulder function impairment favouring plating. The poor outcome in intramedullary interlocking nailing group is attributable to rotator cuff tear and shoulder impingement.</a:t>
            </a:r>
            <a:endParaRPr lang="en-US" altLang="en-GB" sz="1200">
              <a:latin typeface="Arial" panose="020B0604020202020204" pitchFamily="34" charset="0"/>
              <a:cs typeface="Arial" panose="020B0604020202020204" pitchFamily="34" charset="0"/>
            </a:endParaRPr>
          </a:p>
        </p:txBody>
      </p:sp>
      <p:pic>
        <p:nvPicPr>
          <p:cNvPr id="27" name="Picture 26" descr="HUMERUS NAILING"/>
          <p:cNvPicPr>
            <a:picLocks noChangeAspect="1"/>
          </p:cNvPicPr>
          <p:nvPr/>
        </p:nvPicPr>
        <p:blipFill>
          <a:blip r:embed="rId5"/>
          <a:stretch>
            <a:fillRect/>
          </a:stretch>
        </p:blipFill>
        <p:spPr>
          <a:xfrm>
            <a:off x="6353175" y="1674495"/>
            <a:ext cx="3186430" cy="1520825"/>
          </a:xfrm>
          <a:prstGeom prst="rect">
            <a:avLst/>
          </a:prstGeom>
        </p:spPr>
      </p:pic>
      <p:pic>
        <p:nvPicPr>
          <p:cNvPr id="28" name="Picture 27" descr="HUMERUS PLATING"/>
          <p:cNvPicPr>
            <a:picLocks noChangeAspect="1"/>
          </p:cNvPicPr>
          <p:nvPr/>
        </p:nvPicPr>
        <p:blipFill>
          <a:blip r:embed="rId6"/>
          <a:stretch>
            <a:fillRect/>
          </a:stretch>
        </p:blipFill>
        <p:spPr>
          <a:xfrm>
            <a:off x="9539605" y="1674495"/>
            <a:ext cx="2647950" cy="1516380"/>
          </a:xfrm>
          <a:prstGeom prst="rect">
            <a:avLst/>
          </a:prstGeom>
        </p:spPr>
      </p:pic>
      <p:sp>
        <p:nvSpPr>
          <p:cNvPr id="29" name="Text Box 28"/>
          <p:cNvSpPr txBox="1"/>
          <p:nvPr/>
        </p:nvSpPr>
        <p:spPr>
          <a:xfrm>
            <a:off x="6381750" y="5277485"/>
            <a:ext cx="5791200" cy="1570990"/>
          </a:xfrm>
          <a:prstGeom prst="rect">
            <a:avLst/>
          </a:prstGeom>
          <a:noFill/>
        </p:spPr>
        <p:txBody>
          <a:bodyPr wrap="square" rtlCol="0">
            <a:noAutofit/>
          </a:bodyPr>
          <a:p>
            <a:pPr algn="just"/>
            <a:r>
              <a:rPr lang="en-US" altLang="en-GB" sz="1200"/>
              <a:t>Based on our operative results and follow up of cases, we concluded that ORIF with dynamic compression plates was found to be superior to intra medullary interlocking nailing for the management of shaft humerus fractures, in terms of better functional outcome, faster radiological union and less post-operative complications.</a:t>
            </a:r>
            <a:endParaRPr lang="en-US" altLang="en-GB" sz="1200"/>
          </a:p>
        </p:txBody>
      </p:sp>
      <p:sp>
        <p:nvSpPr>
          <p:cNvPr id="30" name="Text Box 29"/>
          <p:cNvSpPr txBox="1"/>
          <p:nvPr/>
        </p:nvSpPr>
        <p:spPr>
          <a:xfrm>
            <a:off x="7118985" y="41275"/>
            <a:ext cx="4912360" cy="1076325"/>
          </a:xfrm>
          <a:prstGeom prst="rect">
            <a:avLst/>
          </a:prstGeom>
          <a:noFill/>
        </p:spPr>
        <p:txBody>
          <a:bodyPr wrap="square" rtlCol="0">
            <a:spAutoFit/>
          </a:bodyPr>
          <a:p>
            <a:r>
              <a:rPr lang="en-IN" altLang="en-GB" sz="1600" b="1">
                <a:solidFill>
                  <a:schemeClr val="bg1"/>
                </a:solidFill>
                <a:latin typeface="Book Antiqua" panose="02040602050305030304" charset="0"/>
                <a:cs typeface="Book Antiqua" panose="02040602050305030304" charset="0"/>
              </a:rPr>
              <a:t>AUTHOR:-DR.K BHANU PRAKASH RE</a:t>
            </a:r>
            <a:r>
              <a:rPr lang="en-US" altLang="en-IN" sz="1600" b="1">
                <a:solidFill>
                  <a:schemeClr val="bg1"/>
                </a:solidFill>
                <a:latin typeface="Book Antiqua" panose="02040602050305030304" charset="0"/>
                <a:cs typeface="Book Antiqua" panose="02040602050305030304" charset="0"/>
              </a:rPr>
              <a:t>DDY</a:t>
            </a:r>
            <a:r>
              <a:rPr lang="en-IN" altLang="en-GB" sz="1600" b="1">
                <a:solidFill>
                  <a:schemeClr val="bg1"/>
                </a:solidFill>
                <a:latin typeface="Book Antiqua" panose="02040602050305030304" charset="0"/>
                <a:cs typeface="Book Antiqua" panose="02040602050305030304" charset="0"/>
              </a:rPr>
              <a:t> ORTHOPEDIC RESIDENT </a:t>
            </a:r>
            <a:endParaRPr lang="en-IN" altLang="en-GB" sz="1600" b="1">
              <a:solidFill>
                <a:schemeClr val="bg1"/>
              </a:solidFill>
              <a:latin typeface="Book Antiqua" panose="02040602050305030304" charset="0"/>
              <a:cs typeface="Book Antiqua" panose="02040602050305030304" charset="0"/>
            </a:endParaRPr>
          </a:p>
          <a:p>
            <a:r>
              <a:rPr lang="en-US" altLang="en-IN" sz="1600" b="1">
                <a:solidFill>
                  <a:schemeClr val="bg1"/>
                </a:solidFill>
                <a:latin typeface="Book Antiqua" panose="02040602050305030304" charset="0"/>
                <a:cs typeface="Book Antiqua" panose="02040602050305030304" charset="0"/>
              </a:rPr>
              <a:t>GUIDE:-DR A. SANDEEP</a:t>
            </a:r>
            <a:endParaRPr lang="en-IN" altLang="en-GB" sz="1600" b="1">
              <a:solidFill>
                <a:schemeClr val="bg1"/>
              </a:solidFill>
              <a:latin typeface="Book Antiqua" panose="02040602050305030304" charset="0"/>
              <a:cs typeface="Book Antiqua" panose="02040602050305030304" charset="0"/>
            </a:endParaRPr>
          </a:p>
          <a:p>
            <a:r>
              <a:rPr lang="en-IN" altLang="en-GB" sz="1600" b="1">
                <a:solidFill>
                  <a:schemeClr val="bg1"/>
                </a:solidFill>
                <a:latin typeface="Book Antiqua" panose="02040602050305030304" charset="0"/>
                <a:cs typeface="Book Antiqua" panose="02040602050305030304" charset="0"/>
              </a:rPr>
              <a:t>DR. PSIMS &amp; RF</a:t>
            </a:r>
            <a:endParaRPr lang="en-IN" altLang="en-GB" sz="1600" b="1">
              <a:solidFill>
                <a:schemeClr val="bg1"/>
              </a:solidFill>
              <a:latin typeface="Book Antiqua" panose="02040602050305030304" charset="0"/>
              <a:cs typeface="Book Antiqua" panose="0204060205030503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3223</Words>
  <Application>WPS Presentation</Application>
  <PresentationFormat>Widescreen</PresentationFormat>
  <Paragraphs>36</Paragraphs>
  <Slides>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vt:i4>
      </vt:variant>
    </vt:vector>
  </HeadingPairs>
  <TitlesOfParts>
    <vt:vector size="16" baseType="lpstr">
      <vt:lpstr>Arial</vt:lpstr>
      <vt:lpstr>SimSun</vt:lpstr>
      <vt:lpstr>Wingdings</vt:lpstr>
      <vt:lpstr>Gordita</vt:lpstr>
      <vt:lpstr>Segoe Print</vt:lpstr>
      <vt:lpstr>Gordita </vt:lpstr>
      <vt:lpstr>Book Antiqua</vt:lpstr>
      <vt:lpstr>Aptos</vt:lpstr>
      <vt:lpstr>Segoe UI</vt:lpstr>
      <vt:lpstr>Microsoft YaHei</vt:lpstr>
      <vt:lpstr>Arial Unicode MS</vt:lpstr>
      <vt:lpstr>Aptos Display</vt:lpstr>
      <vt:lpstr>Segoe UI Variable Display</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kbhan</cp:lastModifiedBy>
  <cp:revision>9</cp:revision>
  <dcterms:created xsi:type="dcterms:W3CDTF">2026-01-11T06:24:00Z</dcterms:created>
  <dcterms:modified xsi:type="dcterms:W3CDTF">2026-01-25T07:49:06Z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9C7688AD80CB4C97A4720CEEEF5FE43C_13</vt:lpwstr>
  </property>
  <property fmtid="{D5CDD505-2E9C-101B-9397-08002B2CF9AE}" pid="3" name="KSOProductBuildVer">
    <vt:lpwstr>2057-12.2.0.23197</vt:lpwstr>
  </property>
</Properties>
</file>