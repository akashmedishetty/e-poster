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0"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1/27/2026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422EEB-C18E-401D-4D14-F61D82881EC6}"/>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5A44D43F-1B53-AAA9-B551-4D46D6B6290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9F3FAB85-38C0-CBC3-894D-F14B0983660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AAAF0D4-F34A-1980-C65B-0B0205913902}"/>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94EFB44A-ED67-5BFE-548D-FCB7384C661F}"/>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BA2ED9E8-378E-74DB-69F2-37A19A83672D}"/>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E2363BD-0C06-5137-F50F-3CB1079D47C5}"/>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A034863C-B4F3-2506-7721-DA2D88319DB1}"/>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809C6C-A8F4-3F94-8390-8B2D66970C48}"/>
              </a:ext>
            </a:extLst>
          </p:cNvPr>
          <p:cNvSpPr txBox="1"/>
          <p:nvPr/>
        </p:nvSpPr>
        <p:spPr>
          <a:xfrm>
            <a:off x="1534885" y="1829778"/>
            <a:ext cx="9367157" cy="1200329"/>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A PROSPECTIVE STUDY OF SURGICAL MANAGEMENT OF FRACTURES OF PROXIMAL FEMUR USING PROXIMAL FEMORAL NAIL </a:t>
            </a:r>
            <a:endParaRPr lang="en-IN" sz="24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F32ED1A-C837-90A1-7667-9703993C91A8}"/>
              </a:ext>
            </a:extLst>
          </p:cNvPr>
          <p:cNvSpPr txBox="1"/>
          <p:nvPr/>
        </p:nvSpPr>
        <p:spPr>
          <a:xfrm>
            <a:off x="2696935" y="3429000"/>
            <a:ext cx="6798129" cy="2880469"/>
          </a:xfrm>
          <a:prstGeom prst="rect">
            <a:avLst/>
          </a:prstGeom>
          <a:noFill/>
        </p:spPr>
        <p:txBody>
          <a:bodyPr wrap="square">
            <a:spAutoFit/>
          </a:bodyPr>
          <a:lstStyle/>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a:solidFill>
                  <a:srgbClr val="000000"/>
                </a:solidFill>
                <a:latin typeface="Times New Roman"/>
                <a:ea typeface="Times New Roman"/>
                <a:cs typeface="Times New Roman"/>
                <a:sym typeface="Times New Roman"/>
              </a:defRPr>
            </a:pPr>
            <a:r>
              <a:rPr kumimoji="0" lang="en-IN" sz="24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PRESENTER:DR.ATUL TOMAR</a:t>
            </a:r>
          </a:p>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a:solidFill>
                  <a:srgbClr val="000000"/>
                </a:solidFill>
                <a:latin typeface="Times New Roman"/>
                <a:ea typeface="Times New Roman"/>
                <a:cs typeface="Times New Roman"/>
                <a:sym typeface="Times New Roman"/>
              </a:defRPr>
            </a:pPr>
            <a:r>
              <a:rPr kumimoji="0" lang="en-IN" sz="24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(FINAL YEAR POSTGRADUATE)</a:t>
            </a:r>
          </a:p>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a:solidFill>
                  <a:srgbClr val="000000"/>
                </a:solidFill>
                <a:latin typeface="Times New Roman"/>
                <a:ea typeface="Times New Roman"/>
                <a:cs typeface="Times New Roman"/>
                <a:sym typeface="Times New Roman"/>
              </a:defRPr>
            </a:pPr>
            <a:r>
              <a:rPr lang="en-IN" sz="2400" b="1" dirty="0">
                <a:solidFill>
                  <a:srgbClr val="000000"/>
                </a:solidFill>
                <a:latin typeface="Arial" panose="020B0604020202020204" pitchFamily="34" charset="0"/>
                <a:cs typeface="Arial" panose="020B0604020202020204" pitchFamily="34" charset="0"/>
                <a:sym typeface="Times New Roman"/>
              </a:rPr>
              <a:t>GUIDE:DR.CHINTAPETA RAVI</a:t>
            </a:r>
          </a:p>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a:solidFill>
                  <a:srgbClr val="000000"/>
                </a:solidFill>
                <a:latin typeface="Times New Roman"/>
                <a:ea typeface="Times New Roman"/>
                <a:cs typeface="Times New Roman"/>
                <a:sym typeface="Times New Roman"/>
              </a:defRPr>
            </a:pPr>
            <a:r>
              <a:rPr kumimoji="0" lang="en-IN" sz="24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PROFESSOR</a:t>
            </a:r>
            <a:r>
              <a:rPr lang="en-IN" sz="2400" b="1" dirty="0">
                <a:solidFill>
                  <a:srgbClr val="000000"/>
                </a:solidFill>
                <a:latin typeface="Arial" panose="020B0604020202020204" pitchFamily="34" charset="0"/>
                <a:cs typeface="Arial" panose="020B0604020202020204" pitchFamily="34" charset="0"/>
                <a:sym typeface="Times New Roman"/>
              </a:rPr>
              <a:t>&amp;HOD</a:t>
            </a:r>
            <a:r>
              <a:rPr kumimoji="0" lang="en-IN" sz="24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,DEPARTMENT </a:t>
            </a:r>
            <a:r>
              <a:rPr kumimoji="0" lang="en-IN" sz="2400" b="1"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Times New Roman"/>
              </a:rPr>
              <a:t>OF ORTHOPAEDICS</a:t>
            </a:r>
            <a:endParaRPr kumimoji="0" lang="en-IN" sz="24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endParaRPr>
          </a:p>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a:solidFill>
                  <a:srgbClr val="000000"/>
                </a:solidFill>
                <a:latin typeface="Times New Roman"/>
                <a:ea typeface="Times New Roman"/>
                <a:cs typeface="Times New Roman"/>
                <a:sym typeface="Times New Roman"/>
              </a:defRPr>
            </a:pPr>
            <a:r>
              <a:rPr lang="en-IN" sz="2400" b="1" dirty="0">
                <a:solidFill>
                  <a:srgbClr val="000000"/>
                </a:solidFill>
                <a:latin typeface="Arial" panose="020B0604020202020204" pitchFamily="34" charset="0"/>
                <a:cs typeface="Arial" panose="020B0604020202020204" pitchFamily="34" charset="0"/>
                <a:sym typeface="Times New Roman"/>
              </a:rPr>
              <a:t>MAHAVIR INSTITUTE OF MEDICAL SCIENCES</a:t>
            </a:r>
            <a:endParaRPr kumimoji="0" lang="en-IN" sz="24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endParaRPr>
          </a:p>
        </p:txBody>
      </p:sp>
    </p:spTree>
    <p:extLst>
      <p:ext uri="{BB962C8B-B14F-4D97-AF65-F5344CB8AC3E}">
        <p14:creationId xmlns:p14="http://schemas.microsoft.com/office/powerpoint/2010/main" val="3607354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72D84-5DFF-BF8F-821C-AE633B7F3B00}"/>
              </a:ext>
            </a:extLst>
          </p:cNvPr>
          <p:cNvSpPr>
            <a:spLocks noGrp="1"/>
          </p:cNvSpPr>
          <p:nvPr>
            <p:ph type="title"/>
          </p:nvPr>
        </p:nvSpPr>
        <p:spPr>
          <a:xfrm>
            <a:off x="838200" y="1349829"/>
            <a:ext cx="10515600" cy="340859"/>
          </a:xfrm>
        </p:spPr>
        <p:txBody>
          <a:bodyPr/>
          <a:lstStyle/>
          <a:p>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INTR0DUCTION:</a:t>
            </a:r>
            <a:br>
              <a:rPr lang="en-IN" sz="2400" dirty="0">
                <a:latin typeface="Arial" panose="020B0604020202020204" pitchFamily="34" charset="0"/>
                <a:cs typeface="Arial" panose="020B0604020202020204" pitchFamily="34" charset="0"/>
              </a:rPr>
            </a:br>
            <a:br>
              <a:rPr lang="en-IN" sz="2400" dirty="0">
                <a:latin typeface="Arial" panose="020B0604020202020204" pitchFamily="34" charset="0"/>
                <a:cs typeface="Arial" panose="020B0604020202020204" pitchFamily="34" charset="0"/>
              </a:rPr>
            </a:br>
            <a:endParaRPr lang="en-IN" sz="24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22BED93-19CA-24D1-62B2-61E73771CEE7}"/>
              </a:ext>
            </a:extLst>
          </p:cNvPr>
          <p:cNvSpPr>
            <a:spLocks noGrp="1"/>
          </p:cNvSpPr>
          <p:nvPr>
            <p:ph idx="1"/>
          </p:nvPr>
        </p:nvSpPr>
        <p:spPr/>
        <p:txBody>
          <a:bodyPr/>
          <a:lstStyle/>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Proximal femoral fractures are commonly seen in patients over 70yrs of age. Incidence of these fractures has increased primarily due to increasing life span and more sedentary life style brought by urbanization. In younger population, proximal femoral fracture occurs due to high velocity trauma, whereas in elderly population, it is most often due to trivial trauma. Proximal femoral fractures comprise of intertrochanteric and subtrochanteric fractures. Incidence of trochanteric fractures is more in females compared to males due to osteoporosis.</a:t>
            </a:r>
          </a:p>
          <a:p>
            <a:pPr marL="0" indent="0">
              <a:buNone/>
            </a:pPr>
            <a:r>
              <a:rPr lang="en-US" sz="2400" dirty="0">
                <a:latin typeface="Arial" panose="020B0604020202020204" pitchFamily="34" charset="0"/>
                <a:cs typeface="Arial" panose="020B0604020202020204" pitchFamily="34" charset="0"/>
              </a:rPr>
              <a:t>Mortality ranges between 15%-20 %. Other risk factors include white race, neurological impairment, malnutrition, impaired vision, malignancy, and decreased physical activity. </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50871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C61FC-721E-86FC-5A58-B4D87DC74ABA}"/>
              </a:ext>
            </a:extLst>
          </p:cNvPr>
          <p:cNvSpPr>
            <a:spLocks noGrp="1"/>
          </p:cNvSpPr>
          <p:nvPr>
            <p:ph type="title"/>
          </p:nvPr>
        </p:nvSpPr>
        <p:spPr>
          <a:xfrm>
            <a:off x="838200" y="1328057"/>
            <a:ext cx="10515600" cy="362631"/>
          </a:xfrm>
        </p:spPr>
        <p:txBody>
          <a:bodyPr/>
          <a:lstStyle/>
          <a:p>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AIM:</a:t>
            </a:r>
          </a:p>
        </p:txBody>
      </p:sp>
      <p:sp>
        <p:nvSpPr>
          <p:cNvPr id="3" name="Content Placeholder 2">
            <a:extLst>
              <a:ext uri="{FF2B5EF4-FFF2-40B4-BE49-F238E27FC236}">
                <a16:creationId xmlns:a16="http://schemas.microsoft.com/office/drawing/2014/main" id="{3C858E72-1947-67F4-84DC-96E46057617D}"/>
              </a:ext>
            </a:extLst>
          </p:cNvPr>
          <p:cNvSpPr>
            <a:spLocks noGrp="1"/>
          </p:cNvSpPr>
          <p:nvPr>
            <p:ph idx="1"/>
          </p:nvPr>
        </p:nvSpPr>
        <p:spPr>
          <a:xfrm>
            <a:off x="827314" y="2369910"/>
            <a:ext cx="10515600" cy="4351338"/>
          </a:xfrm>
        </p:spPr>
        <p:txBody>
          <a:bodyPr/>
          <a:lstStyle/>
          <a:p>
            <a:pPr marL="0" indent="0">
              <a:buNone/>
            </a:pPr>
            <a:r>
              <a:rPr lang="en-US" dirty="0"/>
              <a:t>To evaluate the union rates with proximal femoral nail.</a:t>
            </a:r>
          </a:p>
          <a:p>
            <a:pPr marL="0" indent="0">
              <a:buNone/>
            </a:pPr>
            <a:endParaRPr lang="en-US" dirty="0"/>
          </a:p>
          <a:p>
            <a:pPr marL="0" indent="0">
              <a:buNone/>
            </a:pPr>
            <a:r>
              <a:rPr lang="en-US" dirty="0"/>
              <a:t>To evaluate the clinical outcome associated with this treatment modality, Hip Range of movements pain </a:t>
            </a:r>
            <a:r>
              <a:rPr lang="en-US" dirty="0" err="1"/>
              <a:t>relief,Return</a:t>
            </a:r>
            <a:r>
              <a:rPr lang="en-US" dirty="0"/>
              <a:t> to normal activities and work.</a:t>
            </a:r>
          </a:p>
          <a:p>
            <a:pPr marL="0" indent="0">
              <a:buNone/>
            </a:pPr>
            <a:endParaRPr lang="en-US" dirty="0"/>
          </a:p>
          <a:p>
            <a:pPr marL="0" indent="0">
              <a:buNone/>
            </a:pPr>
            <a:r>
              <a:rPr lang="en-US" dirty="0"/>
              <a:t>To identify appropriate entry point.</a:t>
            </a:r>
            <a:endParaRPr lang="en-IN" dirty="0"/>
          </a:p>
        </p:txBody>
      </p:sp>
    </p:spTree>
    <p:extLst>
      <p:ext uri="{BB962C8B-B14F-4D97-AF65-F5344CB8AC3E}">
        <p14:creationId xmlns:p14="http://schemas.microsoft.com/office/powerpoint/2010/main" val="4082923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CCC43-B72A-AE83-D23D-CC04EC48D9CA}"/>
              </a:ext>
            </a:extLst>
          </p:cNvPr>
          <p:cNvSpPr>
            <a:spLocks noGrp="1"/>
          </p:cNvSpPr>
          <p:nvPr>
            <p:ph type="title"/>
          </p:nvPr>
        </p:nvSpPr>
        <p:spPr>
          <a:xfrm>
            <a:off x="838200" y="1464584"/>
            <a:ext cx="10515600" cy="361042"/>
          </a:xfrm>
        </p:spPr>
        <p:txBody>
          <a:bodyPr/>
          <a:lstStyle/>
          <a:p>
            <a:r>
              <a:rPr lang="en-IN" sz="2400" dirty="0">
                <a:latin typeface="Arial" panose="020B0604020202020204" pitchFamily="34" charset="0"/>
                <a:cs typeface="Arial" panose="020B0604020202020204" pitchFamily="34" charset="0"/>
              </a:rPr>
              <a:t>METHODS:</a:t>
            </a:r>
          </a:p>
        </p:txBody>
      </p:sp>
      <p:sp>
        <p:nvSpPr>
          <p:cNvPr id="3" name="Content Placeholder 2">
            <a:extLst>
              <a:ext uri="{FF2B5EF4-FFF2-40B4-BE49-F238E27FC236}">
                <a16:creationId xmlns:a16="http://schemas.microsoft.com/office/drawing/2014/main" id="{7EBF813A-9524-303B-4F4D-326832DECFB0}"/>
              </a:ext>
            </a:extLst>
          </p:cNvPr>
          <p:cNvSpPr>
            <a:spLocks noGrp="1"/>
          </p:cNvSpPr>
          <p:nvPr>
            <p:ph idx="1"/>
          </p:nvPr>
        </p:nvSpPr>
        <p:spPr>
          <a:xfrm>
            <a:off x="838200" y="2057399"/>
            <a:ext cx="10515600" cy="4184877"/>
          </a:xfrm>
        </p:spPr>
        <p:txBody>
          <a:bodyPr/>
          <a:lstStyle/>
          <a:p>
            <a:pPr marL="0" indent="0">
              <a:buNone/>
            </a:pPr>
            <a:r>
              <a:rPr lang="en-US" sz="2400" dirty="0">
                <a:latin typeface="Arial" panose="020B0604020202020204" pitchFamily="34" charset="0"/>
                <a:cs typeface="Arial" panose="020B0604020202020204" pitchFamily="34" charset="0"/>
              </a:rPr>
              <a:t>Proximal femoral nail consists of self tapping 6.5mm hip pin, self tapping 8mm femoral neck screw, 4.9 distal locking screw and an end cap.</a:t>
            </a:r>
          </a:p>
          <a:p>
            <a:pPr marL="0" indent="0">
              <a:buNone/>
            </a:pPr>
            <a:endParaRPr lang="en-IN" sz="2400" u="sng" dirty="0">
              <a:latin typeface="Arial" panose="020B0604020202020204" pitchFamily="34" charset="0"/>
              <a:cs typeface="Arial" panose="020B0604020202020204" pitchFamily="34" charset="0"/>
            </a:endParaRPr>
          </a:p>
          <a:p>
            <a:pPr marL="0" indent="0">
              <a:buNone/>
            </a:pPr>
            <a:r>
              <a:rPr lang="en-IN" sz="2400" u="sng" dirty="0">
                <a:latin typeface="Arial" panose="020B0604020202020204" pitchFamily="34" charset="0"/>
                <a:cs typeface="Arial" panose="020B0604020202020204" pitchFamily="34" charset="0"/>
              </a:rPr>
              <a:t>Operative technique: </a:t>
            </a:r>
          </a:p>
          <a:p>
            <a:pPr marL="0" indent="0">
              <a:buNone/>
            </a:pPr>
            <a:r>
              <a:rPr lang="en-US" sz="2400" dirty="0">
                <a:latin typeface="Arial" panose="020B0604020202020204" pitchFamily="34" charset="0"/>
                <a:cs typeface="Arial" panose="020B0604020202020204" pitchFamily="34" charset="0"/>
              </a:rPr>
              <a:t>The patient is placed in supine position on fracture table with adduction of the affected limb by 10-15 degrees and closed reduction of the fracture was done by the traction and internal rotation.</a:t>
            </a:r>
          </a:p>
          <a:p>
            <a:pPr marL="0" indent="0">
              <a:buNone/>
            </a:pPr>
            <a:r>
              <a:rPr lang="en-US" sz="2400" dirty="0">
                <a:latin typeface="Arial" panose="020B0604020202020204" pitchFamily="34" charset="0"/>
                <a:cs typeface="Arial" panose="020B0604020202020204" pitchFamily="34" charset="0"/>
              </a:rPr>
              <a:t>Entry is made in tip of trochanter</a:t>
            </a:r>
          </a:p>
          <a:p>
            <a:pPr marL="0" indent="0">
              <a:buNone/>
            </a:pPr>
            <a:r>
              <a:rPr lang="en-IN" sz="2400" dirty="0">
                <a:latin typeface="Arial" panose="020B0604020202020204" pitchFamily="34" charset="0"/>
                <a:cs typeface="Arial" panose="020B0604020202020204" pitchFamily="34" charset="0"/>
              </a:rPr>
              <a:t>Insertion of PFN followed by proximal and distal locking</a:t>
            </a:r>
          </a:p>
          <a:p>
            <a:pPr marL="0" indent="0">
              <a:buNone/>
            </a:pPr>
            <a:r>
              <a:rPr lang="en-IN" sz="2400" dirty="0">
                <a:latin typeface="Arial" panose="020B0604020202020204" pitchFamily="34" charset="0"/>
                <a:cs typeface="Arial" panose="020B0604020202020204" pitchFamily="34" charset="0"/>
              </a:rPr>
              <a:t>Fixation confirmed under c-arm</a:t>
            </a:r>
          </a:p>
          <a:p>
            <a:pPr marL="0" indent="0">
              <a:buNone/>
            </a:pP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340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7F7A8B-FF1A-6FE7-75B3-0C723BE75944}"/>
              </a:ext>
            </a:extLst>
          </p:cNvPr>
          <p:cNvSpPr>
            <a:spLocks noGrp="1"/>
          </p:cNvSpPr>
          <p:nvPr>
            <p:ph sz="half" idx="1"/>
          </p:nvPr>
        </p:nvSpPr>
        <p:spPr>
          <a:xfrm>
            <a:off x="468085" y="1477282"/>
            <a:ext cx="5551715" cy="4351338"/>
          </a:xfrm>
        </p:spPr>
        <p:txBody>
          <a:bodyPr/>
          <a:lstStyle/>
          <a:p>
            <a:pPr marL="0" indent="0">
              <a:buNone/>
            </a:pPr>
            <a:r>
              <a:rPr lang="en-IN" sz="2400" dirty="0">
                <a:latin typeface="Arial" panose="020B0604020202020204" pitchFamily="34" charset="0"/>
                <a:cs typeface="Arial" panose="020B0604020202020204" pitchFamily="34" charset="0"/>
              </a:rPr>
              <a:t>Pre-operative x-ray:</a:t>
            </a:r>
          </a:p>
          <a:p>
            <a:pPr marL="0" indent="0">
              <a:buNone/>
            </a:pPr>
            <a:endParaRPr lang="en-IN" dirty="0"/>
          </a:p>
        </p:txBody>
      </p:sp>
      <p:sp>
        <p:nvSpPr>
          <p:cNvPr id="4" name="Content Placeholder 3">
            <a:extLst>
              <a:ext uri="{FF2B5EF4-FFF2-40B4-BE49-F238E27FC236}">
                <a16:creationId xmlns:a16="http://schemas.microsoft.com/office/drawing/2014/main" id="{3792213F-EB15-03BC-422F-13D1EAA57B72}"/>
              </a:ext>
            </a:extLst>
          </p:cNvPr>
          <p:cNvSpPr>
            <a:spLocks noGrp="1"/>
          </p:cNvSpPr>
          <p:nvPr>
            <p:ph sz="half" idx="2"/>
          </p:nvPr>
        </p:nvSpPr>
        <p:spPr>
          <a:xfrm>
            <a:off x="5744935" y="1553482"/>
            <a:ext cx="6338207" cy="4699681"/>
          </a:xfrm>
        </p:spPr>
        <p:txBody>
          <a:bodyPr/>
          <a:lstStyle/>
          <a:p>
            <a:pPr marL="0" indent="0">
              <a:buNone/>
            </a:pPr>
            <a:r>
              <a:rPr lang="en-IN" sz="2400" dirty="0">
                <a:latin typeface="Arial" panose="020B0604020202020204" pitchFamily="34" charset="0"/>
                <a:cs typeface="Arial" panose="020B0604020202020204" pitchFamily="34" charset="0"/>
              </a:rPr>
              <a:t>Post-operative </a:t>
            </a:r>
            <a:r>
              <a:rPr lang="en-IN" sz="2400" dirty="0" err="1">
                <a:latin typeface="Arial" panose="020B0604020202020204" pitchFamily="34" charset="0"/>
                <a:cs typeface="Arial" panose="020B0604020202020204" pitchFamily="34" charset="0"/>
              </a:rPr>
              <a:t>xray</a:t>
            </a:r>
            <a:r>
              <a:rPr lang="en-IN" sz="2400" dirty="0">
                <a:latin typeface="Arial" panose="020B0604020202020204" pitchFamily="34" charset="0"/>
                <a:cs typeface="Arial" panose="020B0604020202020204" pitchFamily="34" charset="0"/>
              </a:rPr>
              <a:t>:</a:t>
            </a:r>
          </a:p>
          <a:p>
            <a:pPr marL="0" indent="0">
              <a:buNone/>
            </a:pPr>
            <a:endParaRPr lang="en-IN" sz="2400" dirty="0">
              <a:latin typeface="Arial" panose="020B0604020202020204" pitchFamily="34" charset="0"/>
              <a:cs typeface="Arial" panose="020B0604020202020204" pitchFamily="34" charset="0"/>
            </a:endParaRPr>
          </a:p>
          <a:p>
            <a:pPr marL="0" indent="0">
              <a:buNone/>
            </a:pPr>
            <a:r>
              <a:rPr lang="en-IN" sz="2400" dirty="0">
                <a:latin typeface="Arial" panose="020B0604020202020204" pitchFamily="34" charset="0"/>
                <a:cs typeface="Arial" panose="020B0604020202020204" pitchFamily="34" charset="0"/>
              </a:rPr>
              <a:t>6Weeks                         3Months</a:t>
            </a:r>
          </a:p>
          <a:p>
            <a:pPr marL="0" indent="0">
              <a:buNone/>
            </a:pPr>
            <a:endParaRPr lang="en-IN" dirty="0"/>
          </a:p>
        </p:txBody>
      </p:sp>
      <p:pic>
        <p:nvPicPr>
          <p:cNvPr id="6" name="Picture 5">
            <a:extLst>
              <a:ext uri="{FF2B5EF4-FFF2-40B4-BE49-F238E27FC236}">
                <a16:creationId xmlns:a16="http://schemas.microsoft.com/office/drawing/2014/main" id="{C0914A30-64CD-0441-6030-E976C9EA90BF}"/>
              </a:ext>
            </a:extLst>
          </p:cNvPr>
          <p:cNvPicPr>
            <a:picLocks noChangeAspect="1"/>
          </p:cNvPicPr>
          <p:nvPr/>
        </p:nvPicPr>
        <p:blipFill>
          <a:blip r:embed="rId2"/>
          <a:stretch>
            <a:fillRect/>
          </a:stretch>
        </p:blipFill>
        <p:spPr>
          <a:xfrm>
            <a:off x="468085" y="2835388"/>
            <a:ext cx="4886923" cy="2319338"/>
          </a:xfrm>
          <a:prstGeom prst="rect">
            <a:avLst/>
          </a:prstGeom>
        </p:spPr>
      </p:pic>
      <p:pic>
        <p:nvPicPr>
          <p:cNvPr id="8" name="Picture 7">
            <a:extLst>
              <a:ext uri="{FF2B5EF4-FFF2-40B4-BE49-F238E27FC236}">
                <a16:creationId xmlns:a16="http://schemas.microsoft.com/office/drawing/2014/main" id="{3A8E4B09-51C8-5F15-BACB-67AD50AF77F2}"/>
              </a:ext>
            </a:extLst>
          </p:cNvPr>
          <p:cNvPicPr>
            <a:picLocks noChangeAspect="1"/>
          </p:cNvPicPr>
          <p:nvPr/>
        </p:nvPicPr>
        <p:blipFill>
          <a:blip r:embed="rId3"/>
          <a:srcRect l="4321" r="46786" b="-1379"/>
          <a:stretch>
            <a:fillRect/>
          </a:stretch>
        </p:blipFill>
        <p:spPr>
          <a:xfrm>
            <a:off x="5856514" y="2835388"/>
            <a:ext cx="1262744" cy="2351314"/>
          </a:xfrm>
          <a:prstGeom prst="rect">
            <a:avLst/>
          </a:prstGeom>
        </p:spPr>
      </p:pic>
      <p:pic>
        <p:nvPicPr>
          <p:cNvPr id="10" name="Picture 9">
            <a:extLst>
              <a:ext uri="{FF2B5EF4-FFF2-40B4-BE49-F238E27FC236}">
                <a16:creationId xmlns:a16="http://schemas.microsoft.com/office/drawing/2014/main" id="{6C440087-304C-CC97-0F8C-77171319C1BE}"/>
              </a:ext>
            </a:extLst>
          </p:cNvPr>
          <p:cNvPicPr>
            <a:picLocks noChangeAspect="1"/>
          </p:cNvPicPr>
          <p:nvPr/>
        </p:nvPicPr>
        <p:blipFill>
          <a:blip r:embed="rId4"/>
          <a:stretch>
            <a:fillRect/>
          </a:stretch>
        </p:blipFill>
        <p:spPr>
          <a:xfrm>
            <a:off x="8686799" y="2835388"/>
            <a:ext cx="3396343" cy="2351314"/>
          </a:xfrm>
          <a:prstGeom prst="rect">
            <a:avLst/>
          </a:prstGeom>
        </p:spPr>
      </p:pic>
      <p:pic>
        <p:nvPicPr>
          <p:cNvPr id="5" name="Picture 4">
            <a:extLst>
              <a:ext uri="{FF2B5EF4-FFF2-40B4-BE49-F238E27FC236}">
                <a16:creationId xmlns:a16="http://schemas.microsoft.com/office/drawing/2014/main" id="{4489D82A-1CCC-8BD1-8C1C-14B95DDF307A}"/>
              </a:ext>
            </a:extLst>
          </p:cNvPr>
          <p:cNvPicPr>
            <a:picLocks noChangeAspect="1"/>
          </p:cNvPicPr>
          <p:nvPr/>
        </p:nvPicPr>
        <p:blipFill>
          <a:blip r:embed="rId5"/>
          <a:srcRect l="16862"/>
          <a:stretch>
            <a:fillRect/>
          </a:stretch>
        </p:blipFill>
        <p:spPr>
          <a:xfrm>
            <a:off x="7230837" y="2835388"/>
            <a:ext cx="845283" cy="2351314"/>
          </a:xfrm>
          <a:prstGeom prst="rect">
            <a:avLst/>
          </a:prstGeom>
        </p:spPr>
      </p:pic>
    </p:spTree>
    <p:extLst>
      <p:ext uri="{BB962C8B-B14F-4D97-AF65-F5344CB8AC3E}">
        <p14:creationId xmlns:p14="http://schemas.microsoft.com/office/powerpoint/2010/main" val="1784586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027B4-D968-3DE0-5DAB-60F23B71CC9A}"/>
              </a:ext>
            </a:extLst>
          </p:cNvPr>
          <p:cNvSpPr>
            <a:spLocks noGrp="1"/>
          </p:cNvSpPr>
          <p:nvPr>
            <p:ph type="title"/>
          </p:nvPr>
        </p:nvSpPr>
        <p:spPr/>
        <p:txBody>
          <a:bodyPr/>
          <a:lstStyle/>
          <a:p>
            <a:br>
              <a:rPr lang="en-IN" sz="2400" dirty="0">
                <a:latin typeface="Arial" panose="020B0604020202020204" pitchFamily="34" charset="0"/>
                <a:cs typeface="Arial" panose="020B0604020202020204" pitchFamily="34" charset="0"/>
              </a:rPr>
            </a:br>
            <a:br>
              <a:rPr lang="en-IN" sz="2400" dirty="0">
                <a:latin typeface="Arial" panose="020B0604020202020204" pitchFamily="34" charset="0"/>
                <a:cs typeface="Arial" panose="020B0604020202020204" pitchFamily="34" charset="0"/>
              </a:rPr>
            </a:b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RESULTS:</a:t>
            </a:r>
          </a:p>
        </p:txBody>
      </p:sp>
      <p:sp>
        <p:nvSpPr>
          <p:cNvPr id="4" name="Content Placeholder 3">
            <a:extLst>
              <a:ext uri="{FF2B5EF4-FFF2-40B4-BE49-F238E27FC236}">
                <a16:creationId xmlns:a16="http://schemas.microsoft.com/office/drawing/2014/main" id="{58D66958-C8E6-8C72-F772-0FA7640A0907}"/>
              </a:ext>
            </a:extLst>
          </p:cNvPr>
          <p:cNvSpPr>
            <a:spLocks noGrp="1"/>
          </p:cNvSpPr>
          <p:nvPr>
            <p:ph sz="half" idx="1"/>
          </p:nvPr>
        </p:nvSpPr>
        <p:spPr/>
        <p:txBody>
          <a:bodyPr/>
          <a:lstStyle/>
          <a:p>
            <a:pPr marL="0" indent="0">
              <a:buNone/>
            </a:pPr>
            <a:endParaRPr lang="en-IN" sz="2400" u="sng" dirty="0">
              <a:latin typeface="Arial" panose="020B0604020202020204" pitchFamily="34" charset="0"/>
              <a:cs typeface="Arial" panose="020B0604020202020204" pitchFamily="34" charset="0"/>
            </a:endParaRPr>
          </a:p>
          <a:p>
            <a:pPr marL="0" indent="0">
              <a:buNone/>
            </a:pPr>
            <a:r>
              <a:rPr lang="en-IN" sz="2400" u="sng" dirty="0">
                <a:latin typeface="Arial" panose="020B0604020202020204" pitchFamily="34" charset="0"/>
                <a:cs typeface="Arial" panose="020B0604020202020204" pitchFamily="34" charset="0"/>
              </a:rPr>
              <a:t>Anatomical results:</a:t>
            </a:r>
          </a:p>
          <a:p>
            <a:pPr marL="0" indent="0">
              <a:buNone/>
            </a:pPr>
            <a:endParaRPr lang="en-IN"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Anatomical results were assessed by presence or absence of deformities, shortening, and hip and knee range of motions. In our study one patient had shortening &gt;1cm, two patients had varus malunion </a:t>
            </a:r>
            <a:endParaRPr lang="en-IN" sz="2400"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77F81D0-CE3D-2E12-EF7D-46F0CA625047}"/>
              </a:ext>
            </a:extLst>
          </p:cNvPr>
          <p:cNvSpPr>
            <a:spLocks noGrp="1"/>
          </p:cNvSpPr>
          <p:nvPr>
            <p:ph sz="half" idx="2"/>
          </p:nvPr>
        </p:nvSpPr>
        <p:spPr/>
        <p:txBody>
          <a:bodyPr/>
          <a:lstStyle/>
          <a:p>
            <a:pPr marL="0" indent="0">
              <a:buNone/>
            </a:pPr>
            <a:endParaRPr lang="en-IN" sz="2400" u="sng" dirty="0">
              <a:latin typeface="Arial" panose="020B0604020202020204" pitchFamily="34" charset="0"/>
              <a:cs typeface="Arial" panose="020B0604020202020204" pitchFamily="34" charset="0"/>
            </a:endParaRPr>
          </a:p>
          <a:p>
            <a:pPr marL="0" indent="0">
              <a:buNone/>
            </a:pPr>
            <a:r>
              <a:rPr lang="en-IN" sz="2400" u="sng" dirty="0">
                <a:latin typeface="Arial" panose="020B0604020202020204" pitchFamily="34" charset="0"/>
                <a:cs typeface="Arial" panose="020B0604020202020204" pitchFamily="34" charset="0"/>
              </a:rPr>
              <a:t>Functional Results: </a:t>
            </a:r>
          </a:p>
          <a:p>
            <a:pPr marL="0" indent="0">
              <a:buNone/>
            </a:pPr>
            <a:endParaRPr lang="en-IN" sz="2400" u="sng"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In our series of 30 operated cases Functional and anatomical results were assessed taking using Harris Hip scoring system (Modified) </a:t>
            </a:r>
          </a:p>
          <a:p>
            <a:pPr marL="0" indent="0">
              <a:buNone/>
            </a:pPr>
            <a:r>
              <a:rPr lang="en-US" sz="2400" dirty="0">
                <a:latin typeface="Arial" panose="020B0604020202020204" pitchFamily="34" charset="0"/>
                <a:cs typeface="Arial" panose="020B0604020202020204" pitchFamily="34" charset="0"/>
              </a:rPr>
              <a:t>-Intertrochanteric – 19</a:t>
            </a:r>
          </a:p>
          <a:p>
            <a:pPr marL="0" indent="0">
              <a:buNone/>
            </a:pPr>
            <a:r>
              <a:rPr lang="en-US" sz="2400" dirty="0">
                <a:latin typeface="Arial" panose="020B0604020202020204" pitchFamily="34" charset="0"/>
                <a:cs typeface="Arial" panose="020B0604020202020204" pitchFamily="34" charset="0"/>
              </a:rPr>
              <a:t>-Subtrochanteric - 11</a:t>
            </a:r>
            <a:endParaRPr lang="en-IN" sz="2400" u="sng"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4779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4844A-BCD9-FEF0-861A-9ECB0D1A3447}"/>
              </a:ext>
            </a:extLst>
          </p:cNvPr>
          <p:cNvSpPr>
            <a:spLocks noGrp="1"/>
          </p:cNvSpPr>
          <p:nvPr>
            <p:ph type="title"/>
          </p:nvPr>
        </p:nvSpPr>
        <p:spPr/>
        <p:txBody>
          <a:bodyPr/>
          <a:lstStyle/>
          <a:p>
            <a:br>
              <a:rPr lang="en-IN" sz="2400" dirty="0">
                <a:latin typeface="Arial" panose="020B0604020202020204" pitchFamily="34" charset="0"/>
                <a:cs typeface="Arial" panose="020B0604020202020204" pitchFamily="34" charset="0"/>
              </a:rPr>
            </a:br>
            <a:br>
              <a:rPr lang="en-IN" sz="2400" dirty="0">
                <a:latin typeface="Arial" panose="020B0604020202020204" pitchFamily="34" charset="0"/>
                <a:cs typeface="Arial" panose="020B0604020202020204" pitchFamily="34" charset="0"/>
              </a:rPr>
            </a:b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163652ED-58F9-953D-D055-010DF41E5E9D}"/>
              </a:ext>
            </a:extLst>
          </p:cNvPr>
          <p:cNvSpPr>
            <a:spLocks noGrp="1"/>
          </p:cNvSpPr>
          <p:nvPr>
            <p:ph idx="1"/>
          </p:nvPr>
        </p:nvSpPr>
        <p:spPr>
          <a:xfrm>
            <a:off x="838200" y="1690688"/>
            <a:ext cx="10515600" cy="4945289"/>
          </a:xfrm>
        </p:spPr>
        <p:txBody>
          <a:bodyPr/>
          <a:lstStyle/>
          <a:p>
            <a:pPr marL="0" indent="0">
              <a:buNone/>
            </a:pPr>
            <a:r>
              <a:rPr lang="en-US" sz="2400" dirty="0">
                <a:latin typeface="Arial" panose="020B0604020202020204" pitchFamily="34" charset="0"/>
                <a:cs typeface="Arial" panose="020B0604020202020204" pitchFamily="34" charset="0"/>
              </a:rPr>
              <a:t>In the present study 30 patients with extracapsular proximal femoral fractures were surgically managed with proximal femoral nail:</a:t>
            </a:r>
          </a:p>
          <a:p>
            <a:pPr marL="0" indent="0">
              <a:buNone/>
            </a:pPr>
            <a:r>
              <a:rPr lang="en-US" sz="2400" dirty="0">
                <a:latin typeface="Arial" panose="020B0604020202020204" pitchFamily="34" charset="0"/>
                <a:cs typeface="Arial" panose="020B0604020202020204" pitchFamily="34" charset="0"/>
              </a:rPr>
              <a:t>Advantage of this device is it prevents excess collapse at fracture site thus maintaining neck length.</a:t>
            </a:r>
          </a:p>
          <a:p>
            <a:pPr marL="0" indent="0">
              <a:buNone/>
            </a:pPr>
            <a:r>
              <a:rPr lang="en-US" sz="2400" dirty="0">
                <a:latin typeface="Arial" panose="020B0604020202020204" pitchFamily="34" charset="0"/>
                <a:cs typeface="Arial" panose="020B0604020202020204" pitchFamily="34" charset="0"/>
              </a:rPr>
              <a:t>The entry point determination is the most crucial step in this procedure which is the tip of the trochanter. The device is fixed distally in both dynamic and static mode so in case of delayed union it can be </a:t>
            </a:r>
            <a:r>
              <a:rPr lang="en-US" sz="2400" dirty="0" err="1">
                <a:latin typeface="Arial" panose="020B0604020202020204" pitchFamily="34" charset="0"/>
                <a:cs typeface="Arial" panose="020B0604020202020204" pitchFamily="34" charset="0"/>
              </a:rPr>
              <a:t>dynamised</a:t>
            </a:r>
            <a:r>
              <a:rPr lang="en-US" sz="2400" dirty="0">
                <a:latin typeface="Arial" panose="020B0604020202020204" pitchFamily="34" charset="0"/>
                <a:cs typeface="Arial" panose="020B0604020202020204" pitchFamily="34" charset="0"/>
              </a:rPr>
              <a:t>.</a:t>
            </a:r>
          </a:p>
          <a:p>
            <a:pPr marL="0" indent="0">
              <a:buNone/>
            </a:pPr>
            <a:r>
              <a:rPr lang="en-US" sz="2400" dirty="0">
                <a:latin typeface="Arial" panose="020B0604020202020204" pitchFamily="34" charset="0"/>
                <a:cs typeface="Arial" panose="020B0604020202020204" pitchFamily="34" charset="0"/>
              </a:rPr>
              <a:t>The two neck screws should be placed in the </a:t>
            </a:r>
            <a:r>
              <a:rPr lang="en-US" sz="2400" dirty="0" err="1">
                <a:latin typeface="Arial" panose="020B0604020202020204" pitchFamily="34" charset="0"/>
                <a:cs typeface="Arial" panose="020B0604020202020204" pitchFamily="34" charset="0"/>
              </a:rPr>
              <a:t>centre</a:t>
            </a:r>
            <a:r>
              <a:rPr lang="en-US" sz="2400" dirty="0">
                <a:latin typeface="Arial" panose="020B0604020202020204" pitchFamily="34" charset="0"/>
                <a:cs typeface="Arial" panose="020B0604020202020204" pitchFamily="34" charset="0"/>
              </a:rPr>
              <a:t> of neck and head, the proximal one acts as </a:t>
            </a:r>
            <a:r>
              <a:rPr lang="en-US" sz="2400" dirty="0" err="1">
                <a:latin typeface="Arial" panose="020B0604020202020204" pitchFamily="34" charset="0"/>
                <a:cs typeface="Arial" panose="020B0604020202020204" pitchFamily="34" charset="0"/>
              </a:rPr>
              <a:t>derotation</a:t>
            </a:r>
            <a:r>
              <a:rPr lang="en-US" sz="2400" dirty="0">
                <a:latin typeface="Arial" panose="020B0604020202020204" pitchFamily="34" charset="0"/>
                <a:cs typeface="Arial" panose="020B0604020202020204" pitchFamily="34" charset="0"/>
              </a:rPr>
              <a:t> screw and the distal one as collapsing screw.</a:t>
            </a:r>
          </a:p>
          <a:p>
            <a:pPr marL="0" indent="0">
              <a:buNone/>
            </a:pPr>
            <a:r>
              <a:rPr lang="en-US" sz="1600" dirty="0"/>
              <a:t> </a:t>
            </a:r>
            <a:r>
              <a:rPr lang="en-US" sz="2400" dirty="0">
                <a:latin typeface="Arial" panose="020B0604020202020204" pitchFamily="34" charset="0"/>
                <a:cs typeface="Arial" panose="020B0604020202020204" pitchFamily="34" charset="0"/>
              </a:rPr>
              <a:t>Hence I conclude, though the learning curve of this procedure is steep with proper patient selection, good instruments, image intensifier and surgical technique, PFN remains the implant of choice in the management of intertrochanteric and subtrochanteric fractures.</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6061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AC2FA1-DAE6-C4CF-F964-EEB3AB5F3218}"/>
              </a:ext>
            </a:extLst>
          </p:cNvPr>
          <p:cNvSpPr txBox="1"/>
          <p:nvPr/>
        </p:nvSpPr>
        <p:spPr>
          <a:xfrm>
            <a:off x="685800" y="1458686"/>
            <a:ext cx="10798629" cy="4893647"/>
          </a:xfrm>
          <a:prstGeom prst="rect">
            <a:avLst/>
          </a:prstGeom>
          <a:noFill/>
        </p:spPr>
        <p:txBody>
          <a:bodyPr wrap="square">
            <a:spAutoFit/>
          </a:bodyPr>
          <a:lstStyle/>
          <a:p>
            <a:r>
              <a:rPr lang="en-IN" sz="2400" dirty="0">
                <a:latin typeface="Arial" panose="020B0604020202020204" pitchFamily="34" charset="0"/>
                <a:cs typeface="Arial" panose="020B0604020202020204" pitchFamily="34" charset="0"/>
              </a:rPr>
              <a:t>REFERENCES:</a:t>
            </a:r>
          </a:p>
          <a:p>
            <a:r>
              <a:rPr lang="en-US" sz="2400" dirty="0">
                <a:latin typeface="Arial" panose="020B0604020202020204" pitchFamily="34" charset="0"/>
                <a:cs typeface="Arial" panose="020B0604020202020204" pitchFamily="34" charset="0"/>
              </a:rPr>
              <a:t>1.A prospective study of surgical management of fractures of proximal femur using proximal femoral nail Dr. </a:t>
            </a:r>
            <a:r>
              <a:rPr lang="en-US" sz="2400" dirty="0" err="1">
                <a:latin typeface="Arial" panose="020B0604020202020204" pitchFamily="34" charset="0"/>
                <a:cs typeface="Arial" panose="020B0604020202020204" pitchFamily="34" charset="0"/>
              </a:rPr>
              <a:t>Yathisha</a:t>
            </a:r>
            <a:r>
              <a:rPr lang="en-US" sz="2400" dirty="0">
                <a:latin typeface="Arial" panose="020B0604020202020204" pitchFamily="34" charset="0"/>
                <a:cs typeface="Arial" panose="020B0604020202020204" pitchFamily="34" charset="0"/>
              </a:rPr>
              <a:t> SR and Dr. Mohd Zeeshan </a:t>
            </a:r>
            <a:r>
              <a:rPr lang="en-US" sz="2400" dirty="0" err="1">
                <a:latin typeface="Arial" panose="020B0604020202020204" pitchFamily="34" charset="0"/>
                <a:cs typeface="Arial" panose="020B0604020202020204" pitchFamily="34" charset="0"/>
              </a:rPr>
              <a:t>Vasif</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2.</a:t>
            </a:r>
            <a:r>
              <a:rPr lang="sv-SE" sz="2400" dirty="0">
                <a:latin typeface="Arial" panose="020B0604020202020204" pitchFamily="34" charset="0"/>
                <a:cs typeface="Arial" panose="020B0604020202020204" pitchFamily="34" charset="0"/>
              </a:rPr>
              <a:t> GS Kulkarni, Rajiv Limaye, Milind Kulkarni, Sunil Kulkarni. Intertrochanteric fractures. Indian journal of </a:t>
            </a:r>
            <a:r>
              <a:rPr lang="en-IN" sz="2400" dirty="0">
                <a:latin typeface="Arial" panose="020B0604020202020204" pitchFamily="34" charset="0"/>
                <a:cs typeface="Arial" panose="020B0604020202020204" pitchFamily="34" charset="0"/>
              </a:rPr>
              <a:t>orthopaedics 2008;40:16-23. </a:t>
            </a:r>
          </a:p>
          <a:p>
            <a:r>
              <a:rPr lang="en-IN" sz="2400" dirty="0">
                <a:latin typeface="Arial" panose="020B0604020202020204" pitchFamily="34" charset="0"/>
                <a:cs typeface="Arial" panose="020B0604020202020204" pitchFamily="34" charset="0"/>
              </a:rPr>
              <a:t>3.</a:t>
            </a:r>
            <a:r>
              <a:rPr lang="en-US" sz="2400" dirty="0">
                <a:latin typeface="Arial" panose="020B0604020202020204" pitchFamily="34" charset="0"/>
                <a:cs typeface="Arial" panose="020B0604020202020204" pitchFamily="34" charset="0"/>
              </a:rPr>
              <a:t> Koval KJ, </a:t>
            </a:r>
            <a:r>
              <a:rPr lang="en-US" sz="2400" dirty="0" err="1">
                <a:latin typeface="Arial" panose="020B0604020202020204" pitchFamily="34" charset="0"/>
                <a:cs typeface="Arial" panose="020B0604020202020204" pitchFamily="34" charset="0"/>
              </a:rPr>
              <a:t>Aharonoff</a:t>
            </a:r>
            <a:r>
              <a:rPr lang="en-US" sz="2400" dirty="0">
                <a:latin typeface="Arial" panose="020B0604020202020204" pitchFamily="34" charset="0"/>
                <a:cs typeface="Arial" panose="020B0604020202020204" pitchFamily="34" charset="0"/>
              </a:rPr>
              <a:t> GB, </a:t>
            </a:r>
            <a:r>
              <a:rPr lang="en-US" sz="2400" dirty="0" err="1">
                <a:latin typeface="Arial" panose="020B0604020202020204" pitchFamily="34" charset="0"/>
                <a:cs typeface="Arial" panose="020B0604020202020204" pitchFamily="34" charset="0"/>
              </a:rPr>
              <a:t>Rokito</a:t>
            </a:r>
            <a:r>
              <a:rPr lang="en-US" sz="2400" dirty="0">
                <a:latin typeface="Arial" panose="020B0604020202020204" pitchFamily="34" charset="0"/>
                <a:cs typeface="Arial" panose="020B0604020202020204" pitchFamily="34" charset="0"/>
              </a:rPr>
              <a:t> AS, Lyon T, Zuckerman JD. Patients with femoral neck and intertrochanteric fractures: Are they the same? Clin </a:t>
            </a:r>
            <a:r>
              <a:rPr lang="en-US" sz="2400" dirty="0" err="1">
                <a:latin typeface="Arial" panose="020B0604020202020204" pitchFamily="34" charset="0"/>
                <a:cs typeface="Arial" panose="020B0604020202020204" pitchFamily="34" charset="0"/>
              </a:rPr>
              <a:t>Orthop</a:t>
            </a:r>
            <a:r>
              <a:rPr lang="en-US" sz="2400" dirty="0">
                <a:latin typeface="Arial" panose="020B0604020202020204" pitchFamily="34" charset="0"/>
                <a:cs typeface="Arial" panose="020B0604020202020204" pitchFamily="34" charset="0"/>
              </a:rPr>
              <a:t> 1996;330:166-172 </a:t>
            </a:r>
          </a:p>
          <a:p>
            <a:r>
              <a:rPr lang="en-US" sz="2400" dirty="0">
                <a:latin typeface="Arial" panose="020B0604020202020204" pitchFamily="34" charset="0"/>
                <a:cs typeface="Arial" panose="020B0604020202020204" pitchFamily="34" charset="0"/>
              </a:rPr>
              <a:t>4. Micheal W. Chapman’s "Chapman’s </a:t>
            </a:r>
            <a:r>
              <a:rPr lang="en-US" sz="2400" dirty="0" err="1">
                <a:latin typeface="Arial" panose="020B0604020202020204" pitchFamily="34" charset="0"/>
                <a:cs typeface="Arial" panose="020B0604020202020204" pitchFamily="34" charset="0"/>
              </a:rPr>
              <a:t>orthopaedic</a:t>
            </a:r>
            <a:r>
              <a:rPr lang="en-US" sz="2400" dirty="0">
                <a:latin typeface="Arial" panose="020B0604020202020204" pitchFamily="34" charset="0"/>
                <a:cs typeface="Arial" panose="020B0604020202020204" pitchFamily="34" charset="0"/>
              </a:rPr>
              <a:t> surgery", volume </a:t>
            </a:r>
            <a:r>
              <a:rPr lang="en-US" sz="2400" dirty="0" err="1">
                <a:latin typeface="Arial" panose="020B0604020202020204" pitchFamily="34" charset="0"/>
                <a:cs typeface="Arial" panose="020B0604020202020204" pitchFamily="34" charset="0"/>
              </a:rPr>
              <a:t>Lipincott</a:t>
            </a:r>
            <a:r>
              <a:rPr lang="en-US" sz="2400" dirty="0">
                <a:latin typeface="Arial" panose="020B0604020202020204" pitchFamily="34" charset="0"/>
                <a:cs typeface="Arial" panose="020B0604020202020204" pitchFamily="34" charset="0"/>
              </a:rPr>
              <a:t> Williams and </a:t>
            </a:r>
            <a:r>
              <a:rPr lang="en-US" sz="2400" dirty="0" err="1">
                <a:latin typeface="Arial" panose="020B0604020202020204" pitchFamily="34" charset="0"/>
                <a:cs typeface="Arial" panose="020B0604020202020204" pitchFamily="34" charset="0"/>
              </a:rPr>
              <a:t>wilkins</a:t>
            </a:r>
            <a:r>
              <a:rPr lang="en-US" sz="2400" dirty="0">
                <a:latin typeface="Arial" panose="020B0604020202020204" pitchFamily="34" charset="0"/>
                <a:cs typeface="Arial" panose="020B0604020202020204" pitchFamily="34" charset="0"/>
              </a:rPr>
              <a:t> company, 3, 618-665. </a:t>
            </a:r>
          </a:p>
          <a:p>
            <a:r>
              <a:rPr lang="en-US" sz="2400" dirty="0">
                <a:latin typeface="Arial" panose="020B0604020202020204" pitchFamily="34" charset="0"/>
                <a:cs typeface="Arial" panose="020B0604020202020204" pitchFamily="34" charset="0"/>
              </a:rPr>
              <a:t>5. Bucholz, Robert W, Heckman, James D, Court-Brown, Charles M, Tornetta Paul. Rockwood and Green's Fractures in Adults, 7th Edition. Lippincott Williams &amp; Wilkins; 2010;2(chapter 48):1597-1637. </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749529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1418</TotalTime>
  <Words>685</Words>
  <Application>Microsoft Office PowerPoint</Application>
  <PresentationFormat>Widescreen</PresentationFormat>
  <Paragraphs>51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Gordita </vt:lpstr>
      <vt:lpstr>Office Theme</vt:lpstr>
      <vt:lpstr>PowerPoint Presentation</vt:lpstr>
      <vt:lpstr> INTR0DUCTION:  </vt:lpstr>
      <vt:lpstr> AIM:</vt:lpstr>
      <vt:lpstr>METHODS:</vt:lpstr>
      <vt:lpstr>PowerPoint Presentation</vt:lpstr>
      <vt:lpstr>   RESULTS:</vt:lpstr>
      <vt:lpstr>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atulpratap tomar</cp:lastModifiedBy>
  <cp:revision>6</cp:revision>
  <dcterms:created xsi:type="dcterms:W3CDTF">2026-01-11T06:24:43Z</dcterms:created>
  <dcterms:modified xsi:type="dcterms:W3CDTF">2026-01-27T05:04:30Z</dcterms:modified>
</cp:coreProperties>
</file>