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755"/>
    <a:srgbClr val="01234D"/>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0F2A2A-74A5-4B1A-848C-412134C308C5}" v="1" dt="2026-01-30T13:17:00.7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du anthati" userId="0986b41733cbf235" providerId="LiveId" clId="{F40F2A2A-74A5-4B1A-848C-412134C308C5}"/>
    <pc:docChg chg="modSld">
      <pc:chgData name="nandu anthati" userId="0986b41733cbf235" providerId="LiveId" clId="{F40F2A2A-74A5-4B1A-848C-412134C308C5}" dt="2026-01-30T13:19:07.358" v="23" actId="1076"/>
      <pc:docMkLst>
        <pc:docMk/>
      </pc:docMkLst>
      <pc:sldChg chg="addSp modSp mod">
        <pc:chgData name="nandu anthati" userId="0986b41733cbf235" providerId="LiveId" clId="{F40F2A2A-74A5-4B1A-848C-412134C308C5}" dt="2026-01-30T13:19:07.358" v="23" actId="1076"/>
        <pc:sldMkLst>
          <pc:docMk/>
          <pc:sldMk cId="3607354635" sldId="256"/>
        </pc:sldMkLst>
        <pc:spChg chg="add mod">
          <ac:chgData name="nandu anthati" userId="0986b41733cbf235" providerId="LiveId" clId="{F40F2A2A-74A5-4B1A-848C-412134C308C5}" dt="2026-01-30T13:19:07.358" v="23" actId="1076"/>
          <ac:spMkLst>
            <pc:docMk/>
            <pc:sldMk cId="3607354635" sldId="256"/>
            <ac:spMk id="2" creationId="{79216BAC-63F2-BB40-E7D4-6079B5347E49}"/>
          </ac:spMkLst>
        </pc:spChg>
        <pc:spChg chg="mod">
          <ac:chgData name="nandu anthati" userId="0986b41733cbf235" providerId="LiveId" clId="{F40F2A2A-74A5-4B1A-848C-412134C308C5}" dt="2026-01-30T13:17:46.893" v="5" actId="255"/>
          <ac:spMkLst>
            <pc:docMk/>
            <pc:sldMk cId="3607354635" sldId="256"/>
            <ac:spMk id="11" creationId="{493EBCB5-BB50-7945-E88B-86122853702B}"/>
          </ac:spMkLst>
        </pc:spChg>
        <pc:spChg chg="mod">
          <ac:chgData name="nandu anthati" userId="0986b41733cbf235" providerId="LiveId" clId="{F40F2A2A-74A5-4B1A-848C-412134C308C5}" dt="2026-01-30T13:16:18.838" v="0" actId="1076"/>
          <ac:spMkLst>
            <pc:docMk/>
            <pc:sldMk cId="3607354635" sldId="256"/>
            <ac:spMk id="12" creationId="{779DCDE1-7E85-0646-3543-9C1638CEB9CA}"/>
          </ac:spMkLst>
        </pc:spChg>
        <pc:spChg chg="mod">
          <ac:chgData name="nandu anthati" userId="0986b41733cbf235" providerId="LiveId" clId="{F40F2A2A-74A5-4B1A-848C-412134C308C5}" dt="2026-01-30T13:16:28.152" v="1" actId="14100"/>
          <ac:spMkLst>
            <pc:docMk/>
            <pc:sldMk cId="3607354635" sldId="256"/>
            <ac:spMk id="14" creationId="{E872BCCA-09F4-9D91-AE26-B5E437D7714E}"/>
          </ac:spMkLst>
        </pc:spChg>
        <pc:spChg chg="mod">
          <ac:chgData name="nandu anthati" userId="0986b41733cbf235" providerId="LiveId" clId="{F40F2A2A-74A5-4B1A-848C-412134C308C5}" dt="2026-01-30T13:16:44.848" v="2" actId="14100"/>
          <ac:spMkLst>
            <pc:docMk/>
            <pc:sldMk cId="3607354635" sldId="256"/>
            <ac:spMk id="19" creationId="{CF1F608A-7742-BF27-09EC-3BB7CA324D6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7B324A-A447-45D7-ACB3-12FADC52B878}" type="datetimeFigureOut">
              <a:rPr lang="en-IN" smtClean="0"/>
              <a:t>30-01-2026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D6B5CE-9129-4DDA-A438-A88B4F92BAFD}" type="slidenum">
              <a:rPr lang="en-IN" smtClean="0"/>
              <a:t>‹#›</a:t>
            </a:fld>
            <a:endParaRPr lang="en-IN"/>
          </a:p>
        </p:txBody>
      </p:sp>
    </p:spTree>
    <p:extLst>
      <p:ext uri="{BB962C8B-B14F-4D97-AF65-F5344CB8AC3E}">
        <p14:creationId xmlns:p14="http://schemas.microsoft.com/office/powerpoint/2010/main" val="4136733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Acceptable alignments after fracture reduction are  &lt;5 mm translation, &lt;5o–10o angulation, &lt;10o rotational deformity, and &lt;1 cm femoral shortening.</a:t>
            </a:r>
            <a:endParaRPr lang="en-IN" dirty="0"/>
          </a:p>
        </p:txBody>
      </p:sp>
      <p:sp>
        <p:nvSpPr>
          <p:cNvPr id="4" name="Slide Number Placeholder 3"/>
          <p:cNvSpPr>
            <a:spLocks noGrp="1"/>
          </p:cNvSpPr>
          <p:nvPr>
            <p:ph type="sldNum" sz="quarter" idx="5"/>
          </p:nvPr>
        </p:nvSpPr>
        <p:spPr/>
        <p:txBody>
          <a:bodyPr/>
          <a:lstStyle/>
          <a:p>
            <a:fld id="{41D6B5CE-9129-4DDA-A438-A88B4F92BAFD}" type="slidenum">
              <a:rPr lang="en-IN" smtClean="0"/>
              <a:t>1</a:t>
            </a:fld>
            <a:endParaRPr lang="en-IN"/>
          </a:p>
        </p:txBody>
      </p:sp>
    </p:spTree>
    <p:extLst>
      <p:ext uri="{BB962C8B-B14F-4D97-AF65-F5344CB8AC3E}">
        <p14:creationId xmlns:p14="http://schemas.microsoft.com/office/powerpoint/2010/main" val="2538562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1/30/2026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jpg"/><Relationship Id="rId3" Type="http://schemas.openxmlformats.org/officeDocument/2006/relationships/image" Target="../media/image1.png"/><Relationship Id="rId7" Type="http://schemas.openxmlformats.org/officeDocument/2006/relationships/image" Target="../media/image5.jpg"/><Relationship Id="rId12"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eg"/><Relationship Id="rId5" Type="http://schemas.openxmlformats.org/officeDocument/2006/relationships/image" Target="../media/image3.png"/><Relationship Id="rId15" Type="http://schemas.openxmlformats.org/officeDocument/2006/relationships/image" Target="../media/image13.jpg"/><Relationship Id="rId10" Type="http://schemas.openxmlformats.org/officeDocument/2006/relationships/image" Target="../media/image8.jp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300972"/>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900"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2314" y="74822"/>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41230" y="123390"/>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65353" y="192303"/>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1794747" y="-24888"/>
            <a:ext cx="7473713" cy="369332"/>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Orthopedic Surgeon Society of Andhra Pradesh</a:t>
            </a:r>
          </a:p>
        </p:txBody>
      </p:sp>
      <p:sp>
        <p:nvSpPr>
          <p:cNvPr id="19" name="TextBox 18">
            <a:extLst>
              <a:ext uri="{FF2B5EF4-FFF2-40B4-BE49-F238E27FC236}">
                <a16:creationId xmlns:a16="http://schemas.microsoft.com/office/drawing/2014/main" id="{CF1F608A-7742-BF27-09EC-3BB7CA324D68}"/>
              </a:ext>
            </a:extLst>
          </p:cNvPr>
          <p:cNvSpPr txBox="1"/>
          <p:nvPr/>
        </p:nvSpPr>
        <p:spPr>
          <a:xfrm>
            <a:off x="1235161" y="228598"/>
            <a:ext cx="8926120" cy="954107"/>
          </a:xfrm>
          <a:prstGeom prst="rect">
            <a:avLst/>
          </a:prstGeom>
          <a:noFill/>
        </p:spPr>
        <p:txBody>
          <a:bodyPr wrap="square" rtlCol="0">
            <a:spAutoFit/>
          </a:bodyPr>
          <a:lstStyle/>
          <a:p>
            <a:pPr algn="ctr"/>
            <a:r>
              <a:rPr lang="en-IN" sz="1600" b="1" dirty="0">
                <a:solidFill>
                  <a:schemeClr val="bg1"/>
                </a:solidFill>
                <a:latin typeface="Arial" panose="020B0604020202020204" pitchFamily="34" charset="0"/>
                <a:cs typeface="Arial" panose="020B0604020202020204" pitchFamily="34" charset="0"/>
              </a:rPr>
              <a:t>A  CASE  REPORT  ON  MANAGEMENT  OF  </a:t>
            </a:r>
          </a:p>
          <a:p>
            <a:pPr algn="ctr"/>
            <a:r>
              <a:rPr lang="en-IN" sz="1600" b="1" dirty="0">
                <a:solidFill>
                  <a:schemeClr val="bg1"/>
                </a:solidFill>
                <a:latin typeface="Arial" panose="020B0604020202020204" pitchFamily="34" charset="0"/>
                <a:cs typeface="Arial" panose="020B0604020202020204" pitchFamily="34" charset="0"/>
              </a:rPr>
              <a:t>ANEURYSMAL BONE CYST OF DISTAL RADIUS</a:t>
            </a:r>
          </a:p>
          <a:p>
            <a:pPr algn="ctr"/>
            <a:r>
              <a:rPr lang="en-US" sz="1200" dirty="0">
                <a:solidFill>
                  <a:schemeClr val="bg1"/>
                </a:solidFill>
                <a:latin typeface="Arial" panose="020B0604020202020204" pitchFamily="34" charset="0"/>
                <a:cs typeface="Arial" panose="020B0604020202020204" pitchFamily="34" charset="0"/>
              </a:rPr>
              <a:t>PRESENTING AUTHOR: DR ANTHATI YOGANAND</a:t>
            </a:r>
          </a:p>
          <a:p>
            <a:r>
              <a:rPr lang="en-US" sz="1200" dirty="0">
                <a:solidFill>
                  <a:schemeClr val="bg1"/>
                </a:solidFill>
                <a:latin typeface="Arial" panose="020B0604020202020204" pitchFamily="34" charset="0"/>
                <a:cs typeface="Arial" panose="020B0604020202020204" pitchFamily="34" charset="0"/>
              </a:rPr>
              <a:t>     CO-AUTHORS : DR JAGADESH GUDARU MS.,MCH(ORTHO) ; DR K DEEPAK MS(ORTHO), DR AVINASH B DNB(ORTHO)</a:t>
            </a:r>
          </a:p>
        </p:txBody>
      </p:sp>
      <p:sp>
        <p:nvSpPr>
          <p:cNvPr id="4" name="Freeform 13">
            <a:extLst>
              <a:ext uri="{FF2B5EF4-FFF2-40B4-BE49-F238E27FC236}">
                <a16:creationId xmlns:a16="http://schemas.microsoft.com/office/drawing/2014/main" id="{0F401C6F-33A3-A415-AD1A-709059E901BF}"/>
              </a:ext>
            </a:extLst>
          </p:cNvPr>
          <p:cNvSpPr/>
          <p:nvPr/>
        </p:nvSpPr>
        <p:spPr>
          <a:xfrm>
            <a:off x="-16133"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6"/>
            <a:stretch>
              <a:fillRect t="-9937" r="-4895" b="-10857"/>
            </a:stretch>
          </a:blipFill>
        </p:spPr>
        <p:txBody>
          <a:bodyPr/>
          <a:lstStyle/>
          <a:p>
            <a:endParaRPr lang="en-US"/>
          </a:p>
        </p:txBody>
      </p:sp>
      <p:sp>
        <p:nvSpPr>
          <p:cNvPr id="6" name="Rectangle 5">
            <a:extLst>
              <a:ext uri="{FF2B5EF4-FFF2-40B4-BE49-F238E27FC236}">
                <a16:creationId xmlns:a16="http://schemas.microsoft.com/office/drawing/2014/main" id="{EC094F03-F93B-9B6D-7C11-87F9C75E6ABB}"/>
              </a:ext>
            </a:extLst>
          </p:cNvPr>
          <p:cNvSpPr/>
          <p:nvPr/>
        </p:nvSpPr>
        <p:spPr>
          <a:xfrm>
            <a:off x="17033" y="4689111"/>
            <a:ext cx="3108960" cy="21546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137836" y="1280157"/>
            <a:ext cx="3185962" cy="55778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6352674" y="1477475"/>
            <a:ext cx="5839326" cy="33303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800">
                <a:latin typeface="Arial" panose="020B0604020202020204" pitchFamily="34" charset="0"/>
                <a:cs typeface="Arial" panose="020B0604020202020204" pitchFamily="34" charset="0"/>
              </a:rPr>
              <a:t>4months follow up</a:t>
            </a:r>
            <a:endParaRPr lang="en-IN" sz="18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0EFC2BB9-1938-0DF3-F424-CAC28C6D9880}"/>
              </a:ext>
            </a:extLst>
          </p:cNvPr>
          <p:cNvSpPr/>
          <p:nvPr/>
        </p:nvSpPr>
        <p:spPr>
          <a:xfrm>
            <a:off x="6352674" y="5080536"/>
            <a:ext cx="5839326" cy="17774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800">
                <a:latin typeface="Arial" panose="020B0604020202020204" pitchFamily="34" charset="0"/>
                <a:cs typeface="Arial" panose="020B0604020202020204" pitchFamily="34" charset="0"/>
              </a:rPr>
              <a:t>4months follow up</a:t>
            </a:r>
            <a:endParaRPr lang="en-IN" sz="18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301006"/>
            <a:ext cx="3108959"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3137836" y="1280157"/>
            <a:ext cx="3185962"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lumMod val="95000"/>
                    <a:lumOff val="5000"/>
                  </a:schemeClr>
                </a:solidFill>
              </a:rPr>
              <a:t>OPERATIVE</a:t>
            </a:r>
            <a:r>
              <a:rPr lang="en-US" b="1" dirty="0">
                <a:solidFill>
                  <a:schemeClr val="tx1">
                    <a:lumMod val="95000"/>
                    <a:lumOff val="5000"/>
                  </a:schemeClr>
                </a:solidFill>
              </a:rPr>
              <a:t>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6331411" y="1261520"/>
            <a:ext cx="5839325"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943" y="4225840"/>
            <a:ext cx="3108960"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6352674" y="4807817"/>
            <a:ext cx="5839324" cy="394637"/>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23" name="TextBox 22">
            <a:extLst>
              <a:ext uri="{FF2B5EF4-FFF2-40B4-BE49-F238E27FC236}">
                <a16:creationId xmlns:a16="http://schemas.microsoft.com/office/drawing/2014/main" id="{AA4B470F-190E-8E3F-F7FA-C298FFF5D358}"/>
              </a:ext>
            </a:extLst>
          </p:cNvPr>
          <p:cNvSpPr txBox="1"/>
          <p:nvPr/>
        </p:nvSpPr>
        <p:spPr>
          <a:xfrm>
            <a:off x="-8538" y="1664216"/>
            <a:ext cx="3125993" cy="2492990"/>
          </a:xfrm>
          <a:prstGeom prst="rect">
            <a:avLst/>
          </a:prstGeom>
          <a:solidFill>
            <a:schemeClr val="bg1"/>
          </a:solidFill>
          <a:ln>
            <a:solidFill>
              <a:schemeClr val="tx1"/>
            </a:solidFill>
          </a:ln>
        </p:spPr>
        <p:txBody>
          <a:bodyPr wrap="square" rtlCol="0">
            <a:spAutoFit/>
          </a:bodyPr>
          <a:lstStyle/>
          <a:p>
            <a:pPr marL="171450" indent="-171450">
              <a:buFont typeface="Arial" panose="020B0604020202020204" pitchFamily="34" charset="0"/>
              <a:buChar char="•"/>
            </a:pPr>
            <a:r>
              <a:rPr lang="en-US" sz="1200" dirty="0">
                <a:latin typeface="Arial" panose="020B0604020202020204" pitchFamily="34" charset="0"/>
                <a:ea typeface="Calibri" panose="020F0502020204030204" pitchFamily="34" charset="0"/>
                <a:cs typeface="Arial" panose="020B0604020202020204" pitchFamily="34" charset="0"/>
              </a:rPr>
              <a:t>Aneurysmal bone cyst is a multilocular hematic cyst, locally aggressive benign lesion affecting long bones and spine in an immature skeleton.</a:t>
            </a:r>
          </a:p>
          <a:p>
            <a:pPr marL="171450" indent="-171450">
              <a:buFont typeface="Arial" panose="020B0604020202020204" pitchFamily="34" charset="0"/>
              <a:buChar char="•"/>
            </a:pPr>
            <a:r>
              <a:rPr lang="en-US" sz="1200" dirty="0">
                <a:latin typeface="Arial" panose="020B0604020202020204" pitchFamily="34" charset="0"/>
                <a:ea typeface="Calibri" panose="020F0502020204030204" pitchFamily="34" charset="0"/>
                <a:cs typeface="Arial" panose="020B0604020202020204" pitchFamily="34" charset="0"/>
              </a:rPr>
              <a:t>It was first described and named by Jaffe and Lichtenstein in 1942.</a:t>
            </a:r>
          </a:p>
          <a:p>
            <a:pPr marL="171450" indent="-171450">
              <a:buFont typeface="Arial" panose="020B0604020202020204" pitchFamily="34" charset="0"/>
              <a:buChar char="•"/>
            </a:pPr>
            <a:r>
              <a:rPr lang="en-US" sz="1200" dirty="0">
                <a:latin typeface="Arial" panose="020B0604020202020204" pitchFamily="34" charset="0"/>
                <a:ea typeface="Calibri" panose="020F0502020204030204" pitchFamily="34" charset="0"/>
                <a:cs typeface="Arial" panose="020B0604020202020204" pitchFamily="34" charset="0"/>
              </a:rPr>
              <a:t>Metaphysis of long bones and posterior elements of spine are the common sites.</a:t>
            </a:r>
          </a:p>
          <a:p>
            <a:pPr marL="171450" indent="-171450">
              <a:buFont typeface="Arial" panose="020B0604020202020204" pitchFamily="34" charset="0"/>
              <a:buChar char="•"/>
            </a:pPr>
            <a:r>
              <a:rPr lang="en-US" sz="1200" dirty="0">
                <a:latin typeface="Arial" panose="020B0604020202020204" pitchFamily="34" charset="0"/>
                <a:ea typeface="Calibri" panose="020F0502020204030204" pitchFamily="34" charset="0"/>
                <a:cs typeface="Arial" panose="020B0604020202020204" pitchFamily="34" charset="0"/>
              </a:rPr>
              <a:t>Traditional treatment includes en bloc resection or intralesional curettage.</a:t>
            </a:r>
          </a:p>
          <a:p>
            <a:pPr marL="171450" indent="-171450">
              <a:buFont typeface="Arial" panose="020B0604020202020204" pitchFamily="34" charset="0"/>
              <a:buChar char="•"/>
            </a:pPr>
            <a:r>
              <a:rPr lang="en-US" sz="1200" dirty="0">
                <a:latin typeface="Arial" panose="020B0604020202020204" pitchFamily="34" charset="0"/>
                <a:ea typeface="Calibri" panose="020F0502020204030204" pitchFamily="34" charset="0"/>
                <a:cs typeface="Arial" panose="020B0604020202020204" pitchFamily="34" charset="0"/>
              </a:rPr>
              <a:t>Recent evidences shows good outcomes with intralesional sclerotherapy.</a:t>
            </a:r>
          </a:p>
          <a:p>
            <a:pPr marL="171450" indent="-171450">
              <a:buFont typeface="Arial" panose="020B0604020202020204" pitchFamily="34" charset="0"/>
              <a:buChar char="•"/>
            </a:pPr>
            <a:endParaRPr lang="en-US" sz="1200" dirty="0">
              <a:latin typeface="Arial" panose="020B0604020202020204" pitchFamily="34" charset="0"/>
              <a:ea typeface="Calibri" panose="020F050202020403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1DA5224F-8852-7F87-95F7-7F6E820EE935}"/>
              </a:ext>
            </a:extLst>
          </p:cNvPr>
          <p:cNvSpPr txBox="1"/>
          <p:nvPr/>
        </p:nvSpPr>
        <p:spPr>
          <a:xfrm>
            <a:off x="8495" y="4689111"/>
            <a:ext cx="1567462" cy="2123658"/>
          </a:xfrm>
          <a:prstGeom prst="rect">
            <a:avLst/>
          </a:prstGeom>
          <a:noFill/>
          <a:ln>
            <a:solidFill>
              <a:schemeClr val="tx1"/>
            </a:solidFill>
          </a:ln>
        </p:spPr>
        <p:txBody>
          <a:bodyPr wrap="square" rtlCol="0">
            <a:spAutoFit/>
          </a:bodyPr>
          <a:lstStyle/>
          <a:p>
            <a:r>
              <a:rPr lang="en-US" sz="1200" dirty="0">
                <a:latin typeface="Arial" panose="020B0604020202020204" pitchFamily="34" charset="0"/>
                <a:cs typeface="Arial" panose="020B0604020202020204" pitchFamily="34" charset="0"/>
              </a:rPr>
              <a:t>An 8yr old male child presented with pain and swelling over right wrist since 3years following trauma.</a:t>
            </a:r>
          </a:p>
          <a:p>
            <a:r>
              <a:rPr lang="en-US" sz="1200" dirty="0">
                <a:latin typeface="Arial" panose="020B0604020202020204" pitchFamily="34" charset="0"/>
                <a:cs typeface="Arial" panose="020B0604020202020204" pitchFamily="34" charset="0"/>
              </a:rPr>
              <a:t>Radiographs and MRI revealed Aneurysmal bone cyst of right distal radius.</a:t>
            </a:r>
          </a:p>
        </p:txBody>
      </p:sp>
      <p:sp>
        <p:nvSpPr>
          <p:cNvPr id="25" name="TextBox 24">
            <a:extLst>
              <a:ext uri="{FF2B5EF4-FFF2-40B4-BE49-F238E27FC236}">
                <a16:creationId xmlns:a16="http://schemas.microsoft.com/office/drawing/2014/main" id="{7D68BB39-E1B5-50C0-0DBE-4A025D50601D}"/>
              </a:ext>
            </a:extLst>
          </p:cNvPr>
          <p:cNvSpPr txBox="1"/>
          <p:nvPr/>
        </p:nvSpPr>
        <p:spPr>
          <a:xfrm>
            <a:off x="3125993" y="1619590"/>
            <a:ext cx="3226678" cy="2492990"/>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Patient in supine position, under sedation right wrist draped under aseptic precautions.</a:t>
            </a: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Under fluoroscopic guidance lytic lesion of right distal radius identified.</a:t>
            </a: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16G canula passed percutaneously to the lesion and contents aspirated.</a:t>
            </a: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3% polidocanol injected through the  canula into the lesion in the dosage of 2mg/kg body weight.</a:t>
            </a: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Backflow prevented by pushing normal saline and compression bandage applied.</a:t>
            </a:r>
          </a:p>
          <a:p>
            <a:pPr marL="171450"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8288B546-8D5C-D80B-16F2-6E625A47A08A}"/>
              </a:ext>
            </a:extLst>
          </p:cNvPr>
          <p:cNvSpPr txBox="1"/>
          <p:nvPr/>
        </p:nvSpPr>
        <p:spPr>
          <a:xfrm>
            <a:off x="6359774" y="1656158"/>
            <a:ext cx="5839324" cy="1754326"/>
          </a:xfrm>
          <a:prstGeom prst="rect">
            <a:avLst/>
          </a:prstGeom>
          <a:noFill/>
          <a:ln>
            <a:solidFill>
              <a:schemeClr val="tx1"/>
            </a:solidFill>
          </a:ln>
        </p:spPr>
        <p:txBody>
          <a:bodyPr wrap="square" rtlCol="0">
            <a:spAutoFit/>
          </a:bodyPr>
          <a:lstStyle/>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Aneurysmal bone cysts are locally aggressive benign cystic lesions with high recurrence rates. En bloc resection provides least chances of recurrence but is invasive with post surgical complications.</a:t>
            </a: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Percutaneous sclerotherapy has gained popularity using sclerosants like polidocanol, tetracycline, alcohol.</a:t>
            </a:r>
          </a:p>
          <a:p>
            <a:pPr marL="171450" indent="-171450">
              <a:buFont typeface="Arial" panose="020B0604020202020204" pitchFamily="34" charset="0"/>
              <a:buChar char="•"/>
            </a:pPr>
            <a:r>
              <a:rPr lang="en-US" sz="1200" dirty="0">
                <a:latin typeface="Arial" panose="020B0604020202020204" pitchFamily="34" charset="0"/>
                <a:cs typeface="Arial" panose="020B0604020202020204" pitchFamily="34" charset="0"/>
              </a:rPr>
              <a:t>After 3 doses of polidocanol injection given with one month interval between the doses, patient shows progressive decrease in size of the swelling, reduced pain, improved wrist range of movements and sclerosis of the lesion in radiographs without any post injection complications.</a:t>
            </a:r>
          </a:p>
        </p:txBody>
      </p:sp>
      <p:sp>
        <p:nvSpPr>
          <p:cNvPr id="38" name="TextBox 37">
            <a:extLst>
              <a:ext uri="{FF2B5EF4-FFF2-40B4-BE49-F238E27FC236}">
                <a16:creationId xmlns:a16="http://schemas.microsoft.com/office/drawing/2014/main" id="{FF6AC0B6-3967-3FA0-5D87-C2C7B85288E9}"/>
              </a:ext>
            </a:extLst>
          </p:cNvPr>
          <p:cNvSpPr txBox="1"/>
          <p:nvPr/>
        </p:nvSpPr>
        <p:spPr>
          <a:xfrm>
            <a:off x="6332336" y="5238410"/>
            <a:ext cx="3622369" cy="1384995"/>
          </a:xfrm>
          <a:prstGeom prst="rect">
            <a:avLst/>
          </a:prstGeom>
          <a:noFill/>
        </p:spPr>
        <p:txBody>
          <a:bodyPr wrap="square">
            <a:spAutoFit/>
          </a:bodyPr>
          <a:lstStyle/>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Percutaneous sclerotherapy with polidocanol is safe, cost effective with less morbidity and has high cure rates and can be performed on out patient basis.</a:t>
            </a:r>
          </a:p>
          <a:p>
            <a:pPr marL="171450" indent="-171450">
              <a:buFont typeface="Arial" panose="020B0604020202020204" pitchFamily="34" charset="0"/>
              <a:buChar char="•"/>
            </a:pPr>
            <a:r>
              <a:rPr lang="en-US" sz="1200">
                <a:latin typeface="Arial" panose="020B0604020202020204" pitchFamily="34" charset="0"/>
                <a:cs typeface="Arial" panose="020B0604020202020204" pitchFamily="34" charset="0"/>
              </a:rPr>
              <a:t>Multiple injections and long term follow up needed for treating recurrence of the lesion.</a:t>
            </a:r>
          </a:p>
          <a:p>
            <a:pPr marL="171450"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p:txBody>
      </p:sp>
      <p:pic>
        <p:nvPicPr>
          <p:cNvPr id="3" name="Picture 2" descr="X-ray of a hand and a hand&#10;&#10;Description automatically generated">
            <a:extLst>
              <a:ext uri="{FF2B5EF4-FFF2-40B4-BE49-F238E27FC236}">
                <a16:creationId xmlns:a16="http://schemas.microsoft.com/office/drawing/2014/main" id="{ABF2EA34-800D-095D-FBE7-268414B969B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73836" y="4689111"/>
            <a:ext cx="1567461" cy="2123657"/>
          </a:xfrm>
          <a:prstGeom prst="rect">
            <a:avLst/>
          </a:prstGeom>
        </p:spPr>
      </p:pic>
      <p:pic>
        <p:nvPicPr>
          <p:cNvPr id="37" name="Picture 36" descr="A hand on a bed&#10;&#10;Description automatically generated">
            <a:extLst>
              <a:ext uri="{FF2B5EF4-FFF2-40B4-BE49-F238E27FC236}">
                <a16:creationId xmlns:a16="http://schemas.microsoft.com/office/drawing/2014/main" id="{26DDBC7D-9427-7F15-23FF-EA060499269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69220" y="3942458"/>
            <a:ext cx="1470854" cy="1450498"/>
          </a:xfrm>
          <a:prstGeom prst="rect">
            <a:avLst/>
          </a:prstGeom>
        </p:spPr>
      </p:pic>
      <p:pic>
        <p:nvPicPr>
          <p:cNvPr id="40" name="Picture 39" descr="A close-up of a black line&#10;&#10;Description automatically generated">
            <a:extLst>
              <a:ext uri="{FF2B5EF4-FFF2-40B4-BE49-F238E27FC236}">
                <a16:creationId xmlns:a16="http://schemas.microsoft.com/office/drawing/2014/main" id="{59EF8E66-7BF3-3495-5E47-393585EBB65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64034" y="5407500"/>
            <a:ext cx="1442680" cy="1436245"/>
          </a:xfrm>
          <a:prstGeom prst="rect">
            <a:avLst/>
          </a:prstGeom>
        </p:spPr>
      </p:pic>
      <p:pic>
        <p:nvPicPr>
          <p:cNvPr id="46" name="Picture 45" descr="A person getting an injection&#10;&#10;Description automatically generated">
            <a:extLst>
              <a:ext uri="{FF2B5EF4-FFF2-40B4-BE49-F238E27FC236}">
                <a16:creationId xmlns:a16="http://schemas.microsoft.com/office/drawing/2014/main" id="{4DA21D64-A269-3078-DDA5-1709D93454A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40076" y="3945233"/>
            <a:ext cx="1589852" cy="1469127"/>
          </a:xfrm>
          <a:prstGeom prst="rect">
            <a:avLst/>
          </a:prstGeom>
        </p:spPr>
      </p:pic>
      <p:pic>
        <p:nvPicPr>
          <p:cNvPr id="49" name="Picture 48" descr="A close-up of a grey and white background&#10;&#10;Description automatically generated">
            <a:extLst>
              <a:ext uri="{FF2B5EF4-FFF2-40B4-BE49-F238E27FC236}">
                <a16:creationId xmlns:a16="http://schemas.microsoft.com/office/drawing/2014/main" id="{0B703298-A0A1-FD37-C998-2189FB109CE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640076" y="5431678"/>
            <a:ext cx="1583407" cy="1412067"/>
          </a:xfrm>
          <a:prstGeom prst="rect">
            <a:avLst/>
          </a:prstGeom>
        </p:spPr>
      </p:pic>
      <p:pic>
        <p:nvPicPr>
          <p:cNvPr id="60" name="Picture 59" descr="X-ray of a hand and forearm&#10;&#10;Description automatically generated">
            <a:extLst>
              <a:ext uri="{FF2B5EF4-FFF2-40B4-BE49-F238E27FC236}">
                <a16:creationId xmlns:a16="http://schemas.microsoft.com/office/drawing/2014/main" id="{AD3F9C4C-C783-935B-E526-132B427A502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321555" y="3424263"/>
            <a:ext cx="1918642" cy="1144223"/>
          </a:xfrm>
          <a:prstGeom prst="rect">
            <a:avLst/>
          </a:prstGeom>
        </p:spPr>
      </p:pic>
      <p:pic>
        <p:nvPicPr>
          <p:cNvPr id="64" name="Picture 63" descr="X-ray of a hand and a hand&#10;&#10;Description automatically generated">
            <a:extLst>
              <a:ext uri="{FF2B5EF4-FFF2-40B4-BE49-F238E27FC236}">
                <a16:creationId xmlns:a16="http://schemas.microsoft.com/office/drawing/2014/main" id="{06D3A15F-350C-9E8A-562D-6A2B272815D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443748" y="3429000"/>
            <a:ext cx="1870706" cy="1144223"/>
          </a:xfrm>
          <a:prstGeom prst="rect">
            <a:avLst/>
          </a:prstGeom>
        </p:spPr>
      </p:pic>
      <p:pic>
        <p:nvPicPr>
          <p:cNvPr id="66" name="Picture 65" descr="A x-ray of a human arm&#10;&#10;Description automatically generated">
            <a:extLst>
              <a:ext uri="{FF2B5EF4-FFF2-40B4-BE49-F238E27FC236}">
                <a16:creationId xmlns:a16="http://schemas.microsoft.com/office/drawing/2014/main" id="{4F5A8F1C-C06A-BDEB-310B-57F163388A9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240196" y="3424263"/>
            <a:ext cx="1706306" cy="1144223"/>
          </a:xfrm>
          <a:prstGeom prst="rect">
            <a:avLst/>
          </a:prstGeom>
        </p:spPr>
      </p:pic>
      <p:pic>
        <p:nvPicPr>
          <p:cNvPr id="72" name="Picture 71" descr="X-ray of a hand and wrist&#10;&#10;Description automatically generated">
            <a:extLst>
              <a:ext uri="{FF2B5EF4-FFF2-40B4-BE49-F238E27FC236}">
                <a16:creationId xmlns:a16="http://schemas.microsoft.com/office/drawing/2014/main" id="{2B60318F-C4A4-4EAB-D90C-E82E4574810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0161280" y="5201842"/>
            <a:ext cx="1963997" cy="1325642"/>
          </a:xfrm>
          <a:prstGeom prst="rect">
            <a:avLst/>
          </a:prstGeom>
        </p:spPr>
      </p:pic>
      <p:sp>
        <p:nvSpPr>
          <p:cNvPr id="73" name="TextBox 72">
            <a:extLst>
              <a:ext uri="{FF2B5EF4-FFF2-40B4-BE49-F238E27FC236}">
                <a16:creationId xmlns:a16="http://schemas.microsoft.com/office/drawing/2014/main" id="{1A54B844-3586-D84E-85D4-92EBBBB105A9}"/>
              </a:ext>
            </a:extLst>
          </p:cNvPr>
          <p:cNvSpPr txBox="1"/>
          <p:nvPr/>
        </p:nvSpPr>
        <p:spPr>
          <a:xfrm>
            <a:off x="10240196" y="6484905"/>
            <a:ext cx="1918442" cy="276999"/>
          </a:xfrm>
          <a:prstGeom prst="rect">
            <a:avLst/>
          </a:prstGeom>
          <a:noFill/>
        </p:spPr>
        <p:txBody>
          <a:bodyPr wrap="square" rtlCol="0">
            <a:spAutoFit/>
          </a:bodyPr>
          <a:lstStyle/>
          <a:p>
            <a:r>
              <a:rPr lang="en-IN" sz="1200" dirty="0">
                <a:latin typeface="Arial" panose="020B0604020202020204" pitchFamily="34" charset="0"/>
                <a:cs typeface="Arial" panose="020B0604020202020204" pitchFamily="34" charset="0"/>
              </a:rPr>
              <a:t>4months follow up</a:t>
            </a:r>
          </a:p>
        </p:txBody>
      </p:sp>
      <p:sp>
        <p:nvSpPr>
          <p:cNvPr id="75" name="TextBox 74">
            <a:extLst>
              <a:ext uri="{FF2B5EF4-FFF2-40B4-BE49-F238E27FC236}">
                <a16:creationId xmlns:a16="http://schemas.microsoft.com/office/drawing/2014/main" id="{D78F780C-8E9B-8C7B-9FE1-133D2469ECC3}"/>
              </a:ext>
            </a:extLst>
          </p:cNvPr>
          <p:cNvSpPr txBox="1"/>
          <p:nvPr/>
        </p:nvSpPr>
        <p:spPr>
          <a:xfrm>
            <a:off x="6473019" y="4537706"/>
            <a:ext cx="1627299" cy="276999"/>
          </a:xfrm>
          <a:prstGeom prst="rect">
            <a:avLst/>
          </a:prstGeom>
          <a:noFill/>
        </p:spPr>
        <p:txBody>
          <a:bodyPr wrap="square">
            <a:spAutoFit/>
          </a:bodyPr>
          <a:lstStyle/>
          <a:p>
            <a:r>
              <a:rPr lang="en-IN" sz="1200" dirty="0">
                <a:latin typeface="Arial" panose="020B0604020202020204" pitchFamily="34" charset="0"/>
                <a:cs typeface="Arial" panose="020B0604020202020204" pitchFamily="34" charset="0"/>
              </a:rPr>
              <a:t>1month follow up</a:t>
            </a:r>
          </a:p>
        </p:txBody>
      </p:sp>
      <p:sp>
        <p:nvSpPr>
          <p:cNvPr id="77" name="TextBox 76">
            <a:extLst>
              <a:ext uri="{FF2B5EF4-FFF2-40B4-BE49-F238E27FC236}">
                <a16:creationId xmlns:a16="http://schemas.microsoft.com/office/drawing/2014/main" id="{F8ABF2EB-136D-2FF7-1087-CDB1BB49939E}"/>
              </a:ext>
            </a:extLst>
          </p:cNvPr>
          <p:cNvSpPr txBox="1"/>
          <p:nvPr/>
        </p:nvSpPr>
        <p:spPr>
          <a:xfrm>
            <a:off x="8321553" y="4540805"/>
            <a:ext cx="1734042" cy="276999"/>
          </a:xfrm>
          <a:prstGeom prst="rect">
            <a:avLst/>
          </a:prstGeom>
          <a:noFill/>
        </p:spPr>
        <p:txBody>
          <a:bodyPr wrap="square">
            <a:spAutoFit/>
          </a:bodyPr>
          <a:lstStyle/>
          <a:p>
            <a:r>
              <a:rPr lang="en-IN" sz="1200" dirty="0">
                <a:latin typeface="Arial" panose="020B0604020202020204" pitchFamily="34" charset="0"/>
                <a:cs typeface="Arial" panose="020B0604020202020204" pitchFamily="34" charset="0"/>
              </a:rPr>
              <a:t>2months follow up</a:t>
            </a:r>
          </a:p>
        </p:txBody>
      </p:sp>
      <p:sp>
        <p:nvSpPr>
          <p:cNvPr id="79" name="TextBox 78">
            <a:extLst>
              <a:ext uri="{FF2B5EF4-FFF2-40B4-BE49-F238E27FC236}">
                <a16:creationId xmlns:a16="http://schemas.microsoft.com/office/drawing/2014/main" id="{3B8E8337-1681-5F64-FB84-C51E87688454}"/>
              </a:ext>
            </a:extLst>
          </p:cNvPr>
          <p:cNvSpPr txBox="1"/>
          <p:nvPr/>
        </p:nvSpPr>
        <p:spPr>
          <a:xfrm>
            <a:off x="10474980" y="4530851"/>
            <a:ext cx="1824086" cy="276999"/>
          </a:xfrm>
          <a:prstGeom prst="rect">
            <a:avLst/>
          </a:prstGeom>
          <a:noFill/>
        </p:spPr>
        <p:txBody>
          <a:bodyPr wrap="square">
            <a:spAutoFit/>
          </a:bodyPr>
          <a:lstStyle/>
          <a:p>
            <a:r>
              <a:rPr lang="en-IN" sz="1200" dirty="0">
                <a:latin typeface="Arial" panose="020B0604020202020204" pitchFamily="34" charset="0"/>
                <a:cs typeface="Arial" panose="020B0604020202020204" pitchFamily="34" charset="0"/>
              </a:rPr>
              <a:t>3months follow up</a:t>
            </a:r>
          </a:p>
        </p:txBody>
      </p:sp>
      <p:sp>
        <p:nvSpPr>
          <p:cNvPr id="2" name="TextBox 1">
            <a:extLst>
              <a:ext uri="{FF2B5EF4-FFF2-40B4-BE49-F238E27FC236}">
                <a16:creationId xmlns:a16="http://schemas.microsoft.com/office/drawing/2014/main" id="{79216BAC-63F2-BB40-E7D4-6079B5347E49}"/>
              </a:ext>
            </a:extLst>
          </p:cNvPr>
          <p:cNvSpPr txBox="1"/>
          <p:nvPr/>
        </p:nvSpPr>
        <p:spPr>
          <a:xfrm>
            <a:off x="10539107" y="982115"/>
            <a:ext cx="1619531" cy="307777"/>
          </a:xfrm>
          <a:prstGeom prst="rect">
            <a:avLst/>
          </a:prstGeom>
          <a:noFill/>
        </p:spPr>
        <p:txBody>
          <a:bodyPr wrap="square" rtlCol="0">
            <a:spAutoFit/>
          </a:bodyPr>
          <a:lstStyle/>
          <a:p>
            <a:r>
              <a:rPr lang="en-US" sz="1400" b="1" dirty="0">
                <a:solidFill>
                  <a:schemeClr val="bg1"/>
                </a:solidFill>
                <a:latin typeface="Arial" panose="020B0604020202020204" pitchFamily="34" charset="0"/>
                <a:cs typeface="Arial" panose="020B0604020202020204" pitchFamily="34" charset="0"/>
              </a:rPr>
              <a:t>ID: OSSAP-264</a:t>
            </a:r>
            <a:endParaRPr lang="en-IN" sz="1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646</TotalTime>
  <Words>410</Words>
  <Application>Microsoft Office PowerPoint</Application>
  <PresentationFormat>Widescreen</PresentationFormat>
  <Paragraphs>36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Gordita </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Virinchi Vinay</dc:creator>
  <cp:lastModifiedBy>nandu anthati</cp:lastModifiedBy>
  <cp:revision>13</cp:revision>
  <dcterms:created xsi:type="dcterms:W3CDTF">2026-01-11T06:24:43Z</dcterms:created>
  <dcterms:modified xsi:type="dcterms:W3CDTF">2026-01-30T13:19:09Z</dcterms:modified>
</cp:coreProperties>
</file>