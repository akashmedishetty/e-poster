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B35DE8-5939-4020-85D6-6BDFB66F4F41}" v="40" dt="2026-02-14T17:43:59.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 vardhan" userId="3b51f3bfb7809185" providerId="LiveId" clId="{719EAB43-3471-4870-8799-8BFDB3538C6E}"/>
    <pc:docChg chg="undo custSel modSld">
      <pc:chgData name="vishnu vardhan" userId="3b51f3bfb7809185" providerId="LiveId" clId="{719EAB43-3471-4870-8799-8BFDB3538C6E}" dt="2026-02-14T17:46:12.678" v="157" actId="20577"/>
      <pc:docMkLst>
        <pc:docMk/>
      </pc:docMkLst>
      <pc:sldChg chg="addSp modSp mod">
        <pc:chgData name="vishnu vardhan" userId="3b51f3bfb7809185" providerId="LiveId" clId="{719EAB43-3471-4870-8799-8BFDB3538C6E}" dt="2026-02-14T17:46:12.678" v="157" actId="20577"/>
        <pc:sldMkLst>
          <pc:docMk/>
          <pc:sldMk cId="3607354635" sldId="256"/>
        </pc:sldMkLst>
        <pc:spChg chg="mod">
          <ac:chgData name="vishnu vardhan" userId="3b51f3bfb7809185" providerId="LiveId" clId="{719EAB43-3471-4870-8799-8BFDB3538C6E}" dt="2026-02-14T17:33:22.837" v="69" actId="255"/>
          <ac:spMkLst>
            <pc:docMk/>
            <pc:sldMk cId="3607354635" sldId="256"/>
            <ac:spMk id="3" creationId="{00000000-0000-0000-0000-000000000000}"/>
          </ac:spMkLst>
        </pc:spChg>
        <pc:spChg chg="mod">
          <ac:chgData name="vishnu vardhan" userId="3b51f3bfb7809185" providerId="LiveId" clId="{719EAB43-3471-4870-8799-8BFDB3538C6E}" dt="2026-02-14T17:28:25.480" v="41" actId="14100"/>
          <ac:spMkLst>
            <pc:docMk/>
            <pc:sldMk cId="3607354635" sldId="256"/>
            <ac:spMk id="13" creationId="{9A130820-FF42-EA8A-339B-145E1FC668F5}"/>
          </ac:spMkLst>
        </pc:spChg>
        <pc:spChg chg="add mod">
          <ac:chgData name="vishnu vardhan" userId="3b51f3bfb7809185" providerId="LiveId" clId="{719EAB43-3471-4870-8799-8BFDB3538C6E}" dt="2026-02-14T17:42:05.358" v="131" actId="14100"/>
          <ac:spMkLst>
            <pc:docMk/>
            <pc:sldMk cId="3607354635" sldId="256"/>
            <ac:spMk id="20" creationId="{45D9190A-439F-C7FF-A164-A6736FE2D660}"/>
          </ac:spMkLst>
        </pc:spChg>
        <pc:spChg chg="mod">
          <ac:chgData name="vishnu vardhan" userId="3b51f3bfb7809185" providerId="LiveId" clId="{719EAB43-3471-4870-8799-8BFDB3538C6E}" dt="2026-02-14T17:33:59.477" v="77" actId="20577"/>
          <ac:spMkLst>
            <pc:docMk/>
            <pc:sldMk cId="3607354635" sldId="256"/>
            <ac:spMk id="21" creationId="{00000000-0000-0000-0000-000000000000}"/>
          </ac:spMkLst>
        </pc:spChg>
        <pc:spChg chg="mod">
          <ac:chgData name="vishnu vardhan" userId="3b51f3bfb7809185" providerId="LiveId" clId="{719EAB43-3471-4870-8799-8BFDB3538C6E}" dt="2026-02-14T17:41:52.924" v="129" actId="123"/>
          <ac:spMkLst>
            <pc:docMk/>
            <pc:sldMk cId="3607354635" sldId="256"/>
            <ac:spMk id="23" creationId="{00000000-0000-0000-0000-000000000000}"/>
          </ac:spMkLst>
        </pc:spChg>
        <pc:spChg chg="mod">
          <ac:chgData name="vishnu vardhan" userId="3b51f3bfb7809185" providerId="LiveId" clId="{719EAB43-3471-4870-8799-8BFDB3538C6E}" dt="2026-02-14T17:42:16.665" v="133" actId="123"/>
          <ac:spMkLst>
            <pc:docMk/>
            <pc:sldMk cId="3607354635" sldId="256"/>
            <ac:spMk id="24" creationId="{00000000-0000-0000-0000-000000000000}"/>
          </ac:spMkLst>
        </pc:spChg>
        <pc:spChg chg="mod">
          <ac:chgData name="vishnu vardhan" userId="3b51f3bfb7809185" providerId="LiveId" clId="{719EAB43-3471-4870-8799-8BFDB3538C6E}" dt="2026-02-14T17:46:12.678" v="157" actId="20577"/>
          <ac:spMkLst>
            <pc:docMk/>
            <pc:sldMk cId="3607354635" sldId="256"/>
            <ac:spMk id="25" creationId="{00000000-0000-0000-0000-000000000000}"/>
          </ac:spMkLst>
        </pc:spChg>
        <pc:spChg chg="mod">
          <ac:chgData name="vishnu vardhan" userId="3b51f3bfb7809185" providerId="LiveId" clId="{719EAB43-3471-4870-8799-8BFDB3538C6E}" dt="2026-02-14T17:39:54.704" v="120" actId="113"/>
          <ac:spMkLst>
            <pc:docMk/>
            <pc:sldMk cId="3607354635" sldId="256"/>
            <ac:spMk id="26" creationId="{00000000-0000-0000-0000-000000000000}"/>
          </ac:spMkLst>
        </pc:spChg>
        <pc:spChg chg="mod">
          <ac:chgData name="vishnu vardhan" userId="3b51f3bfb7809185" providerId="LiveId" clId="{719EAB43-3471-4870-8799-8BFDB3538C6E}" dt="2026-02-14T17:40:01.793" v="122"/>
          <ac:spMkLst>
            <pc:docMk/>
            <pc:sldMk cId="3607354635" sldId="256"/>
            <ac:spMk id="27" creationId="{00000000-0000-0000-0000-000000000000}"/>
          </ac:spMkLst>
        </pc:spChg>
        <pc:spChg chg="mod">
          <ac:chgData name="vishnu vardhan" userId="3b51f3bfb7809185" providerId="LiveId" clId="{719EAB43-3471-4870-8799-8BFDB3538C6E}" dt="2026-02-14T17:43:16.693" v="146" actId="1076"/>
          <ac:spMkLst>
            <pc:docMk/>
            <pc:sldMk cId="3607354635" sldId="256"/>
            <ac:spMk id="29" creationId="{00000000-0000-0000-0000-000000000000}"/>
          </ac:spMkLst>
        </pc:spChg>
        <pc:spChg chg="mod">
          <ac:chgData name="vishnu vardhan" userId="3b51f3bfb7809185" providerId="LiveId" clId="{719EAB43-3471-4870-8799-8BFDB3538C6E}" dt="2026-02-14T17:43:46.306" v="148" actId="404"/>
          <ac:spMkLst>
            <pc:docMk/>
            <pc:sldMk cId="3607354635" sldId="256"/>
            <ac:spMk id="31" creationId="{00000000-0000-0000-0000-000000000000}"/>
          </ac:spMkLst>
        </pc:spChg>
        <pc:spChg chg="mod">
          <ac:chgData name="vishnu vardhan" userId="3b51f3bfb7809185" providerId="LiveId" clId="{719EAB43-3471-4870-8799-8BFDB3538C6E}" dt="2026-02-14T17:43:27.625" v="147" actId="404"/>
          <ac:spMkLst>
            <pc:docMk/>
            <pc:sldMk cId="3607354635" sldId="256"/>
            <ac:spMk id="1024" creationId="{00000000-0000-0000-0000-000000000000}"/>
          </ac:spMkLst>
        </pc:spChg>
        <pc:picChg chg="mod">
          <ac:chgData name="vishnu vardhan" userId="3b51f3bfb7809185" providerId="LiveId" clId="{719EAB43-3471-4870-8799-8BFDB3538C6E}" dt="2026-02-14T17:39:40.286" v="117" actId="14100"/>
          <ac:picMkLst>
            <pc:docMk/>
            <pc:sldMk cId="3607354635" sldId="256"/>
            <ac:picMk id="1026" creationId="{00000000-0000-0000-0000-000000000000}"/>
          </ac:picMkLst>
        </pc:picChg>
        <pc:picChg chg="mod">
          <ac:chgData name="vishnu vardhan" userId="3b51f3bfb7809185" providerId="LiveId" clId="{719EAB43-3471-4870-8799-8BFDB3538C6E}" dt="2026-02-14T17:39:44.445" v="118" actId="14100"/>
          <ac:picMkLst>
            <pc:docMk/>
            <pc:sldMk cId="3607354635" sldId="256"/>
            <ac:picMk id="1027" creationId="{00000000-0000-0000-0000-000000000000}"/>
          </ac:picMkLst>
        </pc:picChg>
        <pc:picChg chg="mod">
          <ac:chgData name="vishnu vardhan" userId="3b51f3bfb7809185" providerId="LiveId" clId="{719EAB43-3471-4870-8799-8BFDB3538C6E}" dt="2026-02-14T17:43:55.231" v="149" actId="14100"/>
          <ac:picMkLst>
            <pc:docMk/>
            <pc:sldMk cId="3607354635" sldId="256"/>
            <ac:picMk id="1028" creationId="{00000000-0000-0000-0000-000000000000}"/>
          </ac:picMkLst>
        </pc:picChg>
        <pc:picChg chg="mod">
          <ac:chgData name="vishnu vardhan" userId="3b51f3bfb7809185" providerId="LiveId" clId="{719EAB43-3471-4870-8799-8BFDB3538C6E}" dt="2026-02-14T17:43:59.105" v="150" actId="14100"/>
          <ac:picMkLst>
            <pc:docMk/>
            <pc:sldMk cId="3607354635" sldId="256"/>
            <ac:picMk id="1029" creationId="{00000000-0000-0000-0000-000000000000}"/>
          </ac:picMkLst>
        </pc:picChg>
        <pc:picChg chg="mod">
          <ac:chgData name="vishnu vardhan" userId="3b51f3bfb7809185" providerId="LiveId" clId="{719EAB43-3471-4870-8799-8BFDB3538C6E}" dt="2026-02-14T17:34:55.345" v="87" actId="14100"/>
          <ac:picMkLst>
            <pc:docMk/>
            <pc:sldMk cId="3607354635" sldId="256"/>
            <ac:picMk id="103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61E592-693F-4A75-96E1-6CD3C2AE483C}" type="datetimeFigureOut">
              <a:rPr lang="en-IN" smtClean="0"/>
              <a:t>14-02-2026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9DB7B6-584A-4421-B07B-D8FEF4AC7781}" type="slidenum">
              <a:rPr lang="en-IN" smtClean="0"/>
              <a:t>‹#›</a:t>
            </a:fld>
            <a:endParaRPr lang="en-IN"/>
          </a:p>
        </p:txBody>
      </p:sp>
    </p:spTree>
    <p:extLst>
      <p:ext uri="{BB962C8B-B14F-4D97-AF65-F5344CB8AC3E}">
        <p14:creationId xmlns:p14="http://schemas.microsoft.com/office/powerpoint/2010/main" val="832305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19DB7B6-584A-4421-B07B-D8FEF4AC7781}" type="slidenum">
              <a:rPr lang="en-IN" smtClean="0"/>
              <a:t>1</a:t>
            </a:fld>
            <a:endParaRPr lang="en-IN"/>
          </a:p>
        </p:txBody>
      </p:sp>
    </p:spTree>
    <p:extLst>
      <p:ext uri="{BB962C8B-B14F-4D97-AF65-F5344CB8AC3E}">
        <p14:creationId xmlns:p14="http://schemas.microsoft.com/office/powerpoint/2010/main" val="711316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2/14/2026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066374" y="27424"/>
            <a:ext cx="6842337" cy="523220"/>
          </a:xfrm>
          <a:prstGeom prst="rect">
            <a:avLst/>
          </a:prstGeom>
          <a:noFill/>
        </p:spPr>
        <p:txBody>
          <a:bodyPr wrap="square" rtlCol="0">
            <a:spAutoFit/>
          </a:bodyPr>
          <a:lstStyle/>
          <a:p>
            <a:r>
              <a:rPr lang="en-IN" sz="1400" b="1" dirty="0">
                <a:solidFill>
                  <a:schemeClr val="bg1"/>
                </a:solidFill>
              </a:rPr>
              <a:t>Title: Flexible  intramedullary  nailing  (Ender’s  nail)  for  </a:t>
            </a:r>
            <a:r>
              <a:rPr lang="en-IN" sz="1400" b="1" dirty="0" err="1">
                <a:solidFill>
                  <a:schemeClr val="bg1"/>
                </a:solidFill>
              </a:rPr>
              <a:t>comminuted</a:t>
            </a:r>
            <a:r>
              <a:rPr lang="en-IN" sz="1400" b="1" dirty="0">
                <a:solidFill>
                  <a:schemeClr val="bg1"/>
                </a:solidFill>
              </a:rPr>
              <a:t>  intertrochanteric  femur  fracture  in  a  patient  with  uncontrolled  diabetes</a:t>
            </a:r>
            <a:r>
              <a:rPr lang="en-IN" sz="1400" dirty="0"/>
              <a:t>.</a:t>
            </a:r>
          </a:p>
        </p:txBody>
      </p:sp>
      <p:sp>
        <p:nvSpPr>
          <p:cNvPr id="19" name="TextBox 18">
            <a:extLst>
              <a:ext uri="{FF2B5EF4-FFF2-40B4-BE49-F238E27FC236}">
                <a16:creationId xmlns:a16="http://schemas.microsoft.com/office/drawing/2014/main" id="{CF1F608A-7742-BF27-09EC-3BB7CA324D68}"/>
              </a:ext>
            </a:extLst>
          </p:cNvPr>
          <p:cNvSpPr txBox="1"/>
          <p:nvPr/>
        </p:nvSpPr>
        <p:spPr>
          <a:xfrm>
            <a:off x="2066375" y="565413"/>
            <a:ext cx="6754792" cy="1015663"/>
          </a:xfrm>
          <a:prstGeom prst="rect">
            <a:avLst/>
          </a:prstGeom>
          <a:noFill/>
        </p:spPr>
        <p:txBody>
          <a:bodyPr wrap="square" rtlCol="0">
            <a:spAutoFit/>
          </a:bodyPr>
          <a:lstStyle/>
          <a:p>
            <a:r>
              <a:rPr lang="en-US" sz="1200" b="1" dirty="0">
                <a:solidFill>
                  <a:schemeClr val="bg1"/>
                </a:solidFill>
                <a:latin typeface="Gordita "/>
              </a:rPr>
              <a:t>PRESENTER:DR.CHEETIRALA VENKATA SIVA SATYA PRUDHVI  (POST GRADUATE)</a:t>
            </a:r>
          </a:p>
          <a:p>
            <a:r>
              <a:rPr lang="en-US" sz="1200" b="1" dirty="0">
                <a:solidFill>
                  <a:schemeClr val="bg1"/>
                </a:solidFill>
                <a:latin typeface="Gordita "/>
              </a:rPr>
              <a:t>GUIDE:DR. P. SUJITH DEVA PRASAD (HOD &amp; PROFESSOR) </a:t>
            </a:r>
          </a:p>
          <a:p>
            <a:r>
              <a:rPr lang="en-US" sz="1200" b="1" dirty="0">
                <a:solidFill>
                  <a:schemeClr val="bg1"/>
                </a:solidFill>
                <a:latin typeface="Gordita "/>
              </a:rPr>
              <a:t>DEPARTMENT OF ORTHOPAEDICS, SANTHIRAM MEDICAL COLLEGE, NANDYAL. </a:t>
            </a:r>
          </a:p>
          <a:p>
            <a:endParaRPr lang="en-US" sz="1200" b="1" dirty="0">
              <a:solidFill>
                <a:schemeClr val="bg1"/>
              </a:solidFill>
              <a:latin typeface="Gordita "/>
            </a:endParaRPr>
          </a:p>
          <a:p>
            <a:endParaRPr lang="en-US" sz="12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6765" y="1268480"/>
            <a:ext cx="3185962" cy="55778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4640825"/>
            <a:ext cx="3108960" cy="412956"/>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 name="TextBox 1"/>
          <p:cNvSpPr txBox="1"/>
          <p:nvPr/>
        </p:nvSpPr>
        <p:spPr>
          <a:xfrm>
            <a:off x="91441" y="1899920"/>
            <a:ext cx="2905760" cy="246221"/>
          </a:xfrm>
          <a:prstGeom prst="rect">
            <a:avLst/>
          </a:prstGeom>
          <a:noFill/>
        </p:spPr>
        <p:txBody>
          <a:bodyPr wrap="square" rtlCol="0">
            <a:spAutoFit/>
          </a:bodyPr>
          <a:lstStyle/>
          <a:p>
            <a:pPr>
              <a:buFont typeface="Arial" pitchFamily="34" charset="0"/>
              <a:buChar char="•"/>
            </a:pPr>
            <a:endParaRPr lang="en-IN" sz="1000" dirty="0"/>
          </a:p>
        </p:txBody>
      </p:sp>
      <p:sp>
        <p:nvSpPr>
          <p:cNvPr id="3" name="Rectangle 2"/>
          <p:cNvSpPr/>
          <p:nvPr/>
        </p:nvSpPr>
        <p:spPr>
          <a:xfrm>
            <a:off x="30480" y="1681148"/>
            <a:ext cx="3048000" cy="3046988"/>
          </a:xfrm>
          <a:prstGeom prst="rect">
            <a:avLst/>
          </a:prstGeom>
        </p:spPr>
        <p:txBody>
          <a:bodyPr>
            <a:spAutoFit/>
          </a:bodyPr>
          <a:lstStyle/>
          <a:p>
            <a:pPr lvl="0" algn="just"/>
            <a:r>
              <a:rPr lang="en-US" sz="1200" b="1" dirty="0">
                <a:latin typeface="Arial" pitchFamily="34" charset="0"/>
                <a:cs typeface="Arial" pitchFamily="34" charset="0"/>
              </a:rPr>
              <a:t>Comminuted intertrochanteric femur fractures</a:t>
            </a:r>
            <a:r>
              <a:rPr lang="en-US" sz="1200" dirty="0">
                <a:latin typeface="Arial" pitchFamily="34" charset="0"/>
                <a:cs typeface="Arial" pitchFamily="34" charset="0"/>
              </a:rPr>
              <a:t> are challenging to manage due to their complexity and difficulty in achieving stable fixation, especially in patients with comorbidities like </a:t>
            </a:r>
            <a:r>
              <a:rPr lang="en-US" sz="1200" b="1" dirty="0">
                <a:latin typeface="Arial" pitchFamily="34" charset="0"/>
                <a:cs typeface="Arial" pitchFamily="34" charset="0"/>
              </a:rPr>
              <a:t>uncontrolled diabetes mellitus</a:t>
            </a:r>
            <a:r>
              <a:rPr lang="en-US" sz="1200" dirty="0">
                <a:latin typeface="Arial" pitchFamily="34" charset="0"/>
                <a:cs typeface="Arial" pitchFamily="34" charset="0"/>
              </a:rPr>
              <a:t>.</a:t>
            </a:r>
          </a:p>
          <a:p>
            <a:pPr lvl="0" algn="just"/>
            <a:r>
              <a:rPr lang="en-US" sz="1200" dirty="0">
                <a:latin typeface="Arial" pitchFamily="34" charset="0"/>
                <a:cs typeface="Arial" pitchFamily="34" charset="0"/>
              </a:rPr>
              <a:t>Multiple treatment options—</a:t>
            </a:r>
            <a:r>
              <a:rPr lang="en-US" sz="1200" b="1" dirty="0">
                <a:latin typeface="Arial" pitchFamily="34" charset="0"/>
                <a:cs typeface="Arial" pitchFamily="34" charset="0"/>
              </a:rPr>
              <a:t>conservative and surgical with various implants</a:t>
            </a:r>
            <a:r>
              <a:rPr lang="en-US" sz="1200" dirty="0">
                <a:latin typeface="Arial" pitchFamily="34" charset="0"/>
                <a:cs typeface="Arial" pitchFamily="34" charset="0"/>
              </a:rPr>
              <a:t>—have been described, each with advantages and limitations.</a:t>
            </a:r>
          </a:p>
          <a:p>
            <a:pPr lvl="0" algn="just"/>
            <a:r>
              <a:rPr lang="en-US" sz="1200" dirty="0">
                <a:latin typeface="Arial" pitchFamily="34" charset="0"/>
                <a:cs typeface="Arial" pitchFamily="34" charset="0"/>
              </a:rPr>
              <a:t>Since its introduction in </a:t>
            </a:r>
            <a:r>
              <a:rPr lang="en-US" sz="1200" b="1" dirty="0">
                <a:latin typeface="Arial" pitchFamily="34" charset="0"/>
                <a:cs typeface="Arial" pitchFamily="34" charset="0"/>
              </a:rPr>
              <a:t>1969</a:t>
            </a:r>
            <a:r>
              <a:rPr lang="en-US" sz="1200" dirty="0">
                <a:latin typeface="Arial" pitchFamily="34" charset="0"/>
                <a:cs typeface="Arial" pitchFamily="34" charset="0"/>
              </a:rPr>
              <a:t>, </a:t>
            </a:r>
            <a:r>
              <a:rPr lang="en-US" sz="1200" b="1" dirty="0">
                <a:latin typeface="Arial" pitchFamily="34" charset="0"/>
                <a:cs typeface="Arial" pitchFamily="34" charset="0"/>
              </a:rPr>
              <a:t>ender’s nail</a:t>
            </a:r>
            <a:r>
              <a:rPr lang="en-US" sz="1200" dirty="0">
                <a:latin typeface="Arial" pitchFamily="34" charset="0"/>
                <a:cs typeface="Arial" pitchFamily="34" charset="0"/>
              </a:rPr>
              <a:t> remains in use, particularly in the </a:t>
            </a:r>
            <a:r>
              <a:rPr lang="en-US" sz="1200" b="1" dirty="0">
                <a:latin typeface="Arial" pitchFamily="34" charset="0"/>
                <a:cs typeface="Arial" pitchFamily="34" charset="0"/>
              </a:rPr>
              <a:t>elderly</a:t>
            </a:r>
            <a:r>
              <a:rPr lang="en-US" sz="1200" dirty="0">
                <a:latin typeface="Arial" pitchFamily="34" charset="0"/>
                <a:cs typeface="Arial" pitchFamily="34" charset="0"/>
              </a:rPr>
              <a:t>, with modifications. Its advantages include </a:t>
            </a:r>
            <a:r>
              <a:rPr lang="en-US" sz="1200" b="1" dirty="0">
                <a:latin typeface="Arial" pitchFamily="34" charset="0"/>
                <a:cs typeface="Arial" pitchFamily="34" charset="0"/>
              </a:rPr>
              <a:t>technical simplicity, shorter operative time, reduced blood loss, and early mobilization</a:t>
            </a:r>
            <a:endParaRPr lang="en-IN" sz="1200" dirty="0">
              <a:solidFill>
                <a:prstClr val="black"/>
              </a:solidFill>
              <a:latin typeface="Arial" pitchFamily="34" charset="0"/>
              <a:cs typeface="Arial" pitchFamily="34" charset="0"/>
            </a:endParaRPr>
          </a:p>
        </p:txBody>
      </p:sp>
      <p:sp>
        <p:nvSpPr>
          <p:cNvPr id="21" name="TextBox 20"/>
          <p:cNvSpPr txBox="1"/>
          <p:nvPr/>
        </p:nvSpPr>
        <p:spPr>
          <a:xfrm>
            <a:off x="3139440" y="1686560"/>
            <a:ext cx="3184358" cy="3804568"/>
          </a:xfrm>
          <a:prstGeom prst="rect">
            <a:avLst/>
          </a:prstGeom>
          <a:noFill/>
        </p:spPr>
        <p:txBody>
          <a:bodyPr wrap="square" rtlCol="0">
            <a:spAutoFit/>
          </a:bodyPr>
          <a:lstStyle/>
          <a:p>
            <a:pPr algn="just">
              <a:lnSpc>
                <a:spcPct val="107000"/>
              </a:lnSpc>
              <a:spcAft>
                <a:spcPts val="800"/>
              </a:spcAft>
            </a:pPr>
            <a:r>
              <a:rPr lang="en-IN" sz="1100" kern="100" dirty="0">
                <a:latin typeface="Arial" pitchFamily="34" charset="0"/>
                <a:ea typeface="Aptos" panose="020B0004020202020204" pitchFamily="34" charset="0"/>
                <a:cs typeface="Arial" pitchFamily="34" charset="0"/>
              </a:rPr>
              <a:t>Under Epidural anaesthesia, patient on traction table in supine position, reduction of fracture fragments achieved under C-arm guidance. Two small incisions taken near the knee joint both on medial and lateral sides. Entry made with bone awl and pre bent Enders nails (4.5mm x 40mm) were introduced one from each side allowing them to spread out within the femoral head and neck to stabilize fracture. For achieving additional rotational stability, a 6.5mm x 80mm CC screw along with washer was introduced from the base of the greater trochanter into the femoral neck and head. The nails were secured to the bone at the base by inserting pre bent (U-shaped) K-wires through the eye holes of Enders nails. </a:t>
            </a:r>
          </a:p>
          <a:p>
            <a:pPr algn="just">
              <a:lnSpc>
                <a:spcPct val="107000"/>
              </a:lnSpc>
              <a:spcAft>
                <a:spcPts val="800"/>
              </a:spcAft>
            </a:pPr>
            <a:r>
              <a:rPr lang="en-IN" sz="1100" kern="100" dirty="0">
                <a:latin typeface="Arial" pitchFamily="34" charset="0"/>
                <a:ea typeface="Aptos" panose="020B0004020202020204" pitchFamily="34" charset="0"/>
                <a:cs typeface="Arial" pitchFamily="34" charset="0"/>
              </a:rPr>
              <a:t>Postoperatively, patient was allowed to sit up in the bed immediately. Knee mobilization was started after 2 weeks. Partial Weight bearing was started after 4 weeks post operatively.</a:t>
            </a:r>
          </a:p>
        </p:txBody>
      </p:sp>
      <p:sp>
        <p:nvSpPr>
          <p:cNvPr id="23" name="TextBox 22"/>
          <p:cNvSpPr txBox="1"/>
          <p:nvPr/>
        </p:nvSpPr>
        <p:spPr>
          <a:xfrm>
            <a:off x="6352673" y="1656744"/>
            <a:ext cx="5839324" cy="2108269"/>
          </a:xfrm>
          <a:prstGeom prst="rect">
            <a:avLst/>
          </a:prstGeom>
          <a:noFill/>
        </p:spPr>
        <p:txBody>
          <a:bodyPr wrap="square" rtlCol="0">
            <a:spAutoFit/>
          </a:bodyPr>
          <a:lstStyle/>
          <a:p>
            <a:pPr algn="just"/>
            <a:r>
              <a:rPr lang="en-IN" sz="1100" dirty="0">
                <a:latin typeface="Arial" pitchFamily="34" charset="0"/>
                <a:cs typeface="Arial" pitchFamily="34" charset="0"/>
              </a:rPr>
              <a:t>The goal of the fracture treatment has shifted from just union of the fracture to the maximal functional recovery of the limb as early as possible. </a:t>
            </a:r>
          </a:p>
          <a:p>
            <a:pPr algn="just"/>
            <a:r>
              <a:rPr lang="en-IN" sz="1100" dirty="0">
                <a:latin typeface="Arial" pitchFamily="34" charset="0"/>
                <a:cs typeface="Arial" pitchFamily="34" charset="0"/>
              </a:rPr>
              <a:t>In diabetic patients, there are several factors that can compromise bone healing, including impaired vascularity, delayed collagen synthesis, and increased susceptibility to infections. </a:t>
            </a:r>
          </a:p>
          <a:p>
            <a:pPr algn="just"/>
            <a:r>
              <a:rPr lang="en-IN" sz="1100" dirty="0">
                <a:latin typeface="Arial" pitchFamily="34" charset="0"/>
                <a:cs typeface="Arial" pitchFamily="34" charset="0"/>
              </a:rPr>
              <a:t>In the case of uncontrolled diabetes, challenges such as poor wound healing, risk of infection, and delayed bone healing are amplified. </a:t>
            </a:r>
          </a:p>
          <a:p>
            <a:pPr algn="just"/>
            <a:r>
              <a:rPr lang="en-IN" sz="1100" kern="100" dirty="0">
                <a:latin typeface="Arial" pitchFamily="34" charset="0"/>
                <a:ea typeface="Aptos" panose="020B0004020202020204" pitchFamily="34" charset="0"/>
                <a:cs typeface="Arial" pitchFamily="34" charset="0"/>
              </a:rPr>
              <a:t>A "modified Ender's nailing" in the femur refers to a surgical technique where the standard Ender nails, which are flexible, pre-bent intramedullary nails, are used to fix a femoral fracture, but with additional modifications to improve stability and address potential limitations of the traditional Ender nailing method, often including features like added screws or cerclage wires to enhance rotational control and prevent migration of the nails.</a:t>
            </a:r>
          </a:p>
          <a:p>
            <a:endParaRPr lang="en-IN" sz="1000" dirty="0"/>
          </a:p>
        </p:txBody>
      </p:sp>
      <p:sp>
        <p:nvSpPr>
          <p:cNvPr id="24" name="TextBox 23"/>
          <p:cNvSpPr txBox="1"/>
          <p:nvPr/>
        </p:nvSpPr>
        <p:spPr>
          <a:xfrm>
            <a:off x="6421654" y="5202454"/>
            <a:ext cx="5657512" cy="1723549"/>
          </a:xfrm>
          <a:prstGeom prst="rect">
            <a:avLst/>
          </a:prstGeom>
          <a:noFill/>
        </p:spPr>
        <p:txBody>
          <a:bodyPr wrap="square" rtlCol="0">
            <a:spAutoFit/>
          </a:bodyPr>
          <a:lstStyle/>
          <a:p>
            <a:pPr algn="just">
              <a:buFont typeface="Arial" pitchFamily="34" charset="0"/>
              <a:buChar char="•"/>
            </a:pPr>
            <a:r>
              <a:rPr lang="en-IN" sz="1200" dirty="0">
                <a:latin typeface="Arial" pitchFamily="34" charset="0"/>
                <a:cs typeface="Arial" pitchFamily="34" charset="0"/>
              </a:rPr>
              <a:t>Surgical fixation of long bones in patients with severe comorbidities is a challenge as there are chances of heavy blood loss, high infection rates owing to the prolonged surgical time in difficult cases such as </a:t>
            </a:r>
            <a:r>
              <a:rPr lang="en-IN" sz="1200" dirty="0" err="1">
                <a:latin typeface="Arial" pitchFamily="34" charset="0"/>
                <a:cs typeface="Arial" pitchFamily="34" charset="0"/>
              </a:rPr>
              <a:t>comminuted</a:t>
            </a:r>
            <a:r>
              <a:rPr lang="en-IN" sz="1200" dirty="0">
                <a:latin typeface="Arial" pitchFamily="34" charset="0"/>
                <a:cs typeface="Arial" pitchFamily="34" charset="0"/>
              </a:rPr>
              <a:t> intertrochanteric femur fractures. </a:t>
            </a:r>
          </a:p>
          <a:p>
            <a:pPr algn="just">
              <a:buFont typeface="Arial" pitchFamily="34" charset="0"/>
              <a:buChar char="•"/>
            </a:pPr>
            <a:r>
              <a:rPr lang="en-IN" sz="1200" dirty="0">
                <a:latin typeface="Arial" pitchFamily="34" charset="0"/>
                <a:cs typeface="Arial" pitchFamily="34" charset="0"/>
              </a:rPr>
              <a:t>So, to avoid such complications closed reduction and modified Ender’s nailing is done in this case to lessen the operative time and minimize the exposure of the surgical sites.</a:t>
            </a:r>
          </a:p>
          <a:p>
            <a:pPr algn="just">
              <a:buFont typeface="Arial" pitchFamily="34" charset="0"/>
              <a:buChar char="•"/>
            </a:pPr>
            <a:r>
              <a:rPr lang="en-IN" sz="1200" dirty="0">
                <a:latin typeface="Arial" pitchFamily="34" charset="0"/>
                <a:cs typeface="Arial" pitchFamily="34" charset="0"/>
              </a:rPr>
              <a:t> Excellent reduction and alignment are achieved with good functional outcome.</a:t>
            </a:r>
          </a:p>
          <a:p>
            <a:endParaRPr lang="en-IN" sz="1000" dirty="0"/>
          </a:p>
        </p:txBody>
      </p:sp>
      <p:sp>
        <p:nvSpPr>
          <p:cNvPr id="25" name="TextBox 24"/>
          <p:cNvSpPr txBox="1"/>
          <p:nvPr/>
        </p:nvSpPr>
        <p:spPr>
          <a:xfrm>
            <a:off x="0" y="5072896"/>
            <a:ext cx="3048000" cy="1785104"/>
          </a:xfrm>
          <a:prstGeom prst="rect">
            <a:avLst/>
          </a:prstGeom>
          <a:noFill/>
        </p:spPr>
        <p:txBody>
          <a:bodyPr wrap="square" rtlCol="0">
            <a:spAutoFit/>
          </a:bodyPr>
          <a:lstStyle/>
          <a:p>
            <a:r>
              <a:rPr lang="en-US" sz="1100" dirty="0">
                <a:latin typeface="Arial" panose="020B0604020202020204" pitchFamily="34" charset="0"/>
                <a:cs typeface="Arial" panose="020B0604020202020204" pitchFamily="34" charset="0"/>
              </a:rPr>
              <a:t>39-year-old male presented with right hip pain for 4 hours following skid-and-fall injury at work. Examination revealed swelling, tenderness, and external rotation of the right lower limb, with restricted and painful hip </a:t>
            </a:r>
            <a:r>
              <a:rPr lang="en-US" sz="1100" dirty="0" err="1">
                <a:latin typeface="Arial" panose="020B0604020202020204" pitchFamily="34" charset="0"/>
                <a:cs typeface="Arial" panose="020B0604020202020204" pitchFamily="34" charset="0"/>
              </a:rPr>
              <a:t>movements.He</a:t>
            </a:r>
            <a:r>
              <a:rPr lang="en-US" sz="1100" dirty="0">
                <a:latin typeface="Arial" panose="020B0604020202020204" pitchFamily="34" charset="0"/>
                <a:cs typeface="Arial" panose="020B0604020202020204" pitchFamily="34" charset="0"/>
              </a:rPr>
              <a:t> has diabetes mellitus for 15 years, on insulin therapy.</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Past history includes right knee surgery 5 years ago and left hip PFN fixation 2 years ago following trauma.</a:t>
            </a:r>
            <a:endParaRPr lang="en-IN" sz="800"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04776" y="3588774"/>
            <a:ext cx="1687224" cy="106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66321" y="3569110"/>
            <a:ext cx="1675537" cy="1083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Rectangle 25"/>
          <p:cNvSpPr/>
          <p:nvPr/>
        </p:nvSpPr>
        <p:spPr>
          <a:xfrm>
            <a:off x="9214481" y="4586273"/>
            <a:ext cx="1096775" cy="253916"/>
          </a:xfrm>
          <a:prstGeom prst="rect">
            <a:avLst/>
          </a:prstGeom>
        </p:spPr>
        <p:txBody>
          <a:bodyPr wrap="none">
            <a:spAutoFit/>
          </a:bodyPr>
          <a:lstStyle/>
          <a:p>
            <a:r>
              <a:rPr lang="en-US" sz="1050" b="1" dirty="0">
                <a:latin typeface="Arial" pitchFamily="34" charset="0"/>
                <a:cs typeface="Arial" pitchFamily="34" charset="0"/>
              </a:rPr>
              <a:t>PRE OP XRAY</a:t>
            </a:r>
            <a:endParaRPr lang="en-IN" sz="1050" b="1" dirty="0">
              <a:latin typeface="Arial" pitchFamily="34" charset="0"/>
              <a:cs typeface="Arial" pitchFamily="34" charset="0"/>
            </a:endParaRPr>
          </a:p>
        </p:txBody>
      </p:sp>
      <p:sp>
        <p:nvSpPr>
          <p:cNvPr id="27" name="Rectangle 26"/>
          <p:cNvSpPr/>
          <p:nvPr/>
        </p:nvSpPr>
        <p:spPr>
          <a:xfrm>
            <a:off x="10683889" y="4599330"/>
            <a:ext cx="1620957" cy="246221"/>
          </a:xfrm>
          <a:prstGeom prst="rect">
            <a:avLst/>
          </a:prstGeom>
        </p:spPr>
        <p:txBody>
          <a:bodyPr wrap="none">
            <a:spAutoFit/>
          </a:bodyPr>
          <a:lstStyle/>
          <a:p>
            <a:r>
              <a:rPr lang="en-US" sz="1000" b="1" dirty="0">
                <a:latin typeface="Arial" pitchFamily="34" charset="0"/>
                <a:cs typeface="Arial" pitchFamily="34" charset="0"/>
              </a:rPr>
              <a:t>10 MONTHS F/U XRAY  </a:t>
            </a:r>
            <a:endParaRPr lang="en-IN" sz="1000" b="1" dirty="0">
              <a:latin typeface="Arial" pitchFamily="34" charset="0"/>
              <a:cs typeface="Arial" pitchFamily="34" charset="0"/>
            </a:endParaRPr>
          </a:p>
        </p:txBody>
      </p:sp>
      <p:pic>
        <p:nvPicPr>
          <p:cNvPr id="1028"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83503" y="5407742"/>
            <a:ext cx="1083698" cy="1282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96697" y="5407742"/>
            <a:ext cx="1028724" cy="126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45084" y="5417574"/>
            <a:ext cx="1036637" cy="123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Rectangle 28"/>
          <p:cNvSpPr/>
          <p:nvPr/>
        </p:nvSpPr>
        <p:spPr>
          <a:xfrm>
            <a:off x="3068646" y="6627168"/>
            <a:ext cx="1758992" cy="230832"/>
          </a:xfrm>
          <a:prstGeom prst="rect">
            <a:avLst/>
          </a:prstGeom>
        </p:spPr>
        <p:txBody>
          <a:bodyPr wrap="square">
            <a:spAutoFit/>
          </a:bodyPr>
          <a:lstStyle/>
          <a:p>
            <a:pPr lvl="0"/>
            <a:r>
              <a:rPr lang="en-IN" sz="900" b="1" dirty="0">
                <a:solidFill>
                  <a:prstClr val="black"/>
                </a:solidFill>
                <a:latin typeface="Arial" pitchFamily="34" charset="0"/>
                <a:cs typeface="Arial" pitchFamily="34" charset="0"/>
              </a:rPr>
              <a:t>IMMEDIATE POST-OP</a:t>
            </a:r>
          </a:p>
        </p:txBody>
      </p:sp>
      <p:sp>
        <p:nvSpPr>
          <p:cNvPr id="31" name="Rectangle 30"/>
          <p:cNvSpPr/>
          <p:nvPr/>
        </p:nvSpPr>
        <p:spPr>
          <a:xfrm>
            <a:off x="5265906" y="6596390"/>
            <a:ext cx="1208985" cy="253916"/>
          </a:xfrm>
          <a:prstGeom prst="rect">
            <a:avLst/>
          </a:prstGeom>
        </p:spPr>
        <p:txBody>
          <a:bodyPr wrap="none">
            <a:spAutoFit/>
          </a:bodyPr>
          <a:lstStyle/>
          <a:p>
            <a:r>
              <a:rPr lang="en-US" sz="1050" b="1" dirty="0">
                <a:latin typeface="Arial" pitchFamily="34" charset="0"/>
                <a:cs typeface="Arial" pitchFamily="34" charset="0"/>
              </a:rPr>
              <a:t>10 MONTHS F/U</a:t>
            </a:r>
            <a:endParaRPr lang="en-IN" sz="1050" b="1" dirty="0">
              <a:latin typeface="Arial" pitchFamily="34" charset="0"/>
              <a:cs typeface="Arial" pitchFamily="34" charset="0"/>
            </a:endParaRPr>
          </a:p>
        </p:txBody>
      </p:sp>
      <p:sp>
        <p:nvSpPr>
          <p:cNvPr id="1024" name="Rectangle 1023"/>
          <p:cNvSpPr/>
          <p:nvPr/>
        </p:nvSpPr>
        <p:spPr>
          <a:xfrm>
            <a:off x="4358728" y="6596390"/>
            <a:ext cx="1043876" cy="253916"/>
          </a:xfrm>
          <a:prstGeom prst="rect">
            <a:avLst/>
          </a:prstGeom>
        </p:spPr>
        <p:txBody>
          <a:bodyPr wrap="none">
            <a:spAutoFit/>
          </a:bodyPr>
          <a:lstStyle/>
          <a:p>
            <a:r>
              <a:rPr lang="en-IN" sz="1050" b="1" dirty="0">
                <a:latin typeface="Arial" pitchFamily="34" charset="0"/>
                <a:cs typeface="Arial" pitchFamily="34" charset="0"/>
              </a:rPr>
              <a:t>1 MONTH F/U</a:t>
            </a:r>
          </a:p>
        </p:txBody>
      </p:sp>
      <p:sp>
        <p:nvSpPr>
          <p:cNvPr id="20" name="TextBox 19">
            <a:extLst>
              <a:ext uri="{FF2B5EF4-FFF2-40B4-BE49-F238E27FC236}">
                <a16:creationId xmlns:a16="http://schemas.microsoft.com/office/drawing/2014/main" id="{45D9190A-439F-C7FF-A164-A6736FE2D660}"/>
              </a:ext>
            </a:extLst>
          </p:cNvPr>
          <p:cNvSpPr txBox="1"/>
          <p:nvPr/>
        </p:nvSpPr>
        <p:spPr>
          <a:xfrm>
            <a:off x="6361470" y="3549446"/>
            <a:ext cx="2428569" cy="1277273"/>
          </a:xfrm>
          <a:prstGeom prst="rect">
            <a:avLst/>
          </a:prstGeom>
          <a:noFill/>
        </p:spPr>
        <p:txBody>
          <a:bodyPr wrap="square" rtlCol="0">
            <a:spAutoFit/>
          </a:bodyPr>
          <a:lstStyle/>
          <a:p>
            <a:pPr algn="just"/>
            <a:r>
              <a:rPr lang="en-IN" sz="1100" kern="100" dirty="0">
                <a:latin typeface="Arial" pitchFamily="34" charset="0"/>
                <a:ea typeface="Aptos" panose="020B0004020202020204" pitchFamily="34" charset="0"/>
                <a:cs typeface="Arial" pitchFamily="34" charset="0"/>
              </a:rPr>
              <a:t>The main advantages of Ender’s nailing method are short operative procedure, minimally traumatic, little blood loss, early mobilization, negligible risk of infection and risk of delayed union or non-union is also reduced.</a:t>
            </a:r>
            <a:endParaRPr lang="en-IN" sz="1100" dirty="0">
              <a:latin typeface="Arial" pitchFamily="34" charset="0"/>
              <a:cs typeface="Arial" pitchFamily="34" charset="0"/>
            </a:endParaRP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TotalTime>
  <Words>681</Words>
  <Application>Microsoft Office PowerPoint</Application>
  <PresentationFormat>Widescreen</PresentationFormat>
  <Paragraphs>29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Virinchi Vinay</dc:creator>
  <cp:lastModifiedBy>vishnu vardhan</cp:lastModifiedBy>
  <cp:revision>19</cp:revision>
  <dcterms:created xsi:type="dcterms:W3CDTF">2026-01-11T06:24:43Z</dcterms:created>
  <dcterms:modified xsi:type="dcterms:W3CDTF">2026-02-14T17:46:15Z</dcterms:modified>
</cp:coreProperties>
</file>