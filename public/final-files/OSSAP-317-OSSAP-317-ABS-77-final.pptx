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9" r:id="rId2"/>
    <p:sldId id="258" r:id="rId3"/>
    <p:sldId id="257" r:id="rId4"/>
    <p:sldId id="261" r:id="rId5"/>
    <p:sldId id="265" r:id="rId6"/>
    <p:sldId id="262" r:id="rId7"/>
    <p:sldId id="260"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479B76-8748-416D-967B-765FBC1105D9}" v="10" dt="2026-01-28T12:40:26.3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5</a:t>
            </a:fld>
            <a:endParaRPr lang="en-US"/>
          </a:p>
        </p:txBody>
      </p:sp>
    </p:spTree>
    <p:extLst>
      <p:ext uri="{BB962C8B-B14F-4D97-AF65-F5344CB8AC3E}">
        <p14:creationId xmlns:p14="http://schemas.microsoft.com/office/powerpoint/2010/main" val="4181909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696000" y="394405"/>
            <a:ext cx="10800000" cy="792000"/>
          </a:xfrm>
        </p:spPr>
        <p:txBody>
          <a:bodyPr lIns="0" tIns="0" rIns="0" bIns="0"/>
          <a:lstStyle>
            <a:lvl1pPr algn="ctr" fontAlgn="base">
              <a:defRPr sz="3200">
                <a:solidFill>
                  <a:schemeClr val="tx1">
                    <a:lumMod val="85000"/>
                    <a:lumOff val="15000"/>
                  </a:schemeClr>
                </a:solidFill>
                <a:latin typeface="+mj-lt"/>
              </a:defRPr>
            </a:lvl1pPr>
          </a:lstStyle>
          <a:p>
            <a:r>
              <a:rPr lang="en-US" dirty="0"/>
              <a:t>Click to add title</a:t>
            </a:r>
          </a:p>
        </p:txBody>
      </p:sp>
      <p:sp>
        <p:nvSpPr>
          <p:cNvPr id="3" name="日期占位符 2"/>
          <p:cNvSpPr>
            <a:spLocks noGrp="1"/>
          </p:cNvSpPr>
          <p:nvPr>
            <p:ph type="dt" sz="half" idx="10"/>
            <p:custDataLst>
              <p:tags r:id="rId2"/>
            </p:custDataLst>
          </p:nvPr>
        </p:nvSpPr>
        <p:spPr>
          <a:xfrm>
            <a:off x="612000" y="6314400"/>
            <a:ext cx="2700000" cy="316800"/>
          </a:xfrm>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7"/>
            <a:stretch>
              <a:fillRect t="-9937" r="-4895" b="-10857"/>
            </a:stretch>
          </a:blipFill>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25677"/>
            <a:ext cx="12192000" cy="2003324"/>
          </a:xfrm>
        </p:spPr>
        <p:txBody>
          <a:bodyPr/>
          <a:lstStyle/>
          <a:p>
            <a:br>
              <a:rPr lang="en-US" sz="3200" u="sng" dirty="0">
                <a:latin typeface="Arial" panose="020B0604020202020204" pitchFamily="34" charset="0"/>
                <a:cs typeface="Arial" panose="020B0604020202020204" pitchFamily="34" charset="0"/>
                <a:sym typeface="+mn-ea"/>
              </a:rPr>
            </a:br>
            <a:r>
              <a:rPr lang="en-IN" sz="2800" b="1" dirty="0">
                <a:latin typeface="Arial" panose="020B0604020202020204" pitchFamily="34" charset="0"/>
                <a:cs typeface="Arial" panose="020B0604020202020204" pitchFamily="34" charset="0"/>
              </a:rPr>
              <a:t>POSITIVE REDUCTION IN INTERTROCHANTERIC FRACTURES IT'S POST OPERATIVE RADIOLOGICAL EVALUATION CORRELATION WITH FUNCTIONAL OUTCOME AND RATE OF UNION</a:t>
            </a:r>
            <a:br>
              <a:rPr lang="en-IN" sz="2800" dirty="0">
                <a:latin typeface="Arial" panose="020B0604020202020204" pitchFamily="34" charset="0"/>
                <a:cs typeface="Arial" panose="020B0604020202020204" pitchFamily="34" charset="0"/>
              </a:rPr>
            </a:br>
            <a:endParaRPr lang="en-US" sz="2800" u="sng" dirty="0">
              <a:latin typeface="Arial" panose="020B0604020202020204" pitchFamily="34" charset="0"/>
              <a:cs typeface="Arial" panose="020B0604020202020204" pitchFamily="34" charset="0"/>
              <a:sym typeface="+mn-ea"/>
            </a:endParaRPr>
          </a:p>
        </p:txBody>
      </p:sp>
      <p:sp>
        <p:nvSpPr>
          <p:cNvPr id="3" name="Content Placeholder 2"/>
          <p:cNvSpPr>
            <a:spLocks noGrp="1"/>
          </p:cNvSpPr>
          <p:nvPr>
            <p:ph idx="1"/>
          </p:nvPr>
        </p:nvSpPr>
        <p:spPr>
          <a:xfrm>
            <a:off x="4739148" y="3795252"/>
            <a:ext cx="7825385" cy="1914033"/>
          </a:xfrm>
        </p:spPr>
        <p:txBody>
          <a:bodyPr/>
          <a:lstStyle/>
          <a:p>
            <a:pPr marL="0" indent="0">
              <a:buNone/>
            </a:pPr>
            <a:r>
              <a:rPr lang="en-US" sz="2400" b="1" dirty="0">
                <a:latin typeface="Arial" panose="020B0604020202020204" pitchFamily="34" charset="0"/>
                <a:cs typeface="Arial" panose="020B0604020202020204" pitchFamily="34" charset="0"/>
                <a:sym typeface="+mn-ea"/>
              </a:rPr>
              <a:t>Dr. Khambham Kalyan</a:t>
            </a:r>
            <a:endParaRPr lang="en-US" sz="2400" b="1" dirty="0">
              <a:latin typeface="Arial" panose="020B0604020202020204" pitchFamily="34" charset="0"/>
              <a:cs typeface="Arial" panose="020B0604020202020204" pitchFamily="34" charset="0"/>
            </a:endParaRPr>
          </a:p>
          <a:p>
            <a:pPr marL="0" indent="0">
              <a:buNone/>
            </a:pPr>
            <a:r>
              <a:rPr lang="en-US" sz="2400" b="1" dirty="0">
                <a:latin typeface="Arial" panose="020B0604020202020204" pitchFamily="34" charset="0"/>
                <a:cs typeface="Arial" panose="020B0604020202020204" pitchFamily="34" charset="0"/>
                <a:sym typeface="+mn-ea"/>
              </a:rPr>
              <a:t>3</a:t>
            </a:r>
            <a:r>
              <a:rPr lang="en-US" sz="2400" b="1" baseline="30000" dirty="0">
                <a:latin typeface="Arial" panose="020B0604020202020204" pitchFamily="34" charset="0"/>
                <a:cs typeface="Arial" panose="020B0604020202020204" pitchFamily="34" charset="0"/>
                <a:sym typeface="+mn-ea"/>
              </a:rPr>
              <a:t>rd</a:t>
            </a:r>
            <a:r>
              <a:rPr lang="en-US" sz="2400" b="1" dirty="0">
                <a:latin typeface="Arial" panose="020B0604020202020204" pitchFamily="34" charset="0"/>
                <a:cs typeface="Arial" panose="020B0604020202020204" pitchFamily="34" charset="0"/>
                <a:sym typeface="+mn-ea"/>
              </a:rPr>
              <a:t>  year Resident</a:t>
            </a:r>
            <a:endParaRPr lang="en-US" sz="2400" b="1" dirty="0">
              <a:latin typeface="Arial" panose="020B0604020202020204" pitchFamily="34" charset="0"/>
              <a:cs typeface="Arial" panose="020B0604020202020204" pitchFamily="34" charset="0"/>
            </a:endParaRPr>
          </a:p>
          <a:p>
            <a:pPr marL="0" indent="0">
              <a:buNone/>
            </a:pPr>
            <a:r>
              <a:rPr lang="en-US" sz="2400" b="1" dirty="0">
                <a:latin typeface="Arial" panose="020B0604020202020204" pitchFamily="34" charset="0"/>
                <a:cs typeface="Arial" panose="020B0604020202020204" pitchFamily="34" charset="0"/>
                <a:sym typeface="+mn-ea"/>
              </a:rPr>
              <a:t>KIMS&amp;RF</a:t>
            </a:r>
            <a:endParaRPr lang="en-US" sz="2400" b="1" dirty="0">
              <a:latin typeface="Arial" panose="020B0604020202020204" pitchFamily="34" charset="0"/>
              <a:cs typeface="Arial" panose="020B0604020202020204" pitchFamily="34" charset="0"/>
            </a:endParaRPr>
          </a:p>
          <a:p>
            <a:pPr marL="0" indent="0">
              <a:buNone/>
            </a:pPr>
            <a:r>
              <a:rPr lang="en-US" sz="2400" b="1" dirty="0">
                <a:latin typeface="Arial" panose="020B0604020202020204" pitchFamily="34" charset="0"/>
                <a:cs typeface="Arial" panose="020B0604020202020204" pitchFamily="34" charset="0"/>
                <a:sym typeface="+mn-ea"/>
              </a:rPr>
              <a:t>Amalapuram</a:t>
            </a:r>
            <a:r>
              <a:rPr lang="en-US" b="1" dirty="0">
                <a:latin typeface="Arial" panose="020B0604020202020204" pitchFamily="34" charset="0"/>
                <a:cs typeface="Arial" panose="020B0604020202020204" pitchFamily="34" charset="0"/>
                <a:sym typeface="+mn-ea"/>
              </a:rPr>
              <a:t>.</a:t>
            </a:r>
          </a:p>
          <a:p>
            <a:pPr marL="0" indent="0">
              <a:buNone/>
            </a:pPr>
            <a:r>
              <a:rPr lang="en-US" b="1" dirty="0">
                <a:latin typeface="Arial" panose="020B0604020202020204" pitchFamily="34" charset="0"/>
                <a:cs typeface="Arial" panose="020B0604020202020204" pitchFamily="34" charset="0"/>
                <a:sym typeface="+mn-ea"/>
              </a:rPr>
              <a:t>Guide:-Dr.Y.Nageswara Rao(Prof. HOD)</a:t>
            </a:r>
            <a:endParaRPr lang="en-US" b="1"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Dr.J.S.S.N.Manohar (Asst.Prof)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884" y="1257795"/>
            <a:ext cx="10515600" cy="393700"/>
          </a:xfrm>
        </p:spPr>
        <p:txBody>
          <a:bodyPr/>
          <a:lstStyle/>
          <a:p>
            <a:pPr algn="ctr"/>
            <a:r>
              <a:rPr lang="en-US" sz="2800" b="1" u="sng" dirty="0">
                <a:latin typeface="Arial" panose="020B0604020202020204" pitchFamily="34" charset="0"/>
                <a:cs typeface="Arial" panose="020B0604020202020204" pitchFamily="34" charset="0"/>
                <a:sym typeface="+mn-ea"/>
              </a:rPr>
              <a:t>INTRODUCTION</a:t>
            </a:r>
            <a:br>
              <a:rPr lang="en-US" sz="2800" u="sng" dirty="0">
                <a:latin typeface="Arial" panose="020B0604020202020204" pitchFamily="34" charset="0"/>
                <a:cs typeface="Arial" panose="020B0604020202020204" pitchFamily="34" charset="0"/>
                <a:sym typeface="+mn-ea"/>
              </a:rPr>
            </a:br>
            <a:endParaRPr lang="en-US" sz="2800" u="sng" dirty="0">
              <a:latin typeface="Arial" panose="020B0604020202020204" pitchFamily="34" charset="0"/>
              <a:cs typeface="Arial" panose="020B0604020202020204" pitchFamily="34" charset="0"/>
              <a:sym typeface="+mn-ea"/>
            </a:endParaRPr>
          </a:p>
        </p:txBody>
      </p:sp>
      <p:sp>
        <p:nvSpPr>
          <p:cNvPr id="3" name="Content Placeholder 2"/>
          <p:cNvSpPr>
            <a:spLocks noGrp="1"/>
          </p:cNvSpPr>
          <p:nvPr>
            <p:ph idx="1"/>
          </p:nvPr>
        </p:nvSpPr>
        <p:spPr>
          <a:xfrm>
            <a:off x="0" y="1582669"/>
            <a:ext cx="12192000" cy="5206505"/>
          </a:xfrm>
        </p:spPr>
        <p:txBody>
          <a:bodyPr/>
          <a:lstStyle/>
          <a:p>
            <a:r>
              <a:rPr lang="en-US" sz="2400" dirty="0">
                <a:latin typeface="Arial" panose="020B0604020202020204" pitchFamily="34" charset="0"/>
                <a:cs typeface="Arial" panose="020B0604020202020204" pitchFamily="34" charset="0"/>
              </a:rPr>
              <a:t>Intertrochanteric fractures are highly prevalent in the elderly accounting for about 34%-50% of all hip fractures with rising incidence due to increased life expectancy and osteoporosis, and are associated with high morbidity, mortality, prolonged hospital stay, and loss of independence. Nearly one-third of patients fail to regain pre-injury functional status</a:t>
            </a:r>
          </a:p>
          <a:p>
            <a:r>
              <a:rPr lang="en-US" sz="2400" dirty="0">
                <a:latin typeface="Arial" panose="020B0604020202020204" pitchFamily="34" charset="0"/>
                <a:cs typeface="Arial" panose="020B0604020202020204" pitchFamily="34" charset="0"/>
              </a:rPr>
              <a:t>Surgical management is the standard of care with intramedullary devices (PFN) providing better biomechanical stability, minimal surgical exposure and blood loss, early mobilization and weight bearing, preferred over conservative treatment which is associated with complications of immobilization</a:t>
            </a:r>
          </a:p>
          <a:p>
            <a:r>
              <a:rPr lang="en-US" sz="2400" dirty="0">
                <a:latin typeface="Arial" panose="020B0604020202020204" pitchFamily="34" charset="0"/>
                <a:cs typeface="Arial" panose="020B0604020202020204" pitchFamily="34" charset="0"/>
              </a:rPr>
              <a:t>Post-operative radiological reduction predicts stability, union, and function. Positive medial cortical support prevents varus collapse and implant failure. Good reduction correlates with faster fracture union, better pain relief and improved functional outcomes</a:t>
            </a:r>
          </a:p>
          <a:p>
            <a:r>
              <a:rPr lang="en-US" sz="2400" dirty="0">
                <a:latin typeface="Arial" panose="020B0604020202020204" pitchFamily="34" charset="0"/>
                <a:cs typeface="Arial" panose="020B0604020202020204" pitchFamily="34" charset="0"/>
              </a:rPr>
              <a:t>Malreduction, excessive tip apex distance and varus collapse are associated with delayed union, implant cut-out, reoperation, poor function and prolonged rehabilitation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87780"/>
            <a:ext cx="10515600" cy="469900"/>
          </a:xfrm>
        </p:spPr>
        <p:txBody>
          <a:bodyPr/>
          <a:lstStyle/>
          <a:p>
            <a:pPr algn="ctr"/>
            <a:r>
              <a:rPr lang="en-US" sz="2800" b="1" u="sng" dirty="0">
                <a:latin typeface="Arial" panose="020B0604020202020204" pitchFamily="34" charset="0"/>
                <a:cs typeface="Arial" panose="020B0604020202020204" pitchFamily="34" charset="0"/>
                <a:sym typeface="+mn-ea"/>
              </a:rPr>
              <a:t>AIM AND OBJECTIVES</a:t>
            </a:r>
            <a:br>
              <a:rPr lang="en-US" sz="2800" u="sng" dirty="0">
                <a:latin typeface="Arial" panose="020B0604020202020204" pitchFamily="34" charset="0"/>
                <a:cs typeface="Arial" panose="020B0604020202020204" pitchFamily="34" charset="0"/>
                <a:sym typeface="+mn-ea"/>
              </a:rPr>
            </a:br>
            <a:endParaRPr lang="en-US" sz="28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90311" y="1757680"/>
            <a:ext cx="11943645" cy="4284663"/>
          </a:xfrm>
        </p:spPr>
        <p:txBody>
          <a:bodyPr/>
          <a:lstStyle/>
          <a:p>
            <a:pPr>
              <a:buNone/>
            </a:pPr>
            <a:r>
              <a:rPr lang="en-US" sz="2400" b="1" u="sng" dirty="0">
                <a:latin typeface="Arial" panose="020B0604020202020204" pitchFamily="34" charset="0"/>
                <a:cs typeface="Arial" panose="020B0604020202020204" pitchFamily="34" charset="0"/>
                <a:sym typeface="+mn-ea"/>
              </a:rPr>
              <a:t>Aim:</a:t>
            </a:r>
          </a:p>
          <a:p>
            <a:pPr>
              <a:buNone/>
            </a:pPr>
            <a:r>
              <a:rPr lang="en-IN" sz="2400" dirty="0">
                <a:latin typeface="Arial" panose="020B0604020202020204" pitchFamily="34" charset="0"/>
                <a:cs typeface="Arial" panose="020B0604020202020204" pitchFamily="34" charset="0"/>
              </a:rPr>
              <a:t>   To evaluate the correlation between post-operative radiological reduction quality with specific emphasis on positive medial cortical support and the functional outcome and rate of fracture union in patients undergoing surgical fixation for intertrochanteric fractures.</a:t>
            </a:r>
          </a:p>
          <a:p>
            <a:pPr>
              <a:buNone/>
            </a:pPr>
            <a:r>
              <a:rPr lang="en-US" sz="2400" b="1" u="sng" dirty="0">
                <a:latin typeface="Arial" panose="020B0604020202020204" pitchFamily="34" charset="0"/>
                <a:cs typeface="Arial" panose="020B0604020202020204" pitchFamily="34" charset="0"/>
                <a:sym typeface="+mn-ea"/>
              </a:rPr>
              <a:t>Objectives:</a:t>
            </a:r>
          </a:p>
          <a:p>
            <a:r>
              <a:rPr lang="en-IN" sz="2400" dirty="0">
                <a:latin typeface="Arial" panose="020B0604020202020204" pitchFamily="34" charset="0"/>
                <a:cs typeface="Arial" panose="020B0604020202020204" pitchFamily="34" charset="0"/>
              </a:rPr>
              <a:t>To assess the quality of reduction on immediate post-operative radiographs using predefined radiological parameters such as neck shaft angle, medial cortical continuity, tip apex distance and implant position. </a:t>
            </a:r>
          </a:p>
          <a:p>
            <a:r>
              <a:rPr lang="en-IN" sz="2400" dirty="0">
                <a:latin typeface="Arial" panose="020B0604020202020204" pitchFamily="34" charset="0"/>
                <a:cs typeface="Arial" panose="020B0604020202020204" pitchFamily="34" charset="0"/>
              </a:rPr>
              <a:t>To evaluate the rate and quality of radiological union during follow-up based on progressive callus formation and loss of fracture line visibility</a:t>
            </a:r>
          </a:p>
          <a:p>
            <a:r>
              <a:rPr lang="en-IN" sz="2400" dirty="0">
                <a:latin typeface="Arial" panose="020B0604020202020204" pitchFamily="34" charset="0"/>
                <a:cs typeface="Arial" panose="020B0604020202020204" pitchFamily="34" charset="0"/>
              </a:rPr>
              <a:t>To assess functional outcome using a standard scoring system (e.g., Harris Hip Score) at serial follow-up intervals.</a:t>
            </a:r>
          </a:p>
          <a:p>
            <a:endParaRPr lang="en-IN" sz="2400" dirty="0">
              <a:latin typeface="Arial" panose="020B0604020202020204" pitchFamily="34" charset="0"/>
              <a:cs typeface="Arial" panose="020B0604020202020204" pitchFamily="34" charset="0"/>
            </a:endParaRPr>
          </a:p>
          <a:p>
            <a:pPr>
              <a:buNone/>
            </a:pPr>
            <a:endParaRPr lang="en-US" sz="2400" b="1" u="sng"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49070"/>
            <a:ext cx="10515600" cy="688975"/>
          </a:xfrm>
        </p:spPr>
        <p:txBody>
          <a:bodyPr/>
          <a:lstStyle/>
          <a:p>
            <a:pPr algn="ctr"/>
            <a:r>
              <a:rPr lang="en-US" sz="2800" b="1" u="sng" dirty="0">
                <a:latin typeface="Arial" panose="020B0604020202020204" pitchFamily="34" charset="0"/>
                <a:cs typeface="Arial" panose="020B0604020202020204" pitchFamily="34" charset="0"/>
                <a:sym typeface="+mn-ea"/>
              </a:rPr>
              <a:t>MATERIALS AND METHODS</a:t>
            </a:r>
            <a:br>
              <a:rPr lang="en-US" sz="2800" u="sng" dirty="0">
                <a:latin typeface="Arial" panose="020B0604020202020204" pitchFamily="34" charset="0"/>
                <a:cs typeface="Arial" panose="020B0604020202020204" pitchFamily="34" charset="0"/>
                <a:sym typeface="+mn-ea"/>
              </a:rPr>
            </a:br>
            <a:endParaRPr lang="en-US" sz="2800" u="sng" dirty="0">
              <a:latin typeface="Arial" panose="020B0604020202020204" pitchFamily="34" charset="0"/>
              <a:cs typeface="Arial" panose="020B0604020202020204" pitchFamily="34" charset="0"/>
              <a:sym typeface="+mn-ea"/>
            </a:endParaRPr>
          </a:p>
        </p:txBody>
      </p:sp>
      <p:sp>
        <p:nvSpPr>
          <p:cNvPr id="3" name="Content Placeholder 2"/>
          <p:cNvSpPr>
            <a:spLocks noGrp="1"/>
          </p:cNvSpPr>
          <p:nvPr>
            <p:ph idx="1"/>
          </p:nvPr>
        </p:nvSpPr>
        <p:spPr>
          <a:xfrm>
            <a:off x="530614" y="2138045"/>
            <a:ext cx="10515600" cy="4351338"/>
          </a:xfrm>
        </p:spPr>
        <p:txBody>
          <a:bodyPr/>
          <a:lstStyle/>
          <a:p>
            <a:r>
              <a:rPr lang="en-US" sz="2400" b="1" dirty="0">
                <a:latin typeface="Arial" panose="020B0604020202020204" pitchFamily="34" charset="0"/>
                <a:cs typeface="Arial" panose="020B0604020202020204" pitchFamily="34" charset="0"/>
                <a:sym typeface="+mn-ea"/>
              </a:rPr>
              <a:t>Study Design:</a:t>
            </a:r>
            <a:r>
              <a:rPr lang="en-IN" sz="2400" b="1" dirty="0">
                <a:latin typeface="Arial" panose="020B0604020202020204" pitchFamily="34" charset="0"/>
                <a:cs typeface="Arial" panose="020B0604020202020204" pitchFamily="34" charset="0"/>
              </a:rPr>
              <a:t> </a:t>
            </a:r>
            <a:r>
              <a:rPr lang="en-IN" sz="2400" dirty="0">
                <a:latin typeface="Arial" panose="020B0604020202020204" pitchFamily="34" charset="0"/>
                <a:cs typeface="Arial" panose="020B0604020202020204" pitchFamily="34" charset="0"/>
              </a:rPr>
              <a:t>Prospective observational study.</a:t>
            </a:r>
          </a:p>
          <a:p>
            <a:r>
              <a:rPr lang="en-US" sz="2400" b="1" dirty="0">
                <a:latin typeface="Arial" panose="020B0604020202020204" pitchFamily="34" charset="0"/>
                <a:cs typeface="Arial" panose="020B0604020202020204" pitchFamily="34" charset="0"/>
                <a:sym typeface="+mn-ea"/>
              </a:rPr>
              <a:t>Study Setting: </a:t>
            </a:r>
            <a:r>
              <a:rPr lang="en-US" sz="2400" dirty="0">
                <a:latin typeface="Arial" panose="020B0604020202020204" pitchFamily="34" charset="0"/>
                <a:cs typeface="Arial" panose="020B0604020202020204" pitchFamily="34" charset="0"/>
                <a:sym typeface="+mn-ea"/>
              </a:rPr>
              <a:t>Conducted at KIMS Hospital, a tertiary care center </a:t>
            </a:r>
            <a:endParaRPr lang="en-US" sz="2400" dirty="0">
              <a:latin typeface="Arial" panose="020B0604020202020204" pitchFamily="34" charset="0"/>
              <a:cs typeface="Arial" panose="020B0604020202020204" pitchFamily="34" charset="0"/>
            </a:endParaRPr>
          </a:p>
          <a:p>
            <a:pPr lvl="0"/>
            <a:r>
              <a:rPr lang="en-US" sz="2400" b="1" dirty="0">
                <a:latin typeface="Arial" panose="020B0604020202020204" pitchFamily="34" charset="0"/>
                <a:cs typeface="Arial" panose="020B0604020202020204" pitchFamily="34" charset="0"/>
                <a:sym typeface="+mn-ea"/>
              </a:rPr>
              <a:t>Study Population:</a:t>
            </a:r>
            <a:r>
              <a:rPr lang="en-IN" sz="2400" dirty="0">
                <a:latin typeface="Arial" panose="020B0604020202020204" pitchFamily="34" charset="0"/>
                <a:cs typeface="Arial" panose="020B0604020202020204" pitchFamily="34" charset="0"/>
              </a:rPr>
              <a:t>All patients with intertrochanteric fractures of the femur who underwent surgical fixation were included in the study after fulfilling the eligibility criteria</a:t>
            </a:r>
            <a:endParaRPr lang="en-US" sz="2400" dirty="0">
              <a:latin typeface="Arial" panose="020B0604020202020204" pitchFamily="34" charset="0"/>
              <a:cs typeface="Arial" panose="020B0604020202020204" pitchFamily="34" charset="0"/>
            </a:endParaRPr>
          </a:p>
          <a:p>
            <a:pPr lvl="0"/>
            <a:r>
              <a:rPr lang="en-US" sz="2400" b="1" dirty="0">
                <a:latin typeface="Arial" panose="020B0604020202020204" pitchFamily="34" charset="0"/>
                <a:cs typeface="Arial" panose="020B0604020202020204" pitchFamily="34" charset="0"/>
                <a:sym typeface="+mn-ea"/>
              </a:rPr>
              <a:t>Sample duration:</a:t>
            </a:r>
            <a:r>
              <a:rPr lang="en-US" sz="2400" dirty="0">
                <a:latin typeface="Arial" panose="020B0604020202020204" pitchFamily="34" charset="0"/>
                <a:cs typeface="Arial" panose="020B0604020202020204" pitchFamily="34" charset="0"/>
                <a:sym typeface="+mn-ea"/>
              </a:rPr>
              <a:t>18months</a:t>
            </a:r>
          </a:p>
          <a:p>
            <a:pPr lvl="0"/>
            <a:r>
              <a:rPr lang="en-US" sz="2400" b="1" dirty="0">
                <a:latin typeface="Arial" panose="020B0604020202020204" pitchFamily="34" charset="0"/>
                <a:cs typeface="Arial" panose="020B0604020202020204" pitchFamily="34" charset="0"/>
                <a:sym typeface="+mn-ea"/>
              </a:rPr>
              <a:t>Sample size</a:t>
            </a:r>
            <a:r>
              <a:rPr lang="en-US" sz="2400" dirty="0">
                <a:latin typeface="Arial" panose="020B0604020202020204" pitchFamily="34" charset="0"/>
                <a:cs typeface="Arial" panose="020B0604020202020204" pitchFamily="34" charset="0"/>
                <a:sym typeface="+mn-ea"/>
              </a:rPr>
              <a:t>:45 patients</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484" y="1415846"/>
            <a:ext cx="12113342" cy="5083278"/>
          </a:xfrm>
        </p:spPr>
        <p:txBody>
          <a:bodyPr/>
          <a:lstStyle/>
          <a:p>
            <a:pPr marL="0" indent="0">
              <a:buNone/>
            </a:pPr>
            <a:r>
              <a:rPr lang="en-IN" sz="2400" b="1" dirty="0">
                <a:latin typeface="Arial" panose="020B0604020202020204" pitchFamily="34" charset="0"/>
                <a:cs typeface="Arial" panose="020B0604020202020204" pitchFamily="34" charset="0"/>
              </a:rPr>
              <a:t>Inclusion Criteria:</a:t>
            </a:r>
            <a:endParaRPr lang="en-IN" sz="2400" dirty="0">
              <a:latin typeface="Arial" panose="020B0604020202020204" pitchFamily="34" charset="0"/>
              <a:cs typeface="Arial" panose="020B0604020202020204" pitchFamily="34" charset="0"/>
            </a:endParaRPr>
          </a:p>
          <a:p>
            <a:pPr lvl="0"/>
            <a:r>
              <a:rPr lang="en-IN" sz="2400" dirty="0">
                <a:latin typeface="Arial" panose="020B0604020202020204" pitchFamily="34" charset="0"/>
                <a:cs typeface="Arial" panose="020B0604020202020204" pitchFamily="34" charset="0"/>
              </a:rPr>
              <a:t>Age ≥ 18 years.</a:t>
            </a:r>
          </a:p>
          <a:p>
            <a:pPr lvl="0"/>
            <a:r>
              <a:rPr lang="en-IN" sz="2400" dirty="0">
                <a:latin typeface="Arial" panose="020B0604020202020204" pitchFamily="34" charset="0"/>
                <a:cs typeface="Arial" panose="020B0604020202020204" pitchFamily="34" charset="0"/>
              </a:rPr>
              <a:t>Radiologically proven intertrochanteric fracture of the proximal femur.</a:t>
            </a:r>
          </a:p>
          <a:p>
            <a:pPr lvl="0"/>
            <a:r>
              <a:rPr lang="en-IN" sz="2400" dirty="0">
                <a:latin typeface="Arial" panose="020B0604020202020204" pitchFamily="34" charset="0"/>
                <a:cs typeface="Arial" panose="020B0604020202020204" pitchFamily="34" charset="0"/>
              </a:rPr>
              <a:t>Patients planned for operative management using intramedullary fixation (e.g., PFN).</a:t>
            </a:r>
          </a:p>
          <a:p>
            <a:pPr marL="0" indent="0">
              <a:buNone/>
            </a:pPr>
            <a:r>
              <a:rPr lang="en-IN" sz="2400" b="1" dirty="0">
                <a:latin typeface="Arial" panose="020B0604020202020204" pitchFamily="34" charset="0"/>
                <a:cs typeface="Arial" panose="020B0604020202020204" pitchFamily="34" charset="0"/>
              </a:rPr>
              <a:t>Exclusion Criteria</a:t>
            </a:r>
            <a:endParaRPr lang="en-IN" sz="2400" dirty="0">
              <a:latin typeface="Arial" panose="020B0604020202020204" pitchFamily="34" charset="0"/>
              <a:cs typeface="Arial" panose="020B0604020202020204" pitchFamily="34" charset="0"/>
            </a:endParaRPr>
          </a:p>
          <a:p>
            <a:pPr lvl="0"/>
            <a:r>
              <a:rPr lang="en-IN" sz="2400" dirty="0">
                <a:latin typeface="Arial" panose="020B0604020202020204" pitchFamily="34" charset="0"/>
                <a:cs typeface="Arial" panose="020B0604020202020204" pitchFamily="34" charset="0"/>
              </a:rPr>
              <a:t>Pathological fractures (except osteoporosis).</a:t>
            </a:r>
          </a:p>
          <a:p>
            <a:pPr lvl="0"/>
            <a:r>
              <a:rPr lang="en-IN" sz="2400" dirty="0">
                <a:latin typeface="Arial" panose="020B0604020202020204" pitchFamily="34" charset="0"/>
                <a:cs typeface="Arial" panose="020B0604020202020204" pitchFamily="34" charset="0"/>
              </a:rPr>
              <a:t>Polytrauma patients with multiple long-bone fractures.</a:t>
            </a:r>
          </a:p>
          <a:p>
            <a:pPr lvl="0"/>
            <a:r>
              <a:rPr lang="en-IN" sz="2400" dirty="0">
                <a:latin typeface="Arial" panose="020B0604020202020204" pitchFamily="34" charset="0"/>
                <a:cs typeface="Arial" panose="020B0604020202020204" pitchFamily="34" charset="0"/>
              </a:rPr>
              <a:t>Associated neurovascular injury around the fracture site.</a:t>
            </a:r>
          </a:p>
          <a:p>
            <a:pPr lvl="0"/>
            <a:r>
              <a:rPr lang="en-IN" sz="2400" dirty="0">
                <a:latin typeface="Arial" panose="020B0604020202020204" pitchFamily="34" charset="0"/>
                <a:cs typeface="Arial" panose="020B0604020202020204" pitchFamily="34" charset="0"/>
              </a:rPr>
              <a:t>Prior hip surgery on the affected side.</a:t>
            </a:r>
          </a:p>
          <a:p>
            <a:r>
              <a:rPr lang="en-IN" sz="2400" dirty="0">
                <a:latin typeface="Arial" panose="020B0604020202020204" pitchFamily="34" charset="0"/>
                <a:cs typeface="Arial" panose="020B0604020202020204" pitchFamily="34" charset="0"/>
              </a:rPr>
              <a:t>Patients unable or unwilling to comply with follow-up</a:t>
            </a:r>
            <a:r>
              <a:rPr lang="en-IN" sz="2400" dirty="0"/>
              <a:t>.</a:t>
            </a:r>
          </a:p>
          <a:p>
            <a:pPr marL="0" indent="0">
              <a:buNone/>
            </a:pPr>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7888" y="1274278"/>
            <a:ext cx="13362356" cy="461665"/>
          </a:xfrm>
        </p:spPr>
        <p:txBody>
          <a:bodyPr/>
          <a:lstStyle/>
          <a:p>
            <a:pPr algn="ctr"/>
            <a:r>
              <a:rPr lang="en-IN" sz="2200" b="1" dirty="0">
                <a:latin typeface="Arial" panose="020B0604020202020204" pitchFamily="34" charset="0"/>
                <a:cs typeface="Arial" panose="020B0604020202020204" pitchFamily="34" charset="0"/>
              </a:rPr>
              <a:t>Quality of reduction on immediate post-op radiograph-positive(28),negative(11),neutral(6)</a:t>
            </a:r>
            <a:br>
              <a:rPr lang="en-IN" sz="2200" dirty="0">
                <a:latin typeface="Arial" panose="020B0604020202020204" pitchFamily="34" charset="0"/>
                <a:cs typeface="Arial" panose="020B0604020202020204" pitchFamily="34" charset="0"/>
              </a:rPr>
            </a:br>
            <a:endParaRPr lang="en-US" sz="2200" u="sng" dirty="0">
              <a:latin typeface="Arial" panose="020B0604020202020204" pitchFamily="34" charset="0"/>
              <a:cs typeface="Arial" panose="020B0604020202020204" pitchFamily="34" charset="0"/>
              <a:sym typeface="+mn-ea"/>
            </a:endParaRPr>
          </a:p>
        </p:txBody>
      </p:sp>
      <p:sp>
        <p:nvSpPr>
          <p:cNvPr id="3" name="Content Placeholder 2"/>
          <p:cNvSpPr>
            <a:spLocks noGrp="1"/>
          </p:cNvSpPr>
          <p:nvPr>
            <p:ph idx="1"/>
          </p:nvPr>
        </p:nvSpPr>
        <p:spPr>
          <a:xfrm>
            <a:off x="-67197" y="3991567"/>
            <a:ext cx="5936863" cy="438579"/>
          </a:xfrm>
        </p:spPr>
        <p:txBody>
          <a:bodyPr/>
          <a:lstStyle/>
          <a:p>
            <a:pPr marL="0" indent="0">
              <a:buNone/>
            </a:pPr>
            <a:r>
              <a:rPr lang="en-IN" b="1" dirty="0"/>
              <a:t>Reduction quality vs complications </a:t>
            </a:r>
            <a:endParaRPr lang="en-IN" sz="2400" b="1" dirty="0">
              <a:latin typeface="Arial" panose="020B0604020202020204" pitchFamily="34" charset="0"/>
              <a:cs typeface="Arial" panose="020B0604020202020204" pitchFamily="34" charset="0"/>
            </a:endParaRPr>
          </a:p>
          <a:p>
            <a:pPr marL="0" indent="0">
              <a:buNone/>
            </a:pPr>
            <a:r>
              <a:rPr lang="en-IN" b="1" dirty="0"/>
              <a:t> </a:t>
            </a:r>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FE9B723-446B-AD0C-A3C3-BE0D712DB075}"/>
              </a:ext>
            </a:extLst>
          </p:cNvPr>
          <p:cNvSpPr txBox="1"/>
          <p:nvPr/>
        </p:nvSpPr>
        <p:spPr>
          <a:xfrm>
            <a:off x="-162126" y="1648802"/>
            <a:ext cx="5150283" cy="461665"/>
          </a:xfrm>
          <a:prstGeom prst="rect">
            <a:avLst/>
          </a:prstGeom>
          <a:noFill/>
        </p:spPr>
        <p:txBody>
          <a:bodyPr wrap="square">
            <a:spAutoFit/>
          </a:bodyPr>
          <a:lstStyle/>
          <a:p>
            <a:r>
              <a:rPr lang="en-IN" sz="2400" b="1" kern="0">
                <a:effectLst/>
                <a:latin typeface="Arial" panose="020B0604020202020204" pitchFamily="34" charset="0"/>
                <a:ea typeface="Times New Roman" panose="02020603050405020304" pitchFamily="18" charset="0"/>
              </a:rPr>
              <a:t>Time to radiological union </a:t>
            </a:r>
            <a:endParaRPr lang="en-IN" sz="2400" dirty="0"/>
          </a:p>
        </p:txBody>
      </p:sp>
      <p:sp>
        <p:nvSpPr>
          <p:cNvPr id="16" name="TextBox 15">
            <a:extLst>
              <a:ext uri="{FF2B5EF4-FFF2-40B4-BE49-F238E27FC236}">
                <a16:creationId xmlns:a16="http://schemas.microsoft.com/office/drawing/2014/main" id="{019CF321-F6AB-453C-C249-6AE0A278D407}"/>
              </a:ext>
            </a:extLst>
          </p:cNvPr>
          <p:cNvSpPr txBox="1"/>
          <p:nvPr/>
        </p:nvSpPr>
        <p:spPr>
          <a:xfrm>
            <a:off x="4065464" y="1667712"/>
            <a:ext cx="6372623" cy="461665"/>
          </a:xfrm>
          <a:prstGeom prst="rect">
            <a:avLst/>
          </a:prstGeom>
          <a:noFill/>
        </p:spPr>
        <p:txBody>
          <a:bodyPr wrap="square">
            <a:spAutoFit/>
          </a:bodyPr>
          <a:lstStyle/>
          <a:p>
            <a:r>
              <a:rPr lang="en-US" sz="2400" b="1">
                <a:latin typeface="Arial" panose="020B0604020202020204" pitchFamily="34" charset="0"/>
                <a:cs typeface="Arial" panose="020B0604020202020204" pitchFamily="34" charset="0"/>
              </a:rPr>
              <a:t>Functional outcome </a:t>
            </a:r>
            <a:endParaRPr lang="en-US" sz="24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F8C6F7F-FA1A-3A2F-0E50-BD19A41CE5E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285" y="2014638"/>
            <a:ext cx="3474485" cy="2070762"/>
          </a:xfrm>
          <a:prstGeom prst="rect">
            <a:avLst/>
          </a:prstGeom>
          <a:noFill/>
        </p:spPr>
      </p:pic>
      <p:pic>
        <p:nvPicPr>
          <p:cNvPr id="6" name="Picture 5">
            <a:extLst>
              <a:ext uri="{FF2B5EF4-FFF2-40B4-BE49-F238E27FC236}">
                <a16:creationId xmlns:a16="http://schemas.microsoft.com/office/drawing/2014/main" id="{4278AF1D-C90C-1FE8-C05B-70F7A9F34BB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41483" y="2025708"/>
            <a:ext cx="3503449" cy="2088484"/>
          </a:xfrm>
          <a:prstGeom prst="rect">
            <a:avLst/>
          </a:prstGeom>
          <a:noFill/>
        </p:spPr>
      </p:pic>
      <p:pic>
        <p:nvPicPr>
          <p:cNvPr id="7" name="Picture 6">
            <a:extLst>
              <a:ext uri="{FF2B5EF4-FFF2-40B4-BE49-F238E27FC236}">
                <a16:creationId xmlns:a16="http://schemas.microsoft.com/office/drawing/2014/main" id="{C2DB0753-490D-9DE3-86EB-9A12A338E2E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492" y="4688732"/>
            <a:ext cx="3571335" cy="2018314"/>
          </a:xfrm>
          <a:prstGeom prst="rect">
            <a:avLst/>
          </a:prstGeom>
          <a:noFill/>
        </p:spPr>
      </p:pic>
      <p:sp>
        <p:nvSpPr>
          <p:cNvPr id="11" name="TextBox 10">
            <a:extLst>
              <a:ext uri="{FF2B5EF4-FFF2-40B4-BE49-F238E27FC236}">
                <a16:creationId xmlns:a16="http://schemas.microsoft.com/office/drawing/2014/main" id="{DF1ACA0F-B33A-BC98-33FE-E0E0263BC3BE}"/>
              </a:ext>
            </a:extLst>
          </p:cNvPr>
          <p:cNvSpPr txBox="1"/>
          <p:nvPr/>
        </p:nvSpPr>
        <p:spPr>
          <a:xfrm>
            <a:off x="6099151" y="4044702"/>
            <a:ext cx="6317224" cy="461665"/>
          </a:xfrm>
          <a:prstGeom prst="rect">
            <a:avLst/>
          </a:prstGeom>
          <a:noFill/>
        </p:spPr>
        <p:txBody>
          <a:bodyPr wrap="square">
            <a:spAutoFit/>
          </a:bodyPr>
          <a:lstStyle/>
          <a:p>
            <a:r>
              <a:rPr lang="en-IN" sz="2400" b="1" kern="0" dirty="0">
                <a:effectLst/>
                <a:latin typeface="Arial" panose="020B0604020202020204" pitchFamily="34" charset="0"/>
                <a:ea typeface="Times New Roman" panose="02020603050405020304" pitchFamily="18" charset="0"/>
              </a:rPr>
              <a:t>Reduction quality vs Screw/Blade cut-out</a:t>
            </a:r>
            <a:endParaRPr lang="en-IN" sz="2400" dirty="0"/>
          </a:p>
        </p:txBody>
      </p:sp>
      <p:pic>
        <p:nvPicPr>
          <p:cNvPr id="13" name="Picture 12">
            <a:extLst>
              <a:ext uri="{FF2B5EF4-FFF2-40B4-BE49-F238E27FC236}">
                <a16:creationId xmlns:a16="http://schemas.microsoft.com/office/drawing/2014/main" id="{AF0A84A3-5B83-D9F0-ED15-509A19554A9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330744" y="4663737"/>
            <a:ext cx="3724605" cy="2105211"/>
          </a:xfrm>
          <a:prstGeom prst="rect">
            <a:avLst/>
          </a:prstGeom>
          <a:noFill/>
        </p:spPr>
      </p:pic>
      <p:sp>
        <p:nvSpPr>
          <p:cNvPr id="17" name="TextBox 16">
            <a:extLst>
              <a:ext uri="{FF2B5EF4-FFF2-40B4-BE49-F238E27FC236}">
                <a16:creationId xmlns:a16="http://schemas.microsoft.com/office/drawing/2014/main" id="{2AE5D749-8B20-6E04-A50E-45FBD2BF8EB6}"/>
              </a:ext>
            </a:extLst>
          </p:cNvPr>
          <p:cNvSpPr txBox="1"/>
          <p:nvPr/>
        </p:nvSpPr>
        <p:spPr>
          <a:xfrm>
            <a:off x="7753785" y="1613451"/>
            <a:ext cx="6317224" cy="461665"/>
          </a:xfrm>
          <a:prstGeom prst="rect">
            <a:avLst/>
          </a:prstGeom>
          <a:noFill/>
        </p:spPr>
        <p:txBody>
          <a:bodyPr wrap="square">
            <a:spAutoFit/>
          </a:bodyPr>
          <a:lstStyle/>
          <a:p>
            <a:r>
              <a:rPr lang="en-IN" sz="2400" b="1" kern="0" dirty="0">
                <a:effectLst/>
                <a:latin typeface="Arial" panose="020B0604020202020204" pitchFamily="34" charset="0"/>
                <a:ea typeface="Times New Roman" panose="02020603050405020304" pitchFamily="18" charset="0"/>
              </a:rPr>
              <a:t>Distribution of complications </a:t>
            </a:r>
            <a:endParaRPr lang="en-IN" sz="2400" dirty="0"/>
          </a:p>
        </p:txBody>
      </p:sp>
      <p:pic>
        <p:nvPicPr>
          <p:cNvPr id="18" name="Picture 17">
            <a:extLst>
              <a:ext uri="{FF2B5EF4-FFF2-40B4-BE49-F238E27FC236}">
                <a16:creationId xmlns:a16="http://schemas.microsoft.com/office/drawing/2014/main" id="{C2E982F7-FE30-F558-3A13-FD9F203590D6}"/>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37904" y="2011860"/>
            <a:ext cx="3310283" cy="2107546"/>
          </a:xfrm>
          <a:prstGeom prst="rect">
            <a:avLst/>
          </a:prstGeom>
          <a:noFill/>
        </p:spPr>
      </p:pic>
      <p:sp>
        <p:nvSpPr>
          <p:cNvPr id="20" name="TextBox 19">
            <a:extLst>
              <a:ext uri="{FF2B5EF4-FFF2-40B4-BE49-F238E27FC236}">
                <a16:creationId xmlns:a16="http://schemas.microsoft.com/office/drawing/2014/main" id="{492B909A-753D-9166-0B13-6027CCBE1F96}"/>
              </a:ext>
            </a:extLst>
          </p:cNvPr>
          <p:cNvSpPr txBox="1"/>
          <p:nvPr/>
        </p:nvSpPr>
        <p:spPr>
          <a:xfrm>
            <a:off x="3768353" y="4467720"/>
            <a:ext cx="4562391" cy="830997"/>
          </a:xfrm>
          <a:prstGeom prst="rect">
            <a:avLst/>
          </a:prstGeom>
          <a:noFill/>
        </p:spPr>
        <p:txBody>
          <a:bodyPr wrap="square">
            <a:spAutoFit/>
          </a:bodyPr>
          <a:lstStyle/>
          <a:p>
            <a:r>
              <a:rPr lang="en-IN" sz="2400" b="1" kern="0" dirty="0">
                <a:effectLst/>
                <a:latin typeface="Arial" panose="020B0604020202020204" pitchFamily="34" charset="0"/>
                <a:ea typeface="Times New Roman" panose="02020603050405020304" pitchFamily="18" charset="0"/>
              </a:rPr>
              <a:t>Tip–Apex Distance (TAD) vs Screw/Blade cut-out </a:t>
            </a:r>
            <a:endParaRPr lang="en-IN" sz="2400" dirty="0"/>
          </a:p>
        </p:txBody>
      </p:sp>
      <p:pic>
        <p:nvPicPr>
          <p:cNvPr id="21" name="Picture 20">
            <a:extLst>
              <a:ext uri="{FF2B5EF4-FFF2-40B4-BE49-F238E27FC236}">
                <a16:creationId xmlns:a16="http://schemas.microsoft.com/office/drawing/2014/main" id="{77F078F7-FEE2-08AC-01FD-5DAB61FDA377}"/>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483510" y="5218493"/>
            <a:ext cx="2900666" cy="1639507"/>
          </a:xfrm>
          <a:prstGeom prst="rect">
            <a:avLst/>
          </a:prstGeom>
          <a:noFill/>
        </p:spPr>
      </p:pic>
      <p:sp>
        <p:nvSpPr>
          <p:cNvPr id="15" name="TextBox 14">
            <a:extLst>
              <a:ext uri="{FF2B5EF4-FFF2-40B4-BE49-F238E27FC236}">
                <a16:creationId xmlns:a16="http://schemas.microsoft.com/office/drawing/2014/main" id="{019CF321-F6AB-453C-C249-6AE0A278D407}"/>
              </a:ext>
            </a:extLst>
          </p:cNvPr>
          <p:cNvSpPr txBox="1"/>
          <p:nvPr/>
        </p:nvSpPr>
        <p:spPr>
          <a:xfrm>
            <a:off x="6421845" y="1999078"/>
            <a:ext cx="6372623" cy="184666"/>
          </a:xfrm>
          <a:prstGeom prst="rect">
            <a:avLst/>
          </a:prstGeom>
          <a:noFill/>
        </p:spPr>
        <p:txBody>
          <a:bodyPr wrap="square">
            <a:spAutoFit/>
          </a:bodyPr>
          <a:lstStyle/>
          <a:p>
            <a:r>
              <a:rPr lang="en-US" sz="600">
                <a:latin typeface="Arial" panose="020B0604020202020204" pitchFamily="34" charset="0"/>
                <a:cs typeface="Arial" panose="020B0604020202020204" pitchFamily="34" charset="0"/>
              </a:rPr>
              <a:t>(At 1 year) </a:t>
            </a:r>
            <a:endParaRPr lang="en-US" sz="600" dirty="0">
              <a:latin typeface="Arial" panose="020B0604020202020204" pitchFamily="34" charset="0"/>
              <a:cs typeface="Arial" panose="020B0604020202020204" pitchFamily="34" charset="0"/>
            </a:endParaRPr>
          </a:p>
        </p:txBody>
      </p:sp>
      <p:sp>
        <p:nvSpPr>
          <p:cNvPr id="5" name="Rectangle 4"/>
          <p:cNvSpPr/>
          <p:nvPr/>
        </p:nvSpPr>
        <p:spPr>
          <a:xfrm>
            <a:off x="4369889" y="3418249"/>
            <a:ext cx="420308" cy="215444"/>
          </a:xfrm>
          <a:prstGeom prst="rect">
            <a:avLst/>
          </a:prstGeom>
        </p:spPr>
        <p:txBody>
          <a:bodyPr wrap="none">
            <a:spAutoFit/>
          </a:bodyPr>
          <a:lstStyle/>
          <a:p>
            <a:r>
              <a:rPr lang="en-US" sz="800" dirty="0">
                <a:latin typeface="Arial" panose="020B0604020202020204" pitchFamily="34" charset="0"/>
                <a:cs typeface="Arial" panose="020B0604020202020204" pitchFamily="34" charset="0"/>
              </a:rPr>
              <a:t>8.9%</a:t>
            </a:r>
          </a:p>
        </p:txBody>
      </p:sp>
      <p:sp>
        <p:nvSpPr>
          <p:cNvPr id="19" name="Rectangle 18"/>
          <p:cNvSpPr/>
          <p:nvPr/>
        </p:nvSpPr>
        <p:spPr>
          <a:xfrm>
            <a:off x="5131889" y="2902075"/>
            <a:ext cx="478016" cy="215444"/>
          </a:xfrm>
          <a:prstGeom prst="rect">
            <a:avLst/>
          </a:prstGeom>
        </p:spPr>
        <p:txBody>
          <a:bodyPr wrap="none">
            <a:spAutoFit/>
          </a:bodyPr>
          <a:lstStyle/>
          <a:p>
            <a:r>
              <a:rPr lang="en-US" sz="800" dirty="0">
                <a:latin typeface="Arial" panose="020B0604020202020204" pitchFamily="34" charset="0"/>
                <a:cs typeface="Arial" panose="020B0604020202020204" pitchFamily="34" charset="0"/>
              </a:rPr>
              <a:t>20.0%</a:t>
            </a:r>
          </a:p>
        </p:txBody>
      </p:sp>
      <p:sp>
        <p:nvSpPr>
          <p:cNvPr id="22" name="Rectangle 21"/>
          <p:cNvSpPr/>
          <p:nvPr/>
        </p:nvSpPr>
        <p:spPr>
          <a:xfrm>
            <a:off x="5940334" y="2082647"/>
            <a:ext cx="478016" cy="215444"/>
          </a:xfrm>
          <a:prstGeom prst="rect">
            <a:avLst/>
          </a:prstGeom>
        </p:spPr>
        <p:txBody>
          <a:bodyPr wrap="none">
            <a:spAutoFit/>
          </a:bodyPr>
          <a:lstStyle/>
          <a:p>
            <a:r>
              <a:rPr lang="en-US" sz="800" dirty="0">
                <a:latin typeface="Arial" panose="020B0604020202020204" pitchFamily="34" charset="0"/>
                <a:cs typeface="Arial" panose="020B0604020202020204" pitchFamily="34" charset="0"/>
              </a:rPr>
              <a:t>37.8%</a:t>
            </a:r>
          </a:p>
        </p:txBody>
      </p:sp>
      <p:sp>
        <p:nvSpPr>
          <p:cNvPr id="23" name="Rectangle 22"/>
          <p:cNvSpPr/>
          <p:nvPr/>
        </p:nvSpPr>
        <p:spPr>
          <a:xfrm>
            <a:off x="6711634" y="2287233"/>
            <a:ext cx="478016" cy="215444"/>
          </a:xfrm>
          <a:prstGeom prst="rect">
            <a:avLst/>
          </a:prstGeom>
        </p:spPr>
        <p:txBody>
          <a:bodyPr wrap="none">
            <a:spAutoFit/>
          </a:bodyPr>
          <a:lstStyle/>
          <a:p>
            <a:r>
              <a:rPr lang="en-US" sz="800" dirty="0">
                <a:latin typeface="Arial" panose="020B0604020202020204" pitchFamily="34" charset="0"/>
                <a:cs typeface="Arial" panose="020B0604020202020204" pitchFamily="34" charset="0"/>
              </a:rPr>
              <a:t>33.3%</a:t>
            </a:r>
          </a:p>
        </p:txBody>
      </p:sp>
      <p:sp>
        <p:nvSpPr>
          <p:cNvPr id="9" name="Rectangle 8"/>
          <p:cNvSpPr/>
          <p:nvPr/>
        </p:nvSpPr>
        <p:spPr>
          <a:xfrm>
            <a:off x="8973863" y="4751827"/>
            <a:ext cx="812789" cy="230832"/>
          </a:xfrm>
          <a:prstGeom prst="rect">
            <a:avLst/>
          </a:prstGeom>
        </p:spPr>
        <p:txBody>
          <a:bodyPr wrap="square">
            <a:spAutoFit/>
          </a:bodyPr>
          <a:lstStyle/>
          <a:p>
            <a:r>
              <a:rPr lang="en-US" sz="900" dirty="0">
                <a:latin typeface="Arial" panose="020B0604020202020204" pitchFamily="34" charset="0"/>
                <a:cs typeface="Arial" panose="020B0604020202020204" pitchFamily="34" charset="0"/>
              </a:rPr>
              <a:t>0.0%</a:t>
            </a:r>
          </a:p>
        </p:txBody>
      </p:sp>
      <p:sp>
        <p:nvSpPr>
          <p:cNvPr id="10" name="Rectangle 9"/>
          <p:cNvSpPr/>
          <p:nvPr/>
        </p:nvSpPr>
        <p:spPr>
          <a:xfrm>
            <a:off x="10070854" y="5731682"/>
            <a:ext cx="420308" cy="215444"/>
          </a:xfrm>
          <a:prstGeom prst="rect">
            <a:avLst/>
          </a:prstGeom>
        </p:spPr>
        <p:txBody>
          <a:bodyPr wrap="none">
            <a:spAutoFit/>
          </a:bodyPr>
          <a:lstStyle/>
          <a:p>
            <a:r>
              <a:rPr lang="en-US" sz="800" dirty="0">
                <a:latin typeface="Arial" panose="020B0604020202020204" pitchFamily="34" charset="0"/>
                <a:cs typeface="Arial" panose="020B0604020202020204" pitchFamily="34" charset="0"/>
              </a:rPr>
              <a:t>9.1%</a:t>
            </a:r>
          </a:p>
        </p:txBody>
      </p:sp>
      <p:sp>
        <p:nvSpPr>
          <p:cNvPr id="12" name="Rectangle 11"/>
          <p:cNvSpPr/>
          <p:nvPr/>
        </p:nvSpPr>
        <p:spPr>
          <a:xfrm>
            <a:off x="11163054" y="6014259"/>
            <a:ext cx="478016" cy="215444"/>
          </a:xfrm>
          <a:prstGeom prst="rect">
            <a:avLst/>
          </a:prstGeom>
        </p:spPr>
        <p:txBody>
          <a:bodyPr wrap="none">
            <a:spAutoFit/>
          </a:bodyPr>
          <a:lstStyle/>
          <a:p>
            <a:r>
              <a:rPr lang="en-US" sz="800" dirty="0">
                <a:latin typeface="Arial" panose="020B0604020202020204" pitchFamily="34" charset="0"/>
                <a:cs typeface="Arial" panose="020B0604020202020204" pitchFamily="34" charset="0"/>
              </a:rPr>
              <a:t>16.7%</a:t>
            </a:r>
          </a:p>
        </p:txBody>
      </p:sp>
      <p:sp>
        <p:nvSpPr>
          <p:cNvPr id="14" name="Rectangle 13"/>
          <p:cNvSpPr/>
          <p:nvPr/>
        </p:nvSpPr>
        <p:spPr>
          <a:xfrm>
            <a:off x="653804" y="4751827"/>
            <a:ext cx="474810" cy="246221"/>
          </a:xfrm>
          <a:prstGeom prst="rect">
            <a:avLst/>
          </a:prstGeom>
        </p:spPr>
        <p:txBody>
          <a:bodyPr wrap="none">
            <a:spAutoFit/>
          </a:bodyPr>
          <a:lstStyle/>
          <a:p>
            <a:r>
              <a:rPr lang="en-US" sz="1000" dirty="0">
                <a:latin typeface="Arial" panose="020B0604020202020204" pitchFamily="34" charset="0"/>
                <a:cs typeface="Arial" panose="020B0604020202020204" pitchFamily="34" charset="0"/>
              </a:rPr>
              <a:t>3.6%</a:t>
            </a:r>
          </a:p>
        </p:txBody>
      </p:sp>
      <p:sp>
        <p:nvSpPr>
          <p:cNvPr id="24" name="Rectangle 23"/>
          <p:cNvSpPr/>
          <p:nvPr/>
        </p:nvSpPr>
        <p:spPr>
          <a:xfrm>
            <a:off x="1727505" y="5692691"/>
            <a:ext cx="474810" cy="246221"/>
          </a:xfrm>
          <a:prstGeom prst="rect">
            <a:avLst/>
          </a:prstGeom>
        </p:spPr>
        <p:txBody>
          <a:bodyPr wrap="none">
            <a:spAutoFit/>
          </a:bodyPr>
          <a:lstStyle/>
          <a:p>
            <a:r>
              <a:rPr lang="en-US" sz="1000" dirty="0">
                <a:latin typeface="Arial" panose="020B0604020202020204" pitchFamily="34" charset="0"/>
                <a:cs typeface="Arial" panose="020B0604020202020204" pitchFamily="34" charset="0"/>
              </a:rPr>
              <a:t>9.1%</a:t>
            </a:r>
          </a:p>
        </p:txBody>
      </p:sp>
      <p:sp>
        <p:nvSpPr>
          <p:cNvPr id="25" name="Rectangle 24"/>
          <p:cNvSpPr/>
          <p:nvPr/>
        </p:nvSpPr>
        <p:spPr>
          <a:xfrm>
            <a:off x="2794684" y="5984052"/>
            <a:ext cx="545342" cy="246221"/>
          </a:xfrm>
          <a:prstGeom prst="rect">
            <a:avLst/>
          </a:prstGeom>
        </p:spPr>
        <p:txBody>
          <a:bodyPr wrap="none">
            <a:spAutoFit/>
          </a:bodyPr>
          <a:lstStyle/>
          <a:p>
            <a:r>
              <a:rPr lang="en-US" sz="1000" dirty="0">
                <a:latin typeface="Arial" panose="020B0604020202020204" pitchFamily="34" charset="0"/>
                <a:cs typeface="Arial" panose="020B0604020202020204" pitchFamily="34" charset="0"/>
              </a:rPr>
              <a:t>33.3%</a:t>
            </a:r>
          </a:p>
        </p:txBody>
      </p:sp>
      <p:sp>
        <p:nvSpPr>
          <p:cNvPr id="26" name="Rectangle 25"/>
          <p:cNvSpPr/>
          <p:nvPr/>
        </p:nvSpPr>
        <p:spPr>
          <a:xfrm>
            <a:off x="9847075" y="3429013"/>
            <a:ext cx="447558" cy="230832"/>
          </a:xfrm>
          <a:prstGeom prst="rect">
            <a:avLst/>
          </a:prstGeom>
        </p:spPr>
        <p:txBody>
          <a:bodyPr wrap="none">
            <a:spAutoFit/>
          </a:bodyPr>
          <a:lstStyle/>
          <a:p>
            <a:r>
              <a:rPr lang="en-US" sz="900" dirty="0">
                <a:latin typeface="Arial" panose="020B0604020202020204" pitchFamily="34" charset="0"/>
                <a:cs typeface="Arial" panose="020B0604020202020204" pitchFamily="34" charset="0"/>
              </a:rPr>
              <a:t>6.7%</a:t>
            </a:r>
          </a:p>
        </p:txBody>
      </p:sp>
      <p:sp>
        <p:nvSpPr>
          <p:cNvPr id="27" name="Rectangle 26"/>
          <p:cNvSpPr/>
          <p:nvPr/>
        </p:nvSpPr>
        <p:spPr>
          <a:xfrm>
            <a:off x="9339094" y="3453875"/>
            <a:ext cx="447558" cy="230832"/>
          </a:xfrm>
          <a:prstGeom prst="rect">
            <a:avLst/>
          </a:prstGeom>
        </p:spPr>
        <p:txBody>
          <a:bodyPr wrap="none">
            <a:spAutoFit/>
          </a:bodyPr>
          <a:lstStyle/>
          <a:p>
            <a:r>
              <a:rPr lang="en-US" sz="900" dirty="0">
                <a:latin typeface="Arial" panose="020B0604020202020204" pitchFamily="34" charset="0"/>
                <a:cs typeface="Arial" panose="020B0604020202020204" pitchFamily="34" charset="0"/>
              </a:rPr>
              <a:t>8.9%</a:t>
            </a:r>
          </a:p>
        </p:txBody>
      </p:sp>
      <p:sp>
        <p:nvSpPr>
          <p:cNvPr id="28" name="Rectangle 27"/>
          <p:cNvSpPr/>
          <p:nvPr/>
        </p:nvSpPr>
        <p:spPr>
          <a:xfrm>
            <a:off x="10320215" y="3525971"/>
            <a:ext cx="447558" cy="230832"/>
          </a:xfrm>
          <a:prstGeom prst="rect">
            <a:avLst/>
          </a:prstGeom>
        </p:spPr>
        <p:txBody>
          <a:bodyPr wrap="none">
            <a:spAutoFit/>
          </a:bodyPr>
          <a:lstStyle/>
          <a:p>
            <a:r>
              <a:rPr lang="en-US" sz="900" dirty="0">
                <a:latin typeface="Arial" panose="020B0604020202020204" pitchFamily="34" charset="0"/>
                <a:cs typeface="Arial" panose="020B0604020202020204" pitchFamily="34" charset="0"/>
              </a:rPr>
              <a:t>4.4%</a:t>
            </a:r>
          </a:p>
        </p:txBody>
      </p:sp>
      <p:sp>
        <p:nvSpPr>
          <p:cNvPr id="29" name="Rectangle 28"/>
          <p:cNvSpPr/>
          <p:nvPr/>
        </p:nvSpPr>
        <p:spPr>
          <a:xfrm>
            <a:off x="10785003" y="3518277"/>
            <a:ext cx="447558" cy="230832"/>
          </a:xfrm>
          <a:prstGeom prst="rect">
            <a:avLst/>
          </a:prstGeom>
        </p:spPr>
        <p:txBody>
          <a:bodyPr wrap="none">
            <a:spAutoFit/>
          </a:bodyPr>
          <a:lstStyle/>
          <a:p>
            <a:r>
              <a:rPr lang="en-US" sz="900">
                <a:latin typeface="Arial" panose="020B0604020202020204" pitchFamily="34" charset="0"/>
                <a:cs typeface="Arial" panose="020B0604020202020204" pitchFamily="34" charset="0"/>
              </a:rPr>
              <a:t>4.4%</a:t>
            </a:r>
            <a:endParaRPr lang="en-US" sz="900" dirty="0">
              <a:latin typeface="Arial" panose="020B0604020202020204" pitchFamily="34" charset="0"/>
              <a:cs typeface="Arial" panose="020B0604020202020204" pitchFamily="34" charset="0"/>
            </a:endParaRPr>
          </a:p>
        </p:txBody>
      </p:sp>
      <p:sp>
        <p:nvSpPr>
          <p:cNvPr id="30" name="Rectangle 29"/>
          <p:cNvSpPr/>
          <p:nvPr/>
        </p:nvSpPr>
        <p:spPr>
          <a:xfrm>
            <a:off x="11303574" y="3551810"/>
            <a:ext cx="447558" cy="230832"/>
          </a:xfrm>
          <a:prstGeom prst="rect">
            <a:avLst/>
          </a:prstGeom>
        </p:spPr>
        <p:txBody>
          <a:bodyPr wrap="none">
            <a:spAutoFit/>
          </a:bodyPr>
          <a:lstStyle/>
          <a:p>
            <a:r>
              <a:rPr lang="en-US" sz="900" dirty="0">
                <a:latin typeface="Arial" panose="020B0604020202020204" pitchFamily="34" charset="0"/>
                <a:cs typeface="Arial" panose="020B0604020202020204" pitchFamily="34" charset="0"/>
              </a:rPr>
              <a:t>2.2%</a:t>
            </a:r>
          </a:p>
        </p:txBody>
      </p:sp>
      <p:sp>
        <p:nvSpPr>
          <p:cNvPr id="31" name="Rectangle 30"/>
          <p:cNvSpPr/>
          <p:nvPr/>
        </p:nvSpPr>
        <p:spPr>
          <a:xfrm>
            <a:off x="8844403" y="2024760"/>
            <a:ext cx="511679" cy="230832"/>
          </a:xfrm>
          <a:prstGeom prst="rect">
            <a:avLst/>
          </a:prstGeom>
        </p:spPr>
        <p:txBody>
          <a:bodyPr wrap="none">
            <a:spAutoFit/>
          </a:bodyPr>
          <a:lstStyle/>
          <a:p>
            <a:r>
              <a:rPr lang="en-US" sz="900" dirty="0">
                <a:latin typeface="Arial" panose="020B0604020202020204" pitchFamily="34" charset="0"/>
                <a:cs typeface="Arial" panose="020B0604020202020204" pitchFamily="34" charset="0"/>
              </a:rPr>
              <a:t>73.3%</a:t>
            </a:r>
          </a:p>
        </p:txBody>
      </p:sp>
      <p:sp>
        <p:nvSpPr>
          <p:cNvPr id="32" name="Rectangle 31"/>
          <p:cNvSpPr/>
          <p:nvPr/>
        </p:nvSpPr>
        <p:spPr>
          <a:xfrm>
            <a:off x="4960096" y="5284845"/>
            <a:ext cx="447558" cy="230832"/>
          </a:xfrm>
          <a:prstGeom prst="rect">
            <a:avLst/>
          </a:prstGeom>
        </p:spPr>
        <p:txBody>
          <a:bodyPr wrap="square">
            <a:spAutoFit/>
          </a:bodyPr>
          <a:lstStyle/>
          <a:p>
            <a:r>
              <a:rPr lang="en-US" sz="900" dirty="0">
                <a:latin typeface="Arial" panose="020B0604020202020204" pitchFamily="34" charset="0"/>
                <a:cs typeface="Arial" panose="020B0604020202020204" pitchFamily="34" charset="0"/>
              </a:rPr>
              <a:t>0.0%</a:t>
            </a:r>
          </a:p>
        </p:txBody>
      </p:sp>
      <p:sp>
        <p:nvSpPr>
          <p:cNvPr id="33" name="Rectangle 32"/>
          <p:cNvSpPr/>
          <p:nvPr/>
        </p:nvSpPr>
        <p:spPr>
          <a:xfrm>
            <a:off x="5778166" y="5269224"/>
            <a:ext cx="447558" cy="230832"/>
          </a:xfrm>
          <a:prstGeom prst="rect">
            <a:avLst/>
          </a:prstGeom>
        </p:spPr>
        <p:txBody>
          <a:bodyPr wrap="none">
            <a:spAutoFit/>
          </a:bodyPr>
          <a:lstStyle/>
          <a:p>
            <a:r>
              <a:rPr lang="en-US" sz="900" dirty="0">
                <a:latin typeface="Arial" panose="020B0604020202020204" pitchFamily="34" charset="0"/>
                <a:cs typeface="Arial" panose="020B0604020202020204" pitchFamily="34" charset="0"/>
              </a:rPr>
              <a:t>0.0%</a:t>
            </a:r>
          </a:p>
        </p:txBody>
      </p:sp>
      <p:sp>
        <p:nvSpPr>
          <p:cNvPr id="34" name="Rectangle 33"/>
          <p:cNvSpPr/>
          <p:nvPr/>
        </p:nvSpPr>
        <p:spPr>
          <a:xfrm>
            <a:off x="6601642" y="5266111"/>
            <a:ext cx="511679" cy="230832"/>
          </a:xfrm>
          <a:prstGeom prst="rect">
            <a:avLst/>
          </a:prstGeom>
        </p:spPr>
        <p:txBody>
          <a:bodyPr wrap="square">
            <a:spAutoFit/>
          </a:bodyPr>
          <a:lstStyle/>
          <a:p>
            <a:r>
              <a:rPr lang="en-US" sz="900" dirty="0">
                <a:latin typeface="Arial" panose="020B0604020202020204" pitchFamily="34" charset="0"/>
                <a:cs typeface="Arial" panose="020B0604020202020204" pitchFamily="34" charset="0"/>
              </a:rPr>
              <a:t>25.0%</a:t>
            </a:r>
          </a:p>
        </p:txBody>
      </p:sp>
      <p:sp>
        <p:nvSpPr>
          <p:cNvPr id="35" name="Rectangle 34"/>
          <p:cNvSpPr/>
          <p:nvPr/>
        </p:nvSpPr>
        <p:spPr>
          <a:xfrm>
            <a:off x="523882" y="2973738"/>
            <a:ext cx="545342" cy="246221"/>
          </a:xfrm>
          <a:prstGeom prst="rect">
            <a:avLst/>
          </a:prstGeom>
        </p:spPr>
        <p:txBody>
          <a:bodyPr wrap="none">
            <a:spAutoFit/>
          </a:bodyPr>
          <a:lstStyle/>
          <a:p>
            <a:r>
              <a:rPr lang="en-US" sz="1000" dirty="0">
                <a:latin typeface="Arial" panose="020B0604020202020204" pitchFamily="34" charset="0"/>
                <a:cs typeface="Arial" panose="020B0604020202020204" pitchFamily="34" charset="0"/>
              </a:rPr>
              <a:t>24.4%</a:t>
            </a:r>
          </a:p>
        </p:txBody>
      </p:sp>
      <p:sp>
        <p:nvSpPr>
          <p:cNvPr id="36" name="Rectangle 35"/>
          <p:cNvSpPr/>
          <p:nvPr/>
        </p:nvSpPr>
        <p:spPr>
          <a:xfrm>
            <a:off x="1312431" y="2033398"/>
            <a:ext cx="545342" cy="246221"/>
          </a:xfrm>
          <a:prstGeom prst="rect">
            <a:avLst/>
          </a:prstGeom>
        </p:spPr>
        <p:txBody>
          <a:bodyPr wrap="square">
            <a:spAutoFit/>
          </a:bodyPr>
          <a:lstStyle/>
          <a:p>
            <a:r>
              <a:rPr lang="en-US" sz="1000" dirty="0">
                <a:latin typeface="Arial" panose="020B0604020202020204" pitchFamily="34" charset="0"/>
                <a:cs typeface="Arial" panose="020B0604020202020204" pitchFamily="34" charset="0"/>
              </a:rPr>
              <a:t>53.3%</a:t>
            </a:r>
          </a:p>
        </p:txBody>
      </p:sp>
      <p:sp>
        <p:nvSpPr>
          <p:cNvPr id="37" name="Rectangle 36"/>
          <p:cNvSpPr/>
          <p:nvPr/>
        </p:nvSpPr>
        <p:spPr>
          <a:xfrm>
            <a:off x="2028958" y="3219959"/>
            <a:ext cx="545342" cy="246221"/>
          </a:xfrm>
          <a:prstGeom prst="rect">
            <a:avLst/>
          </a:prstGeom>
        </p:spPr>
        <p:txBody>
          <a:bodyPr wrap="none">
            <a:spAutoFit/>
          </a:bodyPr>
          <a:lstStyle/>
          <a:p>
            <a:r>
              <a:rPr lang="en-US" sz="1000">
                <a:latin typeface="Arial" panose="020B0604020202020204" pitchFamily="34" charset="0"/>
                <a:cs typeface="Arial" panose="020B0604020202020204" pitchFamily="34" charset="0"/>
              </a:rPr>
              <a:t>17.8%</a:t>
            </a:r>
            <a:endParaRPr lang="en-US" sz="1000" dirty="0">
              <a:latin typeface="Arial" panose="020B0604020202020204" pitchFamily="34" charset="0"/>
              <a:cs typeface="Arial" panose="020B0604020202020204" pitchFamily="34" charset="0"/>
            </a:endParaRPr>
          </a:p>
        </p:txBody>
      </p:sp>
      <p:sp>
        <p:nvSpPr>
          <p:cNvPr id="38" name="Rectangle 37"/>
          <p:cNvSpPr/>
          <p:nvPr/>
        </p:nvSpPr>
        <p:spPr>
          <a:xfrm>
            <a:off x="2865216" y="3625998"/>
            <a:ext cx="474810" cy="246221"/>
          </a:xfrm>
          <a:prstGeom prst="rect">
            <a:avLst/>
          </a:prstGeom>
        </p:spPr>
        <p:txBody>
          <a:bodyPr wrap="none">
            <a:spAutoFit/>
          </a:bodyPr>
          <a:lstStyle/>
          <a:p>
            <a:r>
              <a:rPr lang="en-US" sz="1000" dirty="0">
                <a:latin typeface="Arial" panose="020B0604020202020204" pitchFamily="34" charset="0"/>
                <a:cs typeface="Arial" panose="020B0604020202020204" pitchFamily="34" charset="0"/>
              </a:rPr>
              <a:t>4.4%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5405"/>
            <a:ext cx="10515600" cy="490220"/>
          </a:xfrm>
        </p:spPr>
        <p:txBody>
          <a:bodyPr/>
          <a:lstStyle/>
          <a:p>
            <a:pPr algn="ctr"/>
            <a:r>
              <a:rPr lang="en-US" sz="2800" b="1" u="sng" dirty="0">
                <a:latin typeface="Arial" panose="020B0604020202020204" pitchFamily="34" charset="0"/>
                <a:cs typeface="Arial" panose="020B0604020202020204" pitchFamily="34" charset="0"/>
                <a:sym typeface="+mn-ea"/>
              </a:rPr>
              <a:t>CONCLUSION</a:t>
            </a:r>
            <a:br>
              <a:rPr lang="en-US" sz="2800" u="sng" dirty="0">
                <a:sym typeface="+mn-ea"/>
              </a:rPr>
            </a:br>
            <a:endParaRPr lang="en-US" sz="2800"/>
          </a:p>
        </p:txBody>
      </p:sp>
      <p:sp>
        <p:nvSpPr>
          <p:cNvPr id="3" name="Content Placeholder 2"/>
          <p:cNvSpPr>
            <a:spLocks noGrp="1"/>
          </p:cNvSpPr>
          <p:nvPr>
            <p:ph idx="1"/>
          </p:nvPr>
        </p:nvSpPr>
        <p:spPr>
          <a:xfrm>
            <a:off x="70555" y="1715912"/>
            <a:ext cx="11985977" cy="5046132"/>
          </a:xfrm>
        </p:spPr>
        <p:txBody>
          <a:bodyPr/>
          <a:lstStyle/>
          <a:p>
            <a:r>
              <a:rPr lang="en-US" sz="2400" dirty="0">
                <a:latin typeface="Arial" panose="020B0604020202020204" pitchFamily="34" charset="0"/>
                <a:cs typeface="Arial" panose="020B0604020202020204" pitchFamily="34" charset="0"/>
              </a:rPr>
              <a:t>This study demonstrates that post-operative reduction quality, particularly the achievement of </a:t>
            </a:r>
            <a:r>
              <a:rPr lang="en-US" sz="2400" b="1" dirty="0">
                <a:latin typeface="Arial" panose="020B0604020202020204" pitchFamily="34" charset="0"/>
                <a:cs typeface="Arial" panose="020B0604020202020204" pitchFamily="34" charset="0"/>
              </a:rPr>
              <a:t>positive medial cortical support</a:t>
            </a:r>
            <a:r>
              <a:rPr lang="en-US" sz="2400" dirty="0">
                <a:latin typeface="Arial" panose="020B0604020202020204" pitchFamily="34" charset="0"/>
                <a:cs typeface="Arial" panose="020B0604020202020204" pitchFamily="34" charset="0"/>
              </a:rPr>
              <a:t>, has a significant influence on </a:t>
            </a:r>
            <a:r>
              <a:rPr lang="en-US" sz="2400" b="1" dirty="0">
                <a:latin typeface="Arial" panose="020B0604020202020204" pitchFamily="34" charset="0"/>
                <a:cs typeface="Arial" panose="020B0604020202020204" pitchFamily="34" charset="0"/>
              </a:rPr>
              <a:t>mechanical stability, fracture union, and functional outcome</a:t>
            </a:r>
            <a:r>
              <a:rPr lang="en-US" sz="2400" dirty="0">
                <a:latin typeface="Arial" panose="020B0604020202020204" pitchFamily="34" charset="0"/>
                <a:cs typeface="Arial" panose="020B0604020202020204" pitchFamily="34" charset="0"/>
              </a:rPr>
              <a:t> in intertrochanteric fractures treated with intramedullary fixation. </a:t>
            </a:r>
          </a:p>
          <a:p>
            <a:r>
              <a:rPr lang="en-US" sz="2400" dirty="0">
                <a:latin typeface="Arial" panose="020B0604020202020204" pitchFamily="34" charset="0"/>
                <a:cs typeface="Arial" panose="020B0604020202020204" pitchFamily="34" charset="0"/>
              </a:rPr>
              <a:t>Patients with positive reduction showed </a:t>
            </a:r>
            <a:r>
              <a:rPr lang="en-US" sz="2400" b="1" dirty="0">
                <a:latin typeface="Arial" panose="020B0604020202020204" pitchFamily="34" charset="0"/>
                <a:cs typeface="Arial" panose="020B0604020202020204" pitchFamily="34" charset="0"/>
              </a:rPr>
              <a:t>earlier radiological union, better functional outcome, and fewer complications</a:t>
            </a:r>
            <a:r>
              <a:rPr lang="en-US" sz="2400" dirty="0">
                <a:latin typeface="Arial" panose="020B0604020202020204" pitchFamily="34" charset="0"/>
                <a:cs typeface="Arial" panose="020B0604020202020204" pitchFamily="34" charset="0"/>
              </a:rPr>
              <a:t> compared to those with neutral or negative reduction. </a:t>
            </a:r>
            <a:r>
              <a:rPr lang="en-US" sz="2400" b="1" dirty="0">
                <a:latin typeface="Arial" panose="020B0604020202020204" pitchFamily="34" charset="0"/>
                <a:cs typeface="Arial" panose="020B0604020202020204" pitchFamily="34" charset="0"/>
              </a:rPr>
              <a:t>Varus collapse and screw/blade cut-out</a:t>
            </a:r>
            <a:r>
              <a:rPr lang="en-US" sz="2400" dirty="0">
                <a:latin typeface="Arial" panose="020B0604020202020204" pitchFamily="34" charset="0"/>
                <a:cs typeface="Arial" panose="020B0604020202020204" pitchFamily="34" charset="0"/>
              </a:rPr>
              <a:t> were predominantly observed in cases with poor reduction quality and </a:t>
            </a:r>
            <a:r>
              <a:rPr lang="en-US" sz="2400" b="1" dirty="0">
                <a:latin typeface="Arial" panose="020B0604020202020204" pitchFamily="34" charset="0"/>
                <a:cs typeface="Arial" panose="020B0604020202020204" pitchFamily="34" charset="0"/>
              </a:rPr>
              <a:t>tip–apex distance greater than 25 mm</a:t>
            </a:r>
            <a:r>
              <a:rPr lang="en-US" sz="2400" dirty="0">
                <a:latin typeface="Arial" panose="020B0604020202020204" pitchFamily="34" charset="0"/>
                <a:cs typeface="Arial" panose="020B0604020202020204" pitchFamily="34" charset="0"/>
              </a:rPr>
              <a:t>. Restoration of a near-normal </a:t>
            </a:r>
            <a:r>
              <a:rPr lang="en-US" sz="2400" b="1" dirty="0">
                <a:latin typeface="Arial" panose="020B0604020202020204" pitchFamily="34" charset="0"/>
                <a:cs typeface="Arial" panose="020B0604020202020204" pitchFamily="34" charset="0"/>
              </a:rPr>
              <a:t>neck–shaft angle</a:t>
            </a:r>
            <a:r>
              <a:rPr lang="en-US" sz="2400" dirty="0">
                <a:latin typeface="Arial" panose="020B0604020202020204" pitchFamily="34" charset="0"/>
                <a:cs typeface="Arial" panose="020B0604020202020204" pitchFamily="34" charset="0"/>
              </a:rPr>
              <a:t> and optimal implant positioning contributed to improved outcomes. </a:t>
            </a:r>
          </a:p>
          <a:p>
            <a:r>
              <a:rPr lang="en-US" sz="2400" dirty="0">
                <a:latin typeface="Arial" panose="020B0604020202020204" pitchFamily="34" charset="0"/>
                <a:cs typeface="Arial" panose="020B0604020202020204" pitchFamily="34" charset="0"/>
              </a:rPr>
              <a:t>Therefore, meticulous intra-operative reduction with emphasis on </a:t>
            </a:r>
            <a:r>
              <a:rPr lang="en-US" sz="2400" b="1" dirty="0">
                <a:latin typeface="Arial" panose="020B0604020202020204" pitchFamily="34" charset="0"/>
                <a:cs typeface="Arial" panose="020B0604020202020204" pitchFamily="34" charset="0"/>
              </a:rPr>
              <a:t>medial cortical support and optimal implant placement</a:t>
            </a:r>
            <a:r>
              <a:rPr lang="en-US" sz="2400" dirty="0">
                <a:latin typeface="Arial" panose="020B0604020202020204" pitchFamily="34" charset="0"/>
                <a:cs typeface="Arial" panose="020B0604020202020204" pitchFamily="34" charset="0"/>
              </a:rPr>
              <a:t> should be considered a primary surgical goal to optimize union, function, and overall patient outcomes.</a:t>
            </a:r>
          </a:p>
          <a:p>
            <a:endParaRPr lang="en-IN"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07912"/>
            <a:ext cx="10515600" cy="483094"/>
          </a:xfrm>
        </p:spPr>
        <p:txBody>
          <a:bodyPr/>
          <a:lstStyle/>
          <a:p>
            <a:pPr algn="ctr"/>
            <a:r>
              <a:rPr lang="en-US" sz="2800" b="1" u="sng" dirty="0">
                <a:latin typeface="Arial" panose="020B0604020202020204" pitchFamily="34" charset="0"/>
                <a:cs typeface="Arial" panose="020B0604020202020204" pitchFamily="34" charset="0"/>
              </a:rPr>
              <a:t>REFERENCES</a:t>
            </a:r>
          </a:p>
        </p:txBody>
      </p:sp>
      <p:sp>
        <p:nvSpPr>
          <p:cNvPr id="3" name="Content Placeholder 2"/>
          <p:cNvSpPr>
            <a:spLocks noGrp="1"/>
          </p:cNvSpPr>
          <p:nvPr>
            <p:ph idx="1"/>
          </p:nvPr>
        </p:nvSpPr>
        <p:spPr>
          <a:xfrm>
            <a:off x="101599" y="1580444"/>
            <a:ext cx="12009337" cy="5277556"/>
          </a:xfrm>
        </p:spPr>
        <p:txBody>
          <a:bodyPr/>
          <a:lstStyle/>
          <a:p>
            <a:r>
              <a:rPr lang="en-IN" sz="2400" dirty="0">
                <a:latin typeface="Arial" panose="020B0604020202020204" pitchFamily="34" charset="0"/>
                <a:cs typeface="Arial" panose="020B0604020202020204" pitchFamily="34" charset="0"/>
              </a:rPr>
              <a:t>Fang C, Wong TM, Lau TW, To KK, Leung F. Optimizing stability in unstable intertrochanteric fractures. Injury. 2017;48(10):2114–2120.</a:t>
            </a:r>
          </a:p>
          <a:p>
            <a:r>
              <a:rPr lang="en-IN" sz="2400" dirty="0">
                <a:latin typeface="Arial" panose="020B0604020202020204" pitchFamily="34" charset="0"/>
                <a:cs typeface="Arial" panose="020B0604020202020204" pitchFamily="34" charset="0"/>
              </a:rPr>
              <a:t>Chang SM, Zhang YQ, Ma Z, et al. Fracture reduction with positive medial cortical support: a key element in stability reconstruction for unstable intertrochanteric hip fractures. Arch Orthop Trauma Surg. 2015;135(6):811–818.</a:t>
            </a:r>
          </a:p>
          <a:p>
            <a:r>
              <a:rPr lang="en-IN" sz="2400" dirty="0">
                <a:latin typeface="Arial" panose="020B0604020202020204" pitchFamily="34" charset="0"/>
                <a:cs typeface="Arial" panose="020B0604020202020204" pitchFamily="34" charset="0"/>
              </a:rPr>
              <a:t>Roux C, Briot K. Imminent fracture risk. Osteoporos Int. 2017;28(6):1765–1769.</a:t>
            </a:r>
          </a:p>
          <a:p>
            <a:r>
              <a:rPr lang="en-IN" sz="2400" dirty="0">
                <a:latin typeface="Arial" panose="020B0604020202020204" pitchFamily="34" charset="0"/>
                <a:cs typeface="Arial" panose="020B0604020202020204" pitchFamily="34" charset="0"/>
              </a:rPr>
              <a:t>Agarwal N, Gupta A, Yadav C, et al. Functional outcome of intertrochanteric fractures treated with proximal femoral nail. J Clin Orthop Trauma. 2019;10(2):320–326.</a:t>
            </a:r>
          </a:p>
          <a:p>
            <a:r>
              <a:rPr lang="en-IN" sz="2400" dirty="0">
                <a:latin typeface="Arial" panose="020B0604020202020204" pitchFamily="34" charset="0"/>
                <a:cs typeface="Arial" panose="020B0604020202020204" pitchFamily="34" charset="0"/>
              </a:rPr>
              <a:t>Kuzyk PR, Guy P, Kreder HJ, et al. Prediction of outcome following hip fracture fixation. J Orthop Trauma. 2012;26(2):76-80.</a:t>
            </a:r>
          </a:p>
          <a:p>
            <a:r>
              <a:rPr lang="en-IN" sz="2400" dirty="0">
                <a:latin typeface="Arial" panose="020B0604020202020204" pitchFamily="34" charset="0"/>
                <a:cs typeface="Arial" panose="020B0604020202020204" pitchFamily="34" charset="0"/>
              </a:rPr>
              <a:t>Dhanwal DK, Siwach R, Dixit V, et al. Incidence of hip fracture in the elderly population in India and related factors. Arch Osteoporos. 2011;6:123-127.</a:t>
            </a:r>
          </a:p>
          <a:p>
            <a:endParaRPr lang="en-US" altLang="en-US" sz="2400" dirty="0">
              <a:latin typeface="Arial" panose="020B0604020202020204" pitchFamily="34" charset="0"/>
              <a:cs typeface="Arial" panose="020B0604020202020204"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735</TotalTime>
  <Words>899</Words>
  <Application>Microsoft Office PowerPoint</Application>
  <PresentationFormat>Widescreen</PresentationFormat>
  <Paragraphs>79</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Calibri</vt:lpstr>
      <vt:lpstr>Gordita</vt:lpstr>
      <vt:lpstr>Gordita </vt:lpstr>
      <vt:lpstr>Office Theme</vt:lpstr>
      <vt:lpstr> POSITIVE REDUCTION IN INTERTROCHANTERIC FRACTURES IT'S POST OPERATIVE RADIOLOGICAL EVALUATION CORRELATION WITH FUNCTIONAL OUTCOME AND RATE OF UNION </vt:lpstr>
      <vt:lpstr>INTRODUCTION </vt:lpstr>
      <vt:lpstr>AIM AND OBJECTIVES </vt:lpstr>
      <vt:lpstr>MATERIALS AND METHODS </vt:lpstr>
      <vt:lpstr>PowerPoint Presentation</vt:lpstr>
      <vt:lpstr>Quality of reduction on immediate post-op radiograph-positive(28),negative(11),neutral(6) </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POSITIVE REDUCTION IN INTERTROCHANTERIC FRACTURES IT'S POST OP RADIOLOGICAL EVALUATION CORRELATION WITH FUNCTIONAL OUTCOME AND RATE OF UNION</dc:title>
  <dc:creator>Virinchi Vinay</dc:creator>
  <cp:lastModifiedBy>kalyan kambham</cp:lastModifiedBy>
  <cp:revision>17</cp:revision>
  <dcterms:created xsi:type="dcterms:W3CDTF">2026-01-11T06:24:00Z</dcterms:created>
  <dcterms:modified xsi:type="dcterms:W3CDTF">2026-01-29T14:22:07Z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0112193654CF48968E816EF049362C7E_13</vt:lpwstr>
  </property>
  <property fmtid="{D5CDD505-2E9C-101B-9397-08002B2CF9AE}" pid="3" name="KSOProductBuildVer">
    <vt:lpwstr>1033-12.2.0.23196</vt:lpwstr>
  </property>
</Properties>
</file>