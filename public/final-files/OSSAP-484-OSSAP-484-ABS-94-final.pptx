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4624" autoAdjust="0"/>
  </p:normalViewPr>
  <p:slideViewPr>
    <p:cSldViewPr snapToGrid="0">
      <p:cViewPr>
        <p:scale>
          <a:sx n="75" d="100"/>
          <a:sy n="75" d="100"/>
        </p:scale>
        <p:origin x="-540" y="-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=""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2" y="0"/>
            <a:ext cx="12191998" cy="1511300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918149" y="0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956818" y="5014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638749" y="6847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=""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5028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800" y="1701801"/>
            <a:ext cx="2832100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THE LATARJET PROCEDURE IS AN 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ESTABLISHED SURGICAL APPROACH FOR MANAGING REURRENT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 ANTERIORSHOULDER DISLOCATIONS , PARTICULARLY IN  PATEINETS WITH SIGNIFICANT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 GLENOID BONE LOSS OR FAILED .STABILIZATION SURGERIES . THE PROCEDURE INVOLVES 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TRANSFERRING THE CORACOID PROCESS TO THE ANTERIOR GLENOID , THEREBY INCREASING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  THE GLENOID SURFACE AREA AND CREATING A STABILIZING SLING TO PREVENT FURTHER DISLOCVATIONS . DESPITE ITS BENEFITS , 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THE PROCEDURE CARRIES RISK SUCH AS INFECTION , GRAFT NON UNION AND ARTHROSIS 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411450"/>
            <a:ext cx="3238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A 40 YEAR OLD MALE WITH CHIEF COMPLAINTS OF RECURRENT EPISODES OF RIGHT SHOULDER DISLOCATION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HISTORY OF 1</a:t>
            </a:r>
            <a:r>
              <a:rPr lang="en-US" sz="1100" baseline="30000" dirty="0" smtClean="0">
                <a:latin typeface="Arial" pitchFamily="34" charset="0"/>
                <a:cs typeface="Arial" pitchFamily="34" charset="0"/>
              </a:rPr>
              <a:t>ST</a:t>
            </a:r>
            <a:r>
              <a:rPr lang="en-US" sz="1100" dirty="0" smtClean="0">
                <a:latin typeface="Arial" pitchFamily="34" charset="0"/>
                <a:cs typeface="Arial" pitchFamily="34" charset="0"/>
              </a:rPr>
              <a:t> DISOCATION FOLLOWING TRAUMA 4 YEARS AGO . MULTIPLE RECURRENT DISLOCATIONS</a:t>
            </a:r>
          </a:p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 DESPITE CONSERVATIVE MANAGEMENT AND DIFFICULTY IN OVERHEADACTIVITIES  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6" name="Picture 25" descr="WhatsApp Image 2026-02-14 at 22.13.53.jpeg"/>
          <p:cNvPicPr>
            <a:picLocks noChangeAspect="1"/>
          </p:cNvPicPr>
          <p:nvPr/>
        </p:nvPicPr>
        <p:blipFill>
          <a:blip r:embed="rId6"/>
          <a:srcRect l="25506" t="9165" r="39895" b="20896"/>
          <a:stretch>
            <a:fillRect/>
          </a:stretch>
        </p:blipFill>
        <p:spPr>
          <a:xfrm>
            <a:off x="5219700" y="1739900"/>
            <a:ext cx="1002866" cy="936000"/>
          </a:xfrm>
          <a:prstGeom prst="rect">
            <a:avLst/>
          </a:prstGeom>
        </p:spPr>
      </p:pic>
      <p:pic>
        <p:nvPicPr>
          <p:cNvPr id="27" name="Picture 26" descr="WhatsApp Image 2026-02-14 at 22.14.00.jpeg"/>
          <p:cNvPicPr>
            <a:picLocks noChangeAspect="1"/>
          </p:cNvPicPr>
          <p:nvPr/>
        </p:nvPicPr>
        <p:blipFill>
          <a:blip r:embed="rId7"/>
          <a:srcRect l="24659" t="14354" r="38021" b="25183"/>
          <a:stretch>
            <a:fillRect/>
          </a:stretch>
        </p:blipFill>
        <p:spPr>
          <a:xfrm>
            <a:off x="5105400" y="2743202"/>
            <a:ext cx="1116000" cy="834794"/>
          </a:xfrm>
          <a:prstGeom prst="rect">
            <a:avLst/>
          </a:prstGeom>
        </p:spPr>
      </p:pic>
      <p:pic>
        <p:nvPicPr>
          <p:cNvPr id="28" name="Picture 27" descr="WhatsApp Image 2026-02-14 at 22.20.16.jpeg"/>
          <p:cNvPicPr>
            <a:picLocks noChangeAspect="1"/>
          </p:cNvPicPr>
          <p:nvPr/>
        </p:nvPicPr>
        <p:blipFill>
          <a:blip r:embed="rId8" cstate="print"/>
          <a:srcRect l="2410"/>
          <a:stretch>
            <a:fillRect/>
          </a:stretch>
        </p:blipFill>
        <p:spPr>
          <a:xfrm>
            <a:off x="5092745" y="3619500"/>
            <a:ext cx="1165856" cy="1476000"/>
          </a:xfrm>
          <a:prstGeom prst="rect">
            <a:avLst/>
          </a:prstGeom>
        </p:spPr>
      </p:pic>
      <p:pic>
        <p:nvPicPr>
          <p:cNvPr id="29" name="Picture 28" descr="WhatsApp Image 2026-02-14 at 22.20.15.jpe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065218" y="5156200"/>
            <a:ext cx="1198082" cy="147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175000" y="1727200"/>
            <a:ext cx="1484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 smtClean="0">
                <a:latin typeface="Arial" pitchFamily="34" charset="0"/>
                <a:cs typeface="Arial" pitchFamily="34" charset="0"/>
              </a:rPr>
              <a:t>XRAY  FINDINGS :- </a:t>
            </a:r>
            <a:endParaRPr lang="en-US" sz="11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87701" y="1955801"/>
            <a:ext cx="199389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1)LOSS OF NORMAL CONGRUITY OF GLENO HUMERAL JOINT</a:t>
            </a:r>
          </a:p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2)FLATTENING/ IRREGULARITY OF THE ANTERO-INFERO GLENOID RIM </a:t>
            </a:r>
          </a:p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3)COMPRESSION DEFECT ON THE POSTERO LATERAL ASPECT OF THE HUMERAL HEAD </a:t>
            </a:r>
          </a:p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4)WIDENED JOINT SPACE ON AXILLARY VIEW 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13100" y="4216400"/>
            <a:ext cx="1279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 smtClean="0">
                <a:latin typeface="Arial" pitchFamily="34" charset="0"/>
                <a:cs typeface="Arial" pitchFamily="34" charset="0"/>
              </a:rPr>
              <a:t>MRI FINDINGS :-</a:t>
            </a:r>
            <a:endParaRPr lang="en-US" sz="11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25800" y="4483100"/>
            <a:ext cx="1752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1)HILLSACHS DEFORMITY AND BONY BANKARTS LESION </a:t>
            </a:r>
          </a:p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2)MODERATE GLENOHUMERAL JOINT EFFUSION</a:t>
            </a:r>
          </a:p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3)SUBACROMIAN AND SUBDELTOID BURSITIS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15101" y="1892300"/>
            <a:ext cx="29210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THIS PROCEDURE PROVIDES STABILITY THROUGH THE TRIPLE EFFECT 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latin typeface="Arial" pitchFamily="34" charset="0"/>
                <a:cs typeface="Arial" pitchFamily="34" charset="0"/>
              </a:rPr>
              <a:t>BONE BLOCK EFFECT – RESTORES GLENOID CONCAVITY 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latin typeface="Arial" pitchFamily="34" charset="0"/>
                <a:cs typeface="Arial" pitchFamily="34" charset="0"/>
              </a:rPr>
              <a:t>SLING EFFECT – DYNAMIC RESTRAINT BY CONJOINT TENDON 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latin typeface="Arial" pitchFamily="34" charset="0"/>
                <a:cs typeface="Arial" pitchFamily="34" charset="0"/>
              </a:rPr>
              <a:t>CAPSULAR REPAIR EFFECT – ADDITIONAL STATIC STABILITY 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5" name="Picture 34" descr="WhatsApp Image 2026-02-14 at 22.14.00.jpe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628877" y="1846263"/>
            <a:ext cx="2105923" cy="17456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29400" y="5600700"/>
            <a:ext cx="530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LATARJET PROCEDURE OFFERS PRODUCTABLE STABILITY AND GOOD FUNCTIONAL OUTCOME  IN RECURRENT</a:t>
            </a:r>
          </a:p>
          <a:p>
            <a:pPr algn="ctr"/>
            <a:r>
              <a:rPr lang="en-US" sz="1100" dirty="0" smtClean="0">
                <a:latin typeface="Arial" pitchFamily="34" charset="0"/>
                <a:cs typeface="Arial" pitchFamily="34" charset="0"/>
              </a:rPr>
              <a:t> ANTERIOR SHOULDER DISLOCATION, WITH GLENOID BONE LOSS , WITHACCEPTABLE AND MANAGEABLE COMPLICATIONS 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0" y="838202"/>
            <a:ext cx="8572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FUNCTIONAL OUTCOME OF RECURRENT SHOULDER DISLOCATION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MANAGED WITH LATARJET PROCEDURE AND ITS COMPLICATIONS  </a:t>
            </a:r>
            <a:endParaRPr lang="en-US" sz="11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5600" y="914401"/>
            <a:ext cx="54864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PRESENTER – DR M SAI ROHIT</a:t>
            </a:r>
          </a:p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MODERATOR – DR B UDAYAKUMAR (PROF AND HOD )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Title 4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6" name="Subtitle 4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11237893" y="1085334"/>
            <a:ext cx="954107" cy="261610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1100" dirty="0" smtClean="0">
                <a:latin typeface="Arial" pitchFamily="34" charset="0"/>
                <a:cs typeface="Arial" pitchFamily="34" charset="0"/>
              </a:rPr>
              <a:t>OSSAP-484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294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Virinchi Vinay</dc:creator>
  <cp:lastModifiedBy>User</cp:lastModifiedBy>
  <cp:revision>17</cp:revision>
  <dcterms:created xsi:type="dcterms:W3CDTF">2026-01-11T06:24:43Z</dcterms:created>
  <dcterms:modified xsi:type="dcterms:W3CDTF">2026-02-14T19:10:13Z</dcterms:modified>
</cp:coreProperties>
</file>