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714" r:id="rId1"/>
  </p:sldMasterIdLst>
  <p:notesMasterIdLst>
    <p:notesMasterId r:id="rId2"/>
  </p:notesMasterIdLst>
  <p:sldIdLst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</p:sldIdLst>
  <p:sldSz type="screen16x9" cy="6858000" cx="12192000"/>
  <p:notesSz cx="12192000" cy="6858000"/>
  <p:defaultTextStyle>
    <a:defPPr>
      <a:defRPr kern="0"/>
    </a:def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7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65101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115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631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5969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400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632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33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34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Holder 2"/>
          <p:cNvSpPr>
            <a:spLocks noGrp="1"/>
          </p:cNvSpPr>
          <p:nvPr>
            <p:ph type="title"/>
          </p:nvPr>
        </p:nvSpPr>
        <p:spPr>
          <a:xfrm>
            <a:off x="2628264" y="-24841"/>
            <a:ext cx="468630" cy="165100"/>
          </a:xfrm>
        </p:spPr>
        <p:txBody>
          <a:bodyPr bIns="0" lIns="0" rIns="0" tIns="0"/>
          <a:lstStyle>
            <a:lvl1pPr>
              <a:defRPr b="1" sz="115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95" name="Holder 3"/>
          <p:cNvSpPr>
            <a:spLocks noGrp="1"/>
          </p:cNvSpPr>
          <p:nvPr>
            <p:ph type="body" idx="1"/>
          </p:nvPr>
        </p:nvSpPr>
        <p:spPr>
          <a:xfrm>
            <a:off x="1165048" y="1693278"/>
            <a:ext cx="9673590" cy="596900"/>
          </a:xfrm>
        </p:spPr>
        <p:txBody>
          <a:bodyPr bIns="0" lIns="0" rIns="0" tIns="0"/>
          <a:lstStyle>
            <a:lvl1pPr>
              <a:defRPr b="0" sz="400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96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7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98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Holder 2"/>
          <p:cNvSpPr>
            <a:spLocks noGrp="1"/>
          </p:cNvSpPr>
          <p:nvPr>
            <p:ph type="title"/>
          </p:nvPr>
        </p:nvSpPr>
        <p:spPr>
          <a:xfrm>
            <a:off x="2628264" y="-24841"/>
            <a:ext cx="468630" cy="165100"/>
          </a:xfrm>
        </p:spPr>
        <p:txBody>
          <a:bodyPr bIns="0" lIns="0" rIns="0" tIns="0"/>
          <a:lstStyle>
            <a:lvl1pPr>
              <a:defRPr b="1" sz="115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636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5969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37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5969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38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39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40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Holder 2"/>
          <p:cNvSpPr>
            <a:spLocks noGrp="1"/>
          </p:cNvSpPr>
          <p:nvPr>
            <p:ph type="title"/>
          </p:nvPr>
        </p:nvSpPr>
        <p:spPr>
          <a:xfrm>
            <a:off x="2628264" y="-24841"/>
            <a:ext cx="468630" cy="165100"/>
          </a:xfrm>
        </p:spPr>
        <p:txBody>
          <a:bodyPr bIns="0" lIns="0" rIns="0" tIns="0"/>
          <a:lstStyle>
            <a:lvl1pPr>
              <a:defRPr b="1" sz="115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642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43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44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4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5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0" y="0"/>
            <a:ext cx="12192000" cy="1279525"/>
          </a:xfrm>
          <a:custGeom>
            <a:avLst/>
            <a:ahLst/>
            <a:rect l="l" t="t" r="r" b="b"/>
            <a:pathLst>
              <a:path w="12192000" h="1279525">
                <a:moveTo>
                  <a:pt x="12192000" y="0"/>
                </a:moveTo>
                <a:lnTo>
                  <a:pt x="0" y="0"/>
                </a:lnTo>
                <a:lnTo>
                  <a:pt x="0" y="1279525"/>
                </a:lnTo>
                <a:lnTo>
                  <a:pt x="12192000" y="127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1224D"/>
          </a:solidFill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0" y="0"/>
            <a:ext cx="12192000" cy="1279525"/>
          </a:xfrm>
          <a:custGeom>
            <a:avLst/>
            <a:ahLst/>
            <a:rect l="l" t="t" r="r" b="b"/>
            <a:pathLst>
              <a:path w="12192000" h="1279525">
                <a:moveTo>
                  <a:pt x="0" y="0"/>
                </a:moveTo>
                <a:lnTo>
                  <a:pt x="12192000" y="0"/>
                </a:lnTo>
                <a:lnTo>
                  <a:pt x="12192000" y="1279525"/>
                </a:lnTo>
                <a:lnTo>
                  <a:pt x="0" y="1279525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525654"/>
            </a:solidFill>
          </a:ln>
        </p:spPr>
        <p:txBody>
          <a:bodyPr bIns="0" lIns="0" rIns="0" rtlCol="0" tIns="0" wrap="square"/>
          <a:p/>
        </p:txBody>
      </p:sp>
      <p:pic>
        <p:nvPicPr>
          <p:cNvPr id="2097152" name="bg object 18"/>
          <p:cNvPicPr>
            <a:picLocks/>
          </p:cNvPicPr>
          <p:nvPr/>
        </p:nvPicPr>
        <p:blipFill>
          <a:blip xmlns:r="http://schemas.openxmlformats.org/officeDocument/2006/relationships" r:embed="rId6" cstate="print"/>
          <a:stretch>
            <a:fillRect/>
          </a:stretch>
        </p:blipFill>
        <p:spPr>
          <a:xfrm>
            <a:off x="9007475" y="74611"/>
            <a:ext cx="1042987" cy="1042987"/>
          </a:xfrm>
          <a:prstGeom prst="rect"/>
        </p:spPr>
      </p:pic>
      <p:pic>
        <p:nvPicPr>
          <p:cNvPr id="2097153" name="bg object 19"/>
          <p:cNvPicPr>
            <a:picLocks/>
          </p:cNvPicPr>
          <p:nvPr/>
        </p:nvPicPr>
        <p:blipFill>
          <a:blip xmlns:r="http://schemas.openxmlformats.org/officeDocument/2006/relationships" r:embed="rId7" cstate="print"/>
          <a:stretch>
            <a:fillRect/>
          </a:stretch>
        </p:blipFill>
        <p:spPr>
          <a:xfrm>
            <a:off x="10947400" y="123824"/>
            <a:ext cx="884236" cy="884237"/>
          </a:xfrm>
          <a:prstGeom prst="rect"/>
        </p:spPr>
      </p:pic>
      <p:pic>
        <p:nvPicPr>
          <p:cNvPr id="2097154" name="bg object 20"/>
          <p:cNvPicPr>
            <a:picLocks/>
          </p:cNvPicPr>
          <p:nvPr/>
        </p:nvPicPr>
        <p:blipFill>
          <a:blip xmlns:r="http://schemas.openxmlformats.org/officeDocument/2006/relationships" r:embed="rId8" cstate="print"/>
          <a:stretch>
            <a:fillRect/>
          </a:stretch>
        </p:blipFill>
        <p:spPr>
          <a:xfrm>
            <a:off x="10128250" y="192086"/>
            <a:ext cx="785812" cy="785812"/>
          </a:xfrm>
          <a:prstGeom prst="rect"/>
        </p:spPr>
      </p:pic>
      <p:sp>
        <p:nvSpPr>
          <p:cNvPr id="1048578" name="Holder 2"/>
          <p:cNvSpPr>
            <a:spLocks noGrp="1"/>
          </p:cNvSpPr>
          <p:nvPr>
            <p:ph type="title"/>
          </p:nvPr>
        </p:nvSpPr>
        <p:spPr>
          <a:xfrm>
            <a:off x="2628264" y="-24841"/>
            <a:ext cx="468630" cy="29972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115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79" name="Holder 3"/>
          <p:cNvSpPr>
            <a:spLocks noGrp="1"/>
          </p:cNvSpPr>
          <p:nvPr>
            <p:ph type="body" idx="1"/>
          </p:nvPr>
        </p:nvSpPr>
        <p:spPr>
          <a:xfrm>
            <a:off x="1165048" y="1693278"/>
            <a:ext cx="9673590" cy="228092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400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1048580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1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2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object 2" descr=""/>
          <p:cNvSpPr txBox="1"/>
          <p:nvPr/>
        </p:nvSpPr>
        <p:spPr>
          <a:xfrm>
            <a:off x="2628264" y="-24841"/>
            <a:ext cx="468630" cy="3556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aseline="-20061" b="1" dirty="0" sz="2700" spc="-30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b="1" dirty="0" sz="1150" spc="-20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48620" name="object 3"/>
          <p:cNvSpPr txBox="1">
            <a:spLocks noGrp="1"/>
          </p:cNvSpPr>
          <p:nvPr>
            <p:ph type="title"/>
          </p:nvPr>
        </p:nvSpPr>
        <p:spPr>
          <a:xfrm>
            <a:off x="3236318" y="55167"/>
            <a:ext cx="23996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Annual</a:t>
            </a:r>
            <a:r>
              <a:rPr dirty="0" sz="1800" spc="-65"/>
              <a:t> </a:t>
            </a:r>
            <a:r>
              <a:rPr dirty="0" sz="1800"/>
              <a:t>Conference</a:t>
            </a:r>
            <a:r>
              <a:rPr dirty="0" sz="1800" spc="-60"/>
              <a:t> </a:t>
            </a:r>
            <a:r>
              <a:rPr dirty="0" sz="1800" spc="-25"/>
              <a:t>of</a:t>
            </a:r>
            <a:endParaRPr sz="1800"/>
          </a:p>
        </p:txBody>
      </p:sp>
      <p:sp>
        <p:nvSpPr>
          <p:cNvPr id="1048621" name="object 4" descr=""/>
          <p:cNvSpPr txBox="1"/>
          <p:nvPr/>
        </p:nvSpPr>
        <p:spPr>
          <a:xfrm>
            <a:off x="2653664" y="209433"/>
            <a:ext cx="5669280" cy="910591"/>
          </a:xfrm>
          <a:prstGeom prst="rect"/>
        </p:spPr>
        <p:txBody>
          <a:bodyPr bIns="0" lIns="0" rIns="0" rtlCol="0" tIns="132715" vert="horz" wrap="square">
            <a:spAutoFit/>
          </a:bodyPr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10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0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February,</a:t>
            </a:r>
            <a:r>
              <a:rPr altLang="en-IN" b="1" dirty="0" sz="1200" lang="en-US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2026,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65" name="object 5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54036" y="6349"/>
            <a:ext cx="1519237" cy="1292225"/>
          </a:xfrm>
          <a:prstGeom prst="rect"/>
        </p:spPr>
      </p:pic>
      <p:sp>
        <p:nvSpPr>
          <p:cNvPr id="1048622" name="object 6" descr=""/>
          <p:cNvSpPr txBox="1">
            <a:spLocks noGrp="1"/>
          </p:cNvSpPr>
          <p:nvPr>
            <p:ph type="body" idx="1"/>
          </p:nvPr>
        </p:nvSpPr>
        <p:spPr>
          <a:xfrm>
            <a:off x="306044" y="1799346"/>
            <a:ext cx="11579913" cy="1727200"/>
          </a:xfrm>
          <a:prstGeom prst="rect"/>
        </p:spPr>
        <p:txBody>
          <a:bodyPr bIns="0" lIns="0" rIns="0" rtlCol="0" tIns="81280" vert="horz" wrap="square">
            <a:spAutoFit/>
          </a:bodyPr>
          <a:p>
            <a:pPr algn="ctr" marL="12065" marR="5080">
              <a:lnSpc>
                <a:spcPts val="4320"/>
              </a:lnSpc>
              <a:spcBef>
                <a:spcPts val="640"/>
              </a:spcBef>
              <a:tabLst>
                <a:tab algn="l" pos="2071370"/>
                <a:tab algn="l" pos="3030855"/>
                <a:tab algn="l" pos="3397885"/>
                <a:tab algn="l" pos="4244340"/>
                <a:tab algn="l" pos="5456555"/>
                <a:tab algn="l" pos="6134100"/>
                <a:tab algn="l" pos="6980555"/>
                <a:tab algn="l" pos="7882255"/>
                <a:tab algn="l" pos="7967980"/>
              </a:tabLst>
            </a:pPr>
            <a:r>
              <a:rPr dirty="0" spc="-10"/>
              <a:t>FUNCTIONAL</a:t>
            </a:r>
            <a:r>
              <a:rPr altLang="en-IN" dirty="0" lang="en-US" spc="-10"/>
              <a:t> </a:t>
            </a:r>
            <a:r>
              <a:rPr dirty="0" spc="-10"/>
              <a:t>OUTCOME</a:t>
            </a:r>
            <a:r>
              <a:rPr altLang="en-IN" dirty="0" lang="en-US" spc="-10"/>
              <a:t> </a:t>
            </a:r>
            <a:r>
              <a:rPr dirty="0" spc="-25"/>
              <a:t>OF</a:t>
            </a:r>
            <a:r>
              <a:rPr altLang="en-IN" dirty="0" lang="en-US" spc="-25"/>
              <a:t> </a:t>
            </a:r>
            <a:r>
              <a:rPr dirty="0" spc="-10"/>
              <a:t>INTRA- ARTICUL</a:t>
            </a:r>
            <a:r>
              <a:rPr altLang="en-IN" dirty="0" lang="en-US" spc="-10"/>
              <a:t>A</a:t>
            </a:r>
            <a:r>
              <a:rPr altLang="en-IN" dirty="0" lang="en-US" spc="-10"/>
              <a:t>R</a:t>
            </a:r>
            <a:r>
              <a:rPr altLang="en-IN" dirty="0" lang="en-US" spc="-10"/>
              <a:t> </a:t>
            </a:r>
            <a:r>
              <a:rPr altLang="en-IN" dirty="0" lang="en-US"/>
              <a:t>A</a:t>
            </a:r>
            <a:r>
              <a:rPr altLang="en-IN" dirty="0" lang="en-US"/>
              <a:t>N</a:t>
            </a:r>
            <a:r>
              <a:rPr altLang="en-IN" dirty="0" lang="en-US"/>
              <a:t>D</a:t>
            </a:r>
            <a:r>
              <a:rPr altLang="en-IN" dirty="0" lang="en-US"/>
              <a:t> </a:t>
            </a:r>
            <a:r>
              <a:rPr dirty="0" spc="-10"/>
              <a:t>COMMUNITED</a:t>
            </a:r>
            <a:r>
              <a:rPr altLang="en-IN" dirty="0" lang="en-US" spc="-10"/>
              <a:t> </a:t>
            </a:r>
            <a:r>
              <a:rPr dirty="0" spc="-10"/>
              <a:t>DISTAL</a:t>
            </a:r>
            <a:r>
              <a:rPr altLang="en-IN" dirty="0" lang="en-US" spc="-10"/>
              <a:t> </a:t>
            </a:r>
            <a:r>
              <a:rPr altLang="en-IN" dirty="0" lang="en-US" spc="-10"/>
              <a:t>R</a:t>
            </a:r>
            <a:r>
              <a:rPr altLang="en-IN" dirty="0" lang="en-US" spc="-10"/>
              <a:t>A</a:t>
            </a:r>
            <a:r>
              <a:rPr altLang="en-IN" dirty="0" lang="en-US" spc="-10"/>
              <a:t>D</a:t>
            </a:r>
            <a:r>
              <a:rPr altLang="en-IN" dirty="0" lang="en-US" spc="-10"/>
              <a:t>I</a:t>
            </a:r>
            <a:r>
              <a:rPr altLang="en-IN" dirty="0" lang="en-US" spc="-10"/>
              <a:t>US</a:t>
            </a:r>
            <a:r>
              <a:rPr altLang="en-IN" dirty="0" lang="en-US" spc="-10"/>
              <a:t> </a:t>
            </a:r>
            <a:r>
              <a:rPr dirty="0" spc="-10"/>
              <a:t>FRACTURES</a:t>
            </a:r>
            <a:r>
              <a:rPr altLang="en-IN" dirty="0" lang="en-US" spc="-10"/>
              <a:t> </a:t>
            </a:r>
            <a:r>
              <a:rPr dirty="0" spc="-10"/>
              <a:t>TREATED</a:t>
            </a:r>
            <a:r>
              <a:rPr altLang="en-IN" dirty="0" lang="en-US" spc="-10"/>
              <a:t> </a:t>
            </a:r>
            <a:r>
              <a:rPr dirty="0" spc="-25"/>
              <a:t>BY </a:t>
            </a:r>
            <a:r>
              <a:rPr dirty="0" spc="-10"/>
              <a:t>LIGAMENTOTAXIS</a:t>
            </a:r>
            <a:endParaRPr altLang="en-US" lang="zh-CN"/>
          </a:p>
        </p:txBody>
      </p:sp>
      <p:sp>
        <p:nvSpPr>
          <p:cNvPr id="1048623" name="object 8" descr=""/>
          <p:cNvSpPr txBox="1"/>
          <p:nvPr/>
        </p:nvSpPr>
        <p:spPr>
          <a:xfrm>
            <a:off x="2188523" y="4518833"/>
            <a:ext cx="9080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8624" name="object 10" descr=""/>
          <p:cNvSpPr txBox="1"/>
          <p:nvPr/>
        </p:nvSpPr>
        <p:spPr>
          <a:xfrm>
            <a:off x="4800143" y="5276613"/>
            <a:ext cx="9080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8625" name="object 11" descr=""/>
          <p:cNvSpPr txBox="1"/>
          <p:nvPr/>
        </p:nvSpPr>
        <p:spPr>
          <a:xfrm>
            <a:off x="1966552" y="4550173"/>
            <a:ext cx="8953506" cy="1752600"/>
          </a:xfrm>
          <a:prstGeom prst="rect"/>
        </p:spPr>
        <p:txBody>
          <a:bodyPr bIns="0" lIns="0" rIns="0" rtlCol="0" tIns="36830" vert="horz" wrap="square">
            <a:spAutoFit/>
          </a:bodyPr>
          <a:p>
            <a:pPr indent="27305" marL="38100" marR="30480">
              <a:lnSpc>
                <a:spcPts val="2010"/>
              </a:lnSpc>
              <a:spcBef>
                <a:spcPts val="290"/>
              </a:spcBef>
            </a:pP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U</a:t>
            </a:r>
            <a:r>
              <a:rPr altLang="en-IN" sz="1800" lang="en-US">
                <a:latin typeface="Arial"/>
                <a:cs typeface="Arial"/>
              </a:rPr>
              <a:t>T</a:t>
            </a:r>
            <a:r>
              <a:rPr altLang="en-IN" sz="1800" lang="en-US">
                <a:latin typeface="Arial"/>
                <a:cs typeface="Arial"/>
              </a:rPr>
              <a:t>H</a:t>
            </a:r>
            <a:r>
              <a:rPr altLang="en-IN" sz="1800" lang="en-US">
                <a:latin typeface="Arial"/>
                <a:cs typeface="Arial"/>
              </a:rPr>
              <a:t>O</a:t>
            </a:r>
            <a:r>
              <a:rPr altLang="en-IN" sz="1800" lang="en-US">
                <a:latin typeface="Arial"/>
                <a:cs typeface="Arial"/>
              </a:rPr>
              <a:t>R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: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D</a:t>
            </a:r>
            <a:r>
              <a:rPr altLang="en-IN" sz="1800" lang="en-US">
                <a:latin typeface="Arial"/>
                <a:cs typeface="Arial"/>
              </a:rPr>
              <a:t>r</a:t>
            </a:r>
            <a:r>
              <a:rPr altLang="en-IN" sz="1800" lang="en-US">
                <a:latin typeface="Arial"/>
                <a:cs typeface="Arial"/>
              </a:rPr>
              <a:t>.</a:t>
            </a:r>
            <a:r>
              <a:rPr altLang="en-IN" sz="1800" lang="en-US">
                <a:latin typeface="Arial"/>
                <a:cs typeface="Arial"/>
              </a:rPr>
              <a:t>R</a:t>
            </a:r>
            <a:r>
              <a:rPr altLang="en-IN" sz="1800" lang="en-US">
                <a:latin typeface="Arial"/>
                <a:cs typeface="Arial"/>
              </a:rPr>
              <a:t>E</a:t>
            </a:r>
            <a:r>
              <a:rPr altLang="en-IN" sz="1800" lang="en-US">
                <a:latin typeface="Arial"/>
                <a:cs typeface="Arial"/>
              </a:rPr>
              <a:t>D</a:t>
            </a:r>
            <a:r>
              <a:rPr altLang="en-IN" sz="1800" lang="en-US">
                <a:latin typeface="Arial"/>
                <a:cs typeface="Arial"/>
              </a:rPr>
              <a:t>D</a:t>
            </a:r>
            <a:r>
              <a:rPr altLang="en-IN" sz="1800" lang="en-US">
                <a:latin typeface="Arial"/>
                <a:cs typeface="Arial"/>
              </a:rPr>
              <a:t>Y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T</a:t>
            </a:r>
            <a:r>
              <a:rPr altLang="en-IN" sz="1800" lang="en-US">
                <a:latin typeface="Arial"/>
                <a:cs typeface="Arial"/>
              </a:rPr>
              <a:t>H</a:t>
            </a:r>
            <a:r>
              <a:rPr altLang="en-IN" sz="1800" lang="en-US">
                <a:latin typeface="Arial"/>
                <a:cs typeface="Arial"/>
              </a:rPr>
              <a:t>O</a:t>
            </a:r>
            <a:r>
              <a:rPr altLang="en-IN" sz="1800" lang="en-US">
                <a:latin typeface="Arial"/>
                <a:cs typeface="Arial"/>
              </a:rPr>
              <a:t>T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L</a:t>
            </a:r>
            <a:r>
              <a:rPr altLang="en-IN" sz="1800" lang="en-US">
                <a:latin typeface="Arial"/>
                <a:cs typeface="Arial"/>
              </a:rPr>
              <a:t>I</a:t>
            </a:r>
            <a:r>
              <a:rPr altLang="en-IN" sz="1800" lang="en-US">
                <a:latin typeface="Arial"/>
                <a:cs typeface="Arial"/>
              </a:rPr>
              <a:t>K</a:t>
            </a:r>
            <a:r>
              <a:rPr altLang="en-IN" sz="1800" lang="en-US">
                <a:latin typeface="Arial"/>
                <a:cs typeface="Arial"/>
              </a:rPr>
              <a:t>H</a:t>
            </a:r>
            <a:r>
              <a:rPr altLang="en-IN" sz="1800" lang="en-US">
                <a:latin typeface="Arial"/>
                <a:cs typeface="Arial"/>
              </a:rPr>
              <a:t>I</a:t>
            </a:r>
            <a:r>
              <a:rPr altLang="en-IN" sz="1800" lang="en-US">
                <a:latin typeface="Arial"/>
                <a:cs typeface="Arial"/>
              </a:rPr>
              <a:t>T</a:t>
            </a:r>
            <a:r>
              <a:rPr altLang="en-IN" sz="1800" lang="en-US">
                <a:latin typeface="Arial"/>
                <a:cs typeface="Arial"/>
              </a:rPr>
              <a:t>H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,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P</a:t>
            </a:r>
            <a:r>
              <a:rPr altLang="en-IN" sz="1800" lang="en-US">
                <a:latin typeface="Arial"/>
                <a:cs typeface="Arial"/>
              </a:rPr>
              <a:t>O</a:t>
            </a:r>
            <a:r>
              <a:rPr altLang="en-IN" sz="1800" lang="en-US">
                <a:latin typeface="Arial"/>
                <a:cs typeface="Arial"/>
              </a:rPr>
              <a:t>S</a:t>
            </a:r>
            <a:r>
              <a:rPr altLang="en-IN" sz="1800" lang="en-US">
                <a:latin typeface="Arial"/>
                <a:cs typeface="Arial"/>
              </a:rPr>
              <a:t>T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GRADUATE</a:t>
            </a:r>
            <a:r>
              <a:rPr altLang="en-IN" sz="1800" lang="en-US">
                <a:latin typeface="Arial"/>
                <a:cs typeface="Arial"/>
              </a:rPr>
              <a:t> </a:t>
            </a:r>
            <a:endParaRPr sz="1800">
              <a:latin typeface="Arial"/>
              <a:cs typeface="Arial"/>
            </a:endParaRPr>
          </a:p>
          <a:p>
            <a:pPr indent="27305" marL="38100" marR="30480">
              <a:lnSpc>
                <a:spcPts val="2010"/>
              </a:lnSpc>
              <a:spcBef>
                <a:spcPts val="290"/>
              </a:spcBef>
            </a:pPr>
            <a:r>
              <a:rPr altLang="en-IN" sz="1800" lang="en-US">
                <a:latin typeface="Arial"/>
                <a:cs typeface="Arial"/>
              </a:rPr>
              <a:t>C</a:t>
            </a:r>
            <a:r>
              <a:rPr altLang="en-IN" sz="1800" lang="en-US">
                <a:latin typeface="Arial"/>
                <a:cs typeface="Arial"/>
              </a:rPr>
              <a:t>O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-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U</a:t>
            </a:r>
            <a:r>
              <a:rPr altLang="en-IN" sz="1800" lang="en-US">
                <a:latin typeface="Arial"/>
                <a:cs typeface="Arial"/>
              </a:rPr>
              <a:t>T</a:t>
            </a:r>
            <a:r>
              <a:rPr altLang="en-IN" sz="1800" lang="en-US">
                <a:latin typeface="Arial"/>
                <a:cs typeface="Arial"/>
              </a:rPr>
              <a:t>H</a:t>
            </a:r>
            <a:r>
              <a:rPr altLang="en-IN" sz="1800" lang="en-US">
                <a:latin typeface="Arial"/>
                <a:cs typeface="Arial"/>
              </a:rPr>
              <a:t>O</a:t>
            </a:r>
            <a:r>
              <a:rPr altLang="en-IN" sz="1800" lang="en-US">
                <a:latin typeface="Arial"/>
                <a:cs typeface="Arial"/>
              </a:rPr>
              <a:t>R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: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Dr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K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B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V</a:t>
            </a:r>
            <a:r>
              <a:rPr altLang="en-IN" sz="1800" lang="en-US">
                <a:latin typeface="Arial"/>
                <a:cs typeface="Arial"/>
              </a:rPr>
              <a:t>I</a:t>
            </a:r>
            <a:r>
              <a:rPr altLang="en-IN" sz="1800" lang="en-US">
                <a:latin typeface="Arial"/>
                <a:cs typeface="Arial"/>
              </a:rPr>
              <a:t>J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Y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M</a:t>
            </a:r>
            <a:r>
              <a:rPr altLang="en-IN" sz="1800" lang="en-US">
                <a:latin typeface="Arial"/>
                <a:cs typeface="Arial"/>
              </a:rPr>
              <a:t>O</a:t>
            </a:r>
            <a:r>
              <a:rPr altLang="en-IN" sz="1800" lang="en-US">
                <a:latin typeface="Arial"/>
                <a:cs typeface="Arial"/>
              </a:rPr>
              <a:t>H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N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R</a:t>
            </a:r>
            <a:r>
              <a:rPr altLang="en-IN" sz="1800" lang="en-US">
                <a:latin typeface="Arial"/>
                <a:cs typeface="Arial"/>
              </a:rPr>
              <a:t>E</a:t>
            </a:r>
            <a:r>
              <a:rPr altLang="en-IN" sz="1800" lang="en-US">
                <a:latin typeface="Arial"/>
                <a:cs typeface="Arial"/>
              </a:rPr>
              <a:t>D</a:t>
            </a:r>
            <a:r>
              <a:rPr altLang="en-IN" sz="1800" lang="en-US">
                <a:latin typeface="Arial"/>
                <a:cs typeface="Arial"/>
              </a:rPr>
              <a:t>D</a:t>
            </a:r>
            <a:r>
              <a:rPr altLang="en-IN" sz="1800" lang="en-US">
                <a:latin typeface="Arial"/>
                <a:cs typeface="Arial"/>
              </a:rPr>
              <a:t>Y</a:t>
            </a:r>
            <a:r>
              <a:rPr altLang="en-IN" sz="1800" lang="en-US">
                <a:latin typeface="Arial"/>
                <a:cs typeface="Arial"/>
              </a:rPr>
              <a:t>,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P</a:t>
            </a:r>
            <a:r>
              <a:rPr altLang="en-IN" sz="1800" lang="en-US">
                <a:latin typeface="Arial"/>
                <a:cs typeface="Arial"/>
              </a:rPr>
              <a:t>R</a:t>
            </a:r>
            <a:r>
              <a:rPr altLang="en-IN" sz="1800" lang="en-US">
                <a:latin typeface="Arial"/>
                <a:cs typeface="Arial"/>
              </a:rPr>
              <a:t>OFESSOR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N</a:t>
            </a:r>
            <a:r>
              <a:rPr altLang="en-IN" sz="1800" lang="en-US">
                <a:latin typeface="Arial"/>
                <a:cs typeface="Arial"/>
              </a:rPr>
              <a:t>D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H</a:t>
            </a:r>
            <a:r>
              <a:rPr altLang="en-IN" sz="1800" lang="en-US">
                <a:latin typeface="Arial"/>
                <a:cs typeface="Arial"/>
              </a:rPr>
              <a:t>O</a:t>
            </a:r>
            <a:r>
              <a:rPr altLang="en-IN" sz="1800" lang="en-US">
                <a:latin typeface="Arial"/>
                <a:cs typeface="Arial"/>
              </a:rPr>
              <a:t>D</a:t>
            </a:r>
            <a:r>
              <a:rPr altLang="en-IN" sz="1800" lang="en-US"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indent="27305" marL="38100" marR="30480">
              <a:lnSpc>
                <a:spcPts val="2010"/>
              </a:lnSpc>
              <a:spcBef>
                <a:spcPts val="290"/>
              </a:spcBef>
            </a:pP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Dr.U</a:t>
            </a:r>
            <a:r>
              <a:rPr altLang="en-IN" sz="1800" lang="en-US">
                <a:latin typeface="Arial"/>
                <a:cs typeface="Arial"/>
              </a:rPr>
              <a:t>.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R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M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M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N</a:t>
            </a:r>
            <a:r>
              <a:rPr altLang="en-IN" sz="1800" lang="en-US">
                <a:latin typeface="Arial"/>
                <a:cs typeface="Arial"/>
              </a:rPr>
              <a:t>OHAR</a:t>
            </a:r>
            <a:r>
              <a:rPr altLang="en-IN" sz="1800" lang="en-US">
                <a:latin typeface="Arial"/>
                <a:cs typeface="Arial"/>
              </a:rPr>
              <a:t>,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S</a:t>
            </a:r>
            <a:r>
              <a:rPr altLang="en-IN" sz="1800" lang="en-US">
                <a:latin typeface="Arial"/>
                <a:cs typeface="Arial"/>
              </a:rPr>
              <a:t>S</a:t>
            </a:r>
            <a:r>
              <a:rPr altLang="en-IN" sz="1800" lang="en-US">
                <a:latin typeface="Arial"/>
                <a:cs typeface="Arial"/>
              </a:rPr>
              <a:t>OCIATE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P</a:t>
            </a:r>
            <a:r>
              <a:rPr altLang="en-IN" sz="1800" lang="en-US">
                <a:latin typeface="Arial"/>
                <a:cs typeface="Arial"/>
              </a:rPr>
              <a:t>ROFESOR</a:t>
            </a:r>
            <a:r>
              <a:rPr altLang="en-IN" sz="1800" lang="en-US"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indent="27305" marL="38100" marR="30480">
              <a:lnSpc>
                <a:spcPts val="2010"/>
              </a:lnSpc>
              <a:spcBef>
                <a:spcPts val="290"/>
              </a:spcBef>
            </a:pP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Dr</a:t>
            </a:r>
            <a:r>
              <a:rPr altLang="en-IN" sz="1800" lang="en-US">
                <a:latin typeface="Arial"/>
                <a:cs typeface="Arial"/>
              </a:rPr>
              <a:t>.</a:t>
            </a:r>
            <a:r>
              <a:rPr altLang="en-IN" sz="1800" lang="en-US">
                <a:latin typeface="Arial"/>
                <a:cs typeface="Arial"/>
              </a:rPr>
              <a:t>L</a:t>
            </a:r>
            <a:r>
              <a:rPr altLang="en-IN" sz="1800" lang="en-US">
                <a:latin typeface="Arial"/>
                <a:cs typeface="Arial"/>
              </a:rPr>
              <a:t>.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N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N</a:t>
            </a:r>
            <a:r>
              <a:rPr altLang="en-IN" sz="1800" lang="en-US">
                <a:latin typeface="Arial"/>
                <a:cs typeface="Arial"/>
              </a:rPr>
              <a:t>D</a:t>
            </a:r>
            <a:r>
              <a:rPr altLang="en-IN" sz="1800" lang="en-US">
                <a:latin typeface="Arial"/>
                <a:cs typeface="Arial"/>
              </a:rPr>
              <a:t>,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A</a:t>
            </a:r>
            <a:r>
              <a:rPr altLang="en-IN" sz="1800" lang="en-US">
                <a:latin typeface="Arial"/>
                <a:cs typeface="Arial"/>
              </a:rPr>
              <a:t>S</a:t>
            </a:r>
            <a:r>
              <a:rPr altLang="en-IN" sz="1800" lang="en-US">
                <a:latin typeface="Arial"/>
                <a:cs typeface="Arial"/>
              </a:rPr>
              <a:t>S</a:t>
            </a:r>
            <a:r>
              <a:rPr altLang="en-IN" sz="1800" lang="en-US">
                <a:latin typeface="Arial"/>
                <a:cs typeface="Arial"/>
              </a:rPr>
              <a:t>ISTANT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PROFESSOR</a:t>
            </a:r>
            <a:endParaRPr sz="1800">
              <a:latin typeface="Arial"/>
              <a:cs typeface="Arial"/>
            </a:endParaRPr>
          </a:p>
          <a:p>
            <a:pPr indent="27305" marL="38100" marR="30480">
              <a:lnSpc>
                <a:spcPts val="2010"/>
              </a:lnSpc>
              <a:spcBef>
                <a:spcPts val="290"/>
              </a:spcBef>
            </a:pP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G</a:t>
            </a:r>
            <a:r>
              <a:rPr altLang="en-IN" sz="1800" lang="en-US">
                <a:latin typeface="Arial"/>
                <a:cs typeface="Arial"/>
              </a:rPr>
              <a:t>O</a:t>
            </a:r>
            <a:r>
              <a:rPr altLang="en-IN" sz="1800" lang="en-US">
                <a:latin typeface="Arial"/>
                <a:cs typeface="Arial"/>
              </a:rPr>
              <a:t>V</a:t>
            </a:r>
            <a:r>
              <a:rPr altLang="en-IN" sz="1800" lang="en-US">
                <a:latin typeface="Arial"/>
                <a:cs typeface="Arial"/>
              </a:rPr>
              <a:t>ERNMENT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M</a:t>
            </a:r>
            <a:r>
              <a:rPr altLang="en-IN" sz="1800" lang="en-US">
                <a:latin typeface="Arial"/>
                <a:cs typeface="Arial"/>
              </a:rPr>
              <a:t>E</a:t>
            </a:r>
            <a:r>
              <a:rPr altLang="en-IN" sz="1800" lang="en-US">
                <a:latin typeface="Arial"/>
                <a:cs typeface="Arial"/>
              </a:rPr>
              <a:t>D</a:t>
            </a:r>
            <a:r>
              <a:rPr altLang="en-IN" sz="1800" lang="en-US">
                <a:latin typeface="Arial"/>
                <a:cs typeface="Arial"/>
              </a:rPr>
              <a:t>ICAL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C</a:t>
            </a:r>
            <a:r>
              <a:rPr altLang="en-IN" sz="1800" lang="en-US">
                <a:latin typeface="Arial"/>
                <a:cs typeface="Arial"/>
              </a:rPr>
              <a:t>O</a:t>
            </a:r>
            <a:r>
              <a:rPr altLang="en-IN" sz="1800" lang="en-US">
                <a:latin typeface="Arial"/>
                <a:cs typeface="Arial"/>
              </a:rPr>
              <a:t>L</a:t>
            </a:r>
            <a:r>
              <a:rPr altLang="en-IN" sz="1800" lang="en-US">
                <a:latin typeface="Arial"/>
                <a:cs typeface="Arial"/>
              </a:rPr>
              <a:t>LEGE</a:t>
            </a:r>
            <a:r>
              <a:rPr altLang="en-IN" sz="1800" lang="en-US">
                <a:latin typeface="Arial"/>
                <a:cs typeface="Arial"/>
              </a:rPr>
              <a:t>,</a:t>
            </a:r>
            <a:r>
              <a:rPr altLang="en-IN" sz="1800" lang="en-US">
                <a:latin typeface="Arial"/>
                <a:cs typeface="Arial"/>
              </a:rPr>
              <a:t> </a:t>
            </a:r>
            <a:endParaRPr sz="1800">
              <a:latin typeface="Arial"/>
              <a:cs typeface="Arial"/>
            </a:endParaRPr>
          </a:p>
          <a:p>
            <a:pPr indent="27305" marL="38100" marR="30480">
              <a:lnSpc>
                <a:spcPts val="2010"/>
              </a:lnSpc>
              <a:spcBef>
                <a:spcPts val="290"/>
              </a:spcBef>
            </a:pP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 </a:t>
            </a:r>
            <a:r>
              <a:rPr altLang="en-IN" sz="1800" lang="en-US">
                <a:latin typeface="Arial"/>
                <a:cs typeface="Arial"/>
              </a:rPr>
              <a:t>KADAPA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 descr=""/>
          <p:cNvSpPr txBox="1"/>
          <p:nvPr/>
        </p:nvSpPr>
        <p:spPr>
          <a:xfrm>
            <a:off x="2628264" y="-24841"/>
            <a:ext cx="468630" cy="3556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aseline="-20061" b="1" dirty="0" sz="2700" spc="-30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b="1" dirty="0" sz="1150" spc="-20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48627" name="object 3" descr=""/>
          <p:cNvSpPr txBox="1"/>
          <p:nvPr/>
        </p:nvSpPr>
        <p:spPr>
          <a:xfrm>
            <a:off x="3236318" y="55167"/>
            <a:ext cx="23996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b="1" dirty="0" sz="1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b="1"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25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8628" name="object 4" descr=""/>
          <p:cNvSpPr txBox="1"/>
          <p:nvPr/>
        </p:nvSpPr>
        <p:spPr>
          <a:xfrm>
            <a:off x="2653664" y="209433"/>
            <a:ext cx="5669280" cy="910591"/>
          </a:xfrm>
          <a:prstGeom prst="rect"/>
        </p:spPr>
        <p:txBody>
          <a:bodyPr bIns="0" lIns="0" rIns="0" rtlCol="0" tIns="132715" vert="horz" wrap="square">
            <a:spAutoFit/>
          </a:bodyPr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10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0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66" name="object 5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54036" y="6349"/>
            <a:ext cx="1519237" cy="1292225"/>
          </a:xfrm>
          <a:prstGeom prst="rect"/>
        </p:spPr>
      </p:pic>
      <p:sp>
        <p:nvSpPr>
          <p:cNvPr id="1048629" name="object 6" descr=""/>
          <p:cNvSpPr txBox="1"/>
          <p:nvPr/>
        </p:nvSpPr>
        <p:spPr>
          <a:xfrm>
            <a:off x="447529" y="1501658"/>
            <a:ext cx="11296943" cy="417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23645">
              <a:lnSpc>
                <a:spcPct val="100000"/>
              </a:lnSpc>
              <a:spcBef>
                <a:spcPts val="100"/>
              </a:spcBef>
            </a:pPr>
            <a:r>
              <a:rPr dirty="0" sz="4800" spc="-10">
                <a:latin typeface="Arial"/>
                <a:cs typeface="Arial"/>
              </a:rPr>
              <a:t>INTRODUCTION</a:t>
            </a:r>
            <a:endParaRPr sz="4800">
              <a:latin typeface="Arial"/>
              <a:cs typeface="Arial"/>
            </a:endParaRPr>
          </a:p>
          <a:p>
            <a:pPr indent="-236854" marL="241300" marR="737870">
              <a:lnSpc>
                <a:spcPts val="2590"/>
              </a:lnSpc>
              <a:spcBef>
                <a:spcPts val="2530"/>
              </a:spcBef>
              <a:buSzPct val="81250"/>
              <a:buFont typeface="Segoe UI Symbol"/>
              <a:buChar char="➢"/>
              <a:tabLst>
                <a:tab algn="l" pos="241300"/>
                <a:tab algn="l" pos="255270"/>
              </a:tabLst>
            </a:pPr>
            <a:r>
              <a:rPr dirty="0" sz="240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Fracture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Distal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end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Radius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most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common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upper</a:t>
            </a:r>
            <a:r>
              <a:rPr altLang="en-IN" dirty="0" sz="2400" lang="en-US" spc="-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limb </a:t>
            </a:r>
            <a:r>
              <a:rPr dirty="0" sz="2400">
                <a:latin typeface="Arial"/>
                <a:cs typeface="Arial"/>
              </a:rPr>
              <a:t>constituting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75%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all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forearm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17%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all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fractures.</a:t>
            </a:r>
            <a:endParaRPr sz="2400">
              <a:latin typeface="Arial"/>
              <a:cs typeface="Arial"/>
            </a:endParaRPr>
          </a:p>
          <a:p>
            <a:pPr indent="-250825" marL="255270">
              <a:lnSpc>
                <a:spcPct val="100000"/>
              </a:lnSpc>
              <a:spcBef>
                <a:spcPts val="675"/>
              </a:spcBef>
              <a:buSzPct val="81250"/>
              <a:buFont typeface="Segoe UI Symbol"/>
              <a:buChar char="➢"/>
              <a:tabLst>
                <a:tab algn="l" pos="255270"/>
              </a:tabLst>
            </a:pPr>
            <a:r>
              <a:rPr dirty="0" sz="2400">
                <a:latin typeface="Arial"/>
                <a:cs typeface="Arial"/>
              </a:rPr>
              <a:t>This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shows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Bimodal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age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distribution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children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elderly.</a:t>
            </a:r>
            <a:endParaRPr sz="2400">
              <a:latin typeface="Arial"/>
              <a:cs typeface="Arial"/>
            </a:endParaRPr>
          </a:p>
          <a:p>
            <a:pPr indent="-250825" marL="255270">
              <a:lnSpc>
                <a:spcPct val="100000"/>
              </a:lnSpc>
              <a:spcBef>
                <a:spcPts val="715"/>
              </a:spcBef>
              <a:buSzPct val="81250"/>
              <a:buFont typeface="Segoe UI Symbol"/>
              <a:buChar char="➢"/>
              <a:tabLst>
                <a:tab algn="l" pos="255270"/>
              </a:tabLst>
            </a:pPr>
            <a:r>
              <a:rPr dirty="0" sz="2400">
                <a:latin typeface="Arial"/>
                <a:cs typeface="Arial"/>
              </a:rPr>
              <a:t>Osteoporosis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Fall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outstretched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hand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altLang="en-IN" dirty="0" sz="2400" lang="en-US" spc="-55">
                <a:latin typeface="Arial"/>
                <a:cs typeface="Arial"/>
              </a:rPr>
              <a:t>a</a:t>
            </a:r>
            <a:r>
              <a:rPr altLang="en-IN" dirty="0" sz="2400" lang="en-US" spc="-55">
                <a:latin typeface="Arial"/>
                <a:cs typeface="Arial"/>
              </a:rPr>
              <a:t>r</a:t>
            </a:r>
            <a:r>
              <a:rPr altLang="en-IN" dirty="0" sz="2400" lang="en-US" spc="-55">
                <a:latin typeface="Arial"/>
                <a:cs typeface="Arial"/>
              </a:rPr>
              <a:t>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major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risk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factors.</a:t>
            </a:r>
            <a:endParaRPr sz="2400">
              <a:latin typeface="Arial"/>
              <a:cs typeface="Arial"/>
            </a:endParaRPr>
          </a:p>
          <a:p>
            <a:pPr indent="-236854" marL="241300" marR="5080">
              <a:lnSpc>
                <a:spcPts val="2590"/>
              </a:lnSpc>
              <a:spcBef>
                <a:spcPts val="1040"/>
              </a:spcBef>
              <a:buSzPct val="81250"/>
              <a:buFont typeface="Segoe UI Symbol"/>
              <a:buChar char="➢"/>
              <a:tabLst>
                <a:tab algn="l" pos="241300"/>
                <a:tab algn="l" pos="255270"/>
                <a:tab algn="l" pos="1898014"/>
              </a:tabLst>
            </a:pPr>
            <a:r>
              <a:rPr altLang="en-IN" dirty="0" sz="2400" lang="en-US" spc="-10">
                <a:latin typeface="Arial"/>
                <a:cs typeface="Arial"/>
              </a:rPr>
              <a:t> </a:t>
            </a:r>
            <a:r>
              <a:rPr altLang="en-IN" dirty="0" sz="2400" lang="en-US" spc="-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Decreased</a:t>
            </a:r>
            <a:r>
              <a:rPr dirty="0" sz="2400">
                <a:latin typeface="Arial"/>
                <a:cs typeface="Arial"/>
              </a:rPr>
              <a:t>	Cortical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bone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Increase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weak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Cancellous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bone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at </a:t>
            </a:r>
            <a:r>
              <a:rPr dirty="0" sz="2400">
                <a:latin typeface="Arial"/>
                <a:cs typeface="Arial"/>
              </a:rPr>
              <a:t>Metaphyseal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area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predisposing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factor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Distal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end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Radius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indent="-236854" marL="240665" marR="603885">
              <a:lnSpc>
                <a:spcPts val="2590"/>
              </a:lnSpc>
              <a:spcBef>
                <a:spcPts val="1000"/>
              </a:spcBef>
              <a:buSzPct val="81250"/>
              <a:buFont typeface="Segoe UI Symbol"/>
              <a:buChar char="➢"/>
              <a:tabLst>
                <a:tab algn="l" pos="240665"/>
                <a:tab algn="l" pos="254635"/>
              </a:tabLst>
            </a:pPr>
            <a:r>
              <a:rPr dirty="0" sz="240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active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independent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individual,Distal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end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Radius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early </a:t>
            </a:r>
            <a:r>
              <a:rPr dirty="0" sz="2400">
                <a:latin typeface="Arial"/>
                <a:cs typeface="Arial"/>
              </a:rPr>
              <a:t>manifestation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osteoporosis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which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predicts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hip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later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years.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object 2" descr=""/>
          <p:cNvSpPr txBox="1"/>
          <p:nvPr/>
        </p:nvSpPr>
        <p:spPr>
          <a:xfrm>
            <a:off x="2628264" y="-24841"/>
            <a:ext cx="468630" cy="3556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aseline="-20061" b="1" dirty="0" sz="2700" spc="-30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b="1" dirty="0" sz="1150" spc="-20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48616" name="object 3" descr=""/>
          <p:cNvSpPr txBox="1"/>
          <p:nvPr/>
        </p:nvSpPr>
        <p:spPr>
          <a:xfrm>
            <a:off x="3236318" y="55167"/>
            <a:ext cx="23996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b="1" dirty="0" sz="1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b="1"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25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8617" name="object 4" descr=""/>
          <p:cNvSpPr txBox="1"/>
          <p:nvPr/>
        </p:nvSpPr>
        <p:spPr>
          <a:xfrm>
            <a:off x="2653664" y="209433"/>
            <a:ext cx="5669280" cy="910591"/>
          </a:xfrm>
          <a:prstGeom prst="rect"/>
        </p:spPr>
        <p:txBody>
          <a:bodyPr bIns="0" lIns="0" rIns="0" rtlCol="0" tIns="132715" vert="horz" wrap="square">
            <a:spAutoFit/>
          </a:bodyPr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10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0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64" name="object 5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54036" y="6349"/>
            <a:ext cx="1519237" cy="1292225"/>
          </a:xfrm>
          <a:prstGeom prst="rect"/>
        </p:spPr>
      </p:pic>
      <p:sp>
        <p:nvSpPr>
          <p:cNvPr id="1048618" name="object 6" descr=""/>
          <p:cNvSpPr txBox="1"/>
          <p:nvPr/>
        </p:nvSpPr>
        <p:spPr>
          <a:xfrm>
            <a:off x="353376" y="1090357"/>
            <a:ext cx="10698480" cy="5624830"/>
          </a:xfrm>
          <a:prstGeom prst="rect"/>
        </p:spPr>
        <p:txBody>
          <a:bodyPr bIns="0" lIns="0" rIns="0" rtlCol="0" tIns="193675" vert="horz" wrap="square">
            <a:spAutoFit/>
          </a:bodyPr>
          <a:p>
            <a:pPr marL="393700">
              <a:lnSpc>
                <a:spcPct val="100000"/>
              </a:lnSpc>
              <a:spcBef>
                <a:spcPts val="1525"/>
              </a:spcBef>
            </a:pPr>
            <a:r>
              <a:rPr dirty="0" sz="3600" spc="-25">
                <a:latin typeface="Arial"/>
                <a:cs typeface="Arial"/>
              </a:rPr>
              <a:t>AIM</a:t>
            </a:r>
            <a:endParaRPr sz="3600">
              <a:latin typeface="Arial"/>
              <a:cs typeface="Arial"/>
            </a:endParaRPr>
          </a:p>
          <a:p>
            <a:pPr indent="-12700" marL="12700" marR="5080">
              <a:lnSpc>
                <a:spcPts val="2160"/>
              </a:lnSpc>
              <a:spcBef>
                <a:spcPts val="1070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>
                <a:latin typeface="Arial"/>
                <a:cs typeface="Arial"/>
              </a:rPr>
              <a:t>	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study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altLang="en-IN" dirty="0" sz="2000" lang="en-US" spc="-40">
                <a:latin typeface="Arial"/>
                <a:cs typeface="Arial"/>
              </a:rPr>
              <a:t>F</a:t>
            </a:r>
            <a:r>
              <a:rPr dirty="0" sz="2000">
                <a:latin typeface="Arial"/>
                <a:cs typeface="Arial"/>
              </a:rPr>
              <a:t>unctional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altLang="en-IN" dirty="0" sz="2000" lang="en-US" spc="-40">
                <a:latin typeface="Arial"/>
                <a:cs typeface="Arial"/>
              </a:rPr>
              <a:t>O</a:t>
            </a:r>
            <a:r>
              <a:rPr dirty="0" sz="2000">
                <a:latin typeface="Arial"/>
                <a:cs typeface="Arial"/>
              </a:rPr>
              <a:t>utcome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duration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union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Intra-</a:t>
            </a:r>
            <a:r>
              <a:rPr dirty="0" sz="2000">
                <a:latin typeface="Arial"/>
                <a:cs typeface="Arial"/>
              </a:rPr>
              <a:t>articular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Distal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Radius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fracture </a:t>
            </a:r>
            <a:r>
              <a:rPr dirty="0" sz="2000">
                <a:latin typeface="Arial"/>
                <a:cs typeface="Arial"/>
              </a:rPr>
              <a:t>treated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External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fixator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using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Ligamentotaxis.</a:t>
            </a:r>
            <a:endParaRPr sz="2000">
              <a:latin typeface="Arial"/>
              <a:cs typeface="Arial"/>
            </a:endParaRPr>
          </a:p>
          <a:p>
            <a:pPr indent="-214629" marL="214629">
              <a:lnSpc>
                <a:spcPct val="100000"/>
              </a:lnSpc>
              <a:spcBef>
                <a:spcPts val="725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>
                <a:latin typeface="Arial"/>
                <a:cs typeface="Arial"/>
              </a:rPr>
              <a:t>Restoration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range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movements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grip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strength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while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doing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normal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daily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activities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indent="-214629" marL="214629">
              <a:lnSpc>
                <a:spcPct val="100000"/>
              </a:lnSpc>
              <a:spcBef>
                <a:spcPts val="760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>
                <a:latin typeface="Arial"/>
                <a:cs typeface="Arial"/>
              </a:rPr>
              <a:t>Decrease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chances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post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traumatic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arthritis.</a:t>
            </a:r>
            <a:endParaRPr sz="20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535"/>
              </a:spcBef>
            </a:pPr>
            <a:r>
              <a:rPr dirty="0" sz="3600">
                <a:latin typeface="Arial"/>
                <a:cs typeface="Arial"/>
              </a:rPr>
              <a:t>METHODS</a:t>
            </a:r>
            <a:r>
              <a:rPr dirty="0" sz="3600" spc="-40">
                <a:latin typeface="Arial"/>
                <a:cs typeface="Arial"/>
              </a:rPr>
              <a:t> </a:t>
            </a:r>
            <a:r>
              <a:rPr dirty="0" sz="3600" spc="-5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indent="-214629" marL="214629">
              <a:lnSpc>
                <a:spcPct val="100000"/>
              </a:lnSpc>
              <a:spcBef>
                <a:spcPts val="795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>
                <a:latin typeface="Arial"/>
                <a:cs typeface="Arial"/>
              </a:rPr>
              <a:t>Prospective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study</a:t>
            </a:r>
            <a:endParaRPr sz="2000">
              <a:latin typeface="Arial"/>
              <a:cs typeface="Arial"/>
            </a:endParaRPr>
          </a:p>
          <a:p>
            <a:pPr indent="-214629" marL="214629">
              <a:lnSpc>
                <a:spcPct val="100000"/>
              </a:lnSpc>
              <a:spcBef>
                <a:spcPts val="760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>
                <a:latin typeface="Arial"/>
                <a:cs typeface="Arial"/>
              </a:rPr>
              <a:t>Duration: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June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2024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October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2025.</a:t>
            </a:r>
            <a:endParaRPr sz="2000">
              <a:latin typeface="Arial"/>
              <a:cs typeface="Arial"/>
            </a:endParaRPr>
          </a:p>
          <a:p>
            <a:pPr indent="-214629" marL="214629">
              <a:lnSpc>
                <a:spcPct val="100000"/>
              </a:lnSpc>
              <a:spcBef>
                <a:spcPts val="760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>
                <a:latin typeface="Arial"/>
                <a:cs typeface="Arial"/>
              </a:rPr>
              <a:t>Sample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size: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100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patients.</a:t>
            </a:r>
            <a:endParaRPr sz="2000">
              <a:latin typeface="Arial"/>
              <a:cs typeface="Arial"/>
            </a:endParaRPr>
          </a:p>
          <a:p>
            <a:pPr indent="-214629" marL="214629">
              <a:lnSpc>
                <a:spcPct val="100000"/>
              </a:lnSpc>
              <a:spcBef>
                <a:spcPts val="760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>
                <a:latin typeface="Arial"/>
                <a:cs typeface="Arial"/>
              </a:rPr>
              <a:t>Included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Intra-</a:t>
            </a:r>
            <a:r>
              <a:rPr dirty="0" sz="2000">
                <a:latin typeface="Arial"/>
                <a:cs typeface="Arial"/>
              </a:rPr>
              <a:t>Articular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Comminuted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Distal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Radius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fractures.</a:t>
            </a:r>
            <a:endParaRPr sz="2000">
              <a:latin typeface="Arial"/>
              <a:cs typeface="Arial"/>
            </a:endParaRPr>
          </a:p>
          <a:p>
            <a:pPr indent="-214629" marL="214629">
              <a:lnSpc>
                <a:spcPct val="100000"/>
              </a:lnSpc>
              <a:spcBef>
                <a:spcPts val="760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>
                <a:latin typeface="Arial"/>
                <a:cs typeface="Arial"/>
              </a:rPr>
              <a:t>Treatment: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External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fixation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based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on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Ligamentotaxis.</a:t>
            </a:r>
            <a:endParaRPr sz="2000">
              <a:latin typeface="Arial"/>
              <a:cs typeface="Arial"/>
            </a:endParaRPr>
          </a:p>
          <a:p>
            <a:pPr indent="-214629" marL="214629">
              <a:lnSpc>
                <a:spcPct val="100000"/>
              </a:lnSpc>
              <a:spcBef>
                <a:spcPts val="760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 spc="-10">
                <a:latin typeface="Arial"/>
                <a:cs typeface="Arial"/>
              </a:rPr>
              <a:t>Standardized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postoperative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rehabilitation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protocol.</a:t>
            </a:r>
            <a:endParaRPr sz="2000">
              <a:latin typeface="Arial"/>
              <a:cs typeface="Arial"/>
            </a:endParaRPr>
          </a:p>
          <a:p>
            <a:pPr indent="-214629" marL="214629">
              <a:lnSpc>
                <a:spcPct val="100000"/>
              </a:lnSpc>
              <a:spcBef>
                <a:spcPts val="760"/>
              </a:spcBef>
              <a:buSzPct val="82500"/>
              <a:buFont typeface="Segoe UI Symbol"/>
              <a:buChar char="➢"/>
              <a:tabLst>
                <a:tab algn="l" pos="214629"/>
              </a:tabLst>
            </a:pPr>
            <a:r>
              <a:rPr dirty="0" sz="2000">
                <a:latin typeface="Arial"/>
                <a:cs typeface="Arial"/>
              </a:rPr>
              <a:t>Functional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assessment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using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Gartland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Werley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scoring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system.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 descr=""/>
          <p:cNvSpPr txBox="1"/>
          <p:nvPr/>
        </p:nvSpPr>
        <p:spPr>
          <a:xfrm>
            <a:off x="2628264" y="-24841"/>
            <a:ext cx="468630" cy="3556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aseline="-20061" b="1" dirty="0" sz="2700" spc="-30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b="1" dirty="0" sz="1150" spc="-20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48611" name="object 3" descr=""/>
          <p:cNvSpPr txBox="1"/>
          <p:nvPr/>
        </p:nvSpPr>
        <p:spPr>
          <a:xfrm>
            <a:off x="3236318" y="55167"/>
            <a:ext cx="23996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b="1" dirty="0" sz="1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b="1"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25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8612" name="object 4" descr=""/>
          <p:cNvSpPr txBox="1"/>
          <p:nvPr/>
        </p:nvSpPr>
        <p:spPr>
          <a:xfrm>
            <a:off x="2653664" y="209433"/>
            <a:ext cx="5669280" cy="910591"/>
          </a:xfrm>
          <a:prstGeom prst="rect"/>
        </p:spPr>
        <p:txBody>
          <a:bodyPr bIns="0" lIns="0" rIns="0" rtlCol="0" tIns="132715" vert="horz" wrap="square">
            <a:spAutoFit/>
          </a:bodyPr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10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0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63" name="object 5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54036" y="6349"/>
            <a:ext cx="1519237" cy="1292225"/>
          </a:xfrm>
          <a:prstGeom prst="rect"/>
        </p:spPr>
      </p:pic>
      <p:sp>
        <p:nvSpPr>
          <p:cNvPr id="1048613" name="object 6" descr=""/>
          <p:cNvSpPr txBox="1"/>
          <p:nvPr/>
        </p:nvSpPr>
        <p:spPr>
          <a:xfrm>
            <a:off x="151604" y="1274289"/>
            <a:ext cx="12148000" cy="1553209"/>
          </a:xfrm>
          <a:prstGeom prst="rect"/>
        </p:spPr>
        <p:txBody>
          <a:bodyPr anchor="ctr" bIns="0" lIns="0" rIns="0" rtlCol="0" tIns="102870" vert="horz" wrap="square">
            <a:spAutoFit/>
          </a:bodyPr>
          <a:p>
            <a:pPr marL="661035">
              <a:lnSpc>
                <a:spcPct val="100000"/>
              </a:lnSpc>
              <a:spcBef>
                <a:spcPts val="810"/>
              </a:spcBef>
            </a:pPr>
            <a:r>
              <a:rPr altLang="en-IN" sz="3600" lang="en-US">
                <a:latin typeface="Arial"/>
                <a:cs typeface="Arial"/>
              </a:rPr>
              <a:t>RESULTS</a:t>
            </a:r>
            <a:r>
              <a:rPr altLang="en-IN" sz="3600" lang="en-US">
                <a:latin typeface="Arial"/>
                <a:cs typeface="Arial"/>
              </a:rPr>
              <a:t> </a:t>
            </a:r>
            <a:endParaRPr sz="3600">
              <a:latin typeface="Arial"/>
              <a:cs typeface="Arial"/>
            </a:endParaRPr>
          </a:p>
          <a:p>
            <a:pPr marL="661035">
              <a:lnSpc>
                <a:spcPct val="100000"/>
              </a:lnSpc>
              <a:spcBef>
                <a:spcPts val="810"/>
              </a:spcBef>
            </a:pPr>
            <a:endParaRPr sz="2400">
              <a:latin typeface="Arial"/>
              <a:cs typeface="Arial"/>
            </a:endParaRPr>
          </a:p>
          <a:p>
            <a:pPr marL="661035">
              <a:lnSpc>
                <a:spcPct val="100000"/>
              </a:lnSpc>
              <a:spcBef>
                <a:spcPts val="810"/>
              </a:spcBef>
            </a:pPr>
            <a:endParaRPr sz="2400">
              <a:latin typeface="Arial"/>
              <a:cs typeface="Arial"/>
            </a:endParaRPr>
          </a:p>
        </p:txBody>
      </p:sp>
      <p:sp>
        <p:nvSpPr>
          <p:cNvPr id="1048614" name=""/>
          <p:cNvSpPr txBox="1"/>
          <p:nvPr/>
        </p:nvSpPr>
        <p:spPr>
          <a:xfrm rot="15324">
            <a:off x="160583" y="2076283"/>
            <a:ext cx="11400970" cy="40538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marL="342900">
              <a:buFont typeface="Wingdings" charset="2"/>
              <a:buChar char="l"/>
            </a:pPr>
            <a:r>
              <a:rPr sz="2000" lang="en-IN">
                <a:solidFill>
                  <a:srgbClr val="000000"/>
                </a:solidFill>
                <a:latin typeface="Aptos"/>
              </a:rPr>
              <a:t>Majority of patients: 41–60 years</a:t>
            </a:r>
            <a:endParaRPr sz="2000" lang="en-IN">
              <a:solidFill>
                <a:srgbClr val="000000"/>
              </a:solidFill>
            </a:endParaRPr>
          </a:p>
          <a:p>
            <a:pPr indent="-342900" marL="342900">
              <a:buFont typeface="Wingdings" charset="2"/>
              <a:buChar char="l"/>
            </a:pPr>
            <a:r>
              <a:rPr sz="2000" lang="en-IN">
                <a:solidFill>
                  <a:srgbClr val="000000"/>
                </a:solidFill>
                <a:latin typeface="Aptos"/>
              </a:rPr>
              <a:t>Male predominance</a:t>
            </a:r>
            <a:endParaRPr sz="2000" lang="en-IN">
              <a:solidFill>
                <a:srgbClr val="000000"/>
              </a:solidFill>
            </a:endParaRPr>
          </a:p>
          <a:p>
            <a:pPr indent="-342900" marL="342900">
              <a:buFont typeface="Wingdings" charset="2"/>
              <a:buChar char="l"/>
            </a:pPr>
            <a:r>
              <a:rPr sz="2000" lang="en-IN">
                <a:solidFill>
                  <a:srgbClr val="000000"/>
                </a:solidFill>
                <a:latin typeface="Aptos"/>
              </a:rPr>
              <a:t>Mode of injury: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
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• Road traffic accidents – 66%
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• Self-fall in elderly patients</a:t>
            </a:r>
            <a:endParaRPr sz="2000" lang="en-IN">
              <a:solidFill>
                <a:srgbClr val="000000"/>
              </a:solidFill>
            </a:endParaRPr>
          </a:p>
          <a:p>
            <a:pPr indent="-342900" marL="342900">
              <a:buFont typeface="Wingdings" charset="2"/>
              <a:buChar char="l"/>
            </a:pPr>
            <a:r>
              <a:rPr altLang="en-IN" sz="2000" lang="en-US">
                <a:solidFill>
                  <a:srgbClr val="000000"/>
                </a:solidFill>
                <a:latin typeface="Arial"/>
              </a:rPr>
              <a:t>F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racture union achieved within 6–8 weeks in most cases</a:t>
            </a:r>
            <a:endParaRPr sz="2000" lang="en-IN">
              <a:solidFill>
                <a:srgbClr val="000000"/>
              </a:solidFill>
            </a:endParaRPr>
          </a:p>
          <a:p>
            <a:pPr indent="-342900" marL="342900">
              <a:buFont typeface="Wingdings" charset="2"/>
              <a:buChar char="l"/>
            </a:pPr>
            <a:r>
              <a:rPr altLang="en-IN" sz="2000" lang="en-US">
                <a:solidFill>
                  <a:srgbClr val="000000"/>
                </a:solidFill>
                <a:latin typeface="Arial"/>
              </a:rPr>
              <a:t>C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m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p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l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ications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: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
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• Pin tract infection – 12%
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• Wrist stiffness – 5%</a:t>
            </a:r>
            <a:endParaRPr sz="2000" lang="en-IN">
              <a:solidFill>
                <a:srgbClr val="000000"/>
              </a:solidFill>
            </a:endParaRPr>
          </a:p>
          <a:p>
            <a:pPr indent="-342900" marL="342900">
              <a:buFont typeface="Wingdings" charset="2"/>
              <a:buChar char="l"/>
            </a:pPr>
            <a:r>
              <a:rPr altLang="en-IN" sz="2000" lang="en-US">
                <a:solidFill>
                  <a:srgbClr val="000000"/>
                </a:solidFill>
                <a:latin typeface="Arial"/>
              </a:rPr>
              <a:t>F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u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n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c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tional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u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t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c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m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e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: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
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• 78% – Excellent to Good
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• 14% – Fair
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0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000" lang="en-IN">
                <a:solidFill>
                  <a:srgbClr val="000000"/>
                </a:solidFill>
                <a:latin typeface="Aptos"/>
              </a:rPr>
              <a:t>• 8% – Poor</a:t>
            </a:r>
            <a:endParaRPr sz="20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object 2"/>
          <p:cNvSpPr txBox="1">
            <a:spLocks noGrp="1"/>
          </p:cNvSpPr>
          <p:nvPr>
            <p:ph type="title"/>
          </p:nvPr>
        </p:nvSpPr>
        <p:spPr>
          <a:xfrm>
            <a:off x="2628264" y="-24841"/>
            <a:ext cx="468630" cy="3556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aseline="-20061" dirty="0" sz="2700" spc="-30"/>
              <a:t>55</a:t>
            </a:r>
            <a:r>
              <a:rPr dirty="0" sz="1150" spc="-20"/>
              <a:t>th</a:t>
            </a:r>
            <a:endParaRPr sz="1150"/>
          </a:p>
        </p:txBody>
      </p:sp>
      <p:sp>
        <p:nvSpPr>
          <p:cNvPr id="1048600" name="object 3" descr=""/>
          <p:cNvSpPr txBox="1"/>
          <p:nvPr/>
        </p:nvSpPr>
        <p:spPr>
          <a:xfrm>
            <a:off x="3236318" y="55167"/>
            <a:ext cx="23996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b="1" dirty="0" sz="1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b="1"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25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8601" name="object 4" descr=""/>
          <p:cNvSpPr txBox="1"/>
          <p:nvPr/>
        </p:nvSpPr>
        <p:spPr>
          <a:xfrm>
            <a:off x="2653664" y="209433"/>
            <a:ext cx="5669280" cy="910591"/>
          </a:xfrm>
          <a:prstGeom prst="rect"/>
        </p:spPr>
        <p:txBody>
          <a:bodyPr bIns="0" lIns="0" rIns="0" rtlCol="0" tIns="132715" vert="horz" wrap="square">
            <a:spAutoFit/>
          </a:bodyPr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10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0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57" name="object 5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54036" y="6349"/>
            <a:ext cx="1519237" cy="1292225"/>
          </a:xfrm>
          <a:prstGeom prst="rect"/>
        </p:spPr>
      </p:pic>
      <p:sp>
        <p:nvSpPr>
          <p:cNvPr id="1048602" name="object 6" descr=""/>
          <p:cNvSpPr txBox="1"/>
          <p:nvPr/>
        </p:nvSpPr>
        <p:spPr>
          <a:xfrm>
            <a:off x="245427" y="1227429"/>
            <a:ext cx="7619631" cy="4521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27965" marL="240665">
              <a:lnSpc>
                <a:spcPct val="100000"/>
              </a:lnSpc>
              <a:spcBef>
                <a:spcPts val="100"/>
              </a:spcBef>
              <a:buChar char="•"/>
              <a:tabLst>
                <a:tab algn="l" pos="240665"/>
                <a:tab algn="l" pos="4251325"/>
              </a:tabLst>
            </a:pPr>
            <a:r>
              <a:rPr dirty="0" sz="2800">
                <a:latin typeface="Arial"/>
                <a:cs typeface="Arial"/>
              </a:rPr>
              <a:t>PRE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-</a:t>
            </a:r>
            <a:r>
              <a:rPr dirty="0" sz="2800">
                <a:latin typeface="Arial"/>
                <a:cs typeface="Arial"/>
              </a:rPr>
              <a:t>OP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X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RAY.</a:t>
            </a:r>
            <a:r>
              <a:rPr dirty="0" sz="2800">
                <a:latin typeface="Arial"/>
                <a:cs typeface="Arial"/>
              </a:rPr>
              <a:t>	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altLang="en-IN" dirty="0" sz="2800" lang="en-US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POST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-</a:t>
            </a:r>
            <a:r>
              <a:rPr dirty="0" sz="2800">
                <a:latin typeface="Arial"/>
                <a:cs typeface="Arial"/>
              </a:rPr>
              <a:t>OP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X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RAY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48603" name="object 7" descr=""/>
          <p:cNvSpPr txBox="1"/>
          <p:nvPr/>
        </p:nvSpPr>
        <p:spPr>
          <a:xfrm>
            <a:off x="8435467" y="1227429"/>
            <a:ext cx="3284854" cy="4521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Arial"/>
                <a:cs typeface="Arial"/>
              </a:rPr>
              <a:t>FOLLOW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UP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X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RAY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48604" name="object 8" descr=""/>
          <p:cNvSpPr txBox="1"/>
          <p:nvPr/>
        </p:nvSpPr>
        <p:spPr>
          <a:xfrm>
            <a:off x="245427" y="4293717"/>
            <a:ext cx="150495" cy="4521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48605" name="object 9" descr=""/>
          <p:cNvSpPr txBox="1"/>
          <p:nvPr/>
        </p:nvSpPr>
        <p:spPr>
          <a:xfrm>
            <a:off x="3635490" y="4293717"/>
            <a:ext cx="4271645" cy="4521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Arial"/>
                <a:cs typeface="Arial"/>
              </a:rPr>
              <a:t>RANGE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MOVEMENTS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2097158" name="object 10" descr="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106361" y="1774825"/>
            <a:ext cx="3608387" cy="2435225"/>
          </a:xfrm>
          <a:prstGeom prst="rect"/>
        </p:spPr>
      </p:pic>
      <p:pic>
        <p:nvPicPr>
          <p:cNvPr id="2097159" name="object 11" descr=""/>
          <p:cNvPicPr>
            <a:picLocks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3914775" y="1771650"/>
            <a:ext cx="3914775" cy="2419350"/>
          </a:xfrm>
          <a:prstGeom prst="rect"/>
        </p:spPr>
      </p:pic>
      <p:pic>
        <p:nvPicPr>
          <p:cNvPr id="2097160" name="object 12" descr=""/>
          <p:cNvPicPr>
            <a:picLocks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8104187" y="1781175"/>
            <a:ext cx="3556000" cy="2408237"/>
          </a:xfrm>
          <a:prstGeom prst="rect"/>
        </p:spPr>
      </p:pic>
      <p:pic>
        <p:nvPicPr>
          <p:cNvPr id="2097161" name="object 13" descr=""/>
          <p:cNvPicPr>
            <a:picLocks/>
          </p:cNvPicPr>
          <p:nvPr/>
        </p:nvPicPr>
        <p:blipFill>
          <a:blip xmlns:r="http://schemas.openxmlformats.org/officeDocument/2006/relationships" r:embed="rId5" cstate="print"/>
          <a:stretch>
            <a:fillRect/>
          </a:stretch>
        </p:blipFill>
        <p:spPr>
          <a:xfrm>
            <a:off x="233361" y="4656137"/>
            <a:ext cx="10561637" cy="2058987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 descr=""/>
          <p:cNvSpPr txBox="1"/>
          <p:nvPr/>
        </p:nvSpPr>
        <p:spPr>
          <a:xfrm>
            <a:off x="2628264" y="-24841"/>
            <a:ext cx="468630" cy="3556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aseline="-20061" b="1" dirty="0" sz="2700" spc="-30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b="1" dirty="0" sz="1150" spc="-20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48587" name="object 3" descr=""/>
          <p:cNvSpPr txBox="1"/>
          <p:nvPr/>
        </p:nvSpPr>
        <p:spPr>
          <a:xfrm>
            <a:off x="3236318" y="55167"/>
            <a:ext cx="23996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b="1" dirty="0" sz="1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b="1"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25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8588" name="object 4" descr=""/>
          <p:cNvSpPr txBox="1"/>
          <p:nvPr/>
        </p:nvSpPr>
        <p:spPr>
          <a:xfrm>
            <a:off x="2653664" y="209433"/>
            <a:ext cx="5669280" cy="910591"/>
          </a:xfrm>
          <a:prstGeom prst="rect"/>
        </p:spPr>
        <p:txBody>
          <a:bodyPr bIns="0" lIns="0" rIns="0" rtlCol="0" tIns="132715" vert="horz" wrap="square">
            <a:spAutoFit/>
          </a:bodyPr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10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0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55" name="object 5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54036" y="6349"/>
            <a:ext cx="1519237" cy="1292225"/>
          </a:xfrm>
          <a:prstGeom prst="rect"/>
        </p:spPr>
      </p:pic>
      <p:sp>
        <p:nvSpPr>
          <p:cNvPr id="1048589" name="object 6" descr=""/>
          <p:cNvSpPr txBox="1"/>
          <p:nvPr/>
        </p:nvSpPr>
        <p:spPr>
          <a:xfrm>
            <a:off x="380365" y="1298765"/>
            <a:ext cx="11020425" cy="5231765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325245">
              <a:lnSpc>
                <a:spcPct val="100000"/>
              </a:lnSpc>
              <a:spcBef>
                <a:spcPts val="100"/>
              </a:spcBef>
            </a:pPr>
            <a:r>
              <a:rPr dirty="0" sz="4400" spc="-10">
                <a:latin typeface="Arial"/>
                <a:cs typeface="Arial"/>
              </a:rPr>
              <a:t>CONCLUSION</a:t>
            </a:r>
            <a:endParaRPr sz="4400">
              <a:latin typeface="Arial"/>
              <a:cs typeface="Arial"/>
            </a:endParaRPr>
          </a:p>
          <a:p>
            <a:pPr indent="-299085" marL="311785">
              <a:lnSpc>
                <a:spcPct val="100000"/>
              </a:lnSpc>
              <a:spcBef>
                <a:spcPts val="2655"/>
              </a:spcBef>
              <a:buSzPct val="92500"/>
              <a:buFont typeface="Segoe UI Symbol"/>
              <a:buChar char="➢"/>
              <a:tabLst>
                <a:tab algn="l" pos="311785"/>
              </a:tabLst>
            </a:pPr>
            <a:r>
              <a:rPr dirty="0" sz="2000">
                <a:latin typeface="Arial"/>
                <a:cs typeface="Arial"/>
              </a:rPr>
              <a:t>Ligamentotaxis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enables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indirect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reduction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articular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fragments</a:t>
            </a:r>
            <a:endParaRPr sz="2000">
              <a:latin typeface="Arial"/>
              <a:cs typeface="Arial"/>
            </a:endParaRPr>
          </a:p>
          <a:p>
            <a:pPr indent="-238125" marL="241300">
              <a:lnSpc>
                <a:spcPct val="100000"/>
              </a:lnSpc>
              <a:spcBef>
                <a:spcPts val="760"/>
              </a:spcBef>
              <a:buSzPct val="92500"/>
              <a:buFont typeface="Segoe UI Symbol"/>
              <a:buChar char="➢"/>
              <a:tabLst>
                <a:tab algn="l" pos="241300"/>
              </a:tabLst>
            </a:pPr>
            <a:r>
              <a:rPr dirty="0" sz="2000">
                <a:latin typeface="Arial"/>
                <a:cs typeface="Arial"/>
              </a:rPr>
              <a:t>Maintains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soft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tissue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integrity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fracture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biology</a:t>
            </a:r>
            <a:endParaRPr sz="2000">
              <a:latin typeface="Arial"/>
              <a:cs typeface="Arial"/>
            </a:endParaRPr>
          </a:p>
          <a:p>
            <a:pPr indent="-238125" marL="240665">
              <a:lnSpc>
                <a:spcPct val="100000"/>
              </a:lnSpc>
              <a:spcBef>
                <a:spcPts val="760"/>
              </a:spcBef>
              <a:buSzPct val="92500"/>
              <a:buFont typeface="Segoe UI Symbol"/>
              <a:buChar char="➢"/>
              <a:tabLst>
                <a:tab algn="l" pos="240665"/>
              </a:tabLst>
            </a:pPr>
            <a:r>
              <a:rPr dirty="0" sz="2000">
                <a:latin typeface="Arial"/>
                <a:cs typeface="Arial"/>
              </a:rPr>
              <a:t>Particularly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useful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comminuted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open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fractures</a:t>
            </a:r>
            <a:endParaRPr sz="2000">
              <a:latin typeface="Arial"/>
              <a:cs typeface="Arial"/>
            </a:endParaRPr>
          </a:p>
          <a:p>
            <a:pPr indent="-238125" marL="241300">
              <a:lnSpc>
                <a:spcPct val="100000"/>
              </a:lnSpc>
              <a:spcBef>
                <a:spcPts val="760"/>
              </a:spcBef>
              <a:buSzPct val="92500"/>
              <a:buFont typeface="Segoe UI Symbol"/>
              <a:buChar char="➢"/>
              <a:tabLst>
                <a:tab algn="l" pos="241300"/>
              </a:tabLst>
            </a:pPr>
            <a:r>
              <a:rPr dirty="0" sz="2000" spc="-10">
                <a:latin typeface="Arial"/>
                <a:cs typeface="Arial"/>
              </a:rPr>
              <a:t>Complications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were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minor,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predictable,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manageable</a:t>
            </a:r>
            <a:endParaRPr sz="2000">
              <a:latin typeface="Arial"/>
              <a:cs typeface="Arial"/>
            </a:endParaRPr>
          </a:p>
          <a:p>
            <a:pPr indent="-238125" marL="240665">
              <a:lnSpc>
                <a:spcPct val="100000"/>
              </a:lnSpc>
              <a:spcBef>
                <a:spcPts val="760"/>
              </a:spcBef>
              <a:buSzPct val="92500"/>
              <a:buFont typeface="Segoe UI Symbol"/>
              <a:buChar char="➢"/>
              <a:tabLst>
                <a:tab algn="l" pos="240665"/>
              </a:tabLst>
            </a:pPr>
            <a:r>
              <a:rPr dirty="0" sz="2000">
                <a:latin typeface="Arial"/>
                <a:cs typeface="Arial"/>
              </a:rPr>
              <a:t>Functional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outcome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correlated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more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soft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tissue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injury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minor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residual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deformity</a:t>
            </a:r>
            <a:endParaRPr sz="2000">
              <a:latin typeface="Arial"/>
              <a:cs typeface="Arial"/>
            </a:endParaRPr>
          </a:p>
          <a:p>
            <a:pPr indent="-238125" marL="240665">
              <a:lnSpc>
                <a:spcPct val="100000"/>
              </a:lnSpc>
              <a:spcBef>
                <a:spcPts val="760"/>
              </a:spcBef>
              <a:buSzPct val="92500"/>
              <a:buFont typeface="Segoe UI Symbol"/>
              <a:buChar char="➢"/>
              <a:tabLst>
                <a:tab algn="l" pos="240665"/>
              </a:tabLst>
            </a:pPr>
            <a:r>
              <a:rPr dirty="0" sz="2000">
                <a:latin typeface="Arial"/>
                <a:cs typeface="Arial"/>
              </a:rPr>
              <a:t>External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fixation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using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Ligamentotaxis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provides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satisfactory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anatomical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functional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outcomes</a:t>
            </a:r>
            <a:endParaRPr sz="2000">
              <a:latin typeface="Arial"/>
              <a:cs typeface="Arial"/>
            </a:endParaRPr>
          </a:p>
          <a:p>
            <a:pPr indent="-238125" marL="240665">
              <a:lnSpc>
                <a:spcPct val="100000"/>
              </a:lnSpc>
              <a:spcBef>
                <a:spcPts val="760"/>
              </a:spcBef>
              <a:buSzPct val="92500"/>
              <a:buFont typeface="Segoe UI Symbol"/>
              <a:buChar char="➢"/>
              <a:tabLst>
                <a:tab algn="l" pos="240665"/>
              </a:tabLst>
            </a:pPr>
            <a:r>
              <a:rPr dirty="0" sz="2000">
                <a:latin typeface="Arial"/>
                <a:cs typeface="Arial"/>
              </a:rPr>
              <a:t>Facilitates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Early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Mobilisation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reduces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joint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stiffness</a:t>
            </a:r>
            <a:endParaRPr sz="2000">
              <a:latin typeface="Arial"/>
              <a:cs typeface="Arial"/>
            </a:endParaRPr>
          </a:p>
          <a:p>
            <a:pPr indent="-238125" marL="240665">
              <a:lnSpc>
                <a:spcPct val="100000"/>
              </a:lnSpc>
              <a:spcBef>
                <a:spcPts val="760"/>
              </a:spcBef>
              <a:buSzPct val="92500"/>
              <a:buFont typeface="Segoe UI Symbol"/>
              <a:buChar char="➢"/>
              <a:tabLst>
                <a:tab algn="l" pos="240665"/>
              </a:tabLst>
            </a:pPr>
            <a:r>
              <a:rPr dirty="0" sz="2000">
                <a:latin typeface="Arial"/>
                <a:cs typeface="Arial"/>
              </a:rPr>
              <a:t>Allows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effective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soft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tissue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wound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management</a:t>
            </a:r>
            <a:endParaRPr sz="2000">
              <a:latin typeface="Arial"/>
              <a:cs typeface="Arial"/>
            </a:endParaRPr>
          </a:p>
          <a:p>
            <a:pPr indent="-238125" marL="241300">
              <a:lnSpc>
                <a:spcPct val="100000"/>
              </a:lnSpc>
              <a:spcBef>
                <a:spcPts val="760"/>
              </a:spcBef>
              <a:buSzPct val="92500"/>
              <a:buFont typeface="Segoe UI Symbol"/>
              <a:buChar char="➢"/>
              <a:tabLst>
                <a:tab algn="l" pos="241300"/>
              </a:tabLst>
            </a:pPr>
            <a:r>
              <a:rPr dirty="0" sz="2000" spc="-10">
                <a:latin typeface="Arial"/>
                <a:cs typeface="Arial"/>
              </a:rPr>
              <a:t>Cost-</a:t>
            </a:r>
            <a:r>
              <a:rPr dirty="0" sz="2000">
                <a:latin typeface="Arial"/>
                <a:cs typeface="Arial"/>
              </a:rPr>
              <a:t>effective,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reproducible,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suitable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high-</a:t>
            </a:r>
            <a:r>
              <a:rPr dirty="0" sz="2000">
                <a:latin typeface="Arial"/>
                <a:cs typeface="Arial"/>
              </a:rPr>
              <a:t>volume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centers</a:t>
            </a:r>
            <a:endParaRPr sz="2000">
              <a:latin typeface="Arial"/>
              <a:cs typeface="Arial"/>
            </a:endParaRPr>
          </a:p>
          <a:p>
            <a:pPr indent="-238125" marL="240665">
              <a:lnSpc>
                <a:spcPct val="100000"/>
              </a:lnSpc>
              <a:spcBef>
                <a:spcPts val="760"/>
              </a:spcBef>
              <a:buSzPct val="92500"/>
              <a:buFont typeface="Segoe UI Symbol"/>
              <a:buChar char="➢"/>
              <a:tabLst>
                <a:tab algn="l" pos="240665"/>
              </a:tabLst>
            </a:pPr>
            <a:r>
              <a:rPr dirty="0" sz="2000">
                <a:latin typeface="Arial"/>
                <a:cs typeface="Arial"/>
              </a:rPr>
              <a:t>Remains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valuable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treatment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option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comminuted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intra-</a:t>
            </a:r>
            <a:r>
              <a:rPr dirty="0" sz="2000">
                <a:latin typeface="Arial"/>
                <a:cs typeface="Arial"/>
              </a:rPr>
              <a:t>articular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distal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radius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fractures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object 2" descr=""/>
          <p:cNvSpPr txBox="1"/>
          <p:nvPr/>
        </p:nvSpPr>
        <p:spPr>
          <a:xfrm>
            <a:off x="2628264" y="-24841"/>
            <a:ext cx="468630" cy="3556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aseline="-20061" b="1" dirty="0" sz="2700" spc="-30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b="1" dirty="0" sz="1150" spc="-20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48591" name="object 3" descr=""/>
          <p:cNvSpPr txBox="1"/>
          <p:nvPr/>
        </p:nvSpPr>
        <p:spPr>
          <a:xfrm>
            <a:off x="3236318" y="55167"/>
            <a:ext cx="23996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b="1" dirty="0" sz="1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b="1"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25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8592" name="object 4" descr=""/>
          <p:cNvSpPr txBox="1"/>
          <p:nvPr/>
        </p:nvSpPr>
        <p:spPr>
          <a:xfrm>
            <a:off x="2653664" y="209433"/>
            <a:ext cx="5669280" cy="910591"/>
          </a:xfrm>
          <a:prstGeom prst="rect"/>
        </p:spPr>
        <p:txBody>
          <a:bodyPr bIns="0" lIns="0" rIns="0" rtlCol="0" tIns="132715" vert="horz" wrap="square">
            <a:spAutoFit/>
          </a:bodyPr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10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0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56" name="object 5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54036" y="6349"/>
            <a:ext cx="1519237" cy="1292225"/>
          </a:xfrm>
          <a:prstGeom prst="rect"/>
        </p:spPr>
      </p:pic>
      <p:sp>
        <p:nvSpPr>
          <p:cNvPr id="1048593" name="object 6" descr=""/>
          <p:cNvSpPr txBox="1"/>
          <p:nvPr/>
        </p:nvSpPr>
        <p:spPr>
          <a:xfrm>
            <a:off x="356552" y="1451584"/>
            <a:ext cx="11099800" cy="4444365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577215">
              <a:lnSpc>
                <a:spcPct val="100000"/>
              </a:lnSpc>
              <a:spcBef>
                <a:spcPts val="100"/>
              </a:spcBef>
              <a:tabLst>
                <a:tab algn="l" pos="3578860"/>
              </a:tabLst>
            </a:pPr>
            <a:r>
              <a:rPr dirty="0" sz="3200" spc="-10">
                <a:latin typeface="Arial"/>
                <a:cs typeface="Arial"/>
              </a:rPr>
              <a:t>REFERENCES</a:t>
            </a:r>
            <a:r>
              <a:rPr dirty="0" sz="3200">
                <a:latin typeface="Arial"/>
                <a:cs typeface="Arial"/>
              </a:rPr>
              <a:t>	</a:t>
            </a:r>
            <a:r>
              <a:rPr dirty="0" sz="3200" spc="-5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3200">
              <a:latin typeface="Arial"/>
              <a:cs typeface="Arial"/>
            </a:endParaRPr>
          </a:p>
          <a:p>
            <a:pPr algn="just" indent="337185" marL="12700" marR="327660">
              <a:lnSpc>
                <a:spcPct val="100000"/>
              </a:lnSpc>
              <a:buAutoNum type="arabicPeriod"/>
              <a:tabLst>
                <a:tab algn="l" pos="349885"/>
              </a:tabLst>
            </a:pPr>
            <a:r>
              <a:rPr dirty="0" sz="2400">
                <a:latin typeface="Arial"/>
                <a:cs typeface="Arial"/>
              </a:rPr>
              <a:t>Margaret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McQueen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Rockwood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CA.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distal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radius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ulna. </a:t>
            </a:r>
            <a:r>
              <a:rPr dirty="0" sz="2400" spc="-25">
                <a:latin typeface="Arial"/>
                <a:cs typeface="Arial"/>
              </a:rPr>
              <a:t>Chapter-</a:t>
            </a:r>
            <a:r>
              <a:rPr dirty="0" sz="2400">
                <a:latin typeface="Arial"/>
                <a:cs typeface="Arial"/>
              </a:rPr>
              <a:t>32,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In: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Rockwood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Matsen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FA,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Wirth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Lippitt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SB,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editors,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Upper </a:t>
            </a:r>
            <a:r>
              <a:rPr dirty="0" sz="2400">
                <a:latin typeface="Arial"/>
                <a:cs typeface="Arial"/>
              </a:rPr>
              <a:t>Extremity.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3rd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edition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Philadelphia: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Saunders,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2004,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455-</a:t>
            </a:r>
            <a:r>
              <a:rPr dirty="0" sz="2400" spc="-20">
                <a:latin typeface="Arial"/>
                <a:cs typeface="Arial"/>
              </a:rPr>
              <a:t>519.</a:t>
            </a:r>
            <a:endParaRPr sz="2400">
              <a:latin typeface="Arial"/>
              <a:cs typeface="Arial"/>
            </a:endParaRPr>
          </a:p>
          <a:p>
            <a:pPr indent="337185" marL="12700" marR="246379">
              <a:lnSpc>
                <a:spcPct val="100000"/>
              </a:lnSpc>
              <a:buAutoNum type="arabicPeriod"/>
              <a:tabLst>
                <a:tab algn="l" pos="349885"/>
              </a:tabLst>
            </a:pPr>
            <a:r>
              <a:rPr dirty="0" sz="2400">
                <a:latin typeface="Arial"/>
                <a:cs typeface="Arial"/>
              </a:rPr>
              <a:t>Vogt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MT,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Cauley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JA,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Tomaino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MM,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Stone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Williams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JR,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Herndon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JH.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Distal </a:t>
            </a:r>
            <a:r>
              <a:rPr dirty="0" sz="2400">
                <a:latin typeface="Arial"/>
                <a:cs typeface="Arial"/>
              </a:rPr>
              <a:t>radius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fractures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older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women: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10-</a:t>
            </a:r>
            <a:r>
              <a:rPr dirty="0" sz="2400">
                <a:latin typeface="Arial"/>
                <a:cs typeface="Arial"/>
              </a:rPr>
              <a:t>year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follow-</a:t>
            </a:r>
            <a:r>
              <a:rPr dirty="0" sz="2400">
                <a:latin typeface="Arial"/>
                <a:cs typeface="Arial"/>
              </a:rPr>
              <a:t>up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study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descriptive characteristics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risk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factors.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study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osteoporotic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fractures.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Am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Geriatr </a:t>
            </a:r>
            <a:r>
              <a:rPr dirty="0" sz="2400">
                <a:latin typeface="Arial"/>
                <a:cs typeface="Arial"/>
              </a:rPr>
              <a:t>Soc.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2002; </a:t>
            </a:r>
            <a:r>
              <a:rPr dirty="0" sz="2400" spc="-25">
                <a:latin typeface="Arial"/>
                <a:cs typeface="Arial"/>
              </a:rPr>
              <a:t>50(1):97-</a:t>
            </a:r>
            <a:r>
              <a:rPr dirty="0" sz="2400" spc="-20">
                <a:latin typeface="Arial"/>
                <a:cs typeface="Arial"/>
              </a:rPr>
              <a:t>103.</a:t>
            </a:r>
            <a:endParaRPr sz="2400">
              <a:latin typeface="Arial"/>
              <a:cs typeface="Arial"/>
            </a:endParaRPr>
          </a:p>
          <a:p>
            <a:pPr indent="337185" marL="12700" marR="5080">
              <a:lnSpc>
                <a:spcPct val="100000"/>
              </a:lnSpc>
              <a:buAutoNum type="arabicPeriod"/>
              <a:tabLst>
                <a:tab algn="l" pos="349885"/>
              </a:tabLst>
            </a:pPr>
            <a:r>
              <a:rPr dirty="0" sz="2400" spc="-10">
                <a:latin typeface="Arial"/>
                <a:cs typeface="Arial"/>
              </a:rPr>
              <a:t>BengnérU,Johnell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0.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Increasing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incidence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forearm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fractures.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comparison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of </a:t>
            </a:r>
            <a:r>
              <a:rPr dirty="0" sz="2400">
                <a:latin typeface="Arial"/>
                <a:cs typeface="Arial"/>
              </a:rPr>
              <a:t>epidemiologic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patterns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25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years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apart.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Acta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Orthop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Scand.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1985;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56:158-60.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object 2"/>
          <p:cNvSpPr txBox="1">
            <a:spLocks noGrp="1"/>
          </p:cNvSpPr>
          <p:nvPr>
            <p:ph type="title"/>
          </p:nvPr>
        </p:nvSpPr>
        <p:spPr>
          <a:xfrm>
            <a:off x="2628264" y="-24841"/>
            <a:ext cx="468630" cy="3556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aseline="-20061" dirty="0" sz="2700" spc="-30"/>
              <a:t>55</a:t>
            </a:r>
            <a:r>
              <a:rPr dirty="0" sz="1150" spc="-20"/>
              <a:t>th</a:t>
            </a:r>
            <a:endParaRPr sz="1150"/>
          </a:p>
        </p:txBody>
      </p:sp>
      <p:sp>
        <p:nvSpPr>
          <p:cNvPr id="1048607" name="object 3" descr=""/>
          <p:cNvSpPr txBox="1"/>
          <p:nvPr/>
        </p:nvSpPr>
        <p:spPr>
          <a:xfrm>
            <a:off x="3236318" y="55167"/>
            <a:ext cx="2399665" cy="29972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b="1" dirty="0" sz="1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b="1"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25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8608" name="object 4" descr=""/>
          <p:cNvSpPr txBox="1"/>
          <p:nvPr/>
        </p:nvSpPr>
        <p:spPr>
          <a:xfrm>
            <a:off x="2653664" y="209433"/>
            <a:ext cx="5669280" cy="910591"/>
          </a:xfrm>
          <a:prstGeom prst="rect"/>
        </p:spPr>
        <p:txBody>
          <a:bodyPr bIns="0" lIns="0" rIns="0" rtlCol="0" tIns="132715" vert="horz" wrap="square">
            <a:spAutoFit/>
          </a:bodyPr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b="1"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800" spc="-10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0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altLang="en-IN" b="1" dirty="0" sz="1200" lang="en-US" spc="-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b="1"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b="1"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62" name="object 5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54036" y="6349"/>
            <a:ext cx="1519237" cy="1292225"/>
          </a:xfrm>
          <a:prstGeom prst="rect"/>
        </p:spPr>
      </p:pic>
      <p:sp>
        <p:nvSpPr>
          <p:cNvPr id="1048609" name="object 6" descr=""/>
          <p:cNvSpPr txBox="1"/>
          <p:nvPr/>
        </p:nvSpPr>
        <p:spPr>
          <a:xfrm>
            <a:off x="916939" y="4128706"/>
            <a:ext cx="4826000" cy="7366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0" marL="12700">
              <a:lnSpc>
                <a:spcPct val="100000"/>
              </a:lnSpc>
              <a:spcBef>
                <a:spcPts val="100"/>
              </a:spcBef>
              <a:buNone/>
              <a:tabLst>
                <a:tab algn="l" pos="1257300"/>
                <a:tab algn="l" pos="3491229"/>
              </a:tabLst>
            </a:pPr>
            <a:r>
              <a:rPr dirty="0" sz="4800" spc="-10">
                <a:latin typeface="Arial"/>
                <a:cs typeface="Arial"/>
              </a:rPr>
              <a:t>THANK</a:t>
            </a:r>
            <a:r>
              <a:rPr altLang="en-IN" dirty="0" sz="4800" lang="en-US" spc="-10">
                <a:latin typeface="Arial"/>
                <a:cs typeface="Arial"/>
              </a:rPr>
              <a:t> </a:t>
            </a:r>
            <a:r>
              <a:rPr dirty="0" sz="4800" spc="-25">
                <a:latin typeface="Arial"/>
                <a:cs typeface="Arial"/>
              </a:rPr>
              <a:t>YOU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SM-X616B</dc:creator>
  <dcterms:created xsi:type="dcterms:W3CDTF">2026-01-31T20:03:03Z</dcterms:created>
  <dcterms:modified xsi:type="dcterms:W3CDTF">2026-02-08T13:59:07Z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LastSaved">
    <vt:filetime>2026-02-01T00:00:00Z</vt:filetime>
  </property>
  <property fmtid="{D5CDD505-2E9C-101B-9397-08002B2CF9AE}" pid="4" name="Producer">
    <vt:lpwstr>3-Heights(TM) PDF Security Shell 4.8.25.2 (http://www.pdf-tools.com)</vt:lpwstr>
  </property>
  <property fmtid="{D5CDD505-2E9C-101B-9397-08002B2CF9AE}" pid="5" name="ICV">
    <vt:lpwstr>ac777e7ce9dd40afb1e85c5ea1e8fd8c</vt:lpwstr>
  </property>
</Properties>
</file>