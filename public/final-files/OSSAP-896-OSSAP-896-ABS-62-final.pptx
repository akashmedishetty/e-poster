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7AEC2E-9B33-47FC-B636-04D09811C22E}" v="3" dt="2026-02-15T02:45:51.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3" d="100"/>
          <a:sy n="53" d="100"/>
        </p:scale>
        <p:origin x="86" y="8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endra B" userId="912cc4e6bd7984b6" providerId="LiveId" clId="{115CB659-7471-4176-8104-B6327EAE4970}"/>
    <pc:docChg chg="modSld">
      <pc:chgData name="Nagendra B" userId="912cc4e6bd7984b6" providerId="LiveId" clId="{115CB659-7471-4176-8104-B6327EAE4970}" dt="2026-02-15T04:35:07.561" v="184" actId="20577"/>
      <pc:docMkLst>
        <pc:docMk/>
      </pc:docMkLst>
      <pc:sldChg chg="addSp modSp mod">
        <pc:chgData name="Nagendra B" userId="912cc4e6bd7984b6" providerId="LiveId" clId="{115CB659-7471-4176-8104-B6327EAE4970}" dt="2026-02-15T04:35:07.561" v="184" actId="20577"/>
        <pc:sldMkLst>
          <pc:docMk/>
          <pc:sldMk cId="3607354635" sldId="256"/>
        </pc:sldMkLst>
        <pc:spChg chg="add mod">
          <ac:chgData name="Nagendra B" userId="912cc4e6bd7984b6" providerId="LiveId" clId="{115CB659-7471-4176-8104-B6327EAE4970}" dt="2026-02-15T04:28:57.866" v="120" actId="1076"/>
          <ac:spMkLst>
            <pc:docMk/>
            <pc:sldMk cId="3607354635" sldId="256"/>
            <ac:spMk id="3" creationId="{8706525B-8ACF-29BF-A865-A4925CC37B99}"/>
          </ac:spMkLst>
        </pc:spChg>
        <pc:spChg chg="mod">
          <ac:chgData name="Nagendra B" userId="912cc4e6bd7984b6" providerId="LiveId" clId="{115CB659-7471-4176-8104-B6327EAE4970}" dt="2026-02-15T04:25:45.983" v="108" actId="14100"/>
          <ac:spMkLst>
            <pc:docMk/>
            <pc:sldMk cId="3607354635" sldId="256"/>
            <ac:spMk id="7" creationId="{6D1A47E9-312C-D04A-D368-EE96CE32C982}"/>
          </ac:spMkLst>
        </pc:spChg>
        <pc:spChg chg="mod">
          <ac:chgData name="Nagendra B" userId="912cc4e6bd7984b6" providerId="LiveId" clId="{115CB659-7471-4176-8104-B6327EAE4970}" dt="2026-02-15T04:24:42.935" v="97" actId="14100"/>
          <ac:spMkLst>
            <pc:docMk/>
            <pc:sldMk cId="3607354635" sldId="256"/>
            <ac:spMk id="8" creationId="{63A874B9-B8E1-A36B-AA38-6FCC7D5D8F32}"/>
          </ac:spMkLst>
        </pc:spChg>
        <pc:spChg chg="mod">
          <ac:chgData name="Nagendra B" userId="912cc4e6bd7984b6" providerId="LiveId" clId="{115CB659-7471-4176-8104-B6327EAE4970}" dt="2026-02-15T04:26:59.321" v="117" actId="14100"/>
          <ac:spMkLst>
            <pc:docMk/>
            <pc:sldMk cId="3607354635" sldId="256"/>
            <ac:spMk id="9" creationId="{0EFC2BB9-1938-0DF3-F424-CAC28C6D9880}"/>
          </ac:spMkLst>
        </pc:spChg>
        <pc:spChg chg="mod">
          <ac:chgData name="Nagendra B" userId="912cc4e6bd7984b6" providerId="LiveId" clId="{115CB659-7471-4176-8104-B6327EAE4970}" dt="2026-02-15T04:27:21.440" v="119" actId="14100"/>
          <ac:spMkLst>
            <pc:docMk/>
            <pc:sldMk cId="3607354635" sldId="256"/>
            <ac:spMk id="11" creationId="{493EBCB5-BB50-7945-E88B-86122853702B}"/>
          </ac:spMkLst>
        </pc:spChg>
        <pc:spChg chg="mod">
          <ac:chgData name="Nagendra B" userId="912cc4e6bd7984b6" providerId="LiveId" clId="{115CB659-7471-4176-8104-B6327EAE4970}" dt="2026-02-15T04:27:15.543" v="118" actId="14100"/>
          <ac:spMkLst>
            <pc:docMk/>
            <pc:sldMk cId="3607354635" sldId="256"/>
            <ac:spMk id="12" creationId="{779DCDE1-7E85-0646-3543-9C1638CEB9CA}"/>
          </ac:spMkLst>
        </pc:spChg>
        <pc:spChg chg="mod">
          <ac:chgData name="Nagendra B" userId="912cc4e6bd7984b6" providerId="LiveId" clId="{115CB659-7471-4176-8104-B6327EAE4970}" dt="2026-02-15T02:36:09.757" v="23" actId="1076"/>
          <ac:spMkLst>
            <pc:docMk/>
            <pc:sldMk cId="3607354635" sldId="256"/>
            <ac:spMk id="13" creationId="{9A130820-FF42-EA8A-339B-145E1FC668F5}"/>
          </ac:spMkLst>
        </pc:spChg>
        <pc:spChg chg="mod">
          <ac:chgData name="Nagendra B" userId="912cc4e6bd7984b6" providerId="LiveId" clId="{115CB659-7471-4176-8104-B6327EAE4970}" dt="2026-02-15T02:33:56.716" v="13" actId="20577"/>
          <ac:spMkLst>
            <pc:docMk/>
            <pc:sldMk cId="3607354635" sldId="256"/>
            <ac:spMk id="19" creationId="{CF1F608A-7742-BF27-09EC-3BB7CA324D68}"/>
          </ac:spMkLst>
        </pc:spChg>
        <pc:spChg chg="mod">
          <ac:chgData name="Nagendra B" userId="912cc4e6bd7984b6" providerId="LiveId" clId="{115CB659-7471-4176-8104-B6327EAE4970}" dt="2026-02-15T04:24:14.943" v="91" actId="14100"/>
          <ac:spMkLst>
            <pc:docMk/>
            <pc:sldMk cId="3607354635" sldId="256"/>
            <ac:spMk id="22" creationId="{99633B59-00B8-9FD5-0D31-D1688B16556B}"/>
          </ac:spMkLst>
        </pc:spChg>
        <pc:spChg chg="add mod">
          <ac:chgData name="Nagendra B" userId="912cc4e6bd7984b6" providerId="LiveId" clId="{115CB659-7471-4176-8104-B6327EAE4970}" dt="2026-02-15T04:31:07.088" v="128" actId="1076"/>
          <ac:spMkLst>
            <pc:docMk/>
            <pc:sldMk cId="3607354635" sldId="256"/>
            <ac:spMk id="23" creationId="{E3B30F66-EDC1-F4B2-55EC-D88D4DD536A5}"/>
          </ac:spMkLst>
        </pc:spChg>
        <pc:spChg chg="add mod">
          <ac:chgData name="Nagendra B" userId="912cc4e6bd7984b6" providerId="LiveId" clId="{115CB659-7471-4176-8104-B6327EAE4970}" dt="2026-02-15T02:36:15.165" v="24" actId="1076"/>
          <ac:spMkLst>
            <pc:docMk/>
            <pc:sldMk cId="3607354635" sldId="256"/>
            <ac:spMk id="25" creationId="{7091E549-F541-1FA1-C1E8-289511C0DC04}"/>
          </ac:spMkLst>
        </pc:spChg>
        <pc:spChg chg="add mod">
          <ac:chgData name="Nagendra B" userId="912cc4e6bd7984b6" providerId="LiveId" clId="{115CB659-7471-4176-8104-B6327EAE4970}" dt="2026-02-15T04:31:53.766" v="129" actId="14100"/>
          <ac:spMkLst>
            <pc:docMk/>
            <pc:sldMk cId="3607354635" sldId="256"/>
            <ac:spMk id="27" creationId="{8A038C72-6AD9-4F9C-6F11-8F41C52D16C1}"/>
          </ac:spMkLst>
        </pc:spChg>
        <pc:spChg chg="add mod">
          <ac:chgData name="Nagendra B" userId="912cc4e6bd7984b6" providerId="LiveId" clId="{115CB659-7471-4176-8104-B6327EAE4970}" dt="2026-02-15T04:35:07.561" v="184" actId="20577"/>
          <ac:spMkLst>
            <pc:docMk/>
            <pc:sldMk cId="3607354635" sldId="256"/>
            <ac:spMk id="29" creationId="{C32058C7-63F3-CAFF-58EC-D9E6807F7392}"/>
          </ac:spMkLst>
        </pc:spChg>
        <pc:spChg chg="add mod">
          <ac:chgData name="Nagendra B" userId="912cc4e6bd7984b6" providerId="LiveId" clId="{115CB659-7471-4176-8104-B6327EAE4970}" dt="2026-02-15T04:29:49.515" v="125" actId="14100"/>
          <ac:spMkLst>
            <pc:docMk/>
            <pc:sldMk cId="3607354635" sldId="256"/>
            <ac:spMk id="32" creationId="{7690D73B-947F-D33C-D7B9-99DC51DE31C7}"/>
          </ac:spMkLst>
        </pc:spChg>
        <pc:spChg chg="add mod">
          <ac:chgData name="Nagendra B" userId="912cc4e6bd7984b6" providerId="LiveId" clId="{115CB659-7471-4176-8104-B6327EAE4970}" dt="2026-02-15T04:29:41.441" v="124" actId="1076"/>
          <ac:spMkLst>
            <pc:docMk/>
            <pc:sldMk cId="3607354635" sldId="256"/>
            <ac:spMk id="35" creationId="{40E7607F-2DE0-0FDB-8F8C-C826C502E68A}"/>
          </ac:spMkLst>
        </pc:spChg>
        <pc:picChg chg="add mod">
          <ac:chgData name="Nagendra B" userId="912cc4e6bd7984b6" providerId="LiveId" clId="{115CB659-7471-4176-8104-B6327EAE4970}" dt="2026-02-15T04:26:04.133" v="112" actId="14100"/>
          <ac:picMkLst>
            <pc:docMk/>
            <pc:sldMk cId="3607354635" sldId="256"/>
            <ac:picMk id="30" creationId="{E0460A4B-E2FD-A2DC-C50D-78E27718101B}"/>
          </ac:picMkLst>
        </pc:picChg>
        <pc:picChg chg="add mod">
          <ac:chgData name="Nagendra B" userId="912cc4e6bd7984b6" providerId="LiveId" clId="{115CB659-7471-4176-8104-B6327EAE4970}" dt="2026-02-15T04:26:18.159" v="114" actId="1076"/>
          <ac:picMkLst>
            <pc:docMk/>
            <pc:sldMk cId="3607354635" sldId="256"/>
            <ac:picMk id="33" creationId="{64198C7D-8356-904A-42C8-120B7AB6080E}"/>
          </ac:picMkLst>
        </pc:picChg>
        <pc:picChg chg="add mod">
          <ac:chgData name="Nagendra B" userId="912cc4e6bd7984b6" providerId="LiveId" clId="{115CB659-7471-4176-8104-B6327EAE4970}" dt="2026-02-15T04:26:22.143" v="115" actId="1076"/>
          <ac:picMkLst>
            <pc:docMk/>
            <pc:sldMk cId="3607354635" sldId="256"/>
            <ac:picMk id="36" creationId="{9AC71C72-4CDD-3F4C-FF2B-E5EAADE69FD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2FEAD1-301B-4E9F-AAC7-A683902FB48C}" type="datetimeFigureOut">
              <a:rPr lang="en-IN" smtClean="0"/>
              <a:t>15-02-2026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629330-4973-42CA-893D-BBDC43D19F87}" type="slidenum">
              <a:rPr lang="en-IN" smtClean="0"/>
              <a:t>‹#›</a:t>
            </a:fld>
            <a:endParaRPr lang="en-IN"/>
          </a:p>
        </p:txBody>
      </p:sp>
    </p:spTree>
    <p:extLst>
      <p:ext uri="{BB962C8B-B14F-4D97-AF65-F5344CB8AC3E}">
        <p14:creationId xmlns:p14="http://schemas.microsoft.com/office/powerpoint/2010/main" val="3972182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629330-4973-42CA-893D-BBDC43D19F87}" type="slidenum">
              <a:rPr lang="en-IN" smtClean="0"/>
              <a:t>1</a:t>
            </a:fld>
            <a:endParaRPr lang="en-IN"/>
          </a:p>
        </p:txBody>
      </p:sp>
    </p:spTree>
    <p:extLst>
      <p:ext uri="{BB962C8B-B14F-4D97-AF65-F5344CB8AC3E}">
        <p14:creationId xmlns:p14="http://schemas.microsoft.com/office/powerpoint/2010/main" val="3169235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CF1F608A-7742-BF27-09EC-3BB7CA324D68}"/>
              </a:ext>
            </a:extLst>
          </p:cNvPr>
          <p:cNvSpPr txBox="1"/>
          <p:nvPr/>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20 – 22 February,2026, Venue : Kurnool Medical College</a:t>
            </a:r>
          </a:p>
        </p:txBody>
      </p:sp>
      <p:sp>
        <p:nvSpPr>
          <p:cNvPr id="20" name="TextBox 19">
            <a:extLst>
              <a:ext uri="{FF2B5EF4-FFF2-40B4-BE49-F238E27FC236}">
                <a16:creationId xmlns:a16="http://schemas.microsoft.com/office/drawing/2014/main" id="{C0616687-624D-607B-6F85-335EE46873F1}"/>
              </a:ext>
            </a:extLst>
          </p:cNvPr>
          <p:cNvSpPr txBox="1"/>
          <p:nvPr/>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08960" y="1295591"/>
            <a:ext cx="5263726"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8387123" y="1206321"/>
            <a:ext cx="3790438" cy="29380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8380649" y="4535781"/>
            <a:ext cx="3811349" cy="23376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23396" y="1280157"/>
            <a:ext cx="525720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8372687" y="1275140"/>
            <a:ext cx="380487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0" y="487881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8380601" y="4144336"/>
            <a:ext cx="3796959"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3" name="TextBox 2">
            <a:extLst>
              <a:ext uri="{FF2B5EF4-FFF2-40B4-BE49-F238E27FC236}">
                <a16:creationId xmlns:a16="http://schemas.microsoft.com/office/drawing/2014/main" id="{8706525B-8ACF-29BF-A865-A4925CC37B99}"/>
              </a:ext>
            </a:extLst>
          </p:cNvPr>
          <p:cNvSpPr txBox="1"/>
          <p:nvPr/>
        </p:nvSpPr>
        <p:spPr>
          <a:xfrm>
            <a:off x="6522" y="1708260"/>
            <a:ext cx="3108960" cy="3108543"/>
          </a:xfrm>
          <a:prstGeom prst="rect">
            <a:avLst/>
          </a:prstGeom>
          <a:noFill/>
        </p:spPr>
        <p:txBody>
          <a:bodyPr wrap="square">
            <a:spAutoFit/>
          </a:bodyPr>
          <a:lstStyle/>
          <a:p>
            <a:r>
              <a:rPr lang="en-US" sz="1400" dirty="0"/>
              <a:t>Management of infected both-bone forearm fractures presents a significant challenge, requiring eradication of infection, restoration of skeletal integrity, and functional recovery. Traditional techniques often result in prolonged treatment durations with variable outcomes. This case series evaluates the efficacy of a combined approach utilizing </a:t>
            </a:r>
            <a:r>
              <a:rPr lang="en-US" sz="1400" dirty="0" err="1"/>
              <a:t>Ilizarov</a:t>
            </a:r>
            <a:r>
              <a:rPr lang="en-US" sz="1400" dirty="0"/>
              <a:t> lengthening for the radius and free fibular grafting for the ulna, focusing on achieving optimal results within a reduced treatment timeline. </a:t>
            </a:r>
          </a:p>
        </p:txBody>
      </p:sp>
      <p:sp>
        <p:nvSpPr>
          <p:cNvPr id="23" name="TextBox 22">
            <a:extLst>
              <a:ext uri="{FF2B5EF4-FFF2-40B4-BE49-F238E27FC236}">
                <a16:creationId xmlns:a16="http://schemas.microsoft.com/office/drawing/2014/main" id="{E3B30F66-EDC1-F4B2-55EC-D88D4DD536A5}"/>
              </a:ext>
            </a:extLst>
          </p:cNvPr>
          <p:cNvSpPr txBox="1"/>
          <p:nvPr/>
        </p:nvSpPr>
        <p:spPr>
          <a:xfrm>
            <a:off x="8337197" y="4608147"/>
            <a:ext cx="3875854" cy="2246769"/>
          </a:xfrm>
          <a:prstGeom prst="rect">
            <a:avLst/>
          </a:prstGeom>
          <a:noFill/>
        </p:spPr>
        <p:txBody>
          <a:bodyPr wrap="square">
            <a:spAutoFit/>
          </a:bodyPr>
          <a:lstStyle/>
          <a:p>
            <a:r>
              <a:rPr lang="en-US" sz="1400" dirty="0"/>
              <a:t>The combined use of </a:t>
            </a:r>
            <a:r>
              <a:rPr lang="en-US" sz="1400" dirty="0" err="1"/>
              <a:t>Ilizarov</a:t>
            </a:r>
            <a:r>
              <a:rPr lang="en-US" sz="1400" dirty="0"/>
              <a:t> lengthening for the radius and free fibular grafting for the ulna is a promising strategy for managing infected both-bone forearm fractures. This approach effectively addresses infection, bone defects, and functional restoration within a shorter period, offering patients a reliable and efficient pathway to recovery. Further studies with larger cohorts are warranted to validate these findings and refine the protocol for broader application.</a:t>
            </a:r>
          </a:p>
        </p:txBody>
      </p:sp>
      <p:sp>
        <p:nvSpPr>
          <p:cNvPr id="25" name="TextBox 24">
            <a:extLst>
              <a:ext uri="{FF2B5EF4-FFF2-40B4-BE49-F238E27FC236}">
                <a16:creationId xmlns:a16="http://schemas.microsoft.com/office/drawing/2014/main" id="{7091E549-F541-1FA1-C1E8-289511C0DC04}"/>
              </a:ext>
            </a:extLst>
          </p:cNvPr>
          <p:cNvSpPr txBox="1"/>
          <p:nvPr/>
        </p:nvSpPr>
        <p:spPr>
          <a:xfrm>
            <a:off x="-24064" y="5273453"/>
            <a:ext cx="3185962" cy="1661993"/>
          </a:xfrm>
          <a:prstGeom prst="rect">
            <a:avLst/>
          </a:prstGeom>
          <a:noFill/>
        </p:spPr>
        <p:txBody>
          <a:bodyPr wrap="square">
            <a:spAutoFit/>
          </a:bodyPr>
          <a:lstStyle/>
          <a:p>
            <a:r>
              <a:rPr lang="en-US" sz="1400" dirty="0"/>
              <a:t>This case series presents 3 patients who suffered infected fractures of both bone forearm and were referred to our facility. All individuals had chronic osteomyelitis, previous unsuccessful internal fixation, and significant bone loss</a:t>
            </a:r>
            <a:r>
              <a:rPr lang="en-US" dirty="0"/>
              <a:t>.</a:t>
            </a:r>
          </a:p>
        </p:txBody>
      </p:sp>
      <p:sp>
        <p:nvSpPr>
          <p:cNvPr id="27" name="TextBox 26">
            <a:extLst>
              <a:ext uri="{FF2B5EF4-FFF2-40B4-BE49-F238E27FC236}">
                <a16:creationId xmlns:a16="http://schemas.microsoft.com/office/drawing/2014/main" id="{8A038C72-6AD9-4F9C-6F11-8F41C52D16C1}"/>
              </a:ext>
            </a:extLst>
          </p:cNvPr>
          <p:cNvSpPr txBox="1"/>
          <p:nvPr/>
        </p:nvSpPr>
        <p:spPr>
          <a:xfrm>
            <a:off x="8364346" y="1717969"/>
            <a:ext cx="3875854" cy="2308324"/>
          </a:xfrm>
          <a:prstGeom prst="rect">
            <a:avLst/>
          </a:prstGeom>
          <a:noFill/>
        </p:spPr>
        <p:txBody>
          <a:bodyPr wrap="square">
            <a:spAutoFit/>
          </a:bodyPr>
          <a:lstStyle/>
          <a:p>
            <a:r>
              <a:rPr lang="en-US" sz="1400" dirty="0"/>
              <a:t>All patients underwent multiple procedures, including wound debridement, implant removal, and the insertion of antibiotic spacers or </a:t>
            </a:r>
            <a:r>
              <a:rPr lang="en-US" sz="1400" dirty="0" err="1"/>
              <a:t>Stimulan</a:t>
            </a:r>
            <a:r>
              <a:rPr lang="en-US" sz="1400" dirty="0"/>
              <a:t> beads until the infection subsided, as confirmed by laboratory investigations. Following infection resolution, the patients proceeded with </a:t>
            </a:r>
            <a:r>
              <a:rPr lang="en-US" sz="1400" dirty="0" err="1"/>
              <a:t>Ilizarov</a:t>
            </a:r>
            <a:r>
              <a:rPr lang="en-US" sz="1400" dirty="0"/>
              <a:t> fixation and </a:t>
            </a:r>
            <a:r>
              <a:rPr lang="en-US" sz="1400" dirty="0" err="1"/>
              <a:t>corticotomy</a:t>
            </a:r>
            <a:r>
              <a:rPr lang="en-US" sz="1400" dirty="0"/>
              <a:t> of the radius. Once the desired radial length was achieved through primary bone transport, free fibular bone grafting was performed</a:t>
            </a:r>
            <a:r>
              <a:rPr lang="en-US" dirty="0"/>
              <a:t>.</a:t>
            </a:r>
          </a:p>
        </p:txBody>
      </p:sp>
      <p:sp>
        <p:nvSpPr>
          <p:cNvPr id="29" name="TextBox 28">
            <a:extLst>
              <a:ext uri="{FF2B5EF4-FFF2-40B4-BE49-F238E27FC236}">
                <a16:creationId xmlns:a16="http://schemas.microsoft.com/office/drawing/2014/main" id="{C32058C7-63F3-CAFF-58EC-D9E6807F7392}"/>
              </a:ext>
            </a:extLst>
          </p:cNvPr>
          <p:cNvSpPr txBox="1"/>
          <p:nvPr/>
        </p:nvSpPr>
        <p:spPr>
          <a:xfrm>
            <a:off x="3100997" y="1689743"/>
            <a:ext cx="3229275" cy="1384995"/>
          </a:xfrm>
          <a:prstGeom prst="rect">
            <a:avLst/>
          </a:prstGeom>
          <a:noFill/>
        </p:spPr>
        <p:txBody>
          <a:bodyPr wrap="square">
            <a:spAutoFit/>
          </a:bodyPr>
          <a:lstStyle/>
          <a:p>
            <a:r>
              <a:rPr lang="en-US" sz="1400" dirty="0"/>
              <a:t>The first patient, a 56-year-old male, had a history of a road traffic accident with a bilateral forearm fracture. He was </a:t>
            </a:r>
            <a:r>
              <a:rPr lang="en-US" sz="1400"/>
              <a:t>treated  somewhere else, but </a:t>
            </a:r>
            <a:r>
              <a:rPr lang="en-US" sz="1400" dirty="0"/>
              <a:t>presented to us 5 months later with a discharging sinus at the surgical site. </a:t>
            </a:r>
          </a:p>
        </p:txBody>
      </p:sp>
      <p:pic>
        <p:nvPicPr>
          <p:cNvPr id="30" name="Picture 29">
            <a:extLst>
              <a:ext uri="{FF2B5EF4-FFF2-40B4-BE49-F238E27FC236}">
                <a16:creationId xmlns:a16="http://schemas.microsoft.com/office/drawing/2014/main" id="{E0460A4B-E2FD-A2DC-C50D-78E27718101B}"/>
              </a:ext>
            </a:extLst>
          </p:cNvPr>
          <p:cNvPicPr>
            <a:picLocks noChangeAspect="1"/>
          </p:cNvPicPr>
          <p:nvPr/>
        </p:nvPicPr>
        <p:blipFill>
          <a:blip r:embed="rId7"/>
          <a:stretch>
            <a:fillRect/>
          </a:stretch>
        </p:blipFill>
        <p:spPr>
          <a:xfrm>
            <a:off x="6217919" y="1680446"/>
            <a:ext cx="1977884" cy="1587959"/>
          </a:xfrm>
          <a:prstGeom prst="rect">
            <a:avLst/>
          </a:prstGeom>
        </p:spPr>
      </p:pic>
      <p:sp>
        <p:nvSpPr>
          <p:cNvPr id="32" name="TextBox 31">
            <a:extLst>
              <a:ext uri="{FF2B5EF4-FFF2-40B4-BE49-F238E27FC236}">
                <a16:creationId xmlns:a16="http://schemas.microsoft.com/office/drawing/2014/main" id="{7690D73B-947F-D33C-D7B9-99DC51DE31C7}"/>
              </a:ext>
            </a:extLst>
          </p:cNvPr>
          <p:cNvSpPr txBox="1"/>
          <p:nvPr/>
        </p:nvSpPr>
        <p:spPr>
          <a:xfrm>
            <a:off x="3108959" y="3353780"/>
            <a:ext cx="3133025" cy="954107"/>
          </a:xfrm>
          <a:prstGeom prst="rect">
            <a:avLst/>
          </a:prstGeom>
          <a:noFill/>
        </p:spPr>
        <p:txBody>
          <a:bodyPr wrap="square">
            <a:spAutoFit/>
          </a:bodyPr>
          <a:lstStyle/>
          <a:p>
            <a:r>
              <a:rPr lang="en-US" sz="1400" dirty="0"/>
              <a:t>The second patient, a 47-year-old female, arrived at our center with similar complications within 2 months of her initial surgery.</a:t>
            </a:r>
          </a:p>
        </p:txBody>
      </p:sp>
      <p:pic>
        <p:nvPicPr>
          <p:cNvPr id="33" name="Picture 32">
            <a:extLst>
              <a:ext uri="{FF2B5EF4-FFF2-40B4-BE49-F238E27FC236}">
                <a16:creationId xmlns:a16="http://schemas.microsoft.com/office/drawing/2014/main" id="{64198C7D-8356-904A-42C8-120B7AB6080E}"/>
              </a:ext>
            </a:extLst>
          </p:cNvPr>
          <p:cNvPicPr>
            <a:picLocks noChangeAspect="1"/>
          </p:cNvPicPr>
          <p:nvPr/>
        </p:nvPicPr>
        <p:blipFill>
          <a:blip r:embed="rId8"/>
          <a:stretch>
            <a:fillRect/>
          </a:stretch>
        </p:blipFill>
        <p:spPr>
          <a:xfrm>
            <a:off x="6205512" y="3339966"/>
            <a:ext cx="2041842" cy="1702527"/>
          </a:xfrm>
          <a:prstGeom prst="rect">
            <a:avLst/>
          </a:prstGeom>
        </p:spPr>
      </p:pic>
      <p:sp>
        <p:nvSpPr>
          <p:cNvPr id="35" name="TextBox 34">
            <a:extLst>
              <a:ext uri="{FF2B5EF4-FFF2-40B4-BE49-F238E27FC236}">
                <a16:creationId xmlns:a16="http://schemas.microsoft.com/office/drawing/2014/main" id="{40E7607F-2DE0-0FDB-8F8C-C826C502E68A}"/>
              </a:ext>
            </a:extLst>
          </p:cNvPr>
          <p:cNvSpPr txBox="1"/>
          <p:nvPr/>
        </p:nvSpPr>
        <p:spPr>
          <a:xfrm>
            <a:off x="3115482" y="5111309"/>
            <a:ext cx="3108940" cy="1600438"/>
          </a:xfrm>
          <a:prstGeom prst="rect">
            <a:avLst/>
          </a:prstGeom>
          <a:noFill/>
        </p:spPr>
        <p:txBody>
          <a:bodyPr wrap="square">
            <a:spAutoFit/>
          </a:bodyPr>
          <a:lstStyle/>
          <a:p>
            <a:r>
              <a:rPr lang="en-US" sz="1400" dirty="0"/>
              <a:t>The third patient, a 24-year-old male, experienced a workplace accident resulting in a bilateral forearm fracture. After undergoing surgery elsewhere, he developed signs of infection during postoperative follow-up, prompting his referral to us. </a:t>
            </a:r>
          </a:p>
        </p:txBody>
      </p:sp>
      <p:pic>
        <p:nvPicPr>
          <p:cNvPr id="36" name="Picture 35">
            <a:extLst>
              <a:ext uri="{FF2B5EF4-FFF2-40B4-BE49-F238E27FC236}">
                <a16:creationId xmlns:a16="http://schemas.microsoft.com/office/drawing/2014/main" id="{9AC71C72-4CDD-3F4C-FF2B-E5EAADE69FDA}"/>
              </a:ext>
            </a:extLst>
          </p:cNvPr>
          <p:cNvPicPr>
            <a:picLocks noChangeAspect="1"/>
          </p:cNvPicPr>
          <p:nvPr/>
        </p:nvPicPr>
        <p:blipFill>
          <a:blip r:embed="rId9"/>
          <a:stretch>
            <a:fillRect/>
          </a:stretch>
        </p:blipFill>
        <p:spPr>
          <a:xfrm>
            <a:off x="6199038" y="5111309"/>
            <a:ext cx="2054530" cy="1743607"/>
          </a:xfrm>
          <a:prstGeom prst="rect">
            <a:avLst/>
          </a:prstGeom>
        </p:spPr>
      </p:pic>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398</Words>
  <Application>Microsoft Office PowerPoint</Application>
  <PresentationFormat>Widescreen</PresentationFormat>
  <Paragraphs>17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Nagendra B</cp:lastModifiedBy>
  <cp:revision>3</cp:revision>
  <dcterms:created xsi:type="dcterms:W3CDTF">2026-01-11T06:24:43Z</dcterms:created>
  <dcterms:modified xsi:type="dcterms:W3CDTF">2026-02-15T04:35:11Z</dcterms:modified>
</cp:coreProperties>
</file>