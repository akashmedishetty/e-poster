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280160"/>
          </a:xfrm>
          <a:custGeom>
            <a:avLst/>
            <a:gdLst/>
            <a:ahLst/>
            <a:cxnLst/>
            <a:rect l="l" t="t" r="r" b="b"/>
            <a:pathLst>
              <a:path w="12192000" h="1280160">
                <a:moveTo>
                  <a:pt x="12192000" y="0"/>
                </a:moveTo>
                <a:lnTo>
                  <a:pt x="0" y="0"/>
                </a:lnTo>
                <a:lnTo>
                  <a:pt x="0" y="1280160"/>
                </a:lnTo>
                <a:lnTo>
                  <a:pt x="12192000" y="12801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122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280160"/>
          </a:xfrm>
          <a:custGeom>
            <a:avLst/>
            <a:gdLst/>
            <a:ahLst/>
            <a:cxnLst/>
            <a:rect l="l" t="t" r="r" b="b"/>
            <a:pathLst>
              <a:path w="12192000" h="1280160">
                <a:moveTo>
                  <a:pt x="0" y="0"/>
                </a:moveTo>
                <a:lnTo>
                  <a:pt x="12192000" y="0"/>
                </a:lnTo>
                <a:lnTo>
                  <a:pt x="12192000" y="1280160"/>
                </a:lnTo>
                <a:lnTo>
                  <a:pt x="0" y="1280160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52565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06878" y="74821"/>
            <a:ext cx="1043153" cy="104315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47310" y="123390"/>
            <a:ext cx="884047" cy="88404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27894" y="192302"/>
            <a:ext cx="785939" cy="7859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36648" y="55605"/>
            <a:ext cx="2399665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83795" y="2688716"/>
            <a:ext cx="5770880" cy="2585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6648" y="55605"/>
            <a:ext cx="23996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Annual</a:t>
            </a:r>
            <a:r>
              <a:rPr dirty="0" spc="-65"/>
              <a:t> </a:t>
            </a:r>
            <a:r>
              <a:rPr dirty="0"/>
              <a:t>Conference</a:t>
            </a:r>
            <a:r>
              <a:rPr dirty="0" spc="-60"/>
              <a:t> </a:t>
            </a:r>
            <a:r>
              <a:rPr dirty="0" spc="-25"/>
              <a:t>of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73870" y="1975142"/>
            <a:ext cx="10367010" cy="3837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A</a:t>
            </a:r>
            <a:r>
              <a:rPr dirty="0" sz="2400" spc="-60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PROSPECTIVE</a:t>
            </a:r>
            <a:r>
              <a:rPr dirty="0" sz="2400" spc="-55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STUDY</a:t>
            </a:r>
            <a:r>
              <a:rPr dirty="0" sz="2400" spc="-55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OF</a:t>
            </a:r>
            <a:r>
              <a:rPr dirty="0" sz="2400" spc="-60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SURGICAL</a:t>
            </a:r>
            <a:r>
              <a:rPr dirty="0" sz="2400" spc="-55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MANAGEMENT</a:t>
            </a:r>
            <a:r>
              <a:rPr dirty="0" sz="2400" spc="-55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OF</a:t>
            </a:r>
            <a:r>
              <a:rPr dirty="0" sz="2400" spc="-60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45F82"/>
                </a:solidFill>
                <a:latin typeface="Arial"/>
                <a:cs typeface="Arial"/>
              </a:rPr>
              <a:t>CHRONIC </a:t>
            </a: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NEGLECTED</a:t>
            </a:r>
            <a:r>
              <a:rPr dirty="0" sz="2400" spc="-85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TENDOACHILLES</a:t>
            </a:r>
            <a:r>
              <a:rPr dirty="0" sz="2400" spc="-85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RUPTURE</a:t>
            </a:r>
            <a:r>
              <a:rPr dirty="0" sz="2400" spc="-85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WITH</a:t>
            </a:r>
            <a:r>
              <a:rPr dirty="0" sz="2400" spc="-85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TEUFFER</a:t>
            </a:r>
            <a:r>
              <a:rPr dirty="0" sz="2400" spc="-85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45F82"/>
                </a:solidFill>
                <a:latin typeface="Arial"/>
                <a:cs typeface="Arial"/>
              </a:rPr>
              <a:t>TECHNIQUE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2400">
              <a:latin typeface="Arial"/>
              <a:cs typeface="Arial"/>
            </a:endParaRPr>
          </a:p>
          <a:p>
            <a:pPr marL="2552700" marR="3017520" indent="-1440180">
              <a:lnSpc>
                <a:spcPct val="100000"/>
              </a:lnSpc>
            </a:pPr>
            <a:r>
              <a:rPr dirty="0" sz="2400" b="1">
                <a:latin typeface="Arial"/>
                <a:cs typeface="Arial"/>
              </a:rPr>
              <a:t>PRESENTER: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Dr.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BINGI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MAURYA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RAGHAV </a:t>
            </a:r>
            <a:r>
              <a:rPr dirty="0" sz="2400" b="1">
                <a:latin typeface="Arial"/>
                <a:cs typeface="Arial"/>
              </a:rPr>
              <a:t>(FINAL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YEAR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POST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GRADUATE)</a:t>
            </a:r>
            <a:endParaRPr sz="2400">
              <a:latin typeface="Arial"/>
              <a:cs typeface="Arial"/>
            </a:endParaRPr>
          </a:p>
          <a:p>
            <a:pPr marL="859155">
              <a:lnSpc>
                <a:spcPct val="100000"/>
              </a:lnSpc>
            </a:pPr>
            <a:r>
              <a:rPr dirty="0" sz="2400" b="1">
                <a:latin typeface="Arial"/>
                <a:cs typeface="Arial"/>
              </a:rPr>
              <a:t>GUIDE:</a:t>
            </a:r>
            <a:r>
              <a:rPr dirty="0" sz="2400" spc="-8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Dr.</a:t>
            </a:r>
            <a:r>
              <a:rPr dirty="0" sz="2400" spc="-8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CHINTAPETA</a:t>
            </a:r>
            <a:r>
              <a:rPr dirty="0" sz="2400" spc="-80" b="1">
                <a:latin typeface="Arial"/>
                <a:cs typeface="Arial"/>
              </a:rPr>
              <a:t> </a:t>
            </a:r>
            <a:r>
              <a:rPr dirty="0" sz="2400" spc="-20" b="1">
                <a:latin typeface="Arial"/>
                <a:cs typeface="Arial"/>
              </a:rPr>
              <a:t>RAVI</a:t>
            </a:r>
            <a:endParaRPr sz="2400">
              <a:latin typeface="Arial"/>
              <a:cs typeface="Arial"/>
            </a:endParaRPr>
          </a:p>
          <a:p>
            <a:pPr marL="12700" marR="2710815" indent="1947545">
              <a:lnSpc>
                <a:spcPct val="100000"/>
              </a:lnSpc>
            </a:pPr>
            <a:r>
              <a:rPr dirty="0" sz="2400" b="1">
                <a:latin typeface="Arial"/>
                <a:cs typeface="Arial"/>
              </a:rPr>
              <a:t>PROFESSOR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&amp;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HOD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DEPARTMENT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spc="-25" b="1">
                <a:latin typeface="Arial"/>
                <a:cs typeface="Arial"/>
              </a:rPr>
              <a:t>OF </a:t>
            </a:r>
            <a:r>
              <a:rPr dirty="0" sz="2400" spc="-10" b="1">
                <a:latin typeface="Arial"/>
                <a:cs typeface="Arial"/>
              </a:rPr>
              <a:t>ORTHOPAEDICS,</a:t>
            </a:r>
            <a:endParaRPr sz="2400">
              <a:latin typeface="Arial"/>
              <a:cs typeface="Arial"/>
            </a:endParaRPr>
          </a:p>
          <a:p>
            <a:pPr marL="1960245" marR="1611630">
              <a:lnSpc>
                <a:spcPct val="100000"/>
              </a:lnSpc>
            </a:pPr>
            <a:r>
              <a:rPr dirty="0" sz="2400" b="1">
                <a:latin typeface="Arial"/>
                <a:cs typeface="Arial"/>
              </a:rPr>
              <a:t>MAHAVIR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INSTITUTE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MEDICAL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SCIENCES, VIKARABAD.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6648" y="55605"/>
            <a:ext cx="23996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Annual</a:t>
            </a:r>
            <a:r>
              <a:rPr dirty="0" spc="-65"/>
              <a:t> </a:t>
            </a:r>
            <a:r>
              <a:rPr dirty="0"/>
              <a:t>Conference</a:t>
            </a:r>
            <a:r>
              <a:rPr dirty="0" spc="-60"/>
              <a:t> </a:t>
            </a:r>
            <a:r>
              <a:rPr dirty="0" spc="-25"/>
              <a:t>of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85804" y="1241349"/>
            <a:ext cx="11684635" cy="552323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algn="ctr" marR="1355725">
              <a:lnSpc>
                <a:spcPct val="100000"/>
              </a:lnSpc>
              <a:spcBef>
                <a:spcPts val="810"/>
              </a:spcBef>
            </a:pPr>
            <a:r>
              <a:rPr dirty="0" sz="2400" spc="-10" b="1">
                <a:solidFill>
                  <a:srgbClr val="145F82"/>
                </a:solidFill>
                <a:latin typeface="Arial"/>
                <a:cs typeface="Arial"/>
              </a:rPr>
              <a:t>INTRODUCTION</a:t>
            </a:r>
            <a:endParaRPr sz="2400">
              <a:latin typeface="Arial"/>
              <a:cs typeface="Arial"/>
            </a:endParaRPr>
          </a:p>
          <a:p>
            <a:pPr marL="240029" marR="5080" indent="-227329">
              <a:lnSpc>
                <a:spcPts val="2590"/>
              </a:lnSpc>
              <a:spcBef>
                <a:spcPts val="1040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Achilles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largest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most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powerful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ankle,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formed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from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the </a:t>
            </a:r>
            <a:r>
              <a:rPr dirty="0" sz="2400" spc="-25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fibers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two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muscle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units,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gastrocnemius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muscle,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soleus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muscle.</a:t>
            </a:r>
            <a:endParaRPr sz="2400">
              <a:latin typeface="Arial"/>
              <a:cs typeface="Arial"/>
            </a:endParaRPr>
          </a:p>
          <a:p>
            <a:pPr marL="240029" marR="154940" indent="-227329">
              <a:lnSpc>
                <a:spcPts val="259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Injuries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Achilles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relatively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common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middle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aged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athletes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one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of </a:t>
            </a:r>
            <a:r>
              <a:rPr dirty="0" sz="2400" spc="-25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most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common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ruptured.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injury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mechanism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usually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involves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eccentric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loading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dorsiflexed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ankle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knee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extended.</a:t>
            </a:r>
            <a:endParaRPr sz="2400">
              <a:latin typeface="Arial"/>
              <a:cs typeface="Arial"/>
            </a:endParaRPr>
          </a:p>
          <a:p>
            <a:pPr marL="241300" marR="203835" indent="-228600">
              <a:lnSpc>
                <a:spcPts val="2590"/>
              </a:lnSpc>
              <a:spcBef>
                <a:spcPts val="1005"/>
              </a:spcBef>
              <a:buChar char="•"/>
              <a:tabLst>
                <a:tab pos="241300" algn="l"/>
                <a:tab pos="325755" algn="l"/>
              </a:tabLst>
            </a:pPr>
            <a:r>
              <a:rPr dirty="0" sz="2400">
                <a:latin typeface="Arial"/>
                <a:cs typeface="Arial"/>
              </a:rPr>
              <a:t>	Achilles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rupture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diagnosed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4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6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weeks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after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injury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should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considered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a </a:t>
            </a:r>
            <a:r>
              <a:rPr dirty="0" sz="2400">
                <a:latin typeface="Arial"/>
                <a:cs typeface="Arial"/>
              </a:rPr>
              <a:t>chronic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rupture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these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more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difficult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treat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than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acute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injuries.</a:t>
            </a:r>
            <a:endParaRPr sz="2400">
              <a:latin typeface="Arial"/>
              <a:cs typeface="Arial"/>
            </a:endParaRPr>
          </a:p>
          <a:p>
            <a:pPr marL="240029" marR="1423670" indent="-227329">
              <a:lnSpc>
                <a:spcPts val="259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blood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supply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this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area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poor,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freshening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ends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is </a:t>
            </a:r>
            <a:r>
              <a:rPr dirty="0" sz="2400" spc="-25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necessary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when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they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shredded.</a:t>
            </a:r>
            <a:endParaRPr sz="2400">
              <a:latin typeface="Arial"/>
              <a:cs typeface="Arial"/>
            </a:endParaRPr>
          </a:p>
          <a:p>
            <a:pPr marL="240029" marR="26670" indent="-227329">
              <a:lnSpc>
                <a:spcPts val="259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Hence,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repair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Achilles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should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augmented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tendon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grafting,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transfer,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or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reinforcement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synthetic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materials.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the </a:t>
            </a:r>
            <a:r>
              <a:rPr dirty="0" sz="2400" spc="-25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flexor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hallucis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longus,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plantaris,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peroneus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brevis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used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augmentation.</a:t>
            </a:r>
            <a:endParaRPr sz="24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Char char="•"/>
              <a:tabLst>
                <a:tab pos="240029" algn="l"/>
              </a:tabLst>
            </a:pPr>
            <a:r>
              <a:rPr dirty="0" sz="2400">
                <a:latin typeface="Arial"/>
                <a:cs typeface="Arial"/>
              </a:rPr>
              <a:t>Peroneus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brevis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transfer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was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popularized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by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Perez-</a:t>
            </a:r>
            <a:r>
              <a:rPr dirty="0" sz="2400" spc="-10">
                <a:latin typeface="Arial"/>
                <a:cs typeface="Arial"/>
              </a:rPr>
              <a:t>Teuffer.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6648" y="55605"/>
            <a:ext cx="23996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Annual</a:t>
            </a:r>
            <a:r>
              <a:rPr dirty="0" spc="-65"/>
              <a:t> </a:t>
            </a:r>
            <a:r>
              <a:rPr dirty="0"/>
              <a:t>Conference</a:t>
            </a:r>
            <a:r>
              <a:rPr dirty="0" spc="-60"/>
              <a:t> </a:t>
            </a:r>
            <a:r>
              <a:rPr dirty="0" spc="-25"/>
              <a:t>of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3769" y="1271168"/>
            <a:ext cx="11971655" cy="4991735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algn="ctr" marR="1014730">
              <a:lnSpc>
                <a:spcPct val="100000"/>
              </a:lnSpc>
              <a:spcBef>
                <a:spcPts val="810"/>
              </a:spcBef>
            </a:pPr>
            <a:r>
              <a:rPr dirty="0" sz="2400" spc="-20" b="1">
                <a:solidFill>
                  <a:srgbClr val="145F82"/>
                </a:solidFill>
                <a:latin typeface="Arial"/>
                <a:cs typeface="Arial"/>
              </a:rPr>
              <a:t>AIMS</a:t>
            </a:r>
            <a:endParaRPr sz="2400">
              <a:latin typeface="Arial"/>
              <a:cs typeface="Arial"/>
            </a:endParaRPr>
          </a:p>
          <a:p>
            <a:pPr marL="240029" marR="259079" indent="-227329">
              <a:lnSpc>
                <a:spcPts val="2590"/>
              </a:lnSpc>
              <a:spcBef>
                <a:spcPts val="1040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study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functional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outcome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complications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associated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Teuffer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technique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chronic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degenerative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Achilles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rupture.</a:t>
            </a:r>
            <a:endParaRPr sz="2400">
              <a:latin typeface="Arial"/>
              <a:cs typeface="Arial"/>
            </a:endParaRPr>
          </a:p>
          <a:p>
            <a:pPr marL="3738245">
              <a:lnSpc>
                <a:spcPct val="100000"/>
              </a:lnSpc>
              <a:spcBef>
                <a:spcPts val="675"/>
              </a:spcBef>
            </a:pP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METHODS</a:t>
            </a:r>
            <a:r>
              <a:rPr dirty="0" sz="2400" spc="-35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&amp;</a:t>
            </a:r>
            <a:r>
              <a:rPr dirty="0" sz="2400" spc="-35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45F82"/>
                </a:solidFill>
                <a:latin typeface="Arial"/>
                <a:cs typeface="Arial"/>
              </a:rPr>
              <a:t>MATERIALS</a:t>
            </a:r>
            <a:endParaRPr sz="2400">
              <a:latin typeface="Arial"/>
              <a:cs typeface="Arial"/>
            </a:endParaRPr>
          </a:p>
          <a:p>
            <a:pPr marL="240029" marR="481965" indent="-227329">
              <a:lnSpc>
                <a:spcPts val="2590"/>
              </a:lnSpc>
              <a:spcBef>
                <a:spcPts val="1040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Prospective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study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conducted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at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Department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Orthopaedics,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Mahavir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Institute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Of </a:t>
            </a:r>
            <a:r>
              <a:rPr dirty="0" sz="2400" spc="-25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Medical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Sciences,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Vikarabad</a:t>
            </a:r>
            <a:endParaRPr sz="24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Char char="•"/>
              <a:tabLst>
                <a:tab pos="240029" algn="l"/>
              </a:tabLst>
            </a:pPr>
            <a:r>
              <a:rPr dirty="0" sz="2400">
                <a:latin typeface="Arial"/>
                <a:cs typeface="Arial"/>
              </a:rPr>
              <a:t>Study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Size:10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Patients</a:t>
            </a:r>
            <a:endParaRPr sz="24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715"/>
              </a:spcBef>
              <a:buChar char="•"/>
              <a:tabLst>
                <a:tab pos="240029" algn="l"/>
              </a:tabLst>
            </a:pPr>
            <a:r>
              <a:rPr dirty="0" sz="2400">
                <a:latin typeface="Arial"/>
                <a:cs typeface="Arial"/>
              </a:rPr>
              <a:t>Duration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Study: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September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2024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September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2025</a:t>
            </a:r>
            <a:endParaRPr sz="2400">
              <a:latin typeface="Arial"/>
              <a:cs typeface="Arial"/>
            </a:endParaRPr>
          </a:p>
          <a:p>
            <a:pPr marL="240029" marR="5080" indent="-227329">
              <a:lnSpc>
                <a:spcPts val="2590"/>
              </a:lnSpc>
              <a:spcBef>
                <a:spcPts val="1040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Inclusion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criteria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: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Age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group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between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&lt;60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years,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&gt;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4weeks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old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neglected-</a:t>
            </a:r>
            <a:r>
              <a:rPr dirty="0" sz="2400">
                <a:latin typeface="Arial"/>
                <a:cs typeface="Arial"/>
              </a:rPr>
              <a:t>rupture,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both </a:t>
            </a:r>
            <a:r>
              <a:rPr dirty="0" sz="2400" spc="-2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type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rupture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-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near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insertion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&amp;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watershed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area,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gap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&lt;5cm.</a:t>
            </a:r>
            <a:endParaRPr sz="2400">
              <a:latin typeface="Arial"/>
              <a:cs typeface="Arial"/>
            </a:endParaRPr>
          </a:p>
          <a:p>
            <a:pPr marL="240029" marR="219710" indent="-227329">
              <a:lnSpc>
                <a:spcPts val="259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Exclusion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criteria: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Age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&gt;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60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years,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acute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rupture,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associated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calcaneum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fracture,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gap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&gt;5cm,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foot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deformity,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Neuromuscular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deformity.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6648" y="55605"/>
            <a:ext cx="23996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Annual</a:t>
            </a:r>
            <a:r>
              <a:rPr dirty="0" spc="-65"/>
              <a:t> </a:t>
            </a:r>
            <a:r>
              <a:rPr dirty="0"/>
              <a:t>Conference</a:t>
            </a:r>
            <a:r>
              <a:rPr dirty="0" spc="-60"/>
              <a:t> </a:t>
            </a:r>
            <a:r>
              <a:rPr dirty="0" spc="-25"/>
              <a:t>of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987070" y="1385011"/>
            <a:ext cx="4870450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7691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145F82"/>
                </a:solidFill>
                <a:latin typeface="Arial"/>
                <a:cs typeface="Arial"/>
              </a:rPr>
              <a:t>Pre-</a:t>
            </a: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operative</a:t>
            </a:r>
            <a:r>
              <a:rPr dirty="0" sz="2400" spc="-85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45F82"/>
                </a:solidFill>
                <a:latin typeface="Arial"/>
                <a:cs typeface="Arial"/>
              </a:rPr>
              <a:t>procedure </a:t>
            </a:r>
            <a:r>
              <a:rPr dirty="0" sz="2400">
                <a:solidFill>
                  <a:srgbClr val="145F82"/>
                </a:solidFill>
                <a:latin typeface="Arial"/>
                <a:cs typeface="Arial"/>
              </a:rPr>
              <a:t>Clinical</a:t>
            </a:r>
            <a:r>
              <a:rPr dirty="0" sz="2400" spc="-110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45F82"/>
                </a:solidFill>
                <a:latin typeface="Arial"/>
                <a:cs typeface="Arial"/>
              </a:rPr>
              <a:t>presentation</a:t>
            </a:r>
            <a:r>
              <a:rPr dirty="0" sz="2400" spc="-95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Pain,</a:t>
            </a:r>
            <a:r>
              <a:rPr dirty="0" sz="2400" spc="-10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4E3A2F"/>
                </a:solidFill>
                <a:latin typeface="Arial"/>
                <a:cs typeface="Arial"/>
              </a:rPr>
              <a:t>snapping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sensation,</a:t>
            </a:r>
            <a:r>
              <a:rPr dirty="0" sz="2400" spc="-100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difficulty</a:t>
            </a:r>
            <a:r>
              <a:rPr dirty="0" sz="2400" spc="-9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in</a:t>
            </a:r>
            <a:r>
              <a:rPr dirty="0" sz="2400" spc="-9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walking</a:t>
            </a:r>
            <a:r>
              <a:rPr dirty="0" sz="2400" spc="-9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4E3A2F"/>
                </a:solidFill>
                <a:latin typeface="Arial"/>
                <a:cs typeface="Arial"/>
              </a:rPr>
              <a:t>and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inability</a:t>
            </a:r>
            <a:r>
              <a:rPr dirty="0" sz="2400" spc="-60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to</a:t>
            </a:r>
            <a:r>
              <a:rPr dirty="0" sz="2400" spc="-60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4E3A2F"/>
                </a:solidFill>
                <a:latin typeface="Arial"/>
                <a:cs typeface="Arial"/>
              </a:rPr>
              <a:t>run.</a:t>
            </a:r>
            <a:endParaRPr sz="2400">
              <a:latin typeface="Arial"/>
              <a:cs typeface="Arial"/>
            </a:endParaRPr>
          </a:p>
          <a:p>
            <a:pPr marL="240029" marR="491490" indent="-227329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dirty="0" sz="2400">
                <a:solidFill>
                  <a:srgbClr val="145F82"/>
                </a:solidFill>
                <a:latin typeface="Arial"/>
                <a:cs typeface="Arial"/>
              </a:rPr>
              <a:t>Clinical</a:t>
            </a:r>
            <a:r>
              <a:rPr dirty="0" sz="2400" spc="-120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45F82"/>
                </a:solidFill>
                <a:latin typeface="Arial"/>
                <a:cs typeface="Arial"/>
              </a:rPr>
              <a:t>examination</a:t>
            </a:r>
            <a:r>
              <a:rPr dirty="0" sz="2400" spc="-105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local</a:t>
            </a:r>
            <a:r>
              <a:rPr dirty="0" sz="2400" spc="-120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4E3A2F"/>
                </a:solidFill>
                <a:latin typeface="Arial"/>
                <a:cs typeface="Arial"/>
              </a:rPr>
              <a:t>site </a:t>
            </a:r>
            <a:r>
              <a:rPr dirty="0" sz="2400" spc="-20">
                <a:solidFill>
                  <a:srgbClr val="4E3A2F"/>
                </a:solidFill>
                <a:latin typeface="Arial"/>
                <a:cs typeface="Arial"/>
              </a:rPr>
              <a:t>	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tenderness,</a:t>
            </a:r>
            <a:r>
              <a:rPr dirty="0" sz="2400" spc="-9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inability</a:t>
            </a:r>
            <a:r>
              <a:rPr dirty="0" sz="2400" spc="-9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to</a:t>
            </a:r>
            <a:r>
              <a:rPr dirty="0" sz="2400" spc="-9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4E3A2F"/>
                </a:solidFill>
                <a:latin typeface="Arial"/>
                <a:cs typeface="Arial"/>
              </a:rPr>
              <a:t>actively </a:t>
            </a:r>
            <a:r>
              <a:rPr dirty="0" sz="2400" spc="-10">
                <a:solidFill>
                  <a:srgbClr val="4E3A2F"/>
                </a:solidFill>
                <a:latin typeface="Arial"/>
                <a:cs typeface="Arial"/>
              </a:rPr>
              <a:t>	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plantar</a:t>
            </a:r>
            <a:r>
              <a:rPr dirty="0" sz="2400" spc="-5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flex</a:t>
            </a:r>
            <a:r>
              <a:rPr dirty="0" sz="2400" spc="-50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the</a:t>
            </a:r>
            <a:r>
              <a:rPr dirty="0" sz="2400" spc="-5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4E3A2F"/>
                </a:solidFill>
                <a:latin typeface="Arial"/>
                <a:cs typeface="Arial"/>
              </a:rPr>
              <a:t>ankle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987070" y="3945331"/>
            <a:ext cx="4958080" cy="295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20840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2400">
                <a:solidFill>
                  <a:srgbClr val="145F82"/>
                </a:solidFill>
                <a:latin typeface="Arial"/>
                <a:cs typeface="Arial"/>
              </a:rPr>
              <a:t>Positive</a:t>
            </a:r>
            <a:r>
              <a:rPr dirty="0" sz="2400" spc="-125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45F82"/>
                </a:solidFill>
                <a:latin typeface="Arial"/>
                <a:cs typeface="Arial"/>
              </a:rPr>
              <a:t>Thompsons’</a:t>
            </a:r>
            <a:r>
              <a:rPr dirty="0" sz="2400" spc="-125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145F82"/>
                </a:solidFill>
                <a:latin typeface="Arial"/>
                <a:cs typeface="Arial"/>
              </a:rPr>
              <a:t>test </a:t>
            </a:r>
            <a:r>
              <a:rPr dirty="0" sz="2400">
                <a:solidFill>
                  <a:srgbClr val="145F82"/>
                </a:solidFill>
                <a:latin typeface="Arial"/>
                <a:cs typeface="Arial"/>
              </a:rPr>
              <a:t>&amp;O'Brian's</a:t>
            </a:r>
            <a:r>
              <a:rPr dirty="0" sz="2400" spc="-85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45F82"/>
                </a:solidFill>
                <a:latin typeface="Arial"/>
                <a:cs typeface="Arial"/>
              </a:rPr>
              <a:t>needle</a:t>
            </a:r>
            <a:r>
              <a:rPr dirty="0" sz="2400" spc="-85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145F82"/>
                </a:solidFill>
                <a:latin typeface="Arial"/>
                <a:cs typeface="Arial"/>
              </a:rPr>
              <a:t>test.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Palpable</a:t>
            </a:r>
            <a:r>
              <a:rPr dirty="0" sz="2400" spc="-70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defect</a:t>
            </a:r>
            <a:r>
              <a:rPr dirty="0" sz="2400" spc="-6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at</a:t>
            </a:r>
            <a:r>
              <a:rPr dirty="0" sz="2400" spc="-70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rupture</a:t>
            </a:r>
            <a:r>
              <a:rPr dirty="0" sz="2400" spc="-6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4E3A2F"/>
                </a:solidFill>
                <a:latin typeface="Arial"/>
                <a:cs typeface="Arial"/>
              </a:rPr>
              <a:t>site.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dirty="0" sz="2400">
                <a:solidFill>
                  <a:srgbClr val="145F82"/>
                </a:solidFill>
                <a:latin typeface="Arial"/>
                <a:cs typeface="Arial"/>
              </a:rPr>
              <a:t>Ankle</a:t>
            </a:r>
            <a:r>
              <a:rPr dirty="0" sz="2400" spc="-85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45F82"/>
                </a:solidFill>
                <a:latin typeface="Arial"/>
                <a:cs typeface="Arial"/>
              </a:rPr>
              <a:t>radiographs</a:t>
            </a:r>
            <a:r>
              <a:rPr dirty="0" sz="2400" spc="-85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were</a:t>
            </a:r>
            <a:r>
              <a:rPr dirty="0" sz="2400" spc="-8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4E3A2F"/>
                </a:solidFill>
                <a:latin typeface="Arial"/>
                <a:cs typeface="Arial"/>
              </a:rPr>
              <a:t>obtained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to</a:t>
            </a:r>
            <a:r>
              <a:rPr dirty="0" sz="2400" spc="-6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rule</a:t>
            </a:r>
            <a:r>
              <a:rPr dirty="0" sz="2400" spc="-6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out</a:t>
            </a:r>
            <a:r>
              <a:rPr dirty="0" sz="2400" spc="-60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calcaneal</a:t>
            </a:r>
            <a:r>
              <a:rPr dirty="0" sz="2400" spc="-6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fractures</a:t>
            </a:r>
            <a:r>
              <a:rPr dirty="0" sz="2400" spc="-6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4E3A2F"/>
                </a:solidFill>
                <a:latin typeface="Arial"/>
                <a:cs typeface="Arial"/>
              </a:rPr>
              <a:t>and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USG</a:t>
            </a:r>
            <a:r>
              <a:rPr dirty="0" sz="2400" spc="-70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to</a:t>
            </a:r>
            <a:r>
              <a:rPr dirty="0" sz="2400" spc="-70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confirm</a:t>
            </a:r>
            <a:r>
              <a:rPr dirty="0" sz="2400" spc="-6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complete</a:t>
            </a:r>
            <a:r>
              <a:rPr dirty="0" sz="2400" spc="-70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4E3A2F"/>
                </a:solidFill>
                <a:latin typeface="Arial"/>
                <a:cs typeface="Arial"/>
              </a:rPr>
              <a:t>rupture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and</a:t>
            </a:r>
            <a:r>
              <a:rPr dirty="0" sz="2400" spc="-80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gap</a:t>
            </a:r>
            <a:r>
              <a:rPr dirty="0" sz="2400" spc="-80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between</a:t>
            </a:r>
            <a:r>
              <a:rPr dirty="0" sz="2400" spc="-80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rupture</a:t>
            </a:r>
            <a:r>
              <a:rPr dirty="0" sz="2400" spc="-80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4E3A2F"/>
                </a:solidFill>
                <a:latin typeface="Arial"/>
                <a:cs typeface="Arial"/>
              </a:rPr>
              <a:t>ends.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Written</a:t>
            </a:r>
            <a:r>
              <a:rPr dirty="0" sz="2400" spc="-9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E3A2F"/>
                </a:solidFill>
                <a:latin typeface="Arial"/>
                <a:cs typeface="Arial"/>
              </a:rPr>
              <a:t>informed</a:t>
            </a:r>
            <a:r>
              <a:rPr dirty="0" sz="2400" spc="-95">
                <a:solidFill>
                  <a:srgbClr val="4E3A2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4E3A2F"/>
                </a:solidFill>
                <a:latin typeface="Arial"/>
                <a:cs typeface="Arial"/>
              </a:rPr>
              <a:t>consent.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572831"/>
            <a:ext cx="6908330" cy="528516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11035" y="1385011"/>
            <a:ext cx="2546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45F82"/>
                </a:solidFill>
                <a:latin typeface="Arial"/>
                <a:cs typeface="Arial"/>
              </a:rPr>
              <a:t>DEMOGRAPHICS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6648" y="55605"/>
            <a:ext cx="23996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Annual</a:t>
            </a:r>
            <a:r>
              <a:rPr dirty="0" spc="-65"/>
              <a:t> </a:t>
            </a:r>
            <a:r>
              <a:rPr dirty="0"/>
              <a:t>Conference</a:t>
            </a:r>
            <a:r>
              <a:rPr dirty="0" spc="-60"/>
              <a:t> </a:t>
            </a:r>
            <a:r>
              <a:rPr dirty="0" spc="-25"/>
              <a:t>of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60814" y="14254"/>
            <a:ext cx="11631295" cy="6844030"/>
            <a:chOff x="560814" y="14254"/>
            <a:chExt cx="11631295" cy="684403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814" y="14254"/>
              <a:ext cx="1505559" cy="128016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7647" y="1294536"/>
              <a:ext cx="4294352" cy="5563463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78738" y="1282153"/>
            <a:ext cx="7896859" cy="5420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20"/>
              </a:lnSpc>
              <a:spcBef>
                <a:spcPts val="100"/>
              </a:spcBef>
            </a:pP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SURGICAL</a:t>
            </a:r>
            <a:r>
              <a:rPr dirty="0" sz="2400" spc="-75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TECHNIQUE</a:t>
            </a:r>
            <a:r>
              <a:rPr dirty="0" sz="2400" spc="-75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45F82"/>
                </a:solidFill>
                <a:latin typeface="Arial"/>
                <a:cs typeface="Arial"/>
              </a:rPr>
              <a:t>&amp;POST-</a:t>
            </a:r>
            <a:r>
              <a:rPr dirty="0" sz="2400" b="1">
                <a:solidFill>
                  <a:srgbClr val="145F82"/>
                </a:solidFill>
                <a:latin typeface="Arial"/>
                <a:cs typeface="Arial"/>
              </a:rPr>
              <a:t>OP</a:t>
            </a:r>
            <a:r>
              <a:rPr dirty="0" sz="2400" spc="-70" b="1">
                <a:solidFill>
                  <a:srgbClr val="145F8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45F82"/>
                </a:solidFill>
                <a:latin typeface="Arial"/>
                <a:cs typeface="Arial"/>
              </a:rPr>
              <a:t>PROTOCOL</a:t>
            </a:r>
            <a:endParaRPr sz="2400">
              <a:latin typeface="Arial"/>
              <a:cs typeface="Arial"/>
            </a:endParaRPr>
          </a:p>
          <a:p>
            <a:pPr marL="203200" indent="-190500">
              <a:lnSpc>
                <a:spcPts val="2520"/>
              </a:lnSpc>
              <a:buChar char="•"/>
              <a:tabLst>
                <a:tab pos="203200" algn="l"/>
              </a:tabLst>
            </a:pPr>
            <a:r>
              <a:rPr dirty="0" sz="2400">
                <a:latin typeface="Arial"/>
                <a:cs typeface="Arial"/>
              </a:rPr>
              <a:t>Patient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prone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position;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Achilles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exposed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via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spc="-10">
                <a:latin typeface="Arial"/>
                <a:cs typeface="Arial"/>
              </a:rPr>
              <a:t>posterolateral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incision,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sural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nerve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identified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protected</a:t>
            </a:r>
            <a:endParaRPr sz="2400">
              <a:latin typeface="Arial"/>
              <a:cs typeface="Arial"/>
            </a:endParaRPr>
          </a:p>
          <a:p>
            <a:pPr marL="12700" marR="434975" indent="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dirty="0" sz="2400">
                <a:latin typeface="Arial"/>
                <a:cs typeface="Arial"/>
              </a:rPr>
              <a:t>Peroneus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brevis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detached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at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insertion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through </a:t>
            </a:r>
            <a:r>
              <a:rPr dirty="0" sz="2400">
                <a:latin typeface="Arial"/>
                <a:cs typeface="Arial"/>
              </a:rPr>
              <a:t>separate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incision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transferred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primary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wound</a:t>
            </a:r>
            <a:endParaRPr sz="2400">
              <a:latin typeface="Arial"/>
              <a:cs typeface="Arial"/>
            </a:endParaRPr>
          </a:p>
          <a:p>
            <a:pPr marL="12700" marR="469900" indent="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dirty="0" sz="2400">
                <a:latin typeface="Arial"/>
                <a:cs typeface="Arial"/>
              </a:rPr>
              <a:t>Scarred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ends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Achilles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excised;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primary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repair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done </a:t>
            </a:r>
            <a:r>
              <a:rPr dirty="0" sz="2400">
                <a:latin typeface="Arial"/>
                <a:cs typeface="Arial"/>
              </a:rPr>
              <a:t>using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modified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Kessler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technique.</a:t>
            </a:r>
            <a:endParaRPr sz="2400">
              <a:latin typeface="Arial"/>
              <a:cs typeface="Arial"/>
            </a:endParaRPr>
          </a:p>
          <a:p>
            <a:pPr algn="just" marL="12700" marR="640715" indent="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dirty="0" sz="2400">
                <a:latin typeface="Arial"/>
                <a:cs typeface="Arial"/>
              </a:rPr>
              <a:t>Calcaneal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tuberosity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drilled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(4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mm),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peroneus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brevis </a:t>
            </a:r>
            <a:r>
              <a:rPr dirty="0" sz="2400">
                <a:latin typeface="Arial"/>
                <a:cs typeface="Arial"/>
              </a:rPr>
              <a:t>passed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through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hole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lateral-to-</a:t>
            </a:r>
            <a:r>
              <a:rPr dirty="0" sz="2400">
                <a:latin typeface="Arial"/>
                <a:cs typeface="Arial"/>
              </a:rPr>
              <a:t>medial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sutured </a:t>
            </a:r>
            <a:r>
              <a:rPr dirty="0" sz="2400">
                <a:latin typeface="Arial"/>
                <a:cs typeface="Arial"/>
              </a:rPr>
              <a:t>proximally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form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dynamic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loop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augmentation</a:t>
            </a:r>
            <a:endParaRPr sz="2400">
              <a:latin typeface="Arial"/>
              <a:cs typeface="Arial"/>
            </a:endParaRPr>
          </a:p>
          <a:p>
            <a:pPr algn="just" marL="12700" marR="562610">
              <a:lnSpc>
                <a:spcPct val="100000"/>
              </a:lnSpc>
            </a:pPr>
            <a:r>
              <a:rPr dirty="0" sz="2400" spc="-10">
                <a:latin typeface="Arial"/>
                <a:cs typeface="Arial"/>
              </a:rPr>
              <a:t>•Immobilization: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Above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knee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cast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×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4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weeks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10–15° </a:t>
            </a:r>
            <a:r>
              <a:rPr dirty="0" sz="2400">
                <a:latin typeface="Arial"/>
                <a:cs typeface="Arial"/>
              </a:rPr>
              <a:t>plantar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flexion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→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neutral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cast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×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4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weeks</a:t>
            </a:r>
            <a:endParaRPr sz="2400">
              <a:latin typeface="Arial"/>
              <a:cs typeface="Arial"/>
            </a:endParaRP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dirty="0" sz="2400">
                <a:latin typeface="Arial"/>
                <a:cs typeface="Arial"/>
              </a:rPr>
              <a:t>Weight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bearing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from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6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weeks;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cast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removed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at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8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weeks</a:t>
            </a:r>
            <a:endParaRPr sz="2400">
              <a:latin typeface="Arial"/>
              <a:cs typeface="Arial"/>
            </a:endParaRPr>
          </a:p>
          <a:p>
            <a:pPr marL="12700" marR="897255" indent="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dirty="0" sz="2400">
                <a:latin typeface="Arial"/>
                <a:cs typeface="Arial"/>
              </a:rPr>
              <a:t>Progressive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rehabilitation;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sports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restricted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5–6 </a:t>
            </a:r>
            <a:r>
              <a:rPr dirty="0" sz="2400" spc="-10">
                <a:latin typeface="Arial"/>
                <a:cs typeface="Arial"/>
              </a:rPr>
              <a:t>months.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6648" y="55605"/>
            <a:ext cx="23996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Annual</a:t>
            </a:r>
            <a:r>
              <a:rPr dirty="0" spc="-65"/>
              <a:t> </a:t>
            </a:r>
            <a:r>
              <a:rPr dirty="0"/>
              <a:t>Conference</a:t>
            </a:r>
            <a:r>
              <a:rPr dirty="0" spc="-60"/>
              <a:t> </a:t>
            </a:r>
            <a:r>
              <a:rPr dirty="0" spc="-25"/>
              <a:t>of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9715" y="1206043"/>
            <a:ext cx="5756275" cy="4281805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algn="ctr" marR="574675">
              <a:lnSpc>
                <a:spcPct val="100000"/>
              </a:lnSpc>
              <a:spcBef>
                <a:spcPts val="810"/>
              </a:spcBef>
            </a:pPr>
            <a:r>
              <a:rPr dirty="0" sz="2400" spc="-10" b="1">
                <a:solidFill>
                  <a:srgbClr val="145F82"/>
                </a:solidFill>
                <a:latin typeface="Arial"/>
                <a:cs typeface="Arial"/>
              </a:rPr>
              <a:t>RESULTS</a:t>
            </a:r>
            <a:endParaRPr sz="2400">
              <a:latin typeface="Arial"/>
              <a:cs typeface="Arial"/>
            </a:endParaRPr>
          </a:p>
          <a:p>
            <a:pPr marL="240029" marR="1052830" indent="-227329">
              <a:lnSpc>
                <a:spcPts val="2590"/>
              </a:lnSpc>
              <a:spcBef>
                <a:spcPts val="1040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All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patients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were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examined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using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objective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subjective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criteria.</a:t>
            </a:r>
            <a:endParaRPr sz="2400">
              <a:latin typeface="Arial"/>
              <a:cs typeface="Arial"/>
            </a:endParaRPr>
          </a:p>
          <a:p>
            <a:pPr marL="240029" marR="5080" indent="-227329">
              <a:lnSpc>
                <a:spcPts val="259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Objective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criteria-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Ankle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range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motion, 	Neurological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status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foot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were </a:t>
            </a:r>
            <a:r>
              <a:rPr dirty="0" sz="2400" spc="-2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examined&amp;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toe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raise</a:t>
            </a:r>
            <a:endParaRPr sz="2400">
              <a:latin typeface="Arial"/>
              <a:cs typeface="Arial"/>
            </a:endParaRPr>
          </a:p>
          <a:p>
            <a:pPr marL="240029" marR="275590" indent="-227329">
              <a:lnSpc>
                <a:spcPts val="259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Subjective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criteria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-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Rupp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score,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as </a:t>
            </a:r>
            <a:r>
              <a:rPr dirty="0" sz="2400" spc="-25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modified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by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Kerkhoff's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et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al.</a:t>
            </a:r>
            <a:endParaRPr sz="2400">
              <a:latin typeface="Arial"/>
              <a:cs typeface="Arial"/>
            </a:endParaRPr>
          </a:p>
          <a:p>
            <a:pPr marL="240029" marR="393700" indent="-227329">
              <a:lnSpc>
                <a:spcPts val="259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Results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were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rated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excellent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(&gt;30 </a:t>
            </a:r>
            <a:r>
              <a:rPr dirty="0" sz="2400" spc="-2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points),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good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(15-</a:t>
            </a:r>
            <a:r>
              <a:rPr dirty="0" sz="2400">
                <a:latin typeface="Arial"/>
                <a:cs typeface="Arial"/>
              </a:rPr>
              <a:t>30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points),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fair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(5-</a:t>
            </a:r>
            <a:r>
              <a:rPr dirty="0" sz="2400" spc="-25">
                <a:latin typeface="Arial"/>
                <a:cs typeface="Arial"/>
              </a:rPr>
              <a:t>15 </a:t>
            </a:r>
            <a:r>
              <a:rPr dirty="0" sz="2400" spc="-25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points)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poor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(&lt;5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points)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306474"/>
            <a:ext cx="12192000" cy="55510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6648" y="55605"/>
            <a:ext cx="23996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Annual</a:t>
            </a:r>
            <a:r>
              <a:rPr dirty="0" spc="-65"/>
              <a:t> </a:t>
            </a:r>
            <a:r>
              <a:rPr dirty="0"/>
              <a:t>Conference</a:t>
            </a:r>
            <a:r>
              <a:rPr dirty="0" spc="-60"/>
              <a:t> </a:t>
            </a:r>
            <a:r>
              <a:rPr dirty="0" spc="-25"/>
              <a:t>of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8738" y="2605074"/>
            <a:ext cx="5688330" cy="393700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1300" marR="681990">
              <a:lnSpc>
                <a:spcPts val="2590"/>
              </a:lnSpc>
              <a:spcBef>
                <a:spcPts val="425"/>
              </a:spcBef>
            </a:pPr>
            <a:r>
              <a:rPr dirty="0" sz="2400">
                <a:latin typeface="Arial"/>
                <a:cs typeface="Arial"/>
              </a:rPr>
              <a:t>injection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inflammatory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lesions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of 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or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around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tendon.</a:t>
            </a:r>
            <a:endParaRPr sz="2400">
              <a:latin typeface="Arial"/>
              <a:cs typeface="Arial"/>
            </a:endParaRPr>
          </a:p>
          <a:p>
            <a:pPr marL="240029" marR="5080" indent="-227329">
              <a:lnSpc>
                <a:spcPts val="259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Results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reconstruction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Achilles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ruptures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using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peroneus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brevis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show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strong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stable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repair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that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allows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early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weight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bearing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ambulation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favorable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clinical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results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most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patients.</a:t>
            </a:r>
            <a:endParaRPr sz="2400">
              <a:latin typeface="Arial"/>
              <a:cs typeface="Arial"/>
            </a:endParaRPr>
          </a:p>
          <a:p>
            <a:pPr algn="just" marL="240029" marR="309880" indent="-227329">
              <a:lnSpc>
                <a:spcPts val="2590"/>
              </a:lnSpc>
              <a:spcBef>
                <a:spcPts val="1015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Care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must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be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taken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prevent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wound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problems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deep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infection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that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can </a:t>
            </a:r>
            <a:r>
              <a:rPr dirty="0" sz="2400" spc="-25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necessitate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more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extensive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dissection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8738" y="1157401"/>
            <a:ext cx="6398895" cy="1510030"/>
          </a:xfrm>
          <a:prstGeom prst="rect">
            <a:avLst/>
          </a:prstGeom>
        </p:spPr>
        <p:txBody>
          <a:bodyPr wrap="square" lIns="0" tIns="224154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764"/>
              </a:spcBef>
            </a:pPr>
            <a:r>
              <a:rPr dirty="0" sz="2400" spc="-10" b="1">
                <a:solidFill>
                  <a:srgbClr val="145F82"/>
                </a:solidFill>
                <a:latin typeface="Arial"/>
                <a:cs typeface="Arial"/>
              </a:rPr>
              <a:t>CONCLUSION</a:t>
            </a:r>
            <a:endParaRPr sz="2400">
              <a:latin typeface="Arial"/>
              <a:cs typeface="Arial"/>
            </a:endParaRPr>
          </a:p>
          <a:p>
            <a:pPr marL="240029" marR="1610360" indent="-227329">
              <a:lnSpc>
                <a:spcPts val="2590"/>
              </a:lnSpc>
              <a:spcBef>
                <a:spcPts val="1995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There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increased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risk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Achilles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rupture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after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local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steroid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marR="10604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pc="-10"/>
              <a:t>Disadvantages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procedure</a:t>
            </a:r>
            <a:r>
              <a:rPr dirty="0" spc="-60"/>
              <a:t> </a:t>
            </a:r>
            <a:r>
              <a:rPr dirty="0" spc="-10"/>
              <a:t>should </a:t>
            </a:r>
            <a:r>
              <a:rPr dirty="0"/>
              <a:t>be</a:t>
            </a:r>
            <a:r>
              <a:rPr dirty="0" spc="-65"/>
              <a:t> </a:t>
            </a:r>
            <a:r>
              <a:rPr dirty="0"/>
              <a:t>shared</a:t>
            </a:r>
            <a:r>
              <a:rPr dirty="0" spc="-65"/>
              <a:t> </a:t>
            </a:r>
            <a:r>
              <a:rPr dirty="0"/>
              <a:t>in</a:t>
            </a:r>
            <a:r>
              <a:rPr dirty="0" spc="-65"/>
              <a:t> </a:t>
            </a:r>
            <a:r>
              <a:rPr dirty="0"/>
              <a:t>detail</a:t>
            </a:r>
            <a:r>
              <a:rPr dirty="0" spc="-60"/>
              <a:t> </a:t>
            </a:r>
            <a:r>
              <a:rPr dirty="0"/>
              <a:t>with</a:t>
            </a:r>
            <a:r>
              <a:rPr dirty="0" spc="-65"/>
              <a:t> </a:t>
            </a:r>
            <a:r>
              <a:rPr dirty="0"/>
              <a:t>patients</a:t>
            </a:r>
            <a:r>
              <a:rPr dirty="0" spc="-65"/>
              <a:t> </a:t>
            </a:r>
            <a:r>
              <a:rPr dirty="0" spc="-20"/>
              <a:t>when </a:t>
            </a:r>
            <a:r>
              <a:rPr dirty="0"/>
              <a:t>obtaining</a:t>
            </a:r>
            <a:r>
              <a:rPr dirty="0" spc="-130"/>
              <a:t> </a:t>
            </a:r>
            <a:r>
              <a:rPr dirty="0"/>
              <a:t>informed</a:t>
            </a:r>
            <a:r>
              <a:rPr dirty="0" spc="-130"/>
              <a:t> </a:t>
            </a:r>
            <a:r>
              <a:rPr dirty="0" spc="-10"/>
              <a:t>consent.</a:t>
            </a: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Char char="•"/>
            </a:pPr>
          </a:p>
          <a:p>
            <a:pPr algn="just" marL="353060" marR="5080" indent="-34036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dirty="0"/>
              <a:t>Further</a:t>
            </a:r>
            <a:r>
              <a:rPr dirty="0" spc="-65"/>
              <a:t> </a:t>
            </a:r>
            <a:r>
              <a:rPr dirty="0"/>
              <a:t>studies</a:t>
            </a:r>
            <a:r>
              <a:rPr dirty="0" spc="-65"/>
              <a:t> </a:t>
            </a:r>
            <a:r>
              <a:rPr dirty="0"/>
              <a:t>that</a:t>
            </a:r>
            <a:r>
              <a:rPr dirty="0" spc="-65"/>
              <a:t> </a:t>
            </a:r>
            <a:r>
              <a:rPr dirty="0"/>
              <a:t>include</a:t>
            </a:r>
            <a:r>
              <a:rPr dirty="0" spc="-65"/>
              <a:t> </a:t>
            </a:r>
            <a:r>
              <a:rPr dirty="0" spc="-10"/>
              <a:t>professional </a:t>
            </a:r>
            <a:r>
              <a:rPr dirty="0" spc="-10"/>
              <a:t>	</a:t>
            </a:r>
            <a:r>
              <a:rPr dirty="0"/>
              <a:t>athletes</a:t>
            </a:r>
            <a:r>
              <a:rPr dirty="0" spc="-75"/>
              <a:t> </a:t>
            </a:r>
            <a:r>
              <a:rPr dirty="0"/>
              <a:t>should</a:t>
            </a:r>
            <a:r>
              <a:rPr dirty="0" spc="-75"/>
              <a:t> </a:t>
            </a:r>
            <a:r>
              <a:rPr dirty="0"/>
              <a:t>be</a:t>
            </a:r>
            <a:r>
              <a:rPr dirty="0" spc="-75"/>
              <a:t> </a:t>
            </a:r>
            <a:r>
              <a:rPr dirty="0"/>
              <a:t>performed</a:t>
            </a:r>
            <a:r>
              <a:rPr dirty="0" spc="-75"/>
              <a:t> </a:t>
            </a:r>
            <a:r>
              <a:rPr dirty="0"/>
              <a:t>to</a:t>
            </a:r>
            <a:r>
              <a:rPr dirty="0" spc="-70"/>
              <a:t> </a:t>
            </a:r>
            <a:r>
              <a:rPr dirty="0" spc="-10"/>
              <a:t>confirm </a:t>
            </a:r>
            <a:r>
              <a:rPr dirty="0" spc="-10"/>
              <a:t>	</a:t>
            </a:r>
            <a:r>
              <a:rPr dirty="0"/>
              <a:t>efficacy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this</a:t>
            </a:r>
            <a:r>
              <a:rPr dirty="0" spc="-60"/>
              <a:t> </a:t>
            </a:r>
            <a:r>
              <a:rPr dirty="0"/>
              <a:t>augmented</a:t>
            </a:r>
            <a:r>
              <a:rPr dirty="0" spc="-65"/>
              <a:t> </a:t>
            </a:r>
            <a:r>
              <a:rPr dirty="0" spc="-10"/>
              <a:t>technique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6648" y="55605"/>
            <a:ext cx="23996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Annual</a:t>
            </a:r>
            <a:r>
              <a:rPr dirty="0" spc="-65"/>
              <a:t> </a:t>
            </a:r>
            <a:r>
              <a:rPr dirty="0"/>
              <a:t>Conference</a:t>
            </a:r>
            <a:r>
              <a:rPr dirty="0" spc="-60"/>
              <a:t> </a:t>
            </a:r>
            <a:r>
              <a:rPr dirty="0" spc="-25"/>
              <a:t>of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67582" y="1184275"/>
            <a:ext cx="11745595" cy="5643245"/>
          </a:xfrm>
          <a:prstGeom prst="rect">
            <a:avLst/>
          </a:prstGeom>
        </p:spPr>
        <p:txBody>
          <a:bodyPr wrap="square" lIns="0" tIns="226695" rIns="0" bIns="0" rtlCol="0" vert="horz">
            <a:spAutoFit/>
          </a:bodyPr>
          <a:lstStyle/>
          <a:p>
            <a:pPr algn="ctr" marR="1340485">
              <a:lnSpc>
                <a:spcPct val="100000"/>
              </a:lnSpc>
              <a:spcBef>
                <a:spcPts val="1785"/>
              </a:spcBef>
            </a:pPr>
            <a:r>
              <a:rPr dirty="0" sz="2400" spc="-10" b="1">
                <a:solidFill>
                  <a:srgbClr val="145F82"/>
                </a:solidFill>
                <a:latin typeface="Arial"/>
                <a:cs typeface="Arial"/>
              </a:rPr>
              <a:t>REFERENCES</a:t>
            </a:r>
            <a:endParaRPr sz="2400">
              <a:latin typeface="Arial"/>
              <a:cs typeface="Arial"/>
            </a:endParaRPr>
          </a:p>
          <a:p>
            <a:pPr marL="12700" marR="5080" indent="337185">
              <a:lnSpc>
                <a:spcPts val="2590"/>
              </a:lnSpc>
              <a:spcBef>
                <a:spcPts val="2010"/>
              </a:spcBef>
              <a:buAutoNum type="arabicPeriod"/>
              <a:tabLst>
                <a:tab pos="349885" algn="l"/>
              </a:tabLst>
            </a:pPr>
            <a:r>
              <a:rPr dirty="0" sz="2400">
                <a:latin typeface="Arial"/>
                <a:cs typeface="Arial"/>
              </a:rPr>
              <a:t>Demirel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M,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Turhan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E,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Dereboy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F,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Yazar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T.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Augmented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repair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acute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Achilles </a:t>
            </a:r>
            <a:r>
              <a:rPr dirty="0" sz="2400">
                <a:latin typeface="Arial"/>
                <a:cs typeface="Arial"/>
              </a:rPr>
              <a:t>ruptures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gastrosoleus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turn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down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flap.Indian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J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Orthop.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2011;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45(1):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45-52.</a:t>
            </a:r>
            <a:endParaRPr sz="2400">
              <a:latin typeface="Arial"/>
              <a:cs typeface="Arial"/>
            </a:endParaRPr>
          </a:p>
          <a:p>
            <a:pPr marL="12700" marR="601345" indent="337185">
              <a:lnSpc>
                <a:spcPts val="2590"/>
              </a:lnSpc>
              <a:spcBef>
                <a:spcPts val="1005"/>
              </a:spcBef>
              <a:buAutoNum type="arabicPeriod"/>
              <a:tabLst>
                <a:tab pos="349885" algn="l"/>
              </a:tabLst>
            </a:pPr>
            <a:r>
              <a:rPr dirty="0" sz="2400">
                <a:latin typeface="Arial"/>
                <a:cs typeface="Arial"/>
              </a:rPr>
              <a:t>Perez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Teuffer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A.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Traumatic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rupture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Achilles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Tendon.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Reconstruction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by </a:t>
            </a:r>
            <a:r>
              <a:rPr dirty="0" sz="2400">
                <a:latin typeface="Arial"/>
                <a:cs typeface="Arial"/>
              </a:rPr>
              <a:t>transplant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graft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using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lateral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peroneus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brevis.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Orthop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Clin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North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Am.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1974; </a:t>
            </a:r>
            <a:r>
              <a:rPr dirty="0" sz="2400">
                <a:latin typeface="Arial"/>
                <a:cs typeface="Arial"/>
              </a:rPr>
              <a:t>5(1):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89-93.</a:t>
            </a:r>
            <a:endParaRPr sz="2400">
              <a:latin typeface="Arial"/>
              <a:cs typeface="Arial"/>
            </a:endParaRPr>
          </a:p>
          <a:p>
            <a:pPr algn="just" marL="12700" marR="666750" indent="337185">
              <a:lnSpc>
                <a:spcPts val="2590"/>
              </a:lnSpc>
              <a:spcBef>
                <a:spcPts val="1005"/>
              </a:spcBef>
              <a:buAutoNum type="arabicPeriod"/>
              <a:tabLst>
                <a:tab pos="349885" algn="l"/>
              </a:tabLst>
            </a:pPr>
            <a:r>
              <a:rPr dirty="0" sz="2400">
                <a:latin typeface="Arial"/>
                <a:cs typeface="Arial"/>
              </a:rPr>
              <a:t>Kerkhoffs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GM,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Struijs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PA,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Raaymakers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EL,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Marti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RK.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Functional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treatment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after </a:t>
            </a:r>
            <a:r>
              <a:rPr dirty="0" sz="2400">
                <a:latin typeface="Arial"/>
                <a:cs typeface="Arial"/>
              </a:rPr>
              <a:t>surgical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repair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acute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Achilles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tendon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rupture: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wrap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walking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cast.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Arch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Orthop </a:t>
            </a:r>
            <a:r>
              <a:rPr dirty="0" sz="2400">
                <a:latin typeface="Arial"/>
                <a:cs typeface="Arial"/>
              </a:rPr>
              <a:t>Trauma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Surg.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2002;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122(2):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102-5.</a:t>
            </a:r>
            <a:endParaRPr sz="2400">
              <a:latin typeface="Arial"/>
              <a:cs typeface="Arial"/>
            </a:endParaRPr>
          </a:p>
          <a:p>
            <a:pPr algn="just" marL="12700" marR="160020" indent="337185">
              <a:lnSpc>
                <a:spcPts val="2590"/>
              </a:lnSpc>
              <a:spcBef>
                <a:spcPts val="1005"/>
              </a:spcBef>
              <a:buAutoNum type="arabicPeriod"/>
              <a:tabLst>
                <a:tab pos="349885" algn="l"/>
              </a:tabLst>
            </a:pPr>
            <a:r>
              <a:rPr dirty="0" sz="2400">
                <a:latin typeface="Arial"/>
                <a:cs typeface="Arial"/>
              </a:rPr>
              <a:t>Kannus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P,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Józsa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L.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Histopathological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changes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preceding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spontaneous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rupture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a </a:t>
            </a:r>
            <a:r>
              <a:rPr dirty="0" sz="2400">
                <a:latin typeface="Arial"/>
                <a:cs typeface="Arial"/>
              </a:rPr>
              <a:t>tendon.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controlled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study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891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patients.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J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Bone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Joint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Surg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Am.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1991;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73(10):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1507- </a:t>
            </a:r>
            <a:r>
              <a:rPr dirty="0" sz="2400" spc="-25">
                <a:latin typeface="Arial"/>
                <a:cs typeface="Arial"/>
              </a:rPr>
              <a:t>25.</a:t>
            </a:r>
            <a:endParaRPr sz="2400">
              <a:latin typeface="Arial"/>
              <a:cs typeface="Arial"/>
            </a:endParaRPr>
          </a:p>
          <a:p>
            <a:pPr algn="just" marL="12700" marR="683895" indent="337185">
              <a:lnSpc>
                <a:spcPts val="2590"/>
              </a:lnSpc>
              <a:spcBef>
                <a:spcPts val="1005"/>
              </a:spcBef>
              <a:buAutoNum type="arabicPeriod"/>
              <a:tabLst>
                <a:tab pos="349885" algn="l"/>
              </a:tabLst>
            </a:pPr>
            <a:r>
              <a:rPr dirty="0" sz="2400">
                <a:latin typeface="Arial"/>
                <a:cs typeface="Arial"/>
              </a:rPr>
              <a:t>Zafar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MS,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Mahmood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A,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Maffulli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N.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Basic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science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clinical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aspects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achilles </a:t>
            </a:r>
            <a:r>
              <a:rPr dirty="0" sz="2400">
                <a:latin typeface="Arial"/>
                <a:cs typeface="Arial"/>
              </a:rPr>
              <a:t>tendinopathy.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Sports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Med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Arthrosc.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2009;17(3):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190-7.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2026-02-06T01:31:20Z</dcterms:created>
  <dcterms:modified xsi:type="dcterms:W3CDTF">2026-02-06T01:31:20Z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2026-02-06T00:00:00Z</vt:filetime>
  </property>
  <property fmtid="{D5CDD505-2E9C-101B-9397-08002B2CF9AE}" pid="3" name="LastSaved">
    <vt:filetime>2026-02-06T00:00:00Z</vt:filetime>
  </property>
  <property fmtid="{D5CDD505-2E9C-101B-9397-08002B2CF9AE}" pid="4" name="Producer">
    <vt:lpwstr>3-Heights(TM) PDF Security Shell 4.8.25.2 (http://www.pdf-tools.com)</vt:lpwstr>
  </property>
</Properties>
</file>