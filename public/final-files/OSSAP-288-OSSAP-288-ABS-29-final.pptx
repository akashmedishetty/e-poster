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4" r:id="rId8"/>
    <p:sldId id="261" r:id="rId9"/>
    <p:sldId id="262" r:id="rId10"/>
    <p:sldId id="263" r:id="rId11"/>
  </p:sldIdLst>
  <p:sldSz cx="12192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 showGuides="1">
      <p:cViewPr varScale="1">
        <p:scale>
          <a:sx n="74" d="100"/>
          <a:sy n="74" d="100"/>
        </p:scale>
        <p:origin x="1042" y="6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14:cpLocks xmlns:a14="http://schemas.microsoft.com/office/drawing/2010/main"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14:cpLocks xmlns:a14="http://schemas.microsoft.com/office/drawing/2010/main"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14:cpLocks xmlns:a14="http://schemas.microsoft.com/office/drawing/2010/main"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73274A-A2CD-4D7F-B977-66E290A1AB78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14:cpLocks xmlns:a14="http://schemas.microsoft.com/office/drawing/2010/main"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14:cpLocks xmlns:a14="http://schemas.microsoft.com/office/drawing/2010/main"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2FB2461-14E4-41EF-9449-AE0E6559CB66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14:cpLocks xmlns:a14="http://schemas.microsoft.com/office/drawing/2010/main"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14:cpLocks xmlns:a14="http://schemas.microsoft.com/office/drawing/2010/main"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14:cpLocks xmlns:a14="http://schemas.microsoft.com/office/drawing/2010/main"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73274A-A2CD-4D7F-B977-66E290A1AB78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14:cpLocks xmlns:a14="http://schemas.microsoft.com/office/drawing/2010/main"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14:cpLocks xmlns:a14="http://schemas.microsoft.com/office/drawing/2010/main"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2FB2461-14E4-41EF-9449-AE0E6559CB66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14:cpLocks xmlns:a14="http://schemas.microsoft.com/office/drawing/2010/main"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14:cpLocks xmlns:a14="http://schemas.microsoft.com/office/drawing/2010/main"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14:cpLocks xmlns:a14="http://schemas.microsoft.com/office/drawing/2010/main"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73274A-A2CD-4D7F-B977-66E290A1AB78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14:cpLocks xmlns:a14="http://schemas.microsoft.com/office/drawing/2010/main"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14:cpLocks xmlns:a14="http://schemas.microsoft.com/office/drawing/2010/main"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2FB2461-14E4-41EF-9449-AE0E6559CB66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14:cpLocks xmlns:a14="http://schemas.microsoft.com/office/drawing/2010/main"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14:cpLocks xmlns:a14="http://schemas.microsoft.com/office/drawing/2010/main"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14:cpLocks xmlns:a14="http://schemas.microsoft.com/office/drawing/2010/main"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14:cpLocks xmlns:a14="http://schemas.microsoft.com/office/drawing/2010/main"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73274A-A2CD-4D7F-B977-66E290A1AB78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14:cpLocks xmlns:a14="http://schemas.microsoft.com/office/drawing/2010/main"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14:cpLocks xmlns:a14="http://schemas.microsoft.com/office/drawing/2010/main"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2FB2461-14E4-41EF-9449-AE0E6559CB66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14:cpLocks xmlns:a14="http://schemas.microsoft.com/office/drawing/2010/main"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14:cpLocks xmlns:a14="http://schemas.microsoft.com/office/drawing/2010/main"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14:cpLocks xmlns:a14="http://schemas.microsoft.com/office/drawing/2010/main"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14:cpLocks xmlns:a14="http://schemas.microsoft.com/office/drawing/2010/main"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14:cpLocks xmlns:a14="http://schemas.microsoft.com/office/drawing/2010/main"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14:cpLocks xmlns:a14="http://schemas.microsoft.com/office/drawing/2010/main"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73274A-A2CD-4D7F-B977-66E290A1AB78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14:cpLocks xmlns:a14="http://schemas.microsoft.com/office/drawing/2010/main"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14:cpLocks xmlns:a14="http://schemas.microsoft.com/office/drawing/2010/main"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2FB2461-14E4-41EF-9449-AE0E6559CB66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14:cpLocks xmlns:a14="http://schemas.microsoft.com/office/drawing/2010/main"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14:cpLocks xmlns:a14="http://schemas.microsoft.com/office/drawing/2010/main"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73274A-A2CD-4D7F-B977-66E290A1AB78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14:cpLocks xmlns:a14="http://schemas.microsoft.com/office/drawing/2010/main"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14:cpLocks xmlns:a14="http://schemas.microsoft.com/office/drawing/2010/main"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2FB2461-14E4-41EF-9449-AE0E6559CB66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14:cpLocks xmlns:a14="http://schemas.microsoft.com/office/drawing/2010/main"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73274A-A2CD-4D7F-B977-66E290A1AB78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14:cpLocks xmlns:a14="http://schemas.microsoft.com/office/drawing/2010/main"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14:cpLocks xmlns:a14="http://schemas.microsoft.com/office/drawing/2010/main"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2FB2461-14E4-41EF-9449-AE0E6559CB66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14:cpLocks xmlns:a14="http://schemas.microsoft.com/office/drawing/2010/main"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14:cpLocks xmlns:a14="http://schemas.microsoft.com/office/drawing/2010/main"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14:cpLocks xmlns:a14="http://schemas.microsoft.com/office/drawing/2010/main"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14:cpLocks xmlns:a14="http://schemas.microsoft.com/office/drawing/2010/main"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73274A-A2CD-4D7F-B977-66E290A1AB78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14:cpLocks xmlns:a14="http://schemas.microsoft.com/office/drawing/2010/main"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14:cpLocks xmlns:a14="http://schemas.microsoft.com/office/drawing/2010/main"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2FB2461-14E4-41EF-9449-AE0E6559CB66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14:cpLocks xmlns:a14="http://schemas.microsoft.com/office/drawing/2010/main"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14:cpLocks xmlns:a14="http://schemas.microsoft.com/office/drawing/2010/main"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14:cpLocks xmlns:a14="http://schemas.microsoft.com/office/drawing/2010/main"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14:cpLocks xmlns:a14="http://schemas.microsoft.com/office/drawing/2010/main"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73274A-A2CD-4D7F-B977-66E290A1AB78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14:cpLocks xmlns:a14="http://schemas.microsoft.com/office/drawing/2010/main"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14:cpLocks xmlns:a14="http://schemas.microsoft.com/office/drawing/2010/main"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2FB2461-14E4-41EF-9449-AE0E6559CB66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14:cpLocks xmlns:a14="http://schemas.microsoft.com/office/drawing/2010/main"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14:cpLocks xmlns:a14="http://schemas.microsoft.com/office/drawing/2010/main"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14:cpLocks xmlns:a14="http://schemas.microsoft.com/office/drawing/2010/main"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73274A-A2CD-4D7F-B977-66E290A1AB78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14:cpLocks xmlns:a14="http://schemas.microsoft.com/office/drawing/2010/main"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14:cpLocks xmlns:a14="http://schemas.microsoft.com/office/drawing/2010/main"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2FB2461-14E4-41EF-9449-AE0E6559CB66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14:cpLocks xmlns:a14="http://schemas.microsoft.com/office/drawing/2010/main"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14:cpLocks xmlns:a14="http://schemas.microsoft.com/office/drawing/2010/main"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14:cpLocks xmlns:a14="http://schemas.microsoft.com/office/drawing/2010/main"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73274A-A2CD-4D7F-B977-66E290A1AB78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14:cpLocks xmlns:a14="http://schemas.microsoft.com/office/drawing/2010/main"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14:cpLocks xmlns:a14="http://schemas.microsoft.com/office/drawing/2010/main"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2FB2461-14E4-41EF-9449-AE0E6559CB66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5" Type="http://schemas.openxmlformats.org/officeDocument/2006/relationships/image" Target="../media/image4.png"/><Relationship Id="rId14" Type="http://schemas.openxmlformats.org/officeDocument/2006/relationships/image" Target="../media/image3.png"/><Relationship Id="rId13" Type="http://schemas.openxmlformats.org/officeDocument/2006/relationships/image" Target="../media/image2.png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0" y="0"/>
            <a:ext cx="12191998" cy="1280156"/>
          </a:xfrm>
          <a:prstGeom prst="rect">
            <a:avLst/>
          </a:prstGeom>
          <a:solidFill>
            <a:srgbClr val="01234D"/>
          </a:solidFill>
          <a:ln>
            <a:solidFill>
              <a:srgbClr val="5257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5" name="Picture 14"/>
          <p:cNvPicPr>
            <a:picLocks noChangeAspect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6884" y="74822"/>
            <a:ext cx="1043154" cy="1043154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47316" y="123390"/>
            <a:ext cx="884047" cy="884047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27893" y="192303"/>
            <a:ext cx="785940" cy="785940"/>
          </a:xfrm>
          <a:prstGeom prst="rect">
            <a:avLst/>
          </a:prstGeom>
        </p:spPr>
      </p:pic>
      <p:sp>
        <p:nvSpPr>
          <p:cNvPr id="18" name="TextBox 17"/>
          <p:cNvSpPr txBox="1"/>
          <p:nvPr userDrawn="1"/>
        </p:nvSpPr>
        <p:spPr>
          <a:xfrm>
            <a:off x="2575249" y="27424"/>
            <a:ext cx="59983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Gordita "/>
              </a:rPr>
              <a:t>55</a:t>
            </a:r>
            <a:r>
              <a:rPr lang="en-US" b="1" baseline="30000" dirty="0">
                <a:solidFill>
                  <a:schemeClr val="bg1"/>
                </a:solidFill>
                <a:latin typeface="Gordita "/>
              </a:rPr>
              <a:t>th</a:t>
            </a:r>
            <a:r>
              <a:rPr lang="en-US" b="1" dirty="0">
                <a:solidFill>
                  <a:schemeClr val="bg1"/>
                </a:solidFill>
                <a:latin typeface="Gordita "/>
              </a:rPr>
              <a:t>   Annual Conference of </a:t>
            </a:r>
            <a:endParaRPr lang="en-US" b="1" dirty="0">
              <a:solidFill>
                <a:schemeClr val="bg1"/>
              </a:solidFill>
              <a:latin typeface="Gordita "/>
            </a:endParaRPr>
          </a:p>
          <a:p>
            <a:r>
              <a:rPr lang="en-US" b="1" dirty="0">
                <a:solidFill>
                  <a:schemeClr val="bg1"/>
                </a:solidFill>
                <a:latin typeface="Gordita "/>
              </a:rPr>
              <a:t>Orthopedic Surgeon Society of Andhra Pradesh</a:t>
            </a:r>
            <a:endParaRPr lang="en-US" b="1" dirty="0">
              <a:solidFill>
                <a:schemeClr val="bg1"/>
              </a:solidFill>
              <a:latin typeface="Gordita "/>
            </a:endParaRPr>
          </a:p>
        </p:txBody>
      </p:sp>
      <p:sp>
        <p:nvSpPr>
          <p:cNvPr id="19" name="TextBox 18"/>
          <p:cNvSpPr txBox="1"/>
          <p:nvPr userDrawn="1"/>
        </p:nvSpPr>
        <p:spPr>
          <a:xfrm>
            <a:off x="2601218" y="653897"/>
            <a:ext cx="63074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bg1"/>
                </a:solidFill>
                <a:latin typeface="Gordita "/>
              </a:rPr>
              <a:t>Date 6 – 8 February,2026, Venue : Kurnool Medical College</a:t>
            </a:r>
            <a:endParaRPr lang="en-US" sz="1200" b="1" dirty="0">
              <a:solidFill>
                <a:schemeClr val="bg1"/>
              </a:solidFill>
              <a:latin typeface="Gordita "/>
            </a:endParaRPr>
          </a:p>
        </p:txBody>
      </p:sp>
      <p:sp>
        <p:nvSpPr>
          <p:cNvPr id="20" name="TextBox 19"/>
          <p:cNvSpPr txBox="1"/>
          <p:nvPr userDrawn="1"/>
        </p:nvSpPr>
        <p:spPr>
          <a:xfrm>
            <a:off x="2575249" y="913340"/>
            <a:ext cx="711403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bg1"/>
                </a:solidFill>
                <a:latin typeface="Gordita "/>
              </a:rPr>
              <a:t>Organized by : Department of </a:t>
            </a:r>
            <a:r>
              <a:rPr lang="en-US" sz="1200" b="1" dirty="0" err="1">
                <a:solidFill>
                  <a:schemeClr val="bg1"/>
                </a:solidFill>
                <a:latin typeface="Gordita "/>
              </a:rPr>
              <a:t>Orthopaedics</a:t>
            </a:r>
            <a:r>
              <a:rPr lang="en-US" sz="1200" b="1" dirty="0">
                <a:solidFill>
                  <a:schemeClr val="bg1"/>
                </a:solidFill>
                <a:latin typeface="Gordita "/>
              </a:rPr>
              <a:t>, Kurnool Medical College Kurnool</a:t>
            </a:r>
            <a:endParaRPr lang="en-US" sz="1200" b="1" dirty="0">
              <a:solidFill>
                <a:schemeClr val="bg1"/>
              </a:solidFill>
              <a:latin typeface="Gordita "/>
            </a:endParaRPr>
          </a:p>
        </p:txBody>
      </p:sp>
      <p:sp>
        <p:nvSpPr>
          <p:cNvPr id="21" name="Freeform 13"/>
          <p:cNvSpPr/>
          <p:nvPr userDrawn="1"/>
        </p:nvSpPr>
        <p:spPr>
          <a:xfrm>
            <a:off x="560814" y="14255"/>
            <a:ext cx="1505561" cy="1280157"/>
          </a:xfrm>
          <a:custGeom>
            <a:avLst/>
            <a:gdLst/>
            <a:ahLst/>
            <a:cxnLst/>
            <a:rect l="l" t="t" r="r" b="b"/>
            <a:pathLst>
              <a:path w="2254612" h="1957865">
                <a:moveTo>
                  <a:pt x="0" y="0"/>
                </a:moveTo>
                <a:lnTo>
                  <a:pt x="2254612" y="0"/>
                </a:lnTo>
                <a:lnTo>
                  <a:pt x="2254612" y="1957865"/>
                </a:lnTo>
                <a:lnTo>
                  <a:pt x="0" y="1957865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t="-9937" r="-4895" b="-10857"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5.xml"/><Relationship Id="rId4" Type="http://schemas.openxmlformats.org/officeDocument/2006/relationships/image" Target="../media/image8.jpeg"/><Relationship Id="rId3" Type="http://schemas.openxmlformats.org/officeDocument/2006/relationships/image" Target="../media/image7.jpeg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14:cpLocks xmlns:a14="http://schemas.microsoft.com/office/drawing/2010/main" noGrp="1"/>
          </p:cNvSpPr>
          <p:nvPr>
            <p:ph type="title"/>
          </p:nvPr>
        </p:nvSpPr>
        <p:spPr>
          <a:xfrm>
            <a:off x="415290" y="1556778"/>
            <a:ext cx="10515600" cy="1992237"/>
          </a:xfrm>
        </p:spPr>
        <p:txBody>
          <a:bodyPr/>
          <a:lstStyle/>
          <a:p>
            <a:r>
              <a:rPr lang="en-IN"/>
              <a:t> </a:t>
            </a:r>
            <a:r>
              <a:rPr lang="en-IN" sz="2800"/>
              <a:t>OUTCOME OF WASHING </a:t>
            </a:r>
            <a:r>
              <a:rPr lang="en-IN" sz="2800"/>
              <a:t>MACHINE INJURY WITH PROXIMAL HUMERUS FRACTURE WITH SHAFT FRACTURE WITH FRACTURE BOTHBONE FOREARM </a:t>
            </a:r>
            <a:r>
              <a:rPr lang="en-AU" altLang="en-IN" sz="2800"/>
              <a:t>TREATED WITH CRIF WITH K WIRE AND TENS</a:t>
            </a:r>
            <a:endParaRPr lang="en-AU" altLang="en-IN" sz="2800" dirty="0"/>
          </a:p>
        </p:txBody>
      </p:sp>
      <p:sp>
        <p:nvSpPr>
          <p:cNvPr id="3" name="Content Placeholder 2"/>
          <p:cNvSpPr>
            <a14:cpLocks xmlns:a14="http://schemas.microsoft.com/office/drawing/2010/main"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Presenter: DR.V </a:t>
            </a:r>
            <a:r>
              <a:rPr lang="en-IN" dirty="0" err="1"/>
              <a:t>PANNAGA</a:t>
            </a:r>
            <a:r>
              <a:rPr lang="en-IN" dirty="0"/>
              <a:t> </a:t>
            </a:r>
            <a:r>
              <a:rPr lang="en-IN" dirty="0" err="1"/>
              <a:t>SAI</a:t>
            </a:r>
            <a:endParaRPr lang="en-IN" dirty="0"/>
          </a:p>
          <a:p>
            <a:r>
              <a:rPr lang="en-IN" dirty="0"/>
              <a:t>1</a:t>
            </a:r>
            <a:r>
              <a:rPr lang="en-IN" baseline="30000" dirty="0"/>
              <a:t>st</a:t>
            </a:r>
            <a:r>
              <a:rPr lang="en-IN" dirty="0"/>
              <a:t> YEAR POSTGRADUATE </a:t>
            </a:r>
            <a:endParaRPr lang="en-IN" dirty="0"/>
          </a:p>
          <a:p>
            <a:r>
              <a:rPr lang="en-IN" dirty="0"/>
              <a:t>DEPARTMENT OF ORTHOPAEDICS </a:t>
            </a:r>
            <a:endParaRPr lang="en-IN" dirty="0"/>
          </a:p>
          <a:p>
            <a:r>
              <a:rPr lang="en-IN" dirty="0"/>
              <a:t>GREAT EASTERN MEDICAL SCHOOL AND HOSPITALS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14:cpLocks xmlns:a14="http://schemas.microsoft.com/office/drawing/2010/main" noGrp="1"/>
          </p:cNvSpPr>
          <p:nvPr>
            <p:ph type="title"/>
          </p:nvPr>
        </p:nvSpPr>
        <p:spPr>
          <a:xfrm>
            <a:off x="0" y="1359391"/>
            <a:ext cx="10515600" cy="1325563"/>
          </a:xfrm>
        </p:spPr>
        <p:txBody>
          <a:bodyPr/>
          <a:lstStyle/>
          <a:p>
            <a:r>
              <a:rPr lang="en-IN" dirty="0"/>
              <a:t>INTRODUCTION </a:t>
            </a:r>
            <a:endParaRPr lang="en-US" dirty="0"/>
          </a:p>
        </p:txBody>
      </p:sp>
      <p:sp>
        <p:nvSpPr>
          <p:cNvPr id="3" name="Content Placeholder 2"/>
          <p:cNvSpPr>
            <a14:cpLocks xmlns:a14="http://schemas.microsoft.com/office/drawing/2010/main" noGrp="1"/>
          </p:cNvSpPr>
          <p:nvPr>
            <p:ph idx="1"/>
          </p:nvPr>
        </p:nvSpPr>
        <p:spPr>
          <a:xfrm>
            <a:off x="248558" y="2193926"/>
            <a:ext cx="10515600" cy="4351338"/>
          </a:xfrm>
        </p:spPr>
        <p:txBody>
          <a:bodyPr/>
          <a:lstStyle/>
          <a:p>
            <a:r>
              <a:rPr lang="en-IN" dirty="0"/>
              <a:t>Washing machine injuries are rare but part of every household .</a:t>
            </a:r>
            <a:endParaRPr lang="en-IN" dirty="0"/>
          </a:p>
          <a:p>
            <a:r>
              <a:rPr lang="en-IN" dirty="0"/>
              <a:t>There are various reports on upper extremity injuries due to inadequate safety precautions while operating the machine.</a:t>
            </a:r>
            <a:endParaRPr lang="en-IN" dirty="0"/>
          </a:p>
          <a:p>
            <a:r>
              <a:rPr lang="en-IN" dirty="0"/>
              <a:t>Most of these injuries occur when an attempt is made to remove the clothes from machine and hands get caught in the spinning and most commonly seen in children.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14:cpLocks xmlns:a14="http://schemas.microsoft.com/office/drawing/2010/main" noGrp="1"/>
          </p:cNvSpPr>
          <p:nvPr>
            <p:ph type="title"/>
          </p:nvPr>
        </p:nvSpPr>
        <p:spPr>
          <a:xfrm>
            <a:off x="233438" y="1332744"/>
            <a:ext cx="10515600" cy="1325563"/>
          </a:xfrm>
        </p:spPr>
        <p:txBody>
          <a:bodyPr/>
          <a:lstStyle/>
          <a:p>
            <a:r>
              <a:rPr lang="en-IN" dirty="0"/>
              <a:t>AIM OF STUDY</a:t>
            </a:r>
            <a:endParaRPr lang="en-US" dirty="0"/>
          </a:p>
        </p:txBody>
      </p:sp>
      <p:sp>
        <p:nvSpPr>
          <p:cNvPr id="3" name="Content Placeholder 2"/>
          <p:cNvSpPr>
            <a14:cpLocks xmlns:a14="http://schemas.microsoft.com/office/drawing/2010/main" noGrp="1"/>
          </p:cNvSpPr>
          <p:nvPr>
            <p:ph idx="1"/>
          </p:nvPr>
        </p:nvSpPr>
        <p:spPr>
          <a:xfrm>
            <a:off x="384628" y="2400149"/>
            <a:ext cx="10515600" cy="4351338"/>
          </a:xfrm>
        </p:spPr>
        <p:txBody>
          <a:bodyPr/>
          <a:lstStyle/>
          <a:p>
            <a:r>
              <a:rPr lang="en-IN" dirty="0"/>
              <a:t>To know the outcome of washing machine injury with proximal humerus fracture, shaft of humerus fracture, fracture both bones of forearm especially in children.</a:t>
            </a: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14:cpLocks xmlns:a14="http://schemas.microsoft.com/office/drawing/2010/main" noGrp="1"/>
          </p:cNvSpPr>
          <p:nvPr>
            <p:ph type="title"/>
          </p:nvPr>
        </p:nvSpPr>
        <p:spPr>
          <a:xfrm>
            <a:off x="0" y="1317625"/>
            <a:ext cx="10515600" cy="1325563"/>
          </a:xfrm>
        </p:spPr>
        <p:txBody>
          <a:bodyPr/>
          <a:lstStyle/>
          <a:p>
            <a:r>
              <a:rPr lang="en-IN" dirty="0"/>
              <a:t>MATERIALS AND METHODS</a:t>
            </a:r>
            <a:endParaRPr lang="en-US" dirty="0"/>
          </a:p>
        </p:txBody>
      </p:sp>
      <p:sp>
        <p:nvSpPr>
          <p:cNvPr id="3" name="Content Placeholder 2"/>
          <p:cNvSpPr>
            <a14:cpLocks xmlns:a14="http://schemas.microsoft.com/office/drawing/2010/main" noGrp="1"/>
          </p:cNvSpPr>
          <p:nvPr>
            <p:ph idx="1"/>
          </p:nvPr>
        </p:nvSpPr>
        <p:spPr>
          <a:xfrm>
            <a:off x="139065" y="2313781"/>
            <a:ext cx="10515600" cy="4351338"/>
          </a:xfrm>
        </p:spPr>
        <p:txBody>
          <a:bodyPr/>
          <a:lstStyle/>
          <a:p>
            <a:r>
              <a:rPr lang="en-IN" sz="2400" dirty="0"/>
              <a:t>A 11 year old boy came to Emergency department with alleged history of washing machine injury and complaints of pain and restricted range of movements of right upper limb. </a:t>
            </a:r>
            <a:endParaRPr lang="en-IN" sz="2400" dirty="0"/>
          </a:p>
          <a:p>
            <a:r>
              <a:rPr lang="en-IN" sz="2400" dirty="0"/>
              <a:t>On further evaluation, the </a:t>
            </a:r>
            <a:r>
              <a:rPr lang="en-IN" sz="2400" dirty="0" err="1"/>
              <a:t>pateint</a:t>
            </a:r>
            <a:r>
              <a:rPr lang="en-IN" sz="2400" dirty="0"/>
              <a:t> was diagnosed to have, fracture right proximal humerus/ fracture right both bones forearm. </a:t>
            </a:r>
            <a:endParaRPr lang="en-IN" sz="2400" dirty="0"/>
          </a:p>
          <a:p>
            <a:r>
              <a:rPr lang="en-IN" sz="2400" dirty="0"/>
              <a:t>The </a:t>
            </a:r>
            <a:r>
              <a:rPr lang="en-IN" sz="2400" dirty="0" err="1"/>
              <a:t>pateint</a:t>
            </a:r>
            <a:r>
              <a:rPr lang="en-IN" sz="2400" dirty="0"/>
              <a:t> was worked up for surgery and CRIF with k wire fixation for proximal humerus, CRIF with TENS nailing for shaft humerus, CRIF With TENS nailing for both bone forearm was done.</a:t>
            </a:r>
            <a:endParaRPr lang="en-IN" sz="2400" dirty="0"/>
          </a:p>
          <a:p>
            <a:r>
              <a:rPr lang="en-IN" sz="2400" dirty="0"/>
              <a:t>Post operatively, regular follow up was done, k wires were removed after 1 ½ months and TENS were removed after 3 months.</a:t>
            </a:r>
            <a:endParaRPr lang="en-IN" sz="2400" dirty="0"/>
          </a:p>
          <a:p>
            <a:r>
              <a:rPr lang="en-IN" sz="2400" dirty="0"/>
              <a:t>Mobilisation was then started.</a:t>
            </a:r>
            <a:endParaRPr lang="en-IN" sz="2400" dirty="0"/>
          </a:p>
          <a:p>
            <a:endParaRPr 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14:cpLocks xmlns:a14="http://schemas.microsoft.com/office/drawing/2010/main" noGrp="1"/>
          </p:cNvSpPr>
          <p:nvPr>
            <p:ph type="title"/>
          </p:nvPr>
        </p:nvSpPr>
        <p:spPr>
          <a:xfrm>
            <a:off x="188081" y="1408339"/>
            <a:ext cx="10515600" cy="1325563"/>
          </a:xfrm>
        </p:spPr>
        <p:txBody>
          <a:bodyPr/>
          <a:lstStyle/>
          <a:p>
            <a:r>
              <a:rPr lang="en-IN" dirty="0"/>
              <a:t>RESULTS </a:t>
            </a:r>
            <a:endParaRPr lang="en-US" dirty="0"/>
          </a:p>
        </p:txBody>
      </p:sp>
      <p:sp>
        <p:nvSpPr>
          <p:cNvPr id="3" name="Content Placeholder 2"/>
          <p:cNvSpPr>
            <a14:cpLocks xmlns:a14="http://schemas.microsoft.com/office/drawing/2010/main" noGrp="1"/>
          </p:cNvSpPr>
          <p:nvPr>
            <p:ph idx="1"/>
          </p:nvPr>
        </p:nvSpPr>
        <p:spPr>
          <a:xfrm>
            <a:off x="293914" y="2339673"/>
            <a:ext cx="10515600" cy="4351338"/>
          </a:xfrm>
        </p:spPr>
        <p:txBody>
          <a:bodyPr/>
          <a:lstStyle/>
          <a:p>
            <a:r>
              <a:rPr lang="en-IN" sz="2400" dirty="0"/>
              <a:t>This reveals the functional outcome of washing machine injury managed surgically with k wire and TENS.</a:t>
            </a:r>
            <a:endParaRPr lang="en-IN" sz="2400" dirty="0"/>
          </a:p>
          <a:p>
            <a:r>
              <a:rPr lang="en-IN" sz="2400" dirty="0" err="1"/>
              <a:t>Pateint</a:t>
            </a:r>
            <a:r>
              <a:rPr lang="en-IN" sz="2400" dirty="0"/>
              <a:t> is able to perform the following movements:</a:t>
            </a:r>
            <a:endParaRPr lang="en-IN" sz="2400" dirty="0"/>
          </a:p>
          <a:p>
            <a:r>
              <a:rPr lang="en-IN" sz="2400" dirty="0"/>
              <a:t>SHOULDER:                                                  ELBOW:</a:t>
            </a:r>
            <a:endParaRPr lang="en-IN" sz="2400" dirty="0"/>
          </a:p>
          <a:p>
            <a:r>
              <a:rPr lang="en-IN" sz="2400" dirty="0"/>
              <a:t>FLEXION: 0-120degrees.                      FLEXION: 0-150 degrees</a:t>
            </a:r>
            <a:endParaRPr lang="en-IN" sz="2400" dirty="0"/>
          </a:p>
          <a:p>
            <a:r>
              <a:rPr lang="en-IN" sz="2400" dirty="0"/>
              <a:t>EXTENSION: 0-65 degrees.                EXTENSION: 150-0  degrees</a:t>
            </a:r>
            <a:endParaRPr lang="en-IN" sz="2400" dirty="0"/>
          </a:p>
          <a:p>
            <a:r>
              <a:rPr lang="en-IN" sz="2400" dirty="0"/>
              <a:t>ABDUCTION:0-180 degrees.             SUPINATION: 90-75 degrees</a:t>
            </a:r>
            <a:endParaRPr lang="en-IN" sz="2400" dirty="0"/>
          </a:p>
          <a:p>
            <a:r>
              <a:rPr lang="en-IN" sz="2400" dirty="0"/>
              <a:t>ADDUCTION:0-20 degrees.               PRONATION: 75-90 degrees</a:t>
            </a:r>
            <a:endParaRPr lang="en-IN" sz="2400" dirty="0"/>
          </a:p>
          <a:p>
            <a:r>
              <a:rPr lang="en-IN" sz="2400" dirty="0"/>
              <a:t>EXTERNAL ROTATION: 0-90 degrees</a:t>
            </a:r>
            <a:endParaRPr lang="en-IN" sz="2400" dirty="0"/>
          </a:p>
          <a:p>
            <a:r>
              <a:rPr lang="en-IN" sz="2400" dirty="0"/>
              <a:t>INTERNAL ROTATION: 0-75 degrees</a:t>
            </a:r>
            <a:endParaRPr lang="en-IN" sz="2400" dirty="0"/>
          </a:p>
          <a:p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14:cpLocks xmlns:a14="http://schemas.microsoft.com/office/drawing/2010/main" noGrp="1"/>
          </p:cNvSpPr>
          <p:nvPr>
            <p:ph type="body" idx="1"/>
          </p:nvPr>
        </p:nvSpPr>
        <p:spPr>
          <a:xfrm>
            <a:off x="0" y="1204837"/>
            <a:ext cx="5619599" cy="2600476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10" name="Content Placeholder 9"/>
          <p:cNvPicPr>
            <a:picLocks noGrp="1" noChangeAspect="1"/>
          </p:cNvPicPr>
          <p:nvPr>
            <p:ph sz="half" idx="2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3874113"/>
            <a:ext cx="5619599" cy="2983886"/>
          </a:xfrm>
          <a:prstGeom prst="rect">
            <a:avLst/>
          </a:prstGeom>
        </p:spPr>
      </p:pic>
      <p:sp>
        <p:nvSpPr>
          <p:cNvPr id="5" name="Text Placeholder 4"/>
          <p:cNvSpPr>
            <a14:cpLocks xmlns:a14="http://schemas.microsoft.com/office/drawing/2010/main" noGrp="1"/>
          </p:cNvSpPr>
          <p:nvPr>
            <p:ph type="body" sz="quarter" idx="3"/>
          </p:nvPr>
        </p:nvSpPr>
        <p:spPr>
          <a:xfrm>
            <a:off x="5975653" y="1204838"/>
            <a:ext cx="6216346" cy="2479750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11" name="Content Placeholder 10"/>
          <p:cNvPicPr>
            <a:picLocks noGrp="1" noChangeAspect="1"/>
          </p:cNvPicPr>
          <p:nvPr>
            <p:ph sz="quarter" idx="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75653" y="3684588"/>
            <a:ext cx="6216347" cy="3173411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394363"/>
            <a:ext cx="5619599" cy="247975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75652" y="1204837"/>
            <a:ext cx="6216348" cy="24797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14:cpLocks xmlns:a14="http://schemas.microsoft.com/office/drawing/2010/main" noGrp="1"/>
          </p:cNvSpPr>
          <p:nvPr>
            <p:ph type="title"/>
          </p:nvPr>
        </p:nvSpPr>
        <p:spPr>
          <a:xfrm>
            <a:off x="0" y="1287387"/>
            <a:ext cx="10515600" cy="1325563"/>
          </a:xfrm>
        </p:spPr>
        <p:txBody>
          <a:bodyPr/>
          <a:lstStyle/>
          <a:p>
            <a:r>
              <a:rPr lang="en-IN" dirty="0"/>
              <a:t>CONCLUSION </a:t>
            </a:r>
            <a:endParaRPr lang="en-US" dirty="0"/>
          </a:p>
        </p:txBody>
      </p:sp>
      <p:sp>
        <p:nvSpPr>
          <p:cNvPr id="3" name="Content Placeholder 2"/>
          <p:cNvSpPr>
            <a14:cpLocks xmlns:a14="http://schemas.microsoft.com/office/drawing/2010/main" noGrp="1"/>
          </p:cNvSpPr>
          <p:nvPr>
            <p:ph idx="1"/>
          </p:nvPr>
        </p:nvSpPr>
        <p:spPr>
          <a:xfrm>
            <a:off x="278796" y="2339672"/>
            <a:ext cx="10515600" cy="4351338"/>
          </a:xfrm>
        </p:spPr>
        <p:txBody>
          <a:bodyPr/>
          <a:lstStyle/>
          <a:p>
            <a:r>
              <a:rPr lang="en-IN" dirty="0"/>
              <a:t>This  Case concludes that the range of movements can be restored completely when the injury is managed properly and with adequate post operative physiotherapy.</a:t>
            </a: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14:cpLocks xmlns:a14="http://schemas.microsoft.com/office/drawing/2010/main" noGrp="1"/>
          </p:cNvSpPr>
          <p:nvPr>
            <p:ph type="title"/>
          </p:nvPr>
        </p:nvSpPr>
        <p:spPr>
          <a:xfrm>
            <a:off x="309033" y="1302506"/>
            <a:ext cx="10515600" cy="1325563"/>
          </a:xfrm>
        </p:spPr>
        <p:txBody>
          <a:bodyPr/>
          <a:lstStyle/>
          <a:p>
            <a:r>
              <a:rPr lang="en-IN" dirty="0"/>
              <a:t>REFERENCES </a:t>
            </a:r>
            <a:endParaRPr lang="en-US" dirty="0"/>
          </a:p>
        </p:txBody>
      </p:sp>
      <p:sp>
        <p:nvSpPr>
          <p:cNvPr id="3" name="Content Placeholder 2"/>
          <p:cNvSpPr>
            <a14:cpLocks xmlns:a14="http://schemas.microsoft.com/office/drawing/2010/main" noGrp="1"/>
          </p:cNvSpPr>
          <p:nvPr>
            <p:ph idx="1"/>
          </p:nvPr>
        </p:nvSpPr>
        <p:spPr>
          <a:xfrm>
            <a:off x="309033" y="2339673"/>
            <a:ext cx="10515600" cy="4351338"/>
          </a:xfrm>
        </p:spPr>
        <p:txBody>
          <a:bodyPr/>
          <a:lstStyle/>
          <a:p>
            <a:r>
              <a:rPr lang="en-IN" b="0" i="0" u="none" strike="noStrike" dirty="0" err="1">
                <a:solidFill>
                  <a:srgbClr val="000000"/>
                </a:solidFill>
                <a:effectLst/>
                <a:latin typeface="Verdana" pitchFamily="34" charset="0"/>
              </a:rPr>
              <a:t>1.Albattat</a:t>
            </a:r>
            <a:r>
              <a:rPr lang="en-IN" b="0" i="0" u="none" strike="noStrike" dirty="0">
                <a:solidFill>
                  <a:srgbClr val="000000"/>
                </a:solidFill>
                <a:effectLst/>
                <a:latin typeface="Verdana" pitchFamily="34" charset="0"/>
              </a:rPr>
              <a:t> MY, </a:t>
            </a:r>
            <a:r>
              <a:rPr lang="en-IN" b="0" i="0" u="none" strike="noStrike" dirty="0" err="1">
                <a:solidFill>
                  <a:srgbClr val="000000"/>
                </a:solidFill>
                <a:effectLst/>
                <a:latin typeface="Verdana" pitchFamily="34" charset="0"/>
              </a:rPr>
              <a:t>Alhathloul</a:t>
            </a:r>
            <a:r>
              <a:rPr lang="en-IN" b="0" i="0" u="none" strike="noStrike" dirty="0">
                <a:solidFill>
                  <a:srgbClr val="000000"/>
                </a:solidFill>
                <a:effectLst/>
                <a:latin typeface="Verdana" pitchFamily="34" charset="0"/>
              </a:rPr>
              <a:t> H, </a:t>
            </a:r>
            <a:r>
              <a:rPr lang="en-IN" b="0" i="0" u="none" strike="noStrike" dirty="0" err="1">
                <a:solidFill>
                  <a:srgbClr val="000000"/>
                </a:solidFill>
                <a:effectLst/>
                <a:latin typeface="Verdana" pitchFamily="34" charset="0"/>
              </a:rPr>
              <a:t>Almohammed</a:t>
            </a:r>
            <a:r>
              <a:rPr lang="en-IN" b="0" i="0" u="none" strike="noStrike" dirty="0">
                <a:solidFill>
                  <a:srgbClr val="000000"/>
                </a:solidFill>
                <a:effectLst/>
                <a:latin typeface="Verdana" pitchFamily="34" charset="0"/>
              </a:rPr>
              <a:t> </a:t>
            </a:r>
            <a:r>
              <a:rPr lang="en-IN" b="0" i="0" u="none" strike="noStrike" dirty="0" err="1">
                <a:solidFill>
                  <a:srgbClr val="000000"/>
                </a:solidFill>
                <a:effectLst/>
                <a:latin typeface="Verdana" pitchFamily="34" charset="0"/>
              </a:rPr>
              <a:t>Saleh</a:t>
            </a:r>
            <a:r>
              <a:rPr lang="en-IN" b="0" i="0" u="none" strike="noStrike" dirty="0">
                <a:solidFill>
                  <a:srgbClr val="000000"/>
                </a:solidFill>
                <a:effectLst/>
                <a:latin typeface="Verdana" pitchFamily="34" charset="0"/>
              </a:rPr>
              <a:t> M, </a:t>
            </a:r>
            <a:r>
              <a:rPr lang="en-IN" b="0" i="0" u="none" strike="noStrike" dirty="0" err="1">
                <a:solidFill>
                  <a:srgbClr val="000000"/>
                </a:solidFill>
                <a:effectLst/>
                <a:latin typeface="Verdana" pitchFamily="34" charset="0"/>
              </a:rPr>
              <a:t>Althabit</a:t>
            </a:r>
            <a:r>
              <a:rPr lang="en-IN" b="0" i="0" u="none" strike="noStrike" dirty="0">
                <a:solidFill>
                  <a:srgbClr val="000000"/>
                </a:solidFill>
                <a:effectLst/>
                <a:latin typeface="Verdana" pitchFamily="34" charset="0"/>
              </a:rPr>
              <a:t> F. </a:t>
            </a:r>
            <a:r>
              <a:rPr lang="en-IN" b="0" i="0" u="none" strike="noStrike" dirty="0" err="1">
                <a:solidFill>
                  <a:srgbClr val="000000"/>
                </a:solidFill>
                <a:effectLst/>
                <a:latin typeface="Verdana" pitchFamily="34" charset="0"/>
              </a:rPr>
              <a:t>Pediatric</a:t>
            </a:r>
            <a:r>
              <a:rPr lang="en-IN" b="0" i="0" u="none" strike="noStrike" dirty="0">
                <a:solidFill>
                  <a:srgbClr val="000000"/>
                </a:solidFill>
                <a:effectLst/>
                <a:latin typeface="Verdana" pitchFamily="34" charset="0"/>
              </a:rPr>
              <a:t> Floating Elbow Caused by a Novel Mechanism: A Case Report. </a:t>
            </a:r>
            <a:r>
              <a:rPr lang="en-IN" b="0" i="0" u="none" strike="noStrike" dirty="0" err="1">
                <a:solidFill>
                  <a:srgbClr val="000000"/>
                </a:solidFill>
                <a:effectLst/>
                <a:latin typeface="Verdana" pitchFamily="34" charset="0"/>
              </a:rPr>
              <a:t>Cureus</a:t>
            </a:r>
            <a:r>
              <a:rPr lang="en-IN" b="0" i="0" u="none" strike="noStrike" dirty="0">
                <a:solidFill>
                  <a:srgbClr val="000000"/>
                </a:solidFill>
                <a:effectLst/>
                <a:latin typeface="Verdana" pitchFamily="34" charset="0"/>
              </a:rPr>
              <a:t>. 2022 Sep 13</a:t>
            </a:r>
            <a:endParaRPr lang="en-IN" b="0" i="0" u="none" strike="noStrike" dirty="0">
              <a:solidFill>
                <a:srgbClr val="000000"/>
              </a:solidFill>
              <a:effectLst/>
              <a:latin typeface="Verdana" pitchFamily="34" charset="0"/>
            </a:endParaRPr>
          </a:p>
          <a:p>
            <a:endParaRPr lang="en-IN" dirty="0">
              <a:solidFill>
                <a:srgbClr val="000000"/>
              </a:solidFill>
              <a:latin typeface="Verdana" pitchFamily="34" charset="0"/>
            </a:endParaRPr>
          </a:p>
          <a:p>
            <a:r>
              <a:rPr lang="en-IN" b="0" i="0" u="none" strike="noStrike" dirty="0">
                <a:solidFill>
                  <a:srgbClr val="000000"/>
                </a:solidFill>
                <a:effectLst/>
                <a:latin typeface="Corbel" pitchFamily="34" charset="0"/>
              </a:rPr>
              <a:t>2.</a:t>
            </a:r>
            <a:r>
              <a:rPr lang="en-IN" b="0" i="0" u="none" strike="noStrike" dirty="0">
                <a:solidFill>
                  <a:srgbClr val="000000"/>
                </a:solidFill>
                <a:effectLst/>
                <a:latin typeface="Verdana" pitchFamily="34" charset="0"/>
              </a:rPr>
              <a:t>Vergara ADN, </a:t>
            </a:r>
            <a:r>
              <a:rPr lang="en-IN" b="0" i="0" u="none" strike="noStrike" dirty="0" err="1">
                <a:solidFill>
                  <a:srgbClr val="000000"/>
                </a:solidFill>
                <a:effectLst/>
                <a:latin typeface="Verdana" pitchFamily="34" charset="0"/>
              </a:rPr>
              <a:t>Fretes</a:t>
            </a:r>
            <a:r>
              <a:rPr lang="en-IN" b="0" i="0" u="none" strike="noStrike" dirty="0">
                <a:solidFill>
                  <a:srgbClr val="000000"/>
                </a:solidFill>
                <a:effectLst/>
                <a:latin typeface="Verdana" pitchFamily="34" charset="0"/>
              </a:rPr>
              <a:t> AN. Floating elbow in children: Factors associated with serious complications. J musculoskeletal surgery Res, 2023,7: 259-64.</a:t>
            </a:r>
            <a:endParaRPr lang="en-IN" b="0" i="0" u="none" strike="noStrike" dirty="0">
              <a:solidFill>
                <a:srgbClr val="000000"/>
              </a:solidFill>
              <a:effectLst/>
              <a:latin typeface="Corbel" pitchFamily="34" charset="0"/>
            </a:endParaRPr>
          </a:p>
          <a:p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14:cpLocks xmlns:a14="http://schemas.microsoft.com/office/drawing/2010/main" noGrp="1"/>
          </p:cNvSpPr>
          <p:nvPr>
            <p:ph idx="1"/>
          </p:nvPr>
        </p:nvSpPr>
        <p:spPr>
          <a:xfrm>
            <a:off x="4294920" y="3227255"/>
            <a:ext cx="5986669" cy="1300238"/>
          </a:xfrm>
        </p:spPr>
        <p:txBody>
          <a:bodyPr/>
          <a:lstStyle/>
          <a:p>
            <a:r>
              <a:rPr lang="en-IN" dirty="0"/>
              <a:t>THANK YOU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/>
  <PresentationFormat>Widescreen</PresentationFormat>
  <Paragraphs>0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26" baseType="lpstr">
      <vt:lpstr>Arial</vt:lpstr>
      <vt:lpstr>SimSun</vt:lpstr>
      <vt:lpstr>Wingdings</vt:lpstr>
      <vt:lpstr>Gordita </vt:lpstr>
      <vt:lpstr>Gordita </vt:lpstr>
      <vt:lpstr>Gordita </vt:lpstr>
      <vt:lpstr>Gordita </vt:lpstr>
      <vt:lpstr>Gordita </vt:lpstr>
      <vt:lpstr>Gordita </vt:lpstr>
      <vt:lpstr>Gordita </vt:lpstr>
      <vt:lpstr>Gordita </vt:lpstr>
      <vt:lpstr>Verdana</vt:lpstr>
      <vt:lpstr>Corbel</vt:lpstr>
      <vt:lpstr>Aptos</vt:lpstr>
      <vt:lpstr>Aptos Display</vt:lpstr>
      <vt:lpstr>Calibri</vt:lpstr>
      <vt:lpstr>Office Theme</vt:lpstr>
      <vt:lpstr> </vt:lpstr>
      <vt:lpstr>INTRODUCTION </vt:lpstr>
      <vt:lpstr>AIM OF STUDY</vt:lpstr>
      <vt:lpstr>MATERIALS AND METHODS</vt:lpstr>
      <vt:lpstr>RESULTS </vt:lpstr>
      <vt:lpstr>PowerPoint 演示文稿</vt:lpstr>
      <vt:lpstr>CONCLUSION </vt:lpstr>
      <vt:lpstr>REFERENCES 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Virinchi Vinay</dc:creator>
  <cp:lastModifiedBy>iPad</cp:lastModifiedBy>
  <cp:revision>13</cp:revision>
  <dcterms:created xsi:type="dcterms:W3CDTF">1900-01-01T00:00:00Z</dcterms:created>
  <dcterms:modified xsi:type="dcterms:W3CDTF">1900-01-01T00:00:00Z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430EFD2586AC18BD07837469230D283F_32</vt:lpwstr>
  </property>
  <property fmtid="{D5CDD505-2E9C-101B-9397-08002B2CF9AE}" pid="3" name="KSOProductBuildVer">
    <vt:lpwstr>3081-11.37.20</vt:lpwstr>
  </property>
</Properties>
</file>