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28CF7-C54C-3253-7CB3-4CB60C4B9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3E176-0152-1EB9-B130-312E601D1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FAE6B-127E-B337-0AD1-96BED4F0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5E608-905C-2142-2365-F68EB7F9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68622-57FF-B5F0-4011-D23C810B4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64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54781-A465-F143-A98C-94FD82413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11094-0A62-2805-2C56-EAB66E3F8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DF6B2-DE75-AA42-1BA3-56A152E3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95C1A-D479-0105-5ABD-2C9F2D4E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AE42D-29E2-AB5A-9D0B-9821D21D8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85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0A9C5-0C47-1DBF-A9F1-8826C360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B4216-49BB-98ED-9B94-654F19938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47736-AC8A-3EB8-57D1-2A9C7AAC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5BB55-6273-FBEF-64A3-8CF30628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9087E-17BE-555C-DF0C-0F436152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95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1663-53A1-9E1F-5617-88CF82EC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1D5E3-ECCA-B4D2-2633-7957691A3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F5196-CC99-5011-B2D0-B4E6A682F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8BA26-119C-CCCD-E391-AEF50B6F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14F4A-53BC-F382-885A-E89A7663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50453-2D7E-EDE2-4C30-876DA9F0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3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C1600-9375-445B-F52D-49C2D79AB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504FE-0E7A-7AAD-AA62-68B5061F0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C0743-5AE4-C8DB-E431-9BF89F98C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F135F8-5672-C883-5700-82CCEB25C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43E3C-1062-3C3B-33DC-9DE599968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4B81D-1D0D-2B34-ACE9-647404B672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2B9CA9-FB5C-6A3F-A8C9-5A230365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F8827A-8D6A-6027-36D4-A09116C3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1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B2320-BF86-B4C0-4C77-57A8A14F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BF2AEC-90F1-FF9D-116C-F8E796EDE9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30F28E-A8F5-AFB5-B659-0E7A774C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0AFD6F-07FF-B36A-B355-6F548921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35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62561D-609B-41C4-03F7-C9EB1C339C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77B401-DFF1-9E83-1AFF-E5EC0ACD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7D21B-F5D7-5E07-AD0D-285590E6D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68E2-3E1C-4942-B972-676EF996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3E5FE-9809-AA0D-0068-8D2879739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EC551-67C4-F4E7-1910-F519BF904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6D973-5346-1585-DF1D-4A6D81AE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FF201-46FF-F9B5-9CC0-41835305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CBF98-FECD-2939-6FDA-1F24F227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2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CDCE-1DF9-541C-B7E9-6622BFED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5BBD72-9B7D-1B6B-5935-44F06A917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6A0AE-8309-E148-1D29-29503949B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C41A5-6FCA-36FF-6CFA-7C0597A212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B2AD8-5418-91E2-23C4-D519A6265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095D8-FC0F-CA9B-A1E7-AA64CF34E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660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F263-9A0A-3394-3F1F-6C5F8D328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FFEF5-760B-0BB1-28DC-68D43894F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F539A-7EBC-768A-374D-3E568BE3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D2046-7AA0-ACCC-813F-F0045C6B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43A9D-CF35-58E9-CEF7-84CD752F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473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6EEB20-7BAE-8163-AF11-357FD764F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173BD-0918-77CD-3BC5-870F618AF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AB18A-E29B-AB92-E36C-D19006B4B1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034D9-0416-B27F-B018-5988B84E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91FF6-4797-6F7F-6750-55427741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6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422EEB-C18E-401D-4D14-F61D82881EC6}"/>
              </a:ext>
            </a:extLst>
          </p:cNvPr>
          <p:cNvSpPr/>
          <p:nvPr userDrawn="1"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A44D43F-1B53-AAA9-B551-4D46D6B6290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F3FAB85-38C0-CBC3-894D-F14B0983660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AAF0D4-F34A-1980-C65B-0B020591390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4EFB44A-ED67-5BFE-548D-FCB7384C661F}"/>
              </a:ext>
            </a:extLst>
          </p:cNvPr>
          <p:cNvSpPr txBox="1"/>
          <p:nvPr userDrawn="1"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2ED9E8-378E-74DB-69F2-37A19A83672D}"/>
              </a:ext>
            </a:extLst>
          </p:cNvPr>
          <p:cNvSpPr txBox="1"/>
          <p:nvPr userDrawn="1"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2363BD-0C06-5137-F50F-3CB1079D47C5}"/>
              </a:ext>
            </a:extLst>
          </p:cNvPr>
          <p:cNvSpPr txBox="1"/>
          <p:nvPr userDrawn="1"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A034863C-B4F3-2506-7721-DA2D88319DB1}"/>
              </a:ext>
            </a:extLst>
          </p:cNvPr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15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02242-05FA-7630-22B8-AFDAACF7FF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15885"/>
            <a:ext cx="9144000" cy="1256620"/>
          </a:xfrm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83000"/>
              </a:lnSpc>
              <a:spcBef>
                <a:spcPct val="0"/>
              </a:spcBef>
              <a:spcAft>
                <a:spcPts val="0"/>
              </a:spcAft>
              <a:tabLst/>
              <a:defRPr/>
            </a:pPr>
            <a:r>
              <a:rPr kumimoji="0" lang="en-US" sz="2400" b="1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+mj-lt"/>
                <a:cs typeface="+mj-lt"/>
              </a:rPr>
              <a:t>COMPARISON BETWEEN CLINICAL EXAMINATION AND MAGNETIC RESONANCE</a:t>
            </a:r>
            <a:br>
              <a:rPr kumimoji="0" lang="en-US" sz="2400" b="1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+mn-ea"/>
                <a:cs typeface="Times New Roman"/>
              </a:rPr>
            </a:br>
            <a:r>
              <a:rPr kumimoji="0" lang="en-US" sz="2400" b="1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+mj-lt"/>
                <a:cs typeface="+mj-lt"/>
              </a:rPr>
              <a:t>IMAGING IN ACCURATELY DIAGNOSING MENISCAL TEARS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944F1F-1C49-C61D-7645-9BC33FAAA0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7800" y="3685496"/>
            <a:ext cx="9144000" cy="2722562"/>
          </a:xfrm>
        </p:spPr>
        <p:txBody>
          <a:bodyPr/>
          <a:lstStyle/>
          <a:p>
            <a:r>
              <a:rPr lang="en-IN" b="1" dirty="0"/>
              <a:t>PRESENTER:DR.SRIKANTH VUYYURU</a:t>
            </a:r>
          </a:p>
          <a:p>
            <a:r>
              <a:rPr lang="en-IN" b="1" dirty="0"/>
              <a:t>2</a:t>
            </a:r>
            <a:r>
              <a:rPr lang="en-IN" b="1" baseline="30000" dirty="0"/>
              <a:t>nd</a:t>
            </a:r>
            <a:r>
              <a:rPr lang="en-IN" b="1" dirty="0"/>
              <a:t> YEAR POST GRADUATE</a:t>
            </a:r>
          </a:p>
          <a:p>
            <a:r>
              <a:rPr lang="en-IN" b="1" dirty="0"/>
              <a:t>GUIDE:DR.CHINTAPETA RAVI</a:t>
            </a:r>
          </a:p>
          <a:p>
            <a:r>
              <a:rPr lang="en-IN" b="1"/>
              <a:t>PROFESSOR&amp;HOD,</a:t>
            </a:r>
            <a:r>
              <a:rPr lang="en-IN" b="1" dirty="0"/>
              <a:t>DEPARTMENT OF ORTHOPAEDICS</a:t>
            </a:r>
          </a:p>
          <a:p>
            <a:r>
              <a:rPr lang="en-IN" b="1" dirty="0"/>
              <a:t>MAHAVIR INSTITUTE OF MEDICAL SCIENCES</a:t>
            </a:r>
          </a:p>
        </p:txBody>
      </p:sp>
    </p:spTree>
    <p:extLst>
      <p:ext uri="{BB962C8B-B14F-4D97-AF65-F5344CB8AC3E}">
        <p14:creationId xmlns:p14="http://schemas.microsoft.com/office/powerpoint/2010/main" val="3607354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AEFF-B372-C7B6-4523-D5F7E161F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371" y="1273629"/>
            <a:ext cx="11103429" cy="417059"/>
          </a:xfrm>
        </p:spPr>
        <p:txBody>
          <a:bodyPr/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AE5CD-2810-B74D-4245-BBE74C685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28" y="1690688"/>
            <a:ext cx="12083143" cy="5091112"/>
          </a:xfrm>
        </p:spPr>
        <p:txBody>
          <a:bodyPr/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lt"/>
              <a:cs typeface="+mn-lt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lt"/>
              <a:cs typeface="+mn-lt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lt"/>
                <a:cs typeface="+mn-lt"/>
              </a:rPr>
              <a:t>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A8BC08-CDEF-1365-CCA8-CBD438A7252F}"/>
              </a:ext>
            </a:extLst>
          </p:cNvPr>
          <p:cNvSpPr txBox="1"/>
          <p:nvPr/>
        </p:nvSpPr>
        <p:spPr>
          <a:xfrm>
            <a:off x="130628" y="1409360"/>
            <a:ext cx="11604173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* Meniscal lesions are one of the most common intraarticular injuries 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* The peak age of occurrence is between 20-29 years in both males and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   females(1-3 )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* Meniscal lesions are most often caused by sports related injuries in young patients, particularly those people playing soccer, skiing , baseball , basketball and football.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* Majority of these injuries are caused by actions involving hyperextension , twisting or cutting movements as well as actions involving high amount of force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* In 80% of instances , Meniscal tears during athletic activities are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occuring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with the anterior cruciate ligament tears . In case of old age people , Meniscal tears are due to gradual wear and tear.</a:t>
            </a:r>
          </a:p>
        </p:txBody>
      </p:sp>
    </p:spTree>
    <p:extLst>
      <p:ext uri="{BB962C8B-B14F-4D97-AF65-F5344CB8AC3E}">
        <p14:creationId xmlns:p14="http://schemas.microsoft.com/office/powerpoint/2010/main" val="3541045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E339D-B4B6-5ABC-9708-619D23A4C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7" y="1447800"/>
            <a:ext cx="10635343" cy="242888"/>
          </a:xfrm>
        </p:spPr>
        <p:txBody>
          <a:bodyPr/>
          <a:lstStyle/>
          <a:p>
            <a:b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AIM: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448EC-5BC8-1BB7-F5D4-31164F8C9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02567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* Objective of current study was to evaluate and compare sensitivity , specificity , accuracy, positive predictive value and negative predictive value of clinical examination, and MRI in the diagnosis of Meniscal tears , considering arthroscopic findings as the gold standard 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6653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524C1-9132-508A-A2C0-514ECC896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456" y="1524001"/>
            <a:ext cx="10417629" cy="664028"/>
          </a:xfrm>
        </p:spPr>
        <p:txBody>
          <a:bodyPr/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METHODS: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5FC73-7B1C-B698-FDE3-96A74158C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842" y="2359025"/>
            <a:ext cx="11876315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-This is a prospective study done in patients coming to our hospital OPD with chief complaints of knee pain , locking , instability were taken in to our study.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-Consent was taken from the patient's regarding the study and procedures .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-Thorough clinical examination was done to diagnose medial and lateral Meniscal injuries in suspected cases ( Mc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murrays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test). 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-Radiological investigations like MRI was done in suspected cases of Meniscal tears .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-Finally arthroscopy was done as diagnostic and therapeutic management in required cases .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-Approval was taken from institutional ethical committee regarding this study 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0838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A1542-E149-0E04-A8E4-79D4AE114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49829"/>
            <a:ext cx="10439400" cy="340859"/>
          </a:xfrm>
        </p:spPr>
        <p:txBody>
          <a:bodyPr/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RESULTS: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ACDC1-54C1-24C3-0F1C-AC00BF89C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* Sample size - 60 cases 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 * Among 60 patients      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 * Male-39      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 * Female -21 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 * Right side involvement is more commonly seen than the left side 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Clinical examination done by well experienced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orthopaedic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surgeon can accurately diagnose Meniscal injuries correctly 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3FEBD2-394B-E267-909E-D51F5092A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132" y="4990755"/>
            <a:ext cx="3596038" cy="17080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CD3C95-4049-24F6-4B2F-49DB3A500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2" y="4574399"/>
            <a:ext cx="2738635" cy="186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304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B6C0E13-142D-A477-BDB5-0168910380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0411" t="30093" r="6470" b="12368"/>
          <a:stretch>
            <a:fillRect/>
          </a:stretch>
        </p:blipFill>
        <p:spPr>
          <a:xfrm>
            <a:off x="315684" y="1469571"/>
            <a:ext cx="5157841" cy="26778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B341FF-EE10-6CCC-465C-33DE42595D8D}"/>
              </a:ext>
            </a:extLst>
          </p:cNvPr>
          <p:cNvSpPr txBox="1"/>
          <p:nvPr/>
        </p:nvSpPr>
        <p:spPr>
          <a:xfrm>
            <a:off x="1159328" y="4147456"/>
            <a:ext cx="37174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MC MURRAYS TEST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9FC8FF-6750-E54E-59E6-EAA1C5456A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0319" y="4691743"/>
            <a:ext cx="4651362" cy="16641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0FA674A-5DCD-BCB6-FD42-F4B231A13530}"/>
              </a:ext>
            </a:extLst>
          </p:cNvPr>
          <p:cNvSpPr txBox="1"/>
          <p:nvPr/>
        </p:nvSpPr>
        <p:spPr>
          <a:xfrm>
            <a:off x="5600701" y="6396335"/>
            <a:ext cx="61068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MRI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E59EC4-97B4-2BAB-235B-98B5188747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6019" y="1554658"/>
            <a:ext cx="2671407" cy="250770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AD86F31-58F4-ABB4-ECFF-FD1A167C029B}"/>
              </a:ext>
            </a:extLst>
          </p:cNvPr>
          <p:cNvSpPr txBox="1"/>
          <p:nvPr/>
        </p:nvSpPr>
        <p:spPr>
          <a:xfrm>
            <a:off x="7217229" y="4172848"/>
            <a:ext cx="67756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ARTHROSCOPIC CHANGES</a:t>
            </a:r>
          </a:p>
        </p:txBody>
      </p:sp>
    </p:spTree>
    <p:extLst>
      <p:ext uri="{BB962C8B-B14F-4D97-AF65-F5344CB8AC3E}">
        <p14:creationId xmlns:p14="http://schemas.microsoft.com/office/powerpoint/2010/main" val="1187367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B3096-470B-E07B-FAB0-033F6AEFA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06286"/>
            <a:ext cx="10515600" cy="384402"/>
          </a:xfrm>
        </p:spPr>
        <p:txBody>
          <a:bodyPr/>
          <a:lstStyle/>
          <a:p>
            <a:b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99F86A7-F6EA-B87E-7DF5-EE950CFB3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114" y="2460171"/>
            <a:ext cx="10602686" cy="371679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*  We can avoid MRI scan if clinical examination findings are accurate. 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*  Relying on MRI without proper clinical examination will lead the surgeon in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    trouble.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*  This expensive diagnostic technique should only be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utilised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in cases of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  difficult dubious , equivocal and complicated knee injuries 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2904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69D46-6D83-7065-26A1-D212BC2D8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343" y="1693295"/>
            <a:ext cx="10515600" cy="264659"/>
          </a:xfrm>
        </p:spPr>
        <p:txBody>
          <a:bodyPr/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REFERENCES: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0E64E-D00D-8CE9-13C7-A8548BA5A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285" y="1957954"/>
            <a:ext cx="11103429" cy="421900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-Baker BE, Peckham AC,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Pupparo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F, Sanborn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JC.Review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of   meniscal injury and associated sports. Am J Sports Med, 1985;13:1-4.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-Steinbruck K. Epidemiology of sports injuries-25.year-analysis of sports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orthopedic-traumatologic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ambulatory care.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Sportverletz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Sportschaden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. 1999;13:38-52. 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-Steinbruck K. Epidemiology of sports injuries-A 15year analysis of sports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orthopedic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ambulatory care.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Sportverletz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Sportschaden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. 1995;11:35-9. 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-Salata MJ. Gibbs AE, Sekiya JK. A systematic review of clinical outcomes in patients l undergoing meniscectomy, Am J Sports Med, 2010;38:1907-16.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-Noble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J，Hamblen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DL.The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pathology of the degenerate meniscus lesion. J Bone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Jt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Surg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Br, 1975;57:180-6.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7040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558</Words>
  <Application>Microsoft Office PowerPoint</Application>
  <PresentationFormat>Widescreen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Gordita </vt:lpstr>
      <vt:lpstr>Office Theme</vt:lpstr>
      <vt:lpstr>COMPARISON BETWEEN CLINICAL EXAMINATION AND MAGNETIC RESONANCE IMAGING IN ACCURATELY DIAGNOSING MENISCAL TEARS</vt:lpstr>
      <vt:lpstr>INTRODUCTION:</vt:lpstr>
      <vt:lpstr> AIM:</vt:lpstr>
      <vt:lpstr>METHODS: </vt:lpstr>
      <vt:lpstr>RESULTS:</vt:lpstr>
      <vt:lpstr>PowerPoint Presentation</vt:lpstr>
      <vt:lpstr>  CONCLUSION:</vt:lpstr>
      <vt:lpstr>REFERENCES: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Virinchi Vinay</dc:creator>
  <cp:lastModifiedBy>atulpratap tomar</cp:lastModifiedBy>
  <cp:revision>6</cp:revision>
  <dcterms:created xsi:type="dcterms:W3CDTF">2026-01-11T06:24:43Z</dcterms:created>
  <dcterms:modified xsi:type="dcterms:W3CDTF">2026-01-29T10:12:34Z</dcterms:modified>
</cp:coreProperties>
</file>