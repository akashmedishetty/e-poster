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34D"/>
    <a:srgbClr val="525755"/>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9"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0"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1"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2"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4"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Slide Image Placeholder 1"/>
          <p:cNvSpPr>
            <a:spLocks noGrp="1" noRot="1" noChangeAspect="1"/>
          </p:cNvSpPr>
          <p:nvPr>
            <p:ph type="sldImg"/>
          </p:nvPr>
        </p:nvSpPr>
        <p:spPr>
          <a:xfrm>
            <a:off x="138113" y="766763"/>
            <a:ext cx="6823075" cy="3838575"/>
          </a:xfrm>
        </p:spPr>
      </p:sp>
      <p:sp>
        <p:nvSpPr>
          <p:cNvPr id="1048604" name="Notes Placeholder 2"/>
          <p:cNvSpPr>
            <a:spLocks noGrp="1"/>
          </p:cNvSpPr>
          <p:nvPr>
            <p:ph type="body" idx="1"/>
          </p:nvPr>
        </p:nvSpPr>
        <p:spPr/>
        <p:txBody>
          <a:bodyPr/>
          <a:lstStyle/>
          <a:p>
            <a:endParaRPr lang="en-IN" dirty="0"/>
          </a:p>
        </p:txBody>
      </p:sp>
      <p:sp>
        <p:nvSpPr>
          <p:cNvPr id="1048605" name="Slide Number Placeholder 3"/>
          <p:cNvSpPr>
            <a:spLocks noGrp="1"/>
          </p:cNvSpPr>
          <p:nvPr>
            <p:ph type="sldNum" sz="quarter" idx="5"/>
          </p:nvPr>
        </p:nvSpPr>
        <p:spPr/>
        <p:txBody>
          <a:bodyPr/>
          <a:lstStyle/>
          <a:p>
            <a:fld id="{A9A0EA98-5831-4853-B862-C702E6EB345C}"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48583"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584"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585"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15"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1048616"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7"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18"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19"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1"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1048632"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048633"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34"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35"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6"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1048637"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8"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9"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40"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41"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104864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7" name="Date Placeholder 6"/>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4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49" name="Slide Number Placeholder 8"/>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06"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1048607" name="Date Placeholder 2"/>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08"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09" name="Slide Number Placeholder 4"/>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0" name="Date Placeholder 1"/>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51"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52" name="Slide Number Placeholder 3"/>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3"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1048654"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5"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6"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57"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58"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0"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1048621"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22"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23"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24"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25"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6"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1048627"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8"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29"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30"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0"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1048611"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2"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2/13/2026</a:t>
            </a:fld>
            <a:endParaRPr lang="en-US"/>
          </a:p>
        </p:txBody>
      </p:sp>
      <p:sp>
        <p:nvSpPr>
          <p:cNvPr id="1048613"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1048614"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97152" name="Picture 14"/>
          <p:cNvPicPr>
            <a:picLocks noChangeAspect="1"/>
          </p:cNvPicPr>
          <p:nvPr userDrawn="1"/>
        </p:nvPicPr>
        <p:blipFill>
          <a:blip r:embed="rId13"/>
          <a:stretch>
            <a:fillRect/>
          </a:stretch>
        </p:blipFill>
        <p:spPr>
          <a:xfrm>
            <a:off x="9006884" y="74822"/>
            <a:ext cx="1043154" cy="1043154"/>
          </a:xfrm>
          <a:prstGeom prst="rect">
            <a:avLst/>
          </a:prstGeom>
        </p:spPr>
      </p:pic>
      <p:pic>
        <p:nvPicPr>
          <p:cNvPr id="2097153" name="Picture 15"/>
          <p:cNvPicPr>
            <a:picLocks noChangeAspect="1"/>
          </p:cNvPicPr>
          <p:nvPr userDrawn="1"/>
        </p:nvPicPr>
        <p:blipFill>
          <a:blip r:embed="rId14"/>
          <a:stretch>
            <a:fillRect/>
          </a:stretch>
        </p:blipFill>
        <p:spPr>
          <a:xfrm>
            <a:off x="10947316" y="123390"/>
            <a:ext cx="884047" cy="884047"/>
          </a:xfrm>
          <a:prstGeom prst="rect">
            <a:avLst/>
          </a:prstGeom>
        </p:spPr>
      </p:pic>
      <p:pic>
        <p:nvPicPr>
          <p:cNvPr id="2097154" name="Picture 16"/>
          <p:cNvPicPr>
            <a:picLocks noChangeAspect="1"/>
          </p:cNvPicPr>
          <p:nvPr userDrawn="1"/>
        </p:nvPicPr>
        <p:blipFill>
          <a:blip r:embed="rId15"/>
          <a:stretch>
            <a:fillRect/>
          </a:stretch>
        </p:blipFill>
        <p:spPr>
          <a:xfrm>
            <a:off x="10127893" y="192303"/>
            <a:ext cx="785940" cy="785940"/>
          </a:xfrm>
          <a:prstGeom prst="rect">
            <a:avLst/>
          </a:prstGeom>
        </p:spPr>
      </p:pic>
      <p:sp>
        <p:nvSpPr>
          <p:cNvPr id="1048577"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048578"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1048579"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1048580"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13"/>
          <p:cNvSpPr/>
          <p:nvPr/>
        </p:nvSpPr>
        <p:spPr>
          <a:xfrm>
            <a:off x="2" y="-45618"/>
            <a:ext cx="12191998" cy="1415184"/>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97155" name="Picture 14"/>
          <p:cNvPicPr>
            <a:picLocks noChangeAspect="1"/>
          </p:cNvPicPr>
          <p:nvPr/>
        </p:nvPicPr>
        <p:blipFill>
          <a:blip r:embed="rId3"/>
          <a:stretch>
            <a:fillRect/>
          </a:stretch>
        </p:blipFill>
        <p:spPr>
          <a:xfrm>
            <a:off x="9530075" y="-4749"/>
            <a:ext cx="1043154" cy="796489"/>
          </a:xfrm>
          <a:prstGeom prst="rect">
            <a:avLst/>
          </a:prstGeom>
        </p:spPr>
      </p:pic>
      <p:pic>
        <p:nvPicPr>
          <p:cNvPr id="2097156" name="Picture 15"/>
          <p:cNvPicPr>
            <a:picLocks noChangeAspect="1"/>
          </p:cNvPicPr>
          <p:nvPr/>
        </p:nvPicPr>
        <p:blipFill>
          <a:blip r:embed="rId4"/>
          <a:stretch>
            <a:fillRect/>
          </a:stretch>
        </p:blipFill>
        <p:spPr>
          <a:xfrm>
            <a:off x="11295150" y="-36097"/>
            <a:ext cx="884047" cy="884047"/>
          </a:xfrm>
          <a:prstGeom prst="rect">
            <a:avLst/>
          </a:prstGeom>
        </p:spPr>
      </p:pic>
      <p:pic>
        <p:nvPicPr>
          <p:cNvPr id="2097157" name="Picture 16"/>
          <p:cNvPicPr>
            <a:picLocks noChangeAspect="1"/>
          </p:cNvPicPr>
          <p:nvPr/>
        </p:nvPicPr>
        <p:blipFill>
          <a:blip r:embed="rId5"/>
          <a:stretch>
            <a:fillRect/>
          </a:stretch>
        </p:blipFill>
        <p:spPr>
          <a:xfrm>
            <a:off x="10547620" y="0"/>
            <a:ext cx="785940" cy="688689"/>
          </a:xfrm>
          <a:prstGeom prst="rect">
            <a:avLst/>
          </a:prstGeom>
        </p:spPr>
      </p:pic>
      <p:sp>
        <p:nvSpPr>
          <p:cNvPr id="1048587" name="TextBox 17"/>
          <p:cNvSpPr txBox="1"/>
          <p:nvPr/>
        </p:nvSpPr>
        <p:spPr>
          <a:xfrm>
            <a:off x="1328057" y="65054"/>
            <a:ext cx="8202011" cy="338554"/>
          </a:xfrm>
          <a:prstGeom prst="rect">
            <a:avLst/>
          </a:prstGeom>
          <a:noFill/>
        </p:spPr>
        <p:txBody>
          <a:bodyPr wrap="square" rtlCol="0">
            <a:spAutoFit/>
          </a:bodyPr>
          <a:lstStyle/>
          <a:p>
            <a:pPr algn="ctr"/>
            <a:r>
              <a:rPr lang="en-US" sz="1600" b="1" dirty="0">
                <a:solidFill>
                  <a:schemeClr val="bg1"/>
                </a:solidFill>
                <a:latin typeface="Gordita "/>
              </a:rPr>
              <a:t>55</a:t>
            </a:r>
            <a:r>
              <a:rPr lang="en-US" sz="1600" b="1" baseline="30000" dirty="0">
                <a:solidFill>
                  <a:schemeClr val="bg1"/>
                </a:solidFill>
                <a:latin typeface="Gordita "/>
              </a:rPr>
              <a:t>th</a:t>
            </a:r>
            <a:r>
              <a:rPr lang="en-US" sz="1600" b="1" dirty="0">
                <a:solidFill>
                  <a:schemeClr val="bg1"/>
                </a:solidFill>
                <a:latin typeface="Gordita "/>
              </a:rPr>
              <a:t>   Annual Conference of Orthopedic Surgeon Society of Andhra Pradesh</a:t>
            </a:r>
          </a:p>
        </p:txBody>
      </p:sp>
      <p:sp>
        <p:nvSpPr>
          <p:cNvPr id="1048588" name="TextBox 18"/>
          <p:cNvSpPr txBox="1"/>
          <p:nvPr/>
        </p:nvSpPr>
        <p:spPr>
          <a:xfrm>
            <a:off x="1445293" y="360853"/>
            <a:ext cx="8084775" cy="430887"/>
          </a:xfrm>
          <a:prstGeom prst="rect">
            <a:avLst/>
          </a:prstGeom>
          <a:noFill/>
        </p:spPr>
        <p:txBody>
          <a:bodyPr wrap="square" rtlCol="0">
            <a:spAutoFit/>
          </a:bodyPr>
          <a:lstStyle/>
          <a:p>
            <a:pPr algn="ctr"/>
            <a:r>
              <a:rPr lang="en-US" sz="1100" b="1" dirty="0">
                <a:solidFill>
                  <a:schemeClr val="bg1"/>
                </a:solidFill>
                <a:latin typeface="Gordita "/>
              </a:rPr>
              <a:t>Date  20– 22 February,2026, Venue : Kurnool Medical College </a:t>
            </a:r>
          </a:p>
          <a:p>
            <a:pPr algn="ctr"/>
            <a:r>
              <a:rPr lang="en-US" sz="1100" b="1" dirty="0">
                <a:solidFill>
                  <a:schemeClr val="bg1"/>
                </a:solidFill>
                <a:latin typeface="Gordita "/>
              </a:rPr>
              <a:t>Organized by : Department of </a:t>
            </a:r>
            <a:r>
              <a:rPr lang="en-US" sz="1100" b="1" dirty="0" err="1">
                <a:solidFill>
                  <a:schemeClr val="bg1"/>
                </a:solidFill>
                <a:latin typeface="Gordita "/>
              </a:rPr>
              <a:t>Orthopaedics</a:t>
            </a:r>
            <a:r>
              <a:rPr lang="en-US" sz="1100" b="1" dirty="0">
                <a:solidFill>
                  <a:schemeClr val="bg1"/>
                </a:solidFill>
                <a:latin typeface="Gordita "/>
              </a:rPr>
              <a:t>, Kurnool Medical College Kurnool</a:t>
            </a:r>
          </a:p>
        </p:txBody>
      </p:sp>
      <p:sp>
        <p:nvSpPr>
          <p:cNvPr id="1048589" name="TextBox 19"/>
          <p:cNvSpPr txBox="1"/>
          <p:nvPr/>
        </p:nvSpPr>
        <p:spPr>
          <a:xfrm>
            <a:off x="1445293" y="864781"/>
            <a:ext cx="8084775" cy="461665"/>
          </a:xfrm>
          <a:prstGeom prst="rect">
            <a:avLst/>
          </a:prstGeom>
          <a:noFill/>
        </p:spPr>
        <p:txBody>
          <a:bodyPr wrap="square" rtlCol="0">
            <a:spAutoFit/>
          </a:bodyPr>
          <a:lstStyle/>
          <a:p>
            <a:pPr algn="ctr"/>
            <a:r>
              <a:rPr lang="en-US" sz="12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PRESENTED : Dr CHENNAIAH G,POST GRADUATUE, ORTHOPEDICS</a:t>
            </a:r>
          </a:p>
          <a:p>
            <a:pPr algn="ctr"/>
            <a:r>
              <a:rPr lang="en-US" sz="12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GUIDES : Dr G PRANEETH KUMAR REDDY, ASST PROFFESSOR : Dr Y RAMANA ,PROFESSOR</a:t>
            </a:r>
          </a:p>
        </p:txBody>
      </p:sp>
      <p:sp>
        <p:nvSpPr>
          <p:cNvPr id="1048590" name="Freeform 13"/>
          <p:cNvSpPr/>
          <p:nvPr/>
        </p:nvSpPr>
        <p:spPr>
          <a:xfrm>
            <a:off x="-60264" y="-50881"/>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1048591" name="Rectangle 4"/>
          <p:cNvSpPr/>
          <p:nvPr/>
        </p:nvSpPr>
        <p:spPr>
          <a:xfrm>
            <a:off x="8684" y="1678243"/>
            <a:ext cx="3118813" cy="30475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 sz="1150" dirty="0">
                <a:solidFill>
                  <a:schemeClr val="tx1"/>
                </a:solidFill>
                <a:latin typeface="Calibri" panose="020F0502020204030204" pitchFamily="34" charset="0"/>
                <a:ea typeface="Calibri" panose="020F0502020204030204" pitchFamily="34" charset="0"/>
                <a:cs typeface="Calibri" panose="020F0502020204030204" pitchFamily="34" charset="0"/>
              </a:rPr>
              <a:t>Distal humerus fractures account for a small but </a:t>
            </a:r>
            <a:r>
              <a:rPr lang="en-US" altLang="en" sz="1150" b="1" dirty="0">
                <a:solidFill>
                  <a:schemeClr val="tx1"/>
                </a:solidFill>
                <a:latin typeface="Calibri" panose="020F0502020204030204" pitchFamily="34" charset="0"/>
                <a:ea typeface="Calibri" panose="020F0502020204030204" pitchFamily="34" charset="0"/>
                <a:cs typeface="Calibri" panose="020F0502020204030204" pitchFamily="34" charset="0"/>
              </a:rPr>
              <a:t>complex group of elbow injuries</a:t>
            </a:r>
            <a:r>
              <a:rPr lang="en-US" altLang="en" sz="1150" dirty="0">
                <a:solidFill>
                  <a:schemeClr val="tx1"/>
                </a:solidFill>
                <a:latin typeface="Calibri" panose="020F0502020204030204" pitchFamily="34" charset="0"/>
                <a:ea typeface="Calibri" panose="020F0502020204030204" pitchFamily="34" charset="0"/>
                <a:cs typeface="Calibri" panose="020F0502020204030204" pitchFamily="34" charset="0"/>
              </a:rPr>
              <a:t> due to</a:t>
            </a:r>
            <a:endParaRPr lang="en-US" sz="115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r>
              <a:rPr lang="en-US" altLang="en" sz="1150" dirty="0">
                <a:solidFill>
                  <a:schemeClr val="tx1"/>
                </a:solidFill>
                <a:latin typeface="Calibri" panose="020F0502020204030204" pitchFamily="34" charset="0"/>
                <a:ea typeface="Calibri" panose="020F0502020204030204" pitchFamily="34" charset="0"/>
                <a:cs typeface="Calibri" panose="020F0502020204030204" pitchFamily="34" charset="0"/>
              </a:rPr>
              <a:t>Intra-articular involvement, Comminution, Limited soft-tissue envelope</a:t>
            </a:r>
            <a:endParaRPr lang="en-US" sz="115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r>
              <a:rPr lang="en-US" altLang="en" sz="1150" b="1" dirty="0">
                <a:solidFill>
                  <a:schemeClr val="tx1"/>
                </a:solidFill>
                <a:latin typeface="Calibri" panose="020F0502020204030204" pitchFamily="34" charset="0"/>
                <a:ea typeface="Calibri" panose="020F0502020204030204" pitchFamily="34" charset="0"/>
                <a:cs typeface="Calibri" panose="020F0502020204030204" pitchFamily="34" charset="0"/>
              </a:rPr>
              <a:t>Surgical managemen</a:t>
            </a:r>
            <a:r>
              <a:rPr lang="en-US" altLang="en" sz="1150" dirty="0">
                <a:solidFill>
                  <a:schemeClr val="tx1"/>
                </a:solidFill>
                <a:latin typeface="Calibri" panose="020F0502020204030204" pitchFamily="34" charset="0"/>
                <a:ea typeface="Calibri" panose="020F0502020204030204" pitchFamily="34" charset="0"/>
                <a:cs typeface="Calibri" panose="020F0502020204030204" pitchFamily="34" charset="0"/>
              </a:rPr>
              <a:t>t requires Excellent visualization,Anatomical reduction of articular surface &amp; Stable fixation allowing early mobilization</a:t>
            </a:r>
            <a:endParaRPr lang="en-US" sz="115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r>
              <a:rPr lang="en-US" altLang="en" sz="1150" b="1" dirty="0">
                <a:solidFill>
                  <a:schemeClr val="tx1"/>
                </a:solidFill>
                <a:latin typeface="Calibri" panose="020F0502020204030204" pitchFamily="34" charset="0"/>
                <a:ea typeface="Calibri" panose="020F0502020204030204" pitchFamily="34" charset="0"/>
                <a:cs typeface="Calibri" panose="020F0502020204030204" pitchFamily="34" charset="0"/>
              </a:rPr>
              <a:t>Traditional posterior approaches</a:t>
            </a:r>
            <a:r>
              <a:rPr lang="en-US" altLang="en" sz="1150" dirty="0">
                <a:solidFill>
                  <a:schemeClr val="tx1"/>
                </a:solidFill>
                <a:latin typeface="Calibri" panose="020F0502020204030204" pitchFamily="34" charset="0"/>
                <a:ea typeface="Calibri" panose="020F0502020204030204" pitchFamily="34" charset="0"/>
                <a:cs typeface="Calibri" panose="020F0502020204030204" pitchFamily="34" charset="0"/>
              </a:rPr>
              <a:t> (especially olecranon osteotomy) provide wide exposure but are associated with complications such as: Nonunion, Implant prominence &amp; Need for secondary surgery. </a:t>
            </a:r>
            <a:r>
              <a:rPr lang="en-US" altLang="en" sz="1150" b="1" dirty="0">
                <a:solidFill>
                  <a:schemeClr val="tx1"/>
                </a:solidFill>
                <a:latin typeface="Calibri" panose="020F0502020204030204" pitchFamily="34" charset="0"/>
                <a:ea typeface="Calibri" panose="020F0502020204030204" pitchFamily="34" charset="0"/>
                <a:cs typeface="Calibri" panose="020F0502020204030204" pitchFamily="34" charset="0"/>
              </a:rPr>
              <a:t>Von Gorder’s approach </a:t>
            </a:r>
            <a:r>
              <a:rPr lang="en-US" altLang="en" sz="1150" dirty="0">
                <a:solidFill>
                  <a:schemeClr val="tx1"/>
                </a:solidFill>
                <a:latin typeface="Calibri" panose="020F0502020204030204" pitchFamily="34" charset="0"/>
                <a:ea typeface="Calibri" panose="020F0502020204030204" pitchFamily="34" charset="0"/>
                <a:cs typeface="Calibri" panose="020F0502020204030204" pitchFamily="34" charset="0"/>
              </a:rPr>
              <a:t>is a posterior triceps-reflecting approach that avoids olecranon osteotomy while preserving the extensor mechanism, making it relevant for selected distal humerus fractures.</a:t>
            </a:r>
            <a:endParaRPr lang="en-US" sz="11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48592" name="Rectangle 5"/>
          <p:cNvSpPr/>
          <p:nvPr/>
        </p:nvSpPr>
        <p:spPr>
          <a:xfrm>
            <a:off x="8684" y="5006394"/>
            <a:ext cx="3108960" cy="18516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Adult patient presenting after high-energy trauma with pain,</a:t>
            </a:r>
            <a:r>
              <a:rPr lang="en-US" altLang="en" sz="1100" dirty="0">
                <a:solidFill>
                  <a:schemeClr val="tx1"/>
                </a:solidFill>
                <a:latin typeface="Calibri" panose="020F0502020204030204" pitchFamily="34" charset="0"/>
                <a:ea typeface="Calibri" panose="020F0502020204030204" pitchFamily="34" charset="0"/>
                <a:cs typeface="Calibri" panose="020F0502020204030204" pitchFamily="34" charset="0"/>
              </a:rPr>
              <a:t>swelling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and restricted elbow movement.</a:t>
            </a: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Clinical </a:t>
            </a:r>
            <a:r>
              <a:rPr lang="en-US" altLang="en" sz="1100" b="1" dirty="0">
                <a:solidFill>
                  <a:schemeClr val="tx1"/>
                </a:solidFill>
                <a:latin typeface="Calibri" panose="020F0502020204030204" pitchFamily="34" charset="0"/>
                <a:ea typeface="Calibri" panose="020F0502020204030204" pitchFamily="34" charset="0"/>
                <a:cs typeface="Calibri" panose="020F0502020204030204" pitchFamily="34" charset="0"/>
              </a:rPr>
              <a:t>examination</a:t>
            </a:r>
            <a:r>
              <a:rPr lang="en-US" altLang="en" sz="11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revealed tenderness and loss of elbow function without </a:t>
            </a:r>
            <a:r>
              <a:rPr lang="en-US" altLang="en" sz="1100" dirty="0">
                <a:solidFill>
                  <a:schemeClr val="tx1"/>
                </a:solidFill>
                <a:latin typeface="Calibri" panose="020F0502020204030204" pitchFamily="34" charset="0"/>
                <a:ea typeface="Calibri" panose="020F0502020204030204" pitchFamily="34" charset="0"/>
                <a:cs typeface="Calibri" panose="020F0502020204030204" pitchFamily="34" charset="0"/>
              </a:rPr>
              <a:t>neurovascular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deficit.</a:t>
            </a: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Radiological evaluation:</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AP and lateral X-rays showed distal humerus fracture,CT scan used to define fracture geometry.</a:t>
            </a: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Fracture pattern:</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Simple intra-articular fracture.</a:t>
            </a: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Surgical plan:</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Open reduction and internal </a:t>
            </a:r>
            <a:r>
              <a:rPr lang="en-US" altLang="en" sz="1100" dirty="0">
                <a:solidFill>
                  <a:schemeClr val="tx1"/>
                </a:solidFill>
                <a:latin typeface="Calibri" panose="020F0502020204030204" pitchFamily="34" charset="0"/>
                <a:ea typeface="Calibri" panose="020F0502020204030204" pitchFamily="34" charset="0"/>
                <a:cs typeface="Calibri" panose="020F0502020204030204" pitchFamily="34" charset="0"/>
              </a:rPr>
              <a:t>fixation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using von Gorder’s posterior triceps-reflecting approach to minimize morbidity.</a:t>
            </a:r>
          </a:p>
        </p:txBody>
      </p:sp>
      <p:sp>
        <p:nvSpPr>
          <p:cNvPr id="1048593" name="Rectangle 6"/>
          <p:cNvSpPr/>
          <p:nvPr/>
        </p:nvSpPr>
        <p:spPr>
          <a:xfrm>
            <a:off x="3137836" y="1665364"/>
            <a:ext cx="3185962" cy="24881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Posterior midline skin incision over the elbow. Ulnar nerve identified, decompressed, and protected throughout the procedure. Triceps muscle reflected medially and laterally from the posterior humerus without splitting or olecranon osteotomy.Adequate exposure </a:t>
            </a:r>
            <a:r>
              <a:rPr lang="en-US" altLang="en" sz="1200" dirty="0">
                <a:solidFill>
                  <a:schemeClr val="tx1"/>
                </a:solidFill>
                <a:latin typeface="Calibri" panose="020F0502020204030204" pitchFamily="34" charset="0"/>
                <a:ea typeface="Calibri" panose="020F0502020204030204" pitchFamily="34" charset="0"/>
                <a:cs typeface="Calibri" panose="020F0502020204030204" pitchFamily="34" charset="0"/>
              </a:rPr>
              <a:t>of </a:t>
            </a: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Distal </a:t>
            </a:r>
            <a:r>
              <a:rPr lang="en-US" altLang="en" sz="1200" dirty="0">
                <a:solidFill>
                  <a:schemeClr val="tx1"/>
                </a:solidFill>
                <a:latin typeface="Calibri" panose="020F0502020204030204" pitchFamily="34" charset="0"/>
                <a:ea typeface="Calibri" panose="020F0502020204030204" pitchFamily="34" charset="0"/>
                <a:cs typeface="Calibri" panose="020F0502020204030204" pitchFamily="34" charset="0"/>
              </a:rPr>
              <a:t>humeral columns </a:t>
            </a: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Posterior aspect of the articular surface Fracture fragments were visualized clearly, reduced anatomically, and fixed using plates and screws. Triceps was securely reattached during closure, ensuring restoration of the extensor mechanism.</a:t>
            </a:r>
          </a:p>
        </p:txBody>
      </p:sp>
      <p:sp>
        <p:nvSpPr>
          <p:cNvPr id="1048594" name="Rectangle 7"/>
          <p:cNvSpPr/>
          <p:nvPr/>
        </p:nvSpPr>
        <p:spPr>
          <a:xfrm>
            <a:off x="6328238" y="1688089"/>
            <a:ext cx="5863762" cy="18782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Von Gorder’s approach provides a balance between exposure and soft-tissue preservation.</a:t>
            </a:r>
          </a:p>
          <a:p>
            <a:pPr algn="ctr"/>
            <a:r>
              <a:rPr lang="en-US" altLang="en" sz="1200" b="1" dirty="0">
                <a:solidFill>
                  <a:schemeClr val="tx1"/>
                </a:solidFill>
                <a:latin typeface="Calibri" panose="020F0502020204030204" pitchFamily="34" charset="0"/>
                <a:ea typeface="Calibri" panose="020F0502020204030204" pitchFamily="34" charset="0"/>
                <a:cs typeface="Calibri" panose="020F0502020204030204" pitchFamily="34" charset="0"/>
              </a:rPr>
              <a:t>Advantages: </a:t>
            </a: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Avoids olecranon osteotomy and its complications:</a:t>
            </a:r>
          </a:p>
          <a:p>
            <a:pPr algn="ct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(Nonunion, Implant irritation), Preserves triceps continuity →better postoperative extension strength,Reduced surgical morbidity,Early rehabilitation possible</a:t>
            </a: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r>
              <a:rPr lang="en-US" altLang="en" sz="1200" b="1" dirty="0">
                <a:solidFill>
                  <a:schemeClr val="tx1"/>
                </a:solidFill>
                <a:latin typeface="Calibri" panose="020F0502020204030204" pitchFamily="34" charset="0"/>
                <a:ea typeface="Calibri" panose="020F0502020204030204" pitchFamily="34" charset="0"/>
                <a:cs typeface="Calibri" panose="020F0502020204030204" pitchFamily="34" charset="0"/>
              </a:rPr>
              <a:t>Limitations: </a:t>
            </a: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Articular visualization is less than that achieved with olecranon osteotomy, Not ideal for:Severely comminuted intra-articular fractures,Complex AO type C3 fractures</a:t>
            </a: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Indications:</a:t>
            </a:r>
            <a:r>
              <a:rPr lang="en-US" altLang="en" sz="12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Extra-articular distal humerus fractures,Simple intra-articular fractures,Patients where avoiding osteotomy is desirable</a:t>
            </a: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48595" name="Rectangle 8"/>
          <p:cNvSpPr/>
          <p:nvPr/>
        </p:nvSpPr>
        <p:spPr>
          <a:xfrm>
            <a:off x="6302371" y="3831563"/>
            <a:ext cx="5889629" cy="30264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1048596" name="Rectangle 9"/>
          <p:cNvSpPr/>
          <p:nvPr/>
        </p:nvSpPr>
        <p:spPr>
          <a:xfrm>
            <a:off x="0" y="1369566"/>
            <a:ext cx="3137836" cy="305228"/>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048597" name="Rectangle 10"/>
          <p:cNvSpPr/>
          <p:nvPr/>
        </p:nvSpPr>
        <p:spPr>
          <a:xfrm>
            <a:off x="3127496" y="1382860"/>
            <a:ext cx="3196301" cy="291934"/>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048598" name="Rectangle 11"/>
          <p:cNvSpPr/>
          <p:nvPr/>
        </p:nvSpPr>
        <p:spPr>
          <a:xfrm>
            <a:off x="6334136" y="1389281"/>
            <a:ext cx="5857862" cy="285514"/>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048599" name="Rectangle 12"/>
          <p:cNvSpPr/>
          <p:nvPr/>
        </p:nvSpPr>
        <p:spPr>
          <a:xfrm>
            <a:off x="0" y="4725814"/>
            <a:ext cx="3108960" cy="280580"/>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1048600" name="Rectangle 21"/>
          <p:cNvSpPr/>
          <p:nvPr/>
        </p:nvSpPr>
        <p:spPr>
          <a:xfrm>
            <a:off x="6312224" y="3539629"/>
            <a:ext cx="5879774" cy="291934"/>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1048601" name="TextBox 1048601"/>
          <p:cNvSpPr txBox="1"/>
          <p:nvPr/>
        </p:nvSpPr>
        <p:spPr>
          <a:xfrm>
            <a:off x="6338091" y="3806559"/>
            <a:ext cx="5853907" cy="3240759"/>
          </a:xfrm>
          <a:prstGeom prst="rect">
            <a:avLst/>
          </a:prstGeom>
        </p:spPr>
        <p:txBody>
          <a:bodyPr wrap="square" rtlCol="0">
            <a:spAutoFit/>
          </a:bodyPr>
          <a:lstStyle/>
          <a:p>
            <a:pPr algn="l">
              <a:lnSpc>
                <a:spcPct val="115000"/>
              </a:lnSpc>
              <a:spcAft>
                <a:spcPts val="1000"/>
              </a:spcAft>
            </a:pPr>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Von Gorder’s approach is a reliable posterior triceps-reflecting technique for selected distal humerus fractures. It provides sufficient exposure for stable fixation while minimizing complications associated with olecranon osteotomy. </a:t>
            </a:r>
          </a:p>
          <a:p>
            <a:pPr algn="l">
              <a:lnSpc>
                <a:spcPct val="115000"/>
              </a:lnSpc>
              <a:spcAft>
                <a:spcPts val="1000"/>
              </a:spcAft>
            </a:pPr>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Proper fracture selection is critical for success. </a:t>
            </a:r>
          </a:p>
          <a:p>
            <a:pPr algn="l">
              <a:lnSpc>
                <a:spcPct val="115000"/>
              </a:lnSpc>
              <a:spcAft>
                <a:spcPts val="1000"/>
              </a:spcAft>
            </a:pPr>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Revisiting this approach reinforces its continued relevance in modern orthopedic trauma surgery, especially where preservation of triceps function and reduction of surgical morbidity are priorities. </a:t>
            </a:r>
          </a:p>
          <a:p>
            <a:r>
              <a:rPr lang="en-US" sz="1000" b="1" dirty="0">
                <a:latin typeface="Calibri" panose="020F0502020204030204" pitchFamily="34" charset="0"/>
                <a:ea typeface="Calibri" panose="020F0502020204030204" pitchFamily="34" charset="0"/>
                <a:cs typeface="Calibri" panose="020F0502020204030204" pitchFamily="34" charset="0"/>
              </a:rPr>
              <a:t>References:</a:t>
            </a:r>
          </a:p>
          <a:p>
            <a:r>
              <a:rPr lang="en-US" sz="1000" dirty="0">
                <a:latin typeface="Calibri" panose="020F0502020204030204" pitchFamily="34" charset="0"/>
                <a:ea typeface="Calibri" panose="020F0502020204030204" pitchFamily="34" charset="0"/>
                <a:cs typeface="Calibri" panose="020F0502020204030204" pitchFamily="34" charset="0"/>
              </a:rPr>
              <a:t>1.Von Gorder GW-Surgical approach in fractures involving the distal end of the </a:t>
            </a:r>
            <a:r>
              <a:rPr lang="en-US" sz="1000" dirty="0" err="1">
                <a:latin typeface="Calibri" panose="020F0502020204030204" pitchFamily="34" charset="0"/>
                <a:ea typeface="Calibri" panose="020F0502020204030204" pitchFamily="34" charset="0"/>
                <a:cs typeface="Calibri" panose="020F0502020204030204" pitchFamily="34" charset="0"/>
              </a:rPr>
              <a:t>humerus.Journal</a:t>
            </a:r>
            <a:r>
              <a:rPr lang="en-US" sz="1000" dirty="0">
                <a:latin typeface="Calibri" panose="020F0502020204030204" pitchFamily="34" charset="0"/>
                <a:ea typeface="Calibri" panose="020F0502020204030204" pitchFamily="34" charset="0"/>
                <a:cs typeface="Calibri" panose="020F0502020204030204" pitchFamily="34" charset="0"/>
              </a:rPr>
              <a:t> of Bone and Joint Surgery (JBJS). 1940;22:969–981.</a:t>
            </a:r>
          </a:p>
          <a:p>
            <a:r>
              <a:rPr lang="en-US" sz="1000" dirty="0">
                <a:latin typeface="Calibri" panose="020F0502020204030204" pitchFamily="34" charset="0"/>
                <a:ea typeface="Calibri" panose="020F0502020204030204" pitchFamily="34" charset="0"/>
                <a:cs typeface="Calibri" panose="020F0502020204030204" pitchFamily="34" charset="0"/>
              </a:rPr>
              <a:t>2.Morrey BF, Sanchez-Sotelo J-The Elbow and Its Disorders. 4th ed. Philadelphia: Elsevier; 2009(Chapter on surgical approaches to the elbow)</a:t>
            </a:r>
          </a:p>
          <a:p>
            <a:r>
              <a:rPr lang="en-US" sz="1000" dirty="0">
                <a:latin typeface="Calibri" panose="020F0502020204030204" pitchFamily="34" charset="0"/>
                <a:ea typeface="Calibri" panose="020F0502020204030204" pitchFamily="34" charset="0"/>
                <a:cs typeface="Calibri" panose="020F0502020204030204" pitchFamily="34" charset="0"/>
              </a:rPr>
              <a:t>3.Campbell WC, Canale ST, Beaty JH-Campbell’s Operative </a:t>
            </a:r>
            <a:r>
              <a:rPr lang="en-US" sz="1000" dirty="0" err="1">
                <a:latin typeface="Calibri" panose="020F0502020204030204" pitchFamily="34" charset="0"/>
                <a:ea typeface="Calibri" panose="020F0502020204030204" pitchFamily="34" charset="0"/>
                <a:cs typeface="Calibri" panose="020F0502020204030204" pitchFamily="34" charset="0"/>
              </a:rPr>
              <a:t>Orthopaedics</a:t>
            </a:r>
            <a:r>
              <a:rPr lang="en-US" sz="1000" dirty="0">
                <a:latin typeface="Calibri" panose="020F0502020204030204" pitchFamily="34" charset="0"/>
                <a:ea typeface="Calibri" panose="020F0502020204030204" pitchFamily="34" charset="0"/>
                <a:cs typeface="Calibri" panose="020F0502020204030204" pitchFamily="34" charset="0"/>
              </a:rPr>
              <a:t>. 13th ed. Elsevier; 2017.(Posterior approaches to distal humerus)</a:t>
            </a:r>
          </a:p>
          <a:p>
            <a:pPr algn="l">
              <a:lnSpc>
                <a:spcPct val="115000"/>
              </a:lnSpc>
              <a:spcAft>
                <a:spcPts val="1000"/>
              </a:spcAft>
            </a:pPr>
            <a:endParaRPr lang="zh-CN" altLang="en-US" sz="1200" dirty="0">
              <a:latin typeface="Calibri" panose="020F0502020204030204" pitchFamily="34" charset="0"/>
              <a:cs typeface="Calibri" panose="020F0502020204030204" pitchFamily="34" charset="0"/>
            </a:endParaRPr>
          </a:p>
        </p:txBody>
      </p:sp>
      <p:pic>
        <p:nvPicPr>
          <p:cNvPr id="2097158" name="Picture 2097157"/>
          <p:cNvPicPr>
            <a:picLocks/>
          </p:cNvPicPr>
          <p:nvPr/>
        </p:nvPicPr>
        <p:blipFill>
          <a:blip r:embed="rId7"/>
          <a:stretch>
            <a:fillRect/>
          </a:stretch>
        </p:blipFill>
        <p:spPr>
          <a:xfrm>
            <a:off x="3137836" y="4159400"/>
            <a:ext cx="3173219" cy="1519214"/>
          </a:xfrm>
          <a:prstGeom prst="rect">
            <a:avLst/>
          </a:prstGeom>
        </p:spPr>
        <p:style>
          <a:lnRef idx="2">
            <a:schemeClr val="accent4">
              <a:shade val="15000"/>
            </a:schemeClr>
          </a:lnRef>
          <a:fillRef idx="1">
            <a:schemeClr val="accent4"/>
          </a:fillRef>
          <a:effectRef idx="0">
            <a:schemeClr val="accent4"/>
          </a:effectRef>
          <a:fontRef idx="minor">
            <a:schemeClr val="lt1"/>
          </a:fontRef>
        </p:style>
      </p:pic>
      <p:pic>
        <p:nvPicPr>
          <p:cNvPr id="2097159" name="Picture 2097158"/>
          <p:cNvPicPr>
            <a:picLocks/>
          </p:cNvPicPr>
          <p:nvPr/>
        </p:nvPicPr>
        <p:blipFill>
          <a:blip r:embed="rId8"/>
          <a:stretch>
            <a:fillRect/>
          </a:stretch>
        </p:blipFill>
        <p:spPr>
          <a:xfrm>
            <a:off x="3126261" y="5696397"/>
            <a:ext cx="3185962" cy="1161603"/>
          </a:xfrm>
          <a:prstGeom prst="rect">
            <a:avLst/>
          </a:prstGeom>
        </p:spPr>
        <p:style>
          <a:lnRef idx="2">
            <a:schemeClr val="accent4">
              <a:shade val="15000"/>
            </a:schemeClr>
          </a:lnRef>
          <a:fillRef idx="1">
            <a:schemeClr val="accent4"/>
          </a:fillRef>
          <a:effectRef idx="0">
            <a:schemeClr val="accent4"/>
          </a:effectRef>
          <a:fontRef idx="minor">
            <a:schemeClr val="lt1"/>
          </a:fontRef>
        </p:style>
      </p:pic>
      <p:sp>
        <p:nvSpPr>
          <p:cNvPr id="1048602" name="Rectangle 4"/>
          <p:cNvSpPr/>
          <p:nvPr/>
        </p:nvSpPr>
        <p:spPr>
          <a:xfrm>
            <a:off x="9517268" y="758492"/>
            <a:ext cx="2561778" cy="607641"/>
          </a:xfrm>
          <a:prstGeom prst="rect">
            <a:avLst/>
          </a:prstGeom>
          <a:solidFill>
            <a:srgbClr val="01234D"/>
          </a:solidFill>
          <a:ln>
            <a:solidFill>
              <a:srgbClr val="012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Calibri" panose="020F0502020204030204" pitchFamily="34" charset="0"/>
                <a:ea typeface="Calibri" panose="020F0502020204030204" pitchFamily="34" charset="0"/>
                <a:cs typeface="Calibri" panose="020F0502020204030204" pitchFamily="34" charset="0"/>
              </a:rPr>
              <a:t>Registration id: OSSAP-82</a:t>
            </a:r>
          </a:p>
        </p:txBody>
      </p:sp>
      <p:sp>
        <p:nvSpPr>
          <p:cNvPr id="2" name="TextBox 1">
            <a:extLst>
              <a:ext uri="{FF2B5EF4-FFF2-40B4-BE49-F238E27FC236}">
                <a16:creationId xmlns:a16="http://schemas.microsoft.com/office/drawing/2014/main" id="{AAA01F5E-7720-F33A-7A44-393CF56AD3D2}"/>
              </a:ext>
            </a:extLst>
          </p:cNvPr>
          <p:cNvSpPr txBox="1"/>
          <p:nvPr/>
        </p:nvSpPr>
        <p:spPr>
          <a:xfrm rot="10800000" flipV="1">
            <a:off x="1345141" y="657374"/>
            <a:ext cx="8172127" cy="307777"/>
          </a:xfrm>
          <a:prstGeom prst="rect">
            <a:avLst/>
          </a:prstGeom>
          <a:noFill/>
        </p:spPr>
        <p:txBody>
          <a:bodyPr wrap="square" rtlCol="0">
            <a:spAutoFit/>
          </a:bodyPr>
          <a:lstStyle/>
          <a:p>
            <a:pPr algn="ctr"/>
            <a:r>
              <a:rPr lang="en-IN" sz="1400" b="1" dirty="0">
                <a:solidFill>
                  <a:srgbClr val="FFFF00"/>
                </a:solidFill>
                <a:latin typeface="Calibri" panose="020F0502020204030204" pitchFamily="34" charset="0"/>
                <a:ea typeface="Calibri" panose="020F0502020204030204" pitchFamily="34" charset="0"/>
                <a:cs typeface="Calibri" panose="020F0502020204030204" pitchFamily="34" charset="0"/>
              </a:rPr>
              <a:t>REVISITING VON GORDOS APPROACH TO DISTAL HUMERUS FRACTURES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563</Words>
  <Application>Microsoft Office PowerPoint</Application>
  <PresentationFormat>Widescreen</PresentationFormat>
  <Paragraphs>32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Virinchi Vinay</dc:creator>
  <cp:lastModifiedBy>Chennaiah G</cp:lastModifiedBy>
  <cp:revision>9</cp:revision>
  <cp:lastPrinted>2026-02-11T17:44:07Z</cp:lastPrinted>
  <dcterms:created xsi:type="dcterms:W3CDTF">2026-01-09T10:24:43Z</dcterms:created>
  <dcterms:modified xsi:type="dcterms:W3CDTF">2026-02-13T11:19:39Z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64b4bd02eef144c39d118cb62994b027</vt:lpwstr>
  </property>
</Properties>
</file>