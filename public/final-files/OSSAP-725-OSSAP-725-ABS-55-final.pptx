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25755"/>
    <a:srgbClr val="01234D"/>
    <a:srgbClr val="D9F2D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80" d="100"/>
          <a:sy n="80" d="100"/>
        </p:scale>
        <p:origin x="963" y="40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928CF7-C54C-3253-7CB3-4CB60C4B9648}"/>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863E176-0152-1EB9-B130-312E601D10AB}"/>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9FFAE6B-127E-B337-0AD1-96BED4F091EF}"/>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1/30/2026</a:t>
            </a:fld>
            <a:endParaRPr lang="en-US"/>
          </a:p>
        </p:txBody>
      </p:sp>
      <p:sp>
        <p:nvSpPr>
          <p:cNvPr id="5" name="Footer Placeholder 4">
            <a:extLst>
              <a:ext uri="{FF2B5EF4-FFF2-40B4-BE49-F238E27FC236}">
                <a16:creationId xmlns:a16="http://schemas.microsoft.com/office/drawing/2014/main" id="{40D5E608-905C-2142-2365-F68EB7F95FE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DFF68622-57FF-B5F0-4011-D23C810B459F}"/>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9448645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54781-A465-F143-A98C-94FD82413F7A}"/>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E1D11094-0A62-2805-2C56-EAB66E3F8FE2}"/>
              </a:ext>
            </a:extLst>
          </p:cNvPr>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25DF6B2-DE75-AA42-1BA3-56A152E3254C}"/>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1/30/2026</a:t>
            </a:fld>
            <a:endParaRPr lang="en-US"/>
          </a:p>
        </p:txBody>
      </p:sp>
      <p:sp>
        <p:nvSpPr>
          <p:cNvPr id="5" name="Footer Placeholder 4">
            <a:extLst>
              <a:ext uri="{FF2B5EF4-FFF2-40B4-BE49-F238E27FC236}">
                <a16:creationId xmlns:a16="http://schemas.microsoft.com/office/drawing/2014/main" id="{E1B95C1A-D479-0105-5ABD-2C9F2D4ED038}"/>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264AE42D-29E2-AB5A-9D0B-9821D21D8E26}"/>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25577859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D0A9C5-0C47-1DBF-A9F1-8826C36002C6}"/>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11B4216-49BB-98ED-9B94-654F199388F7}"/>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6747736-AC8A-3EB8-57D1-2A9C7AAC8FCF}"/>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1/30/2026</a:t>
            </a:fld>
            <a:endParaRPr lang="en-US"/>
          </a:p>
        </p:txBody>
      </p:sp>
      <p:sp>
        <p:nvSpPr>
          <p:cNvPr id="5" name="Footer Placeholder 4">
            <a:extLst>
              <a:ext uri="{FF2B5EF4-FFF2-40B4-BE49-F238E27FC236}">
                <a16:creationId xmlns:a16="http://schemas.microsoft.com/office/drawing/2014/main" id="{86E5BB55-6273-FBEF-64A3-8CF306288B94}"/>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0659087E-17BE-555C-DF0C-0F4361521714}"/>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22799950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411663-53A1-9E1F-5617-88CF82EC9BD9}"/>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C471D5E3-ECCA-B4D2-2633-7957691A3305}"/>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ECF5196-CC99-5011-B2D0-B4E6A682F565}"/>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8A8BA26-119C-CCCD-E391-AEF50B6FD708}"/>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1/30/2026</a:t>
            </a:fld>
            <a:endParaRPr lang="en-US"/>
          </a:p>
        </p:txBody>
      </p:sp>
      <p:sp>
        <p:nvSpPr>
          <p:cNvPr id="6" name="Footer Placeholder 5">
            <a:extLst>
              <a:ext uri="{FF2B5EF4-FFF2-40B4-BE49-F238E27FC236}">
                <a16:creationId xmlns:a16="http://schemas.microsoft.com/office/drawing/2014/main" id="{EBA14F4A-53BC-F382-885A-E89A766323AF}"/>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BC250453-2D7E-EDE2-4C30-876DA9F06F47}"/>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28642390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1C1600-9375-445B-F52D-49C2D79AB77A}"/>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890504FE-0E7A-7AAD-AA62-68B5061F0448}"/>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BEC0743-5AE4-C8DB-E431-9BF89F98CB7D}"/>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9F135F8-5672-C883-5700-82CCEB25C800}"/>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D143E3C-1062-3C3B-33DC-9DE5999687B6}"/>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144B81D-1D0D-2B34-ACE9-647404B6726C}"/>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1/30/2026</a:t>
            </a:fld>
            <a:endParaRPr lang="en-US"/>
          </a:p>
        </p:txBody>
      </p:sp>
      <p:sp>
        <p:nvSpPr>
          <p:cNvPr id="8" name="Footer Placeholder 7">
            <a:extLst>
              <a:ext uri="{FF2B5EF4-FFF2-40B4-BE49-F238E27FC236}">
                <a16:creationId xmlns:a16="http://schemas.microsoft.com/office/drawing/2014/main" id="{FA2B9CA9-FB5C-6A3F-A8C9-5A2303657F7B}"/>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04F8827A-8D6A-6027-36D4-A09116C39B05}"/>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15207137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9B2320-BF86-B4C0-4C77-57A8A14FAB1C}"/>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6DBF2AEC-90F1-FF9D-116C-F8E796EDE9FD}"/>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1/30/2026</a:t>
            </a:fld>
            <a:endParaRPr lang="en-US"/>
          </a:p>
        </p:txBody>
      </p:sp>
      <p:sp>
        <p:nvSpPr>
          <p:cNvPr id="4" name="Footer Placeholder 3">
            <a:extLst>
              <a:ext uri="{FF2B5EF4-FFF2-40B4-BE49-F238E27FC236}">
                <a16:creationId xmlns:a16="http://schemas.microsoft.com/office/drawing/2014/main" id="{8930F28E-A8F5-AFB5-B659-0E7A774C7AC7}"/>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A30AFD6F-07FF-B36A-B355-6F54892182D4}"/>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9587359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62561D-609B-41C4-03F7-C9EB1C339CA0}"/>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1/30/2026</a:t>
            </a:fld>
            <a:endParaRPr lang="en-US"/>
          </a:p>
        </p:txBody>
      </p:sp>
      <p:sp>
        <p:nvSpPr>
          <p:cNvPr id="3" name="Footer Placeholder 2">
            <a:extLst>
              <a:ext uri="{FF2B5EF4-FFF2-40B4-BE49-F238E27FC236}">
                <a16:creationId xmlns:a16="http://schemas.microsoft.com/office/drawing/2014/main" id="{C177B401-DFF1-9E83-1AFF-E5EC0ACD16EA}"/>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7A27D21B-F5D7-5E07-AD0D-285590E6DEA5}"/>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3898427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DF68E2-3E1C-4942-B972-676EF99620F3}"/>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AB3E5FE-9809-AA0D-0068-8D2879739446}"/>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45EC551-67C4-F4E7-1910-F519BF9045D8}"/>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86D973-5346-1585-DF1D-4A6D81AE612A}"/>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1/30/2026</a:t>
            </a:fld>
            <a:endParaRPr lang="en-US"/>
          </a:p>
        </p:txBody>
      </p:sp>
      <p:sp>
        <p:nvSpPr>
          <p:cNvPr id="6" name="Footer Placeholder 5">
            <a:extLst>
              <a:ext uri="{FF2B5EF4-FFF2-40B4-BE49-F238E27FC236}">
                <a16:creationId xmlns:a16="http://schemas.microsoft.com/office/drawing/2014/main" id="{F86FF201-46FF-F9B5-9CC0-41835305C68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35ECBF98-FECD-2939-6FDA-1F24F227DA04}"/>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38615285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4BCDCE-1DF9-541C-B7E9-6622BFED4115}"/>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45BBD72-9B7D-1B6B-5935-44F06A9178E8}"/>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746A0AE-8309-E148-1D29-29503949BDE0}"/>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96C41A5-6FCA-36FF-6CFA-7C0597A212FA}"/>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1/30/2026</a:t>
            </a:fld>
            <a:endParaRPr lang="en-US"/>
          </a:p>
        </p:txBody>
      </p:sp>
      <p:sp>
        <p:nvSpPr>
          <p:cNvPr id="6" name="Footer Placeholder 5">
            <a:extLst>
              <a:ext uri="{FF2B5EF4-FFF2-40B4-BE49-F238E27FC236}">
                <a16:creationId xmlns:a16="http://schemas.microsoft.com/office/drawing/2014/main" id="{A8DB2AD8-5418-91E2-23C4-D519A6265F26}"/>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E9F095D8-FC0F-CA9B-A1E7-AA64CF34EB67}"/>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40816603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56F263-9A0A-3394-3F1F-6C5F8D328ACA}"/>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E5FFEF5-760B-0BB1-28DC-68D43894F17E}"/>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F4F539A-7EBC-768A-374D-3E568BE3277A}"/>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1/30/2026</a:t>
            </a:fld>
            <a:endParaRPr lang="en-US"/>
          </a:p>
        </p:txBody>
      </p:sp>
      <p:sp>
        <p:nvSpPr>
          <p:cNvPr id="5" name="Footer Placeholder 4">
            <a:extLst>
              <a:ext uri="{FF2B5EF4-FFF2-40B4-BE49-F238E27FC236}">
                <a16:creationId xmlns:a16="http://schemas.microsoft.com/office/drawing/2014/main" id="{052D2046-7AA0-ACCC-813F-F0045C6B0ECA}"/>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1E743A9D-CF35-58E9-CEF7-84CD752F4941}"/>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21074731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E6EEB20-7BAE-8163-AF11-357FD764FC54}"/>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0D173BD-0918-77CD-3BC5-870F618AF1FF}"/>
              </a:ext>
            </a:extLst>
          </p:cNvPr>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48AB18A-E29B-AB92-E36C-D19006B4B100}"/>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1/30/2026</a:t>
            </a:fld>
            <a:endParaRPr lang="en-US"/>
          </a:p>
        </p:txBody>
      </p:sp>
      <p:sp>
        <p:nvSpPr>
          <p:cNvPr id="5" name="Footer Placeholder 4">
            <a:extLst>
              <a:ext uri="{FF2B5EF4-FFF2-40B4-BE49-F238E27FC236}">
                <a16:creationId xmlns:a16="http://schemas.microsoft.com/office/drawing/2014/main" id="{DD0034D9-0416-B27F-B018-5988B84EC8E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95D91FF6-4797-6F7F-6750-554277416B03}"/>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20606621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DE82E09-9CEE-8584-D464-24E0EC391B80}"/>
              </a:ext>
            </a:extLst>
          </p:cNvPr>
          <p:cNvSpPr/>
          <p:nvPr userDrawn="1"/>
        </p:nvSpPr>
        <p:spPr>
          <a:xfrm>
            <a:off x="0" y="0"/>
            <a:ext cx="12191998" cy="1280156"/>
          </a:xfrm>
          <a:prstGeom prst="rect">
            <a:avLst/>
          </a:prstGeom>
          <a:solidFill>
            <a:srgbClr val="01234D"/>
          </a:solidFill>
          <a:ln>
            <a:solidFill>
              <a:srgbClr val="5257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14">
            <a:extLst>
              <a:ext uri="{FF2B5EF4-FFF2-40B4-BE49-F238E27FC236}">
                <a16:creationId xmlns:a16="http://schemas.microsoft.com/office/drawing/2014/main" id="{F2BE4274-EF19-EE7E-5761-D489EED61B88}"/>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9006884" y="74822"/>
            <a:ext cx="1043154" cy="1043154"/>
          </a:xfrm>
          <a:prstGeom prst="rect">
            <a:avLst/>
          </a:prstGeom>
        </p:spPr>
      </p:pic>
      <p:pic>
        <p:nvPicPr>
          <p:cNvPr id="16" name="Picture 15">
            <a:extLst>
              <a:ext uri="{FF2B5EF4-FFF2-40B4-BE49-F238E27FC236}">
                <a16:creationId xmlns:a16="http://schemas.microsoft.com/office/drawing/2014/main" id="{A91A2BA2-F38B-80BA-A985-5949FC76FEA7}"/>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10947316" y="123390"/>
            <a:ext cx="884047" cy="884047"/>
          </a:xfrm>
          <a:prstGeom prst="rect">
            <a:avLst/>
          </a:prstGeom>
        </p:spPr>
      </p:pic>
      <p:pic>
        <p:nvPicPr>
          <p:cNvPr id="17" name="Picture 16">
            <a:extLst>
              <a:ext uri="{FF2B5EF4-FFF2-40B4-BE49-F238E27FC236}">
                <a16:creationId xmlns:a16="http://schemas.microsoft.com/office/drawing/2014/main" id="{604524FB-BCF4-1B74-A89E-4EDE85967878}"/>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10127893" y="192303"/>
            <a:ext cx="785940" cy="785940"/>
          </a:xfrm>
          <a:prstGeom prst="rect">
            <a:avLst/>
          </a:prstGeom>
        </p:spPr>
      </p:pic>
      <p:sp>
        <p:nvSpPr>
          <p:cNvPr id="18" name="TextBox 17">
            <a:extLst>
              <a:ext uri="{FF2B5EF4-FFF2-40B4-BE49-F238E27FC236}">
                <a16:creationId xmlns:a16="http://schemas.microsoft.com/office/drawing/2014/main" id="{F2F88F76-11B2-42F9-7CED-3DAC2835AF8A}"/>
              </a:ext>
            </a:extLst>
          </p:cNvPr>
          <p:cNvSpPr txBox="1"/>
          <p:nvPr userDrawn="1"/>
        </p:nvSpPr>
        <p:spPr>
          <a:xfrm>
            <a:off x="2575249" y="27424"/>
            <a:ext cx="5998348" cy="646331"/>
          </a:xfrm>
          <a:prstGeom prst="rect">
            <a:avLst/>
          </a:prstGeom>
          <a:noFill/>
        </p:spPr>
        <p:txBody>
          <a:bodyPr wrap="square" rtlCol="0">
            <a:spAutoFit/>
          </a:bodyPr>
          <a:lstStyle/>
          <a:p>
            <a:r>
              <a:rPr lang="en-US" b="1" dirty="0">
                <a:solidFill>
                  <a:schemeClr val="bg1"/>
                </a:solidFill>
                <a:latin typeface="Gordita "/>
              </a:rPr>
              <a:t>55</a:t>
            </a:r>
            <a:r>
              <a:rPr lang="en-US" b="1" baseline="30000" dirty="0">
                <a:solidFill>
                  <a:schemeClr val="bg1"/>
                </a:solidFill>
                <a:latin typeface="Gordita "/>
              </a:rPr>
              <a:t>th</a:t>
            </a:r>
            <a:r>
              <a:rPr lang="en-US" b="1" dirty="0">
                <a:solidFill>
                  <a:schemeClr val="bg1"/>
                </a:solidFill>
                <a:latin typeface="Gordita "/>
              </a:rPr>
              <a:t>   Annual Conference of </a:t>
            </a:r>
          </a:p>
          <a:p>
            <a:r>
              <a:rPr lang="en-US" b="1" dirty="0">
                <a:solidFill>
                  <a:schemeClr val="bg1"/>
                </a:solidFill>
                <a:latin typeface="Gordita "/>
              </a:rPr>
              <a:t>Orthopedic Surgeon Society of Andhra Pradesh</a:t>
            </a:r>
          </a:p>
        </p:txBody>
      </p:sp>
      <p:sp>
        <p:nvSpPr>
          <p:cNvPr id="19" name="TextBox 18">
            <a:extLst>
              <a:ext uri="{FF2B5EF4-FFF2-40B4-BE49-F238E27FC236}">
                <a16:creationId xmlns:a16="http://schemas.microsoft.com/office/drawing/2014/main" id="{65ADD6F6-E35D-B7F8-9AC5-43234D897C09}"/>
              </a:ext>
            </a:extLst>
          </p:cNvPr>
          <p:cNvSpPr txBox="1"/>
          <p:nvPr userDrawn="1"/>
        </p:nvSpPr>
        <p:spPr>
          <a:xfrm>
            <a:off x="2601218" y="653897"/>
            <a:ext cx="6307494" cy="276999"/>
          </a:xfrm>
          <a:prstGeom prst="rect">
            <a:avLst/>
          </a:prstGeom>
          <a:noFill/>
        </p:spPr>
        <p:txBody>
          <a:bodyPr wrap="square" rtlCol="0">
            <a:spAutoFit/>
          </a:bodyPr>
          <a:lstStyle/>
          <a:p>
            <a:r>
              <a:rPr lang="en-US" sz="1200" b="1" dirty="0">
                <a:solidFill>
                  <a:schemeClr val="bg1"/>
                </a:solidFill>
                <a:latin typeface="Gordita "/>
              </a:rPr>
              <a:t>Date 6 – 8 February,2026, Venue : Kurnool Medical College</a:t>
            </a:r>
          </a:p>
        </p:txBody>
      </p:sp>
      <p:sp>
        <p:nvSpPr>
          <p:cNvPr id="20" name="TextBox 19">
            <a:extLst>
              <a:ext uri="{FF2B5EF4-FFF2-40B4-BE49-F238E27FC236}">
                <a16:creationId xmlns:a16="http://schemas.microsoft.com/office/drawing/2014/main" id="{C146DFFE-ACF0-208A-4880-3B35F597866F}"/>
              </a:ext>
            </a:extLst>
          </p:cNvPr>
          <p:cNvSpPr txBox="1"/>
          <p:nvPr userDrawn="1"/>
        </p:nvSpPr>
        <p:spPr>
          <a:xfrm>
            <a:off x="2575249" y="913340"/>
            <a:ext cx="7114032" cy="276999"/>
          </a:xfrm>
          <a:prstGeom prst="rect">
            <a:avLst/>
          </a:prstGeom>
          <a:noFill/>
        </p:spPr>
        <p:txBody>
          <a:bodyPr wrap="square" rtlCol="0">
            <a:spAutoFit/>
          </a:bodyPr>
          <a:lstStyle/>
          <a:p>
            <a:r>
              <a:rPr lang="en-US" sz="1200" b="1" dirty="0">
                <a:solidFill>
                  <a:schemeClr val="bg1"/>
                </a:solidFill>
                <a:latin typeface="Gordita "/>
              </a:rPr>
              <a:t>Organized by : Department of </a:t>
            </a:r>
            <a:r>
              <a:rPr lang="en-US" sz="1200" b="1" dirty="0" err="1">
                <a:solidFill>
                  <a:schemeClr val="bg1"/>
                </a:solidFill>
                <a:latin typeface="Gordita "/>
              </a:rPr>
              <a:t>Orthopaedics</a:t>
            </a:r>
            <a:r>
              <a:rPr lang="en-US" sz="1200" b="1" dirty="0">
                <a:solidFill>
                  <a:schemeClr val="bg1"/>
                </a:solidFill>
                <a:latin typeface="Gordita "/>
              </a:rPr>
              <a:t>, Kurnool Medical College Kurnool</a:t>
            </a:r>
          </a:p>
        </p:txBody>
      </p:sp>
      <p:sp>
        <p:nvSpPr>
          <p:cNvPr id="21" name="Freeform 13">
            <a:extLst>
              <a:ext uri="{FF2B5EF4-FFF2-40B4-BE49-F238E27FC236}">
                <a16:creationId xmlns:a16="http://schemas.microsoft.com/office/drawing/2014/main" id="{FD934B23-4A0F-DA26-1C91-6993B84BADB9}"/>
              </a:ext>
            </a:extLst>
          </p:cNvPr>
          <p:cNvSpPr/>
          <p:nvPr userDrawn="1"/>
        </p:nvSpPr>
        <p:spPr>
          <a:xfrm>
            <a:off x="560814" y="14255"/>
            <a:ext cx="1505561" cy="1280157"/>
          </a:xfrm>
          <a:custGeom>
            <a:avLst/>
            <a:gdLst/>
            <a:ahLst/>
            <a:cxnLst/>
            <a:rect l="l" t="t" r="r" b="b"/>
            <a:pathLst>
              <a:path w="2254612" h="1957865">
                <a:moveTo>
                  <a:pt x="0" y="0"/>
                </a:moveTo>
                <a:lnTo>
                  <a:pt x="2254612" y="0"/>
                </a:lnTo>
                <a:lnTo>
                  <a:pt x="2254612" y="1957865"/>
                </a:lnTo>
                <a:lnTo>
                  <a:pt x="0" y="1957865"/>
                </a:lnTo>
                <a:lnTo>
                  <a:pt x="0" y="0"/>
                </a:lnTo>
                <a:close/>
              </a:path>
            </a:pathLst>
          </a:custGeom>
          <a:blipFill>
            <a:blip r:embed="rId16"/>
            <a:stretch>
              <a:fillRect t="-9937" r="-4895" b="-10857"/>
            </a:stretch>
          </a:blipFill>
        </p:spPr>
        <p:txBody>
          <a:bodyPr/>
          <a:lstStyle/>
          <a:p>
            <a:endParaRPr lang="en-US"/>
          </a:p>
        </p:txBody>
      </p:sp>
    </p:spTree>
    <p:extLst>
      <p:ext uri="{BB962C8B-B14F-4D97-AF65-F5344CB8AC3E}">
        <p14:creationId xmlns:p14="http://schemas.microsoft.com/office/powerpoint/2010/main" val="10701551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2.png"/><Relationship Id="rId7" Type="http://schemas.openxmlformats.org/officeDocument/2006/relationships/image" Target="../media/image6.jpe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jpeg"/><Relationship Id="rId11" Type="http://schemas.openxmlformats.org/officeDocument/2006/relationships/image" Target="../media/image10.jpe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openxmlformats.org/officeDocument/2006/relationships/image" Target="../media/image8.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E872BCCA-09F4-9D91-AE26-B5E437D7714E}"/>
              </a:ext>
            </a:extLst>
          </p:cNvPr>
          <p:cNvSpPr/>
          <p:nvPr/>
        </p:nvSpPr>
        <p:spPr>
          <a:xfrm>
            <a:off x="-28876" y="42318"/>
            <a:ext cx="12220876" cy="1286276"/>
          </a:xfrm>
          <a:prstGeom prst="rect">
            <a:avLst/>
          </a:prstGeom>
          <a:solidFill>
            <a:srgbClr val="01234D"/>
          </a:solidFill>
          <a:ln>
            <a:solidFill>
              <a:srgbClr val="5257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14">
            <a:extLst>
              <a:ext uri="{FF2B5EF4-FFF2-40B4-BE49-F238E27FC236}">
                <a16:creationId xmlns:a16="http://schemas.microsoft.com/office/drawing/2014/main" id="{4D4B9414-324A-B4ED-525E-CF04D2394B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28786" y="146271"/>
            <a:ext cx="1043154" cy="1043154"/>
          </a:xfrm>
          <a:prstGeom prst="rect">
            <a:avLst/>
          </a:prstGeom>
        </p:spPr>
      </p:pic>
      <p:pic>
        <p:nvPicPr>
          <p:cNvPr id="16" name="Picture 15">
            <a:extLst>
              <a:ext uri="{FF2B5EF4-FFF2-40B4-BE49-F238E27FC236}">
                <a16:creationId xmlns:a16="http://schemas.microsoft.com/office/drawing/2014/main" id="{6B23EAFB-E583-3DAF-08B5-661672CE88F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947316" y="123390"/>
            <a:ext cx="884047" cy="884047"/>
          </a:xfrm>
          <a:prstGeom prst="rect">
            <a:avLst/>
          </a:prstGeom>
        </p:spPr>
      </p:pic>
      <p:pic>
        <p:nvPicPr>
          <p:cNvPr id="17" name="Picture 16">
            <a:extLst>
              <a:ext uri="{FF2B5EF4-FFF2-40B4-BE49-F238E27FC236}">
                <a16:creationId xmlns:a16="http://schemas.microsoft.com/office/drawing/2014/main" id="{3C21D24D-75B4-7ADE-170F-FE845B818D4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127893" y="192303"/>
            <a:ext cx="785940" cy="785940"/>
          </a:xfrm>
          <a:prstGeom prst="rect">
            <a:avLst/>
          </a:prstGeom>
        </p:spPr>
      </p:pic>
      <p:sp>
        <p:nvSpPr>
          <p:cNvPr id="18" name="TextBox 17">
            <a:extLst>
              <a:ext uri="{FF2B5EF4-FFF2-40B4-BE49-F238E27FC236}">
                <a16:creationId xmlns:a16="http://schemas.microsoft.com/office/drawing/2014/main" id="{EA6BB7B0-D981-FEB6-4479-7A49704B2B87}"/>
              </a:ext>
            </a:extLst>
          </p:cNvPr>
          <p:cNvSpPr txBox="1"/>
          <p:nvPr/>
        </p:nvSpPr>
        <p:spPr>
          <a:xfrm>
            <a:off x="1997281" y="184667"/>
            <a:ext cx="7853082" cy="954107"/>
          </a:xfrm>
          <a:prstGeom prst="rect">
            <a:avLst/>
          </a:prstGeom>
          <a:noFill/>
        </p:spPr>
        <p:txBody>
          <a:bodyPr wrap="square" rtlCol="0">
            <a:spAutoFit/>
          </a:bodyPr>
          <a:lstStyle/>
          <a:p>
            <a:r>
              <a:rPr lang="en-US" sz="1400" dirty="0">
                <a:solidFill>
                  <a:schemeClr val="bg1"/>
                </a:solidFill>
                <a:latin typeface="Arial" panose="020B0604020202020204" pitchFamily="34" charset="0"/>
                <a:cs typeface="Arial" panose="020B0604020202020204" pitchFamily="34" charset="0"/>
              </a:rPr>
              <a:t>A CASE REPORT OF 40 YEAR MALE WITH POST TRAUMATIC ROOT TEAR OF POSTERIOR HORN OF</a:t>
            </a:r>
            <a:r>
              <a:rPr lang="en-IN" sz="1400" dirty="0">
                <a:solidFill>
                  <a:schemeClr val="bg1"/>
                </a:solidFill>
                <a:latin typeface="Arial" panose="020B0604020202020204" pitchFamily="34" charset="0"/>
                <a:cs typeface="Arial" panose="020B0604020202020204" pitchFamily="34" charset="0"/>
              </a:rPr>
              <a:t> </a:t>
            </a:r>
            <a:r>
              <a:rPr lang="en-US" sz="1400" dirty="0">
                <a:solidFill>
                  <a:schemeClr val="bg1"/>
                </a:solidFill>
                <a:latin typeface="Arial" panose="020B0604020202020204" pitchFamily="34" charset="0"/>
                <a:cs typeface="Arial" panose="020B0604020202020204" pitchFamily="34" charset="0"/>
              </a:rPr>
              <a:t>MEDIAL MENISCUS OF LEFT KNEE MANAGED WITH ARTHROSCOPIC REPAIR</a:t>
            </a:r>
            <a:endParaRPr lang="en-IN" sz="1400" dirty="0">
              <a:solidFill>
                <a:schemeClr val="bg1"/>
              </a:solidFill>
              <a:latin typeface="Arial" panose="020B0604020202020204" pitchFamily="34" charset="0"/>
              <a:cs typeface="Arial" panose="020B0604020202020204" pitchFamily="34" charset="0"/>
            </a:endParaRPr>
          </a:p>
          <a:p>
            <a:r>
              <a:rPr lang="en-US" sz="1400" dirty="0">
                <a:solidFill>
                  <a:schemeClr val="bg1"/>
                </a:solidFill>
                <a:latin typeface="Arial" panose="020B0604020202020204" pitchFamily="34" charset="0"/>
                <a:cs typeface="Arial" panose="020B0604020202020204" pitchFamily="34" charset="0"/>
              </a:rPr>
              <a:t>PRESENTING AUTHOR: Dr. AMMARALA SAI CHANDRA SEKHAR</a:t>
            </a:r>
          </a:p>
          <a:p>
            <a:r>
              <a:rPr lang="en-US" sz="1400" dirty="0">
                <a:solidFill>
                  <a:schemeClr val="bg1"/>
                </a:solidFill>
                <a:latin typeface="Arial" panose="020B0604020202020204" pitchFamily="34" charset="0"/>
                <a:cs typeface="Arial" panose="020B0604020202020204" pitchFamily="34" charset="0"/>
              </a:rPr>
              <a:t>CO-AUTHOR: Dr. I.ROHIT , ASRAM MEDICAL COLLEGE, ELURU.                OSSAP ID -725                       </a:t>
            </a:r>
            <a:endParaRPr lang="en-IN" sz="1400" dirty="0">
              <a:solidFill>
                <a:schemeClr val="bg1"/>
              </a:solidFill>
              <a:latin typeface="Arial" panose="020B0604020202020204" pitchFamily="34" charset="0"/>
              <a:cs typeface="Arial" panose="020B0604020202020204" pitchFamily="34" charset="0"/>
            </a:endParaRPr>
          </a:p>
        </p:txBody>
      </p:sp>
      <p:sp>
        <p:nvSpPr>
          <p:cNvPr id="4" name="Freeform 13">
            <a:extLst>
              <a:ext uri="{FF2B5EF4-FFF2-40B4-BE49-F238E27FC236}">
                <a16:creationId xmlns:a16="http://schemas.microsoft.com/office/drawing/2014/main" id="{0F401C6F-33A3-A415-AD1A-709059E901BF}"/>
              </a:ext>
            </a:extLst>
          </p:cNvPr>
          <p:cNvSpPr/>
          <p:nvPr/>
        </p:nvSpPr>
        <p:spPr>
          <a:xfrm>
            <a:off x="560814" y="14255"/>
            <a:ext cx="1505561" cy="1280157"/>
          </a:xfrm>
          <a:custGeom>
            <a:avLst/>
            <a:gdLst/>
            <a:ahLst/>
            <a:cxnLst/>
            <a:rect l="l" t="t" r="r" b="b"/>
            <a:pathLst>
              <a:path w="2254612" h="1957865">
                <a:moveTo>
                  <a:pt x="0" y="0"/>
                </a:moveTo>
                <a:lnTo>
                  <a:pt x="2254612" y="0"/>
                </a:lnTo>
                <a:lnTo>
                  <a:pt x="2254612" y="1957865"/>
                </a:lnTo>
                <a:lnTo>
                  <a:pt x="0" y="1957865"/>
                </a:lnTo>
                <a:lnTo>
                  <a:pt x="0" y="0"/>
                </a:lnTo>
                <a:close/>
              </a:path>
            </a:pathLst>
          </a:custGeom>
          <a:blipFill>
            <a:blip r:embed="rId5"/>
            <a:stretch>
              <a:fillRect t="-9937" r="-4895" b="-10857"/>
            </a:stretch>
          </a:blipFill>
        </p:spPr>
        <p:txBody>
          <a:bodyPr/>
          <a:lstStyle/>
          <a:p>
            <a:endParaRPr lang="en-US"/>
          </a:p>
        </p:txBody>
      </p:sp>
      <p:sp>
        <p:nvSpPr>
          <p:cNvPr id="5" name="Rectangle 4">
            <a:extLst>
              <a:ext uri="{FF2B5EF4-FFF2-40B4-BE49-F238E27FC236}">
                <a16:creationId xmlns:a16="http://schemas.microsoft.com/office/drawing/2014/main" id="{1D4F9D5A-1DDA-4BC3-63F3-F36226B86C87}"/>
              </a:ext>
            </a:extLst>
          </p:cNvPr>
          <p:cNvSpPr/>
          <p:nvPr/>
        </p:nvSpPr>
        <p:spPr>
          <a:xfrm>
            <a:off x="0" y="1674796"/>
            <a:ext cx="3108960" cy="33303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6" name="Rectangle 5">
            <a:extLst>
              <a:ext uri="{FF2B5EF4-FFF2-40B4-BE49-F238E27FC236}">
                <a16:creationId xmlns:a16="http://schemas.microsoft.com/office/drawing/2014/main" id="{EC094F03-F93B-9B6D-7C11-87F9C75E6ABB}"/>
              </a:ext>
            </a:extLst>
          </p:cNvPr>
          <p:cNvSpPr/>
          <p:nvPr/>
        </p:nvSpPr>
        <p:spPr>
          <a:xfrm>
            <a:off x="0" y="5080536"/>
            <a:ext cx="3108960" cy="177746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7" name="Rectangle 6">
            <a:extLst>
              <a:ext uri="{FF2B5EF4-FFF2-40B4-BE49-F238E27FC236}">
                <a16:creationId xmlns:a16="http://schemas.microsoft.com/office/drawing/2014/main" id="{6D1A47E9-312C-D04A-D368-EE96CE32C982}"/>
              </a:ext>
            </a:extLst>
          </p:cNvPr>
          <p:cNvSpPr/>
          <p:nvPr/>
        </p:nvSpPr>
        <p:spPr>
          <a:xfrm>
            <a:off x="3137836" y="1280157"/>
            <a:ext cx="3185962" cy="557784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 name="Rectangle 7">
            <a:extLst>
              <a:ext uri="{FF2B5EF4-FFF2-40B4-BE49-F238E27FC236}">
                <a16:creationId xmlns:a16="http://schemas.microsoft.com/office/drawing/2014/main" id="{63A874B9-B8E1-A36B-AA38-6FCC7D5D8F32}"/>
              </a:ext>
            </a:extLst>
          </p:cNvPr>
          <p:cNvSpPr/>
          <p:nvPr/>
        </p:nvSpPr>
        <p:spPr>
          <a:xfrm>
            <a:off x="6352674" y="1477475"/>
            <a:ext cx="5839326" cy="33303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9" name="Rectangle 8">
            <a:extLst>
              <a:ext uri="{FF2B5EF4-FFF2-40B4-BE49-F238E27FC236}">
                <a16:creationId xmlns:a16="http://schemas.microsoft.com/office/drawing/2014/main" id="{0EFC2BB9-1938-0DF3-F424-CAC28C6D9880}"/>
              </a:ext>
            </a:extLst>
          </p:cNvPr>
          <p:cNvSpPr/>
          <p:nvPr/>
        </p:nvSpPr>
        <p:spPr>
          <a:xfrm>
            <a:off x="6352674" y="5080536"/>
            <a:ext cx="5839326" cy="177746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0" name="Rectangle 9">
            <a:extLst>
              <a:ext uri="{FF2B5EF4-FFF2-40B4-BE49-F238E27FC236}">
                <a16:creationId xmlns:a16="http://schemas.microsoft.com/office/drawing/2014/main" id="{6B0C050E-DD7C-3885-8EBF-D74C223C0531}"/>
              </a:ext>
            </a:extLst>
          </p:cNvPr>
          <p:cNvSpPr/>
          <p:nvPr/>
        </p:nvSpPr>
        <p:spPr>
          <a:xfrm>
            <a:off x="0" y="1280157"/>
            <a:ext cx="3108960" cy="394637"/>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INTRODUCTION </a:t>
            </a:r>
          </a:p>
        </p:txBody>
      </p:sp>
      <p:sp>
        <p:nvSpPr>
          <p:cNvPr id="11" name="Rectangle 10">
            <a:extLst>
              <a:ext uri="{FF2B5EF4-FFF2-40B4-BE49-F238E27FC236}">
                <a16:creationId xmlns:a16="http://schemas.microsoft.com/office/drawing/2014/main" id="{493EBCB5-BB50-7945-E88B-86122853702B}"/>
              </a:ext>
            </a:extLst>
          </p:cNvPr>
          <p:cNvSpPr/>
          <p:nvPr/>
        </p:nvSpPr>
        <p:spPr>
          <a:xfrm>
            <a:off x="3137836" y="1280157"/>
            <a:ext cx="3185962" cy="394637"/>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lumMod val="95000"/>
                    <a:lumOff val="5000"/>
                  </a:schemeClr>
                </a:solidFill>
              </a:rPr>
              <a:t>OPERATIVE FINDINGS</a:t>
            </a:r>
          </a:p>
        </p:txBody>
      </p:sp>
      <p:sp>
        <p:nvSpPr>
          <p:cNvPr id="12" name="Rectangle 11">
            <a:extLst>
              <a:ext uri="{FF2B5EF4-FFF2-40B4-BE49-F238E27FC236}">
                <a16:creationId xmlns:a16="http://schemas.microsoft.com/office/drawing/2014/main" id="{779DCDE1-7E85-0646-3543-9C1638CEB9CA}"/>
              </a:ext>
            </a:extLst>
          </p:cNvPr>
          <p:cNvSpPr/>
          <p:nvPr/>
        </p:nvSpPr>
        <p:spPr>
          <a:xfrm>
            <a:off x="6352673" y="1280157"/>
            <a:ext cx="5839325" cy="394637"/>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lumMod val="95000"/>
                    <a:lumOff val="5000"/>
                  </a:schemeClr>
                </a:solidFill>
              </a:rPr>
              <a:t>DISCUSSION</a:t>
            </a:r>
          </a:p>
        </p:txBody>
      </p:sp>
      <p:sp>
        <p:nvSpPr>
          <p:cNvPr id="13" name="Rectangle 12">
            <a:extLst>
              <a:ext uri="{FF2B5EF4-FFF2-40B4-BE49-F238E27FC236}">
                <a16:creationId xmlns:a16="http://schemas.microsoft.com/office/drawing/2014/main" id="{9A130820-FF42-EA8A-339B-145E1FC668F5}"/>
              </a:ext>
            </a:extLst>
          </p:cNvPr>
          <p:cNvSpPr/>
          <p:nvPr/>
        </p:nvSpPr>
        <p:spPr>
          <a:xfrm>
            <a:off x="0" y="5005136"/>
            <a:ext cx="3108960" cy="394637"/>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lumMod val="95000"/>
                    <a:lumOff val="5000"/>
                  </a:schemeClr>
                </a:solidFill>
              </a:rPr>
              <a:t>CASE REPORT</a:t>
            </a:r>
          </a:p>
        </p:txBody>
      </p:sp>
      <p:sp>
        <p:nvSpPr>
          <p:cNvPr id="22" name="Rectangle 21">
            <a:extLst>
              <a:ext uri="{FF2B5EF4-FFF2-40B4-BE49-F238E27FC236}">
                <a16:creationId xmlns:a16="http://schemas.microsoft.com/office/drawing/2014/main" id="{99633B59-00B8-9FD5-0D31-D1688B16556B}"/>
              </a:ext>
            </a:extLst>
          </p:cNvPr>
          <p:cNvSpPr/>
          <p:nvPr/>
        </p:nvSpPr>
        <p:spPr>
          <a:xfrm>
            <a:off x="6352674" y="4807817"/>
            <a:ext cx="5839324" cy="394637"/>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lumMod val="95000"/>
                    <a:lumOff val="5000"/>
                  </a:schemeClr>
                </a:solidFill>
              </a:rPr>
              <a:t>CONCLUSION</a:t>
            </a:r>
          </a:p>
        </p:txBody>
      </p:sp>
      <p:sp>
        <p:nvSpPr>
          <p:cNvPr id="23" name="TextBox 22">
            <a:extLst>
              <a:ext uri="{FF2B5EF4-FFF2-40B4-BE49-F238E27FC236}">
                <a16:creationId xmlns:a16="http://schemas.microsoft.com/office/drawing/2014/main" id="{1527F120-7D1B-A9F8-7812-6B06170C0D85}"/>
              </a:ext>
            </a:extLst>
          </p:cNvPr>
          <p:cNvSpPr txBox="1"/>
          <p:nvPr/>
        </p:nvSpPr>
        <p:spPr>
          <a:xfrm>
            <a:off x="-1" y="1674794"/>
            <a:ext cx="3264195" cy="3364767"/>
          </a:xfrm>
          <a:prstGeom prst="rect">
            <a:avLst/>
          </a:prstGeom>
          <a:noFill/>
        </p:spPr>
        <p:txBody>
          <a:bodyPr wrap="square">
            <a:spAutoFit/>
          </a:bodyPr>
          <a:lstStyle/>
          <a:p>
            <a:pPr marL="171450" marR="123190" lvl="0" indent="-171450">
              <a:spcBef>
                <a:spcPts val="115"/>
              </a:spcBef>
              <a:buSzPts val="1400"/>
              <a:buFont typeface="Arial" panose="020B0604020202020204" pitchFamily="34" charset="0"/>
              <a:buChar char="•"/>
              <a:tabLst>
                <a:tab pos="268605" algn="l"/>
                <a:tab pos="269240" algn="l"/>
              </a:tabLst>
            </a:pPr>
            <a:r>
              <a:rPr lang="en-US" sz="1200" dirty="0">
                <a:effectLst/>
                <a:latin typeface="Arial" panose="020B0604020202020204" pitchFamily="34" charset="0"/>
                <a:ea typeface="Arial" panose="020B0604020202020204" pitchFamily="34" charset="0"/>
                <a:cs typeface="Arial" panose="020B0604020202020204" pitchFamily="34" charset="0"/>
              </a:rPr>
              <a:t>Meniscal root tears or avulsions compromise</a:t>
            </a:r>
            <a:r>
              <a:rPr lang="en-US" sz="1200" spc="100" dirty="0">
                <a:effectLst/>
                <a:latin typeface="Arial" panose="020B0604020202020204" pitchFamily="34" charset="0"/>
                <a:ea typeface="Arial" panose="020B0604020202020204" pitchFamily="34" charset="0"/>
                <a:cs typeface="Arial" panose="020B0604020202020204" pitchFamily="34" charset="0"/>
              </a:rPr>
              <a:t> </a:t>
            </a:r>
            <a:r>
              <a:rPr lang="en-US" sz="1200" dirty="0">
                <a:effectLst/>
                <a:latin typeface="Arial" panose="020B0604020202020204" pitchFamily="34" charset="0"/>
                <a:ea typeface="Arial" panose="020B0604020202020204" pitchFamily="34" charset="0"/>
                <a:cs typeface="Arial" panose="020B0604020202020204" pitchFamily="34" charset="0"/>
              </a:rPr>
              <a:t>the biomechanical</a:t>
            </a:r>
            <a:r>
              <a:rPr lang="en-US" sz="1200" spc="100" dirty="0">
                <a:effectLst/>
                <a:latin typeface="Arial" panose="020B0604020202020204" pitchFamily="34" charset="0"/>
                <a:ea typeface="Arial" panose="020B0604020202020204" pitchFamily="34" charset="0"/>
                <a:cs typeface="Arial" panose="020B0604020202020204" pitchFamily="34" charset="0"/>
              </a:rPr>
              <a:t> </a:t>
            </a:r>
            <a:r>
              <a:rPr lang="en-US" sz="1200" dirty="0">
                <a:effectLst/>
                <a:latin typeface="Arial" panose="020B0604020202020204" pitchFamily="34" charset="0"/>
                <a:ea typeface="Arial" panose="020B0604020202020204" pitchFamily="34" charset="0"/>
                <a:cs typeface="Arial" panose="020B0604020202020204" pitchFamily="34" charset="0"/>
              </a:rPr>
              <a:t>function of the menisci to a greater extent than simple</a:t>
            </a:r>
            <a:r>
              <a:rPr lang="en-US" sz="1200" spc="400" dirty="0">
                <a:effectLst/>
                <a:latin typeface="Arial" panose="020B0604020202020204" pitchFamily="34" charset="0"/>
                <a:ea typeface="Arial" panose="020B0604020202020204" pitchFamily="34" charset="0"/>
                <a:cs typeface="Arial" panose="020B0604020202020204" pitchFamily="34" charset="0"/>
              </a:rPr>
              <a:t> </a:t>
            </a:r>
            <a:r>
              <a:rPr lang="en-US" sz="1200" dirty="0">
                <a:effectLst/>
                <a:latin typeface="Arial" panose="020B0604020202020204" pitchFamily="34" charset="0"/>
                <a:ea typeface="Arial" panose="020B0604020202020204" pitchFamily="34" charset="0"/>
                <a:cs typeface="Arial" panose="020B0604020202020204" pitchFamily="34" charset="0"/>
              </a:rPr>
              <a:t>meniscal tears do.</a:t>
            </a:r>
            <a:endParaRPr lang="en-IN" sz="1200" dirty="0">
              <a:effectLst/>
              <a:latin typeface="Arial" panose="020B0604020202020204" pitchFamily="34" charset="0"/>
              <a:ea typeface="Arial" panose="020B0604020202020204" pitchFamily="34" charset="0"/>
              <a:cs typeface="Arial" panose="020B0604020202020204" pitchFamily="34" charset="0"/>
            </a:endParaRPr>
          </a:p>
          <a:p>
            <a:pPr marL="171450" marR="366395" lvl="0" indent="-171450">
              <a:lnSpc>
                <a:spcPct val="106000"/>
              </a:lnSpc>
              <a:buSzPts val="1400"/>
              <a:buFont typeface="Arial" panose="020B0604020202020204" pitchFamily="34" charset="0"/>
              <a:buChar char="•"/>
              <a:tabLst>
                <a:tab pos="268605" algn="l"/>
                <a:tab pos="269240" algn="l"/>
              </a:tabLst>
            </a:pPr>
            <a:r>
              <a:rPr lang="en-US" sz="1200" dirty="0">
                <a:effectLst/>
                <a:latin typeface="Arial" panose="020B0604020202020204" pitchFamily="34" charset="0"/>
                <a:ea typeface="Arial" panose="020B0604020202020204" pitchFamily="34" charset="0"/>
                <a:cs typeface="Arial" panose="020B0604020202020204" pitchFamily="34" charset="0"/>
              </a:rPr>
              <a:t>As such, if left untreated, root injuries render the menisci incapable of properly distributing axial load and resisting</a:t>
            </a:r>
            <a:r>
              <a:rPr lang="en-US" sz="1200" spc="400" dirty="0">
                <a:effectLst/>
                <a:latin typeface="Arial" panose="020B0604020202020204" pitchFamily="34" charset="0"/>
                <a:ea typeface="Arial" panose="020B0604020202020204" pitchFamily="34" charset="0"/>
                <a:cs typeface="Arial" panose="020B0604020202020204" pitchFamily="34" charset="0"/>
              </a:rPr>
              <a:t> </a:t>
            </a:r>
            <a:r>
              <a:rPr lang="en-US" sz="1200" dirty="0">
                <a:effectLst/>
                <a:latin typeface="Arial" panose="020B0604020202020204" pitchFamily="34" charset="0"/>
                <a:ea typeface="Arial" panose="020B0604020202020204" pitchFamily="34" charset="0"/>
                <a:cs typeface="Arial" panose="020B0604020202020204" pitchFamily="34" charset="0"/>
              </a:rPr>
              <a:t>rotation and translation.</a:t>
            </a:r>
            <a:endParaRPr lang="en-IN" sz="1200" dirty="0">
              <a:effectLst/>
              <a:latin typeface="Arial" panose="020B0604020202020204" pitchFamily="34" charset="0"/>
              <a:ea typeface="Arial" panose="020B0604020202020204" pitchFamily="34" charset="0"/>
              <a:cs typeface="Arial" panose="020B0604020202020204" pitchFamily="34" charset="0"/>
            </a:endParaRPr>
          </a:p>
          <a:p>
            <a:pPr marL="171450" marR="208915" lvl="0" indent="-171450">
              <a:lnSpc>
                <a:spcPct val="106000"/>
              </a:lnSpc>
              <a:buSzPts val="1400"/>
              <a:buFont typeface="Arial" panose="020B0604020202020204" pitchFamily="34" charset="0"/>
              <a:buChar char="•"/>
              <a:tabLst>
                <a:tab pos="269240" algn="l"/>
              </a:tabLst>
            </a:pPr>
            <a:r>
              <a:rPr lang="en-US" sz="1200" dirty="0">
                <a:effectLst/>
                <a:latin typeface="Arial" panose="020B0604020202020204" pitchFamily="34" charset="0"/>
                <a:ea typeface="Arial" panose="020B0604020202020204" pitchFamily="34" charset="0"/>
                <a:cs typeface="Arial" panose="020B0604020202020204" pitchFamily="34" charset="0"/>
              </a:rPr>
              <a:t>The clinical diagnosis of meniscal root abnormalities may be difficult as the signs and symptoms typically associated with meniscal body injuries, such as mechanical locking and catching, may not be present in patients with root injury and there may not be a history of an acute traumatic event.</a:t>
            </a:r>
            <a:endParaRPr lang="en-IN" sz="1200" dirty="0">
              <a:effectLst/>
              <a:latin typeface="Arial" panose="020B0604020202020204" pitchFamily="34" charset="0"/>
              <a:ea typeface="Arial" panose="020B0604020202020204" pitchFamily="34" charset="0"/>
              <a:cs typeface="Arial" panose="020B0604020202020204" pitchFamily="34" charset="0"/>
            </a:endParaRPr>
          </a:p>
          <a:p>
            <a:pPr marL="171450" indent="-171450">
              <a:buFont typeface="Arial" panose="020B0604020202020204" pitchFamily="34" charset="0"/>
              <a:buChar char="•"/>
            </a:pPr>
            <a:endParaRPr lang="en-IN" sz="1200" dirty="0">
              <a:latin typeface="Arial" panose="020B0604020202020204" pitchFamily="34" charset="0"/>
              <a:cs typeface="Arial" panose="020B0604020202020204" pitchFamily="34" charset="0"/>
            </a:endParaRPr>
          </a:p>
        </p:txBody>
      </p:sp>
      <p:sp>
        <p:nvSpPr>
          <p:cNvPr id="25" name="TextBox 24">
            <a:extLst>
              <a:ext uri="{FF2B5EF4-FFF2-40B4-BE49-F238E27FC236}">
                <a16:creationId xmlns:a16="http://schemas.microsoft.com/office/drawing/2014/main" id="{850A443C-FC5F-305F-E9EB-195AAACF0AAB}"/>
              </a:ext>
            </a:extLst>
          </p:cNvPr>
          <p:cNvSpPr txBox="1"/>
          <p:nvPr/>
        </p:nvSpPr>
        <p:spPr>
          <a:xfrm>
            <a:off x="-1" y="5465462"/>
            <a:ext cx="3466215" cy="1436227"/>
          </a:xfrm>
          <a:prstGeom prst="rect">
            <a:avLst/>
          </a:prstGeom>
          <a:noFill/>
        </p:spPr>
        <p:txBody>
          <a:bodyPr wrap="square">
            <a:spAutoFit/>
          </a:bodyPr>
          <a:lstStyle/>
          <a:p>
            <a:pPr marL="33020" marR="167005">
              <a:lnSpc>
                <a:spcPct val="105000"/>
              </a:lnSpc>
              <a:spcBef>
                <a:spcPts val="85"/>
              </a:spcBef>
              <a:buNone/>
            </a:pPr>
            <a:r>
              <a:rPr lang="en-US" sz="1200" dirty="0">
                <a:effectLst/>
                <a:latin typeface="Arial" panose="020B0604020202020204" pitchFamily="34" charset="0"/>
                <a:ea typeface="Times New Roman" panose="02020603050405020304" pitchFamily="18" charset="0"/>
                <a:cs typeface="Arial" panose="020B0604020202020204" pitchFamily="34" charset="0"/>
              </a:rPr>
              <a:t>A 40 year old male patient presented with complaints of Left knee pain and difficulty in squatting since 10</a:t>
            </a:r>
            <a:r>
              <a:rPr lang="en-US" sz="1200" spc="400" dirty="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months following a self fall from bike. The patient was able to get up soon after the fall but had difficulty in walking and developed swelling which subsided </a:t>
            </a:r>
            <a:r>
              <a:rPr lang="en-US" sz="1200" spc="-10" dirty="0">
                <a:effectLst/>
                <a:latin typeface="Arial" panose="020B0604020202020204" pitchFamily="34" charset="0"/>
                <a:ea typeface="Times New Roman" panose="02020603050405020304" pitchFamily="18" charset="0"/>
                <a:cs typeface="Arial" panose="020B0604020202020204" pitchFamily="34" charset="0"/>
              </a:rPr>
              <a:t>gradually.</a:t>
            </a:r>
            <a:endParaRPr lang="en-IN" sz="1050" dirty="0">
              <a:effectLst/>
              <a:latin typeface="Arial" panose="020B0604020202020204" pitchFamily="34" charset="0"/>
              <a:ea typeface="Times New Roman" panose="02020603050405020304" pitchFamily="18" charset="0"/>
              <a:cs typeface="Arial" panose="020B0604020202020204" pitchFamily="34" charset="0"/>
            </a:endParaRPr>
          </a:p>
        </p:txBody>
      </p:sp>
      <p:sp>
        <p:nvSpPr>
          <p:cNvPr id="27" name="TextBox 26">
            <a:extLst>
              <a:ext uri="{FF2B5EF4-FFF2-40B4-BE49-F238E27FC236}">
                <a16:creationId xmlns:a16="http://schemas.microsoft.com/office/drawing/2014/main" id="{D01D8AEE-32E7-02FF-5389-88BF4BB4FB9F}"/>
              </a:ext>
            </a:extLst>
          </p:cNvPr>
          <p:cNvSpPr txBox="1"/>
          <p:nvPr/>
        </p:nvSpPr>
        <p:spPr>
          <a:xfrm>
            <a:off x="3105146" y="1706059"/>
            <a:ext cx="3540204" cy="3797899"/>
          </a:xfrm>
          <a:prstGeom prst="rect">
            <a:avLst/>
          </a:prstGeom>
          <a:noFill/>
        </p:spPr>
        <p:txBody>
          <a:bodyPr wrap="square">
            <a:spAutoFit/>
          </a:bodyPr>
          <a:lstStyle/>
          <a:p>
            <a:pPr marL="342900" marR="253365" lvl="0" indent="-342900">
              <a:lnSpc>
                <a:spcPct val="106000"/>
              </a:lnSpc>
              <a:spcBef>
                <a:spcPts val="105"/>
              </a:spcBef>
              <a:buClr>
                <a:srgbClr val="202020"/>
              </a:buClr>
              <a:buSzPts val="1400"/>
              <a:buFont typeface="Arial" panose="020B0604020202020204" pitchFamily="34" charset="0"/>
              <a:buChar char="•"/>
              <a:tabLst>
                <a:tab pos="262255" algn="l"/>
                <a:tab pos="262890" algn="l"/>
              </a:tabLst>
            </a:pPr>
            <a:r>
              <a:rPr lang="en-US" sz="1200" dirty="0">
                <a:solidFill>
                  <a:srgbClr val="202020"/>
                </a:solidFill>
                <a:effectLst/>
                <a:latin typeface="Arial" panose="020B0604020202020204" pitchFamily="34" charset="0"/>
                <a:ea typeface="Arial" panose="020B0604020202020204" pitchFamily="34" charset="0"/>
                <a:cs typeface="Arial" panose="020B0604020202020204" pitchFamily="34" charset="0"/>
              </a:rPr>
              <a:t>The treatment is aimed at restoring the root attachment through transtibial bone tunnels.</a:t>
            </a:r>
            <a:endParaRPr lang="en-IN" sz="1200" dirty="0">
              <a:effectLst/>
              <a:latin typeface="Arial" panose="020B0604020202020204" pitchFamily="34" charset="0"/>
              <a:ea typeface="Arial" panose="020B0604020202020204" pitchFamily="34" charset="0"/>
              <a:cs typeface="Arial" panose="020B0604020202020204" pitchFamily="34" charset="0"/>
            </a:endParaRPr>
          </a:p>
          <a:p>
            <a:pPr marL="342900" marR="406400" lvl="0" indent="-342900">
              <a:lnSpc>
                <a:spcPct val="106000"/>
              </a:lnSpc>
              <a:buClr>
                <a:srgbClr val="202020"/>
              </a:buClr>
              <a:buSzPts val="1400"/>
              <a:buFont typeface="Arial" panose="020B0604020202020204" pitchFamily="34" charset="0"/>
              <a:buChar char="•"/>
              <a:tabLst>
                <a:tab pos="262255" algn="l"/>
                <a:tab pos="262890" algn="l"/>
              </a:tabLst>
            </a:pPr>
            <a:r>
              <a:rPr lang="en-US" sz="1200" dirty="0" err="1">
                <a:solidFill>
                  <a:srgbClr val="202020"/>
                </a:solidFill>
                <a:effectLst/>
                <a:latin typeface="Arial" panose="020B0604020202020204" pitchFamily="34" charset="0"/>
                <a:ea typeface="Arial" panose="020B0604020202020204" pitchFamily="34" charset="0"/>
                <a:cs typeface="Arial" panose="020B0604020202020204" pitchFamily="34" charset="0"/>
              </a:rPr>
              <a:t>Transosseus</a:t>
            </a:r>
            <a:r>
              <a:rPr lang="en-US" sz="1200" dirty="0">
                <a:solidFill>
                  <a:srgbClr val="202020"/>
                </a:solidFill>
                <a:effectLst/>
                <a:latin typeface="Arial" panose="020B0604020202020204" pitchFamily="34" charset="0"/>
                <a:ea typeface="Arial" panose="020B0604020202020204" pitchFamily="34" charset="0"/>
                <a:cs typeface="Arial" panose="020B0604020202020204" pitchFamily="34" charset="0"/>
              </a:rPr>
              <a:t> repair techniques, such as the transtibial pullout repair has been our preferred practice.</a:t>
            </a:r>
            <a:endParaRPr lang="en-IN" sz="1200" dirty="0">
              <a:effectLst/>
              <a:latin typeface="Arial" panose="020B0604020202020204" pitchFamily="34" charset="0"/>
              <a:ea typeface="Arial" panose="020B0604020202020204" pitchFamily="34" charset="0"/>
              <a:cs typeface="Arial" panose="020B0604020202020204" pitchFamily="34" charset="0"/>
            </a:endParaRPr>
          </a:p>
          <a:p>
            <a:pPr marL="342900" marR="400050" lvl="0" indent="-342900">
              <a:lnSpc>
                <a:spcPct val="106000"/>
              </a:lnSpc>
              <a:buClr>
                <a:srgbClr val="202020"/>
              </a:buClr>
              <a:buSzPts val="1400"/>
              <a:buFont typeface="Arial" panose="020B0604020202020204" pitchFamily="34" charset="0"/>
              <a:buChar char="•"/>
              <a:tabLst>
                <a:tab pos="262255" algn="l"/>
                <a:tab pos="262890" algn="l"/>
              </a:tabLst>
            </a:pPr>
            <a:r>
              <a:rPr lang="en-US" sz="1200" dirty="0">
                <a:solidFill>
                  <a:srgbClr val="202020"/>
                </a:solidFill>
                <a:effectLst/>
                <a:latin typeface="Arial" panose="020B0604020202020204" pitchFamily="34" charset="0"/>
                <a:ea typeface="Arial" panose="020B0604020202020204" pitchFamily="34" charset="0"/>
                <a:cs typeface="Arial" panose="020B0604020202020204" pitchFamily="34" charset="0"/>
              </a:rPr>
              <a:t>Standard medial and lateral parapatellar arthroscopic portals are created and the torn meniscus stump is debrided down to a bleeding bone trough with an arthroscopic shaver</a:t>
            </a:r>
            <a:endParaRPr lang="en-IN" sz="1200" dirty="0">
              <a:effectLst/>
              <a:latin typeface="Arial" panose="020B0604020202020204" pitchFamily="34" charset="0"/>
              <a:ea typeface="Arial" panose="020B0604020202020204" pitchFamily="34" charset="0"/>
              <a:cs typeface="Arial" panose="020B0604020202020204" pitchFamily="34" charset="0"/>
            </a:endParaRPr>
          </a:p>
          <a:p>
            <a:pPr marL="342900" marR="370205" lvl="0" indent="-342900">
              <a:lnSpc>
                <a:spcPct val="106000"/>
              </a:lnSpc>
              <a:buClr>
                <a:srgbClr val="202020"/>
              </a:buClr>
              <a:buSzPts val="1400"/>
              <a:buFont typeface="Arial" panose="020B0604020202020204" pitchFamily="34" charset="0"/>
              <a:buChar char="•"/>
              <a:tabLst>
                <a:tab pos="262255" algn="l"/>
                <a:tab pos="262890" algn="l"/>
              </a:tabLst>
            </a:pPr>
            <a:r>
              <a:rPr lang="en-US" sz="1200" dirty="0">
                <a:solidFill>
                  <a:srgbClr val="202020"/>
                </a:solidFill>
                <a:effectLst/>
                <a:latin typeface="Arial" panose="020B0604020202020204" pitchFamily="34" charset="0"/>
                <a:ea typeface="Arial" panose="020B0604020202020204" pitchFamily="34" charset="0"/>
                <a:cs typeface="Arial" panose="020B0604020202020204" pitchFamily="34" charset="0"/>
              </a:rPr>
              <a:t>If access into the medial joint space is limited, pie crusting the femoral side of the MCL from outside-in with a spinal needle can help to enhance the working </a:t>
            </a:r>
            <a:r>
              <a:rPr lang="en-US" sz="1200" spc="-10" dirty="0">
                <a:solidFill>
                  <a:srgbClr val="202020"/>
                </a:solidFill>
                <a:effectLst/>
                <a:latin typeface="Arial" panose="020B0604020202020204" pitchFamily="34" charset="0"/>
                <a:ea typeface="Arial" panose="020B0604020202020204" pitchFamily="34" charset="0"/>
                <a:cs typeface="Arial" panose="020B0604020202020204" pitchFamily="34" charset="0"/>
              </a:rPr>
              <a:t>space.</a:t>
            </a:r>
            <a:endParaRPr lang="en-IN" sz="1200" dirty="0">
              <a:effectLst/>
              <a:latin typeface="Arial" panose="020B0604020202020204" pitchFamily="34" charset="0"/>
              <a:ea typeface="Arial" panose="020B0604020202020204" pitchFamily="34" charset="0"/>
              <a:cs typeface="Arial" panose="020B0604020202020204" pitchFamily="34" charset="0"/>
            </a:endParaRPr>
          </a:p>
          <a:p>
            <a:pPr marL="342900" marR="244475" lvl="0" indent="-342900">
              <a:lnSpc>
                <a:spcPct val="106000"/>
              </a:lnSpc>
              <a:buClr>
                <a:srgbClr val="202020"/>
              </a:buClr>
              <a:buSzPts val="1400"/>
              <a:buFont typeface="Arial" panose="020B0604020202020204" pitchFamily="34" charset="0"/>
              <a:buChar char="•"/>
              <a:tabLst>
                <a:tab pos="262255" algn="l"/>
                <a:tab pos="262890" algn="l"/>
              </a:tabLst>
            </a:pPr>
            <a:r>
              <a:rPr lang="en-US" sz="1200" dirty="0">
                <a:solidFill>
                  <a:srgbClr val="202020"/>
                </a:solidFill>
                <a:effectLst/>
                <a:latin typeface="Arial" panose="020B0604020202020204" pitchFamily="34" charset="0"/>
                <a:ea typeface="Arial" panose="020B0604020202020204" pitchFamily="34" charset="0"/>
                <a:cs typeface="Arial" panose="020B0604020202020204" pitchFamily="34" charset="0"/>
              </a:rPr>
              <a:t>No. 2 non-absorbable suture is then passed through the meniscus root using a suture passing device</a:t>
            </a:r>
            <a:endParaRPr lang="en-IN" sz="1200" dirty="0">
              <a:effectLst/>
              <a:latin typeface="Arial" panose="020B0604020202020204" pitchFamily="34" charset="0"/>
              <a:ea typeface="Arial" panose="020B0604020202020204" pitchFamily="34" charset="0"/>
              <a:cs typeface="Arial" panose="020B0604020202020204" pitchFamily="34" charset="0"/>
            </a:endParaRPr>
          </a:p>
        </p:txBody>
      </p:sp>
      <p:pic>
        <p:nvPicPr>
          <p:cNvPr id="44" name="docshape7">
            <a:extLst>
              <a:ext uri="{FF2B5EF4-FFF2-40B4-BE49-F238E27FC236}">
                <a16:creationId xmlns:a16="http://schemas.microsoft.com/office/drawing/2014/main" id="{4B4EE42A-8E8F-D96E-1FCB-3C9CB038E62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10647" y="3701816"/>
            <a:ext cx="1098512" cy="1064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 name="docshape26">
            <a:extLst>
              <a:ext uri="{FF2B5EF4-FFF2-40B4-BE49-F238E27FC236}">
                <a16:creationId xmlns:a16="http://schemas.microsoft.com/office/drawing/2014/main" id="{5EEC5E02-05F6-0022-CE0C-9243B95D205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567132" y="3660858"/>
            <a:ext cx="1205823" cy="1146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6" name="docshape28">
            <a:extLst>
              <a:ext uri="{FF2B5EF4-FFF2-40B4-BE49-F238E27FC236}">
                <a16:creationId xmlns:a16="http://schemas.microsoft.com/office/drawing/2014/main" id="{7E4A2F71-06CC-E805-9878-805EF7197B7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857907" y="3660858"/>
            <a:ext cx="1341108" cy="1146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7" name="docshape3">
            <a:extLst>
              <a:ext uri="{FF2B5EF4-FFF2-40B4-BE49-F238E27FC236}">
                <a16:creationId xmlns:a16="http://schemas.microsoft.com/office/drawing/2014/main" id="{457FE53E-73AE-68C9-B0D0-E7F813ED3602}"/>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371940" y="3666829"/>
            <a:ext cx="1647133" cy="11348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 name="docshape25">
            <a:extLst>
              <a:ext uri="{FF2B5EF4-FFF2-40B4-BE49-F238E27FC236}">
                <a16:creationId xmlns:a16="http://schemas.microsoft.com/office/drawing/2014/main" id="{CDCE5763-BCF8-AA6D-2B9F-28BFAF414FC4}"/>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310410" y="5444902"/>
            <a:ext cx="1342979" cy="1257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9" name="docshape27">
            <a:extLst>
              <a:ext uri="{FF2B5EF4-FFF2-40B4-BE49-F238E27FC236}">
                <a16:creationId xmlns:a16="http://schemas.microsoft.com/office/drawing/2014/main" id="{237B902C-7624-1FF1-8BC5-8D76D9BB312C}"/>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794204" y="5444902"/>
            <a:ext cx="1414096" cy="12471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 name="TextBox 50">
            <a:extLst>
              <a:ext uri="{FF2B5EF4-FFF2-40B4-BE49-F238E27FC236}">
                <a16:creationId xmlns:a16="http://schemas.microsoft.com/office/drawing/2014/main" id="{599C6906-545B-4B80-78E2-F8DEA95B7CFC}"/>
              </a:ext>
            </a:extLst>
          </p:cNvPr>
          <p:cNvSpPr txBox="1"/>
          <p:nvPr/>
        </p:nvSpPr>
        <p:spPr>
          <a:xfrm>
            <a:off x="6410647" y="5316403"/>
            <a:ext cx="5839324" cy="646331"/>
          </a:xfrm>
          <a:prstGeom prst="rect">
            <a:avLst/>
          </a:prstGeom>
          <a:noFill/>
        </p:spPr>
        <p:txBody>
          <a:bodyPr wrap="square">
            <a:spAutoFit/>
          </a:bodyPr>
          <a:lstStyle/>
          <a:p>
            <a:r>
              <a:rPr lang="en-US" sz="1200" dirty="0">
                <a:solidFill>
                  <a:srgbClr val="202020"/>
                </a:solidFill>
                <a:effectLst/>
                <a:latin typeface="Arial" panose="020B0604020202020204" pitchFamily="34" charset="0"/>
                <a:ea typeface="Cambria" panose="02040503050406030204" pitchFamily="18" charset="0"/>
                <a:cs typeface="Arial" panose="020B0604020202020204" pitchFamily="34" charset="0"/>
              </a:rPr>
              <a:t>With an improved understanding of the important role that an intact meniscal root has on proper</a:t>
            </a:r>
            <a:r>
              <a:rPr lang="en-US" sz="1200" spc="400" dirty="0">
                <a:solidFill>
                  <a:srgbClr val="202020"/>
                </a:solidFill>
                <a:effectLst/>
                <a:latin typeface="Arial" panose="020B0604020202020204" pitchFamily="34" charset="0"/>
                <a:ea typeface="Cambria" panose="02040503050406030204" pitchFamily="18" charset="0"/>
                <a:cs typeface="Arial" panose="020B0604020202020204" pitchFamily="34" charset="0"/>
              </a:rPr>
              <a:t> </a:t>
            </a:r>
            <a:r>
              <a:rPr lang="en-US" sz="1200" dirty="0">
                <a:solidFill>
                  <a:srgbClr val="202020"/>
                </a:solidFill>
                <a:effectLst/>
                <a:latin typeface="Arial" panose="020B0604020202020204" pitchFamily="34" charset="0"/>
                <a:ea typeface="Cambria" panose="02040503050406030204" pitchFamily="18" charset="0"/>
                <a:cs typeface="Arial" panose="020B0604020202020204" pitchFamily="34" charset="0"/>
              </a:rPr>
              <a:t>meniscal function, the recent attention paid to the identification and treatment of meniscal root tears is</a:t>
            </a:r>
            <a:r>
              <a:rPr lang="en-US" sz="1200" spc="200" dirty="0">
                <a:solidFill>
                  <a:srgbClr val="202020"/>
                </a:solidFill>
                <a:effectLst/>
                <a:latin typeface="Arial" panose="020B0604020202020204" pitchFamily="34" charset="0"/>
                <a:ea typeface="Cambria" panose="02040503050406030204" pitchFamily="18" charset="0"/>
                <a:cs typeface="Arial" panose="020B0604020202020204" pitchFamily="34" charset="0"/>
              </a:rPr>
              <a:t> </a:t>
            </a:r>
            <a:r>
              <a:rPr lang="en-US" sz="1200" dirty="0">
                <a:solidFill>
                  <a:srgbClr val="202020"/>
                </a:solidFill>
                <a:effectLst/>
                <a:latin typeface="Arial" panose="020B0604020202020204" pitchFamily="34" charset="0"/>
                <a:ea typeface="Cambria" panose="02040503050406030204" pitchFamily="18" charset="0"/>
                <a:cs typeface="Arial" panose="020B0604020202020204" pitchFamily="34" charset="0"/>
              </a:rPr>
              <a:t>appropriate and necessary</a:t>
            </a:r>
            <a:endParaRPr lang="en-IN" sz="1200" dirty="0">
              <a:latin typeface="Arial" panose="020B0604020202020204" pitchFamily="34" charset="0"/>
              <a:cs typeface="Arial" panose="020B0604020202020204" pitchFamily="34" charset="0"/>
            </a:endParaRPr>
          </a:p>
        </p:txBody>
      </p:sp>
      <p:sp>
        <p:nvSpPr>
          <p:cNvPr id="53" name="TextBox 52">
            <a:extLst>
              <a:ext uri="{FF2B5EF4-FFF2-40B4-BE49-F238E27FC236}">
                <a16:creationId xmlns:a16="http://schemas.microsoft.com/office/drawing/2014/main" id="{B6078788-3B9C-FF37-815E-AC29B8ACE3DD}"/>
              </a:ext>
            </a:extLst>
          </p:cNvPr>
          <p:cNvSpPr txBox="1"/>
          <p:nvPr/>
        </p:nvSpPr>
        <p:spPr>
          <a:xfrm>
            <a:off x="6424697" y="1804715"/>
            <a:ext cx="5695275" cy="1771382"/>
          </a:xfrm>
          <a:prstGeom prst="rect">
            <a:avLst/>
          </a:prstGeom>
          <a:noFill/>
        </p:spPr>
        <p:txBody>
          <a:bodyPr wrap="square">
            <a:spAutoFit/>
          </a:bodyPr>
          <a:lstStyle/>
          <a:p>
            <a:pPr marL="285750" lvl="0" indent="-285750">
              <a:buFont typeface="Arial" panose="020B0604020202020204" pitchFamily="34" charset="0"/>
              <a:buChar char="•"/>
            </a:pPr>
            <a:r>
              <a:rPr lang="en-US" sz="1200" dirty="0">
                <a:latin typeface="Arial" panose="020B0604020202020204" pitchFamily="34" charset="0"/>
                <a:cs typeface="Arial" panose="020B0604020202020204" pitchFamily="34" charset="0"/>
              </a:rPr>
              <a:t>Alternatively, a retrograde reaming device may be used to drill a socket for which the root may be dunked within.</a:t>
            </a:r>
            <a:endParaRPr lang="en-IN" sz="1200" dirty="0">
              <a:latin typeface="Arial" panose="020B0604020202020204" pitchFamily="34" charset="0"/>
              <a:cs typeface="Arial" panose="020B0604020202020204" pitchFamily="34" charset="0"/>
            </a:endParaRPr>
          </a:p>
          <a:p>
            <a:pPr marL="285750" lvl="0" indent="-285750">
              <a:buFont typeface="Arial" panose="020B0604020202020204" pitchFamily="34" charset="0"/>
              <a:buChar char="•"/>
            </a:pPr>
            <a:r>
              <a:rPr lang="en-US" sz="1200" dirty="0">
                <a:latin typeface="Arial" panose="020B0604020202020204" pitchFamily="34" charset="0"/>
                <a:cs typeface="Arial" panose="020B0604020202020204" pitchFamily="34" charset="0"/>
              </a:rPr>
              <a:t>Sutures are then retrieved through the tunnel and shuttled exteriorly where they are secured over a suture button. Wound closure done.</a:t>
            </a:r>
            <a:endParaRPr lang="en-IN" sz="1200" dirty="0">
              <a:latin typeface="Arial" panose="020B0604020202020204" pitchFamily="34" charset="0"/>
              <a:cs typeface="Arial" panose="020B0604020202020204" pitchFamily="34" charset="0"/>
            </a:endParaRPr>
          </a:p>
          <a:p>
            <a:pPr marL="285750" lvl="0" indent="-285750">
              <a:buFont typeface="Arial" panose="020B0604020202020204" pitchFamily="34" charset="0"/>
              <a:buChar char="•"/>
            </a:pPr>
            <a:r>
              <a:rPr lang="en-US" sz="1200" dirty="0">
                <a:solidFill>
                  <a:srgbClr val="202020"/>
                </a:solidFill>
                <a:effectLst/>
                <a:latin typeface="Arial" panose="020B0604020202020204" pitchFamily="34" charset="0"/>
                <a:ea typeface="Arial" panose="020B0604020202020204" pitchFamily="34" charset="0"/>
                <a:cs typeface="Arial" panose="020B0604020202020204" pitchFamily="34" charset="0"/>
              </a:rPr>
              <a:t>Post op </a:t>
            </a:r>
            <a:r>
              <a:rPr lang="en-US" sz="1200" dirty="0" err="1">
                <a:solidFill>
                  <a:srgbClr val="202020"/>
                </a:solidFill>
                <a:effectLst/>
                <a:latin typeface="Arial" panose="020B0604020202020204" pitchFamily="34" charset="0"/>
                <a:ea typeface="Arial" panose="020B0604020202020204" pitchFamily="34" charset="0"/>
                <a:cs typeface="Arial" panose="020B0604020202020204" pitchFamily="34" charset="0"/>
              </a:rPr>
              <a:t>xray</a:t>
            </a:r>
            <a:r>
              <a:rPr lang="en-US" sz="1200" dirty="0">
                <a:solidFill>
                  <a:srgbClr val="202020"/>
                </a:solidFill>
                <a:effectLst/>
                <a:latin typeface="Arial" panose="020B0604020202020204" pitchFamily="34" charset="0"/>
                <a:ea typeface="Arial" panose="020B0604020202020204" pitchFamily="34" charset="0"/>
                <a:cs typeface="Arial" panose="020B0604020202020204" pitchFamily="34" charset="0"/>
              </a:rPr>
              <a:t> was taken on the next day following </a:t>
            </a:r>
            <a:r>
              <a:rPr lang="en-US" sz="1200" spc="-10" dirty="0">
                <a:solidFill>
                  <a:srgbClr val="202020"/>
                </a:solidFill>
                <a:effectLst/>
                <a:latin typeface="Arial" panose="020B0604020202020204" pitchFamily="34" charset="0"/>
                <a:ea typeface="Arial" panose="020B0604020202020204" pitchFamily="34" charset="0"/>
                <a:cs typeface="Arial" panose="020B0604020202020204" pitchFamily="34" charset="0"/>
              </a:rPr>
              <a:t>surgery.</a:t>
            </a:r>
            <a:endParaRPr lang="en-IN" sz="1200" dirty="0">
              <a:effectLst/>
              <a:latin typeface="Arial" panose="020B0604020202020204" pitchFamily="34" charset="0"/>
              <a:ea typeface="Arial" panose="020B0604020202020204" pitchFamily="34" charset="0"/>
              <a:cs typeface="Arial" panose="020B0604020202020204" pitchFamily="34" charset="0"/>
            </a:endParaRPr>
          </a:p>
          <a:p>
            <a:pPr marL="342900" marR="313055" lvl="0" indent="-342900">
              <a:lnSpc>
                <a:spcPct val="105000"/>
              </a:lnSpc>
              <a:buClr>
                <a:srgbClr val="202020"/>
              </a:buClr>
              <a:buSzPts val="1400"/>
              <a:buFont typeface="Arial" panose="020B0604020202020204" pitchFamily="34" charset="0"/>
              <a:buChar char="•"/>
              <a:tabLst>
                <a:tab pos="262255" algn="l"/>
                <a:tab pos="262890" algn="l"/>
              </a:tabLst>
            </a:pPr>
            <a:r>
              <a:rPr lang="en-US" sz="1200" dirty="0">
                <a:solidFill>
                  <a:srgbClr val="202020"/>
                </a:solidFill>
                <a:effectLst/>
                <a:latin typeface="Arial" panose="020B0604020202020204" pitchFamily="34" charset="0"/>
                <a:ea typeface="Arial" panose="020B0604020202020204" pitchFamily="34" charset="0"/>
                <a:cs typeface="Arial" panose="020B0604020202020204" pitchFamily="34" charset="0"/>
              </a:rPr>
              <a:t>He was made non weight bearing for 6 weeks, with restrictions in motion to 90 degrees.</a:t>
            </a:r>
            <a:endParaRPr lang="en-IN" sz="1200" dirty="0">
              <a:effectLst/>
              <a:latin typeface="Arial" panose="020B0604020202020204" pitchFamily="34" charset="0"/>
              <a:ea typeface="Arial" panose="020B0604020202020204" pitchFamily="34" charset="0"/>
              <a:cs typeface="Arial" panose="020B0604020202020204" pitchFamily="34" charset="0"/>
            </a:endParaRPr>
          </a:p>
          <a:p>
            <a:pPr marL="342900" marR="126365" lvl="0" indent="-342900">
              <a:lnSpc>
                <a:spcPct val="103000"/>
              </a:lnSpc>
              <a:buClr>
                <a:srgbClr val="202020"/>
              </a:buClr>
              <a:buSzPts val="1400"/>
              <a:buFont typeface="Arial" panose="020B0604020202020204" pitchFamily="34" charset="0"/>
              <a:buChar char="•"/>
              <a:tabLst>
                <a:tab pos="262255" algn="l"/>
                <a:tab pos="262890" algn="l"/>
              </a:tabLst>
            </a:pPr>
            <a:r>
              <a:rPr lang="en-US" sz="1200" dirty="0">
                <a:solidFill>
                  <a:srgbClr val="202020"/>
                </a:solidFill>
                <a:effectLst/>
                <a:latin typeface="Arial" panose="020B0604020202020204" pitchFamily="34" charset="0"/>
                <a:ea typeface="Arial" panose="020B0604020202020204" pitchFamily="34" charset="0"/>
                <a:cs typeface="Arial" panose="020B0604020202020204" pitchFamily="34" charset="0"/>
              </a:rPr>
              <a:t>Weight bearing and range of motion were progressed thereafter and he returned to all activities by 6</a:t>
            </a:r>
            <a:r>
              <a:rPr lang="en-US" sz="1200" spc="200" dirty="0">
                <a:solidFill>
                  <a:srgbClr val="202020"/>
                </a:solidFill>
                <a:effectLst/>
                <a:latin typeface="Arial" panose="020B0604020202020204" pitchFamily="34" charset="0"/>
                <a:ea typeface="Arial" panose="020B0604020202020204" pitchFamily="34" charset="0"/>
                <a:cs typeface="Arial" panose="020B0604020202020204" pitchFamily="34" charset="0"/>
              </a:rPr>
              <a:t> </a:t>
            </a:r>
            <a:r>
              <a:rPr lang="en-US" sz="1200" dirty="0">
                <a:solidFill>
                  <a:srgbClr val="202020"/>
                </a:solidFill>
                <a:effectLst/>
                <a:latin typeface="Arial" panose="020B0604020202020204" pitchFamily="34" charset="0"/>
                <a:ea typeface="Arial" panose="020B0604020202020204" pitchFamily="34" charset="0"/>
                <a:cs typeface="Arial" panose="020B0604020202020204" pitchFamily="34" charset="0"/>
              </a:rPr>
              <a:t>months post op.</a:t>
            </a:r>
            <a:endParaRPr lang="en-IN" sz="1200" dirty="0">
              <a:effectLst/>
              <a:latin typeface="Arial" panose="020B0604020202020204" pitchFamily="34" charset="0"/>
              <a:ea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073546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6624</TotalTime>
  <Words>443</Words>
  <Application>Microsoft Office PowerPoint</Application>
  <PresentationFormat>Widescreen</PresentationFormat>
  <Paragraphs>23</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Aptos</vt:lpstr>
      <vt:lpstr>Arial</vt:lpstr>
      <vt:lpstr>Gordita </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Virinchi Vinay</dc:creator>
  <cp:lastModifiedBy>Dr. Chandra Sekhar</cp:lastModifiedBy>
  <cp:revision>9</cp:revision>
  <dcterms:created xsi:type="dcterms:W3CDTF">2026-01-11T06:24:43Z</dcterms:created>
  <dcterms:modified xsi:type="dcterms:W3CDTF">2026-02-03T19:01:00Z</dcterms:modified>
</cp:coreProperties>
</file>