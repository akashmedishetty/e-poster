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5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0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"/>
          <p:cNvSpPr/>
          <p:nvPr userDrawn="1"/>
        </p:nvSpPr>
        <p:spPr>
          <a:xfrm>
            <a:off x="0" y="0"/>
            <a:ext cx="12191998" cy="1280156"/>
          </a:xfrm>
          <a:prstGeom prst="rect"/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006884" y="74822"/>
            <a:ext cx="1043154" cy="1043154"/>
          </a:xfrm>
          <a:prstGeom prst="rect"/>
        </p:spPr>
      </p:pic>
      <p:pic>
        <p:nvPicPr>
          <p:cNvPr id="2097153" name="Picture 15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947316" y="123390"/>
            <a:ext cx="884047" cy="884047"/>
          </a:xfrm>
          <a:prstGeom prst="rect"/>
        </p:spPr>
      </p:pic>
      <p:pic>
        <p:nvPicPr>
          <p:cNvPr id="2097154" name="Picture 16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0127893" y="192303"/>
            <a:ext cx="785940" cy="785940"/>
          </a:xfrm>
          <a:prstGeom prst="rect"/>
        </p:spPr>
      </p:pic>
      <p:sp>
        <p:nvSpPr>
          <p:cNvPr id="1048577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55</a:t>
            </a:r>
            <a:r>
              <a:rPr baseline="30000" b="1" dirty="0" lang="en-US">
                <a:solidFill>
                  <a:schemeClr val="bg1"/>
                </a:solidFill>
                <a:latin typeface="Gordita "/>
              </a:rPr>
              <a:t>th</a:t>
            </a:r>
            <a:r>
              <a:rPr b="1" dirty="0" lang="en-US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048578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1048579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b="1" dirty="0" sz="1200" lang="en-US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b="1" dirty="0" sz="1200" lang="en-US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1048580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ah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t="-9937" r="-4895" b="-10857"/>
            </a:stretch>
          </a:blipFill>
        </p:spPr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Content Placeholder 2"/>
          <p:cNvSpPr>
            <a:spLocks noGrp="1"/>
          </p:cNvSpPr>
          <p:nvPr>
            <p:ph idx="1"/>
          </p:nvPr>
        </p:nvSpPr>
        <p:spPr>
          <a:xfrm>
            <a:off x="621891" y="1678141"/>
            <a:ext cx="10360742" cy="2657885"/>
          </a:xfrm>
        </p:spPr>
        <p:txBody>
          <a:bodyPr/>
          <a:p>
            <a:pPr indent="0" marL="0">
              <a:buNone/>
            </a:pPr>
            <a:r>
              <a:rPr b="1"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Study of Outcome of Ligamentotaxis with External Fixation in Distal Radius Fractures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marL="0">
              <a:buNone/>
            </a:pP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Presenter: Dr. </a:t>
            </a:r>
            <a:r>
              <a:rPr dirty="0" sz="2400" lang="en-IN" err="1">
                <a:latin typeface="Arial" panose="020B0604020202020204" pitchFamily="34" charset="0"/>
                <a:cs typeface="Arial" panose="020B0604020202020204" pitchFamily="34" charset="0"/>
              </a:rPr>
              <a:t>Kuchana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 Jayanth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altLang="en-US" lang="zh-CN"/>
          </a:p>
          <a:p>
            <a:pPr indent="0" marL="0">
              <a:buNone/>
            </a:pP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Department of Orthopaedics</a:t>
            </a:r>
            <a:endParaRPr altLang="en-US" lang="zh-CN"/>
          </a:p>
          <a:p>
            <a:pPr indent="0" marL="0">
              <a:buNone/>
            </a:pP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altLang="en-GB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 GMC Nizamabad</a:t>
            </a:r>
            <a:endParaRPr altLang="en-US" lang="zh-CN"/>
          </a:p>
          <a:p>
            <a:r>
              <a:rPr b="1"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Aim: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 To evaluate functional and radiological outcomes of ligamentotaxis with external fixation in unstable distal radius fractures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838200" y="1515500"/>
            <a:ext cx="10515600" cy="736088"/>
          </a:xfrm>
        </p:spPr>
        <p:txBody>
          <a:bodyPr/>
          <a:p>
            <a:r>
              <a:rPr b="1" dirty="0" lang="en-IN"/>
              <a:t>Background &amp; Rationale</a:t>
            </a:r>
            <a:endParaRPr dirty="0" lang="en-IN"/>
          </a:p>
        </p:txBody>
      </p:sp>
      <p:sp>
        <p:nvSpPr>
          <p:cNvPr id="1048588" name="Content Placeholder 2"/>
          <p:cNvSpPr>
            <a:spLocks noGrp="1"/>
          </p:cNvSpPr>
          <p:nvPr>
            <p:ph idx="1"/>
          </p:nvPr>
        </p:nvSpPr>
        <p:spPr>
          <a:xfrm>
            <a:off x="838200" y="2491300"/>
            <a:ext cx="10515600" cy="2952852"/>
          </a:xfrm>
        </p:spPr>
        <p:txBody>
          <a:bodyPr/>
          <a:p>
            <a:r>
              <a:rPr dirty="0" sz="2400" lang="en-IN"/>
              <a:t>Low-energy extra-articular fractures → casting adequate</a:t>
            </a:r>
          </a:p>
          <a:p>
            <a:r>
              <a:rPr dirty="0" sz="2400" lang="en-IN"/>
              <a:t>High-velocity injuries → </a:t>
            </a:r>
            <a:r>
              <a:rPr b="1" dirty="0" sz="2400" lang="en-IN" err="1"/>
              <a:t>comminuted</a:t>
            </a:r>
            <a:r>
              <a:rPr b="1" dirty="0" sz="2400" lang="en-IN"/>
              <a:t>, unstable, intra-articular fractures</a:t>
            </a:r>
            <a:endParaRPr dirty="0" sz="2400" lang="en-IN"/>
          </a:p>
          <a:p>
            <a:r>
              <a:rPr dirty="0" sz="2400" lang="en-IN"/>
              <a:t>Loss of reduction → malunion, poor function, early OA</a:t>
            </a:r>
          </a:p>
          <a:p>
            <a:r>
              <a:rPr dirty="0" sz="2400" lang="en-IN"/>
              <a:t>Ligamentotaxis aligns fragments via intact ligaments</a:t>
            </a:r>
          </a:p>
          <a:p>
            <a:r>
              <a:rPr dirty="0" sz="2400" lang="en-IN"/>
              <a:t>External fixation provides </a:t>
            </a:r>
            <a:r>
              <a:rPr b="1" dirty="0" sz="2400" lang="en-IN"/>
              <a:t>stable, adjustable, reliable reduction</a:t>
            </a:r>
            <a:endParaRPr dirty="0" sz="2400" lang="en-IN"/>
          </a:p>
          <a:p>
            <a:endParaRPr dirty="0" sz="2400"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>
          <a:xfrm>
            <a:off x="916858" y="1356340"/>
            <a:ext cx="10515600" cy="834410"/>
          </a:xfrm>
        </p:spPr>
        <p:txBody>
          <a:bodyPr/>
          <a:p>
            <a:r>
              <a:rPr b="1" dirty="0" lang="en-US"/>
              <a:t>Materials &amp; Methods</a:t>
            </a:r>
            <a:br>
              <a:rPr b="1" dirty="0" lang="en-US"/>
            </a:br>
            <a:endParaRPr dirty="0" lang="en-IN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>
          <a:xfrm>
            <a:off x="759542" y="2190750"/>
            <a:ext cx="10515600" cy="4667250"/>
          </a:xfrm>
        </p:spPr>
        <p:txBody>
          <a:bodyPr/>
          <a:p>
            <a:r>
              <a:rPr dirty="0" sz="2400" lang="en-US"/>
              <a:t>Design: Prospective study (2 years)</a:t>
            </a:r>
          </a:p>
          <a:p>
            <a:r>
              <a:rPr dirty="0" sz="2400" lang="en-US"/>
              <a:t>Sample size: </a:t>
            </a:r>
            <a:r>
              <a:rPr b="1" dirty="0" sz="2400" lang="en-US"/>
              <a:t>30 patients</a:t>
            </a:r>
            <a:endParaRPr dirty="0" sz="2400" lang="en-US"/>
          </a:p>
          <a:p>
            <a:r>
              <a:rPr dirty="0" sz="2400" lang="en-US"/>
              <a:t>Inclusion:</a:t>
            </a:r>
          </a:p>
          <a:p>
            <a:pPr lvl="1"/>
            <a:r>
              <a:rPr dirty="0" lang="en-US"/>
              <a:t>Age 20–80 yrs</a:t>
            </a:r>
          </a:p>
          <a:p>
            <a:pPr lvl="1"/>
            <a:r>
              <a:rPr dirty="0" lang="en-US"/>
              <a:t>Frykman type V–VIII</a:t>
            </a:r>
          </a:p>
          <a:p>
            <a:pPr lvl="1"/>
            <a:r>
              <a:rPr dirty="0" lang="en-US"/>
              <a:t>Intra-articular comminuted fractures</a:t>
            </a:r>
          </a:p>
          <a:p>
            <a:r>
              <a:rPr dirty="0" sz="2400" lang="en-US"/>
              <a:t>Exclusion:</a:t>
            </a:r>
          </a:p>
          <a:p>
            <a:pPr lvl="1"/>
            <a:r>
              <a:rPr dirty="0" lang="en-US"/>
              <a:t>Stable fractures</a:t>
            </a:r>
          </a:p>
          <a:p>
            <a:pPr lvl="1"/>
            <a:r>
              <a:rPr dirty="0" lang="en-US"/>
              <a:t>Open fractures</a:t>
            </a:r>
          </a:p>
          <a:p>
            <a:pPr lvl="1"/>
            <a:r>
              <a:rPr dirty="0" lang="en-US"/>
              <a:t>Previous wrist fracture</a:t>
            </a:r>
          </a:p>
          <a:p>
            <a:endParaRPr dirty="0" sz="2400"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>
          <a:xfrm>
            <a:off x="953728" y="1368016"/>
            <a:ext cx="10515600" cy="677094"/>
          </a:xfrm>
        </p:spPr>
        <p:txBody>
          <a:bodyPr/>
          <a:p>
            <a:r>
              <a:rPr b="1" dirty="0" lang="en-US">
                <a:latin typeface="Arial" panose="020B0604020202020204" pitchFamily="34" charset="0"/>
                <a:cs typeface="Arial" panose="020B0604020202020204" pitchFamily="34" charset="0"/>
              </a:rPr>
              <a:t>Procedure &amp; Follow-up</a:t>
            </a:r>
            <a:br>
              <a:rPr b="1" dirty="0"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dirty="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>
          <a:xfrm>
            <a:off x="953728" y="2231923"/>
            <a:ext cx="10400071" cy="3945040"/>
          </a:xfrm>
        </p:spPr>
        <p:txBody>
          <a:bodyPr/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External fixator applied using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ligamentotaxis principle</a:t>
            </a:r>
            <a:endParaRPr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Fixator removed at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6 weeks after radiological union</a:t>
            </a:r>
            <a:endParaRPr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Active wrist mobilization started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Follow-up at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3 months</a:t>
            </a:r>
            <a:endParaRPr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</a:p>
          <a:p>
            <a:pPr lvl="1"/>
            <a:r>
              <a:rPr dirty="0" lang="en-US">
                <a:latin typeface="Arial" panose="020B0604020202020204" pitchFamily="34" charset="0"/>
                <a:cs typeface="Arial" panose="020B0604020202020204" pitchFamily="34" charset="0"/>
              </a:rPr>
              <a:t>Radiological parameters</a:t>
            </a:r>
          </a:p>
          <a:p>
            <a:pPr lvl="1"/>
            <a:r>
              <a:rPr dirty="0" lang="en-US">
                <a:latin typeface="Arial" panose="020B0604020202020204" pitchFamily="34" charset="0"/>
                <a:cs typeface="Arial" panose="020B0604020202020204" pitchFamily="34" charset="0"/>
              </a:rPr>
              <a:t>Functional assessment</a:t>
            </a:r>
          </a:p>
          <a:p>
            <a:endParaRPr dirty="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838200" y="1299189"/>
            <a:ext cx="10515600" cy="667263"/>
          </a:xfrm>
        </p:spPr>
        <p:txBody>
          <a:bodyPr/>
          <a:p>
            <a:r>
              <a:rPr dirty="0" lang="en-US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endParaRPr dirty="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5" name="Content Placeholder 6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7866" y="2140872"/>
            <a:ext cx="4900305" cy="3266870"/>
          </a:xfrm>
        </p:spPr>
      </p:pic>
      <p:pic>
        <p:nvPicPr>
          <p:cNvPr id="2097156" name="Content Placeholder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44076" y="1809136"/>
            <a:ext cx="3920130" cy="4758518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1071716" y="1299189"/>
            <a:ext cx="10124768" cy="775418"/>
          </a:xfrm>
        </p:spPr>
        <p:txBody>
          <a:bodyPr/>
          <a:p>
            <a:r>
              <a:rPr b="1" dirty="0" sz="3600" lang="en-US"/>
              <a:t>Results &amp; Complications</a:t>
            </a:r>
            <a:br>
              <a:rPr b="1" dirty="0" sz="3600" lang="en-US"/>
            </a:br>
            <a:endParaRPr dirty="0" sz="3600" lang="en-IN"/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914400" y="1995947"/>
            <a:ext cx="10439400" cy="4181015"/>
          </a:xfrm>
        </p:spPr>
        <p:txBody>
          <a:bodyPr/>
          <a:p>
            <a:r>
              <a:rPr dirty="0" sz="2400" lang="en-US"/>
              <a:t>Results (Gartland &amp; Werley):</a:t>
            </a:r>
          </a:p>
          <a:p>
            <a:pPr lvl="1"/>
            <a:r>
              <a:rPr dirty="0" lang="en-US"/>
              <a:t>Excellent – </a:t>
            </a:r>
            <a:r>
              <a:rPr b="1" dirty="0" lang="en-US"/>
              <a:t>17%</a:t>
            </a:r>
            <a:endParaRPr dirty="0" lang="en-US"/>
          </a:p>
          <a:p>
            <a:pPr lvl="1"/>
            <a:r>
              <a:rPr dirty="0" lang="en-US"/>
              <a:t>Good – </a:t>
            </a:r>
            <a:r>
              <a:rPr b="1" dirty="0" lang="en-US"/>
              <a:t>40%</a:t>
            </a:r>
            <a:endParaRPr dirty="0" lang="en-US"/>
          </a:p>
          <a:p>
            <a:pPr lvl="1"/>
            <a:r>
              <a:rPr dirty="0" lang="en-US"/>
              <a:t>Fair – </a:t>
            </a:r>
            <a:r>
              <a:rPr b="1" dirty="0" lang="en-US"/>
              <a:t>33%</a:t>
            </a:r>
            <a:endParaRPr dirty="0" lang="en-US"/>
          </a:p>
          <a:p>
            <a:pPr lvl="1"/>
            <a:r>
              <a:rPr dirty="0" lang="en-US"/>
              <a:t>Poor – </a:t>
            </a:r>
            <a:r>
              <a:rPr b="1" dirty="0" lang="en-US"/>
              <a:t>10%</a:t>
            </a:r>
            <a:endParaRPr dirty="0" lang="en-US"/>
          </a:p>
          <a:p>
            <a:r>
              <a:rPr dirty="0" sz="2400" lang="en-US"/>
              <a:t>Complications:</a:t>
            </a:r>
          </a:p>
          <a:p>
            <a:pPr lvl="1"/>
            <a:r>
              <a:rPr dirty="0" lang="en-US"/>
              <a:t>Pin-tract infection – </a:t>
            </a:r>
            <a:r>
              <a:rPr b="1" dirty="0" lang="en-US"/>
              <a:t>13%</a:t>
            </a:r>
            <a:endParaRPr dirty="0" lang="en-US"/>
          </a:p>
          <a:p>
            <a:pPr lvl="1"/>
            <a:r>
              <a:rPr dirty="0" lang="en-US"/>
              <a:t>DRUJ pain – </a:t>
            </a:r>
            <a:r>
              <a:rPr b="1" dirty="0" lang="en-US"/>
              <a:t>10%</a:t>
            </a:r>
            <a:endParaRPr dirty="0" lang="en-US"/>
          </a:p>
          <a:p>
            <a:pPr lvl="1"/>
            <a:r>
              <a:rPr dirty="0" lang="en-US"/>
              <a:t>DRUJ instability – </a:t>
            </a:r>
            <a:r>
              <a:rPr b="1" dirty="0" lang="en-US"/>
              <a:t>7%</a:t>
            </a:r>
            <a:endParaRPr dirty="0" lang="en-US"/>
          </a:p>
          <a:p>
            <a:endParaRPr dirty="0"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985684" y="1407345"/>
            <a:ext cx="10515600" cy="726256"/>
          </a:xfrm>
        </p:spPr>
        <p:txBody>
          <a:bodyPr/>
          <a:p>
            <a:r>
              <a:rPr dirty="0" sz="3200" lang="en-US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dirty="0" sz="32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0716" y="2004305"/>
            <a:ext cx="8471267" cy="11582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fixation with ligamentotaxis is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for unstable distal radius fractures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good functional and radiological outcomes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 universal solution—fracture pattern dictates treatment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anatomical restoration improves long-term wrist function</a:t>
            </a: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97620" y="3183590"/>
            <a:ext cx="6128002" cy="1690494"/>
          </a:xfrm>
          <a:prstGeom prst="rect"/>
        </p:spPr>
      </p:pic>
      <p:pic>
        <p:nvPicPr>
          <p:cNvPr id="2097158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634109" y="4874084"/>
            <a:ext cx="6660266" cy="1939138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Virinchi Vinay</dc:creator>
  <cp:lastModifiedBy>Koti Surya Prakash Mandava</cp:lastModifiedBy>
  <dcterms:created xsi:type="dcterms:W3CDTF">2026-01-10T19:24:43Z</dcterms:created>
  <dcterms:modified xsi:type="dcterms:W3CDTF">2026-01-30T05:54:15Z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eadbd60e886345cb948f5f385764a197</vt:lpwstr>
  </property>
</Properties>
</file>