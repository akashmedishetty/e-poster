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7310" autoAdjust="0"/>
    <p:restoredTop sz="94660" autoAdjust="0"/>
  </p:normalViewPr>
  <p:slideViewPr>
    <p:cSldViewPr snapToGrid="0">
      <p:cViewPr varScale="1">
        <p:scale>
          <a:sx n="84" d="100"/>
          <a:sy n="84" d="100"/>
        </p:scale>
        <p:origin x="0" y="0"/>
      </p:cViewPr>
      <p:guideLst/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&lt;#&gt;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10" name="文本框"/>
          <p:cNvSpPr>
            <a:spLocks noGrp="1"/>
          </p:cNvSpPr>
          <p:nvPr>
            <p:ph type="hdr"/>
          </p:nvPr>
        </p:nvSpPr>
        <p:spPr>
          <a:xfrm rot="0">
            <a:off x="0" y="0"/>
            <a:ext cx="2971799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l"/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11" name="文本框"/>
          <p:cNvSpPr>
            <a:spLocks noGrp="1"/>
          </p:cNvSpPr>
          <p:nvPr>
            <p:ph type="dt" idx="1"/>
          </p:nvPr>
        </p:nvSpPr>
        <p:spPr>
          <a:xfrm rot="0">
            <a:off x="3884613" y="0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1200">
                <a:latin typeface="Aptos" pitchFamily="0" charset="0"/>
                <a:ea typeface="等线" pitchFamily="0" charset="0"/>
                <a:cs typeface="Aptos" pitchFamily="0" charset="0"/>
              </a:rPr>
              <a:t>2/12/2026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12" name="对象"/>
          <p:cNvSpPr>
            <a:spLocks noGrp="1" noChangeAspect="1"/>
          </p:cNvSpPr>
          <p:nvPr>
            <p:ph type="sldImg" idx="2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3" name="文本框"/>
          <p:cNvSpPr>
            <a:spLocks noGrp="1"/>
          </p:cNvSpPr>
          <p:nvPr>
            <p:ph type="body" idx="3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4" name="文本框"/>
          <p:cNvSpPr>
            <a:spLocks noGrp="1"/>
          </p:cNvSpPr>
          <p:nvPr>
            <p:ph type="ftr" idx="4"/>
          </p:nvPr>
        </p:nvSpPr>
        <p:spPr>
          <a:xfrm rot="0">
            <a:off x="0" y="8685213"/>
            <a:ext cx="2971799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l"/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715817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pitchFamily="0" charset="0"/>
        <a:ea typeface="等线" pitchFamily="0" charset="0"/>
        <a:cs typeface="Aptos" pitchFamily="0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pitchFamily="0" charset="0"/>
        <a:ea typeface="等线" pitchFamily="0" charset="0"/>
        <a:cs typeface="Aptos" pitchFamily="0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pitchFamily="0" charset="0"/>
        <a:ea typeface="等线" pitchFamily="0" charset="0"/>
        <a:cs typeface="Aptos" pitchFamily="0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pitchFamily="0" charset="0"/>
        <a:ea typeface="等线" pitchFamily="0" charset="0"/>
        <a:cs typeface="Aptos" pitchFamily="0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pitchFamily="0" charset="0"/>
        <a:ea typeface="等线" pitchFamily="0" charset="0"/>
        <a:cs typeface="Aptos" pitchFamily="0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pitchFamily="0" charset="0"/>
        <a:ea typeface="等线" pitchFamily="0" charset="0"/>
        <a:cs typeface="Aptos" pitchFamily="0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pitchFamily="0" charset="0"/>
        <a:ea typeface="等线" pitchFamily="0" charset="0"/>
        <a:cs typeface="Aptos" pitchFamily="0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pitchFamily="0" charset="0"/>
        <a:ea typeface="等线" pitchFamily="0" charset="0"/>
        <a:cs typeface="Aptos" pitchFamily="0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pitchFamily="0" charset="0"/>
        <a:ea typeface="等线" pitchFamily="0" charset="0"/>
        <a:cs typeface="Aptos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1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072442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2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039381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3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140276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4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927368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5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73398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6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625334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7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356477"/>
      </p:ext>
    </p:extLst>
  </p:cSld>
  <p:clrMapOvr>
    <a:masterClrMapping/>
  </p:clrMapOvr>
</p:notes>
</file>

<file path=ppt/notesSlides/notesSlide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8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837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png"/><Relationship Id="rId3" Type="http://schemas.openxmlformats.org/officeDocument/2006/relationships/image" Target="../media/2.png"/><Relationship Id="rId4" Type="http://schemas.openxmlformats.org/officeDocument/2006/relationships/image" Target="../media/3.png"/><Relationship Id="rId5" Type="http://schemas.openxmlformats.org/officeDocument/2006/relationships/image" Target="../media/pimg2.png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59522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224222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9709282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36527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734454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276541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5717471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24182072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89324319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39345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3699290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8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0" y="0"/>
            <a:ext cx="12191998" cy="1280156"/>
          </a:xfrm>
          <a:prstGeom xmlns:a="http://schemas.openxmlformats.org/drawingml/2006/main" prst="rect"/>
          <a:solidFill xmlns:a="http://schemas.openxmlformats.org/drawingml/2006/main">
            <a:srgbClr val="01234D"/>
          </a:solidFill>
          <a:ln xmlns:a="http://schemas.openxmlformats.org/drawingml/2006/main" w="19050" cmpd="sng" cap="flat">
            <a:solidFill>
              <a:srgbClr val="525755"/>
            </a:solidFill>
            <a:prstDash val="solid"/>
            <a:round/>
          </a:ln>
        </p:spPr>
      </p:sp>
      <p:pic>
        <p:nvPicPr>
          <p:cNvPr id="27" name="图片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2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9006884" y="74822"/>
            <a:ext cx="1043153" cy="1043153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pic>
        <p:nvPicPr>
          <p:cNvPr id="26" name="图片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3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0947316" y="123389"/>
            <a:ext cx="884046" cy="884047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pic>
        <p:nvPicPr>
          <p:cNvPr id="25" name="图片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4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0127893" y="192302"/>
            <a:ext cx="785940" cy="78594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  <p:sp>
        <p:nvSpPr>
          <p:cNvPr id="24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2575249" y="27424"/>
            <a:ext cx="5998348" cy="62484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55</a:t>
            </a:r>
            <a:r>
              <a:rPr lang="en-US" altLang="zh-CN" sz="1800" b="1" i="0" u="none" strike="noStrike" kern="1200" cap="none" spc="0" baseline="3000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th</a:t>
            </a:r>
            <a:r>
              <a:rPr lang="en-US" altLang="zh-CN" sz="18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  Annual Conference of </a:t>
            </a:r>
            <a:endParaRPr lang="en-US" altLang="zh-CN" sz="1800" b="1" i="0" u="none" strike="noStrike" kern="1200" cap="none" spc="0" baseline="0">
              <a:solidFill>
                <a:schemeClr val="bg1"/>
              </a:solidFill>
              <a:latin typeface="Gordita " pitchFamily="0" charset="0"/>
              <a:ea typeface="等线" pitchFamily="0" charset="0"/>
              <a:cs typeface="Aptos" pitchFamily="0" charset="0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Orthopedic Surgeon Society of Andhra Pradesh</a:t>
            </a:r>
            <a:endParaRPr lang="zh-CN" altLang="en-US" sz="1800" b="1" i="0" u="none" strike="noStrike" kern="1200" cap="none" spc="0" baseline="0">
              <a:solidFill>
                <a:schemeClr val="bg1"/>
              </a:solidFill>
              <a:latin typeface="Gordita 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23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2601217" y="653897"/>
            <a:ext cx="6307494" cy="27241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Date 6 – 8 February,2026, Venue : Kurnool Medical College</a:t>
            </a:r>
            <a:endParaRPr lang="zh-CN" altLang="en-US" sz="1200" b="1" i="0" u="none" strike="noStrike" kern="1200" cap="none" spc="0" baseline="0">
              <a:solidFill>
                <a:schemeClr val="bg1"/>
              </a:solidFill>
              <a:latin typeface="Gordita 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22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2575249" y="913340"/>
            <a:ext cx="7114031" cy="27241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Organized by : Department of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Orthopaedics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, Kurnool Medical College Kurnool</a:t>
            </a:r>
            <a:endParaRPr lang="zh-CN" altLang="en-US" sz="1200" b="1" i="0" u="none" strike="noStrike" kern="1200" cap="none" spc="0" baseline="0">
              <a:solidFill>
                <a:schemeClr val="bg1"/>
              </a:solidFill>
              <a:latin typeface="Gordita 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21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560814" y="14255"/>
            <a:ext cx="1505561" cy="1280157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Id5"/>
            <a:stretch>
              <a:fillRect t="-9937" r="-4895" b="-10857"/>
            </a:stretch>
          </a:blipFill>
          <a:ln xmlns:a="http://schemas.openxmlformats.org/drawingml/2006/main" cmpd="sng" cap="flat">
            <a:noFill/>
            <a:prstDash val="solid"/>
            <a:miter/>
          </a:ln>
        </p:spPr>
      </p:sp>
      <p:sp>
        <p:nvSpPr>
          <p:cNvPr id="16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838200" y="365124"/>
            <a:ext cx="10515600" cy="1325562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7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0">
            <a:off x="838200" y="1825625"/>
            <a:ext cx="10515600" cy="4351338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r>
              <a:rPr lang="en-US" altLang="zh-CN"/>
              <a:t>Click to edit Master text styles</a:t>
            </a:r>
            <a:endParaRPr lang="en-US" altLang="zh-CN"/>
          </a:p>
          <a:p xmlns:a="http://schemas.openxmlformats.org/drawingml/2006/main">
            <a:pPr lvl="1"/>
            <a:r>
              <a:rPr lang="en-US" altLang="zh-CN"/>
              <a:t>Second level</a:t>
            </a:r>
            <a:endParaRPr lang="en-US" altLang="zh-CN"/>
          </a:p>
          <a:p xmlns:a="http://schemas.openxmlformats.org/drawingml/2006/main">
            <a:pPr lvl="2"/>
            <a:r>
              <a:rPr lang="en-US" altLang="zh-CN"/>
              <a:t>Third level</a:t>
            </a:r>
            <a:endParaRPr lang="en-US" altLang="zh-CN"/>
          </a:p>
          <a:p xmlns:a="http://schemas.openxmlformats.org/drawingml/2006/main">
            <a:pPr lvl="3"/>
            <a:r>
              <a:rPr lang="en-US" altLang="zh-CN"/>
              <a:t>Fourth level</a:t>
            </a:r>
            <a:endParaRPr lang="en-US" altLang="zh-CN"/>
          </a:p>
          <a:p xmlns:a="http://schemas.openxmlformats.org/drawingml/2006/main"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8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838200" y="6356349"/>
            <a:ext cx="27432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endParaRPr lang="zh-CN" altLang="en-US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19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4038600" y="6356349"/>
            <a:ext cx="41148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endParaRPr lang="zh-CN" altLang="en-US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20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8610600" y="6356349"/>
            <a:ext cx="27432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&lt;#&gt;</a:t>
            </a:fld>
            <a:endParaRPr lang="zh-CN" altLang="en-US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32225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image" Target="../media/2.png"/><Relationship Id="rId3" Type="http://schemas.openxmlformats.org/officeDocument/2006/relationships/image" Target="../media/3.png"/><Relationship Id="rId4" Type="http://schemas.openxmlformats.org/officeDocument/2006/relationships/image" Target="../media/pimg1.png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Relationship Id="rId9" Type="http://schemas.openxmlformats.org/officeDocument/2006/relationships/slideLayout" Target="../slideLayouts/slideLayout5.xml"/><Relationship Id="rId10" Type="http://schemas.openxmlformats.org/officeDocument/2006/relationships/slideLayout" Target="../slideLayouts/slideLayout6.xml"/><Relationship Id="rId11" Type="http://schemas.openxmlformats.org/officeDocument/2006/relationships/slideLayout" Target="../slideLayouts/slideLayout7.xml"/><Relationship Id="rId12" Type="http://schemas.openxmlformats.org/officeDocument/2006/relationships/slideLayout" Target="../slideLayouts/slideLayout8.xml"/><Relationship Id="rId13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12.xml"/><Relationship Id="rId17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 rot="0">
            <a:off x="0" y="0"/>
            <a:ext cx="12191998" cy="1280156"/>
          </a:xfrm>
          <a:prstGeom prst="rect"/>
          <a:solidFill>
            <a:srgbClr val="01234D"/>
          </a:solidFill>
          <a:ln w="19050" cmpd="sng" cap="flat">
            <a:solidFill>
              <a:srgbClr val="525755"/>
            </a:solidFill>
            <a:prstDash val="solid"/>
            <a:round/>
          </a:ln>
        </p:spPr>
      </p:sp>
      <p:pic>
        <p:nvPicPr>
          <p:cNvPr id="3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9006884" y="74822"/>
            <a:ext cx="1043153" cy="1043153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4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10947316" y="123389"/>
            <a:ext cx="884046" cy="884047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5" name="图片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10127893" y="192302"/>
            <a:ext cx="785940" cy="78594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6" name="矩形"/>
          <p:cNvSpPr>
            <a:spLocks/>
          </p:cNvSpPr>
          <p:nvPr/>
        </p:nvSpPr>
        <p:spPr>
          <a:xfrm rot="0">
            <a:off x="2575249" y="27424"/>
            <a:ext cx="5998348" cy="6463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55</a:t>
            </a:r>
            <a:r>
              <a:rPr lang="en-US" altLang="zh-CN" sz="1800" b="1" i="0" u="none" strike="noStrike" kern="1200" cap="none" spc="0" baseline="3000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th</a:t>
            </a:r>
            <a:r>
              <a:rPr lang="en-US" altLang="zh-CN" sz="18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   Annual Conference of </a:t>
            </a:r>
            <a:endParaRPr lang="en-US" altLang="zh-CN" sz="1800" b="1" i="0" u="none" strike="noStrike" kern="1200" cap="none" spc="0" baseline="0">
              <a:solidFill>
                <a:schemeClr val="bg1"/>
              </a:solidFill>
              <a:latin typeface="Gordita " pitchFamily="0" charset="0"/>
              <a:ea typeface="等线" pitchFamily="0" charset="0"/>
              <a:cs typeface="Apto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Orthopedic Surgeon Society of Andhra Pradesh</a:t>
            </a:r>
            <a:endParaRPr lang="zh-CN" altLang="en-US" sz="1800" b="1" i="0" u="none" strike="noStrike" kern="1200" cap="none" spc="0" baseline="0">
              <a:solidFill>
                <a:schemeClr val="bg1"/>
              </a:solidFill>
              <a:latin typeface="Gordita 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7" name="矩形"/>
          <p:cNvSpPr>
            <a:spLocks/>
          </p:cNvSpPr>
          <p:nvPr/>
        </p:nvSpPr>
        <p:spPr>
          <a:xfrm rot="0">
            <a:off x="2601217" y="653897"/>
            <a:ext cx="6307494" cy="2769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Date 6 – 8 February,2026, Venue : Kurnool Medical College</a:t>
            </a:r>
            <a:endParaRPr lang="zh-CN" altLang="en-US" sz="1200" b="1" i="0" u="none" strike="noStrike" kern="1200" cap="none" spc="0" baseline="0">
              <a:solidFill>
                <a:schemeClr val="bg1"/>
              </a:solidFill>
              <a:latin typeface="Gordita 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8" name="矩形"/>
          <p:cNvSpPr>
            <a:spLocks/>
          </p:cNvSpPr>
          <p:nvPr/>
        </p:nvSpPr>
        <p:spPr>
          <a:xfrm rot="0">
            <a:off x="2575249" y="913340"/>
            <a:ext cx="7114031" cy="2769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Organized by : Department of 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Orthopaedics</a:t>
            </a: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Gordita " pitchFamily="0" charset="0"/>
                <a:ea typeface="等线" pitchFamily="0" charset="0"/>
                <a:cs typeface="Aptos" pitchFamily="0" charset="0"/>
              </a:rPr>
              <a:t>, Kurnool Medical College Kurnool</a:t>
            </a:r>
            <a:endParaRPr lang="zh-CN" altLang="en-US" sz="1200" b="1" i="0" u="none" strike="noStrike" kern="1200" cap="none" spc="0" baseline="0">
              <a:solidFill>
                <a:schemeClr val="bg1"/>
              </a:solidFill>
              <a:latin typeface="Gordita 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9" name="曲线"/>
          <p:cNvSpPr>
            <a:spLocks/>
          </p:cNvSpPr>
          <p:nvPr/>
        </p:nvSpPr>
        <p:spPr>
          <a:xfrm rot="0">
            <a:off x="560814" y="14255"/>
            <a:ext cx="1505561" cy="1280157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t="-9937" r="-4895" b="-10857"/>
            </a:stretch>
          </a:blipFill>
          <a:ln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800745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5"/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</p:sldLayoutIdLst>
  <p:hf sldNum="0" hdr="0" ftr="0" dt="0"/>
  <p:txStyles>
    <p:titleStyle>
      <a:lvl1pPr algn="l" defTabSz="914400" eaLnBrk="1" fontAlgn="auto" latinLnBrk="0" hangingPunct="1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Aptos Display" pitchFamily="0" charset="0"/>
          <a:ea typeface="等线 Light" pitchFamily="0" charset="0"/>
          <a:cs typeface="Aptos Display" pitchFamily="0" charset="0"/>
        </a:defRPr>
      </a:lvl1pPr>
    </p:titleStyle>
    <p:bodyStyle>
      <a:lvl1pPr marL="228600" indent="-228600" algn="l" defTabSz="914400" eaLnBrk="1" fontAlgn="auto" latinLnBrk="0" hangingPunct="1">
        <a:lnSpc>
          <a:spcPct val="90000"/>
        </a:lnSpc>
        <a:spcBef>
          <a:spcPts val="1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Aptos" pitchFamily="0" charset="0"/>
          <a:ea typeface="等线" pitchFamily="0" charset="0"/>
          <a:cs typeface="Aptos" pitchFamily="0" charset="0"/>
        </a:defRPr>
      </a:lvl1pPr>
      <a:lvl2pPr marL="685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ptos" pitchFamily="0" charset="0"/>
          <a:ea typeface="等线" pitchFamily="0" charset="0"/>
          <a:cs typeface="Aptos" pitchFamily="0" charset="0"/>
        </a:defRPr>
      </a:lvl2pPr>
      <a:lvl3pPr marL="1143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ptos" pitchFamily="0" charset="0"/>
          <a:ea typeface="等线" pitchFamily="0" charset="0"/>
          <a:cs typeface="Aptos" pitchFamily="0" charset="0"/>
        </a:defRPr>
      </a:lvl3pPr>
      <a:lvl4pPr marL="16002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pitchFamily="0" charset="0"/>
          <a:ea typeface="等线" pitchFamily="0" charset="0"/>
          <a:cs typeface="Aptos" pitchFamily="0" charset="0"/>
        </a:defRPr>
      </a:lvl4pPr>
      <a:lvl5pPr marL="20574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pitchFamily="0" charset="0"/>
          <a:ea typeface="等线" pitchFamily="0" charset="0"/>
          <a:cs typeface="Aptos" pitchFamily="0" charset="0"/>
        </a:defRPr>
      </a:lvl5pPr>
      <a:lvl6pPr marL="25146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pitchFamily="0" charset="0"/>
          <a:ea typeface="等线" pitchFamily="0" charset="0"/>
          <a:cs typeface="Aptos" pitchFamily="0" charset="0"/>
        </a:defRPr>
      </a:lvl6pPr>
      <a:lvl7pPr marL="2971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pitchFamily="0" charset="0"/>
          <a:ea typeface="等线" pitchFamily="0" charset="0"/>
          <a:cs typeface="Aptos" pitchFamily="0" charset="0"/>
        </a:defRPr>
      </a:lvl7pPr>
      <a:lvl8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pitchFamily="0" charset="0"/>
          <a:ea typeface="等线" pitchFamily="0" charset="0"/>
          <a:cs typeface="Aptos" pitchFamily="0" charset="0"/>
        </a:defRPr>
      </a:lvl8pPr>
      <a:lvl9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pitchFamily="0" charset="0"/>
          <a:ea typeface="等线" pitchFamily="0" charset="0"/>
          <a:cs typeface="Aptos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4.jpeg"/><Relationship Id="rId2" Type="http://schemas.openxmlformats.org/officeDocument/2006/relationships/image" Target="../media/5.jpe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6.jpeg"/><Relationship Id="rId2" Type="http://schemas.openxmlformats.org/officeDocument/2006/relationships/image" Target="../media/7.jpe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8.jpeg"/><Relationship Id="rId2" Type="http://schemas.openxmlformats.org/officeDocument/2006/relationships/image" Target="../media/9.jpe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10.jpeg"/><Relationship Id="rId2" Type="http://schemas.openxmlformats.org/officeDocument/2006/relationships/image" Target="../media/11.jpeg"/><Relationship Id="rId3" Type="http://schemas.openxmlformats.org/officeDocument/2006/relationships/image" Target="../media/12.jpeg"/><Relationship Id="rId4" Type="http://schemas.openxmlformats.org/officeDocument/2006/relationships/image" Target="../media/13.jpeg"/><Relationship Id="rId5" Type="http://schemas.openxmlformats.org/officeDocument/2006/relationships/image" Target="../media/14.jpeg"/><Relationship Id="rId6" Type="http://schemas.openxmlformats.org/officeDocument/2006/relationships/image" Target="../media/15.jpeg"/><Relationship Id="rId7" Type="http://schemas.openxmlformats.org/officeDocument/2006/relationships/image" Target="../media/16.jpeg"/><Relationship Id="rId8" Type="http://schemas.openxmlformats.org/officeDocument/2006/relationships/image" Target="../media/17.jpeg"/><Relationship Id="rId9" Type="http://schemas.openxmlformats.org/officeDocument/2006/relationships/image" Target="../media/18.jpeg"/><Relationship Id="rId10" Type="http://schemas.openxmlformats.org/officeDocument/2006/relationships/slideLayout" Target="../slideLayouts/slideLayout1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"/>
          <p:cNvSpPr>
            <a:spLocks/>
          </p:cNvSpPr>
          <p:nvPr/>
        </p:nvSpPr>
        <p:spPr>
          <a:xfrm rot="0">
            <a:off x="1260529" y="1468062"/>
            <a:ext cx="9670942" cy="11772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FUNCTIONAL AND RADIOLOGICAL OUTCOME OF PROXIMAL HUMERUS FRACTURES TREATED WITH LOCKING COMPRESSION PLATE </a:t>
            </a:r>
            <a:endParaRPr lang="zh-CN" altLang="en-US" sz="2400" b="1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</p:txBody>
      </p:sp>
      <p:sp>
        <p:nvSpPr>
          <p:cNvPr id="30" name="矩形"/>
          <p:cNvSpPr>
            <a:spLocks/>
          </p:cNvSpPr>
          <p:nvPr/>
        </p:nvSpPr>
        <p:spPr>
          <a:xfrm rot="0">
            <a:off x="1557580" y="3559764"/>
            <a:ext cx="9515959" cy="22631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       AUTHOR:    DR. POOJITHA SONTHI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                           2</a:t>
            </a:r>
            <a:r>
              <a:rPr lang="en-US" altLang="zh-CN" sz="2400" b="0" i="0" u="none" strike="noStrike" kern="1200" cap="none" spc="0" baseline="3000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nd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 YEAR POST GRADUATE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CO-AUTHOR:    DR. P. SUJITH DEVA PRASAD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                           PROFESSOR &amp; HOD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                           DEPARTMENT OF ORTHOPAEDICS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   INSTITUTE:    SANTHIRAM MEDICAL COLLEGE, NANDYAL. 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871781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"/>
          <p:cNvSpPr>
            <a:spLocks noGrp="1"/>
          </p:cNvSpPr>
          <p:nvPr>
            <p:ph type="body" idx="1"/>
          </p:nvPr>
        </p:nvSpPr>
        <p:spPr>
          <a:xfrm rot="0">
            <a:off x="179882" y="1289154"/>
            <a:ext cx="12012118" cy="556884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INTRODUCTION:</a:t>
            </a:r>
            <a:endParaRPr lang="en-US" altLang="zh-CN" sz="2400" b="1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Proximal humerus fractures account for about 4 to 5% of all fractures.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It accounts for up to 45% of all humeral fractures.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Non operative treatment for fractures of proximal humerus in elderly patients resulted in pain, stiffness, loss of function and muscle power, hence operative treatment is preferred.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Among various operative techniques PHILOS plating has gained importance.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AIMS AND OBJECTIVE:</a:t>
            </a:r>
            <a:endParaRPr lang="en-US" altLang="zh-CN" sz="2400" b="1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To determine functional and radiological outcome of proximal humerus fractures treated with locking compression plate (PHILOS plate).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569815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"/>
          <p:cNvSpPr>
            <a:spLocks noGrp="1"/>
          </p:cNvSpPr>
          <p:nvPr>
            <p:ph type="body" idx="1"/>
          </p:nvPr>
        </p:nvSpPr>
        <p:spPr>
          <a:xfrm rot="0">
            <a:off x="0" y="1304144"/>
            <a:ext cx="12191999" cy="555385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MATERIALS AND METHODS:</a:t>
            </a:r>
            <a:endParaRPr lang="en-US" altLang="zh-CN" sz="2400" b="1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Source of the Study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: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Santhiram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 Medical College And General Hospital,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Nandyal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Study Design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: Prospective Study 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Sample Size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: 20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of either sex.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Inclusion Criteria :</a:t>
            </a:r>
            <a:endParaRPr lang="en-US" altLang="zh-CN" sz="2400" b="1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1)Patients  with proximal humerus fractures aged more  than 18 years of either sex.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2) Satisfy Neer’s criteria for operative displacement i.e. displacement of &gt;1 cm between the major fracture fragments or angulation of the articular surface of &gt;45 degrees and Neer’s two, three and four part fractures.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3) Consenting to study 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Exclusion Criteria:</a:t>
            </a:r>
            <a:endParaRPr lang="en-US" altLang="zh-CN" sz="2400" b="1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Patients with 1) Open fractures ,Pathological fractures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                      2) Associated neurovascular injury, Associated head injury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                      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                  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等线" pitchFamily="0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等线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083348124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"/>
          <p:cNvSpPr>
            <a:spLocks noGrp="1"/>
          </p:cNvSpPr>
          <p:nvPr>
            <p:ph type="body" idx="1"/>
          </p:nvPr>
        </p:nvSpPr>
        <p:spPr>
          <a:xfrm rot="0">
            <a:off x="0" y="1319134"/>
            <a:ext cx="12192000" cy="553886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RESULTS AND OBSERVAION: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TABLE – I SEX DISTRIBUTION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</p:txBody>
      </p:sp>
      <p:graphicFrame>
        <p:nvGraphicFramePr>
          <p:cNvPr id="34" name="Table"/>
          <p:cNvGraphicFramePr>
            <a:graphicFrameLocks noGrp="1"/>
          </p:cNvGraphicFramePr>
          <p:nvPr>
            <p:ph type="tbl"/>
            <p:extLst>
              <p:ext uri="{D42A27DB-BD31-4B8C-83A1-F6EECF244321}"/>
            </p:extLst>
          </p:nvPr>
        </p:nvGraphicFramePr>
        <p:xfrm>
          <a:off x="0" y="2128605"/>
          <a:ext cx="7585023" cy="1300395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896237"/>
                <a:gridCol w="1896237"/>
                <a:gridCol w="1896237"/>
                <a:gridCol w="1896237"/>
              </a:tblGrid>
              <a:tr h="433457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S.NO.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SEX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No. of  patients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Percentage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33457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1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Female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12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60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</a:tr>
              <a:tr h="433457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2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Male 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8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40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</a:tr>
            </a:tbl>
          </a:graphicData>
        </a:graphic>
      </p:graphicFrame>
      <p:sp>
        <p:nvSpPr>
          <p:cNvPr id="35" name="矩形"/>
          <p:cNvSpPr>
            <a:spLocks/>
          </p:cNvSpPr>
          <p:nvPr/>
        </p:nvSpPr>
        <p:spPr>
          <a:xfrm rot="0">
            <a:off x="0" y="3429001"/>
            <a:ext cx="12082073" cy="4533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TABLE – II   AGE  DISTRIBUTION 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</p:txBody>
      </p:sp>
      <p:graphicFrame>
        <p:nvGraphicFramePr>
          <p:cNvPr id="36" name="Table"/>
          <p:cNvGraphicFramePr>
            <a:graphicFrameLocks noGrp="1"/>
          </p:cNvGraphicFramePr>
          <p:nvPr>
            <p:extLst>
              <p:ext uri="{D42A27DB-BD31-4B8C-83A1-F6EECF244321}"/>
            </p:extLst>
          </p:nvPr>
        </p:nvGraphicFramePr>
        <p:xfrm>
          <a:off x="0" y="3890665"/>
          <a:ext cx="6610662" cy="2866553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840168"/>
                <a:gridCol w="1873310"/>
                <a:gridCol w="1989666"/>
                <a:gridCol w="1907485"/>
              </a:tblGrid>
              <a:tr h="461234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S.NO.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Age  (in years )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NO. of  patients 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Percentage 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09159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1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18-20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  1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  5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</a:tr>
              <a:tr h="383759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2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21-30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  2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 10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</a:tr>
              <a:tr h="383759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3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31-40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  2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 10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</a:tr>
              <a:tr h="383759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4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41-50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  5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 25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</a:tr>
              <a:tr h="383759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5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51-60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  7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 35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</a:tr>
              <a:tr h="396459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6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&gt;60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  3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  15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</a:tr>
            </a:tbl>
          </a:graphicData>
        </a:graphic>
      </p:graphicFrame>
      <p:pic>
        <p:nvPicPr>
          <p:cNvPr id="37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8424472" y="1963711"/>
            <a:ext cx="2450892" cy="1465287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38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7585023" y="3991446"/>
            <a:ext cx="4497048" cy="2765773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497796420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"/>
          <p:cNvSpPr>
            <a:spLocks noGrp="1"/>
          </p:cNvSpPr>
          <p:nvPr>
            <p:ph type="body" idx="1"/>
          </p:nvPr>
        </p:nvSpPr>
        <p:spPr>
          <a:xfrm rot="0">
            <a:off x="0" y="1304144"/>
            <a:ext cx="12192000" cy="555385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TABLE- III:TYPE OF FRACTURE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</p:txBody>
      </p:sp>
      <p:graphicFrame>
        <p:nvGraphicFramePr>
          <p:cNvPr id="40" name="Table"/>
          <p:cNvGraphicFramePr>
            <a:graphicFrameLocks noGrp="1"/>
          </p:cNvGraphicFramePr>
          <p:nvPr>
            <p:ph type="tbl"/>
            <p:extLst>
              <p:ext uri="{D42A27DB-BD31-4B8C-83A1-F6EECF244321}"/>
            </p:extLst>
          </p:nvPr>
        </p:nvGraphicFramePr>
        <p:xfrm>
          <a:off x="1" y="1693891"/>
          <a:ext cx="6985415" cy="1660593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881239"/>
                <a:gridCol w="2131767"/>
                <a:gridCol w="2098611"/>
                <a:gridCol w="1873758"/>
              </a:tblGrid>
              <a:tr h="575999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S.NO.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NEER’S type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No. of patients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Percentage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59973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1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2 part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12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60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</a:tr>
              <a:tr h="334573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2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3 part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 7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35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</a:tr>
              <a:tr h="347273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3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4 part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 1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 5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</a:tr>
            </a:tbl>
          </a:graphicData>
        </a:graphic>
      </p:graphicFrame>
      <p:sp>
        <p:nvSpPr>
          <p:cNvPr id="41" name="矩形"/>
          <p:cNvSpPr>
            <a:spLocks/>
          </p:cNvSpPr>
          <p:nvPr/>
        </p:nvSpPr>
        <p:spPr>
          <a:xfrm rot="0">
            <a:off x="119921" y="3429000"/>
            <a:ext cx="7450112" cy="4533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TABLE-IV:FRACTURE DISLOCATION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</p:txBody>
      </p:sp>
      <p:graphicFrame>
        <p:nvGraphicFramePr>
          <p:cNvPr id="42" name="Table"/>
          <p:cNvGraphicFramePr>
            <a:graphicFrameLocks noGrp="1"/>
          </p:cNvGraphicFramePr>
          <p:nvPr>
            <p:extLst>
              <p:ext uri="{D42A27DB-BD31-4B8C-83A1-F6EECF244321}"/>
            </p:extLst>
          </p:nvPr>
        </p:nvGraphicFramePr>
        <p:xfrm>
          <a:off x="119921" y="4152276"/>
          <a:ext cx="6865496" cy="257891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989337"/>
                <a:gridCol w="2258381"/>
                <a:gridCol w="1891093"/>
                <a:gridCol w="1726637"/>
              </a:tblGrid>
              <a:tr h="607193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S.NO.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Dislocation 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No. of patients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Percentage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25847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1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No dislocation 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18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90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</a:tr>
              <a:tr h="400447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2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Dislocation 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</a:tr>
              <a:tr h="400447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2part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0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 0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</a:tr>
              <a:tr h="400447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3part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2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10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</a:tr>
              <a:tr h="413147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4part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0 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0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</a:tr>
            </a:tbl>
          </a:graphicData>
        </a:graphic>
      </p:graphicFrame>
      <p:pic>
        <p:nvPicPr>
          <p:cNvPr id="43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7240248" y="1543986"/>
            <a:ext cx="4736892" cy="1810499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44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7105338" y="4152276"/>
            <a:ext cx="4871803" cy="257891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3766745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"/>
          <p:cNvSpPr>
            <a:spLocks noGrp="1"/>
          </p:cNvSpPr>
          <p:nvPr>
            <p:ph type="body" idx="1"/>
          </p:nvPr>
        </p:nvSpPr>
        <p:spPr>
          <a:xfrm rot="0">
            <a:off x="0" y="1274164"/>
            <a:ext cx="12192000" cy="583117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Lucida Sans"/>
              </a:rPr>
              <a:t>FUNCTIONAL OUTCOME:</a:t>
            </a: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等线" pitchFamily="0" charset="0"/>
              <a:cs typeface="Lucida Sans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        was graded according to CONSTANT SHOULDER SCORE.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       according to this criteria following results were achieved.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Lucida Sans"/>
              </a:rPr>
              <a:t> 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等线" pitchFamily="0" charset="0"/>
              <a:cs typeface="Lucida Sans"/>
            </a:endParaRPr>
          </a:p>
        </p:txBody>
      </p:sp>
      <p:graphicFrame>
        <p:nvGraphicFramePr>
          <p:cNvPr id="46" name="Table"/>
          <p:cNvGraphicFramePr>
            <a:graphicFrameLocks noGrp="1"/>
          </p:cNvGraphicFramePr>
          <p:nvPr>
            <p:ph type="tbl"/>
            <p:extLst>
              <p:ext uri="{D42A27DB-BD31-4B8C-83A1-F6EECF244321}"/>
            </p:extLst>
          </p:nvPr>
        </p:nvGraphicFramePr>
        <p:xfrm>
          <a:off x="0" y="2698223"/>
          <a:ext cx="6760564" cy="182880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839444"/>
                <a:gridCol w="2218529"/>
                <a:gridCol w="2128595"/>
                <a:gridCol w="1573953"/>
              </a:tblGrid>
              <a:tr h="360462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S.NO.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Rating 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No. of patients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Percentage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85862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1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Excellent(86-100)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  7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35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</a:tr>
              <a:tr h="360462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2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Good(71-85)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 10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50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</a:tr>
              <a:tr h="360462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3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Moderate(56-70)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   2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10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</a:tr>
              <a:tr h="373161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4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Poor(0-55)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   1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</a:t>
                      </a: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5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</a:tr>
            </a:tbl>
          </a:graphicData>
        </a:graphic>
      </p:graphicFrame>
      <p:sp>
        <p:nvSpPr>
          <p:cNvPr id="47" name="矩形"/>
          <p:cNvSpPr>
            <a:spLocks/>
          </p:cNvSpPr>
          <p:nvPr/>
        </p:nvSpPr>
        <p:spPr>
          <a:xfrm rot="0">
            <a:off x="194872" y="4751882"/>
            <a:ext cx="6565692" cy="3867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RADIOLOGICAL OUTCOME: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</p:txBody>
      </p:sp>
      <p:graphicFrame>
        <p:nvGraphicFramePr>
          <p:cNvPr id="48" name="Table"/>
          <p:cNvGraphicFramePr>
            <a:graphicFrameLocks noGrp="1"/>
          </p:cNvGraphicFramePr>
          <p:nvPr>
            <p:extLst>
              <p:ext uri="{D42A27DB-BD31-4B8C-83A1-F6EECF244321}"/>
            </p:extLst>
          </p:nvPr>
        </p:nvGraphicFramePr>
        <p:xfrm>
          <a:off x="0" y="5082402"/>
          <a:ext cx="7255239" cy="173736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868838"/>
                <a:gridCol w="3105055"/>
                <a:gridCol w="1894369"/>
                <a:gridCol w="1386933"/>
              </a:tblGrid>
              <a:tr h="569923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S.NO.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Time taken for union (in weeks)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No. of patients 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i="0" u="none" strike="noStrike" kern="1200" cap="none" spc="0" baseline="0">
                          <a:solidFill>
                            <a:srgbClr val="FFFFFF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Percentage</a:t>
                      </a:r>
                      <a:endParaRPr lang="zh-CN" altLang="en-US" sz="1800" b="1" i="0" u="none" strike="noStrike" kern="1200" cap="none" spc="0" baseline="0">
                        <a:solidFill>
                          <a:srgbClr val="FFFFFF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56506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1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  6-8 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 8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40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</a:tr>
              <a:tr h="331106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2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 8-10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12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60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AEC"/>
                    </a:solidFill>
                  </a:tcPr>
                </a:tc>
              </a:tr>
              <a:tr h="343806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3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 10-12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     0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i="0" u="none" strike="noStrike" kern="1200" cap="none" spc="0" baseline="0">
                          <a:solidFill>
                            <a:srgbClr val="000000"/>
                          </a:solidFill>
                          <a:latin typeface="Aptos" pitchFamily="0" charset="0"/>
                          <a:ea typeface="等线" pitchFamily="0" charset="0"/>
                          <a:cs typeface="Aptos" pitchFamily="0" charset="0"/>
                        </a:rPr>
                        <a:t>            0</a:t>
                      </a:r>
                      <a:endParaRPr lang="zh-CN" altLang="en-US" sz="1800" b="0" i="0" u="none" strike="noStrike" kern="1200" cap="none" spc="0" baseline="0">
                        <a:solidFill>
                          <a:srgbClr val="000000"/>
                        </a:solidFill>
                        <a:latin typeface="Aptos" pitchFamily="0" charset="0"/>
                        <a:ea typeface="等线" pitchFamily="0" charset="0"/>
                        <a:cs typeface="Aptos" pitchFamily="0" charset="0"/>
                      </a:endParaRPr>
                    </a:p>
                  </a:txBody>
                  <a:tcPr marL="0" marT="0" marR="0" marB="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BD1D8"/>
                    </a:solidFill>
                  </a:tcPr>
                </a:tc>
              </a:tr>
            </a:tbl>
          </a:graphicData>
        </a:graphic>
      </p:graphicFrame>
      <p:pic>
        <p:nvPicPr>
          <p:cNvPr id="49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6955437" y="2698222"/>
            <a:ext cx="4736892" cy="1933738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50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7450110" y="5346915"/>
            <a:ext cx="4741890" cy="1472847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141251011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451676" y="2194963"/>
            <a:ext cx="2852152" cy="1695109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52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123987" y="1758300"/>
            <a:ext cx="1301857" cy="1836447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53" name="矩形"/>
          <p:cNvSpPr>
            <a:spLocks/>
          </p:cNvSpPr>
          <p:nvPr/>
        </p:nvSpPr>
        <p:spPr>
          <a:xfrm rot="0">
            <a:off x="0" y="1348353"/>
            <a:ext cx="2960174" cy="36933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PRE OP XRAY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pic>
        <p:nvPicPr>
          <p:cNvPr id="54" name="图片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4370523" y="2241458"/>
            <a:ext cx="3006670" cy="1648615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55" name="矩形"/>
          <p:cNvSpPr>
            <a:spLocks/>
          </p:cNvSpPr>
          <p:nvPr/>
        </p:nvSpPr>
        <p:spPr>
          <a:xfrm rot="0">
            <a:off x="1493003" y="1318128"/>
            <a:ext cx="2655376" cy="92332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 Intra operative photograph showing fracture site 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pic>
        <p:nvPicPr>
          <p:cNvPr id="56" name="图片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10213383" y="2167590"/>
            <a:ext cx="1854629" cy="2091815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57" name="矩形"/>
          <p:cNvSpPr>
            <a:spLocks/>
          </p:cNvSpPr>
          <p:nvPr/>
        </p:nvSpPr>
        <p:spPr>
          <a:xfrm rot="0">
            <a:off x="10321871" y="1565329"/>
            <a:ext cx="1746141" cy="6463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IMMEDIATE POST OP XRAY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58" name="矩形"/>
          <p:cNvSpPr>
            <a:spLocks/>
          </p:cNvSpPr>
          <p:nvPr/>
        </p:nvSpPr>
        <p:spPr>
          <a:xfrm rot="0">
            <a:off x="4215539" y="1359051"/>
            <a:ext cx="3161654" cy="92332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Intra operative photograph showing fracture reduction with PHILOS  plate 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pic>
        <p:nvPicPr>
          <p:cNvPr id="59" name="图片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7501178" y="2559381"/>
            <a:ext cx="2588220" cy="1544986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60" name="矩形"/>
          <p:cNvSpPr>
            <a:spLocks/>
          </p:cNvSpPr>
          <p:nvPr/>
        </p:nvSpPr>
        <p:spPr>
          <a:xfrm rot="0">
            <a:off x="7501178" y="1359052"/>
            <a:ext cx="2820694" cy="120032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Intra operative C-ARM XRAY showing fracture reduction and fixation with PHILOS plate 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pic>
        <p:nvPicPr>
          <p:cNvPr id="61" name="图片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0">
            <a:off x="123987" y="4430662"/>
            <a:ext cx="2294793" cy="2218112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62" name="图片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0">
            <a:off x="2418780" y="4441359"/>
            <a:ext cx="2549562" cy="2207414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63" name="矩形"/>
          <p:cNvSpPr>
            <a:spLocks/>
          </p:cNvSpPr>
          <p:nvPr/>
        </p:nvSpPr>
        <p:spPr>
          <a:xfrm rot="0">
            <a:off x="181859" y="3890073"/>
            <a:ext cx="2856567" cy="36933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PRE OP XRAY 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64" name="矩形"/>
          <p:cNvSpPr>
            <a:spLocks/>
          </p:cNvSpPr>
          <p:nvPr/>
        </p:nvSpPr>
        <p:spPr>
          <a:xfrm rot="0">
            <a:off x="2418780" y="4029060"/>
            <a:ext cx="2091227" cy="36933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      POST OP XRAY 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pic>
        <p:nvPicPr>
          <p:cNvPr id="65" name="图片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0">
            <a:off x="5398290" y="4470752"/>
            <a:ext cx="3161654" cy="2073154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66" name="矩形"/>
          <p:cNvSpPr>
            <a:spLocks/>
          </p:cNvSpPr>
          <p:nvPr/>
        </p:nvSpPr>
        <p:spPr>
          <a:xfrm rot="0">
            <a:off x="5517398" y="4167074"/>
            <a:ext cx="2712202" cy="36933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PRE OP XRAY 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pic>
        <p:nvPicPr>
          <p:cNvPr id="67" name="图片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 rot="0">
            <a:off x="8559944" y="4470753"/>
            <a:ext cx="3098617" cy="2091816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68" name="矩形"/>
          <p:cNvSpPr>
            <a:spLocks/>
          </p:cNvSpPr>
          <p:nvPr/>
        </p:nvSpPr>
        <p:spPr>
          <a:xfrm rot="0">
            <a:off x="8679051" y="4123031"/>
            <a:ext cx="2712203" cy="36933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POST OP XRAY 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302066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文本框"/>
          <p:cNvSpPr>
            <a:spLocks noGrp="1"/>
          </p:cNvSpPr>
          <p:nvPr>
            <p:ph type="body" idx="1"/>
          </p:nvPr>
        </p:nvSpPr>
        <p:spPr>
          <a:xfrm rot="0">
            <a:off x="0" y="1259174"/>
            <a:ext cx="12192000" cy="559882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CONCLUSION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Locking compression plate fixation for proximal humerus fractures provides reliable fracture union with good functional and radiological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outcomes,particularly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 in displaced Neer type II and III fractures 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Stable angular fixation allows early mobilization , resulting in satisfactory shoulder range of motion and improved functional scores such as Constant-Murley and DASH.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REFERENCES</a:t>
            </a:r>
            <a:endParaRPr lang="en-US" altLang="zh-CN" sz="2400" b="0" i="0" u="none" strike="noStrike" kern="1200" cap="none" spc="0" baseline="0">
              <a:solidFill>
                <a:srgbClr val="FF0000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1.Cheng HY, Liang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CW,Wang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 JH, et al. The effects of augmentation choices for locking plate fixation in proximal humerus fracture osteosynthesis: a systematic review and meta-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analysis.J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Orthop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 Traumatol.2025;26:47. 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2.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Birsel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O,et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等线" pitchFamily="0" charset="0"/>
                <a:cs typeface="Arial" pitchFamily="34" charset="0"/>
              </a:rPr>
              <a:t> al. Proximal humerus fractures treated with proximal humerus inter locking system: minimum 10-year clinical and radiological outcomes. J Shoulder Elbow Surg.2025.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等线" pitchFamily="0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919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1117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Virinchi Vinay</dc:creator>
  <cp:lastModifiedBy>root</cp:lastModifiedBy>
  <cp:revision>2</cp:revision>
  <dcterms:created xsi:type="dcterms:W3CDTF">2026-01-11T06:24:43Z</dcterms:created>
  <dcterms:modified xsi:type="dcterms:W3CDTF">2026-02-12T13:50:46Z</dcterms:modified>
</cp:coreProperties>
</file>