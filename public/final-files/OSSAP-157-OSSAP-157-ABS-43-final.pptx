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17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hosh rajasekaran" userId="bb150037fc24acb8" providerId="LiveId" clId="{3C32385C-4E14-41AA-B586-4E2BF9DEE4CB}"/>
    <pc:docChg chg="undo custSel modSld">
      <pc:chgData name="santhosh rajasekaran" userId="bb150037fc24acb8" providerId="LiveId" clId="{3C32385C-4E14-41AA-B586-4E2BF9DEE4CB}" dt="2026-01-27T16:40:12.425" v="147" actId="14100"/>
      <pc:docMkLst>
        <pc:docMk/>
      </pc:docMkLst>
      <pc:sldChg chg="modSp mod">
        <pc:chgData name="santhosh rajasekaran" userId="bb150037fc24acb8" providerId="LiveId" clId="{3C32385C-4E14-41AA-B586-4E2BF9DEE4CB}" dt="2026-01-27T16:40:12.425" v="147" actId="14100"/>
        <pc:sldMkLst>
          <pc:docMk/>
          <pc:sldMk cId="0" sldId="256"/>
        </pc:sldMkLst>
        <pc:spChg chg="mod">
          <ac:chgData name="santhosh rajasekaran" userId="bb150037fc24acb8" providerId="LiveId" clId="{3C32385C-4E14-41AA-B586-4E2BF9DEE4CB}" dt="2026-01-27T16:39:33.879" v="141" actId="14100"/>
          <ac:spMkLst>
            <pc:docMk/>
            <pc:sldMk cId="0" sldId="256"/>
            <ac:spMk id="74" creationId="{00000000-0000-0000-0000-000000000000}"/>
          </ac:spMkLst>
        </pc:spChg>
        <pc:spChg chg="mod">
          <ac:chgData name="santhosh rajasekaran" userId="bb150037fc24acb8" providerId="LiveId" clId="{3C32385C-4E14-41AA-B586-4E2BF9DEE4CB}" dt="2026-01-27T16:39:48.323" v="144" actId="14100"/>
          <ac:spMkLst>
            <pc:docMk/>
            <pc:sldMk cId="0" sldId="256"/>
            <ac:spMk id="75" creationId="{00000000-0000-0000-0000-000000000000}"/>
          </ac:spMkLst>
        </pc:spChg>
        <pc:spChg chg="mod">
          <ac:chgData name="santhosh rajasekaran" userId="bb150037fc24acb8" providerId="LiveId" clId="{3C32385C-4E14-41AA-B586-4E2BF9DEE4CB}" dt="2026-01-27T16:38:11.755" v="123" actId="20577"/>
          <ac:spMkLst>
            <pc:docMk/>
            <pc:sldMk cId="0" sldId="256"/>
            <ac:spMk id="76" creationId="{00000000-0000-0000-0000-000000000000}"/>
          </ac:spMkLst>
        </pc:spChg>
        <pc:spChg chg="mod">
          <ac:chgData name="santhosh rajasekaran" userId="bb150037fc24acb8" providerId="LiveId" clId="{3C32385C-4E14-41AA-B586-4E2BF9DEE4CB}" dt="2026-01-27T16:32:43.844" v="33" actId="255"/>
          <ac:spMkLst>
            <pc:docMk/>
            <pc:sldMk cId="0" sldId="256"/>
            <ac:spMk id="77" creationId="{00000000-0000-0000-0000-000000000000}"/>
          </ac:spMkLst>
        </pc:spChg>
        <pc:spChg chg="mod">
          <ac:chgData name="santhosh rajasekaran" userId="bb150037fc24acb8" providerId="LiveId" clId="{3C32385C-4E14-41AA-B586-4E2BF9DEE4CB}" dt="2026-01-27T16:32:37.433" v="32" actId="255"/>
          <ac:spMkLst>
            <pc:docMk/>
            <pc:sldMk cId="0" sldId="256"/>
            <ac:spMk id="78" creationId="{00000000-0000-0000-0000-000000000000}"/>
          </ac:spMkLst>
        </pc:spChg>
        <pc:spChg chg="mod">
          <ac:chgData name="santhosh rajasekaran" userId="bb150037fc24acb8" providerId="LiveId" clId="{3C32385C-4E14-41AA-B586-4E2BF9DEE4CB}" dt="2026-01-27T16:29:49.396" v="1" actId="1076"/>
          <ac:spMkLst>
            <pc:docMk/>
            <pc:sldMk cId="0" sldId="256"/>
            <ac:spMk id="79" creationId="{00000000-0000-0000-0000-000000000000}"/>
          </ac:spMkLst>
        </pc:spChg>
        <pc:spChg chg="mod">
          <ac:chgData name="santhosh rajasekaran" userId="bb150037fc24acb8" providerId="LiveId" clId="{3C32385C-4E14-41AA-B586-4E2BF9DEE4CB}" dt="2026-01-27T16:39:57.077" v="146" actId="14100"/>
          <ac:spMkLst>
            <pc:docMk/>
            <pc:sldMk cId="0" sldId="256"/>
            <ac:spMk id="82" creationId="{00000000-0000-0000-0000-000000000000}"/>
          </ac:spMkLst>
        </pc:spChg>
        <pc:picChg chg="mod">
          <ac:chgData name="santhosh rajasekaran" userId="bb150037fc24acb8" providerId="LiveId" clId="{3C32385C-4E14-41AA-B586-4E2BF9DEE4CB}" dt="2026-01-27T16:40:12.425" v="147" actId="14100"/>
          <ac:picMkLst>
            <pc:docMk/>
            <pc:sldMk cId="0" sldId="256"/>
            <ac:picMk id="8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p:nvPr/>
        </p:nvSpPr>
        <p:spPr>
          <a:xfrm>
            <a:off x="0" y="0"/>
            <a:ext cx="12192000" cy="1280100"/>
          </a:xfrm>
          <a:prstGeom prst="rect">
            <a:avLst/>
          </a:prstGeom>
          <a:solidFill>
            <a:srgbClr val="01234D"/>
          </a:solidFill>
          <a:ln w="19050" cap="flat" cmpd="sng">
            <a:solidFill>
              <a:srgbClr val="52575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67" name="Google Shape;67;p1"/>
          <p:cNvPicPr preferRelativeResize="0"/>
          <p:nvPr/>
        </p:nvPicPr>
        <p:blipFill rotWithShape="1">
          <a:blip r:embed="rId2">
            <a:alphaModFix/>
          </a:blip>
          <a:srcRect/>
          <a:stretch/>
        </p:blipFill>
        <p:spPr>
          <a:xfrm>
            <a:off x="9006884" y="74822"/>
            <a:ext cx="1043154" cy="1043154"/>
          </a:xfrm>
          <a:prstGeom prst="rect">
            <a:avLst/>
          </a:prstGeom>
          <a:noFill/>
          <a:ln>
            <a:noFill/>
          </a:ln>
        </p:spPr>
      </p:pic>
      <p:pic>
        <p:nvPicPr>
          <p:cNvPr id="68" name="Google Shape;68;p1"/>
          <p:cNvPicPr preferRelativeResize="0"/>
          <p:nvPr/>
        </p:nvPicPr>
        <p:blipFill rotWithShape="1">
          <a:blip r:embed="rId3">
            <a:alphaModFix/>
          </a:blip>
          <a:srcRect/>
          <a:stretch/>
        </p:blipFill>
        <p:spPr>
          <a:xfrm>
            <a:off x="10947316" y="123390"/>
            <a:ext cx="884048" cy="884048"/>
          </a:xfrm>
          <a:prstGeom prst="rect">
            <a:avLst/>
          </a:prstGeom>
          <a:noFill/>
          <a:ln>
            <a:noFill/>
          </a:ln>
        </p:spPr>
      </p:pic>
      <p:pic>
        <p:nvPicPr>
          <p:cNvPr id="69" name="Google Shape;69;p1"/>
          <p:cNvPicPr preferRelativeResize="0"/>
          <p:nvPr/>
        </p:nvPicPr>
        <p:blipFill rotWithShape="1">
          <a:blip r:embed="rId4">
            <a:alphaModFix/>
          </a:blip>
          <a:srcRect/>
          <a:stretch/>
        </p:blipFill>
        <p:spPr>
          <a:xfrm>
            <a:off x="10127893" y="192303"/>
            <a:ext cx="785940" cy="785940"/>
          </a:xfrm>
          <a:prstGeom prst="rect">
            <a:avLst/>
          </a:prstGeom>
          <a:noFill/>
          <a:ln>
            <a:noFill/>
          </a:ln>
        </p:spPr>
      </p:pic>
      <p:sp>
        <p:nvSpPr>
          <p:cNvPr id="70" name="Google Shape;70;p1"/>
          <p:cNvSpPr txBox="1"/>
          <p:nvPr/>
        </p:nvSpPr>
        <p:spPr>
          <a:xfrm>
            <a:off x="1928900" y="-20100"/>
            <a:ext cx="9018300" cy="37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Arial"/>
                <a:ea typeface="Arial"/>
                <a:cs typeface="Arial"/>
                <a:sym typeface="Arial"/>
              </a:rPr>
              <a:t>55</a:t>
            </a:r>
            <a:r>
              <a:rPr lang="en-US" sz="1800" b="1" baseline="30000">
                <a:solidFill>
                  <a:schemeClr val="lt1"/>
                </a:solidFill>
                <a:latin typeface="Arial"/>
                <a:ea typeface="Arial"/>
                <a:cs typeface="Arial"/>
                <a:sym typeface="Arial"/>
              </a:rPr>
              <a:t>th</a:t>
            </a:r>
            <a:r>
              <a:rPr lang="en-US" sz="1800" b="1">
                <a:solidFill>
                  <a:schemeClr val="lt1"/>
                </a:solidFill>
                <a:latin typeface="Arial"/>
                <a:ea typeface="Arial"/>
                <a:cs typeface="Arial"/>
                <a:sym typeface="Arial"/>
              </a:rPr>
              <a:t>   Annual Conference of </a:t>
            </a:r>
            <a:r>
              <a:rPr lang="en-US" sz="1800">
                <a:solidFill>
                  <a:schemeClr val="dk1"/>
                </a:solidFill>
                <a:latin typeface="Arial"/>
                <a:ea typeface="Arial"/>
                <a:cs typeface="Arial"/>
                <a:sym typeface="Arial"/>
              </a:rPr>
              <a:t> </a:t>
            </a:r>
            <a:r>
              <a:rPr lang="en-US" sz="1800" b="1">
                <a:solidFill>
                  <a:schemeClr val="lt1"/>
                </a:solidFill>
                <a:latin typeface="Arial"/>
                <a:ea typeface="Arial"/>
                <a:cs typeface="Arial"/>
                <a:sym typeface="Arial"/>
              </a:rPr>
              <a:t>Orthopedic Surgeon Society of Andhra Pradesh</a:t>
            </a:r>
            <a:endParaRPr sz="1800">
              <a:solidFill>
                <a:schemeClr val="dk1"/>
              </a:solidFill>
              <a:latin typeface="Arial"/>
              <a:ea typeface="Arial"/>
              <a:cs typeface="Arial"/>
              <a:sym typeface="Arial"/>
            </a:endParaRPr>
          </a:p>
        </p:txBody>
      </p:sp>
      <p:sp>
        <p:nvSpPr>
          <p:cNvPr id="71" name="Google Shape;71;p1"/>
          <p:cNvSpPr txBox="1"/>
          <p:nvPr/>
        </p:nvSpPr>
        <p:spPr>
          <a:xfrm flipH="1">
            <a:off x="2066374" y="722180"/>
            <a:ext cx="6842400" cy="27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Date 6 – 8 February,2026, Venue : Kurnool Medical College</a:t>
            </a:r>
            <a:endParaRPr sz="1800">
              <a:solidFill>
                <a:schemeClr val="dk1"/>
              </a:solidFill>
              <a:latin typeface="Arial"/>
              <a:ea typeface="Arial"/>
              <a:cs typeface="Arial"/>
              <a:sym typeface="Arial"/>
            </a:endParaRPr>
          </a:p>
        </p:txBody>
      </p:sp>
      <p:sp>
        <p:nvSpPr>
          <p:cNvPr id="72" name="Google Shape;72;p1"/>
          <p:cNvSpPr txBox="1"/>
          <p:nvPr/>
        </p:nvSpPr>
        <p:spPr>
          <a:xfrm>
            <a:off x="1930625" y="123412"/>
            <a:ext cx="7113900" cy="118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200"/>
              <a:buFont typeface="Arial"/>
              <a:buNone/>
            </a:pPr>
            <a:endParaRPr sz="1200" b="1" dirty="0">
              <a:solidFill>
                <a:schemeClr val="lt1"/>
              </a:solidFill>
              <a:latin typeface="Arial"/>
              <a:ea typeface="Arial"/>
              <a:cs typeface="Arial"/>
              <a:sym typeface="Arial"/>
            </a:endParaRPr>
          </a:p>
          <a:p>
            <a:pPr marL="0" marR="0" lvl="0" indent="0" algn="l" rtl="0">
              <a:spcBef>
                <a:spcPts val="0"/>
              </a:spcBef>
              <a:spcAft>
                <a:spcPts val="0"/>
              </a:spcAft>
              <a:buClr>
                <a:schemeClr val="lt1"/>
              </a:buClr>
              <a:buSzPts val="1200"/>
              <a:buFont typeface="Arial"/>
              <a:buNone/>
            </a:pPr>
            <a:r>
              <a:rPr lang="en-US" sz="1200" b="1" dirty="0">
                <a:solidFill>
                  <a:schemeClr val="lt1"/>
                </a:solidFill>
                <a:latin typeface="Arial"/>
                <a:ea typeface="Arial"/>
                <a:cs typeface="Arial"/>
                <a:sym typeface="Arial"/>
              </a:rPr>
              <a:t>A RARE CASE OF TYPE 4 MONTEGGIA FRACTURE MANAGEMENT </a:t>
            </a:r>
            <a:endParaRPr sz="1200" b="1" dirty="0">
              <a:solidFill>
                <a:schemeClr val="lt1"/>
              </a:solidFill>
              <a:latin typeface="Arial"/>
              <a:ea typeface="Arial"/>
              <a:cs typeface="Arial"/>
              <a:sym typeface="Arial"/>
            </a:endParaRPr>
          </a:p>
          <a:p>
            <a:pPr marL="0" marR="0" lvl="0" indent="0" algn="l" rtl="0">
              <a:spcBef>
                <a:spcPts val="0"/>
              </a:spcBef>
              <a:spcAft>
                <a:spcPts val="0"/>
              </a:spcAft>
              <a:buClr>
                <a:schemeClr val="lt1"/>
              </a:buClr>
              <a:buSzPts val="1200"/>
              <a:buFont typeface="Arial"/>
              <a:buNone/>
            </a:pPr>
            <a:r>
              <a:rPr lang="en-US" sz="1200" b="1" dirty="0">
                <a:solidFill>
                  <a:schemeClr val="lt1"/>
                </a:solidFill>
                <a:latin typeface="Arial"/>
                <a:ea typeface="Arial"/>
                <a:cs typeface="Arial"/>
                <a:sym typeface="Arial"/>
              </a:rPr>
              <a:t>AUTHOR:DR.PANDAVULA PRASHANTH, GUIDE:DR.G.S.MUKHARJEE MS ORTHO</a:t>
            </a:r>
            <a:endParaRPr sz="1200" b="1" dirty="0">
              <a:solidFill>
                <a:schemeClr val="lt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endParaRPr sz="1200" b="1" dirty="0">
              <a:solidFill>
                <a:schemeClr val="lt1"/>
              </a:solidFill>
              <a:latin typeface="Arial"/>
              <a:ea typeface="Arial"/>
              <a:cs typeface="Arial"/>
              <a:sym typeface="Arial"/>
            </a:endParaRPr>
          </a:p>
          <a:p>
            <a:pPr marL="0" marR="0" lvl="0" indent="0" algn="l" rtl="0">
              <a:spcBef>
                <a:spcPts val="0"/>
              </a:spcBef>
              <a:spcAft>
                <a:spcPts val="0"/>
              </a:spcAft>
              <a:buClr>
                <a:schemeClr val="dk1"/>
              </a:buClr>
              <a:buSzPts val="1200"/>
              <a:buFont typeface="Arial"/>
              <a:buNone/>
            </a:pPr>
            <a:endParaRPr sz="1200" b="1" dirty="0">
              <a:solidFill>
                <a:schemeClr val="lt1"/>
              </a:solidFill>
              <a:latin typeface="Arial"/>
              <a:ea typeface="Arial"/>
              <a:cs typeface="Arial"/>
              <a:sym typeface="Arial"/>
            </a:endParaRPr>
          </a:p>
          <a:p>
            <a:pPr marL="0" marR="0" lvl="0" indent="0" algn="l" rtl="0">
              <a:spcBef>
                <a:spcPts val="0"/>
              </a:spcBef>
              <a:spcAft>
                <a:spcPts val="0"/>
              </a:spcAft>
              <a:buClr>
                <a:schemeClr val="lt1"/>
              </a:buClr>
              <a:buSzPts val="1200"/>
              <a:buFont typeface="Arial"/>
              <a:buNone/>
            </a:pPr>
            <a:r>
              <a:rPr lang="en-US" sz="1200" b="1" dirty="0">
                <a:solidFill>
                  <a:schemeClr val="lt1"/>
                </a:solidFill>
                <a:latin typeface="Arial"/>
                <a:ea typeface="Arial"/>
                <a:cs typeface="Arial"/>
                <a:sym typeface="Arial"/>
              </a:rPr>
              <a:t>Organized by : Department of </a:t>
            </a:r>
            <a:r>
              <a:rPr lang="en-US" sz="1200" b="1" dirty="0" err="1">
                <a:solidFill>
                  <a:schemeClr val="lt1"/>
                </a:solidFill>
                <a:latin typeface="Arial"/>
                <a:ea typeface="Arial"/>
                <a:cs typeface="Arial"/>
                <a:sym typeface="Arial"/>
              </a:rPr>
              <a:t>Orthopaedics</a:t>
            </a:r>
            <a:r>
              <a:rPr lang="en-US" sz="1200" b="1" dirty="0">
                <a:solidFill>
                  <a:schemeClr val="lt1"/>
                </a:solidFill>
                <a:latin typeface="Arial"/>
                <a:ea typeface="Arial"/>
                <a:cs typeface="Arial"/>
                <a:sym typeface="Arial"/>
              </a:rPr>
              <a:t>, Kurnool Medical College Kurnool.</a:t>
            </a:r>
            <a:endParaRPr sz="1200" b="1" dirty="0">
              <a:solidFill>
                <a:schemeClr val="lt1"/>
              </a:solidFill>
              <a:latin typeface="Arial"/>
              <a:ea typeface="Arial"/>
              <a:cs typeface="Arial"/>
              <a:sym typeface="Arial"/>
            </a:endParaRPr>
          </a:p>
        </p:txBody>
      </p:sp>
      <p:sp>
        <p:nvSpPr>
          <p:cNvPr id="73" name="Google Shape;73;p1"/>
          <p:cNvSpPr/>
          <p:nvPr/>
        </p:nvSpPr>
        <p:spPr>
          <a:xfrm>
            <a:off x="560814" y="14255"/>
            <a:ext cx="1504954" cy="1282402"/>
          </a:xfrm>
          <a:custGeom>
            <a:avLst/>
            <a:gdLst/>
            <a:ahLst/>
            <a:cxnLst/>
            <a:rect l="l" t="t" r="r" b="b"/>
            <a:pathLst>
              <a:path w="2254612" h="1957865" extrusionOk="0">
                <a:moveTo>
                  <a:pt x="0" y="0"/>
                </a:moveTo>
                <a:lnTo>
                  <a:pt x="2254612" y="0"/>
                </a:lnTo>
                <a:lnTo>
                  <a:pt x="2254612" y="1957865"/>
                </a:lnTo>
                <a:lnTo>
                  <a:pt x="0" y="1957865"/>
                </a:lnTo>
                <a:lnTo>
                  <a:pt x="0" y="0"/>
                </a:lnTo>
                <a:close/>
              </a:path>
            </a:pathLst>
          </a:custGeom>
          <a:blipFill rotWithShape="1">
            <a:blip r:embed="rId5">
              <a:alphaModFix/>
            </a:blip>
            <a:stretch>
              <a:fillRect t="-9939" r="-4889" b="-108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4" name="Google Shape;74;p1"/>
          <p:cNvSpPr/>
          <p:nvPr/>
        </p:nvSpPr>
        <p:spPr>
          <a:xfrm>
            <a:off x="25875" y="1547714"/>
            <a:ext cx="2967726" cy="3349852"/>
          </a:xfrm>
          <a:prstGeom prst="rect">
            <a:avLst/>
          </a:prstGeom>
          <a:no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The injury was first described by </a:t>
            </a:r>
            <a:r>
              <a:rPr lang="en-US" sz="1400" dirty="0" err="1">
                <a:solidFill>
                  <a:srgbClr val="85200C"/>
                </a:solidFill>
                <a:latin typeface="Arial"/>
                <a:ea typeface="Arial"/>
                <a:cs typeface="Arial"/>
                <a:sym typeface="Arial"/>
              </a:rPr>
              <a:t>Monteggia</a:t>
            </a:r>
            <a:r>
              <a:rPr lang="en-US" sz="1400" dirty="0">
                <a:solidFill>
                  <a:schemeClr val="dk1"/>
                </a:solidFill>
                <a:latin typeface="Arial"/>
                <a:ea typeface="Arial"/>
                <a:cs typeface="Arial"/>
                <a:sym typeface="Arial"/>
              </a:rPr>
              <a:t> in 1814. Typically a patient with these types of injuries will complain of pain around the elbow and mechanical block to elbow flexion and forearm rotation. There are 4 types of </a:t>
            </a:r>
            <a:r>
              <a:rPr lang="en-US" sz="1400" dirty="0" err="1">
                <a:solidFill>
                  <a:schemeClr val="dk1"/>
                </a:solidFill>
                <a:latin typeface="Arial"/>
                <a:ea typeface="Arial"/>
                <a:cs typeface="Arial"/>
                <a:sym typeface="Arial"/>
              </a:rPr>
              <a:t>Monteggia</a:t>
            </a:r>
            <a:r>
              <a:rPr lang="en-US" sz="1400" dirty="0">
                <a:solidFill>
                  <a:schemeClr val="dk1"/>
                </a:solidFill>
                <a:latin typeface="Arial"/>
                <a:ea typeface="Arial"/>
                <a:cs typeface="Arial"/>
                <a:sym typeface="Arial"/>
              </a:rPr>
              <a:t> fracture. Type IV is defined as a </a:t>
            </a:r>
            <a:r>
              <a:rPr lang="en-US" sz="1400" dirty="0">
                <a:solidFill>
                  <a:srgbClr val="A61C00"/>
                </a:solidFill>
                <a:latin typeface="Arial"/>
                <a:ea typeface="Arial"/>
                <a:cs typeface="Arial"/>
                <a:sym typeface="Arial"/>
              </a:rPr>
              <a:t># of both bones of the forearm with dislocation of the radial head</a:t>
            </a:r>
            <a:r>
              <a:rPr lang="en-US" sz="1400" dirty="0">
                <a:solidFill>
                  <a:schemeClr val="dk1"/>
                </a:solidFill>
                <a:latin typeface="Arial"/>
                <a:ea typeface="Arial"/>
                <a:cs typeface="Arial"/>
                <a:sym typeface="Arial"/>
              </a:rPr>
              <a:t>. It is important to perform a careful examination of the </a:t>
            </a:r>
            <a:r>
              <a:rPr lang="en-US" sz="1400" dirty="0" err="1">
                <a:solidFill>
                  <a:schemeClr val="dk1"/>
                </a:solidFill>
                <a:latin typeface="Arial"/>
                <a:ea typeface="Arial"/>
                <a:cs typeface="Arial"/>
                <a:sym typeface="Arial"/>
              </a:rPr>
              <a:t>nerves,especially</a:t>
            </a:r>
            <a:r>
              <a:rPr lang="en-US" sz="1400" dirty="0">
                <a:solidFill>
                  <a:schemeClr val="dk1"/>
                </a:solidFill>
                <a:latin typeface="Arial"/>
                <a:ea typeface="Arial"/>
                <a:cs typeface="Arial"/>
                <a:sym typeface="Arial"/>
              </a:rPr>
              <a:t> the </a:t>
            </a:r>
            <a:r>
              <a:rPr lang="en-US" sz="1400" dirty="0">
                <a:solidFill>
                  <a:schemeClr val="accent6"/>
                </a:solidFill>
                <a:latin typeface="Arial"/>
                <a:ea typeface="Arial"/>
                <a:cs typeface="Arial"/>
                <a:sym typeface="Arial"/>
              </a:rPr>
              <a:t>posterior interosseous nerve (PIN)</a:t>
            </a:r>
            <a:r>
              <a:rPr lang="en-US" sz="1400" dirty="0">
                <a:solidFill>
                  <a:schemeClr val="dk1"/>
                </a:solidFill>
                <a:latin typeface="Arial"/>
                <a:ea typeface="Arial"/>
                <a:cs typeface="Arial"/>
                <a:sym typeface="Arial"/>
              </a:rPr>
              <a:t> because the reported incidence of injury to it is as high as 17% </a:t>
            </a:r>
            <a:endParaRPr sz="1400" dirty="0">
              <a:solidFill>
                <a:schemeClr val="dk1"/>
              </a:solidFill>
              <a:latin typeface="Arial"/>
              <a:ea typeface="Arial"/>
              <a:cs typeface="Arial"/>
              <a:sym typeface="Arial"/>
            </a:endParaRPr>
          </a:p>
        </p:txBody>
      </p:sp>
      <p:sp>
        <p:nvSpPr>
          <p:cNvPr id="75" name="Google Shape;75;p1"/>
          <p:cNvSpPr/>
          <p:nvPr/>
        </p:nvSpPr>
        <p:spPr>
          <a:xfrm>
            <a:off x="23951" y="5080499"/>
            <a:ext cx="2969626" cy="1777500"/>
          </a:xfrm>
          <a:prstGeom prst="rect">
            <a:avLst/>
          </a:prstGeom>
          <a:no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A 14Y/</a:t>
            </a:r>
            <a:r>
              <a:rPr lang="en-US" sz="1400" dirty="0" err="1">
                <a:solidFill>
                  <a:schemeClr val="dk1"/>
                </a:solidFill>
                <a:latin typeface="Arial"/>
                <a:ea typeface="Arial"/>
                <a:cs typeface="Arial"/>
                <a:sym typeface="Arial"/>
              </a:rPr>
              <a:t>Mch</a:t>
            </a:r>
            <a:r>
              <a:rPr lang="en-US" sz="1400" dirty="0">
                <a:solidFill>
                  <a:schemeClr val="dk1"/>
                </a:solidFill>
                <a:latin typeface="Arial"/>
                <a:ea typeface="Arial"/>
                <a:cs typeface="Arial"/>
                <a:sym typeface="Arial"/>
              </a:rPr>
              <a:t> suffered injury to the right forearm following fall from a bicycle. Radiographs of the right forearm - AP and lateral views were taken. They revealed fractures of both radius and ulna with  anterior dislocation of the radial head.</a:t>
            </a:r>
            <a:endParaRPr sz="1400" dirty="0">
              <a:solidFill>
                <a:schemeClr val="dk1"/>
              </a:solidFill>
              <a:latin typeface="Arial"/>
              <a:ea typeface="Arial"/>
              <a:cs typeface="Arial"/>
              <a:sym typeface="Arial"/>
            </a:endParaRPr>
          </a:p>
        </p:txBody>
      </p:sp>
      <p:sp>
        <p:nvSpPr>
          <p:cNvPr id="76" name="Google Shape;76;p1"/>
          <p:cNvSpPr/>
          <p:nvPr/>
        </p:nvSpPr>
        <p:spPr>
          <a:xfrm>
            <a:off x="3005576" y="1270600"/>
            <a:ext cx="3815274" cy="5545699"/>
          </a:xfrm>
          <a:prstGeom prst="rect">
            <a:avLst/>
          </a:prstGeom>
          <a:no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In our case, after confirming the</a:t>
            </a:r>
            <a:r>
              <a:rPr lang="en-US" sz="1800" dirty="0">
                <a:solidFill>
                  <a:schemeClr val="dk1"/>
                </a:solidFill>
                <a:latin typeface="Arial"/>
                <a:ea typeface="Arial"/>
                <a:cs typeface="Arial"/>
                <a:sym typeface="Arial"/>
              </a:rPr>
              <a:t> </a:t>
            </a:r>
            <a:r>
              <a:rPr lang="en-US" sz="1400" dirty="0">
                <a:solidFill>
                  <a:schemeClr val="dk1"/>
                </a:solidFill>
                <a:latin typeface="Arial"/>
                <a:ea typeface="Arial"/>
                <a:cs typeface="Arial"/>
                <a:sym typeface="Arial"/>
              </a:rPr>
              <a:t>diagnosis as </a:t>
            </a:r>
            <a:r>
              <a:rPr lang="en-US" sz="1400" dirty="0">
                <a:solidFill>
                  <a:srgbClr val="85200C"/>
                </a:solidFill>
                <a:latin typeface="Arial"/>
                <a:ea typeface="Arial"/>
                <a:cs typeface="Arial"/>
                <a:sym typeface="Arial"/>
              </a:rPr>
              <a:t>type 4 Bado </a:t>
            </a:r>
            <a:r>
              <a:rPr lang="en-US" sz="1400" dirty="0" err="1">
                <a:solidFill>
                  <a:srgbClr val="85200C"/>
                </a:solidFill>
                <a:latin typeface="Arial"/>
                <a:ea typeface="Arial"/>
                <a:cs typeface="Arial"/>
                <a:sym typeface="Arial"/>
              </a:rPr>
              <a:t>Monteggia</a:t>
            </a:r>
            <a:r>
              <a:rPr lang="en-US" sz="1400" dirty="0">
                <a:solidFill>
                  <a:srgbClr val="85200C"/>
                </a:solidFill>
                <a:latin typeface="Arial"/>
                <a:ea typeface="Arial"/>
                <a:cs typeface="Arial"/>
                <a:sym typeface="Arial"/>
              </a:rPr>
              <a:t> # dislocation</a:t>
            </a:r>
            <a:r>
              <a:rPr lang="en-US" sz="1400" dirty="0">
                <a:solidFill>
                  <a:schemeClr val="dk1"/>
                </a:solidFill>
                <a:latin typeface="Arial"/>
                <a:ea typeface="Arial"/>
                <a:cs typeface="Arial"/>
                <a:sym typeface="Arial"/>
              </a:rPr>
              <a:t>, closed reduction was attempted but was unsuccessful at reducing the </a:t>
            </a:r>
            <a:r>
              <a:rPr lang="en-US" sz="1400" dirty="0" err="1">
                <a:solidFill>
                  <a:schemeClr val="dk1"/>
                </a:solidFill>
                <a:latin typeface="Arial"/>
                <a:ea typeface="Arial"/>
                <a:cs typeface="Arial"/>
                <a:sym typeface="Arial"/>
              </a:rPr>
              <a:t>radiocapitellar</a:t>
            </a:r>
            <a:r>
              <a:rPr lang="en-US" sz="1400" dirty="0">
                <a:solidFill>
                  <a:schemeClr val="dk1"/>
                </a:solidFill>
                <a:latin typeface="Arial"/>
                <a:ea typeface="Arial"/>
                <a:cs typeface="Arial"/>
                <a:sym typeface="Arial"/>
              </a:rPr>
              <a:t> joint dislocation ,open reduction and internal fixation was planned. Initially, using </a:t>
            </a:r>
            <a:r>
              <a:rPr lang="en-US" sz="1400" dirty="0">
                <a:solidFill>
                  <a:srgbClr val="85200C"/>
                </a:solidFill>
                <a:latin typeface="Arial"/>
                <a:ea typeface="Arial"/>
                <a:cs typeface="Arial"/>
                <a:sym typeface="Arial"/>
              </a:rPr>
              <a:t>Henry approach </a:t>
            </a:r>
            <a:r>
              <a:rPr lang="en-US" sz="1400" dirty="0">
                <a:solidFill>
                  <a:schemeClr val="dk1"/>
                </a:solidFill>
                <a:latin typeface="Arial"/>
                <a:ea typeface="Arial"/>
                <a:cs typeface="Arial"/>
                <a:sym typeface="Arial"/>
              </a:rPr>
              <a:t>the mid shaft radius was fixed with </a:t>
            </a:r>
            <a:r>
              <a:rPr lang="en-US" sz="1400" dirty="0">
                <a:solidFill>
                  <a:srgbClr val="0000FF"/>
                </a:solidFill>
                <a:latin typeface="Arial"/>
                <a:ea typeface="Arial"/>
                <a:cs typeface="Arial"/>
                <a:sym typeface="Arial"/>
              </a:rPr>
              <a:t>locking compression plate</a:t>
            </a:r>
            <a:r>
              <a:rPr lang="en-US" sz="1400" dirty="0">
                <a:solidFill>
                  <a:schemeClr val="dk1"/>
                </a:solidFill>
                <a:latin typeface="Arial"/>
                <a:ea typeface="Arial"/>
                <a:cs typeface="Arial"/>
                <a:sym typeface="Arial"/>
              </a:rPr>
              <a:t> temporarily for </a:t>
            </a:r>
            <a:r>
              <a:rPr lang="en-US" sz="1400" dirty="0">
                <a:solidFill>
                  <a:schemeClr val="accent5"/>
                </a:solidFill>
                <a:latin typeface="Arial"/>
                <a:ea typeface="Arial"/>
                <a:cs typeface="Arial"/>
                <a:sym typeface="Arial"/>
              </a:rPr>
              <a:t>converting type-4 </a:t>
            </a:r>
            <a:r>
              <a:rPr lang="en-US" sz="1400" dirty="0" err="1">
                <a:solidFill>
                  <a:schemeClr val="accent5"/>
                </a:solidFill>
                <a:latin typeface="Arial"/>
                <a:ea typeface="Arial"/>
                <a:cs typeface="Arial"/>
                <a:sym typeface="Arial"/>
              </a:rPr>
              <a:t>Monteggia</a:t>
            </a:r>
            <a:r>
              <a:rPr lang="en-US" sz="1400" dirty="0">
                <a:solidFill>
                  <a:schemeClr val="accent5"/>
                </a:solidFill>
                <a:latin typeface="Arial"/>
                <a:ea typeface="Arial"/>
                <a:cs typeface="Arial"/>
                <a:sym typeface="Arial"/>
              </a:rPr>
              <a:t> # into type-1 </a:t>
            </a:r>
            <a:r>
              <a:rPr lang="en-US" sz="1400" dirty="0" err="1">
                <a:solidFill>
                  <a:schemeClr val="accent5"/>
                </a:solidFill>
                <a:latin typeface="Arial"/>
                <a:ea typeface="Arial"/>
                <a:cs typeface="Arial"/>
                <a:sym typeface="Arial"/>
              </a:rPr>
              <a:t>Monteggia</a:t>
            </a:r>
            <a:r>
              <a:rPr lang="en-US" sz="1400" dirty="0">
                <a:solidFill>
                  <a:schemeClr val="accent5"/>
                </a:solidFill>
                <a:latin typeface="Arial"/>
                <a:ea typeface="Arial"/>
                <a:cs typeface="Arial"/>
                <a:sym typeface="Arial"/>
              </a:rPr>
              <a:t> #</a:t>
            </a:r>
            <a:r>
              <a:rPr lang="en-US" sz="1400" dirty="0">
                <a:solidFill>
                  <a:schemeClr val="dk1"/>
                </a:solidFill>
                <a:latin typeface="Arial"/>
                <a:ea typeface="Arial"/>
                <a:cs typeface="Arial"/>
                <a:sym typeface="Arial"/>
              </a:rPr>
              <a:t> and the radial head was reduced. In dorsal approach, the mid shaft fracture of ulna was fixed with </a:t>
            </a:r>
            <a:r>
              <a:rPr lang="en-US" sz="1400" dirty="0">
                <a:solidFill>
                  <a:srgbClr val="0000FF"/>
                </a:solidFill>
                <a:latin typeface="Arial"/>
                <a:ea typeface="Arial"/>
                <a:cs typeface="Arial"/>
                <a:sym typeface="Arial"/>
              </a:rPr>
              <a:t>dynamic compression plate</a:t>
            </a:r>
            <a:r>
              <a:rPr lang="en-US" sz="1400" dirty="0">
                <a:solidFill>
                  <a:schemeClr val="dk1"/>
                </a:solidFill>
                <a:latin typeface="Arial"/>
                <a:ea typeface="Arial"/>
                <a:cs typeface="Arial"/>
                <a:sym typeface="Arial"/>
              </a:rPr>
              <a:t>. After fixation, both radius and ulna were checked under C-arm in both antero-posterior view and lateral view. The forearm was then immobilized in an above elbow dorsal splint in hyper-flexion. The patient was kept on IV antibiotics for 5days and later converted to oral antibiotic. Wound healing was satisfactory and radiograph showed restored anatomy. Suture removal was done by the end of 2 weeks. Post-operative period was uneventful. Patient was requested for follow up at 6wks and 3 months.</a:t>
            </a:r>
            <a:endParaRPr sz="1400" dirty="0">
              <a:solidFill>
                <a:schemeClr val="dk1"/>
              </a:solidFill>
              <a:latin typeface="Arial"/>
              <a:ea typeface="Arial"/>
              <a:cs typeface="Arial"/>
              <a:sym typeface="Arial"/>
            </a:endParaRPr>
          </a:p>
        </p:txBody>
      </p:sp>
      <p:sp>
        <p:nvSpPr>
          <p:cNvPr id="77" name="Google Shape;77;p1"/>
          <p:cNvSpPr/>
          <p:nvPr/>
        </p:nvSpPr>
        <p:spPr>
          <a:xfrm>
            <a:off x="8518550" y="1547713"/>
            <a:ext cx="3661500" cy="3549600"/>
          </a:xfrm>
          <a:prstGeom prst="rect">
            <a:avLst/>
          </a:prstGeom>
          <a:no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Early recognition and imaging of the elbow associated with forearm fractures is crucial, as persistent radial head dislocation can result in loss of forearm rotation, cubitus valgus, elbow instability and chronic pain. Several mechanisms of injury probably </a:t>
            </a:r>
            <a:r>
              <a:rPr lang="en-US" sz="1400" dirty="0" err="1">
                <a:solidFill>
                  <a:schemeClr val="dk1"/>
                </a:solidFill>
                <a:latin typeface="Arial"/>
                <a:ea typeface="Arial"/>
                <a:cs typeface="Arial"/>
                <a:sym typeface="Arial"/>
              </a:rPr>
              <a:t>exist,with</a:t>
            </a:r>
            <a:r>
              <a:rPr lang="en-US" sz="1400" dirty="0">
                <a:solidFill>
                  <a:schemeClr val="dk1"/>
                </a:solidFill>
                <a:latin typeface="Arial"/>
                <a:ea typeface="Arial"/>
                <a:cs typeface="Arial"/>
                <a:sym typeface="Arial"/>
              </a:rPr>
              <a:t> the strong supinating force of the biceps pulling the radial head anteriorly as the fracture of the ulna is produced by the compression forces of the fall. All patients should also be examined for associated nerve injury, most commonly the radial nerve involving the PIN. Fortunately, most nerve palsies associated with </a:t>
            </a:r>
            <a:r>
              <a:rPr lang="en-US" sz="1400" dirty="0" err="1">
                <a:solidFill>
                  <a:schemeClr val="dk1"/>
                </a:solidFill>
                <a:latin typeface="Arial"/>
                <a:ea typeface="Arial"/>
                <a:cs typeface="Arial"/>
                <a:sym typeface="Arial"/>
              </a:rPr>
              <a:t>Monteggia</a:t>
            </a:r>
            <a:r>
              <a:rPr lang="en-US" sz="1400" dirty="0">
                <a:solidFill>
                  <a:schemeClr val="dk1"/>
                </a:solidFill>
                <a:latin typeface="Arial"/>
                <a:ea typeface="Arial"/>
                <a:cs typeface="Arial"/>
                <a:sym typeface="Arial"/>
              </a:rPr>
              <a:t> lesions resolve spontaneously with reduction of the </a:t>
            </a:r>
            <a:r>
              <a:rPr lang="en-US" sz="1400" dirty="0" err="1">
                <a:solidFill>
                  <a:schemeClr val="dk1"/>
                </a:solidFill>
                <a:latin typeface="Arial"/>
                <a:ea typeface="Arial"/>
                <a:cs typeface="Arial"/>
                <a:sym typeface="Arial"/>
              </a:rPr>
              <a:t>radiocapitellar</a:t>
            </a:r>
            <a:r>
              <a:rPr lang="en-US" sz="1400" dirty="0">
                <a:solidFill>
                  <a:schemeClr val="dk1"/>
                </a:solidFill>
                <a:latin typeface="Arial"/>
                <a:ea typeface="Arial"/>
                <a:cs typeface="Arial"/>
                <a:sym typeface="Arial"/>
              </a:rPr>
              <a:t> joint.</a:t>
            </a:r>
            <a:endParaRPr sz="1400" dirty="0">
              <a:solidFill>
                <a:schemeClr val="dk1"/>
              </a:solidFill>
              <a:latin typeface="Arial"/>
              <a:ea typeface="Arial"/>
              <a:cs typeface="Arial"/>
              <a:sym typeface="Arial"/>
            </a:endParaRPr>
          </a:p>
        </p:txBody>
      </p:sp>
      <p:sp>
        <p:nvSpPr>
          <p:cNvPr id="78" name="Google Shape;78;p1"/>
          <p:cNvSpPr/>
          <p:nvPr/>
        </p:nvSpPr>
        <p:spPr>
          <a:xfrm>
            <a:off x="8530550" y="5332750"/>
            <a:ext cx="3637500" cy="1390800"/>
          </a:xfrm>
          <a:prstGeom prst="rect">
            <a:avLst/>
          </a:prstGeom>
          <a:no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400" dirty="0" err="1">
                <a:solidFill>
                  <a:schemeClr val="dk1"/>
                </a:solidFill>
                <a:latin typeface="Arial"/>
                <a:ea typeface="Arial"/>
                <a:cs typeface="Arial"/>
                <a:sym typeface="Arial"/>
              </a:rPr>
              <a:t>Monteggia</a:t>
            </a:r>
            <a:r>
              <a:rPr lang="en-US" sz="1400" dirty="0">
                <a:solidFill>
                  <a:schemeClr val="dk1"/>
                </a:solidFill>
                <a:latin typeface="Arial"/>
                <a:ea typeface="Arial"/>
                <a:cs typeface="Arial"/>
                <a:sym typeface="Arial"/>
              </a:rPr>
              <a:t> fractures type-4 are difficult to reduce and treat as such but if type-4 </a:t>
            </a:r>
            <a:r>
              <a:rPr lang="en-US" sz="1400" dirty="0" err="1">
                <a:solidFill>
                  <a:schemeClr val="dk1"/>
                </a:solidFill>
                <a:latin typeface="Arial"/>
                <a:ea typeface="Arial"/>
                <a:cs typeface="Arial"/>
                <a:sym typeface="Arial"/>
              </a:rPr>
              <a:t>monteggia</a:t>
            </a:r>
            <a:r>
              <a:rPr lang="en-US" sz="1400" dirty="0">
                <a:solidFill>
                  <a:schemeClr val="dk1"/>
                </a:solidFill>
                <a:latin typeface="Arial"/>
                <a:ea typeface="Arial"/>
                <a:cs typeface="Arial"/>
                <a:sym typeface="Arial"/>
              </a:rPr>
              <a:t> fracture is converted into type-1 by initially fixing radius shaft fracture, then radial head reduction and fracture fixation becomes easy</a:t>
            </a:r>
            <a:endParaRPr sz="1400" dirty="0">
              <a:solidFill>
                <a:schemeClr val="dk1"/>
              </a:solidFill>
              <a:latin typeface="Arial"/>
              <a:ea typeface="Arial"/>
              <a:cs typeface="Arial"/>
              <a:sym typeface="Arial"/>
            </a:endParaRPr>
          </a:p>
        </p:txBody>
      </p:sp>
      <p:sp>
        <p:nvSpPr>
          <p:cNvPr id="79" name="Google Shape;79;p1"/>
          <p:cNvSpPr/>
          <p:nvPr/>
        </p:nvSpPr>
        <p:spPr>
          <a:xfrm flipH="1">
            <a:off x="125" y="1270600"/>
            <a:ext cx="3005700" cy="257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INTRODUCTION </a:t>
            </a:r>
            <a:endParaRPr sz="1800">
              <a:solidFill>
                <a:schemeClr val="dk1"/>
              </a:solidFill>
              <a:latin typeface="Arial"/>
              <a:ea typeface="Arial"/>
              <a:cs typeface="Arial"/>
              <a:sym typeface="Arial"/>
            </a:endParaRPr>
          </a:p>
        </p:txBody>
      </p:sp>
      <p:sp>
        <p:nvSpPr>
          <p:cNvPr id="80" name="Google Shape;80;p1"/>
          <p:cNvSpPr/>
          <p:nvPr/>
        </p:nvSpPr>
        <p:spPr>
          <a:xfrm>
            <a:off x="3005700" y="1286726"/>
            <a:ext cx="3839100" cy="2619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Arial"/>
              <a:buNone/>
            </a:pPr>
            <a:r>
              <a:rPr lang="en-US" sz="1800" b="1">
                <a:solidFill>
                  <a:srgbClr val="0C0C0C"/>
                </a:solidFill>
                <a:latin typeface="Arial"/>
                <a:ea typeface="Arial"/>
                <a:cs typeface="Arial"/>
                <a:sym typeface="Arial"/>
              </a:rPr>
              <a:t>OPERATIVE FINDINGS</a:t>
            </a:r>
            <a:endParaRPr sz="1800">
              <a:solidFill>
                <a:schemeClr val="dk1"/>
              </a:solidFill>
              <a:latin typeface="Arial"/>
              <a:ea typeface="Arial"/>
              <a:cs typeface="Arial"/>
              <a:sym typeface="Arial"/>
            </a:endParaRPr>
          </a:p>
        </p:txBody>
      </p:sp>
      <p:sp>
        <p:nvSpPr>
          <p:cNvPr id="81" name="Google Shape;81;p1"/>
          <p:cNvSpPr/>
          <p:nvPr/>
        </p:nvSpPr>
        <p:spPr>
          <a:xfrm>
            <a:off x="8530550" y="1280147"/>
            <a:ext cx="3637500" cy="2751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Arial"/>
              <a:buNone/>
            </a:pPr>
            <a:r>
              <a:rPr lang="en-US" sz="1800" b="1">
                <a:solidFill>
                  <a:srgbClr val="0C0C0C"/>
                </a:solidFill>
                <a:latin typeface="Arial"/>
                <a:ea typeface="Arial"/>
                <a:cs typeface="Arial"/>
                <a:sym typeface="Arial"/>
              </a:rPr>
              <a:t>DISCUSSION</a:t>
            </a:r>
            <a:endParaRPr sz="1800">
              <a:solidFill>
                <a:schemeClr val="dk1"/>
              </a:solidFill>
              <a:latin typeface="Arial"/>
              <a:ea typeface="Arial"/>
              <a:cs typeface="Arial"/>
              <a:sym typeface="Arial"/>
            </a:endParaRPr>
          </a:p>
        </p:txBody>
      </p:sp>
      <p:sp>
        <p:nvSpPr>
          <p:cNvPr id="82" name="Google Shape;82;p1"/>
          <p:cNvSpPr/>
          <p:nvPr/>
        </p:nvSpPr>
        <p:spPr>
          <a:xfrm>
            <a:off x="23950" y="4918492"/>
            <a:ext cx="3008617" cy="162007"/>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Arial"/>
              <a:buNone/>
            </a:pPr>
            <a:r>
              <a:rPr lang="en-US" sz="1800" b="1" dirty="0">
                <a:solidFill>
                  <a:srgbClr val="0C0C0C"/>
                </a:solidFill>
                <a:latin typeface="Arial"/>
                <a:ea typeface="Arial"/>
                <a:cs typeface="Arial"/>
                <a:sym typeface="Arial"/>
              </a:rPr>
              <a:t>CASE REPORT</a:t>
            </a:r>
            <a:endParaRPr sz="1800" dirty="0">
              <a:solidFill>
                <a:schemeClr val="dk1"/>
              </a:solidFill>
              <a:latin typeface="Arial"/>
              <a:ea typeface="Arial"/>
              <a:cs typeface="Arial"/>
              <a:sym typeface="Arial"/>
            </a:endParaRPr>
          </a:p>
        </p:txBody>
      </p:sp>
      <p:sp>
        <p:nvSpPr>
          <p:cNvPr id="83" name="Google Shape;83;p1"/>
          <p:cNvSpPr/>
          <p:nvPr/>
        </p:nvSpPr>
        <p:spPr>
          <a:xfrm rot="-851" flipH="1">
            <a:off x="8530516" y="5081099"/>
            <a:ext cx="3637500" cy="274200"/>
          </a:xfrm>
          <a:prstGeom prst="rect">
            <a:avLst/>
          </a:prstGeom>
          <a:solidFill>
            <a:srgbClr val="A3C5ED"/>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Arial"/>
              <a:buNone/>
            </a:pPr>
            <a:r>
              <a:rPr lang="en-US" sz="1800" b="1">
                <a:solidFill>
                  <a:srgbClr val="0C0C0C"/>
                </a:solidFill>
                <a:latin typeface="Arial"/>
                <a:ea typeface="Arial"/>
                <a:cs typeface="Arial"/>
                <a:sym typeface="Arial"/>
              </a:rPr>
              <a:t>CONCLUSION</a:t>
            </a:r>
            <a:endParaRPr sz="1800">
              <a:solidFill>
                <a:schemeClr val="dk1"/>
              </a:solidFill>
              <a:latin typeface="Arial"/>
              <a:ea typeface="Arial"/>
              <a:cs typeface="Arial"/>
              <a:sym typeface="Arial"/>
            </a:endParaRPr>
          </a:p>
        </p:txBody>
      </p:sp>
      <p:pic>
        <p:nvPicPr>
          <p:cNvPr id="84" name="Google Shape;84;p1"/>
          <p:cNvPicPr preferRelativeResize="0"/>
          <p:nvPr/>
        </p:nvPicPr>
        <p:blipFill rotWithShape="1">
          <a:blip r:embed="rId6">
            <a:alphaModFix/>
          </a:blip>
          <a:srcRect/>
          <a:stretch/>
        </p:blipFill>
        <p:spPr>
          <a:xfrm>
            <a:off x="6844800" y="1312301"/>
            <a:ext cx="1709632" cy="542228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531</Words>
  <Application>Microsoft Office PowerPoint</Application>
  <PresentationFormat>Widescreen</PresentationFormat>
  <Paragraphs>19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santhosh rajasekaran</cp:lastModifiedBy>
  <cp:revision>1</cp:revision>
  <dcterms:modified xsi:type="dcterms:W3CDTF">2026-01-27T16:40:21Z</dcterms:modified>
</cp:coreProperties>
</file>