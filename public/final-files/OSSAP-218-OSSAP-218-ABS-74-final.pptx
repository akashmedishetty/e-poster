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-612" y="-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7DF87-EF7B-44D5-9CEE-024D3402510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D60C66-B43E-453F-A075-E8C2927A03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D60C66-B43E-453F-A075-E8C2927A03F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xmlns="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E872BCCA-09F4-9D91-AE26-B5E437D7714E}"/>
              </a:ext>
            </a:extLst>
          </p:cNvPr>
          <p:cNvSpPr/>
          <p:nvPr/>
        </p:nvSpPr>
        <p:spPr>
          <a:xfrm>
            <a:off x="2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dirty="0" smtClean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A6BB7B0-D981-FEB6-4479-7A49704B2B87}"/>
              </a:ext>
            </a:extLst>
          </p:cNvPr>
          <p:cNvSpPr txBox="1"/>
          <p:nvPr/>
        </p:nvSpPr>
        <p:spPr>
          <a:xfrm>
            <a:off x="2216727" y="27426"/>
            <a:ext cx="7656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Gordita "/>
              </a:rPr>
              <a:t>CONGENITAL PSEUDOARTHROSIS OF THE TIBIA: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Gordita "/>
              </a:rPr>
              <a:t>                 CASE AND MANAGEMENT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F1F608A-7742-BF27-09EC-3BB7CA324D68}"/>
              </a:ext>
            </a:extLst>
          </p:cNvPr>
          <p:cNvSpPr txBox="1"/>
          <p:nvPr/>
        </p:nvSpPr>
        <p:spPr>
          <a:xfrm>
            <a:off x="2601218" y="653897"/>
            <a:ext cx="6307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  <a:latin typeface="Gordita "/>
              </a:rPr>
              <a:t>PRESENTING AUTHOR –DR.ABISHEK MEGANATHAN.</a:t>
            </a:r>
          </a:p>
          <a:p>
            <a:r>
              <a:rPr lang="en-US" sz="1200" b="1" dirty="0" smtClean="0">
                <a:solidFill>
                  <a:schemeClr val="bg1"/>
                </a:solidFill>
                <a:latin typeface="Gordita "/>
              </a:rPr>
              <a:t>GUIDE- DR.M.CHANDRASEKHARAM NAIDU  [PROF OF ORTHOPAEDICS]</a:t>
            </a:r>
          </a:p>
          <a:p>
            <a:r>
              <a:rPr lang="en-US" sz="1200" b="1" smtClean="0">
                <a:solidFill>
                  <a:schemeClr val="bg1"/>
                </a:solidFill>
                <a:latin typeface="Gordita "/>
              </a:rPr>
              <a:t>ANDHRA  MEDICAL COLLEGE,VISAKHAPATNAM.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0616687-624D-607B-6F85-335EE46873F1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xmlns="" id="{0F401C6F-33A3-A415-AD1A-709059E901BF}"/>
              </a:ext>
            </a:extLst>
          </p:cNvPr>
          <p:cNvSpPr/>
          <p:nvPr/>
        </p:nvSpPr>
        <p:spPr>
          <a:xfrm>
            <a:off x="542341" y="0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1D4F9D5A-1DDA-4BC3-63F3-F36226B86C87}"/>
              </a:ext>
            </a:extLst>
          </p:cNvPr>
          <p:cNvSpPr/>
          <p:nvPr/>
        </p:nvSpPr>
        <p:spPr>
          <a:xfrm>
            <a:off x="-1" y="1877996"/>
            <a:ext cx="3177309" cy="35622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C094F03-F93B-9B6D-7C11-87F9C75E6ABB}"/>
              </a:ext>
            </a:extLst>
          </p:cNvPr>
          <p:cNvSpPr/>
          <p:nvPr/>
        </p:nvSpPr>
        <p:spPr>
          <a:xfrm>
            <a:off x="-7713406" y="8767633"/>
            <a:ext cx="2551471" cy="13202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D1A47E9-312C-D04A-D368-EE96CE32C982}"/>
              </a:ext>
            </a:extLst>
          </p:cNvPr>
          <p:cNvSpPr/>
          <p:nvPr/>
        </p:nvSpPr>
        <p:spPr>
          <a:xfrm>
            <a:off x="3152585" y="1663616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3A874B9-B8E1-A36B-AA38-6FCC7D5D8F32}"/>
              </a:ext>
            </a:extLst>
          </p:cNvPr>
          <p:cNvSpPr/>
          <p:nvPr/>
        </p:nvSpPr>
        <p:spPr>
          <a:xfrm>
            <a:off x="6352674" y="1374236"/>
            <a:ext cx="5839326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EFC2BB9-1938-0DF3-F424-CAC28C6D9880}"/>
              </a:ext>
            </a:extLst>
          </p:cNvPr>
          <p:cNvSpPr/>
          <p:nvPr/>
        </p:nvSpPr>
        <p:spPr>
          <a:xfrm>
            <a:off x="6352674" y="4784323"/>
            <a:ext cx="5839326" cy="20736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93EBCB5-BB50-7945-E88B-86122853702B}"/>
              </a:ext>
            </a:extLst>
          </p:cNvPr>
          <p:cNvSpPr/>
          <p:nvPr/>
        </p:nvSpPr>
        <p:spPr>
          <a:xfrm>
            <a:off x="3137836" y="1280156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79DCDE1-7E85-0646-3543-9C1638CEB9CA}"/>
              </a:ext>
            </a:extLst>
          </p:cNvPr>
          <p:cNvSpPr/>
          <p:nvPr/>
        </p:nvSpPr>
        <p:spPr>
          <a:xfrm>
            <a:off x="6352675" y="1294905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9A130820-FF42-EA8A-339B-145E1FC668F5}"/>
              </a:ext>
            </a:extLst>
          </p:cNvPr>
          <p:cNvSpPr/>
          <p:nvPr/>
        </p:nvSpPr>
        <p:spPr>
          <a:xfrm>
            <a:off x="0" y="5460846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9633B59-00B8-9FD5-0D31-D1688B16556B}"/>
              </a:ext>
            </a:extLst>
          </p:cNvPr>
          <p:cNvSpPr/>
          <p:nvPr/>
        </p:nvSpPr>
        <p:spPr>
          <a:xfrm>
            <a:off x="6352676" y="4421242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48000" y="19978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endParaRPr lang="en-US" dirty="0" smtClean="0"/>
          </a:p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0" y="1578087"/>
            <a:ext cx="31403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400" b="1" dirty="0" smtClean="0"/>
              <a:t>Congenital </a:t>
            </a:r>
            <a:r>
              <a:rPr lang="en-US" sz="1400" b="1" dirty="0" err="1" smtClean="0"/>
              <a:t>pseudarthrosis</a:t>
            </a:r>
            <a:r>
              <a:rPr lang="en-US" sz="1400" b="1" dirty="0" smtClean="0"/>
              <a:t> of the tibia (CPT) involves nonunion of a </a:t>
            </a:r>
            <a:r>
              <a:rPr lang="en-US" sz="1400" b="1" dirty="0" err="1" smtClean="0"/>
              <a:t>tibial</a:t>
            </a:r>
            <a:r>
              <a:rPr lang="en-US" sz="1400" b="1" dirty="0" smtClean="0"/>
              <a:t> fracture occurring through dysplastic bone. The exact </a:t>
            </a:r>
            <a:r>
              <a:rPr lang="en-US" sz="1400" b="1" dirty="0" err="1" smtClean="0"/>
              <a:t>pathophysiology</a:t>
            </a:r>
            <a:r>
              <a:rPr lang="en-US" sz="1400" b="1" dirty="0" smtClean="0"/>
              <a:t> remains unclear, but it is known to involve pathologic </a:t>
            </a:r>
            <a:r>
              <a:rPr lang="en-US" sz="1400" b="1" dirty="0" err="1" smtClean="0"/>
              <a:t>periosteum</a:t>
            </a:r>
            <a:r>
              <a:rPr lang="en-US" sz="1400" b="1" dirty="0" smtClean="0"/>
              <a:t> resulting in abnormal bone turnover. CPT includes a range of clinical and radiographic presentations which may include </a:t>
            </a:r>
            <a:r>
              <a:rPr lang="en-US" sz="1400" b="1" dirty="0" err="1" smtClean="0"/>
              <a:t>pseudoarthrosis</a:t>
            </a:r>
            <a:r>
              <a:rPr lang="en-US" sz="1400" b="1" dirty="0" smtClean="0"/>
              <a:t> of the fibula. It is often associated  with NF and  fibrous </a:t>
            </a:r>
            <a:r>
              <a:rPr lang="en-US" sz="1400" b="1" dirty="0" err="1" smtClean="0"/>
              <a:t>dysplasia.Successful</a:t>
            </a:r>
            <a:r>
              <a:rPr lang="en-US" sz="1400" b="1" dirty="0" smtClean="0"/>
              <a:t> treatment includes achieving union and preventing re-fracture Emerging evidence suggests benefit of cross-union of tibia and fibula.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9309" y="5865459"/>
            <a:ext cx="290945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200" b="1" dirty="0" smtClean="0"/>
              <a:t>A 3 yr old male child presented with right </a:t>
            </a:r>
            <a:r>
              <a:rPr lang="en-US" sz="1200" b="1" dirty="0" err="1" smtClean="0"/>
              <a:t>anterolateral</a:t>
            </a:r>
            <a:r>
              <a:rPr lang="en-US" sz="1200" b="1" dirty="0" smtClean="0"/>
              <a:t> bowing of Tibia with h/o TENS IM nailing for tibia </a:t>
            </a:r>
            <a:r>
              <a:rPr lang="en-US" sz="1200" b="1" dirty="0" err="1" smtClean="0"/>
              <a:t>fracture,diagnosed</a:t>
            </a:r>
            <a:r>
              <a:rPr lang="en-US" sz="1200" b="1" dirty="0" smtClean="0"/>
              <a:t> with CPAT without neurofibromatosis</a:t>
            </a:r>
            <a:r>
              <a:rPr lang="en-US" dirty="0" smtClean="0"/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8073" y="1681316"/>
            <a:ext cx="32973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1400" b="1" dirty="0" smtClean="0"/>
              <a:t>Procedure </a:t>
            </a:r>
            <a:r>
              <a:rPr lang="en-US" sz="1400" b="1" dirty="0" err="1" smtClean="0"/>
              <a:t>done:Pseudoarthrosis</a:t>
            </a:r>
            <a:r>
              <a:rPr lang="en-US" sz="1400" b="1" dirty="0" smtClean="0"/>
              <a:t> fibrous tissue excision with </a:t>
            </a:r>
            <a:r>
              <a:rPr lang="en-US" sz="1400" b="1" dirty="0" err="1" smtClean="0"/>
              <a:t>unicortical</a:t>
            </a:r>
            <a:r>
              <a:rPr lang="en-US" sz="1400" b="1" dirty="0" smtClean="0"/>
              <a:t> bone grafting harvested from </a:t>
            </a:r>
            <a:r>
              <a:rPr lang="en-US" sz="1400" b="1" dirty="0" err="1" smtClean="0"/>
              <a:t>contralateral</a:t>
            </a:r>
            <a:r>
              <a:rPr lang="en-US" sz="1400" b="1" dirty="0" smtClean="0"/>
              <a:t> Tibia fixed with </a:t>
            </a:r>
            <a:r>
              <a:rPr lang="en-US" sz="1400" b="1" dirty="0" smtClean="0">
                <a:solidFill>
                  <a:schemeClr val="tx2">
                    <a:lumMod val="50000"/>
                    <a:lumOff val="50000"/>
                  </a:schemeClr>
                </a:solidFill>
              </a:rPr>
              <a:t>RETROGRADE RUSH NAIL </a:t>
            </a:r>
            <a:r>
              <a:rPr lang="en-US" sz="1400" b="1" dirty="0" smtClean="0"/>
              <a:t>through Ankle joint.</a:t>
            </a:r>
          </a:p>
        </p:txBody>
      </p:sp>
      <p:pic>
        <p:nvPicPr>
          <p:cNvPr id="27" name="Picture 26" descr="outlook.jpe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3030332" y="3192875"/>
            <a:ext cx="1696680" cy="1386655"/>
          </a:xfrm>
          <a:prstGeom prst="rect">
            <a:avLst/>
          </a:prstGeom>
        </p:spPr>
      </p:pic>
      <p:pic>
        <p:nvPicPr>
          <p:cNvPr id="28" name="Picture 27" descr="excision of hamartoma.jpe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flipV="1">
            <a:off x="3238518" y="4863652"/>
            <a:ext cx="1408388" cy="1877851"/>
          </a:xfrm>
          <a:prstGeom prst="rect">
            <a:avLst/>
          </a:prstGeom>
        </p:spPr>
      </p:pic>
      <p:pic>
        <p:nvPicPr>
          <p:cNvPr id="31" name="Picture 30" descr="initial xray.jpe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783240" y="3016148"/>
            <a:ext cx="1415228" cy="1774792"/>
          </a:xfrm>
          <a:prstGeom prst="rect">
            <a:avLst/>
          </a:prstGeom>
        </p:spPr>
      </p:pic>
      <p:pic>
        <p:nvPicPr>
          <p:cNvPr id="33" name="Picture 32" descr="WhatsApp Image 2026-02-10 at 10.33.18 PM.jpe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790942" y="4815626"/>
            <a:ext cx="1406212" cy="1874949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387921" y="1725769"/>
            <a:ext cx="5804079" cy="27392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1400" b="1" dirty="0" smtClean="0"/>
              <a:t>Aim is to Achieve </a:t>
            </a:r>
            <a:r>
              <a:rPr lang="en-US" sz="1400" b="1" dirty="0" err="1" smtClean="0"/>
              <a:t>union,prevent</a:t>
            </a:r>
            <a:r>
              <a:rPr lang="en-US" sz="1400" b="1" dirty="0" smtClean="0"/>
              <a:t> </a:t>
            </a:r>
            <a:r>
              <a:rPr lang="en-US" sz="1400" b="1" dirty="0" err="1" smtClean="0"/>
              <a:t>refracture,correct</a:t>
            </a:r>
            <a:r>
              <a:rPr lang="en-US" sz="1400" b="1" dirty="0" smtClean="0"/>
              <a:t> limb length inequality &amp; to Prevent ankle deformity and arthritis</a:t>
            </a:r>
            <a:r>
              <a:rPr lang="en-US" dirty="0" smtClean="0"/>
              <a:t>. </a:t>
            </a:r>
            <a:r>
              <a:rPr lang="en-US" sz="1400" b="1" dirty="0" smtClean="0"/>
              <a:t>Growth abnormalities of  </a:t>
            </a:r>
            <a:r>
              <a:rPr lang="en-US" sz="1400" b="1" dirty="0" err="1" smtClean="0"/>
              <a:t>tibia,fibula</a:t>
            </a:r>
            <a:r>
              <a:rPr lang="en-US" sz="1400" b="1" dirty="0" smtClean="0"/>
              <a:t> include 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abnormal inclination of the proximal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tibial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physis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, posterior bowing of proximal 3 rd of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tibial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metaphysis,proximal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migration of lateral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Mallolus,,fibulae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hypoplasia,fibulae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pseudoarthrosis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,ankle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Valgus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and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calcaneum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deformity.Ankle</a:t>
            </a:r>
            <a:r>
              <a:rPr lang="en-US" sz="1400" b="1" i="1" dirty="0" smtClean="0">
                <a:solidFill>
                  <a:schemeClr val="accent5">
                    <a:lumMod val="75000"/>
                  </a:schemeClr>
                </a:solidFill>
              </a:rPr>
              <a:t> deformity and </a:t>
            </a:r>
            <a:r>
              <a:rPr lang="en-US" sz="1400" b="1" i="1" dirty="0" err="1" smtClean="0">
                <a:solidFill>
                  <a:schemeClr val="accent5">
                    <a:lumMod val="75000"/>
                  </a:schemeClr>
                </a:solidFill>
              </a:rPr>
              <a:t>arthritis.</a:t>
            </a:r>
            <a:r>
              <a:rPr lang="en-US" sz="1400" b="1" dirty="0" err="1" smtClean="0"/>
              <a:t>STRATEGIES</a:t>
            </a:r>
            <a:r>
              <a:rPr lang="en-US" sz="1400" b="1" dirty="0" smtClean="0"/>
              <a:t> TO ACHIEVE UNION are the following procedures</a:t>
            </a:r>
            <a:r>
              <a:rPr lang="en-US" sz="1400" b="1" dirty="0" smtClean="0">
                <a:solidFill>
                  <a:srgbClr val="002060"/>
                </a:solidFill>
              </a:rPr>
              <a:t>; </a:t>
            </a:r>
            <a:r>
              <a:rPr lang="en-US" sz="1400" b="1" dirty="0" err="1" smtClean="0">
                <a:solidFill>
                  <a:srgbClr val="002060"/>
                </a:solidFill>
              </a:rPr>
              <a:t>Microvascular</a:t>
            </a:r>
            <a:r>
              <a:rPr lang="en-US" sz="1400" b="1" dirty="0" smtClean="0">
                <a:solidFill>
                  <a:srgbClr val="002060"/>
                </a:solidFill>
              </a:rPr>
              <a:t> free fibular transfer, the </a:t>
            </a:r>
            <a:r>
              <a:rPr lang="en-US" sz="1400" b="1" dirty="0" err="1" smtClean="0">
                <a:solidFill>
                  <a:srgbClr val="002060"/>
                </a:solidFill>
              </a:rPr>
              <a:t>illizarov</a:t>
            </a:r>
            <a:r>
              <a:rPr lang="en-US" sz="1400" b="1" dirty="0" smtClean="0">
                <a:solidFill>
                  <a:srgbClr val="002060"/>
                </a:solidFill>
              </a:rPr>
              <a:t> technique and bone grafting with IM nailing </a:t>
            </a:r>
            <a:r>
              <a:rPr lang="en-US" sz="1400" b="1" dirty="0" smtClean="0"/>
              <a:t>.Irrespective of the method adopted it is recommended that excision of the </a:t>
            </a:r>
            <a:r>
              <a:rPr lang="en-US" sz="1400" b="1" dirty="0" err="1" smtClean="0"/>
              <a:t>pseudarthrosis</a:t>
            </a:r>
            <a:r>
              <a:rPr lang="en-US" sz="1400" b="1" dirty="0" smtClean="0"/>
              <a:t> should be an integral part of the procedure.</a:t>
            </a:r>
            <a:endParaRPr lang="en-US" sz="1400" b="1" dirty="0"/>
          </a:p>
        </p:txBody>
      </p:sp>
      <p:sp>
        <p:nvSpPr>
          <p:cNvPr id="37" name="Rectangle 36"/>
          <p:cNvSpPr/>
          <p:nvPr/>
        </p:nvSpPr>
        <p:spPr>
          <a:xfrm>
            <a:off x="7727324" y="4855335"/>
            <a:ext cx="446467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/>
              <a:t>CPT remains one of the most challenging pediatric conditions. While modern techniques like Paley’s cross-union and </a:t>
            </a:r>
            <a:r>
              <a:rPr lang="en-US" sz="1400" b="1" dirty="0" err="1" smtClean="0"/>
              <a:t>Ilizarov</a:t>
            </a:r>
            <a:r>
              <a:rPr lang="en-US" sz="1400" b="1" dirty="0" smtClean="0"/>
              <a:t> fixation have significantly improved primary union rates, the long-term prognosis is guarded. Success requires achieving biological fusion, correcting limb length discrepancies, and providing continuous bracing to prevent </a:t>
            </a:r>
            <a:r>
              <a:rPr lang="en-US" sz="1400" b="1" dirty="0" err="1" smtClean="0"/>
              <a:t>refracture</a:t>
            </a:r>
            <a:r>
              <a:rPr lang="en-US" sz="1400" b="1" dirty="0" smtClean="0"/>
              <a:t> until skeletal maturity is reached</a:t>
            </a:r>
            <a:r>
              <a:rPr lang="en-US" sz="1400" dirty="0" smtClean="0"/>
              <a:t>.</a:t>
            </a:r>
          </a:p>
          <a:p>
            <a:endParaRPr lang="en-US" sz="1400" b="1" dirty="0"/>
          </a:p>
        </p:txBody>
      </p:sp>
      <p:pic>
        <p:nvPicPr>
          <p:cNvPr id="41" name="Picture 40" descr="WhatsApp Image 2026-02-10 at 10.31.31 PM.jpe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375041" y="4934070"/>
            <a:ext cx="1319611" cy="171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87346" y="886691"/>
            <a:ext cx="1501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OSSAP -218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301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Virinchi Vinay</dc:creator>
  <cp:lastModifiedBy>LENOVO</cp:lastModifiedBy>
  <cp:revision>10</cp:revision>
  <dcterms:created xsi:type="dcterms:W3CDTF">2026-01-11T06:24:43Z</dcterms:created>
  <dcterms:modified xsi:type="dcterms:W3CDTF">2026-02-11T15:07:35Z</dcterms:modified>
</cp:coreProperties>
</file>