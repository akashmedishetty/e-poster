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80894" y="12"/>
            <a:ext cx="3611245" cy="6858000"/>
          </a:xfrm>
          <a:custGeom>
            <a:avLst/>
            <a:gdLst/>
            <a:ahLst/>
            <a:cxnLst/>
            <a:rect l="l" t="t" r="r" b="b"/>
            <a:pathLst>
              <a:path w="3611245" h="6858000">
                <a:moveTo>
                  <a:pt x="3611105" y="0"/>
                </a:moveTo>
                <a:lnTo>
                  <a:pt x="0" y="0"/>
                </a:lnTo>
                <a:lnTo>
                  <a:pt x="48171" y="304"/>
                </a:lnTo>
                <a:lnTo>
                  <a:pt x="96202" y="1257"/>
                </a:lnTo>
                <a:lnTo>
                  <a:pt x="144068" y="2819"/>
                </a:lnTo>
                <a:lnTo>
                  <a:pt x="191782" y="5003"/>
                </a:lnTo>
                <a:lnTo>
                  <a:pt x="239318" y="7797"/>
                </a:lnTo>
                <a:lnTo>
                  <a:pt x="286702" y="11214"/>
                </a:lnTo>
                <a:lnTo>
                  <a:pt x="333921" y="15227"/>
                </a:lnTo>
                <a:lnTo>
                  <a:pt x="380949" y="19850"/>
                </a:lnTo>
                <a:lnTo>
                  <a:pt x="427812" y="25069"/>
                </a:lnTo>
                <a:lnTo>
                  <a:pt x="474484" y="30886"/>
                </a:lnTo>
                <a:lnTo>
                  <a:pt x="520966" y="37299"/>
                </a:lnTo>
                <a:lnTo>
                  <a:pt x="567270" y="44297"/>
                </a:lnTo>
                <a:lnTo>
                  <a:pt x="613371" y="51879"/>
                </a:lnTo>
                <a:lnTo>
                  <a:pt x="659282" y="60032"/>
                </a:lnTo>
                <a:lnTo>
                  <a:pt x="704989" y="68770"/>
                </a:lnTo>
                <a:lnTo>
                  <a:pt x="750481" y="78092"/>
                </a:lnTo>
                <a:lnTo>
                  <a:pt x="795769" y="87960"/>
                </a:lnTo>
                <a:lnTo>
                  <a:pt x="840841" y="98412"/>
                </a:lnTo>
                <a:lnTo>
                  <a:pt x="885698" y="109410"/>
                </a:lnTo>
                <a:lnTo>
                  <a:pt x="930338" y="120967"/>
                </a:lnTo>
                <a:lnTo>
                  <a:pt x="974750" y="133083"/>
                </a:lnTo>
                <a:lnTo>
                  <a:pt x="1018933" y="145745"/>
                </a:lnTo>
                <a:lnTo>
                  <a:pt x="1062875" y="158953"/>
                </a:lnTo>
                <a:lnTo>
                  <a:pt x="1106589" y="172707"/>
                </a:lnTo>
                <a:lnTo>
                  <a:pt x="1150061" y="186994"/>
                </a:lnTo>
                <a:lnTo>
                  <a:pt x="1193279" y="201815"/>
                </a:lnTo>
                <a:lnTo>
                  <a:pt x="1236256" y="217157"/>
                </a:lnTo>
                <a:lnTo>
                  <a:pt x="1278978" y="233032"/>
                </a:lnTo>
                <a:lnTo>
                  <a:pt x="1321447" y="249428"/>
                </a:lnTo>
                <a:lnTo>
                  <a:pt x="1363662" y="266344"/>
                </a:lnTo>
                <a:lnTo>
                  <a:pt x="1405597" y="283768"/>
                </a:lnTo>
                <a:lnTo>
                  <a:pt x="1447279" y="301713"/>
                </a:lnTo>
                <a:lnTo>
                  <a:pt x="1488681" y="320154"/>
                </a:lnTo>
                <a:lnTo>
                  <a:pt x="1529803" y="339102"/>
                </a:lnTo>
                <a:lnTo>
                  <a:pt x="1570647" y="358546"/>
                </a:lnTo>
                <a:lnTo>
                  <a:pt x="1611210" y="378485"/>
                </a:lnTo>
                <a:lnTo>
                  <a:pt x="1651482" y="398919"/>
                </a:lnTo>
                <a:lnTo>
                  <a:pt x="1691462" y="419836"/>
                </a:lnTo>
                <a:lnTo>
                  <a:pt x="1731149" y="441236"/>
                </a:lnTo>
                <a:lnTo>
                  <a:pt x="1770545" y="463105"/>
                </a:lnTo>
                <a:lnTo>
                  <a:pt x="1809623" y="485457"/>
                </a:lnTo>
                <a:lnTo>
                  <a:pt x="1848408" y="508279"/>
                </a:lnTo>
                <a:lnTo>
                  <a:pt x="1886877" y="531571"/>
                </a:lnTo>
                <a:lnTo>
                  <a:pt x="1925027" y="555332"/>
                </a:lnTo>
                <a:lnTo>
                  <a:pt x="1962861" y="579539"/>
                </a:lnTo>
                <a:lnTo>
                  <a:pt x="2000364" y="604215"/>
                </a:lnTo>
                <a:lnTo>
                  <a:pt x="2037549" y="629335"/>
                </a:lnTo>
                <a:lnTo>
                  <a:pt x="2074405" y="654900"/>
                </a:lnTo>
                <a:lnTo>
                  <a:pt x="2110917" y="680910"/>
                </a:lnTo>
                <a:lnTo>
                  <a:pt x="2147100" y="707364"/>
                </a:lnTo>
                <a:lnTo>
                  <a:pt x="2182939" y="734250"/>
                </a:lnTo>
                <a:lnTo>
                  <a:pt x="2218423" y="761568"/>
                </a:lnTo>
                <a:lnTo>
                  <a:pt x="2253564" y="789317"/>
                </a:lnTo>
                <a:lnTo>
                  <a:pt x="2288349" y="817486"/>
                </a:lnTo>
                <a:lnTo>
                  <a:pt x="2322779" y="846074"/>
                </a:lnTo>
                <a:lnTo>
                  <a:pt x="2356853" y="875080"/>
                </a:lnTo>
                <a:lnTo>
                  <a:pt x="2390546" y="904506"/>
                </a:lnTo>
                <a:lnTo>
                  <a:pt x="2423884" y="934339"/>
                </a:lnTo>
                <a:lnTo>
                  <a:pt x="2456840" y="964565"/>
                </a:lnTo>
                <a:lnTo>
                  <a:pt x="2489416" y="995210"/>
                </a:lnTo>
                <a:lnTo>
                  <a:pt x="2521623" y="1026236"/>
                </a:lnTo>
                <a:lnTo>
                  <a:pt x="2553436" y="1057656"/>
                </a:lnTo>
                <a:lnTo>
                  <a:pt x="2584856" y="1089482"/>
                </a:lnTo>
                <a:lnTo>
                  <a:pt x="2615882" y="1121676"/>
                </a:lnTo>
                <a:lnTo>
                  <a:pt x="2646527" y="1154252"/>
                </a:lnTo>
                <a:lnTo>
                  <a:pt x="2676753" y="1187208"/>
                </a:lnTo>
                <a:lnTo>
                  <a:pt x="2706586" y="1220546"/>
                </a:lnTo>
                <a:lnTo>
                  <a:pt x="2736011" y="1254252"/>
                </a:lnTo>
                <a:lnTo>
                  <a:pt x="2765018" y="1288313"/>
                </a:lnTo>
                <a:lnTo>
                  <a:pt x="2793606" y="1322743"/>
                </a:lnTo>
                <a:lnTo>
                  <a:pt x="2821775" y="1357528"/>
                </a:lnTo>
                <a:lnTo>
                  <a:pt x="2849524" y="1392669"/>
                </a:lnTo>
                <a:lnTo>
                  <a:pt x="2876842" y="1428153"/>
                </a:lnTo>
                <a:lnTo>
                  <a:pt x="2903728" y="1463992"/>
                </a:lnTo>
                <a:lnTo>
                  <a:pt x="2930182" y="1500174"/>
                </a:lnTo>
                <a:lnTo>
                  <a:pt x="2956191" y="1536687"/>
                </a:lnTo>
                <a:lnTo>
                  <a:pt x="2981756" y="1573542"/>
                </a:lnTo>
                <a:lnTo>
                  <a:pt x="3006877" y="1610728"/>
                </a:lnTo>
                <a:lnTo>
                  <a:pt x="3031553" y="1648231"/>
                </a:lnTo>
                <a:lnTo>
                  <a:pt x="3055759" y="1686064"/>
                </a:lnTo>
                <a:lnTo>
                  <a:pt x="3079521" y="1724215"/>
                </a:lnTo>
                <a:lnTo>
                  <a:pt x="3102813" y="1762683"/>
                </a:lnTo>
                <a:lnTo>
                  <a:pt x="3125635" y="1801469"/>
                </a:lnTo>
                <a:lnTo>
                  <a:pt x="3147987" y="1840547"/>
                </a:lnTo>
                <a:lnTo>
                  <a:pt x="3169869" y="1879942"/>
                </a:lnTo>
                <a:lnTo>
                  <a:pt x="3191268" y="1919630"/>
                </a:lnTo>
                <a:lnTo>
                  <a:pt x="3212173" y="1959610"/>
                </a:lnTo>
                <a:lnTo>
                  <a:pt x="3232607" y="1999881"/>
                </a:lnTo>
                <a:lnTo>
                  <a:pt x="3252546" y="2040445"/>
                </a:lnTo>
                <a:lnTo>
                  <a:pt x="3271990" y="2081288"/>
                </a:lnTo>
                <a:lnTo>
                  <a:pt x="3290938" y="2122411"/>
                </a:lnTo>
                <a:lnTo>
                  <a:pt x="3309378" y="2163813"/>
                </a:lnTo>
                <a:lnTo>
                  <a:pt x="3327323" y="2205494"/>
                </a:lnTo>
                <a:lnTo>
                  <a:pt x="3344748" y="2247430"/>
                </a:lnTo>
                <a:lnTo>
                  <a:pt x="3361664" y="2289645"/>
                </a:lnTo>
                <a:lnTo>
                  <a:pt x="3378060" y="2332113"/>
                </a:lnTo>
                <a:lnTo>
                  <a:pt x="3393935" y="2374836"/>
                </a:lnTo>
                <a:lnTo>
                  <a:pt x="3409277" y="2417813"/>
                </a:lnTo>
                <a:lnTo>
                  <a:pt x="3424097" y="2461031"/>
                </a:lnTo>
                <a:lnTo>
                  <a:pt x="3438385" y="2504503"/>
                </a:lnTo>
                <a:lnTo>
                  <a:pt x="3452139" y="2548217"/>
                </a:lnTo>
                <a:lnTo>
                  <a:pt x="3465347" y="2592159"/>
                </a:lnTo>
                <a:lnTo>
                  <a:pt x="3478009" y="2636342"/>
                </a:lnTo>
                <a:lnTo>
                  <a:pt x="3490125" y="2680754"/>
                </a:lnTo>
                <a:lnTo>
                  <a:pt x="3501682" y="2725394"/>
                </a:lnTo>
                <a:lnTo>
                  <a:pt x="3512680" y="2770251"/>
                </a:lnTo>
                <a:lnTo>
                  <a:pt x="3523132" y="2815323"/>
                </a:lnTo>
                <a:lnTo>
                  <a:pt x="3533013" y="2860611"/>
                </a:lnTo>
                <a:lnTo>
                  <a:pt x="3542322" y="2906115"/>
                </a:lnTo>
                <a:lnTo>
                  <a:pt x="3551059" y="2951810"/>
                </a:lnTo>
                <a:lnTo>
                  <a:pt x="3559213" y="2997720"/>
                </a:lnTo>
                <a:lnTo>
                  <a:pt x="3566795" y="3043821"/>
                </a:lnTo>
                <a:lnTo>
                  <a:pt x="3573792" y="3090126"/>
                </a:lnTo>
                <a:lnTo>
                  <a:pt x="3580206" y="3136608"/>
                </a:lnTo>
                <a:lnTo>
                  <a:pt x="3586022" y="3183280"/>
                </a:lnTo>
                <a:lnTo>
                  <a:pt x="3591242" y="3230143"/>
                </a:lnTo>
                <a:lnTo>
                  <a:pt x="3595865" y="3277171"/>
                </a:lnTo>
                <a:lnTo>
                  <a:pt x="3599878" y="3324390"/>
                </a:lnTo>
                <a:lnTo>
                  <a:pt x="3603294" y="3371773"/>
                </a:lnTo>
                <a:lnTo>
                  <a:pt x="3606088" y="3419322"/>
                </a:lnTo>
                <a:lnTo>
                  <a:pt x="3606520" y="3429000"/>
                </a:lnTo>
                <a:lnTo>
                  <a:pt x="3606088" y="3438677"/>
                </a:lnTo>
                <a:lnTo>
                  <a:pt x="3603294" y="3486213"/>
                </a:lnTo>
                <a:lnTo>
                  <a:pt x="3599878" y="3533597"/>
                </a:lnTo>
                <a:lnTo>
                  <a:pt x="3595865" y="3580815"/>
                </a:lnTo>
                <a:lnTo>
                  <a:pt x="3591242" y="3627844"/>
                </a:lnTo>
                <a:lnTo>
                  <a:pt x="3586022" y="3674707"/>
                </a:lnTo>
                <a:lnTo>
                  <a:pt x="3580206" y="3721379"/>
                </a:lnTo>
                <a:lnTo>
                  <a:pt x="3573792" y="3767861"/>
                </a:lnTo>
                <a:lnTo>
                  <a:pt x="3566795" y="3814165"/>
                </a:lnTo>
                <a:lnTo>
                  <a:pt x="3559213" y="3860266"/>
                </a:lnTo>
                <a:lnTo>
                  <a:pt x="3551059" y="3906177"/>
                </a:lnTo>
                <a:lnTo>
                  <a:pt x="3542322" y="3951884"/>
                </a:lnTo>
                <a:lnTo>
                  <a:pt x="3533013" y="3997375"/>
                </a:lnTo>
                <a:lnTo>
                  <a:pt x="3523132" y="4042664"/>
                </a:lnTo>
                <a:lnTo>
                  <a:pt x="3512680" y="4087736"/>
                </a:lnTo>
                <a:lnTo>
                  <a:pt x="3501682" y="4132592"/>
                </a:lnTo>
                <a:lnTo>
                  <a:pt x="3490125" y="4177233"/>
                </a:lnTo>
                <a:lnTo>
                  <a:pt x="3478009" y="4221645"/>
                </a:lnTo>
                <a:lnTo>
                  <a:pt x="3465347" y="4265828"/>
                </a:lnTo>
                <a:lnTo>
                  <a:pt x="3452139" y="4309770"/>
                </a:lnTo>
                <a:lnTo>
                  <a:pt x="3438385" y="4353484"/>
                </a:lnTo>
                <a:lnTo>
                  <a:pt x="3424097" y="4396956"/>
                </a:lnTo>
                <a:lnTo>
                  <a:pt x="3409277" y="4440174"/>
                </a:lnTo>
                <a:lnTo>
                  <a:pt x="3393935" y="4483151"/>
                </a:lnTo>
                <a:lnTo>
                  <a:pt x="3378060" y="4525873"/>
                </a:lnTo>
                <a:lnTo>
                  <a:pt x="3361664" y="4568342"/>
                </a:lnTo>
                <a:lnTo>
                  <a:pt x="3344748" y="4610557"/>
                </a:lnTo>
                <a:lnTo>
                  <a:pt x="3327323" y="4652492"/>
                </a:lnTo>
                <a:lnTo>
                  <a:pt x="3309378" y="4694174"/>
                </a:lnTo>
                <a:lnTo>
                  <a:pt x="3290938" y="4735576"/>
                </a:lnTo>
                <a:lnTo>
                  <a:pt x="3271990" y="4776698"/>
                </a:lnTo>
                <a:lnTo>
                  <a:pt x="3252546" y="4817542"/>
                </a:lnTo>
                <a:lnTo>
                  <a:pt x="3232607" y="4858105"/>
                </a:lnTo>
                <a:lnTo>
                  <a:pt x="3212173" y="4898377"/>
                </a:lnTo>
                <a:lnTo>
                  <a:pt x="3191268" y="4938357"/>
                </a:lnTo>
                <a:lnTo>
                  <a:pt x="3169869" y="4978044"/>
                </a:lnTo>
                <a:lnTo>
                  <a:pt x="3147987" y="5017440"/>
                </a:lnTo>
                <a:lnTo>
                  <a:pt x="3125635" y="5056517"/>
                </a:lnTo>
                <a:lnTo>
                  <a:pt x="3102813" y="5095303"/>
                </a:lnTo>
                <a:lnTo>
                  <a:pt x="3079521" y="5133772"/>
                </a:lnTo>
                <a:lnTo>
                  <a:pt x="3055759" y="5171922"/>
                </a:lnTo>
                <a:lnTo>
                  <a:pt x="3031553" y="5209756"/>
                </a:lnTo>
                <a:lnTo>
                  <a:pt x="3006877" y="5247259"/>
                </a:lnTo>
                <a:lnTo>
                  <a:pt x="2981756" y="5284444"/>
                </a:lnTo>
                <a:lnTo>
                  <a:pt x="2956191" y="5321300"/>
                </a:lnTo>
                <a:lnTo>
                  <a:pt x="2930182" y="5357812"/>
                </a:lnTo>
                <a:lnTo>
                  <a:pt x="2903728" y="5393995"/>
                </a:lnTo>
                <a:lnTo>
                  <a:pt x="2876842" y="5429834"/>
                </a:lnTo>
                <a:lnTo>
                  <a:pt x="2849524" y="5465318"/>
                </a:lnTo>
                <a:lnTo>
                  <a:pt x="2821775" y="5500459"/>
                </a:lnTo>
                <a:lnTo>
                  <a:pt x="2793606" y="5535244"/>
                </a:lnTo>
                <a:lnTo>
                  <a:pt x="2765018" y="5569674"/>
                </a:lnTo>
                <a:lnTo>
                  <a:pt x="2736011" y="5603748"/>
                </a:lnTo>
                <a:lnTo>
                  <a:pt x="2706586" y="5637441"/>
                </a:lnTo>
                <a:lnTo>
                  <a:pt x="2676753" y="5670778"/>
                </a:lnTo>
                <a:lnTo>
                  <a:pt x="2646527" y="5703735"/>
                </a:lnTo>
                <a:lnTo>
                  <a:pt x="2615882" y="5736310"/>
                </a:lnTo>
                <a:lnTo>
                  <a:pt x="2584856" y="5768518"/>
                </a:lnTo>
                <a:lnTo>
                  <a:pt x="2553436" y="5800331"/>
                </a:lnTo>
                <a:lnTo>
                  <a:pt x="2521623" y="5831751"/>
                </a:lnTo>
                <a:lnTo>
                  <a:pt x="2489416" y="5862777"/>
                </a:lnTo>
                <a:lnTo>
                  <a:pt x="2456840" y="5893422"/>
                </a:lnTo>
                <a:lnTo>
                  <a:pt x="2423884" y="5923648"/>
                </a:lnTo>
                <a:lnTo>
                  <a:pt x="2390546" y="5953480"/>
                </a:lnTo>
                <a:lnTo>
                  <a:pt x="2356853" y="5982906"/>
                </a:lnTo>
                <a:lnTo>
                  <a:pt x="2322779" y="6011913"/>
                </a:lnTo>
                <a:lnTo>
                  <a:pt x="2288349" y="6040501"/>
                </a:lnTo>
                <a:lnTo>
                  <a:pt x="2253564" y="6068669"/>
                </a:lnTo>
                <a:lnTo>
                  <a:pt x="2218423" y="6096419"/>
                </a:lnTo>
                <a:lnTo>
                  <a:pt x="2182939" y="6123737"/>
                </a:lnTo>
                <a:lnTo>
                  <a:pt x="2147100" y="6150622"/>
                </a:lnTo>
                <a:lnTo>
                  <a:pt x="2110917" y="6177077"/>
                </a:lnTo>
                <a:lnTo>
                  <a:pt x="2074405" y="6203086"/>
                </a:lnTo>
                <a:lnTo>
                  <a:pt x="2037549" y="6228651"/>
                </a:lnTo>
                <a:lnTo>
                  <a:pt x="2000364" y="6253772"/>
                </a:lnTo>
                <a:lnTo>
                  <a:pt x="1962861" y="6278448"/>
                </a:lnTo>
                <a:lnTo>
                  <a:pt x="1925027" y="6302654"/>
                </a:lnTo>
                <a:lnTo>
                  <a:pt x="1886877" y="6326416"/>
                </a:lnTo>
                <a:lnTo>
                  <a:pt x="1848408" y="6349708"/>
                </a:lnTo>
                <a:lnTo>
                  <a:pt x="1809623" y="6372530"/>
                </a:lnTo>
                <a:lnTo>
                  <a:pt x="1770545" y="6394882"/>
                </a:lnTo>
                <a:lnTo>
                  <a:pt x="1731149" y="6416764"/>
                </a:lnTo>
                <a:lnTo>
                  <a:pt x="1691462" y="6438163"/>
                </a:lnTo>
                <a:lnTo>
                  <a:pt x="1651482" y="6459067"/>
                </a:lnTo>
                <a:lnTo>
                  <a:pt x="1611210" y="6479502"/>
                </a:lnTo>
                <a:lnTo>
                  <a:pt x="1570647" y="6499441"/>
                </a:lnTo>
                <a:lnTo>
                  <a:pt x="1529803" y="6518884"/>
                </a:lnTo>
                <a:lnTo>
                  <a:pt x="1488681" y="6537833"/>
                </a:lnTo>
                <a:lnTo>
                  <a:pt x="1447279" y="6556273"/>
                </a:lnTo>
                <a:lnTo>
                  <a:pt x="1405597" y="6574218"/>
                </a:lnTo>
                <a:lnTo>
                  <a:pt x="1363662" y="6591643"/>
                </a:lnTo>
                <a:lnTo>
                  <a:pt x="1321447" y="6608559"/>
                </a:lnTo>
                <a:lnTo>
                  <a:pt x="1278978" y="6624955"/>
                </a:lnTo>
                <a:lnTo>
                  <a:pt x="1236256" y="6640830"/>
                </a:lnTo>
                <a:lnTo>
                  <a:pt x="1193279" y="6656171"/>
                </a:lnTo>
                <a:lnTo>
                  <a:pt x="1150061" y="6670992"/>
                </a:lnTo>
                <a:lnTo>
                  <a:pt x="1106589" y="6685280"/>
                </a:lnTo>
                <a:lnTo>
                  <a:pt x="1062875" y="6699034"/>
                </a:lnTo>
                <a:lnTo>
                  <a:pt x="1018933" y="6712242"/>
                </a:lnTo>
                <a:lnTo>
                  <a:pt x="974750" y="6724904"/>
                </a:lnTo>
                <a:lnTo>
                  <a:pt x="930338" y="6737020"/>
                </a:lnTo>
                <a:lnTo>
                  <a:pt x="885698" y="6748577"/>
                </a:lnTo>
                <a:lnTo>
                  <a:pt x="840841" y="6759575"/>
                </a:lnTo>
                <a:lnTo>
                  <a:pt x="795769" y="6770027"/>
                </a:lnTo>
                <a:lnTo>
                  <a:pt x="750481" y="6779908"/>
                </a:lnTo>
                <a:lnTo>
                  <a:pt x="704989" y="6789217"/>
                </a:lnTo>
                <a:lnTo>
                  <a:pt x="659282" y="6797954"/>
                </a:lnTo>
                <a:lnTo>
                  <a:pt x="613371" y="6806108"/>
                </a:lnTo>
                <a:lnTo>
                  <a:pt x="567270" y="6813690"/>
                </a:lnTo>
                <a:lnTo>
                  <a:pt x="520966" y="6820687"/>
                </a:lnTo>
                <a:lnTo>
                  <a:pt x="474484" y="6827101"/>
                </a:lnTo>
                <a:lnTo>
                  <a:pt x="427812" y="6832917"/>
                </a:lnTo>
                <a:lnTo>
                  <a:pt x="380949" y="6838137"/>
                </a:lnTo>
                <a:lnTo>
                  <a:pt x="333921" y="6842760"/>
                </a:lnTo>
                <a:lnTo>
                  <a:pt x="286702" y="6846773"/>
                </a:lnTo>
                <a:lnTo>
                  <a:pt x="239318" y="6850189"/>
                </a:lnTo>
                <a:lnTo>
                  <a:pt x="191782" y="6852983"/>
                </a:lnTo>
                <a:lnTo>
                  <a:pt x="144068" y="6855168"/>
                </a:lnTo>
                <a:lnTo>
                  <a:pt x="96202" y="6856743"/>
                </a:lnTo>
                <a:lnTo>
                  <a:pt x="48171" y="6857682"/>
                </a:lnTo>
                <a:lnTo>
                  <a:pt x="0" y="6857987"/>
                </a:lnTo>
                <a:lnTo>
                  <a:pt x="3611105" y="6857987"/>
                </a:lnTo>
                <a:lnTo>
                  <a:pt x="3611105" y="3611092"/>
                </a:lnTo>
                <a:lnTo>
                  <a:pt x="3611105" y="3246894"/>
                </a:lnTo>
                <a:lnTo>
                  <a:pt x="3611105" y="0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" y="0"/>
            <a:ext cx="934085" cy="934085"/>
          </a:xfrm>
          <a:custGeom>
            <a:avLst/>
            <a:gdLst/>
            <a:ahLst/>
            <a:cxnLst/>
            <a:rect l="l" t="t" r="r" b="b"/>
            <a:pathLst>
              <a:path w="934085" h="934085">
                <a:moveTo>
                  <a:pt x="933856" y="0"/>
                </a:moveTo>
                <a:lnTo>
                  <a:pt x="0" y="0"/>
                </a:lnTo>
                <a:lnTo>
                  <a:pt x="0" y="933856"/>
                </a:lnTo>
                <a:lnTo>
                  <a:pt x="48056" y="932641"/>
                </a:lnTo>
                <a:lnTo>
                  <a:pt x="95481" y="929035"/>
                </a:lnTo>
                <a:lnTo>
                  <a:pt x="142217" y="923096"/>
                </a:lnTo>
                <a:lnTo>
                  <a:pt x="188204" y="914883"/>
                </a:lnTo>
                <a:lnTo>
                  <a:pt x="233385" y="904456"/>
                </a:lnTo>
                <a:lnTo>
                  <a:pt x="277700" y="891872"/>
                </a:lnTo>
                <a:lnTo>
                  <a:pt x="321090" y="877190"/>
                </a:lnTo>
                <a:lnTo>
                  <a:pt x="363498" y="860469"/>
                </a:lnTo>
                <a:lnTo>
                  <a:pt x="404865" y="841768"/>
                </a:lnTo>
                <a:lnTo>
                  <a:pt x="445131" y="821145"/>
                </a:lnTo>
                <a:lnTo>
                  <a:pt x="484238" y="798659"/>
                </a:lnTo>
                <a:lnTo>
                  <a:pt x="522127" y="774368"/>
                </a:lnTo>
                <a:lnTo>
                  <a:pt x="558740" y="748332"/>
                </a:lnTo>
                <a:lnTo>
                  <a:pt x="594019" y="720609"/>
                </a:lnTo>
                <a:lnTo>
                  <a:pt x="627903" y="691257"/>
                </a:lnTo>
                <a:lnTo>
                  <a:pt x="660335" y="660336"/>
                </a:lnTo>
                <a:lnTo>
                  <a:pt x="691257" y="627904"/>
                </a:lnTo>
                <a:lnTo>
                  <a:pt x="720608" y="594019"/>
                </a:lnTo>
                <a:lnTo>
                  <a:pt x="748331" y="558741"/>
                </a:lnTo>
                <a:lnTo>
                  <a:pt x="774368" y="522128"/>
                </a:lnTo>
                <a:lnTo>
                  <a:pt x="798658" y="484239"/>
                </a:lnTo>
                <a:lnTo>
                  <a:pt x="821144" y="445131"/>
                </a:lnTo>
                <a:lnTo>
                  <a:pt x="841767" y="404865"/>
                </a:lnTo>
                <a:lnTo>
                  <a:pt x="860468" y="363499"/>
                </a:lnTo>
                <a:lnTo>
                  <a:pt x="877189" y="321091"/>
                </a:lnTo>
                <a:lnTo>
                  <a:pt x="891871" y="277700"/>
                </a:lnTo>
                <a:lnTo>
                  <a:pt x="904455" y="233385"/>
                </a:lnTo>
                <a:lnTo>
                  <a:pt x="914883" y="188204"/>
                </a:lnTo>
                <a:lnTo>
                  <a:pt x="923095" y="142217"/>
                </a:lnTo>
                <a:lnTo>
                  <a:pt x="929034" y="95481"/>
                </a:lnTo>
                <a:lnTo>
                  <a:pt x="932640" y="48056"/>
                </a:lnTo>
                <a:lnTo>
                  <a:pt x="933856" y="0"/>
                </a:lnTo>
                <a:close/>
              </a:path>
            </a:pathLst>
          </a:custGeom>
          <a:solidFill>
            <a:srgbClr val="36A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868281" y="5590903"/>
            <a:ext cx="786765" cy="1267460"/>
          </a:xfrm>
          <a:custGeom>
            <a:avLst/>
            <a:gdLst/>
            <a:ahLst/>
            <a:cxnLst/>
            <a:rect l="l" t="t" r="r" b="b"/>
            <a:pathLst>
              <a:path w="786765" h="1267459">
                <a:moveTo>
                  <a:pt x="786176" y="0"/>
                </a:moveTo>
                <a:lnTo>
                  <a:pt x="705807" y="4058"/>
                </a:lnTo>
                <a:lnTo>
                  <a:pt x="658666" y="10289"/>
                </a:lnTo>
                <a:lnTo>
                  <a:pt x="612447" y="19262"/>
                </a:lnTo>
                <a:lnTo>
                  <a:pt x="567234" y="30892"/>
                </a:lnTo>
                <a:lnTo>
                  <a:pt x="523113" y="45094"/>
                </a:lnTo>
                <a:lnTo>
                  <a:pt x="480169" y="61782"/>
                </a:lnTo>
                <a:lnTo>
                  <a:pt x="438489" y="80870"/>
                </a:lnTo>
                <a:lnTo>
                  <a:pt x="398156" y="102275"/>
                </a:lnTo>
                <a:lnTo>
                  <a:pt x="359257" y="125909"/>
                </a:lnTo>
                <a:lnTo>
                  <a:pt x="321876" y="151688"/>
                </a:lnTo>
                <a:lnTo>
                  <a:pt x="286100" y="179526"/>
                </a:lnTo>
                <a:lnTo>
                  <a:pt x="252013" y="209339"/>
                </a:lnTo>
                <a:lnTo>
                  <a:pt x="219701" y="241040"/>
                </a:lnTo>
                <a:lnTo>
                  <a:pt x="189250" y="274545"/>
                </a:lnTo>
                <a:lnTo>
                  <a:pt x="160744" y="309767"/>
                </a:lnTo>
                <a:lnTo>
                  <a:pt x="134268" y="346622"/>
                </a:lnTo>
                <a:lnTo>
                  <a:pt x="109910" y="385025"/>
                </a:lnTo>
                <a:lnTo>
                  <a:pt x="87753" y="424889"/>
                </a:lnTo>
                <a:lnTo>
                  <a:pt x="67883" y="466130"/>
                </a:lnTo>
                <a:lnTo>
                  <a:pt x="50385" y="508662"/>
                </a:lnTo>
                <a:lnTo>
                  <a:pt x="35345" y="552400"/>
                </a:lnTo>
                <a:lnTo>
                  <a:pt x="22848" y="597258"/>
                </a:lnTo>
                <a:lnTo>
                  <a:pt x="12980" y="643151"/>
                </a:lnTo>
                <a:lnTo>
                  <a:pt x="5826" y="689994"/>
                </a:lnTo>
                <a:lnTo>
                  <a:pt x="1470" y="737702"/>
                </a:lnTo>
                <a:lnTo>
                  <a:pt x="0" y="786189"/>
                </a:lnTo>
                <a:lnTo>
                  <a:pt x="0" y="1267096"/>
                </a:lnTo>
                <a:lnTo>
                  <a:pt x="47892" y="1265662"/>
                </a:lnTo>
                <a:lnTo>
                  <a:pt x="95026" y="1261412"/>
                </a:lnTo>
                <a:lnTo>
                  <a:pt x="141318" y="1254430"/>
                </a:lnTo>
                <a:lnTo>
                  <a:pt x="186688" y="1244797"/>
                </a:lnTo>
                <a:lnTo>
                  <a:pt x="231051" y="1232597"/>
                </a:lnTo>
                <a:lnTo>
                  <a:pt x="274327" y="1217911"/>
                </a:lnTo>
                <a:lnTo>
                  <a:pt x="316433" y="1200821"/>
                </a:lnTo>
                <a:lnTo>
                  <a:pt x="357286" y="1181409"/>
                </a:lnTo>
                <a:lnTo>
                  <a:pt x="396805" y="1159759"/>
                </a:lnTo>
                <a:lnTo>
                  <a:pt x="434907" y="1135951"/>
                </a:lnTo>
                <a:lnTo>
                  <a:pt x="471511" y="1110069"/>
                </a:lnTo>
                <a:lnTo>
                  <a:pt x="506532" y="1082195"/>
                </a:lnTo>
                <a:lnTo>
                  <a:pt x="539891" y="1052410"/>
                </a:lnTo>
                <a:lnTo>
                  <a:pt x="571504" y="1020797"/>
                </a:lnTo>
                <a:lnTo>
                  <a:pt x="601288" y="987439"/>
                </a:lnTo>
                <a:lnTo>
                  <a:pt x="629163" y="952417"/>
                </a:lnTo>
                <a:lnTo>
                  <a:pt x="655045" y="915814"/>
                </a:lnTo>
                <a:lnTo>
                  <a:pt x="678852" y="877712"/>
                </a:lnTo>
                <a:lnTo>
                  <a:pt x="700503" y="838193"/>
                </a:lnTo>
                <a:lnTo>
                  <a:pt x="719914" y="797340"/>
                </a:lnTo>
                <a:lnTo>
                  <a:pt x="737004" y="755234"/>
                </a:lnTo>
                <a:lnTo>
                  <a:pt x="751691" y="711958"/>
                </a:lnTo>
                <a:lnTo>
                  <a:pt x="763891" y="667595"/>
                </a:lnTo>
                <a:lnTo>
                  <a:pt x="773524" y="622225"/>
                </a:lnTo>
                <a:lnTo>
                  <a:pt x="780506" y="575933"/>
                </a:lnTo>
                <a:lnTo>
                  <a:pt x="784756" y="528799"/>
                </a:lnTo>
                <a:lnTo>
                  <a:pt x="786190" y="480907"/>
                </a:lnTo>
                <a:lnTo>
                  <a:pt x="786176" y="0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082091" y="5590903"/>
            <a:ext cx="786765" cy="1267460"/>
          </a:xfrm>
          <a:custGeom>
            <a:avLst/>
            <a:gdLst/>
            <a:ahLst/>
            <a:cxnLst/>
            <a:rect l="l" t="t" r="r" b="b"/>
            <a:pathLst>
              <a:path w="786765" h="1267459">
                <a:moveTo>
                  <a:pt x="13" y="0"/>
                </a:moveTo>
                <a:lnTo>
                  <a:pt x="0" y="480907"/>
                </a:lnTo>
                <a:lnTo>
                  <a:pt x="1434" y="528799"/>
                </a:lnTo>
                <a:lnTo>
                  <a:pt x="5684" y="575933"/>
                </a:lnTo>
                <a:lnTo>
                  <a:pt x="12666" y="622225"/>
                </a:lnTo>
                <a:lnTo>
                  <a:pt x="22299" y="667595"/>
                </a:lnTo>
                <a:lnTo>
                  <a:pt x="34499" y="711958"/>
                </a:lnTo>
                <a:lnTo>
                  <a:pt x="49186" y="755234"/>
                </a:lnTo>
                <a:lnTo>
                  <a:pt x="66276" y="797340"/>
                </a:lnTo>
                <a:lnTo>
                  <a:pt x="85687" y="838193"/>
                </a:lnTo>
                <a:lnTo>
                  <a:pt x="107338" y="877712"/>
                </a:lnTo>
                <a:lnTo>
                  <a:pt x="131145" y="915814"/>
                </a:lnTo>
                <a:lnTo>
                  <a:pt x="157027" y="952417"/>
                </a:lnTo>
                <a:lnTo>
                  <a:pt x="184902" y="987439"/>
                </a:lnTo>
                <a:lnTo>
                  <a:pt x="214686" y="1020797"/>
                </a:lnTo>
                <a:lnTo>
                  <a:pt x="246299" y="1052410"/>
                </a:lnTo>
                <a:lnTo>
                  <a:pt x="279657" y="1082195"/>
                </a:lnTo>
                <a:lnTo>
                  <a:pt x="314679" y="1110069"/>
                </a:lnTo>
                <a:lnTo>
                  <a:pt x="351282" y="1135951"/>
                </a:lnTo>
                <a:lnTo>
                  <a:pt x="389384" y="1159759"/>
                </a:lnTo>
                <a:lnTo>
                  <a:pt x="428903" y="1181409"/>
                </a:lnTo>
                <a:lnTo>
                  <a:pt x="469757" y="1200821"/>
                </a:lnTo>
                <a:lnTo>
                  <a:pt x="511862" y="1217911"/>
                </a:lnTo>
                <a:lnTo>
                  <a:pt x="555138" y="1232597"/>
                </a:lnTo>
                <a:lnTo>
                  <a:pt x="599502" y="1244797"/>
                </a:lnTo>
                <a:lnTo>
                  <a:pt x="644871" y="1254430"/>
                </a:lnTo>
                <a:lnTo>
                  <a:pt x="691163" y="1261412"/>
                </a:lnTo>
                <a:lnTo>
                  <a:pt x="738297" y="1265662"/>
                </a:lnTo>
                <a:lnTo>
                  <a:pt x="786189" y="1267096"/>
                </a:lnTo>
                <a:lnTo>
                  <a:pt x="786189" y="786189"/>
                </a:lnTo>
                <a:lnTo>
                  <a:pt x="784718" y="737702"/>
                </a:lnTo>
                <a:lnTo>
                  <a:pt x="780363" y="689994"/>
                </a:lnTo>
                <a:lnTo>
                  <a:pt x="773209" y="643151"/>
                </a:lnTo>
                <a:lnTo>
                  <a:pt x="763340" y="597258"/>
                </a:lnTo>
                <a:lnTo>
                  <a:pt x="750844" y="552400"/>
                </a:lnTo>
                <a:lnTo>
                  <a:pt x="735804" y="508662"/>
                </a:lnTo>
                <a:lnTo>
                  <a:pt x="718306" y="466130"/>
                </a:lnTo>
                <a:lnTo>
                  <a:pt x="698436" y="424889"/>
                </a:lnTo>
                <a:lnTo>
                  <a:pt x="676279" y="385025"/>
                </a:lnTo>
                <a:lnTo>
                  <a:pt x="651921" y="346622"/>
                </a:lnTo>
                <a:lnTo>
                  <a:pt x="625446" y="309767"/>
                </a:lnTo>
                <a:lnTo>
                  <a:pt x="596940" y="274545"/>
                </a:lnTo>
                <a:lnTo>
                  <a:pt x="566488" y="241040"/>
                </a:lnTo>
                <a:lnTo>
                  <a:pt x="534176" y="209339"/>
                </a:lnTo>
                <a:lnTo>
                  <a:pt x="500090" y="179526"/>
                </a:lnTo>
                <a:lnTo>
                  <a:pt x="464313" y="151688"/>
                </a:lnTo>
                <a:lnTo>
                  <a:pt x="426933" y="125909"/>
                </a:lnTo>
                <a:lnTo>
                  <a:pt x="388034" y="102275"/>
                </a:lnTo>
                <a:lnTo>
                  <a:pt x="347701" y="80870"/>
                </a:lnTo>
                <a:lnTo>
                  <a:pt x="306020" y="61782"/>
                </a:lnTo>
                <a:lnTo>
                  <a:pt x="263077" y="45094"/>
                </a:lnTo>
                <a:lnTo>
                  <a:pt x="218956" y="30892"/>
                </a:lnTo>
                <a:lnTo>
                  <a:pt x="173743" y="19262"/>
                </a:lnTo>
                <a:lnTo>
                  <a:pt x="127524" y="10289"/>
                </a:lnTo>
                <a:lnTo>
                  <a:pt x="80383" y="4058"/>
                </a:lnTo>
                <a:lnTo>
                  <a:pt x="13" y="0"/>
                </a:lnTo>
                <a:close/>
              </a:path>
            </a:pathLst>
          </a:custGeom>
          <a:solidFill>
            <a:srgbClr val="4454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698" y="-105155"/>
            <a:ext cx="11727180" cy="1357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330959"/>
            <a:ext cx="10056495" cy="4649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571998"/>
            <a:ext cx="12192000" cy="2286000"/>
            <a:chOff x="0" y="4571998"/>
            <a:chExt cx="12192000" cy="2286000"/>
          </a:xfrm>
        </p:grpSpPr>
        <p:sp>
          <p:nvSpPr>
            <p:cNvPr id="3" name="object 3"/>
            <p:cNvSpPr/>
            <p:nvPr/>
          </p:nvSpPr>
          <p:spPr>
            <a:xfrm>
              <a:off x="0" y="4572000"/>
              <a:ext cx="12192000" cy="2286000"/>
            </a:xfrm>
            <a:custGeom>
              <a:avLst/>
              <a:gdLst/>
              <a:ahLst/>
              <a:cxnLst/>
              <a:rect l="l" t="t" r="r" b="b"/>
              <a:pathLst>
                <a:path w="12192000" h="2286000">
                  <a:moveTo>
                    <a:pt x="12192000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12192000" y="22859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8BC1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83745" y="4960029"/>
              <a:ext cx="1551305" cy="1551305"/>
            </a:xfrm>
            <a:custGeom>
              <a:avLst/>
              <a:gdLst/>
              <a:ahLst/>
              <a:cxnLst/>
              <a:rect l="l" t="t" r="r" b="b"/>
              <a:pathLst>
                <a:path w="1551305" h="1551304">
                  <a:moveTo>
                    <a:pt x="775607" y="0"/>
                  </a:moveTo>
                  <a:lnTo>
                    <a:pt x="728359" y="1415"/>
                  </a:lnTo>
                  <a:lnTo>
                    <a:pt x="681860" y="5607"/>
                  </a:lnTo>
                  <a:lnTo>
                    <a:pt x="636190" y="12496"/>
                  </a:lnTo>
                  <a:lnTo>
                    <a:pt x="591432" y="21998"/>
                  </a:lnTo>
                  <a:lnTo>
                    <a:pt x="547666" y="34035"/>
                  </a:lnTo>
                  <a:lnTo>
                    <a:pt x="504972" y="48523"/>
                  </a:lnTo>
                  <a:lnTo>
                    <a:pt x="463433" y="65383"/>
                  </a:lnTo>
                  <a:lnTo>
                    <a:pt x="423130" y="84533"/>
                  </a:lnTo>
                  <a:lnTo>
                    <a:pt x="384143" y="105893"/>
                  </a:lnTo>
                  <a:lnTo>
                    <a:pt x="346554" y="129380"/>
                  </a:lnTo>
                  <a:lnTo>
                    <a:pt x="310443" y="154913"/>
                  </a:lnTo>
                  <a:lnTo>
                    <a:pt x="275893" y="182413"/>
                  </a:lnTo>
                  <a:lnTo>
                    <a:pt x="242983" y="211796"/>
                  </a:lnTo>
                  <a:lnTo>
                    <a:pt x="211796" y="242983"/>
                  </a:lnTo>
                  <a:lnTo>
                    <a:pt x="182413" y="275893"/>
                  </a:lnTo>
                  <a:lnTo>
                    <a:pt x="154913" y="310443"/>
                  </a:lnTo>
                  <a:lnTo>
                    <a:pt x="129380" y="346554"/>
                  </a:lnTo>
                  <a:lnTo>
                    <a:pt x="105893" y="384143"/>
                  </a:lnTo>
                  <a:lnTo>
                    <a:pt x="84533" y="423130"/>
                  </a:lnTo>
                  <a:lnTo>
                    <a:pt x="65383" y="463433"/>
                  </a:lnTo>
                  <a:lnTo>
                    <a:pt x="48523" y="504972"/>
                  </a:lnTo>
                  <a:lnTo>
                    <a:pt x="34035" y="547665"/>
                  </a:lnTo>
                  <a:lnTo>
                    <a:pt x="21998" y="591432"/>
                  </a:lnTo>
                  <a:lnTo>
                    <a:pt x="12496" y="636190"/>
                  </a:lnTo>
                  <a:lnTo>
                    <a:pt x="5607" y="681860"/>
                  </a:lnTo>
                  <a:lnTo>
                    <a:pt x="1415" y="728359"/>
                  </a:lnTo>
                  <a:lnTo>
                    <a:pt x="0" y="775607"/>
                  </a:lnTo>
                  <a:lnTo>
                    <a:pt x="1415" y="822855"/>
                  </a:lnTo>
                  <a:lnTo>
                    <a:pt x="5607" y="869354"/>
                  </a:lnTo>
                  <a:lnTo>
                    <a:pt x="12496" y="915023"/>
                  </a:lnTo>
                  <a:lnTo>
                    <a:pt x="21998" y="959782"/>
                  </a:lnTo>
                  <a:lnTo>
                    <a:pt x="34035" y="1003548"/>
                  </a:lnTo>
                  <a:lnTo>
                    <a:pt x="48523" y="1046241"/>
                  </a:lnTo>
                  <a:lnTo>
                    <a:pt x="65383" y="1087780"/>
                  </a:lnTo>
                  <a:lnTo>
                    <a:pt x="84533" y="1128084"/>
                  </a:lnTo>
                  <a:lnTo>
                    <a:pt x="105893" y="1167070"/>
                  </a:lnTo>
                  <a:lnTo>
                    <a:pt x="129380" y="1204660"/>
                  </a:lnTo>
                  <a:lnTo>
                    <a:pt x="154913" y="1240770"/>
                  </a:lnTo>
                  <a:lnTo>
                    <a:pt x="182413" y="1275321"/>
                  </a:lnTo>
                  <a:lnTo>
                    <a:pt x="211796" y="1308230"/>
                  </a:lnTo>
                  <a:lnTo>
                    <a:pt x="242983" y="1339417"/>
                  </a:lnTo>
                  <a:lnTo>
                    <a:pt x="275893" y="1368801"/>
                  </a:lnTo>
                  <a:lnTo>
                    <a:pt x="310443" y="1396300"/>
                  </a:lnTo>
                  <a:lnTo>
                    <a:pt x="346554" y="1421834"/>
                  </a:lnTo>
                  <a:lnTo>
                    <a:pt x="384143" y="1445321"/>
                  </a:lnTo>
                  <a:lnTo>
                    <a:pt x="423130" y="1466680"/>
                  </a:lnTo>
                  <a:lnTo>
                    <a:pt x="463433" y="1485830"/>
                  </a:lnTo>
                  <a:lnTo>
                    <a:pt x="504972" y="1502690"/>
                  </a:lnTo>
                  <a:lnTo>
                    <a:pt x="547666" y="1517179"/>
                  </a:lnTo>
                  <a:lnTo>
                    <a:pt x="591432" y="1529215"/>
                  </a:lnTo>
                  <a:lnTo>
                    <a:pt x="636190" y="1538718"/>
                  </a:lnTo>
                  <a:lnTo>
                    <a:pt x="681860" y="1545606"/>
                  </a:lnTo>
                  <a:lnTo>
                    <a:pt x="728359" y="1549798"/>
                  </a:lnTo>
                  <a:lnTo>
                    <a:pt x="775607" y="1551214"/>
                  </a:lnTo>
                  <a:lnTo>
                    <a:pt x="822855" y="1549798"/>
                  </a:lnTo>
                  <a:lnTo>
                    <a:pt x="869354" y="1545606"/>
                  </a:lnTo>
                  <a:lnTo>
                    <a:pt x="915023" y="1538718"/>
                  </a:lnTo>
                  <a:lnTo>
                    <a:pt x="959782" y="1529215"/>
                  </a:lnTo>
                  <a:lnTo>
                    <a:pt x="1003548" y="1517179"/>
                  </a:lnTo>
                  <a:lnTo>
                    <a:pt x="1046241" y="1502690"/>
                  </a:lnTo>
                  <a:lnTo>
                    <a:pt x="1087780" y="1485830"/>
                  </a:lnTo>
                  <a:lnTo>
                    <a:pt x="1128084" y="1466680"/>
                  </a:lnTo>
                  <a:lnTo>
                    <a:pt x="1167070" y="1445321"/>
                  </a:lnTo>
                  <a:lnTo>
                    <a:pt x="1204660" y="1421834"/>
                  </a:lnTo>
                  <a:lnTo>
                    <a:pt x="1240770" y="1396300"/>
                  </a:lnTo>
                  <a:lnTo>
                    <a:pt x="1275320" y="1368801"/>
                  </a:lnTo>
                  <a:lnTo>
                    <a:pt x="1308230" y="1339417"/>
                  </a:lnTo>
                  <a:lnTo>
                    <a:pt x="1339417" y="1308230"/>
                  </a:lnTo>
                  <a:lnTo>
                    <a:pt x="1368801" y="1275321"/>
                  </a:lnTo>
                  <a:lnTo>
                    <a:pt x="1396300" y="1240770"/>
                  </a:lnTo>
                  <a:lnTo>
                    <a:pt x="1421834" y="1204660"/>
                  </a:lnTo>
                  <a:lnTo>
                    <a:pt x="1445321" y="1167070"/>
                  </a:lnTo>
                  <a:lnTo>
                    <a:pt x="1466680" y="1128084"/>
                  </a:lnTo>
                  <a:lnTo>
                    <a:pt x="1485830" y="1087780"/>
                  </a:lnTo>
                  <a:lnTo>
                    <a:pt x="1502690" y="1046241"/>
                  </a:lnTo>
                  <a:lnTo>
                    <a:pt x="1517178" y="1003548"/>
                  </a:lnTo>
                  <a:lnTo>
                    <a:pt x="1529215" y="959782"/>
                  </a:lnTo>
                  <a:lnTo>
                    <a:pt x="1538718" y="915023"/>
                  </a:lnTo>
                  <a:lnTo>
                    <a:pt x="1545606" y="869354"/>
                  </a:lnTo>
                  <a:lnTo>
                    <a:pt x="1549798" y="822855"/>
                  </a:lnTo>
                  <a:lnTo>
                    <a:pt x="1551214" y="775607"/>
                  </a:lnTo>
                  <a:lnTo>
                    <a:pt x="1549798" y="728359"/>
                  </a:lnTo>
                  <a:lnTo>
                    <a:pt x="1545606" y="681860"/>
                  </a:lnTo>
                  <a:lnTo>
                    <a:pt x="1538718" y="636190"/>
                  </a:lnTo>
                  <a:lnTo>
                    <a:pt x="1529215" y="591432"/>
                  </a:lnTo>
                  <a:lnTo>
                    <a:pt x="1517178" y="547665"/>
                  </a:lnTo>
                  <a:lnTo>
                    <a:pt x="1502690" y="504972"/>
                  </a:lnTo>
                  <a:lnTo>
                    <a:pt x="1485830" y="463433"/>
                  </a:lnTo>
                  <a:lnTo>
                    <a:pt x="1466680" y="423130"/>
                  </a:lnTo>
                  <a:lnTo>
                    <a:pt x="1445321" y="384143"/>
                  </a:lnTo>
                  <a:lnTo>
                    <a:pt x="1421834" y="346554"/>
                  </a:lnTo>
                  <a:lnTo>
                    <a:pt x="1396300" y="310443"/>
                  </a:lnTo>
                  <a:lnTo>
                    <a:pt x="1368801" y="275893"/>
                  </a:lnTo>
                  <a:lnTo>
                    <a:pt x="1339417" y="242983"/>
                  </a:lnTo>
                  <a:lnTo>
                    <a:pt x="1308230" y="211796"/>
                  </a:lnTo>
                  <a:lnTo>
                    <a:pt x="1275320" y="182413"/>
                  </a:lnTo>
                  <a:lnTo>
                    <a:pt x="1240770" y="154913"/>
                  </a:lnTo>
                  <a:lnTo>
                    <a:pt x="1204660" y="129380"/>
                  </a:lnTo>
                  <a:lnTo>
                    <a:pt x="1167070" y="105893"/>
                  </a:lnTo>
                  <a:lnTo>
                    <a:pt x="1128084" y="84533"/>
                  </a:lnTo>
                  <a:lnTo>
                    <a:pt x="1087780" y="65383"/>
                  </a:lnTo>
                  <a:lnTo>
                    <a:pt x="1046241" y="48523"/>
                  </a:lnTo>
                  <a:lnTo>
                    <a:pt x="1003548" y="34035"/>
                  </a:lnTo>
                  <a:lnTo>
                    <a:pt x="959782" y="21998"/>
                  </a:lnTo>
                  <a:lnTo>
                    <a:pt x="915023" y="12496"/>
                  </a:lnTo>
                  <a:lnTo>
                    <a:pt x="869354" y="5607"/>
                  </a:lnTo>
                  <a:lnTo>
                    <a:pt x="822855" y="1415"/>
                  </a:lnTo>
                  <a:lnTo>
                    <a:pt x="775607" y="0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83745" y="4960029"/>
              <a:ext cx="1551305" cy="1551305"/>
            </a:xfrm>
            <a:custGeom>
              <a:avLst/>
              <a:gdLst/>
              <a:ahLst/>
              <a:cxnLst/>
              <a:rect l="l" t="t" r="r" b="b"/>
              <a:pathLst>
                <a:path w="1551305" h="1551304">
                  <a:moveTo>
                    <a:pt x="0" y="775607"/>
                  </a:moveTo>
                  <a:lnTo>
                    <a:pt x="1415" y="728359"/>
                  </a:lnTo>
                  <a:lnTo>
                    <a:pt x="5607" y="681860"/>
                  </a:lnTo>
                  <a:lnTo>
                    <a:pt x="12496" y="636190"/>
                  </a:lnTo>
                  <a:lnTo>
                    <a:pt x="21998" y="591432"/>
                  </a:lnTo>
                  <a:lnTo>
                    <a:pt x="34035" y="547665"/>
                  </a:lnTo>
                  <a:lnTo>
                    <a:pt x="48523" y="504972"/>
                  </a:lnTo>
                  <a:lnTo>
                    <a:pt x="65383" y="463433"/>
                  </a:lnTo>
                  <a:lnTo>
                    <a:pt x="84534" y="423130"/>
                  </a:lnTo>
                  <a:lnTo>
                    <a:pt x="105893" y="384143"/>
                  </a:lnTo>
                  <a:lnTo>
                    <a:pt x="129380" y="346554"/>
                  </a:lnTo>
                  <a:lnTo>
                    <a:pt x="154913" y="310443"/>
                  </a:lnTo>
                  <a:lnTo>
                    <a:pt x="182413" y="275893"/>
                  </a:lnTo>
                  <a:lnTo>
                    <a:pt x="211796" y="242983"/>
                  </a:lnTo>
                  <a:lnTo>
                    <a:pt x="242983" y="211796"/>
                  </a:lnTo>
                  <a:lnTo>
                    <a:pt x="275893" y="182413"/>
                  </a:lnTo>
                  <a:lnTo>
                    <a:pt x="310443" y="154913"/>
                  </a:lnTo>
                  <a:lnTo>
                    <a:pt x="346554" y="129380"/>
                  </a:lnTo>
                  <a:lnTo>
                    <a:pt x="384143" y="105893"/>
                  </a:lnTo>
                  <a:lnTo>
                    <a:pt x="423130" y="84534"/>
                  </a:lnTo>
                  <a:lnTo>
                    <a:pt x="463433" y="65383"/>
                  </a:lnTo>
                  <a:lnTo>
                    <a:pt x="504972" y="48523"/>
                  </a:lnTo>
                  <a:lnTo>
                    <a:pt x="547665" y="34035"/>
                  </a:lnTo>
                  <a:lnTo>
                    <a:pt x="591432" y="21998"/>
                  </a:lnTo>
                  <a:lnTo>
                    <a:pt x="636190" y="12496"/>
                  </a:lnTo>
                  <a:lnTo>
                    <a:pt x="681860" y="5607"/>
                  </a:lnTo>
                  <a:lnTo>
                    <a:pt x="728359" y="1415"/>
                  </a:lnTo>
                  <a:lnTo>
                    <a:pt x="775607" y="0"/>
                  </a:lnTo>
                  <a:lnTo>
                    <a:pt x="822854" y="1415"/>
                  </a:lnTo>
                  <a:lnTo>
                    <a:pt x="869354" y="5607"/>
                  </a:lnTo>
                  <a:lnTo>
                    <a:pt x="915023" y="12496"/>
                  </a:lnTo>
                  <a:lnTo>
                    <a:pt x="959781" y="21998"/>
                  </a:lnTo>
                  <a:lnTo>
                    <a:pt x="1003548" y="34035"/>
                  </a:lnTo>
                  <a:lnTo>
                    <a:pt x="1046241" y="48523"/>
                  </a:lnTo>
                  <a:lnTo>
                    <a:pt x="1087780" y="65383"/>
                  </a:lnTo>
                  <a:lnTo>
                    <a:pt x="1128083" y="84534"/>
                  </a:lnTo>
                  <a:lnTo>
                    <a:pt x="1167070" y="105893"/>
                  </a:lnTo>
                  <a:lnTo>
                    <a:pt x="1204659" y="129380"/>
                  </a:lnTo>
                  <a:lnTo>
                    <a:pt x="1240770" y="154913"/>
                  </a:lnTo>
                  <a:lnTo>
                    <a:pt x="1275320" y="182413"/>
                  </a:lnTo>
                  <a:lnTo>
                    <a:pt x="1308230" y="211796"/>
                  </a:lnTo>
                  <a:lnTo>
                    <a:pt x="1339417" y="242983"/>
                  </a:lnTo>
                  <a:lnTo>
                    <a:pt x="1368801" y="275893"/>
                  </a:lnTo>
                  <a:lnTo>
                    <a:pt x="1396300" y="310443"/>
                  </a:lnTo>
                  <a:lnTo>
                    <a:pt x="1421833" y="346554"/>
                  </a:lnTo>
                  <a:lnTo>
                    <a:pt x="1445320" y="384143"/>
                  </a:lnTo>
                  <a:lnTo>
                    <a:pt x="1466680" y="423130"/>
                  </a:lnTo>
                  <a:lnTo>
                    <a:pt x="1485830" y="463433"/>
                  </a:lnTo>
                  <a:lnTo>
                    <a:pt x="1502690" y="504972"/>
                  </a:lnTo>
                  <a:lnTo>
                    <a:pt x="1517178" y="547665"/>
                  </a:lnTo>
                  <a:lnTo>
                    <a:pt x="1529215" y="591432"/>
                  </a:lnTo>
                  <a:lnTo>
                    <a:pt x="1538717" y="636190"/>
                  </a:lnTo>
                  <a:lnTo>
                    <a:pt x="1545606" y="681860"/>
                  </a:lnTo>
                  <a:lnTo>
                    <a:pt x="1549798" y="728359"/>
                  </a:lnTo>
                  <a:lnTo>
                    <a:pt x="1551214" y="775607"/>
                  </a:lnTo>
                  <a:lnTo>
                    <a:pt x="1549798" y="822854"/>
                  </a:lnTo>
                  <a:lnTo>
                    <a:pt x="1545606" y="869354"/>
                  </a:lnTo>
                  <a:lnTo>
                    <a:pt x="1538717" y="915023"/>
                  </a:lnTo>
                  <a:lnTo>
                    <a:pt x="1529215" y="959781"/>
                  </a:lnTo>
                  <a:lnTo>
                    <a:pt x="1517178" y="1003548"/>
                  </a:lnTo>
                  <a:lnTo>
                    <a:pt x="1502690" y="1046241"/>
                  </a:lnTo>
                  <a:lnTo>
                    <a:pt x="1485830" y="1087780"/>
                  </a:lnTo>
                  <a:lnTo>
                    <a:pt x="1466680" y="1128083"/>
                  </a:lnTo>
                  <a:lnTo>
                    <a:pt x="1445320" y="1167070"/>
                  </a:lnTo>
                  <a:lnTo>
                    <a:pt x="1421833" y="1204659"/>
                  </a:lnTo>
                  <a:lnTo>
                    <a:pt x="1396300" y="1240770"/>
                  </a:lnTo>
                  <a:lnTo>
                    <a:pt x="1368801" y="1275320"/>
                  </a:lnTo>
                  <a:lnTo>
                    <a:pt x="1339417" y="1308230"/>
                  </a:lnTo>
                  <a:lnTo>
                    <a:pt x="1308230" y="1339417"/>
                  </a:lnTo>
                  <a:lnTo>
                    <a:pt x="1275320" y="1368801"/>
                  </a:lnTo>
                  <a:lnTo>
                    <a:pt x="1240770" y="1396300"/>
                  </a:lnTo>
                  <a:lnTo>
                    <a:pt x="1204659" y="1421833"/>
                  </a:lnTo>
                  <a:lnTo>
                    <a:pt x="1167070" y="1445320"/>
                  </a:lnTo>
                  <a:lnTo>
                    <a:pt x="1128083" y="1466680"/>
                  </a:lnTo>
                  <a:lnTo>
                    <a:pt x="1087780" y="1485830"/>
                  </a:lnTo>
                  <a:lnTo>
                    <a:pt x="1046241" y="1502690"/>
                  </a:lnTo>
                  <a:lnTo>
                    <a:pt x="1003548" y="1517178"/>
                  </a:lnTo>
                  <a:lnTo>
                    <a:pt x="959781" y="1529215"/>
                  </a:lnTo>
                  <a:lnTo>
                    <a:pt x="915023" y="1538717"/>
                  </a:lnTo>
                  <a:lnTo>
                    <a:pt x="869354" y="1545606"/>
                  </a:lnTo>
                  <a:lnTo>
                    <a:pt x="822854" y="1549798"/>
                  </a:lnTo>
                  <a:lnTo>
                    <a:pt x="775607" y="1551214"/>
                  </a:lnTo>
                  <a:lnTo>
                    <a:pt x="728359" y="1549798"/>
                  </a:lnTo>
                  <a:lnTo>
                    <a:pt x="681860" y="1545606"/>
                  </a:lnTo>
                  <a:lnTo>
                    <a:pt x="636190" y="1538717"/>
                  </a:lnTo>
                  <a:lnTo>
                    <a:pt x="591432" y="1529215"/>
                  </a:lnTo>
                  <a:lnTo>
                    <a:pt x="547665" y="1517178"/>
                  </a:lnTo>
                  <a:lnTo>
                    <a:pt x="504972" y="1502690"/>
                  </a:lnTo>
                  <a:lnTo>
                    <a:pt x="463433" y="1485830"/>
                  </a:lnTo>
                  <a:lnTo>
                    <a:pt x="423130" y="1466680"/>
                  </a:lnTo>
                  <a:lnTo>
                    <a:pt x="384143" y="1445320"/>
                  </a:lnTo>
                  <a:lnTo>
                    <a:pt x="346554" y="1421833"/>
                  </a:lnTo>
                  <a:lnTo>
                    <a:pt x="310443" y="1396300"/>
                  </a:lnTo>
                  <a:lnTo>
                    <a:pt x="275893" y="1368801"/>
                  </a:lnTo>
                  <a:lnTo>
                    <a:pt x="242983" y="1339417"/>
                  </a:lnTo>
                  <a:lnTo>
                    <a:pt x="211796" y="1308230"/>
                  </a:lnTo>
                  <a:lnTo>
                    <a:pt x="182413" y="1275320"/>
                  </a:lnTo>
                  <a:lnTo>
                    <a:pt x="154913" y="1240770"/>
                  </a:lnTo>
                  <a:lnTo>
                    <a:pt x="129380" y="1204659"/>
                  </a:lnTo>
                  <a:lnTo>
                    <a:pt x="105893" y="1167070"/>
                  </a:lnTo>
                  <a:lnTo>
                    <a:pt x="84534" y="1128083"/>
                  </a:lnTo>
                  <a:lnTo>
                    <a:pt x="65383" y="1087780"/>
                  </a:lnTo>
                  <a:lnTo>
                    <a:pt x="48523" y="1046241"/>
                  </a:lnTo>
                  <a:lnTo>
                    <a:pt x="34035" y="1003548"/>
                  </a:lnTo>
                  <a:lnTo>
                    <a:pt x="21998" y="959781"/>
                  </a:lnTo>
                  <a:lnTo>
                    <a:pt x="12496" y="915023"/>
                  </a:lnTo>
                  <a:lnTo>
                    <a:pt x="5607" y="869354"/>
                  </a:lnTo>
                  <a:lnTo>
                    <a:pt x="1415" y="822854"/>
                  </a:lnTo>
                  <a:lnTo>
                    <a:pt x="0" y="775607"/>
                  </a:lnTo>
                  <a:close/>
                </a:path>
              </a:pathLst>
            </a:custGeom>
            <a:ln w="12700">
              <a:solidFill>
                <a:srgbClr val="1270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4571999"/>
              <a:ext cx="1118870" cy="2286000"/>
            </a:xfrm>
            <a:custGeom>
              <a:avLst/>
              <a:gdLst/>
              <a:ahLst/>
              <a:cxnLst/>
              <a:rect l="l" t="t" r="r" b="b"/>
              <a:pathLst>
                <a:path w="1118870" h="2286000">
                  <a:moveTo>
                    <a:pt x="1118501" y="2286000"/>
                  </a:moveTo>
                  <a:lnTo>
                    <a:pt x="1069987" y="2284971"/>
                  </a:lnTo>
                  <a:lnTo>
                    <a:pt x="1021994" y="2281898"/>
                  </a:lnTo>
                  <a:lnTo>
                    <a:pt x="974572" y="2276830"/>
                  </a:lnTo>
                  <a:lnTo>
                    <a:pt x="927760" y="2269807"/>
                  </a:lnTo>
                  <a:lnTo>
                    <a:pt x="881608" y="2260866"/>
                  </a:lnTo>
                  <a:lnTo>
                    <a:pt x="836155" y="2250059"/>
                  </a:lnTo>
                  <a:lnTo>
                    <a:pt x="791425" y="2237422"/>
                  </a:lnTo>
                  <a:lnTo>
                    <a:pt x="747483" y="2223008"/>
                  </a:lnTo>
                  <a:lnTo>
                    <a:pt x="704367" y="2206828"/>
                  </a:lnTo>
                  <a:lnTo>
                    <a:pt x="662114" y="2188959"/>
                  </a:lnTo>
                  <a:lnTo>
                    <a:pt x="620763" y="2169426"/>
                  </a:lnTo>
                  <a:lnTo>
                    <a:pt x="580351" y="2148281"/>
                  </a:lnTo>
                  <a:lnTo>
                    <a:pt x="540943" y="2125548"/>
                  </a:lnTo>
                  <a:lnTo>
                    <a:pt x="502564" y="2101278"/>
                  </a:lnTo>
                  <a:lnTo>
                    <a:pt x="465251" y="2075522"/>
                  </a:lnTo>
                  <a:lnTo>
                    <a:pt x="429056" y="2048319"/>
                  </a:lnTo>
                  <a:lnTo>
                    <a:pt x="394030" y="2019693"/>
                  </a:lnTo>
                  <a:lnTo>
                    <a:pt x="360197" y="1989709"/>
                  </a:lnTo>
                  <a:lnTo>
                    <a:pt x="327596" y="1958403"/>
                  </a:lnTo>
                  <a:lnTo>
                    <a:pt x="296291" y="1925802"/>
                  </a:lnTo>
                  <a:lnTo>
                    <a:pt x="266306" y="1891969"/>
                  </a:lnTo>
                  <a:lnTo>
                    <a:pt x="237680" y="1856943"/>
                  </a:lnTo>
                  <a:lnTo>
                    <a:pt x="210477" y="1820748"/>
                  </a:lnTo>
                  <a:lnTo>
                    <a:pt x="184721" y="1783435"/>
                  </a:lnTo>
                  <a:lnTo>
                    <a:pt x="160451" y="1745056"/>
                  </a:lnTo>
                  <a:lnTo>
                    <a:pt x="137718" y="1705648"/>
                  </a:lnTo>
                  <a:lnTo>
                    <a:pt x="116573" y="1665236"/>
                  </a:lnTo>
                  <a:lnTo>
                    <a:pt x="97040" y="1623885"/>
                  </a:lnTo>
                  <a:lnTo>
                    <a:pt x="79171" y="1581632"/>
                  </a:lnTo>
                  <a:lnTo>
                    <a:pt x="62992" y="1538516"/>
                  </a:lnTo>
                  <a:lnTo>
                    <a:pt x="48577" y="1494574"/>
                  </a:lnTo>
                  <a:lnTo>
                    <a:pt x="35941" y="1449844"/>
                  </a:lnTo>
                  <a:lnTo>
                    <a:pt x="25133" y="1404391"/>
                  </a:lnTo>
                  <a:lnTo>
                    <a:pt x="16192" y="1358239"/>
                  </a:lnTo>
                  <a:lnTo>
                    <a:pt x="9169" y="1311427"/>
                  </a:lnTo>
                  <a:lnTo>
                    <a:pt x="4102" y="1264005"/>
                  </a:lnTo>
                  <a:lnTo>
                    <a:pt x="1028" y="1216012"/>
                  </a:lnTo>
                  <a:lnTo>
                    <a:pt x="0" y="1167498"/>
                  </a:lnTo>
                  <a:lnTo>
                    <a:pt x="0" y="2286000"/>
                  </a:lnTo>
                  <a:lnTo>
                    <a:pt x="1118501" y="2286000"/>
                  </a:lnTo>
                  <a:close/>
                </a:path>
                <a:path w="1118870" h="2286000">
                  <a:moveTo>
                    <a:pt x="1118501" y="0"/>
                  </a:moveTo>
                  <a:lnTo>
                    <a:pt x="0" y="0"/>
                  </a:lnTo>
                  <a:lnTo>
                    <a:pt x="0" y="1118514"/>
                  </a:lnTo>
                  <a:lnTo>
                    <a:pt x="1028" y="1070000"/>
                  </a:lnTo>
                  <a:lnTo>
                    <a:pt x="4102" y="1022007"/>
                  </a:lnTo>
                  <a:lnTo>
                    <a:pt x="9169" y="974585"/>
                  </a:lnTo>
                  <a:lnTo>
                    <a:pt x="16192" y="927773"/>
                  </a:lnTo>
                  <a:lnTo>
                    <a:pt x="25133" y="881621"/>
                  </a:lnTo>
                  <a:lnTo>
                    <a:pt x="35941" y="836155"/>
                  </a:lnTo>
                  <a:lnTo>
                    <a:pt x="48577" y="791438"/>
                  </a:lnTo>
                  <a:lnTo>
                    <a:pt x="62992" y="747496"/>
                  </a:lnTo>
                  <a:lnTo>
                    <a:pt x="79171" y="704380"/>
                  </a:lnTo>
                  <a:lnTo>
                    <a:pt x="97040" y="662127"/>
                  </a:lnTo>
                  <a:lnTo>
                    <a:pt x="116573" y="620776"/>
                  </a:lnTo>
                  <a:lnTo>
                    <a:pt x="137718" y="580364"/>
                  </a:lnTo>
                  <a:lnTo>
                    <a:pt x="160451" y="540956"/>
                  </a:lnTo>
                  <a:lnTo>
                    <a:pt x="184721" y="502577"/>
                  </a:lnTo>
                  <a:lnTo>
                    <a:pt x="210477" y="465264"/>
                  </a:lnTo>
                  <a:lnTo>
                    <a:pt x="237680" y="429069"/>
                  </a:lnTo>
                  <a:lnTo>
                    <a:pt x="266306" y="394042"/>
                  </a:lnTo>
                  <a:lnTo>
                    <a:pt x="296291" y="360197"/>
                  </a:lnTo>
                  <a:lnTo>
                    <a:pt x="327596" y="327609"/>
                  </a:lnTo>
                  <a:lnTo>
                    <a:pt x="360197" y="296303"/>
                  </a:lnTo>
                  <a:lnTo>
                    <a:pt x="394030" y="266306"/>
                  </a:lnTo>
                  <a:lnTo>
                    <a:pt x="429056" y="237693"/>
                  </a:lnTo>
                  <a:lnTo>
                    <a:pt x="465251" y="210489"/>
                  </a:lnTo>
                  <a:lnTo>
                    <a:pt x="502564" y="184721"/>
                  </a:lnTo>
                  <a:lnTo>
                    <a:pt x="540943" y="160464"/>
                  </a:lnTo>
                  <a:lnTo>
                    <a:pt x="580351" y="137731"/>
                  </a:lnTo>
                  <a:lnTo>
                    <a:pt x="620763" y="116586"/>
                  </a:lnTo>
                  <a:lnTo>
                    <a:pt x="662114" y="97053"/>
                  </a:lnTo>
                  <a:lnTo>
                    <a:pt x="704367" y="79171"/>
                  </a:lnTo>
                  <a:lnTo>
                    <a:pt x="747483" y="63004"/>
                  </a:lnTo>
                  <a:lnTo>
                    <a:pt x="791425" y="48590"/>
                  </a:lnTo>
                  <a:lnTo>
                    <a:pt x="836155" y="35953"/>
                  </a:lnTo>
                  <a:lnTo>
                    <a:pt x="881608" y="25146"/>
                  </a:lnTo>
                  <a:lnTo>
                    <a:pt x="927760" y="16205"/>
                  </a:lnTo>
                  <a:lnTo>
                    <a:pt x="974572" y="9182"/>
                  </a:lnTo>
                  <a:lnTo>
                    <a:pt x="1021994" y="4114"/>
                  </a:lnTo>
                  <a:lnTo>
                    <a:pt x="1069987" y="1041"/>
                  </a:lnTo>
                  <a:lnTo>
                    <a:pt x="1118501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8264425" y="0"/>
            <a:ext cx="3928110" cy="3161665"/>
            <a:chOff x="8264425" y="0"/>
            <a:chExt cx="3928110" cy="3161665"/>
          </a:xfrm>
        </p:grpSpPr>
        <p:sp>
          <p:nvSpPr>
            <p:cNvPr id="8" name="object 8"/>
            <p:cNvSpPr/>
            <p:nvPr/>
          </p:nvSpPr>
          <p:spPr>
            <a:xfrm>
              <a:off x="10228212" y="0"/>
              <a:ext cx="1964055" cy="3161665"/>
            </a:xfrm>
            <a:custGeom>
              <a:avLst/>
              <a:gdLst/>
              <a:ahLst/>
              <a:cxnLst/>
              <a:rect l="l" t="t" r="r" b="b"/>
              <a:pathLst>
                <a:path w="1964054" h="3161665">
                  <a:moveTo>
                    <a:pt x="1963754" y="0"/>
                  </a:moveTo>
                  <a:lnTo>
                    <a:pt x="1896057" y="0"/>
                  </a:lnTo>
                  <a:lnTo>
                    <a:pt x="1763002" y="6719"/>
                  </a:lnTo>
                  <a:lnTo>
                    <a:pt x="1715259" y="12157"/>
                  </a:lnTo>
                  <a:lnTo>
                    <a:pt x="1667869" y="18729"/>
                  </a:lnTo>
                  <a:lnTo>
                    <a:pt x="1620846" y="26422"/>
                  </a:lnTo>
                  <a:lnTo>
                    <a:pt x="1574205" y="35221"/>
                  </a:lnTo>
                  <a:lnTo>
                    <a:pt x="1527960" y="45113"/>
                  </a:lnTo>
                  <a:lnTo>
                    <a:pt x="1482123" y="56083"/>
                  </a:lnTo>
                  <a:lnTo>
                    <a:pt x="1436710" y="68118"/>
                  </a:lnTo>
                  <a:lnTo>
                    <a:pt x="1391735" y="81203"/>
                  </a:lnTo>
                  <a:lnTo>
                    <a:pt x="1347211" y="95325"/>
                  </a:lnTo>
                  <a:lnTo>
                    <a:pt x="1303152" y="110469"/>
                  </a:lnTo>
                  <a:lnTo>
                    <a:pt x="1259572" y="126622"/>
                  </a:lnTo>
                  <a:lnTo>
                    <a:pt x="1216486" y="143769"/>
                  </a:lnTo>
                  <a:lnTo>
                    <a:pt x="1173907" y="161898"/>
                  </a:lnTo>
                  <a:lnTo>
                    <a:pt x="1131849" y="180993"/>
                  </a:lnTo>
                  <a:lnTo>
                    <a:pt x="1090326" y="201040"/>
                  </a:lnTo>
                  <a:lnTo>
                    <a:pt x="1049353" y="222026"/>
                  </a:lnTo>
                  <a:lnTo>
                    <a:pt x="1008942" y="243937"/>
                  </a:lnTo>
                  <a:lnTo>
                    <a:pt x="969109" y="266759"/>
                  </a:lnTo>
                  <a:lnTo>
                    <a:pt x="929867" y="290478"/>
                  </a:lnTo>
                  <a:lnTo>
                    <a:pt x="891230" y="315079"/>
                  </a:lnTo>
                  <a:lnTo>
                    <a:pt x="853212" y="340549"/>
                  </a:lnTo>
                  <a:lnTo>
                    <a:pt x="815827" y="366874"/>
                  </a:lnTo>
                  <a:lnTo>
                    <a:pt x="779089" y="394040"/>
                  </a:lnTo>
                  <a:lnTo>
                    <a:pt x="743012" y="422032"/>
                  </a:lnTo>
                  <a:lnTo>
                    <a:pt x="707610" y="450838"/>
                  </a:lnTo>
                  <a:lnTo>
                    <a:pt x="672897" y="480442"/>
                  </a:lnTo>
                  <a:lnTo>
                    <a:pt x="638887" y="510832"/>
                  </a:lnTo>
                  <a:lnTo>
                    <a:pt x="605594" y="541992"/>
                  </a:lnTo>
                  <a:lnTo>
                    <a:pt x="573032" y="573910"/>
                  </a:lnTo>
                  <a:lnTo>
                    <a:pt x="541214" y="606570"/>
                  </a:lnTo>
                  <a:lnTo>
                    <a:pt x="510156" y="639960"/>
                  </a:lnTo>
                  <a:lnTo>
                    <a:pt x="479870" y="674064"/>
                  </a:lnTo>
                  <a:lnTo>
                    <a:pt x="450371" y="708870"/>
                  </a:lnTo>
                  <a:lnTo>
                    <a:pt x="421673" y="744362"/>
                  </a:lnTo>
                  <a:lnTo>
                    <a:pt x="393790" y="780528"/>
                  </a:lnTo>
                  <a:lnTo>
                    <a:pt x="366735" y="817353"/>
                  </a:lnTo>
                  <a:lnTo>
                    <a:pt x="340523" y="854823"/>
                  </a:lnTo>
                  <a:lnTo>
                    <a:pt x="315168" y="892924"/>
                  </a:lnTo>
                  <a:lnTo>
                    <a:pt x="290684" y="931643"/>
                  </a:lnTo>
                  <a:lnTo>
                    <a:pt x="267084" y="970965"/>
                  </a:lnTo>
                  <a:lnTo>
                    <a:pt x="244383" y="1010876"/>
                  </a:lnTo>
                  <a:lnTo>
                    <a:pt x="222594" y="1051362"/>
                  </a:lnTo>
                  <a:lnTo>
                    <a:pt x="201732" y="1092409"/>
                  </a:lnTo>
                  <a:lnTo>
                    <a:pt x="181811" y="1134004"/>
                  </a:lnTo>
                  <a:lnTo>
                    <a:pt x="162844" y="1176132"/>
                  </a:lnTo>
                  <a:lnTo>
                    <a:pt x="144846" y="1218780"/>
                  </a:lnTo>
                  <a:lnTo>
                    <a:pt x="127830" y="1261933"/>
                  </a:lnTo>
                  <a:lnTo>
                    <a:pt x="111811" y="1305577"/>
                  </a:lnTo>
                  <a:lnTo>
                    <a:pt x="96802" y="1349698"/>
                  </a:lnTo>
                  <a:lnTo>
                    <a:pt x="82818" y="1394284"/>
                  </a:lnTo>
                  <a:lnTo>
                    <a:pt x="69872" y="1439318"/>
                  </a:lnTo>
                  <a:lnTo>
                    <a:pt x="57978" y="1484788"/>
                  </a:lnTo>
                  <a:lnTo>
                    <a:pt x="47249" y="1530263"/>
                  </a:lnTo>
                  <a:lnTo>
                    <a:pt x="37528" y="1576389"/>
                  </a:lnTo>
                  <a:lnTo>
                    <a:pt x="28751" y="1623672"/>
                  </a:lnTo>
                  <a:lnTo>
                    <a:pt x="21207" y="1670744"/>
                  </a:lnTo>
                  <a:lnTo>
                    <a:pt x="14785" y="1718182"/>
                  </a:lnTo>
                  <a:lnTo>
                    <a:pt x="9500" y="1765971"/>
                  </a:lnTo>
                  <a:lnTo>
                    <a:pt x="5364" y="1814098"/>
                  </a:lnTo>
                  <a:lnTo>
                    <a:pt x="2393" y="1862549"/>
                  </a:lnTo>
                  <a:lnTo>
                    <a:pt x="600" y="1911309"/>
                  </a:lnTo>
                  <a:lnTo>
                    <a:pt x="0" y="1960365"/>
                  </a:lnTo>
                  <a:lnTo>
                    <a:pt x="0" y="3161604"/>
                  </a:lnTo>
                  <a:lnTo>
                    <a:pt x="48423" y="3161018"/>
                  </a:lnTo>
                  <a:lnTo>
                    <a:pt x="96558" y="3159271"/>
                  </a:lnTo>
                  <a:lnTo>
                    <a:pt x="144393" y="3156376"/>
                  </a:lnTo>
                  <a:lnTo>
                    <a:pt x="191912" y="3152346"/>
                  </a:lnTo>
                  <a:lnTo>
                    <a:pt x="239103" y="3147194"/>
                  </a:lnTo>
                  <a:lnTo>
                    <a:pt x="285952" y="3140935"/>
                  </a:lnTo>
                  <a:lnTo>
                    <a:pt x="332446" y="3133581"/>
                  </a:lnTo>
                  <a:lnTo>
                    <a:pt x="378572" y="3125145"/>
                  </a:lnTo>
                  <a:lnTo>
                    <a:pt x="424316" y="3115643"/>
                  </a:lnTo>
                  <a:lnTo>
                    <a:pt x="469664" y="3105086"/>
                  </a:lnTo>
                  <a:lnTo>
                    <a:pt x="514603" y="3093488"/>
                  </a:lnTo>
                  <a:lnTo>
                    <a:pt x="559120" y="3080863"/>
                  </a:lnTo>
                  <a:lnTo>
                    <a:pt x="603201" y="3067225"/>
                  </a:lnTo>
                  <a:lnTo>
                    <a:pt x="646833" y="3052586"/>
                  </a:lnTo>
                  <a:lnTo>
                    <a:pt x="690002" y="3036960"/>
                  </a:lnTo>
                  <a:lnTo>
                    <a:pt x="732695" y="3020360"/>
                  </a:lnTo>
                  <a:lnTo>
                    <a:pt x="774899" y="3002800"/>
                  </a:lnTo>
                  <a:lnTo>
                    <a:pt x="816599" y="2984294"/>
                  </a:lnTo>
                  <a:lnTo>
                    <a:pt x="857783" y="2964854"/>
                  </a:lnTo>
                  <a:lnTo>
                    <a:pt x="898438" y="2944495"/>
                  </a:lnTo>
                  <a:lnTo>
                    <a:pt x="938548" y="2923230"/>
                  </a:lnTo>
                  <a:lnTo>
                    <a:pt x="978102" y="2901071"/>
                  </a:lnTo>
                  <a:lnTo>
                    <a:pt x="1017086" y="2878034"/>
                  </a:lnTo>
                  <a:lnTo>
                    <a:pt x="1055486" y="2854130"/>
                  </a:lnTo>
                  <a:lnTo>
                    <a:pt x="1093289" y="2829373"/>
                  </a:lnTo>
                  <a:lnTo>
                    <a:pt x="1130482" y="2803778"/>
                  </a:lnTo>
                  <a:lnTo>
                    <a:pt x="1167050" y="2777357"/>
                  </a:lnTo>
                  <a:lnTo>
                    <a:pt x="1202981" y="2750124"/>
                  </a:lnTo>
                  <a:lnTo>
                    <a:pt x="1238262" y="2722092"/>
                  </a:lnTo>
                  <a:lnTo>
                    <a:pt x="1272877" y="2693274"/>
                  </a:lnTo>
                  <a:lnTo>
                    <a:pt x="1306815" y="2663685"/>
                  </a:lnTo>
                  <a:lnTo>
                    <a:pt x="1340062" y="2633338"/>
                  </a:lnTo>
                  <a:lnTo>
                    <a:pt x="1372605" y="2602245"/>
                  </a:lnTo>
                  <a:lnTo>
                    <a:pt x="1404429" y="2570421"/>
                  </a:lnTo>
                  <a:lnTo>
                    <a:pt x="1435521" y="2537879"/>
                  </a:lnTo>
                  <a:lnTo>
                    <a:pt x="1465869" y="2504632"/>
                  </a:lnTo>
                  <a:lnTo>
                    <a:pt x="1495458" y="2470694"/>
                  </a:lnTo>
                  <a:lnTo>
                    <a:pt x="1524275" y="2436078"/>
                  </a:lnTo>
                  <a:lnTo>
                    <a:pt x="1552307" y="2400798"/>
                  </a:lnTo>
                  <a:lnTo>
                    <a:pt x="1579540" y="2364867"/>
                  </a:lnTo>
                  <a:lnTo>
                    <a:pt x="1605961" y="2328298"/>
                  </a:lnTo>
                  <a:lnTo>
                    <a:pt x="1631557" y="2291106"/>
                  </a:lnTo>
                  <a:lnTo>
                    <a:pt x="1656313" y="2253303"/>
                  </a:lnTo>
                  <a:lnTo>
                    <a:pt x="1680217" y="2214903"/>
                  </a:lnTo>
                  <a:lnTo>
                    <a:pt x="1703255" y="2175919"/>
                  </a:lnTo>
                  <a:lnTo>
                    <a:pt x="1725413" y="2136365"/>
                  </a:lnTo>
                  <a:lnTo>
                    <a:pt x="1746678" y="2096254"/>
                  </a:lnTo>
                  <a:lnTo>
                    <a:pt x="1767038" y="2055600"/>
                  </a:lnTo>
                  <a:lnTo>
                    <a:pt x="1786477" y="2014416"/>
                  </a:lnTo>
                  <a:lnTo>
                    <a:pt x="1804983" y="1972715"/>
                  </a:lnTo>
                  <a:lnTo>
                    <a:pt x="1822543" y="1930512"/>
                  </a:lnTo>
                  <a:lnTo>
                    <a:pt x="1839143" y="1887819"/>
                  </a:lnTo>
                  <a:lnTo>
                    <a:pt x="1854769" y="1844650"/>
                  </a:lnTo>
                  <a:lnTo>
                    <a:pt x="1869408" y="1801018"/>
                  </a:lnTo>
                  <a:lnTo>
                    <a:pt x="1883047" y="1756937"/>
                  </a:lnTo>
                  <a:lnTo>
                    <a:pt x="1895671" y="1712420"/>
                  </a:lnTo>
                  <a:lnTo>
                    <a:pt x="1907269" y="1667481"/>
                  </a:lnTo>
                  <a:lnTo>
                    <a:pt x="1917826" y="1622132"/>
                  </a:lnTo>
                  <a:lnTo>
                    <a:pt x="1927206" y="1576979"/>
                  </a:lnTo>
                  <a:lnTo>
                    <a:pt x="1935687" y="1530680"/>
                  </a:lnTo>
                  <a:lnTo>
                    <a:pt x="1943118" y="1483769"/>
                  </a:lnTo>
                  <a:lnTo>
                    <a:pt x="1949377" y="1436920"/>
                  </a:lnTo>
                  <a:lnTo>
                    <a:pt x="1954529" y="1389729"/>
                  </a:lnTo>
                  <a:lnTo>
                    <a:pt x="1958559" y="1342209"/>
                  </a:lnTo>
                  <a:lnTo>
                    <a:pt x="1961454" y="1294375"/>
                  </a:lnTo>
                  <a:lnTo>
                    <a:pt x="1963201" y="1246240"/>
                  </a:lnTo>
                  <a:lnTo>
                    <a:pt x="1963787" y="1197817"/>
                  </a:lnTo>
                  <a:lnTo>
                    <a:pt x="1963754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264425" y="0"/>
              <a:ext cx="1964055" cy="3161665"/>
            </a:xfrm>
            <a:custGeom>
              <a:avLst/>
              <a:gdLst/>
              <a:ahLst/>
              <a:cxnLst/>
              <a:rect l="l" t="t" r="r" b="b"/>
              <a:pathLst>
                <a:path w="1964054" h="3161665">
                  <a:moveTo>
                    <a:pt x="67731" y="0"/>
                  </a:moveTo>
                  <a:lnTo>
                    <a:pt x="34" y="0"/>
                  </a:lnTo>
                  <a:lnTo>
                    <a:pt x="0" y="1197817"/>
                  </a:lnTo>
                  <a:lnTo>
                    <a:pt x="585" y="1246240"/>
                  </a:lnTo>
                  <a:lnTo>
                    <a:pt x="2332" y="1294375"/>
                  </a:lnTo>
                  <a:lnTo>
                    <a:pt x="5227" y="1342209"/>
                  </a:lnTo>
                  <a:lnTo>
                    <a:pt x="9257" y="1389729"/>
                  </a:lnTo>
                  <a:lnTo>
                    <a:pt x="14409" y="1436920"/>
                  </a:lnTo>
                  <a:lnTo>
                    <a:pt x="20668" y="1483769"/>
                  </a:lnTo>
                  <a:lnTo>
                    <a:pt x="28022" y="1530263"/>
                  </a:lnTo>
                  <a:lnTo>
                    <a:pt x="36458" y="1576389"/>
                  </a:lnTo>
                  <a:lnTo>
                    <a:pt x="45960" y="1622132"/>
                  </a:lnTo>
                  <a:lnTo>
                    <a:pt x="56517" y="1667481"/>
                  </a:lnTo>
                  <a:lnTo>
                    <a:pt x="68115" y="1712420"/>
                  </a:lnTo>
                  <a:lnTo>
                    <a:pt x="80740" y="1756937"/>
                  </a:lnTo>
                  <a:lnTo>
                    <a:pt x="94378" y="1801018"/>
                  </a:lnTo>
                  <a:lnTo>
                    <a:pt x="109017" y="1844650"/>
                  </a:lnTo>
                  <a:lnTo>
                    <a:pt x="124644" y="1887819"/>
                  </a:lnTo>
                  <a:lnTo>
                    <a:pt x="141243" y="1930512"/>
                  </a:lnTo>
                  <a:lnTo>
                    <a:pt x="158803" y="1972715"/>
                  </a:lnTo>
                  <a:lnTo>
                    <a:pt x="177309" y="2014416"/>
                  </a:lnTo>
                  <a:lnTo>
                    <a:pt x="196749" y="2055600"/>
                  </a:lnTo>
                  <a:lnTo>
                    <a:pt x="217108" y="2096254"/>
                  </a:lnTo>
                  <a:lnTo>
                    <a:pt x="238373" y="2136365"/>
                  </a:lnTo>
                  <a:lnTo>
                    <a:pt x="260532" y="2175919"/>
                  </a:lnTo>
                  <a:lnTo>
                    <a:pt x="283570" y="2214903"/>
                  </a:lnTo>
                  <a:lnTo>
                    <a:pt x="307473" y="2253303"/>
                  </a:lnTo>
                  <a:lnTo>
                    <a:pt x="332230" y="2291106"/>
                  </a:lnTo>
                  <a:lnTo>
                    <a:pt x="357825" y="2328298"/>
                  </a:lnTo>
                  <a:lnTo>
                    <a:pt x="384246" y="2364867"/>
                  </a:lnTo>
                  <a:lnTo>
                    <a:pt x="411479" y="2400798"/>
                  </a:lnTo>
                  <a:lnTo>
                    <a:pt x="439511" y="2436078"/>
                  </a:lnTo>
                  <a:lnTo>
                    <a:pt x="468329" y="2470694"/>
                  </a:lnTo>
                  <a:lnTo>
                    <a:pt x="497918" y="2504632"/>
                  </a:lnTo>
                  <a:lnTo>
                    <a:pt x="528265" y="2537879"/>
                  </a:lnTo>
                  <a:lnTo>
                    <a:pt x="559358" y="2570421"/>
                  </a:lnTo>
                  <a:lnTo>
                    <a:pt x="591182" y="2602245"/>
                  </a:lnTo>
                  <a:lnTo>
                    <a:pt x="623724" y="2633338"/>
                  </a:lnTo>
                  <a:lnTo>
                    <a:pt x="656971" y="2663685"/>
                  </a:lnTo>
                  <a:lnTo>
                    <a:pt x="690909" y="2693274"/>
                  </a:lnTo>
                  <a:lnTo>
                    <a:pt x="725525" y="2722092"/>
                  </a:lnTo>
                  <a:lnTo>
                    <a:pt x="760805" y="2750124"/>
                  </a:lnTo>
                  <a:lnTo>
                    <a:pt x="796736" y="2777357"/>
                  </a:lnTo>
                  <a:lnTo>
                    <a:pt x="833305" y="2803778"/>
                  </a:lnTo>
                  <a:lnTo>
                    <a:pt x="870497" y="2829373"/>
                  </a:lnTo>
                  <a:lnTo>
                    <a:pt x="908300" y="2854130"/>
                  </a:lnTo>
                  <a:lnTo>
                    <a:pt x="946700" y="2878034"/>
                  </a:lnTo>
                  <a:lnTo>
                    <a:pt x="985684" y="2901071"/>
                  </a:lnTo>
                  <a:lnTo>
                    <a:pt x="1025238" y="2923230"/>
                  </a:lnTo>
                  <a:lnTo>
                    <a:pt x="1065349" y="2944495"/>
                  </a:lnTo>
                  <a:lnTo>
                    <a:pt x="1106003" y="2964854"/>
                  </a:lnTo>
                  <a:lnTo>
                    <a:pt x="1147187" y="2984294"/>
                  </a:lnTo>
                  <a:lnTo>
                    <a:pt x="1188888" y="3002800"/>
                  </a:lnTo>
                  <a:lnTo>
                    <a:pt x="1231091" y="3020360"/>
                  </a:lnTo>
                  <a:lnTo>
                    <a:pt x="1273784" y="3036960"/>
                  </a:lnTo>
                  <a:lnTo>
                    <a:pt x="1316953" y="3052586"/>
                  </a:lnTo>
                  <a:lnTo>
                    <a:pt x="1360585" y="3067225"/>
                  </a:lnTo>
                  <a:lnTo>
                    <a:pt x="1404666" y="3080863"/>
                  </a:lnTo>
                  <a:lnTo>
                    <a:pt x="1449183" y="3093488"/>
                  </a:lnTo>
                  <a:lnTo>
                    <a:pt x="1494122" y="3105086"/>
                  </a:lnTo>
                  <a:lnTo>
                    <a:pt x="1539471" y="3115643"/>
                  </a:lnTo>
                  <a:lnTo>
                    <a:pt x="1585214" y="3125145"/>
                  </a:lnTo>
                  <a:lnTo>
                    <a:pt x="1631340" y="3133581"/>
                  </a:lnTo>
                  <a:lnTo>
                    <a:pt x="1677834" y="3140935"/>
                  </a:lnTo>
                  <a:lnTo>
                    <a:pt x="1724683" y="3147194"/>
                  </a:lnTo>
                  <a:lnTo>
                    <a:pt x="1771874" y="3152346"/>
                  </a:lnTo>
                  <a:lnTo>
                    <a:pt x="1819394" y="3156376"/>
                  </a:lnTo>
                  <a:lnTo>
                    <a:pt x="1867228" y="3159271"/>
                  </a:lnTo>
                  <a:lnTo>
                    <a:pt x="1915363" y="3161018"/>
                  </a:lnTo>
                  <a:lnTo>
                    <a:pt x="1963787" y="3161604"/>
                  </a:lnTo>
                  <a:lnTo>
                    <a:pt x="1963787" y="1960365"/>
                  </a:lnTo>
                  <a:lnTo>
                    <a:pt x="1963186" y="1911309"/>
                  </a:lnTo>
                  <a:lnTo>
                    <a:pt x="1961393" y="1862549"/>
                  </a:lnTo>
                  <a:lnTo>
                    <a:pt x="1958422" y="1814098"/>
                  </a:lnTo>
                  <a:lnTo>
                    <a:pt x="1954286" y="1765971"/>
                  </a:lnTo>
                  <a:lnTo>
                    <a:pt x="1949001" y="1718182"/>
                  </a:lnTo>
                  <a:lnTo>
                    <a:pt x="1942579" y="1670744"/>
                  </a:lnTo>
                  <a:lnTo>
                    <a:pt x="1935035" y="1623672"/>
                  </a:lnTo>
                  <a:lnTo>
                    <a:pt x="1926382" y="1576979"/>
                  </a:lnTo>
                  <a:lnTo>
                    <a:pt x="1916635" y="1530680"/>
                  </a:lnTo>
                  <a:lnTo>
                    <a:pt x="1905808" y="1484788"/>
                  </a:lnTo>
                  <a:lnTo>
                    <a:pt x="1893914" y="1439318"/>
                  </a:lnTo>
                  <a:lnTo>
                    <a:pt x="1880969" y="1394284"/>
                  </a:lnTo>
                  <a:lnTo>
                    <a:pt x="1866984" y="1349698"/>
                  </a:lnTo>
                  <a:lnTo>
                    <a:pt x="1851975" y="1305577"/>
                  </a:lnTo>
                  <a:lnTo>
                    <a:pt x="1835956" y="1261933"/>
                  </a:lnTo>
                  <a:lnTo>
                    <a:pt x="1818940" y="1218780"/>
                  </a:lnTo>
                  <a:lnTo>
                    <a:pt x="1800942" y="1176132"/>
                  </a:lnTo>
                  <a:lnTo>
                    <a:pt x="1781975" y="1134004"/>
                  </a:lnTo>
                  <a:lnTo>
                    <a:pt x="1762054" y="1092409"/>
                  </a:lnTo>
                  <a:lnTo>
                    <a:pt x="1741192" y="1051362"/>
                  </a:lnTo>
                  <a:lnTo>
                    <a:pt x="1719403" y="1010876"/>
                  </a:lnTo>
                  <a:lnTo>
                    <a:pt x="1696702" y="970965"/>
                  </a:lnTo>
                  <a:lnTo>
                    <a:pt x="1673102" y="931643"/>
                  </a:lnTo>
                  <a:lnTo>
                    <a:pt x="1648618" y="892924"/>
                  </a:lnTo>
                  <a:lnTo>
                    <a:pt x="1623263" y="854823"/>
                  </a:lnTo>
                  <a:lnTo>
                    <a:pt x="1597051" y="817353"/>
                  </a:lnTo>
                  <a:lnTo>
                    <a:pt x="1569996" y="780528"/>
                  </a:lnTo>
                  <a:lnTo>
                    <a:pt x="1542113" y="744362"/>
                  </a:lnTo>
                  <a:lnTo>
                    <a:pt x="1513415" y="708870"/>
                  </a:lnTo>
                  <a:lnTo>
                    <a:pt x="1483916" y="674064"/>
                  </a:lnTo>
                  <a:lnTo>
                    <a:pt x="1453630" y="639960"/>
                  </a:lnTo>
                  <a:lnTo>
                    <a:pt x="1422572" y="606570"/>
                  </a:lnTo>
                  <a:lnTo>
                    <a:pt x="1390755" y="573910"/>
                  </a:lnTo>
                  <a:lnTo>
                    <a:pt x="1358192" y="541992"/>
                  </a:lnTo>
                  <a:lnTo>
                    <a:pt x="1324899" y="510832"/>
                  </a:lnTo>
                  <a:lnTo>
                    <a:pt x="1290889" y="480442"/>
                  </a:lnTo>
                  <a:lnTo>
                    <a:pt x="1256176" y="450838"/>
                  </a:lnTo>
                  <a:lnTo>
                    <a:pt x="1220774" y="422032"/>
                  </a:lnTo>
                  <a:lnTo>
                    <a:pt x="1184697" y="394040"/>
                  </a:lnTo>
                  <a:lnTo>
                    <a:pt x="1147960" y="366874"/>
                  </a:lnTo>
                  <a:lnTo>
                    <a:pt x="1110575" y="340549"/>
                  </a:lnTo>
                  <a:lnTo>
                    <a:pt x="1072557" y="315079"/>
                  </a:lnTo>
                  <a:lnTo>
                    <a:pt x="1033920" y="290478"/>
                  </a:lnTo>
                  <a:lnTo>
                    <a:pt x="994678" y="266759"/>
                  </a:lnTo>
                  <a:lnTo>
                    <a:pt x="954844" y="243937"/>
                  </a:lnTo>
                  <a:lnTo>
                    <a:pt x="914434" y="222026"/>
                  </a:lnTo>
                  <a:lnTo>
                    <a:pt x="873460" y="201040"/>
                  </a:lnTo>
                  <a:lnTo>
                    <a:pt x="831938" y="180993"/>
                  </a:lnTo>
                  <a:lnTo>
                    <a:pt x="789880" y="161898"/>
                  </a:lnTo>
                  <a:lnTo>
                    <a:pt x="747301" y="143769"/>
                  </a:lnTo>
                  <a:lnTo>
                    <a:pt x="704215" y="126622"/>
                  </a:lnTo>
                  <a:lnTo>
                    <a:pt x="660635" y="110469"/>
                  </a:lnTo>
                  <a:lnTo>
                    <a:pt x="616576" y="95325"/>
                  </a:lnTo>
                  <a:lnTo>
                    <a:pt x="572052" y="81203"/>
                  </a:lnTo>
                  <a:lnTo>
                    <a:pt x="527076" y="68118"/>
                  </a:lnTo>
                  <a:lnTo>
                    <a:pt x="481664" y="56083"/>
                  </a:lnTo>
                  <a:lnTo>
                    <a:pt x="435827" y="45113"/>
                  </a:lnTo>
                  <a:lnTo>
                    <a:pt x="389582" y="35221"/>
                  </a:lnTo>
                  <a:lnTo>
                    <a:pt x="342941" y="26422"/>
                  </a:lnTo>
                  <a:lnTo>
                    <a:pt x="295918" y="18729"/>
                  </a:lnTo>
                  <a:lnTo>
                    <a:pt x="248529" y="12157"/>
                  </a:lnTo>
                  <a:lnTo>
                    <a:pt x="200785" y="6719"/>
                  </a:lnTo>
                  <a:lnTo>
                    <a:pt x="67731" y="0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0" y="-1"/>
            <a:ext cx="1167765" cy="1167765"/>
          </a:xfrm>
          <a:custGeom>
            <a:avLst/>
            <a:gdLst/>
            <a:ahLst/>
            <a:cxnLst/>
            <a:rect l="l" t="t" r="r" b="b"/>
            <a:pathLst>
              <a:path w="1167765" h="1167765">
                <a:moveTo>
                  <a:pt x="1167492" y="0"/>
                </a:moveTo>
                <a:lnTo>
                  <a:pt x="0" y="0"/>
                </a:lnTo>
                <a:lnTo>
                  <a:pt x="0" y="1167493"/>
                </a:lnTo>
                <a:lnTo>
                  <a:pt x="48123" y="1166519"/>
                </a:lnTo>
                <a:lnTo>
                  <a:pt x="95752" y="1163623"/>
                </a:lnTo>
                <a:lnTo>
                  <a:pt x="142848" y="1158841"/>
                </a:lnTo>
                <a:lnTo>
                  <a:pt x="189373" y="1152212"/>
                </a:lnTo>
                <a:lnTo>
                  <a:pt x="235290" y="1143773"/>
                </a:lnTo>
                <a:lnTo>
                  <a:pt x="280561" y="1133562"/>
                </a:lnTo>
                <a:lnTo>
                  <a:pt x="325150" y="1121616"/>
                </a:lnTo>
                <a:lnTo>
                  <a:pt x="369017" y="1107973"/>
                </a:lnTo>
                <a:lnTo>
                  <a:pt x="412127" y="1092670"/>
                </a:lnTo>
                <a:lnTo>
                  <a:pt x="454440" y="1075746"/>
                </a:lnTo>
                <a:lnTo>
                  <a:pt x="495920" y="1057236"/>
                </a:lnTo>
                <a:lnTo>
                  <a:pt x="536530" y="1037180"/>
                </a:lnTo>
                <a:lnTo>
                  <a:pt x="576230" y="1015614"/>
                </a:lnTo>
                <a:lnTo>
                  <a:pt x="614985" y="992576"/>
                </a:lnTo>
                <a:lnTo>
                  <a:pt x="652756" y="968104"/>
                </a:lnTo>
                <a:lnTo>
                  <a:pt x="689506" y="942235"/>
                </a:lnTo>
                <a:lnTo>
                  <a:pt x="725197" y="915007"/>
                </a:lnTo>
                <a:lnTo>
                  <a:pt x="759791" y="886457"/>
                </a:lnTo>
                <a:lnTo>
                  <a:pt x="793252" y="856623"/>
                </a:lnTo>
                <a:lnTo>
                  <a:pt x="825542" y="825543"/>
                </a:lnTo>
                <a:lnTo>
                  <a:pt x="856622" y="793253"/>
                </a:lnTo>
                <a:lnTo>
                  <a:pt x="886456" y="759792"/>
                </a:lnTo>
                <a:lnTo>
                  <a:pt x="915006" y="725198"/>
                </a:lnTo>
                <a:lnTo>
                  <a:pt x="942234" y="689507"/>
                </a:lnTo>
                <a:lnTo>
                  <a:pt x="968103" y="652757"/>
                </a:lnTo>
                <a:lnTo>
                  <a:pt x="992575" y="614986"/>
                </a:lnTo>
                <a:lnTo>
                  <a:pt x="1015613" y="576231"/>
                </a:lnTo>
                <a:lnTo>
                  <a:pt x="1037179" y="536531"/>
                </a:lnTo>
                <a:lnTo>
                  <a:pt x="1057236" y="495921"/>
                </a:lnTo>
                <a:lnTo>
                  <a:pt x="1075745" y="454441"/>
                </a:lnTo>
                <a:lnTo>
                  <a:pt x="1092670" y="412128"/>
                </a:lnTo>
                <a:lnTo>
                  <a:pt x="1107973" y="369018"/>
                </a:lnTo>
                <a:lnTo>
                  <a:pt x="1121616" y="325151"/>
                </a:lnTo>
                <a:lnTo>
                  <a:pt x="1133562" y="280562"/>
                </a:lnTo>
                <a:lnTo>
                  <a:pt x="1143773" y="235291"/>
                </a:lnTo>
                <a:lnTo>
                  <a:pt x="1152212" y="189373"/>
                </a:lnTo>
                <a:lnTo>
                  <a:pt x="1158841" y="142848"/>
                </a:lnTo>
                <a:lnTo>
                  <a:pt x="1163622" y="95752"/>
                </a:lnTo>
                <a:lnTo>
                  <a:pt x="1166519" y="48124"/>
                </a:lnTo>
                <a:lnTo>
                  <a:pt x="1167492" y="0"/>
                </a:lnTo>
                <a:close/>
              </a:path>
            </a:pathLst>
          </a:custGeom>
          <a:solidFill>
            <a:srgbClr val="36A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024506" y="4580708"/>
            <a:ext cx="1167765" cy="2277745"/>
          </a:xfrm>
          <a:custGeom>
            <a:avLst/>
            <a:gdLst/>
            <a:ahLst/>
            <a:cxnLst/>
            <a:rect l="l" t="t" r="r" b="b"/>
            <a:pathLst>
              <a:path w="1167765" h="2277745">
                <a:moveTo>
                  <a:pt x="1167472" y="0"/>
                </a:moveTo>
                <a:lnTo>
                  <a:pt x="1048124" y="6093"/>
                </a:lnTo>
                <a:lnTo>
                  <a:pt x="1000680" y="11956"/>
                </a:lnTo>
                <a:lnTo>
                  <a:pt x="953842" y="19718"/>
                </a:lnTo>
                <a:lnTo>
                  <a:pt x="907649" y="29339"/>
                </a:lnTo>
                <a:lnTo>
                  <a:pt x="862140" y="40780"/>
                </a:lnTo>
                <a:lnTo>
                  <a:pt x="817354" y="54001"/>
                </a:lnTo>
                <a:lnTo>
                  <a:pt x="773330" y="68962"/>
                </a:lnTo>
                <a:lnTo>
                  <a:pt x="730108" y="85624"/>
                </a:lnTo>
                <a:lnTo>
                  <a:pt x="687726" y="103947"/>
                </a:lnTo>
                <a:lnTo>
                  <a:pt x="646224" y="123892"/>
                </a:lnTo>
                <a:lnTo>
                  <a:pt x="605640" y="145420"/>
                </a:lnTo>
                <a:lnTo>
                  <a:pt x="566014" y="168490"/>
                </a:lnTo>
                <a:lnTo>
                  <a:pt x="527385" y="193064"/>
                </a:lnTo>
                <a:lnTo>
                  <a:pt x="489791" y="219102"/>
                </a:lnTo>
                <a:lnTo>
                  <a:pt x="453273" y="246563"/>
                </a:lnTo>
                <a:lnTo>
                  <a:pt x="417869" y="275410"/>
                </a:lnTo>
                <a:lnTo>
                  <a:pt x="383618" y="305601"/>
                </a:lnTo>
                <a:lnTo>
                  <a:pt x="350560" y="337099"/>
                </a:lnTo>
                <a:lnTo>
                  <a:pt x="318733" y="369862"/>
                </a:lnTo>
                <a:lnTo>
                  <a:pt x="288176" y="403852"/>
                </a:lnTo>
                <a:lnTo>
                  <a:pt x="258929" y="439028"/>
                </a:lnTo>
                <a:lnTo>
                  <a:pt x="231031" y="475353"/>
                </a:lnTo>
                <a:lnTo>
                  <a:pt x="204521" y="512785"/>
                </a:lnTo>
                <a:lnTo>
                  <a:pt x="179438" y="551286"/>
                </a:lnTo>
                <a:lnTo>
                  <a:pt x="155821" y="590815"/>
                </a:lnTo>
                <a:lnTo>
                  <a:pt x="133709" y="631334"/>
                </a:lnTo>
                <a:lnTo>
                  <a:pt x="113141" y="672803"/>
                </a:lnTo>
                <a:lnTo>
                  <a:pt x="94156" y="715182"/>
                </a:lnTo>
                <a:lnTo>
                  <a:pt x="76795" y="758432"/>
                </a:lnTo>
                <a:lnTo>
                  <a:pt x="61094" y="802514"/>
                </a:lnTo>
                <a:lnTo>
                  <a:pt x="47094" y="847386"/>
                </a:lnTo>
                <a:lnTo>
                  <a:pt x="34834" y="893011"/>
                </a:lnTo>
                <a:lnTo>
                  <a:pt x="24353" y="939349"/>
                </a:lnTo>
                <a:lnTo>
                  <a:pt x="15690" y="986360"/>
                </a:lnTo>
                <a:lnTo>
                  <a:pt x="8884" y="1034004"/>
                </a:lnTo>
                <a:lnTo>
                  <a:pt x="3974" y="1082243"/>
                </a:lnTo>
                <a:lnTo>
                  <a:pt x="1000" y="1131035"/>
                </a:lnTo>
                <a:lnTo>
                  <a:pt x="0" y="1180343"/>
                </a:lnTo>
                <a:lnTo>
                  <a:pt x="0" y="2277291"/>
                </a:lnTo>
                <a:lnTo>
                  <a:pt x="1167493" y="2277291"/>
                </a:lnTo>
                <a:lnTo>
                  <a:pt x="1167472" y="0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31456" y="968427"/>
            <a:ext cx="11728450" cy="166116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551180" marR="544195" algn="ctr">
              <a:lnSpc>
                <a:spcPts val="3100"/>
              </a:lnSpc>
              <a:spcBef>
                <a:spcPts val="755"/>
              </a:spcBef>
            </a:pPr>
            <a:r>
              <a:rPr sz="3100" dirty="0"/>
              <a:t>“</a:t>
            </a:r>
            <a:r>
              <a:rPr sz="2750" dirty="0"/>
              <a:t>A</a:t>
            </a:r>
            <a:r>
              <a:rPr sz="2750" spc="45" dirty="0"/>
              <a:t> </a:t>
            </a:r>
            <a:r>
              <a:rPr sz="2750" spc="-20" dirty="0"/>
              <a:t>COMPARATIVE</a:t>
            </a:r>
            <a:r>
              <a:rPr sz="2750" spc="60" dirty="0"/>
              <a:t> </a:t>
            </a:r>
            <a:r>
              <a:rPr sz="2750" dirty="0"/>
              <a:t>STUDY</a:t>
            </a:r>
            <a:r>
              <a:rPr sz="2750" spc="45" dirty="0"/>
              <a:t> </a:t>
            </a:r>
            <a:r>
              <a:rPr sz="2750" dirty="0"/>
              <a:t>OF</a:t>
            </a:r>
            <a:r>
              <a:rPr sz="2750" spc="50" dirty="0"/>
              <a:t> </a:t>
            </a:r>
            <a:r>
              <a:rPr sz="2750" dirty="0"/>
              <a:t>FUNCTIONAL</a:t>
            </a:r>
            <a:r>
              <a:rPr sz="2750" spc="50" dirty="0"/>
              <a:t> </a:t>
            </a:r>
            <a:r>
              <a:rPr sz="2750" dirty="0"/>
              <a:t>RESULTS</a:t>
            </a:r>
            <a:r>
              <a:rPr sz="2750" spc="60" dirty="0"/>
              <a:t> </a:t>
            </a:r>
            <a:r>
              <a:rPr sz="2750" dirty="0"/>
              <a:t>OF</a:t>
            </a:r>
            <a:r>
              <a:rPr sz="2750" spc="55" dirty="0"/>
              <a:t> </a:t>
            </a:r>
            <a:r>
              <a:rPr sz="2750" dirty="0"/>
              <a:t>CEMENTED</a:t>
            </a:r>
            <a:r>
              <a:rPr sz="2750" spc="50" dirty="0"/>
              <a:t> </a:t>
            </a:r>
            <a:r>
              <a:rPr sz="2750" spc="-10" dirty="0"/>
              <a:t>VERSUS </a:t>
            </a:r>
            <a:r>
              <a:rPr sz="2750" dirty="0"/>
              <a:t>UNCEMENTED</a:t>
            </a:r>
            <a:r>
              <a:rPr sz="2750" spc="170" dirty="0"/>
              <a:t> </a:t>
            </a:r>
            <a:r>
              <a:rPr sz="2750" dirty="0"/>
              <a:t>HEMIARTHROPLASTY</a:t>
            </a:r>
            <a:r>
              <a:rPr sz="2750" spc="170" dirty="0"/>
              <a:t> </a:t>
            </a:r>
            <a:r>
              <a:rPr sz="2750" dirty="0"/>
              <a:t>USING</a:t>
            </a:r>
            <a:r>
              <a:rPr sz="2750" spc="175" dirty="0"/>
              <a:t> </a:t>
            </a:r>
            <a:r>
              <a:rPr sz="2750" spc="-10" dirty="0"/>
              <a:t>BIPOLAR</a:t>
            </a:r>
            <a:endParaRPr sz="2750"/>
          </a:p>
          <a:p>
            <a:pPr marL="12700" marR="5080" algn="ctr">
              <a:lnSpc>
                <a:spcPts val="3000"/>
              </a:lnSpc>
              <a:spcBef>
                <a:spcPts val="75"/>
              </a:spcBef>
              <a:tabLst>
                <a:tab pos="2930525" algn="l"/>
              </a:tabLst>
            </a:pPr>
            <a:r>
              <a:rPr sz="2750" dirty="0"/>
              <a:t>PROSTHESIS</a:t>
            </a:r>
            <a:r>
              <a:rPr sz="2750" spc="75" dirty="0"/>
              <a:t> </a:t>
            </a:r>
            <a:r>
              <a:rPr sz="2750" dirty="0"/>
              <a:t>IN</a:t>
            </a:r>
            <a:r>
              <a:rPr sz="2750" spc="70" dirty="0"/>
              <a:t> </a:t>
            </a:r>
            <a:r>
              <a:rPr sz="2750" dirty="0"/>
              <a:t>THE</a:t>
            </a:r>
            <a:r>
              <a:rPr sz="2750" spc="75" dirty="0"/>
              <a:t> </a:t>
            </a:r>
            <a:r>
              <a:rPr sz="2750" dirty="0"/>
              <a:t>TREATMENT</a:t>
            </a:r>
            <a:r>
              <a:rPr sz="2750" spc="65" dirty="0"/>
              <a:t> </a:t>
            </a:r>
            <a:r>
              <a:rPr sz="2750" dirty="0"/>
              <a:t>OF</a:t>
            </a:r>
            <a:r>
              <a:rPr sz="2750" spc="75" dirty="0"/>
              <a:t> </a:t>
            </a:r>
            <a:r>
              <a:rPr sz="2750" dirty="0"/>
              <a:t>INTRA</a:t>
            </a:r>
            <a:r>
              <a:rPr sz="2750" spc="65" dirty="0"/>
              <a:t> </a:t>
            </a:r>
            <a:r>
              <a:rPr sz="2750" dirty="0"/>
              <a:t>CAPSULAR</a:t>
            </a:r>
            <a:r>
              <a:rPr sz="2750" spc="65" dirty="0"/>
              <a:t> </a:t>
            </a:r>
            <a:r>
              <a:rPr sz="2750" dirty="0"/>
              <a:t>FEMORAL</a:t>
            </a:r>
            <a:r>
              <a:rPr sz="2750" spc="75" dirty="0"/>
              <a:t> </a:t>
            </a:r>
            <a:r>
              <a:rPr sz="2750" dirty="0"/>
              <a:t>NECK</a:t>
            </a:r>
            <a:r>
              <a:rPr sz="2750" spc="70" dirty="0"/>
              <a:t> </a:t>
            </a:r>
            <a:r>
              <a:rPr sz="2750" spc="-10" dirty="0"/>
              <a:t>FRACTURES </a:t>
            </a:r>
            <a:r>
              <a:rPr sz="2750" dirty="0"/>
              <a:t>IN</a:t>
            </a:r>
            <a:r>
              <a:rPr sz="2750" spc="-20" dirty="0"/>
              <a:t> </a:t>
            </a:r>
            <a:r>
              <a:rPr sz="2750" dirty="0"/>
              <a:t>ELDERLY</a:t>
            </a:r>
            <a:r>
              <a:rPr sz="2750" spc="-20" dirty="0"/>
              <a:t> </a:t>
            </a:r>
            <a:r>
              <a:rPr sz="2750" spc="-10" dirty="0"/>
              <a:t>PEOPLE</a:t>
            </a:r>
            <a:r>
              <a:rPr sz="2750" dirty="0"/>
              <a:t>	</a:t>
            </a:r>
            <a:r>
              <a:rPr sz="2750" spc="-50" dirty="0"/>
              <a:t>“</a:t>
            </a:r>
            <a:endParaRPr sz="2750"/>
          </a:p>
        </p:txBody>
      </p:sp>
      <p:sp>
        <p:nvSpPr>
          <p:cNvPr id="13" name="object 13"/>
          <p:cNvSpPr txBox="1"/>
          <p:nvPr/>
        </p:nvSpPr>
        <p:spPr>
          <a:xfrm>
            <a:off x="5527040" y="3910330"/>
            <a:ext cx="6414135" cy="139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8175" marR="5080" indent="-626110">
              <a:lnSpc>
                <a:spcPct val="125000"/>
              </a:lnSpc>
              <a:spcBef>
                <a:spcPts val="100"/>
              </a:spcBef>
              <a:tabLst>
                <a:tab pos="1722755" algn="l"/>
                <a:tab pos="3204845" algn="l"/>
              </a:tabLst>
            </a:pPr>
            <a:r>
              <a:rPr lang="en-US" altLang="" sz="2400" dirty="0">
                <a:latin typeface="Calibri" panose="020F0502020204030204"/>
                <a:cs typeface="Calibri" panose="020F0502020204030204"/>
              </a:rPr>
              <a:t>AUTHOR</a:t>
            </a:r>
            <a:r>
              <a:rPr sz="2400" dirty="0">
                <a:latin typeface="Calibri" panose="020F0502020204030204"/>
                <a:cs typeface="Calibri" panose="020F0502020204030204"/>
              </a:rPr>
              <a:t>: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DR.</a:t>
            </a:r>
            <a:r>
              <a:rPr lang="en-US" altLang="" sz="2400" dirty="0">
                <a:latin typeface="Calibri" panose="020F0502020204030204"/>
                <a:cs typeface="Calibri" panose="020F0502020204030204"/>
              </a:rPr>
              <a:t>JEEVAN VALLURU-POSTGRADUATE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endParaRPr sz="2400" spc="-50" dirty="0">
              <a:latin typeface="Calibri" panose="020F0502020204030204"/>
              <a:cs typeface="Calibri" panose="020F0502020204030204"/>
            </a:endParaRPr>
          </a:p>
          <a:p>
            <a:pPr marL="638175" marR="5080" indent="-626110">
              <a:lnSpc>
                <a:spcPct val="125000"/>
              </a:lnSpc>
              <a:spcBef>
                <a:spcPts val="100"/>
              </a:spcBef>
              <a:tabLst>
                <a:tab pos="1722755" algn="l"/>
                <a:tab pos="3204845" algn="l"/>
              </a:tabLst>
            </a:pPr>
            <a:r>
              <a:rPr lang="en-US" altLang="" sz="2400" spc="-10" dirty="0">
                <a:latin typeface="Calibri" panose="020F0502020204030204"/>
                <a:cs typeface="Calibri" panose="020F0502020204030204"/>
              </a:rPr>
              <a:t>CO-AUTHOR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:</a:t>
            </a:r>
            <a:r>
              <a:rPr sz="2400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DR.</a:t>
            </a:r>
            <a:r>
              <a:rPr lang="en-US" altLang="" sz="2400" spc="-10" dirty="0">
                <a:latin typeface="Calibri" panose="020F0502020204030204"/>
                <a:cs typeface="Calibri" panose="020F0502020204030204"/>
              </a:rPr>
              <a:t>NAESWARA RAO -HOD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69850">
              <a:lnSpc>
                <a:spcPct val="100000"/>
              </a:lnSpc>
              <a:spcBef>
                <a:spcPts val="600"/>
              </a:spcBef>
            </a:pPr>
            <a:r>
              <a:rPr lang="en-US" altLang="" sz="2400" dirty="0">
                <a:latin typeface="Calibri" panose="020F0502020204030204"/>
                <a:cs typeface="Calibri" panose="020F0502020204030204"/>
              </a:rPr>
              <a:t>GSL </a:t>
            </a:r>
            <a:r>
              <a:rPr sz="240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COLLEGE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,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" sz="2400" dirty="0">
                <a:latin typeface="Calibri" panose="020F0502020204030204"/>
                <a:cs typeface="Calibri" panose="020F0502020204030204"/>
              </a:rPr>
              <a:t>RAJAHMUNDRY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811" rIns="0" bIns="0" rtlCol="0">
            <a:spAutoFit/>
          </a:bodyPr>
          <a:lstStyle/>
          <a:p>
            <a:pPr marL="30930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1553971"/>
            <a:ext cx="8253095" cy="45186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30" marR="410210" indent="-227330">
              <a:lnSpc>
                <a:spcPct val="88000"/>
              </a:lnSpc>
              <a:spcBef>
                <a:spcPts val="4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Femoral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neck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fracture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(FNF)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common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injury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that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leads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increase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morbidity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mortality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postoperatively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old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age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patients.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665"/>
              </a:spcBef>
              <a:buFont typeface="Arial MT"/>
              <a:buChar char="•"/>
            </a:pPr>
            <a:endParaRPr sz="2400">
              <a:latin typeface="Calibri" panose="020F0502020204030204"/>
              <a:cs typeface="Calibri" panose="020F0502020204030204"/>
            </a:endParaRPr>
          </a:p>
          <a:p>
            <a:pPr marL="240030" marR="756285" indent="-227330">
              <a:lnSpc>
                <a:spcPct val="9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Two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arthroplasty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procedures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are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available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treatment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of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intracapsular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fractures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(displaced)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femur: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HHA(hemi- 	arthroplasty)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,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THA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(total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replacement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hip).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670"/>
              </a:spcBef>
              <a:buFont typeface="Arial MT"/>
              <a:buChar char="•"/>
            </a:pPr>
            <a:endParaRPr sz="2400">
              <a:latin typeface="Calibri" panose="020F0502020204030204"/>
              <a:cs typeface="Calibri" panose="020F0502020204030204"/>
            </a:endParaRPr>
          </a:p>
          <a:p>
            <a:pPr marL="240030" marR="5080" indent="-227330">
              <a:lnSpc>
                <a:spcPct val="9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present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study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was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taken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up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know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functional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outcome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clinical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outcomes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intracapsular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fracture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femoral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neck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with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bipolar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prosthesis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cemented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uncemented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hemi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arthroplasty.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64314" y="1121937"/>
            <a:ext cx="3317675" cy="46141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011" y="1617979"/>
            <a:ext cx="11400790" cy="36925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438150">
              <a:lnSpc>
                <a:spcPct val="100000"/>
              </a:lnSpc>
              <a:spcBef>
                <a:spcPts val="85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purpose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this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two-</a:t>
            </a:r>
            <a:r>
              <a:rPr sz="2400" dirty="0">
                <a:latin typeface="Calibri" panose="020F0502020204030204"/>
                <a:cs typeface="Calibri" panose="020F0502020204030204"/>
              </a:rPr>
              <a:t>centre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randomized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equivalence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trial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was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compare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a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hemiarthroplasty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using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cemented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implant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HA-</a:t>
            </a:r>
            <a:r>
              <a:rPr sz="2400" dirty="0">
                <a:latin typeface="Calibri" panose="020F0502020204030204"/>
                <a:cs typeface="Calibri" panose="020F0502020204030204"/>
              </a:rPr>
              <a:t>coated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proximal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press-</a:t>
            </a:r>
            <a:r>
              <a:rPr sz="2400" dirty="0">
                <a:latin typeface="Calibri" panose="020F0502020204030204"/>
                <a:cs typeface="Calibri" panose="020F0502020204030204"/>
              </a:rPr>
              <a:t>fit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uncemented </a:t>
            </a:r>
            <a:r>
              <a:rPr sz="2400" dirty="0">
                <a:latin typeface="Calibri" panose="020F0502020204030204"/>
                <a:cs typeface="Calibri" panose="020F0502020204030204"/>
              </a:rPr>
              <a:t>implant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following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three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research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aims: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2400">
              <a:latin typeface="Calibri" panose="020F0502020204030204"/>
              <a:cs typeface="Calibri" panose="020F0502020204030204"/>
            </a:endParaRPr>
          </a:p>
          <a:p>
            <a:pPr marL="354330" indent="-341630">
              <a:lnSpc>
                <a:spcPct val="100000"/>
              </a:lnSpc>
              <a:buSzPct val="96000"/>
              <a:buAutoNum type="arabicParenBoth"/>
              <a:tabLst>
                <a:tab pos="354330" algn="l"/>
              </a:tabLst>
            </a:pPr>
            <a:r>
              <a:rPr sz="2400" spc="-1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check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differences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intraoperative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events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,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be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detectable?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353695" marR="5080" indent="-341630">
              <a:lnSpc>
                <a:spcPct val="101000"/>
              </a:lnSpc>
              <a:spcBef>
                <a:spcPts val="2785"/>
              </a:spcBef>
              <a:buSzPct val="96000"/>
              <a:buAutoNum type="arabicParenBoth"/>
              <a:tabLst>
                <a:tab pos="35496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Are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there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any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differences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functional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outcome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quality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life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at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3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months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1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year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or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are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results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equivalent?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buFont typeface="Calibri" panose="020F0502020204030204"/>
              <a:buAutoNum type="arabicParenBoth"/>
            </a:pPr>
            <a:endParaRPr sz="2400">
              <a:latin typeface="Calibri" panose="020F0502020204030204"/>
              <a:cs typeface="Calibri" panose="020F0502020204030204"/>
            </a:endParaRPr>
          </a:p>
          <a:p>
            <a:pPr marL="421640" indent="-408940">
              <a:lnSpc>
                <a:spcPct val="100000"/>
              </a:lnSpc>
              <a:buSzPct val="96000"/>
              <a:buAutoNum type="arabicParenBoth"/>
              <a:tabLst>
                <a:tab pos="42164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Are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rates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postoperative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morbidity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mortality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similar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between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two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groups?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6635" rIns="0" bIns="0" rtlCol="0">
            <a:spAutoFit/>
          </a:bodyPr>
          <a:lstStyle/>
          <a:p>
            <a:pPr marL="4680585">
              <a:lnSpc>
                <a:spcPct val="100000"/>
              </a:lnSpc>
              <a:spcBef>
                <a:spcPts val="100"/>
              </a:spcBef>
            </a:pPr>
            <a:r>
              <a:rPr sz="5400" spc="-25" dirty="0">
                <a:latin typeface="Calibri" panose="020F0502020204030204"/>
                <a:cs typeface="Calibri" panose="020F0502020204030204"/>
              </a:rPr>
              <a:t>AIM</a:t>
            </a:r>
            <a:endParaRPr sz="5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957" y="1636776"/>
            <a:ext cx="188658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0" dirty="0">
                <a:latin typeface="Calibri" panose="020F0502020204030204"/>
                <a:cs typeface="Calibri" panose="020F0502020204030204"/>
              </a:rPr>
              <a:t>OBJECTIVES:</a:t>
            </a:r>
            <a:endParaRPr sz="2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957" y="2514600"/>
            <a:ext cx="1025906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30" indent="-2273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39395" algn="l"/>
              </a:tabLst>
            </a:pPr>
            <a:r>
              <a:rPr sz="2900" spc="-110" dirty="0">
                <a:latin typeface="Calibri" panose="020F0502020204030204"/>
                <a:cs typeface="Calibri" panose="020F0502020204030204"/>
              </a:rPr>
              <a:t>To</a:t>
            </a:r>
            <a:r>
              <a:rPr sz="29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10" dirty="0">
                <a:latin typeface="Calibri" panose="020F0502020204030204"/>
                <a:cs typeface="Calibri" panose="020F0502020204030204"/>
              </a:rPr>
              <a:t>evaluate</a:t>
            </a:r>
            <a:r>
              <a:rPr sz="29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30" dirty="0">
                <a:latin typeface="Calibri" panose="020F0502020204030204"/>
                <a:cs typeface="Calibri" panose="020F0502020204030204"/>
              </a:rPr>
              <a:t>intra-</a:t>
            </a:r>
            <a:r>
              <a:rPr sz="2900" spc="-10" dirty="0">
                <a:latin typeface="Calibri" panose="020F0502020204030204"/>
                <a:cs typeface="Calibri" panose="020F0502020204030204"/>
              </a:rPr>
              <a:t>operative</a:t>
            </a:r>
            <a:r>
              <a:rPr sz="29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and</a:t>
            </a:r>
            <a:r>
              <a:rPr sz="29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40" dirty="0">
                <a:latin typeface="Calibri" panose="020F0502020204030204"/>
                <a:cs typeface="Calibri" panose="020F0502020204030204"/>
              </a:rPr>
              <a:t>post-</a:t>
            </a:r>
            <a:r>
              <a:rPr sz="2900" spc="-10" dirty="0">
                <a:latin typeface="Calibri" panose="020F0502020204030204"/>
                <a:cs typeface="Calibri" panose="020F0502020204030204"/>
              </a:rPr>
              <a:t>operative</a:t>
            </a:r>
            <a:r>
              <a:rPr sz="29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events</a:t>
            </a:r>
            <a:r>
              <a:rPr sz="29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in</a:t>
            </a:r>
            <a:r>
              <a:rPr sz="29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10" dirty="0">
                <a:latin typeface="Calibri" panose="020F0502020204030204"/>
                <a:cs typeface="Calibri" panose="020F0502020204030204"/>
              </a:rPr>
              <a:t>cemented,</a:t>
            </a:r>
            <a:endParaRPr sz="2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9556" y="2819400"/>
            <a:ext cx="10520045" cy="78486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5080">
              <a:lnSpc>
                <a:spcPct val="72000"/>
              </a:lnSpc>
              <a:spcBef>
                <a:spcPts val="1085"/>
              </a:spcBef>
            </a:pPr>
            <a:r>
              <a:rPr sz="2900" spc="-10" dirty="0">
                <a:latin typeface="Calibri" panose="020F0502020204030204"/>
                <a:cs typeface="Calibri" panose="020F0502020204030204"/>
              </a:rPr>
              <a:t>uncemented</a:t>
            </a:r>
            <a:r>
              <a:rPr sz="29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10" dirty="0">
                <a:latin typeface="Calibri" panose="020F0502020204030204"/>
                <a:cs typeface="Calibri" panose="020F0502020204030204"/>
              </a:rPr>
              <a:t>hemiarthroplasty</a:t>
            </a:r>
            <a:r>
              <a:rPr sz="29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using</a:t>
            </a:r>
            <a:r>
              <a:rPr sz="29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bipolar</a:t>
            </a:r>
            <a:r>
              <a:rPr sz="29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10" dirty="0">
                <a:latin typeface="Calibri" panose="020F0502020204030204"/>
                <a:cs typeface="Calibri" panose="020F0502020204030204"/>
              </a:rPr>
              <a:t>prosthesis</a:t>
            </a:r>
            <a:r>
              <a:rPr sz="29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9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respect</a:t>
            </a:r>
            <a:r>
              <a:rPr sz="29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2900" dirty="0">
                <a:latin typeface="Calibri" panose="020F0502020204030204"/>
                <a:cs typeface="Calibri" panose="020F0502020204030204"/>
              </a:rPr>
              <a:t>surgery</a:t>
            </a:r>
            <a:r>
              <a:rPr sz="29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10" dirty="0">
                <a:latin typeface="Calibri" panose="020F0502020204030204"/>
                <a:cs typeface="Calibri" panose="020F0502020204030204"/>
              </a:rPr>
              <a:t>duration,</a:t>
            </a:r>
            <a:r>
              <a:rPr sz="29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blood</a:t>
            </a:r>
            <a:r>
              <a:rPr sz="29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10" dirty="0">
                <a:latin typeface="Calibri" panose="020F0502020204030204"/>
                <a:cs typeface="Calibri" panose="020F0502020204030204"/>
              </a:rPr>
              <a:t>loss.</a:t>
            </a:r>
            <a:endParaRPr sz="2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0957" y="3998976"/>
            <a:ext cx="1060132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30" indent="-2273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39395" algn="l"/>
              </a:tabLst>
            </a:pPr>
            <a:r>
              <a:rPr sz="2900" spc="-110" dirty="0">
                <a:latin typeface="Calibri" panose="020F0502020204030204"/>
                <a:cs typeface="Calibri" panose="020F0502020204030204"/>
              </a:rPr>
              <a:t>To</a:t>
            </a:r>
            <a:r>
              <a:rPr sz="29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study</a:t>
            </a:r>
            <a:r>
              <a:rPr sz="29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the</a:t>
            </a:r>
            <a:r>
              <a:rPr sz="29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end</a:t>
            </a:r>
            <a:r>
              <a:rPr sz="29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results</a:t>
            </a:r>
            <a:r>
              <a:rPr sz="29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of</a:t>
            </a:r>
            <a:r>
              <a:rPr sz="29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bipolar</a:t>
            </a:r>
            <a:r>
              <a:rPr sz="29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10" dirty="0">
                <a:latin typeface="Calibri" panose="020F0502020204030204"/>
                <a:cs typeface="Calibri" panose="020F0502020204030204"/>
              </a:rPr>
              <a:t>prosthesis</a:t>
            </a:r>
            <a:r>
              <a:rPr sz="29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9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respect</a:t>
            </a:r>
            <a:r>
              <a:rPr sz="29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to</a:t>
            </a:r>
            <a:r>
              <a:rPr sz="29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10" dirty="0">
                <a:latin typeface="Calibri" panose="020F0502020204030204"/>
                <a:cs typeface="Calibri" panose="020F0502020204030204"/>
              </a:rPr>
              <a:t>stability.</a:t>
            </a:r>
            <a:endParaRPr sz="2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0957" y="4876800"/>
            <a:ext cx="1028128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30" indent="-2273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39395" algn="l"/>
              </a:tabLst>
            </a:pPr>
            <a:r>
              <a:rPr sz="2900" spc="-110" dirty="0">
                <a:latin typeface="Calibri" panose="020F0502020204030204"/>
                <a:cs typeface="Calibri" panose="020F0502020204030204"/>
              </a:rPr>
              <a:t>To</a:t>
            </a:r>
            <a:r>
              <a:rPr sz="29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elucidate</a:t>
            </a:r>
            <a:r>
              <a:rPr sz="29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whether</a:t>
            </a:r>
            <a:r>
              <a:rPr sz="29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10" dirty="0">
                <a:latin typeface="Calibri" panose="020F0502020204030204"/>
                <a:cs typeface="Calibri" panose="020F0502020204030204"/>
              </a:rPr>
              <a:t>hemiarthroplasty</a:t>
            </a:r>
            <a:r>
              <a:rPr sz="29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using</a:t>
            </a:r>
            <a:r>
              <a:rPr sz="29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either</a:t>
            </a:r>
            <a:r>
              <a:rPr sz="29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10" dirty="0">
                <a:latin typeface="Calibri" panose="020F0502020204030204"/>
                <a:cs typeface="Calibri" panose="020F0502020204030204"/>
              </a:rPr>
              <a:t>uncemented</a:t>
            </a:r>
            <a:r>
              <a:rPr sz="29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25" dirty="0">
                <a:latin typeface="Calibri" panose="020F0502020204030204"/>
                <a:cs typeface="Calibri" panose="020F0502020204030204"/>
              </a:rPr>
              <a:t>or</a:t>
            </a:r>
            <a:endParaRPr sz="2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9556" y="5181600"/>
            <a:ext cx="1067308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latin typeface="Calibri" panose="020F0502020204030204"/>
                <a:cs typeface="Calibri" panose="020F0502020204030204"/>
              </a:rPr>
              <a:t>cemented</a:t>
            </a:r>
            <a:r>
              <a:rPr sz="29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implant</a:t>
            </a:r>
            <a:r>
              <a:rPr sz="29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for</a:t>
            </a:r>
            <a:r>
              <a:rPr sz="29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10" dirty="0">
                <a:latin typeface="Calibri" panose="020F0502020204030204"/>
                <a:cs typeface="Calibri" panose="020F0502020204030204"/>
              </a:rPr>
              <a:t>treatment</a:t>
            </a:r>
            <a:r>
              <a:rPr sz="29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of</a:t>
            </a:r>
            <a:r>
              <a:rPr sz="29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FNFs</a:t>
            </a:r>
            <a:r>
              <a:rPr sz="29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yields</a:t>
            </a:r>
            <a:r>
              <a:rPr sz="29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similar</a:t>
            </a:r>
            <a:r>
              <a:rPr sz="29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dirty="0">
                <a:latin typeface="Calibri" panose="020F0502020204030204"/>
                <a:cs typeface="Calibri" panose="020F0502020204030204"/>
              </a:rPr>
              <a:t>clinical</a:t>
            </a:r>
            <a:r>
              <a:rPr sz="29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900" spc="-10" dirty="0">
                <a:latin typeface="Calibri" panose="020F0502020204030204"/>
                <a:cs typeface="Calibri" panose="020F0502020204030204"/>
              </a:rPr>
              <a:t>outcome.</a:t>
            </a:r>
            <a:endParaRPr sz="2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900" rIns="0" bIns="0" rtlCol="0">
            <a:spAutoFit/>
          </a:bodyPr>
          <a:lstStyle/>
          <a:p>
            <a:pPr marL="372745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alibri" panose="020F0502020204030204"/>
                <a:cs typeface="Calibri" panose="020F0502020204030204"/>
              </a:rPr>
              <a:t>OBJECTIVES</a:t>
            </a:r>
            <a:endParaRPr spc="-1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6579" rIns="0" bIns="0" rtlCol="0">
            <a:spAutoFit/>
          </a:bodyPr>
          <a:lstStyle/>
          <a:p>
            <a:pPr marL="247269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PATIENTS</a:t>
            </a:r>
            <a:r>
              <a:rPr spc="-9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METHODS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490710" cy="394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 panose="020F0502020204030204"/>
                <a:cs typeface="Calibri" panose="020F0502020204030204"/>
              </a:rPr>
              <a:t>PLACE</a:t>
            </a:r>
            <a:r>
              <a:rPr sz="2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STUDY</a:t>
            </a:r>
            <a:r>
              <a:rPr sz="2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35" dirty="0">
                <a:latin typeface="Calibri" panose="020F0502020204030204"/>
                <a:cs typeface="Calibri" panose="020F0502020204030204"/>
              </a:rPr>
              <a:t>:DEPT.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ORTHOPAEDICS.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210"/>
              </a:spcBef>
              <a:buFont typeface="Arial MT"/>
              <a:buChar char="•"/>
            </a:pPr>
            <a:endParaRPr sz="2800">
              <a:latin typeface="Calibri" panose="020F0502020204030204"/>
              <a:cs typeface="Calibri" panose="020F0502020204030204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 panose="020F0502020204030204"/>
                <a:cs typeface="Calibri" panose="020F0502020204030204"/>
              </a:rPr>
              <a:t>PLACE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&amp;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YEAR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STUDY: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" sz="2800" spc="-50" dirty="0">
                <a:latin typeface="Calibri" panose="020F0502020204030204"/>
                <a:cs typeface="Calibri" panose="020F0502020204030204"/>
              </a:rPr>
              <a:t>RAJAHMUNDRY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.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(DEC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2022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–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JAN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2024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)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330"/>
              </a:spcBef>
              <a:buFont typeface="Arial MT"/>
              <a:buChar char="•"/>
            </a:pPr>
            <a:endParaRPr sz="2800">
              <a:latin typeface="Calibri" panose="020F0502020204030204"/>
              <a:cs typeface="Calibri" panose="020F0502020204030204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 panose="020F0502020204030204"/>
                <a:cs typeface="Calibri" panose="020F0502020204030204"/>
              </a:rPr>
              <a:t>SAMPLE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SIZE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: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30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CASES.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215"/>
              </a:spcBef>
              <a:buFont typeface="Arial MT"/>
              <a:buChar char="•"/>
            </a:pPr>
            <a:endParaRPr sz="2800">
              <a:latin typeface="Calibri" panose="020F0502020204030204"/>
              <a:cs typeface="Calibri" panose="020F0502020204030204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 panose="020F0502020204030204"/>
                <a:cs typeface="Calibri" panose="020F0502020204030204"/>
              </a:rPr>
              <a:t>STUDY</a:t>
            </a:r>
            <a:r>
              <a:rPr sz="28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TYPE:</a:t>
            </a:r>
            <a:r>
              <a:rPr sz="2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PROSPECTIVE</a:t>
            </a:r>
            <a:r>
              <a:rPr sz="28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RANDOMIZED</a:t>
            </a:r>
            <a:r>
              <a:rPr sz="2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COMPARATIVE</a:t>
            </a:r>
            <a:r>
              <a:rPr sz="28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STUDY.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7915" rIns="0" bIns="0" rtlCol="0">
            <a:spAutoFit/>
          </a:bodyPr>
          <a:lstStyle/>
          <a:p>
            <a:pPr marL="327215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METHODOLOGY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251315" cy="325945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241300" indent="-228600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 panose="020F0502020204030204"/>
                <a:cs typeface="Calibri" panose="020F0502020204030204"/>
              </a:rPr>
              <a:t>All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patients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are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pre-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operatively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evaluated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by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detailed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history, </a:t>
            </a:r>
            <a:r>
              <a:rPr sz="2800" dirty="0">
                <a:latin typeface="Calibri" panose="020F0502020204030204"/>
                <a:cs typeface="Calibri" panose="020F0502020204030204"/>
              </a:rPr>
              <a:t>complete</a:t>
            </a:r>
            <a:r>
              <a:rPr sz="2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clinical</a:t>
            </a:r>
            <a:r>
              <a:rPr sz="2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examination</a:t>
            </a:r>
            <a:r>
              <a:rPr sz="2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is</a:t>
            </a:r>
            <a:r>
              <a:rPr sz="2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performed.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800">
              <a:latin typeface="Calibri" panose="020F0502020204030204"/>
              <a:cs typeface="Calibri" panose="020F0502020204030204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2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conditions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if</a:t>
            </a:r>
            <a:r>
              <a:rPr sz="2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present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were</a:t>
            </a:r>
            <a:r>
              <a:rPr sz="2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treated.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635"/>
              </a:spcBef>
              <a:buFont typeface="Arial MT"/>
              <a:buChar char="•"/>
            </a:pPr>
            <a:endParaRPr sz="2800">
              <a:latin typeface="Calibri" panose="020F0502020204030204"/>
              <a:cs typeface="Calibri" panose="020F0502020204030204"/>
            </a:endParaRPr>
          </a:p>
          <a:p>
            <a:pPr marL="241300" marR="5080" indent="-228600">
              <a:lnSpc>
                <a:spcPts val="3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Patients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were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operated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based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on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randomisation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code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they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received.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4115" rIns="0" bIns="0" rtlCol="0">
            <a:spAutoFit/>
          </a:bodyPr>
          <a:lstStyle/>
          <a:p>
            <a:pPr marL="2737485">
              <a:lnSpc>
                <a:spcPct val="100000"/>
              </a:lnSpc>
              <a:spcBef>
                <a:spcPts val="100"/>
              </a:spcBef>
            </a:pPr>
            <a:r>
              <a:rPr dirty="0"/>
              <a:t>INCLUSION</a:t>
            </a:r>
            <a:r>
              <a:rPr spc="-215" dirty="0"/>
              <a:t> </a:t>
            </a:r>
            <a:r>
              <a:rPr spc="-10" dirty="0"/>
              <a:t>CRITERIA: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56155"/>
            <a:ext cx="9406890" cy="419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210" indent="-273050">
              <a:lnSpc>
                <a:spcPct val="100000"/>
              </a:lnSpc>
              <a:spcBef>
                <a:spcPts val="100"/>
              </a:spcBef>
              <a:buSzPct val="96000"/>
              <a:buAutoNum type="arabicPeriod"/>
              <a:tabLst>
                <a:tab pos="283210" algn="l"/>
              </a:tabLst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Patients</a:t>
            </a:r>
            <a:r>
              <a:rPr sz="2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having</a:t>
            </a:r>
            <a:r>
              <a:rPr sz="28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Femur</a:t>
            </a:r>
            <a:r>
              <a:rPr sz="28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Neck</a:t>
            </a:r>
            <a:r>
              <a:rPr sz="2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Fracture</a:t>
            </a:r>
            <a:r>
              <a:rPr sz="2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35"/>
              </a:spcBef>
              <a:buFont typeface="Calibri" panose="020F0502020204030204"/>
              <a:buAutoNum type="arabicPeriod"/>
            </a:pPr>
            <a:endParaRPr sz="2800">
              <a:latin typeface="Calibri" panose="020F0502020204030204"/>
              <a:cs typeface="Calibri" panose="020F0502020204030204"/>
            </a:endParaRPr>
          </a:p>
          <a:p>
            <a:pPr marL="364490" indent="-351790">
              <a:lnSpc>
                <a:spcPct val="100000"/>
              </a:lnSpc>
              <a:buSzPct val="96000"/>
              <a:buAutoNum type="arabicPeriod"/>
              <a:tabLst>
                <a:tab pos="364490" algn="l"/>
              </a:tabLst>
            </a:pPr>
            <a:r>
              <a:rPr sz="2800" dirty="0">
                <a:latin typeface="Calibri" panose="020F0502020204030204"/>
                <a:cs typeface="Calibri" panose="020F0502020204030204"/>
              </a:rPr>
              <a:t>Adult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patients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aged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more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than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60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years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both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male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and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female.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buFont typeface="Calibri" panose="020F0502020204030204"/>
              <a:buAutoNum type="arabicPeriod"/>
            </a:pPr>
            <a:endParaRPr sz="2800">
              <a:latin typeface="Calibri" panose="020F0502020204030204"/>
              <a:cs typeface="Calibri" panose="020F0502020204030204"/>
            </a:endParaRPr>
          </a:p>
          <a:p>
            <a:pPr marL="364490" indent="-351790">
              <a:lnSpc>
                <a:spcPct val="100000"/>
              </a:lnSpc>
              <a:buSzPct val="96000"/>
              <a:buAutoNum type="arabicPeriod"/>
              <a:tabLst>
                <a:tab pos="364490" algn="l"/>
              </a:tabLst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Patients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medically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fit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for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surgery.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buFont typeface="Calibri" panose="020F0502020204030204"/>
              <a:buAutoNum type="arabicPeriod"/>
            </a:pPr>
            <a:endParaRPr sz="2800">
              <a:latin typeface="Calibri" panose="020F0502020204030204"/>
              <a:cs typeface="Calibri" panose="020F0502020204030204"/>
            </a:endParaRPr>
          </a:p>
          <a:p>
            <a:pPr marL="364490" indent="-351790">
              <a:lnSpc>
                <a:spcPct val="100000"/>
              </a:lnSpc>
              <a:buSzPct val="96000"/>
              <a:buAutoNum type="arabicPeriod"/>
              <a:tabLst>
                <a:tab pos="364490" algn="l"/>
              </a:tabLst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Patients</a:t>
            </a:r>
            <a:r>
              <a:rPr sz="2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who</a:t>
            </a:r>
            <a:r>
              <a:rPr sz="2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were</a:t>
            </a:r>
            <a:r>
              <a:rPr sz="2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ambulatory</a:t>
            </a:r>
            <a:r>
              <a:rPr sz="2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before</a:t>
            </a:r>
            <a:r>
              <a:rPr sz="2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fracture.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10"/>
              </a:spcBef>
              <a:buFont typeface="Calibri" panose="020F0502020204030204"/>
              <a:buAutoNum type="arabicPeriod"/>
            </a:pPr>
            <a:endParaRPr sz="2800">
              <a:latin typeface="Calibri" panose="020F0502020204030204"/>
              <a:cs typeface="Calibri" panose="020F0502020204030204"/>
            </a:endParaRPr>
          </a:p>
          <a:p>
            <a:pPr marL="364490" indent="-351790">
              <a:lnSpc>
                <a:spcPct val="100000"/>
              </a:lnSpc>
              <a:spcBef>
                <a:spcPts val="5"/>
              </a:spcBef>
              <a:buSzPct val="96000"/>
              <a:buAutoNum type="arabicPeriod"/>
              <a:tabLst>
                <a:tab pos="364490" algn="l"/>
              </a:tabLst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Patients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who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were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willing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give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their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informed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consent.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59" rIns="0" bIns="0" rtlCol="0">
            <a:spAutoFit/>
          </a:bodyPr>
          <a:lstStyle/>
          <a:p>
            <a:pPr marL="24841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EXCLUSION</a:t>
            </a:r>
            <a:r>
              <a:rPr spc="-215" dirty="0"/>
              <a:t> </a:t>
            </a:r>
            <a:r>
              <a:rPr spc="-10" dirty="0"/>
              <a:t>CRITERIA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97840" y="1763268"/>
            <a:ext cx="11064240" cy="4295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 panose="020F0502020204030204"/>
                <a:cs typeface="Calibri" panose="020F0502020204030204"/>
              </a:rPr>
              <a:t>1.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Pathological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fracture</a:t>
            </a:r>
            <a:r>
              <a:rPr sz="26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of</a:t>
            </a:r>
            <a:r>
              <a:rPr sz="26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femur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neck.</a:t>
            </a:r>
            <a:endParaRPr sz="26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310"/>
              </a:spcBef>
              <a:buFont typeface="Arial MT"/>
              <a:buChar char="•"/>
            </a:pPr>
            <a:endParaRPr sz="260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 panose="020F0502020204030204"/>
                <a:cs typeface="Calibri" panose="020F0502020204030204"/>
              </a:rPr>
              <a:t>2.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Patients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not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willing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for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surgery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.</a:t>
            </a:r>
            <a:endParaRPr sz="26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405"/>
              </a:spcBef>
              <a:buFont typeface="Arial MT"/>
              <a:buChar char="•"/>
            </a:pPr>
            <a:endParaRPr sz="260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 panose="020F0502020204030204"/>
                <a:cs typeface="Calibri" panose="020F0502020204030204"/>
              </a:rPr>
              <a:t>3.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Patients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presented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polytrauma.</a:t>
            </a:r>
            <a:endParaRPr sz="26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Font typeface="Arial MT"/>
              <a:buChar char="•"/>
            </a:pPr>
            <a:endParaRPr sz="260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 panose="020F0502020204030204"/>
                <a:cs typeface="Calibri" panose="020F0502020204030204"/>
              </a:rPr>
              <a:t>4.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Patients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past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history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of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symptomatic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disease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of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hip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such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as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osteoarthritis.</a:t>
            </a:r>
            <a:endParaRPr sz="26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310"/>
              </a:spcBef>
              <a:buFont typeface="Arial MT"/>
              <a:buChar char="•"/>
            </a:pPr>
            <a:endParaRPr sz="260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 panose="020F0502020204030204"/>
                <a:cs typeface="Calibri" panose="020F0502020204030204"/>
              </a:rPr>
              <a:t>5.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Patients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who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weren’t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able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to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walk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before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fracture.</a:t>
            </a:r>
            <a:endParaRPr sz="2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51953" y="1048213"/>
            <a:ext cx="5069589" cy="53831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9196" y="1545843"/>
            <a:ext cx="6035675" cy="3463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3285"/>
              </a:spcBef>
            </a:pPr>
            <a:r>
              <a:rPr sz="2800" dirty="0">
                <a:latin typeface="Calibri" panose="020F0502020204030204"/>
                <a:cs typeface="Calibri" panose="020F0502020204030204"/>
              </a:rPr>
              <a:t>Pt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had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history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fall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@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home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from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stairs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, </a:t>
            </a:r>
            <a:r>
              <a:rPr sz="2800" dirty="0">
                <a:latin typeface="Calibri" panose="020F0502020204030204"/>
                <a:cs typeface="Calibri" panose="020F0502020204030204"/>
              </a:rPr>
              <a:t>complaints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pain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and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swelling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in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left </a:t>
            </a:r>
            <a:r>
              <a:rPr sz="2800" dirty="0">
                <a:latin typeface="Calibri" panose="020F0502020204030204"/>
                <a:cs typeface="Calibri" panose="020F0502020204030204"/>
              </a:rPr>
              <a:t>hip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800">
              <a:latin typeface="Calibri" panose="020F0502020204030204"/>
              <a:cs typeface="Calibri" panose="020F0502020204030204"/>
            </a:endParaRPr>
          </a:p>
          <a:p>
            <a:pPr marL="12700" marR="423545">
              <a:lnSpc>
                <a:spcPts val="3290"/>
              </a:lnSpc>
            </a:pPr>
            <a:r>
              <a:rPr sz="2800" spc="-25" dirty="0">
                <a:latin typeface="Calibri" panose="020F0502020204030204"/>
                <a:cs typeface="Calibri" panose="020F0502020204030204"/>
              </a:rPr>
              <a:t>There’s</a:t>
            </a:r>
            <a:r>
              <a:rPr sz="2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presentation</a:t>
            </a:r>
            <a:r>
              <a:rPr sz="2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shortening</a:t>
            </a:r>
            <a:r>
              <a:rPr sz="2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and </a:t>
            </a:r>
            <a:r>
              <a:rPr sz="2800" dirty="0">
                <a:latin typeface="Calibri" panose="020F0502020204030204"/>
                <a:cs typeface="Calibri" panose="020F0502020204030204"/>
              </a:rPr>
              <a:t>external</a:t>
            </a:r>
            <a:r>
              <a:rPr sz="2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rotation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limb.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3355"/>
              </a:spcBef>
            </a:pPr>
            <a:r>
              <a:rPr sz="2800" dirty="0">
                <a:latin typeface="Calibri" panose="020F0502020204030204"/>
                <a:cs typeface="Calibri" panose="020F0502020204030204"/>
              </a:rPr>
              <a:t>All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nerve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sensations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are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intact.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83" rIns="0" bIns="0" rtlCol="0">
            <a:spAutoFit/>
          </a:bodyPr>
          <a:lstStyle/>
          <a:p>
            <a:pPr marL="438658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 panose="020F0502020204030204"/>
                <a:cs typeface="Calibri" panose="020F0502020204030204"/>
              </a:rPr>
              <a:t>Case</a:t>
            </a:r>
            <a:r>
              <a:rPr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pc="-50" dirty="0">
                <a:latin typeface="Calibri" panose="020F0502020204030204"/>
                <a:cs typeface="Calibri" panose="020F0502020204030204"/>
              </a:rPr>
              <a:t>1</a:t>
            </a:r>
            <a:endParaRPr spc="-5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4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CEMENTED</a:t>
            </a:r>
            <a:r>
              <a:rPr sz="4000" u="heavy" spc="-16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4000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BIPOLAR</a:t>
            </a:r>
            <a:r>
              <a:rPr sz="4000" u="heavy" spc="-15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4000" u="heavy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HEMIARTHROPLASTY</a:t>
            </a:r>
            <a:r>
              <a:rPr sz="4000" u="heavy" spc="-15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4000" u="heavy" spc="-3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INDICATIONS</a:t>
            </a:r>
            <a:r>
              <a:rPr sz="4000" u="heavy" spc="-16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: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4894" y="2282444"/>
            <a:ext cx="8409940" cy="277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4505" indent="-47180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484505" algn="l"/>
              </a:tabLst>
            </a:pPr>
            <a:r>
              <a:rPr sz="3600" dirty="0">
                <a:latin typeface="Calibri" panose="020F0502020204030204"/>
                <a:cs typeface="Calibri" panose="020F0502020204030204"/>
              </a:rPr>
              <a:t>Osteopenic</a:t>
            </a:r>
            <a:r>
              <a:rPr sz="36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/</a:t>
            </a:r>
            <a:r>
              <a:rPr sz="36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osteoporotic</a:t>
            </a:r>
            <a:r>
              <a:rPr sz="36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patients.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483870" indent="-471170">
              <a:lnSpc>
                <a:spcPct val="100000"/>
              </a:lnSpc>
              <a:spcBef>
                <a:spcPts val="4270"/>
              </a:spcBef>
              <a:buAutoNum type="arabicParenR"/>
              <a:tabLst>
                <a:tab pos="483870" algn="l"/>
              </a:tabLst>
            </a:pPr>
            <a:r>
              <a:rPr sz="3600" dirty="0">
                <a:latin typeface="Calibri" panose="020F0502020204030204"/>
                <a:cs typeface="Calibri" panose="020F0502020204030204"/>
              </a:rPr>
              <a:t>Bone</a:t>
            </a:r>
            <a:r>
              <a:rPr sz="36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irradiation</a:t>
            </a:r>
            <a:r>
              <a:rPr sz="36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/</a:t>
            </a:r>
            <a:r>
              <a:rPr sz="36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malignancy</a:t>
            </a:r>
            <a:r>
              <a:rPr sz="36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50" dirty="0">
                <a:latin typeface="Calibri" panose="020F0502020204030204"/>
                <a:cs typeface="Calibri" panose="020F0502020204030204"/>
              </a:rPr>
              <a:t>.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483870" indent="-471170">
              <a:lnSpc>
                <a:spcPct val="100000"/>
              </a:lnSpc>
              <a:spcBef>
                <a:spcPts val="4390"/>
              </a:spcBef>
              <a:buAutoNum type="arabicParenR"/>
              <a:tabLst>
                <a:tab pos="483870" algn="l"/>
              </a:tabLst>
            </a:pPr>
            <a:r>
              <a:rPr sz="3600" dirty="0">
                <a:latin typeface="Calibri" panose="020F0502020204030204"/>
                <a:cs typeface="Calibri" panose="020F0502020204030204"/>
              </a:rPr>
              <a:t>Abnormal</a:t>
            </a:r>
            <a:r>
              <a:rPr sz="36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wide</a:t>
            </a:r>
            <a:r>
              <a:rPr sz="36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femoral</a:t>
            </a:r>
            <a:r>
              <a:rPr sz="36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canal</a:t>
            </a:r>
            <a:r>
              <a:rPr sz="36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presentation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990735" y="1150189"/>
            <a:ext cx="4961293" cy="53300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3694" y="119379"/>
            <a:ext cx="14782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0" dirty="0">
                <a:latin typeface="Calibri" panose="020F0502020204030204"/>
                <a:cs typeface="Calibri" panose="020F0502020204030204"/>
              </a:rPr>
              <a:t>CASE-</a:t>
            </a:r>
            <a:r>
              <a:rPr sz="4000" spc="-50" dirty="0">
                <a:latin typeface="Calibri" panose="020F0502020204030204"/>
                <a:cs typeface="Calibri" panose="020F0502020204030204"/>
              </a:rPr>
              <a:t>2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8710" y="1157732"/>
            <a:ext cx="6405245" cy="445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3345">
              <a:lnSpc>
                <a:spcPct val="101000"/>
              </a:lnSpc>
              <a:spcBef>
                <a:spcPts val="4235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Pt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had</a:t>
            </a:r>
            <a:r>
              <a:rPr sz="3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history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of</a:t>
            </a:r>
            <a:r>
              <a:rPr sz="3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fall</a:t>
            </a:r>
            <a:r>
              <a:rPr sz="3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@</a:t>
            </a:r>
            <a:r>
              <a:rPr sz="3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washroom </a:t>
            </a:r>
            <a:r>
              <a:rPr sz="3600" dirty="0">
                <a:latin typeface="Calibri" panose="020F0502020204030204"/>
                <a:cs typeface="Calibri" panose="020F0502020204030204"/>
              </a:rPr>
              <a:t>and</a:t>
            </a:r>
            <a:r>
              <a:rPr sz="3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complaints</a:t>
            </a:r>
            <a:r>
              <a:rPr sz="3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of</a:t>
            </a:r>
            <a:r>
              <a:rPr sz="3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pain</a:t>
            </a:r>
            <a:r>
              <a:rPr sz="3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swelling </a:t>
            </a:r>
            <a:r>
              <a:rPr sz="3600" dirty="0">
                <a:latin typeface="Calibri" panose="020F0502020204030204"/>
                <a:cs typeface="Calibri" panose="020F0502020204030204"/>
              </a:rPr>
              <a:t>around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left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limb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50" dirty="0">
                <a:latin typeface="Calibri" panose="020F0502020204030204"/>
                <a:cs typeface="Calibri" panose="020F0502020204030204"/>
              </a:rPr>
              <a:t>.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6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4300"/>
              </a:lnSpc>
              <a:spcBef>
                <a:spcPts val="5"/>
              </a:spcBef>
              <a:tabLst>
                <a:tab pos="6255385" algn="l"/>
              </a:tabLst>
            </a:pPr>
            <a:r>
              <a:rPr sz="3600" spc="-25" dirty="0">
                <a:latin typeface="Calibri" panose="020F0502020204030204"/>
                <a:cs typeface="Calibri" panose="020F0502020204030204"/>
              </a:rPr>
              <a:t>There’s</a:t>
            </a:r>
            <a:r>
              <a:rPr sz="36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presentation</a:t>
            </a:r>
            <a:r>
              <a:rPr sz="36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of</a:t>
            </a:r>
            <a:r>
              <a:rPr sz="36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shortening </a:t>
            </a:r>
            <a:r>
              <a:rPr sz="3600" dirty="0">
                <a:latin typeface="Calibri" panose="020F0502020204030204"/>
                <a:cs typeface="Calibri" panose="020F0502020204030204"/>
              </a:rPr>
              <a:t>and</a:t>
            </a:r>
            <a:r>
              <a:rPr sz="36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external</a:t>
            </a:r>
            <a:r>
              <a:rPr sz="36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rotation</a:t>
            </a:r>
            <a:r>
              <a:rPr sz="36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of</a:t>
            </a:r>
            <a:r>
              <a:rPr sz="36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the</a:t>
            </a:r>
            <a:r>
              <a:rPr sz="36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20" dirty="0">
                <a:latin typeface="Calibri" panose="020F0502020204030204"/>
                <a:cs typeface="Calibri" panose="020F0502020204030204"/>
              </a:rPr>
              <a:t>limb</a:t>
            </a:r>
            <a:r>
              <a:rPr sz="3600" dirty="0">
                <a:latin typeface="Calibri" panose="020F0502020204030204"/>
                <a:cs typeface="Calibri" panose="020F0502020204030204"/>
              </a:rPr>
              <a:t>	</a:t>
            </a:r>
            <a:r>
              <a:rPr sz="3600" spc="-50" dirty="0">
                <a:latin typeface="Calibri" panose="020F0502020204030204"/>
                <a:cs typeface="Calibri" panose="020F0502020204030204"/>
              </a:rPr>
              <a:t>.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245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Nerve</a:t>
            </a:r>
            <a:r>
              <a:rPr sz="36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sensations</a:t>
            </a:r>
            <a:r>
              <a:rPr sz="36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are</a:t>
            </a:r>
            <a:r>
              <a:rPr sz="36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intact.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02774" y="276532"/>
            <a:ext cx="9586450" cy="63049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603" y="217932"/>
            <a:ext cx="11368405" cy="5972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The</a:t>
            </a:r>
            <a:r>
              <a:rPr sz="2600" b="1" u="heavy" spc="-7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600" b="1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modern</a:t>
            </a:r>
            <a:r>
              <a:rPr sz="2600" b="1" u="heavy" spc="-7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600" b="1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technique</a:t>
            </a:r>
            <a:r>
              <a:rPr sz="2600" b="1" u="heavy" spc="-7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600" b="1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of</a:t>
            </a:r>
            <a:r>
              <a:rPr sz="2600" b="1" u="heavy" spc="-7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600" b="1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cementing</a:t>
            </a:r>
            <a:r>
              <a:rPr sz="2600" b="1" u="heavy" spc="-7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600" b="1" u="heavy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involves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:</a:t>
            </a:r>
            <a:endParaRPr sz="2600">
              <a:latin typeface="Calibri" panose="020F0502020204030204"/>
              <a:cs typeface="Calibri" panose="020F0502020204030204"/>
            </a:endParaRPr>
          </a:p>
          <a:p>
            <a:pPr marL="12700" marR="182245" indent="-8255">
              <a:lnSpc>
                <a:spcPct val="100000"/>
              </a:lnSpc>
              <a:spcBef>
                <a:spcPts val="3165"/>
              </a:spcBef>
              <a:buSzPct val="96000"/>
              <a:buFont typeface="Arial MT"/>
              <a:buChar char="•"/>
              <a:tabLst>
                <a:tab pos="128270" algn="l"/>
              </a:tabLst>
            </a:pPr>
            <a:r>
              <a:rPr sz="2600" spc="-10" dirty="0">
                <a:latin typeface="Calibri" panose="020F0502020204030204"/>
                <a:cs typeface="Calibri" panose="020F0502020204030204"/>
              </a:rPr>
              <a:t>	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Preparation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of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femoral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canal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using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serial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broaching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and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using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pulsatile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lavage </a:t>
            </a:r>
            <a:r>
              <a:rPr sz="2600" dirty="0">
                <a:latin typeface="Calibri" panose="020F0502020204030204"/>
                <a:cs typeface="Calibri" panose="020F0502020204030204"/>
              </a:rPr>
              <a:t>to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wash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canal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and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remove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debris.</a:t>
            </a:r>
            <a:endParaRPr sz="2600">
              <a:latin typeface="Calibri" panose="020F0502020204030204"/>
              <a:cs typeface="Calibri" panose="020F0502020204030204"/>
            </a:endParaRPr>
          </a:p>
          <a:p>
            <a:pPr marL="12700" marR="5080" indent="-8255">
              <a:lnSpc>
                <a:spcPct val="102000"/>
              </a:lnSpc>
              <a:spcBef>
                <a:spcPts val="3000"/>
              </a:spcBef>
              <a:buSzPct val="96000"/>
              <a:buFont typeface="Arial MT"/>
              <a:buChar char="•"/>
              <a:tabLst>
                <a:tab pos="128270" algn="l"/>
              </a:tabLst>
            </a:pPr>
            <a:r>
              <a:rPr sz="2600" dirty="0">
                <a:latin typeface="Calibri" panose="020F0502020204030204"/>
                <a:cs typeface="Calibri" panose="020F0502020204030204"/>
              </a:rPr>
              <a:t>	</a:t>
            </a:r>
            <a:r>
              <a:rPr sz="2600" dirty="0">
                <a:latin typeface="Calibri" panose="020F0502020204030204"/>
                <a:cs typeface="Calibri" panose="020F0502020204030204"/>
              </a:rPr>
              <a:t>A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cement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restrictor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is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placed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at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an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appropriate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distance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to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prevent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cement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from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traveling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down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canal.</a:t>
            </a:r>
            <a:endParaRPr sz="26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600">
              <a:latin typeface="Calibri" panose="020F0502020204030204"/>
              <a:cs typeface="Calibri" panose="020F0502020204030204"/>
            </a:endParaRPr>
          </a:p>
          <a:p>
            <a:pPr marL="12700" marR="37465" indent="-8255">
              <a:lnSpc>
                <a:spcPts val="3100"/>
              </a:lnSpc>
              <a:buSzPct val="96000"/>
              <a:buFont typeface="Arial MT"/>
              <a:buChar char="•"/>
              <a:tabLst>
                <a:tab pos="128270" algn="l"/>
              </a:tabLst>
            </a:pPr>
            <a:r>
              <a:rPr sz="2600" dirty="0">
                <a:latin typeface="Calibri" panose="020F0502020204030204"/>
                <a:cs typeface="Calibri" panose="020F0502020204030204"/>
              </a:rPr>
              <a:t>	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cement</a:t>
            </a:r>
            <a:r>
              <a:rPr sz="2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is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filled</a:t>
            </a:r>
            <a:r>
              <a:rPr sz="2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in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canal</a:t>
            </a:r>
            <a:r>
              <a:rPr sz="2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using</a:t>
            </a:r>
            <a:r>
              <a:rPr sz="2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</a:t>
            </a:r>
            <a:r>
              <a:rPr sz="2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cement</a:t>
            </a:r>
            <a:r>
              <a:rPr sz="2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gun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that</a:t>
            </a:r>
            <a:r>
              <a:rPr sz="2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pressurizes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cement </a:t>
            </a:r>
            <a:r>
              <a:rPr sz="2600" dirty="0">
                <a:latin typeface="Calibri" panose="020F0502020204030204"/>
                <a:cs typeface="Calibri" panose="020F0502020204030204"/>
              </a:rPr>
              <a:t>injection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in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canal.</a:t>
            </a:r>
            <a:r>
              <a:rPr sz="2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gun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ensures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cement</a:t>
            </a:r>
            <a:r>
              <a:rPr sz="2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is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not</a:t>
            </a:r>
            <a:r>
              <a:rPr sz="2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eviscerated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by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bleeding </a:t>
            </a:r>
            <a:r>
              <a:rPr sz="2600" dirty="0">
                <a:latin typeface="Calibri" panose="020F0502020204030204"/>
                <a:cs typeface="Calibri" panose="020F0502020204030204"/>
              </a:rPr>
              <a:t>in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canal</a:t>
            </a:r>
            <a:r>
              <a:rPr sz="2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.</a:t>
            </a:r>
            <a:endParaRPr sz="2600">
              <a:latin typeface="Calibri" panose="020F0502020204030204"/>
              <a:cs typeface="Calibri" panose="020F0502020204030204"/>
            </a:endParaRPr>
          </a:p>
          <a:p>
            <a:pPr marL="12700" marR="130175" indent="-8255">
              <a:lnSpc>
                <a:spcPct val="100000"/>
              </a:lnSpc>
              <a:spcBef>
                <a:spcPts val="3070"/>
              </a:spcBef>
              <a:buSzPct val="96000"/>
              <a:buFont typeface="Arial MT"/>
              <a:buChar char="•"/>
              <a:tabLst>
                <a:tab pos="128270" algn="l"/>
              </a:tabLst>
            </a:pPr>
            <a:r>
              <a:rPr sz="2600" dirty="0">
                <a:latin typeface="Calibri" panose="020F0502020204030204"/>
                <a:cs typeface="Calibri" panose="020F0502020204030204"/>
              </a:rPr>
              <a:t>	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femoral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stem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is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inserted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to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pressurize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cement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and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tapered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stem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design </a:t>
            </a:r>
            <a:r>
              <a:rPr sz="2600" dirty="0">
                <a:latin typeface="Calibri" panose="020F0502020204030204"/>
                <a:cs typeface="Calibri" panose="020F0502020204030204"/>
              </a:rPr>
              <a:t>ensures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cement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pressure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is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maintained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during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insertion.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proximal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seal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25" dirty="0">
                <a:latin typeface="Calibri" panose="020F0502020204030204"/>
                <a:cs typeface="Calibri" panose="020F0502020204030204"/>
              </a:rPr>
              <a:t>is </a:t>
            </a:r>
            <a:r>
              <a:rPr sz="2600" dirty="0">
                <a:latin typeface="Calibri" panose="020F0502020204030204"/>
                <a:cs typeface="Calibri" panose="020F0502020204030204"/>
              </a:rPr>
              <a:t>made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to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ensure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adequate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pressure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during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polymerization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of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cement.</a:t>
            </a:r>
            <a:endParaRPr sz="2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6768" y="-105155"/>
            <a:ext cx="27711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DISCUSSION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360382" y="637506"/>
            <a:ext cx="4831617" cy="24815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1056" y="711200"/>
            <a:ext cx="8140700" cy="609092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963295" algn="just">
              <a:lnSpc>
                <a:spcPts val="2300"/>
              </a:lnSpc>
              <a:spcBef>
                <a:spcPts val="360"/>
              </a:spcBef>
            </a:pPr>
            <a:r>
              <a:rPr sz="2100" spc="-10" dirty="0">
                <a:latin typeface="Calibri" panose="020F0502020204030204"/>
                <a:cs typeface="Calibri" panose="020F0502020204030204"/>
              </a:rPr>
              <a:t>Complications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were</a:t>
            </a:r>
            <a:r>
              <a:rPr sz="21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distributed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equally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between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groups</a:t>
            </a:r>
            <a:r>
              <a:rPr sz="21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three </a:t>
            </a:r>
            <a:r>
              <a:rPr sz="2100" dirty="0">
                <a:latin typeface="Calibri" panose="020F0502020204030204"/>
                <a:cs typeface="Calibri" panose="020F0502020204030204"/>
              </a:rPr>
              <a:t>patients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cemented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group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one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uncemented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group </a:t>
            </a:r>
            <a:r>
              <a:rPr sz="2100" dirty="0">
                <a:latin typeface="Calibri" panose="020F0502020204030204"/>
                <a:cs typeface="Calibri" panose="020F0502020204030204"/>
              </a:rPr>
              <a:t>needed</a:t>
            </a:r>
            <a:r>
              <a:rPr sz="21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one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or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more</a:t>
            </a:r>
            <a:r>
              <a:rPr sz="21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reoperations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2700" marR="1053465">
              <a:lnSpc>
                <a:spcPct val="90000"/>
              </a:lnSpc>
              <a:spcBef>
                <a:spcPts val="885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There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were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no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intraoperative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deaths,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but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there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was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one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postop </a:t>
            </a:r>
            <a:r>
              <a:rPr sz="2100" dirty="0">
                <a:latin typeface="Calibri" panose="020F0502020204030204"/>
                <a:cs typeface="Calibri" panose="020F0502020204030204"/>
              </a:rPr>
              <a:t>death</a:t>
            </a:r>
            <a:r>
              <a:rPr sz="21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within</a:t>
            </a:r>
            <a:r>
              <a:rPr sz="21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72</a:t>
            </a:r>
            <a:r>
              <a:rPr sz="21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hours;</a:t>
            </a:r>
            <a:r>
              <a:rPr sz="21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one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</a:t>
            </a:r>
            <a:r>
              <a:rPr sz="21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cemented</a:t>
            </a:r>
            <a:r>
              <a:rPr sz="21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group </a:t>
            </a:r>
            <a:r>
              <a:rPr sz="2100" dirty="0">
                <a:latin typeface="Calibri" panose="020F0502020204030204"/>
                <a:cs typeface="Calibri" panose="020F0502020204030204"/>
              </a:rPr>
              <a:t>experienced</a:t>
            </a:r>
            <a:r>
              <a:rPr sz="21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</a:t>
            </a:r>
            <a:r>
              <a:rPr sz="21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severe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decrease</a:t>
            </a:r>
            <a:r>
              <a:rPr sz="21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</a:t>
            </a:r>
            <a:r>
              <a:rPr sz="21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blood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pressure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during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the </a:t>
            </a:r>
            <a:r>
              <a:rPr sz="2100" dirty="0">
                <a:latin typeface="Calibri" panose="020F0502020204030204"/>
                <a:cs typeface="Calibri" panose="020F0502020204030204"/>
              </a:rPr>
              <a:t>cementing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procedure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died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within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24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hours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owing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to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acute myocardial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infarction.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2500"/>
              </a:lnSpc>
              <a:spcBef>
                <a:spcPts val="725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This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trial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does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not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have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statistical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power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to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address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potential </a:t>
            </a:r>
            <a:r>
              <a:rPr sz="2100" dirty="0">
                <a:latin typeface="Calibri" panose="020F0502020204030204"/>
                <a:cs typeface="Calibri" panose="020F0502020204030204"/>
              </a:rPr>
              <a:t>adverse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effects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cement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as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did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not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find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any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indications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differences </a:t>
            </a:r>
            <a:r>
              <a:rPr sz="2100" dirty="0">
                <a:latin typeface="Calibri" panose="020F0502020204030204"/>
                <a:cs typeface="Calibri" panose="020F0502020204030204"/>
              </a:rPr>
              <a:t>between</a:t>
            </a:r>
            <a:r>
              <a:rPr sz="21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groups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related</a:t>
            </a:r>
            <a:r>
              <a:rPr sz="21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to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cementing,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including</a:t>
            </a:r>
            <a:r>
              <a:rPr sz="21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mortality.</a:t>
            </a:r>
            <a:r>
              <a:rPr sz="21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The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incidence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serious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cement-</a:t>
            </a:r>
            <a:r>
              <a:rPr sz="2100" dirty="0">
                <a:latin typeface="Calibri" panose="020F0502020204030204"/>
                <a:cs typeface="Calibri" panose="020F0502020204030204"/>
              </a:rPr>
              <a:t>related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complications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has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been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reported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to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be </a:t>
            </a:r>
            <a:r>
              <a:rPr sz="2100" dirty="0">
                <a:latin typeface="Calibri" panose="020F0502020204030204"/>
                <a:cs typeface="Calibri" panose="020F0502020204030204"/>
              </a:rPr>
              <a:t>low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00">
              <a:latin typeface="Calibri" panose="020F0502020204030204"/>
              <a:cs typeface="Calibri" panose="020F0502020204030204"/>
            </a:endParaRPr>
          </a:p>
          <a:p>
            <a:pPr marL="12700" marR="82550">
              <a:lnSpc>
                <a:spcPts val="2500"/>
              </a:lnSpc>
            </a:pP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graph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shows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mean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difference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HHS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between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two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groups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at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3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12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months.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2700" marR="563245">
              <a:lnSpc>
                <a:spcPct val="104000"/>
              </a:lnSpc>
              <a:spcBef>
                <a:spcPts val="2295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Both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CIs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lie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wholly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inside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zone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equivalence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include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zero,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indicating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results</a:t>
            </a:r>
            <a:r>
              <a:rPr sz="21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uncemented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group</a:t>
            </a:r>
            <a:r>
              <a:rPr sz="21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were</a:t>
            </a:r>
            <a:r>
              <a:rPr sz="21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near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equivalent</a:t>
            </a:r>
            <a:r>
              <a:rPr sz="21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.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0001" y="3252331"/>
            <a:ext cx="3386568" cy="24149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54026" y="389896"/>
            <a:ext cx="10424379" cy="58484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85216" y="859536"/>
            <a:ext cx="10954512" cy="567418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787" rIns="0" bIns="0" rtlCol="0">
            <a:spAutoFit/>
          </a:bodyPr>
          <a:lstStyle/>
          <a:p>
            <a:pPr marL="388493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Calibri" panose="020F0502020204030204"/>
                <a:cs typeface="Calibri" panose="020F0502020204030204"/>
              </a:rPr>
              <a:t>BARTHEL</a:t>
            </a:r>
            <a:r>
              <a:rPr sz="4000" spc="-155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spc="-20" dirty="0">
                <a:latin typeface="Calibri" panose="020F0502020204030204"/>
                <a:cs typeface="Calibri" panose="020F0502020204030204"/>
              </a:rPr>
              <a:t>INDEX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4940" y="-10667"/>
            <a:ext cx="30283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65522" y="842771"/>
            <a:ext cx="11619230" cy="571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25" dirty="0">
                <a:latin typeface="Calibri" panose="020F0502020204030204"/>
                <a:cs typeface="Calibri" panose="020F0502020204030204"/>
              </a:rPr>
              <a:t>Follow-</a:t>
            </a:r>
            <a:r>
              <a:rPr sz="2000" dirty="0">
                <a:latin typeface="Calibri" panose="020F0502020204030204"/>
                <a:cs typeface="Calibri" panose="020F0502020204030204"/>
              </a:rPr>
              <a:t>up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period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postoperatively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was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followed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over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3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,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6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and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12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months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65"/>
              </a:spcBef>
              <a:buFont typeface="Arial MT"/>
              <a:buChar char="•"/>
            </a:pPr>
            <a:endParaRPr sz="2000">
              <a:latin typeface="Calibri" panose="020F0502020204030204"/>
              <a:cs typeface="Calibri" panose="020F0502020204030204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Femoral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neck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fractures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are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common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elderly.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Incidence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was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found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to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be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more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males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our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study.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760"/>
              </a:spcBef>
              <a:buFont typeface="Arial MT"/>
              <a:buChar char="•"/>
            </a:pPr>
            <a:endParaRPr sz="2000">
              <a:latin typeface="Calibri" panose="020F0502020204030204"/>
              <a:cs typeface="Calibri" panose="020F0502020204030204"/>
            </a:endParaRPr>
          </a:p>
          <a:p>
            <a:pPr marL="241300" marR="803910" indent="-228600">
              <a:lnSpc>
                <a:spcPts val="2110"/>
              </a:lnSpc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Hemi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arthroplasty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is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treatment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choice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displaced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fracture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neck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femur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elderly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normal acetabulum.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830"/>
              </a:spcBef>
              <a:buFont typeface="Arial MT"/>
              <a:buChar char="•"/>
            </a:pPr>
            <a:endParaRPr sz="2000">
              <a:latin typeface="Calibri" panose="020F0502020204030204"/>
              <a:cs typeface="Calibri" panose="020F0502020204030204"/>
            </a:endParaRPr>
          </a:p>
          <a:p>
            <a:pPr marL="241300" marR="5080" indent="-228600">
              <a:lnSpc>
                <a:spcPts val="211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In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our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study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statistical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analysis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results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uncemented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hemi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arthroplasty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has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shown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better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progress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terms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of </a:t>
            </a:r>
            <a:r>
              <a:rPr sz="2000" dirty="0">
                <a:latin typeface="Calibri" panose="020F0502020204030204"/>
                <a:cs typeface="Calibri" panose="020F0502020204030204"/>
              </a:rPr>
              <a:t>less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intra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operative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blood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loss.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655"/>
              </a:spcBef>
              <a:buFont typeface="Arial MT"/>
              <a:buChar char="•"/>
            </a:pPr>
            <a:endParaRPr sz="2000">
              <a:latin typeface="Calibri" panose="020F0502020204030204"/>
              <a:cs typeface="Calibri" panose="020F0502020204030204"/>
            </a:endParaRPr>
          </a:p>
          <a:p>
            <a:pPr marL="241300" marR="321945" indent="-228600">
              <a:lnSpc>
                <a:spcPts val="2210"/>
              </a:lnSpc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This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trial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does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not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have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statistical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power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to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address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potential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adverse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effects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cement,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we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did </a:t>
            </a:r>
            <a:r>
              <a:rPr sz="2000" dirty="0">
                <a:latin typeface="Calibri" panose="020F0502020204030204"/>
                <a:cs typeface="Calibri" panose="020F0502020204030204"/>
              </a:rPr>
              <a:t>not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find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any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indications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differences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between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groups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related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to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cementing,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including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mortality.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The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incidence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serious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cement-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related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complications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has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been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reported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to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be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low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715"/>
              </a:spcBef>
              <a:buFont typeface="Arial MT"/>
              <a:buChar char="•"/>
            </a:pPr>
            <a:endParaRPr sz="2000">
              <a:latin typeface="Calibri" panose="020F0502020204030204"/>
              <a:cs typeface="Calibri" panose="020F0502020204030204"/>
            </a:endParaRPr>
          </a:p>
          <a:p>
            <a:pPr marL="241300" marR="1103630" indent="-228600">
              <a:lnSpc>
                <a:spcPts val="2110"/>
              </a:lnSpc>
              <a:buChar char="•"/>
              <a:tabLst>
                <a:tab pos="241300" algn="l"/>
                <a:tab pos="297815" algn="l"/>
              </a:tabLst>
            </a:pP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Calibri" panose="020F0502020204030204"/>
                <a:cs typeface="Calibri" panose="020F0502020204030204"/>
              </a:rPr>
              <a:t>Hence,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we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conclude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surgical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treatment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fracture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neck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femur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elderly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uncemented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hemi- arthroplasty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is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preferable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over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cemented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hemi-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arthroplasty.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491" rIns="0" bIns="0" rtlCol="0">
            <a:spAutoFit/>
          </a:bodyPr>
          <a:lstStyle/>
          <a:p>
            <a:pPr marL="38684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443228"/>
            <a:ext cx="10342245" cy="440880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 marR="5080" indent="324485">
              <a:lnSpc>
                <a:spcPct val="80000"/>
              </a:lnSpc>
              <a:spcBef>
                <a:spcPts val="715"/>
              </a:spcBef>
              <a:buAutoNum type="arabicPeriod"/>
              <a:tabLst>
                <a:tab pos="337185" algn="l"/>
              </a:tabLst>
            </a:pPr>
            <a:r>
              <a:rPr sz="2600" dirty="0">
                <a:latin typeface="Calibri" panose="020F0502020204030204"/>
                <a:cs typeface="Calibri" panose="020F0502020204030204"/>
              </a:rPr>
              <a:t>Hopley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C,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Stengel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D,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Ekkernkamp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A,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Wich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M.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Primary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total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hip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arthroplasty </a:t>
            </a:r>
            <a:r>
              <a:rPr sz="2600" dirty="0">
                <a:latin typeface="Calibri" panose="020F0502020204030204"/>
                <a:cs typeface="Calibri" panose="020F0502020204030204"/>
              </a:rPr>
              <a:t>versus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hemiarthroplasty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for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displaced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intracapsular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hip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fractures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in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older </a:t>
            </a:r>
            <a:r>
              <a:rPr sz="2600" dirty="0">
                <a:latin typeface="Calibri" panose="020F0502020204030204"/>
                <a:cs typeface="Calibri" panose="020F0502020204030204"/>
              </a:rPr>
              <a:t>patients:</a:t>
            </a:r>
            <a:r>
              <a:rPr sz="26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systematic</a:t>
            </a:r>
            <a:r>
              <a:rPr sz="26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25" dirty="0">
                <a:latin typeface="Calibri" panose="020F0502020204030204"/>
                <a:cs typeface="Calibri" panose="020F0502020204030204"/>
              </a:rPr>
              <a:t>review.</a:t>
            </a:r>
            <a:r>
              <a:rPr sz="26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BMJ.</a:t>
            </a:r>
            <a:r>
              <a:rPr sz="26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2010;340:c2332.</a:t>
            </a:r>
            <a:r>
              <a:rPr sz="26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[PubMed]</a:t>
            </a:r>
            <a:r>
              <a:rPr sz="26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[Google Scholar]</a:t>
            </a:r>
            <a:endParaRPr sz="26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335"/>
              </a:spcBef>
              <a:buFont typeface="Calibri" panose="020F0502020204030204"/>
              <a:buAutoNum type="arabicPeriod"/>
            </a:pPr>
            <a:endParaRPr sz="2600">
              <a:latin typeface="Calibri" panose="020F0502020204030204"/>
              <a:cs typeface="Calibri" panose="020F0502020204030204"/>
            </a:endParaRPr>
          </a:p>
          <a:p>
            <a:pPr marL="12700" marR="152400" indent="324485">
              <a:lnSpc>
                <a:spcPct val="79000"/>
              </a:lnSpc>
              <a:buAutoNum type="arabicPeriod"/>
              <a:tabLst>
                <a:tab pos="337185" algn="l"/>
              </a:tabLst>
            </a:pPr>
            <a:r>
              <a:rPr sz="2600" dirty="0">
                <a:latin typeface="Calibri" panose="020F0502020204030204"/>
                <a:cs typeface="Calibri" panose="020F0502020204030204"/>
              </a:rPr>
              <a:t>Wang</a:t>
            </a:r>
            <a:r>
              <a:rPr sz="26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35" dirty="0">
                <a:latin typeface="Calibri" panose="020F0502020204030204"/>
                <a:cs typeface="Calibri" panose="020F0502020204030204"/>
              </a:rPr>
              <a:t>F,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Zhang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H,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Zhang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Z,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Ma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C,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Feng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X.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Comparison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of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bipolar hemiarthroplasty</a:t>
            </a:r>
            <a:r>
              <a:rPr sz="26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and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total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hip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arthroplasty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for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displaced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femoral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neck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fractures</a:t>
            </a:r>
            <a:r>
              <a:rPr sz="2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in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the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healthy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elderly: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25" dirty="0">
                <a:latin typeface="Calibri" panose="020F0502020204030204"/>
                <a:cs typeface="Calibri" panose="020F0502020204030204"/>
              </a:rPr>
              <a:t>meta-</a:t>
            </a:r>
            <a:r>
              <a:rPr sz="2600" dirty="0">
                <a:latin typeface="Calibri" panose="020F0502020204030204"/>
                <a:cs typeface="Calibri" panose="020F0502020204030204"/>
              </a:rPr>
              <a:t>analysis.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BMC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Musculoskelet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Disord. </a:t>
            </a:r>
            <a:r>
              <a:rPr sz="2600" dirty="0">
                <a:latin typeface="Calibri" panose="020F0502020204030204"/>
                <a:cs typeface="Calibri" panose="020F0502020204030204"/>
              </a:rPr>
              <a:t>2015;16:229.</a:t>
            </a:r>
            <a:r>
              <a:rPr sz="26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[PMC</a:t>
            </a:r>
            <a:r>
              <a:rPr sz="26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free</a:t>
            </a:r>
            <a:r>
              <a:rPr sz="26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article]</a:t>
            </a:r>
            <a:r>
              <a:rPr sz="26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[PubMed]</a:t>
            </a:r>
            <a:r>
              <a:rPr sz="26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[Google</a:t>
            </a:r>
            <a:r>
              <a:rPr sz="26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Scholar]</a:t>
            </a:r>
            <a:endParaRPr sz="26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315"/>
              </a:spcBef>
              <a:buFont typeface="Calibri" panose="020F0502020204030204"/>
              <a:buAutoNum type="arabicPeriod"/>
            </a:pPr>
            <a:endParaRPr sz="2600">
              <a:latin typeface="Calibri" panose="020F0502020204030204"/>
              <a:cs typeface="Calibri" panose="020F0502020204030204"/>
            </a:endParaRPr>
          </a:p>
          <a:p>
            <a:pPr marL="12700" marR="719455" indent="324485">
              <a:lnSpc>
                <a:spcPct val="80000"/>
              </a:lnSpc>
              <a:buAutoNum type="arabicPeriod"/>
              <a:tabLst>
                <a:tab pos="337185" algn="l"/>
              </a:tabLst>
            </a:pPr>
            <a:r>
              <a:rPr sz="2600" dirty="0">
                <a:latin typeface="Calibri" panose="020F0502020204030204"/>
                <a:cs typeface="Calibri" panose="020F0502020204030204"/>
              </a:rPr>
              <a:t>Protzman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RR,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Burkhalter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WE.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30" dirty="0">
                <a:latin typeface="Calibri" panose="020F0502020204030204"/>
                <a:cs typeface="Calibri" panose="020F0502020204030204"/>
              </a:rPr>
              <a:t>Femoral-</a:t>
            </a:r>
            <a:r>
              <a:rPr sz="2600" dirty="0">
                <a:latin typeface="Calibri" panose="020F0502020204030204"/>
                <a:cs typeface="Calibri" panose="020F0502020204030204"/>
              </a:rPr>
              <a:t>neck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fractures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in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young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adults. </a:t>
            </a:r>
            <a:r>
              <a:rPr sz="2600" dirty="0">
                <a:latin typeface="Calibri" panose="020F0502020204030204"/>
                <a:cs typeface="Calibri" panose="020F0502020204030204"/>
              </a:rPr>
              <a:t>Bone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Joint</a:t>
            </a:r>
            <a:r>
              <a:rPr sz="2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Surg</a:t>
            </a:r>
            <a:r>
              <a:rPr sz="2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Am.</a:t>
            </a:r>
            <a:r>
              <a:rPr sz="2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1976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Jul;58(5):689-</a:t>
            </a:r>
            <a:r>
              <a:rPr sz="2600" dirty="0">
                <a:latin typeface="Calibri" panose="020F0502020204030204"/>
                <a:cs typeface="Calibri" panose="020F0502020204030204"/>
              </a:rPr>
              <a:t>95.</a:t>
            </a:r>
            <a:r>
              <a:rPr sz="2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[PubMed]</a:t>
            </a:r>
            <a:endParaRPr sz="2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6579" rIns="0" bIns="0" rtlCol="0">
            <a:spAutoFit/>
          </a:bodyPr>
          <a:lstStyle/>
          <a:p>
            <a:pPr marL="37414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227965" indent="310515">
              <a:lnSpc>
                <a:spcPts val="2400"/>
              </a:lnSpc>
              <a:spcBef>
                <a:spcPts val="680"/>
              </a:spcBef>
              <a:buAutoNum type="arabicPeriod" startAt="4"/>
              <a:tabLst>
                <a:tab pos="323215" algn="l"/>
              </a:tabLst>
            </a:pPr>
            <a:r>
              <a:rPr dirty="0"/>
              <a:t>Carroll</a:t>
            </a:r>
            <a:r>
              <a:rPr spc="-130" dirty="0"/>
              <a:t> </a:t>
            </a:r>
            <a:r>
              <a:rPr dirty="0"/>
              <a:t>C,</a:t>
            </a:r>
            <a:r>
              <a:rPr spc="-65" dirty="0"/>
              <a:t> </a:t>
            </a:r>
            <a:r>
              <a:rPr dirty="0"/>
              <a:t>Stevenson</a:t>
            </a:r>
            <a:r>
              <a:rPr spc="-65" dirty="0"/>
              <a:t> </a:t>
            </a:r>
            <a:r>
              <a:rPr dirty="0"/>
              <a:t>M,</a:t>
            </a:r>
            <a:r>
              <a:rPr spc="-65" dirty="0"/>
              <a:t> </a:t>
            </a:r>
            <a:r>
              <a:rPr dirty="0"/>
              <a:t>Scope</a:t>
            </a:r>
            <a:r>
              <a:rPr spc="-60" dirty="0"/>
              <a:t> </a:t>
            </a:r>
            <a:r>
              <a:rPr dirty="0"/>
              <a:t>A,</a:t>
            </a:r>
            <a:r>
              <a:rPr spc="-65" dirty="0"/>
              <a:t> </a:t>
            </a:r>
            <a:r>
              <a:rPr dirty="0"/>
              <a:t>Evans</a:t>
            </a:r>
            <a:r>
              <a:rPr spc="-70" dirty="0"/>
              <a:t> </a:t>
            </a:r>
            <a:r>
              <a:rPr spc="-170" dirty="0"/>
              <a:t>P,</a:t>
            </a:r>
            <a:r>
              <a:rPr spc="-5" dirty="0"/>
              <a:t> </a:t>
            </a:r>
            <a:r>
              <a:rPr dirty="0"/>
              <a:t>Buckley</a:t>
            </a:r>
            <a:r>
              <a:rPr spc="-60" dirty="0"/>
              <a:t> </a:t>
            </a:r>
            <a:r>
              <a:rPr dirty="0"/>
              <a:t>S.</a:t>
            </a:r>
            <a:r>
              <a:rPr spc="-70" dirty="0"/>
              <a:t> </a:t>
            </a:r>
            <a:r>
              <a:rPr spc="-10" dirty="0"/>
              <a:t>Hemiarthroplasty</a:t>
            </a:r>
            <a:r>
              <a:rPr spc="-60" dirty="0"/>
              <a:t> </a:t>
            </a:r>
            <a:r>
              <a:rPr spc="-25" dirty="0"/>
              <a:t>and </a:t>
            </a:r>
            <a:r>
              <a:rPr dirty="0"/>
              <a:t>total</a:t>
            </a:r>
            <a:r>
              <a:rPr spc="-70" dirty="0"/>
              <a:t> </a:t>
            </a:r>
            <a:r>
              <a:rPr dirty="0"/>
              <a:t>hip</a:t>
            </a:r>
            <a:r>
              <a:rPr spc="-70" dirty="0"/>
              <a:t> </a:t>
            </a:r>
            <a:r>
              <a:rPr spc="-10" dirty="0"/>
              <a:t>arthroplasty</a:t>
            </a:r>
            <a:r>
              <a:rPr spc="-6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treating</a:t>
            </a:r>
            <a:r>
              <a:rPr spc="-70" dirty="0"/>
              <a:t> </a:t>
            </a:r>
            <a:r>
              <a:rPr dirty="0"/>
              <a:t>primary</a:t>
            </a:r>
            <a:r>
              <a:rPr spc="-65" dirty="0"/>
              <a:t> </a:t>
            </a:r>
            <a:r>
              <a:rPr spc="-10" dirty="0"/>
              <a:t>intracapsular</a:t>
            </a:r>
            <a:r>
              <a:rPr spc="-65" dirty="0"/>
              <a:t> </a:t>
            </a:r>
            <a:r>
              <a:rPr spc="-10" dirty="0"/>
              <a:t>fracture</a:t>
            </a:r>
            <a:r>
              <a:rPr spc="-6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hip:</a:t>
            </a:r>
            <a:r>
              <a:rPr spc="-65" dirty="0"/>
              <a:t> </a:t>
            </a:r>
            <a:r>
              <a:rPr spc="-50" dirty="0"/>
              <a:t>a </a:t>
            </a:r>
            <a:r>
              <a:rPr spc="-20" dirty="0"/>
              <a:t>systematic</a:t>
            </a:r>
            <a:r>
              <a:rPr spc="-80" dirty="0"/>
              <a:t> </a:t>
            </a:r>
            <a:r>
              <a:rPr dirty="0"/>
              <a:t>review</a:t>
            </a:r>
            <a:r>
              <a:rPr spc="-7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40" dirty="0"/>
              <a:t>cost-</a:t>
            </a:r>
            <a:r>
              <a:rPr spc="-10" dirty="0"/>
              <a:t>effectiveness</a:t>
            </a:r>
            <a:r>
              <a:rPr spc="-75" dirty="0"/>
              <a:t> </a:t>
            </a:r>
            <a:r>
              <a:rPr dirty="0"/>
              <a:t>analysis.</a:t>
            </a:r>
            <a:r>
              <a:rPr spc="-75" dirty="0"/>
              <a:t> </a:t>
            </a:r>
            <a:r>
              <a:rPr dirty="0"/>
              <a:t>Health</a:t>
            </a:r>
            <a:r>
              <a:rPr spc="-70" dirty="0"/>
              <a:t> </a:t>
            </a:r>
            <a:r>
              <a:rPr spc="-25" dirty="0"/>
              <a:t>Technol</a:t>
            </a:r>
            <a:r>
              <a:rPr spc="-70" dirty="0"/>
              <a:t> </a:t>
            </a:r>
            <a:r>
              <a:rPr spc="-10" dirty="0"/>
              <a:t>Assess. </a:t>
            </a:r>
            <a:r>
              <a:rPr dirty="0"/>
              <a:t>2011;15:1–74.</a:t>
            </a:r>
            <a:r>
              <a:rPr spc="-70" dirty="0"/>
              <a:t> </a:t>
            </a:r>
            <a:r>
              <a:rPr dirty="0"/>
              <a:t>[PMC</a:t>
            </a:r>
            <a:r>
              <a:rPr spc="-60" dirty="0"/>
              <a:t> </a:t>
            </a:r>
            <a:r>
              <a:rPr dirty="0"/>
              <a:t>free</a:t>
            </a:r>
            <a:r>
              <a:rPr spc="-55" dirty="0"/>
              <a:t> </a:t>
            </a:r>
            <a:r>
              <a:rPr dirty="0"/>
              <a:t>article]</a:t>
            </a:r>
            <a:r>
              <a:rPr spc="-70" dirty="0"/>
              <a:t> </a:t>
            </a:r>
            <a:r>
              <a:rPr dirty="0"/>
              <a:t>[PubMed]</a:t>
            </a:r>
            <a:r>
              <a:rPr spc="-65" dirty="0"/>
              <a:t> </a:t>
            </a:r>
            <a:r>
              <a:rPr dirty="0"/>
              <a:t>[Google</a:t>
            </a:r>
            <a:r>
              <a:rPr spc="-60" dirty="0"/>
              <a:t> </a:t>
            </a:r>
            <a:r>
              <a:rPr spc="-10" dirty="0"/>
              <a:t>Scholar].</a:t>
            </a:r>
            <a:endParaRPr spc="-10" dirty="0"/>
          </a:p>
          <a:p>
            <a:pPr>
              <a:lnSpc>
                <a:spcPct val="100000"/>
              </a:lnSpc>
              <a:spcBef>
                <a:spcPts val="760"/>
              </a:spcBef>
              <a:buFont typeface="Calibri" panose="020F0502020204030204"/>
              <a:buAutoNum type="arabicPeriod" startAt="4"/>
            </a:pPr>
          </a:p>
          <a:p>
            <a:pPr marL="323215" indent="-310515">
              <a:lnSpc>
                <a:spcPct val="100000"/>
              </a:lnSpc>
              <a:buAutoNum type="arabicPeriod" startAt="4"/>
              <a:tabLst>
                <a:tab pos="323215" algn="l"/>
              </a:tabLst>
            </a:pPr>
            <a:r>
              <a:rPr dirty="0"/>
              <a:t>National</a:t>
            </a:r>
            <a:r>
              <a:rPr spc="-65" dirty="0"/>
              <a:t> </a:t>
            </a:r>
            <a:r>
              <a:rPr dirty="0"/>
              <a:t>Institute</a:t>
            </a:r>
            <a:r>
              <a:rPr spc="-60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Health</a:t>
            </a:r>
            <a:r>
              <a:rPr spc="-6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Care</a:t>
            </a:r>
            <a:r>
              <a:rPr spc="-60" dirty="0"/>
              <a:t> </a:t>
            </a:r>
            <a:r>
              <a:rPr spc="-10" dirty="0"/>
              <a:t>Excellence.</a:t>
            </a:r>
            <a:r>
              <a:rPr spc="-70" dirty="0"/>
              <a:t> </a:t>
            </a:r>
            <a:r>
              <a:rPr dirty="0"/>
              <a:t>Hip</a:t>
            </a:r>
            <a:r>
              <a:rPr spc="-60" dirty="0"/>
              <a:t> </a:t>
            </a:r>
            <a:r>
              <a:rPr spc="-10" dirty="0"/>
              <a:t>fracture:</a:t>
            </a:r>
            <a:endParaRPr spc="-10" dirty="0"/>
          </a:p>
          <a:p>
            <a:pPr marL="12700" marR="5080">
              <a:lnSpc>
                <a:spcPts val="2400"/>
              </a:lnSpc>
              <a:spcBef>
                <a:spcPts val="985"/>
              </a:spcBef>
            </a:pPr>
            <a:r>
              <a:rPr spc="-10" dirty="0"/>
              <a:t>management</a:t>
            </a:r>
            <a:r>
              <a:rPr spc="-70" dirty="0"/>
              <a:t> </a:t>
            </a:r>
            <a:r>
              <a:rPr dirty="0"/>
              <a:t>2011.</a:t>
            </a:r>
            <a:r>
              <a:rPr spc="-70" dirty="0"/>
              <a:t> </a:t>
            </a:r>
            <a:r>
              <a:rPr dirty="0"/>
              <a:t>London:</a:t>
            </a:r>
            <a:r>
              <a:rPr spc="-60" dirty="0"/>
              <a:t> </a:t>
            </a:r>
            <a:r>
              <a:rPr dirty="0"/>
              <a:t>National</a:t>
            </a:r>
            <a:r>
              <a:rPr spc="-65" dirty="0"/>
              <a:t> </a:t>
            </a:r>
            <a:r>
              <a:rPr dirty="0"/>
              <a:t>Institute</a:t>
            </a:r>
            <a:r>
              <a:rPr spc="-60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Health</a:t>
            </a:r>
            <a:r>
              <a:rPr spc="-7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Care</a:t>
            </a:r>
            <a:r>
              <a:rPr spc="-60" dirty="0"/>
              <a:t> </a:t>
            </a:r>
            <a:r>
              <a:rPr spc="-10" dirty="0"/>
              <a:t>Excellence; 2011.</a:t>
            </a:r>
            <a:endParaRPr spc="-10" dirty="0"/>
          </a:p>
          <a:p>
            <a:pPr>
              <a:lnSpc>
                <a:spcPct val="100000"/>
              </a:lnSpc>
              <a:spcBef>
                <a:spcPts val="355"/>
              </a:spcBef>
            </a:pPr>
          </a:p>
          <a:p>
            <a:pPr marL="12700" marR="541655" indent="310515">
              <a:lnSpc>
                <a:spcPct val="114000"/>
              </a:lnSpc>
              <a:buAutoNum type="arabicPeriod" startAt="6"/>
              <a:tabLst>
                <a:tab pos="323215" algn="l"/>
              </a:tabLst>
            </a:pPr>
            <a:r>
              <a:rPr spc="-25" dirty="0"/>
              <a:t>Tuteja</a:t>
            </a:r>
            <a:r>
              <a:rPr spc="-70" dirty="0"/>
              <a:t> </a:t>
            </a:r>
            <a:r>
              <a:rPr spc="-65" dirty="0"/>
              <a:t>SV,</a:t>
            </a:r>
            <a:r>
              <a:rPr spc="-70" dirty="0"/>
              <a:t> </a:t>
            </a:r>
            <a:r>
              <a:rPr dirty="0"/>
              <a:t>Manusukhani</a:t>
            </a:r>
            <a:r>
              <a:rPr spc="-70" dirty="0"/>
              <a:t> </a:t>
            </a:r>
            <a:r>
              <a:rPr dirty="0"/>
              <a:t>SA,</a:t>
            </a:r>
            <a:r>
              <a:rPr spc="-65" dirty="0"/>
              <a:t> </a:t>
            </a:r>
            <a:r>
              <a:rPr dirty="0"/>
              <a:t>Mukhi</a:t>
            </a:r>
            <a:r>
              <a:rPr spc="-70" dirty="0"/>
              <a:t> </a:t>
            </a:r>
            <a:r>
              <a:rPr dirty="0"/>
              <a:t>SR.</a:t>
            </a:r>
            <a:r>
              <a:rPr spc="-75" dirty="0"/>
              <a:t> </a:t>
            </a:r>
            <a:r>
              <a:rPr dirty="0"/>
              <a:t>Functional</a:t>
            </a:r>
            <a:r>
              <a:rPr spc="-65" dirty="0"/>
              <a:t> </a:t>
            </a:r>
            <a:r>
              <a:rPr dirty="0"/>
              <a:t>outcome</a:t>
            </a:r>
            <a:r>
              <a:rPr spc="-65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spc="-10" dirty="0"/>
              <a:t>Bipolar Hemiarthroplasty</a:t>
            </a:r>
            <a:r>
              <a:rPr spc="-60" dirty="0"/>
              <a:t> </a:t>
            </a:r>
            <a:r>
              <a:rPr dirty="0"/>
              <a:t>as</a:t>
            </a:r>
            <a:r>
              <a:rPr spc="-65" dirty="0"/>
              <a:t> </a:t>
            </a:r>
            <a:r>
              <a:rPr dirty="0"/>
              <a:t>against</a:t>
            </a:r>
            <a:r>
              <a:rPr spc="-65" dirty="0"/>
              <a:t> </a:t>
            </a:r>
            <a:r>
              <a:rPr dirty="0"/>
              <a:t>total</a:t>
            </a:r>
            <a:r>
              <a:rPr spc="-60" dirty="0"/>
              <a:t> </a:t>
            </a:r>
            <a:r>
              <a:rPr dirty="0"/>
              <a:t>hip</a:t>
            </a:r>
            <a:r>
              <a:rPr spc="-65" dirty="0"/>
              <a:t> </a:t>
            </a:r>
            <a:r>
              <a:rPr spc="-10" dirty="0"/>
              <a:t>replacement</a:t>
            </a:r>
            <a:r>
              <a:rPr spc="-6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intracapsular fracture</a:t>
            </a:r>
            <a:r>
              <a:rPr spc="-45" dirty="0"/>
              <a:t> </a:t>
            </a:r>
            <a:r>
              <a:rPr dirty="0"/>
              <a:t>neck</a:t>
            </a:r>
            <a:r>
              <a:rPr spc="-45" dirty="0"/>
              <a:t> femur.</a:t>
            </a:r>
            <a:r>
              <a:rPr spc="-50" dirty="0"/>
              <a:t> </a:t>
            </a:r>
            <a:r>
              <a:rPr dirty="0"/>
              <a:t>Int</a:t>
            </a:r>
            <a:r>
              <a:rPr spc="-45" dirty="0"/>
              <a:t> </a:t>
            </a:r>
            <a:r>
              <a:rPr dirty="0"/>
              <a:t>J</a:t>
            </a:r>
            <a:r>
              <a:rPr spc="-40" dirty="0"/>
              <a:t> </a:t>
            </a:r>
            <a:r>
              <a:rPr dirty="0"/>
              <a:t>Med</a:t>
            </a:r>
            <a:r>
              <a:rPr spc="-45" dirty="0"/>
              <a:t> </a:t>
            </a:r>
            <a:r>
              <a:rPr dirty="0"/>
              <a:t>Res</a:t>
            </a:r>
            <a:r>
              <a:rPr spc="-50" dirty="0"/>
              <a:t> </a:t>
            </a:r>
            <a:r>
              <a:rPr dirty="0"/>
              <a:t>Health</a:t>
            </a:r>
            <a:r>
              <a:rPr spc="-45" dirty="0"/>
              <a:t> </a:t>
            </a:r>
            <a:r>
              <a:rPr dirty="0"/>
              <a:t>Sci.</a:t>
            </a:r>
            <a:r>
              <a:rPr spc="-45" dirty="0"/>
              <a:t> </a:t>
            </a:r>
            <a:r>
              <a:rPr dirty="0"/>
              <a:t>2014;</a:t>
            </a:r>
            <a:r>
              <a:rPr spc="-45" dirty="0"/>
              <a:t> </a:t>
            </a:r>
            <a:r>
              <a:rPr dirty="0"/>
              <a:t>3:945</a:t>
            </a:r>
            <a:r>
              <a:rPr spc="-55" dirty="0"/>
              <a:t> </a:t>
            </a:r>
            <a:r>
              <a:rPr spc="-10" dirty="0"/>
              <a:t>-</a:t>
            </a:r>
            <a:r>
              <a:rPr spc="-20" dirty="0"/>
              <a:t>953.</a:t>
            </a:r>
            <a:endParaRPr spc="-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7487" y="2929635"/>
            <a:ext cx="27247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Calibri" panose="020F0502020204030204"/>
                <a:cs typeface="Calibri" panose="020F0502020204030204"/>
              </a:rPr>
              <a:t>THANK</a:t>
            </a:r>
            <a:r>
              <a:rPr sz="4000" spc="-135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latin typeface="Calibri" panose="020F0502020204030204"/>
                <a:cs typeface="Calibri" panose="020F0502020204030204"/>
              </a:rPr>
              <a:t>YOU</a:t>
            </a:r>
            <a:r>
              <a:rPr sz="4000" spc="-135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spc="-50" dirty="0">
                <a:latin typeface="Calibri" panose="020F0502020204030204"/>
                <a:cs typeface="Calibri" panose="020F0502020204030204"/>
              </a:rPr>
              <a:t>.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6999</Words>
  <Application>WPS Presentation</Application>
  <PresentationFormat>On-screen Show (4:3)</PresentationFormat>
  <Paragraphs>151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SimSun</vt:lpstr>
      <vt:lpstr>Wingdings</vt:lpstr>
      <vt:lpstr>Calibri Light</vt:lpstr>
      <vt:lpstr>Calibri</vt:lpstr>
      <vt:lpstr>Arial MT</vt:lpstr>
      <vt:lpstr>Microsoft YaHei</vt:lpstr>
      <vt:lpstr>Arial Unicode MS</vt:lpstr>
      <vt:lpstr>Office Theme</vt:lpstr>
      <vt:lpstr>PROSTHESIS IN THE TREATMENT OF INTRA CAPSULAR FEMORAL NECK FRACTURES IN ELDERLY PEOPLE	“</vt:lpstr>
      <vt:lpstr>INTRODUCTION</vt:lpstr>
      <vt:lpstr>AIM</vt:lpstr>
      <vt:lpstr>OBJECTIVES</vt:lpstr>
      <vt:lpstr>PATIENTS AND METHODS</vt:lpstr>
      <vt:lpstr>METHODOLOGY</vt:lpstr>
      <vt:lpstr>INCLUSION CRITERIA:</vt:lpstr>
      <vt:lpstr>EXCLUSION CRITERIA</vt:lpstr>
      <vt:lpstr>Case 1</vt:lpstr>
      <vt:lpstr>CEMENTED BIPOLAR HEMIARTHROPLASTY INDICATIONS :</vt:lpstr>
      <vt:lpstr>CASE-2</vt:lpstr>
      <vt:lpstr>PowerPoint 演示文稿</vt:lpstr>
      <vt:lpstr>PowerPoint 演示文稿</vt:lpstr>
      <vt:lpstr>DISCUSSION</vt:lpstr>
      <vt:lpstr>PowerPoint 演示文稿</vt:lpstr>
      <vt:lpstr>BARTHEL INDEX</vt:lpstr>
      <vt:lpstr>CONCLUSION</vt:lpstr>
      <vt:lpstr>REFERENCES</vt:lpstr>
      <vt:lpstr>REFERENCES</vt:lpstr>
      <vt:lpstr>THANK YOU 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“A COMPARATIVE STUDY OF FUNCTIONAL RESULTS OF CEMENTED VERSUS UNCEMENTED HEMIARTHROPLASTY USING BIPOLARPROSTHESIS IN THE TREATMENT OF INTRA CAPSULAR FEMORAL NECK FRACTURES IN ELDERLY PEOPLE	“</dc:title>
  <dc:creator/>
  <cp:lastModifiedBy>ram koushik</cp:lastModifiedBy>
  <cp:revision>2</cp:revision>
  <dcterms:created xsi:type="dcterms:W3CDTF">2026-01-29T18:15:48Z</dcterms:created>
  <dcterms:modified xsi:type="dcterms:W3CDTF">2026-01-29T18:18:23Z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2026-01-20T05:30:00Z</vt:filetime>
  </property>
  <property fmtid="{D5CDD505-2E9C-101B-9397-08002B2CF9AE}" pid="3" name="LastSaved">
    <vt:filetime>2026-01-29T05:30:00Z</vt:filetime>
  </property>
  <property fmtid="{D5CDD505-2E9C-101B-9397-08002B2CF9AE}" pid="4" name="Producer">
    <vt:lpwstr>macOS Version 15.6.1 (Build 24G90) Quartz PDFContext</vt:lpwstr>
  </property>
  <property fmtid="{D5CDD505-2E9C-101B-9397-08002B2CF9AE}" pid="5" name="ICV">
    <vt:lpwstr>5ADD1F695AF74807AB55DC4EF8213420_12</vt:lpwstr>
  </property>
  <property fmtid="{D5CDD505-2E9C-101B-9397-08002B2CF9AE}" pid="6" name="KSOProductBuildVer">
    <vt:lpwstr>1033-12.2.0.23196</vt:lpwstr>
  </property>
</Properties>
</file>