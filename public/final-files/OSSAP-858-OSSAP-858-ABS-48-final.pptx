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BDB95E-056A-40CE-BCD6-FE7D112A3A67}" type="datetimeFigureOut">
              <a:rPr lang="en-IN" smtClean="0"/>
              <a:t>09-02-2026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B05A3-E6D2-4722-A0CA-381B345CD00A}" type="slidenum">
              <a:rPr lang="en-IN" smtClean="0"/>
              <a:t>‹#›</a:t>
            </a:fld>
            <a:endParaRPr lang="en-IN"/>
          </a:p>
        </p:txBody>
      </p:sp>
    </p:spTree>
    <p:extLst>
      <p:ext uri="{BB962C8B-B14F-4D97-AF65-F5344CB8AC3E}">
        <p14:creationId xmlns:p14="http://schemas.microsoft.com/office/powerpoint/2010/main" val="607975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26B05A3-E6D2-4722-A0CA-381B345CD00A}" type="slidenum">
              <a:rPr lang="en-IN" smtClean="0"/>
              <a:t>1</a:t>
            </a:fld>
            <a:endParaRPr lang="en-IN"/>
          </a:p>
        </p:txBody>
      </p:sp>
    </p:spTree>
    <p:extLst>
      <p:ext uri="{BB962C8B-B14F-4D97-AF65-F5344CB8AC3E}">
        <p14:creationId xmlns:p14="http://schemas.microsoft.com/office/powerpoint/2010/main" val="3805303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2/9/2026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989056" y="27424"/>
            <a:ext cx="7114033" cy="369332"/>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Orthopedic Surgeon Society of </a:t>
            </a:r>
            <a:r>
              <a:rPr lang="en-US" b="1" dirty="0" err="1">
                <a:solidFill>
                  <a:schemeClr val="bg1"/>
                </a:solidFill>
                <a:latin typeface="Gordita "/>
              </a:rPr>
              <a:t>AndhraPradesh</a:t>
            </a:r>
            <a:endParaRPr lang="en-US" b="1" dirty="0">
              <a:solidFill>
                <a:schemeClr val="bg1"/>
              </a:solidFill>
              <a:latin typeface="Gordita "/>
            </a:endParaRPr>
          </a:p>
        </p:txBody>
      </p:sp>
      <p:sp>
        <p:nvSpPr>
          <p:cNvPr id="19" name="TextBox 18">
            <a:extLst>
              <a:ext uri="{FF2B5EF4-FFF2-40B4-BE49-F238E27FC236}">
                <a16:creationId xmlns:a16="http://schemas.microsoft.com/office/drawing/2014/main" id="{CF1F608A-7742-BF27-09EC-3BB7CA324D68}"/>
              </a:ext>
            </a:extLst>
          </p:cNvPr>
          <p:cNvSpPr txBox="1"/>
          <p:nvPr/>
        </p:nvSpPr>
        <p:spPr>
          <a:xfrm>
            <a:off x="1989056" y="286845"/>
            <a:ext cx="6919656" cy="276999"/>
          </a:xfrm>
          <a:prstGeom prst="rect">
            <a:avLst/>
          </a:prstGeom>
          <a:noFill/>
        </p:spPr>
        <p:txBody>
          <a:bodyPr wrap="square" rtlCol="0">
            <a:spAutoFit/>
          </a:bodyPr>
          <a:lstStyle/>
          <a:p>
            <a:r>
              <a:rPr lang="en-US" sz="1200" b="1" dirty="0">
                <a:solidFill>
                  <a:schemeClr val="bg1"/>
                </a:solidFill>
                <a:latin typeface="Gordita "/>
              </a:rPr>
              <a:t>Date 20– 22 February,2026, Venue : Kurnool Medical College</a:t>
            </a:r>
          </a:p>
        </p:txBody>
      </p:sp>
      <p:sp>
        <p:nvSpPr>
          <p:cNvPr id="20" name="TextBox 19">
            <a:extLst>
              <a:ext uri="{FF2B5EF4-FFF2-40B4-BE49-F238E27FC236}">
                <a16:creationId xmlns:a16="http://schemas.microsoft.com/office/drawing/2014/main" id="{C0616687-624D-607B-6F85-335EE46873F1}"/>
              </a:ext>
            </a:extLst>
          </p:cNvPr>
          <p:cNvSpPr txBox="1"/>
          <p:nvPr/>
        </p:nvSpPr>
        <p:spPr>
          <a:xfrm>
            <a:off x="1989056" y="471578"/>
            <a:ext cx="7700225" cy="769441"/>
          </a:xfrm>
          <a:prstGeom prst="rect">
            <a:avLst/>
          </a:prstGeom>
          <a:noFill/>
        </p:spPr>
        <p:txBody>
          <a:bodyPr wrap="square" rtlCol="0">
            <a:spAutoFit/>
          </a:bodyPr>
          <a:lstStyle/>
          <a:p>
            <a:r>
              <a:rPr lang="en-US" sz="1200" b="1" dirty="0">
                <a:solidFill>
                  <a:schemeClr val="bg1"/>
                </a:solidFill>
                <a:latin typeface="Arial" panose="020B0604020202020204" pitchFamily="34" charset="0"/>
                <a:cs typeface="Arial" panose="020B0604020202020204" pitchFamily="34" charset="0"/>
              </a:rPr>
              <a:t>Organized by : Department of </a:t>
            </a:r>
            <a:r>
              <a:rPr lang="en-US" sz="1200" b="1" dirty="0" err="1">
                <a:solidFill>
                  <a:schemeClr val="bg1"/>
                </a:solidFill>
                <a:latin typeface="Arial" panose="020B0604020202020204" pitchFamily="34" charset="0"/>
                <a:cs typeface="Arial" panose="020B0604020202020204" pitchFamily="34" charset="0"/>
              </a:rPr>
              <a:t>Orthopaedics</a:t>
            </a:r>
            <a:r>
              <a:rPr lang="en-US" sz="1200" b="1" dirty="0">
                <a:solidFill>
                  <a:schemeClr val="bg1"/>
                </a:solidFill>
                <a:latin typeface="Arial" panose="020B0604020202020204" pitchFamily="34" charset="0"/>
                <a:cs typeface="Arial" panose="020B0604020202020204" pitchFamily="34" charset="0"/>
              </a:rPr>
              <a:t>, Kurnool Medical College Kurnool</a:t>
            </a:r>
          </a:p>
          <a:p>
            <a:r>
              <a:rPr lang="en-US" sz="2000" b="1" dirty="0">
                <a:solidFill>
                  <a:schemeClr val="bg1"/>
                </a:solidFill>
              </a:rPr>
              <a:t>REVISION SURGERY FOR HUMERUS SHAFT FRACTURE</a:t>
            </a:r>
            <a:endParaRPr lang="en-US" sz="2000" dirty="0">
              <a:solidFill>
                <a:schemeClr val="bg1"/>
              </a:solidFill>
            </a:endParaRPr>
          </a:p>
          <a:p>
            <a:r>
              <a:rPr lang="en-US" sz="1200" b="1" dirty="0">
                <a:solidFill>
                  <a:schemeClr val="bg1"/>
                </a:solidFill>
                <a:latin typeface="Arial" panose="020B0604020202020204" pitchFamily="34" charset="0"/>
                <a:cs typeface="Arial" panose="020B0604020202020204" pitchFamily="34" charset="0"/>
              </a:rPr>
              <a:t>DR.TANNERU AJAY JUNIOR RESIDENT,MIMS. DR.RAM KALYAN,HOD,MIMS</a:t>
            </a:r>
          </a:p>
        </p:txBody>
      </p:sp>
      <p:sp>
        <p:nvSpPr>
          <p:cNvPr id="4" name="Freeform 13">
            <a:extLst>
              <a:ext uri="{FF2B5EF4-FFF2-40B4-BE49-F238E27FC236}">
                <a16:creationId xmlns:a16="http://schemas.microsoft.com/office/drawing/2014/main" id="{0F401C6F-33A3-A415-AD1A-709059E901BF}"/>
              </a:ext>
            </a:extLst>
          </p:cNvPr>
          <p:cNvSpPr/>
          <p:nvPr/>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0" y="1674797"/>
            <a:ext cx="3108960" cy="3133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900" dirty="0">
              <a:solidFill>
                <a:schemeClr val="tx1"/>
              </a:solidFill>
              <a:latin typeface="Arial" panose="020B0604020202020204" pitchFamily="34" charset="0"/>
              <a:cs typeface="Arial" panose="020B0604020202020204" pitchFamily="34" charset="0"/>
            </a:endParaRPr>
          </a:p>
          <a:p>
            <a:endParaRPr lang="en-US" sz="900" dirty="0">
              <a:solidFill>
                <a:schemeClr val="tx1"/>
              </a:solidFill>
              <a:latin typeface="Arial" panose="020B0604020202020204" pitchFamily="34" charset="0"/>
              <a:cs typeface="Arial" panose="020B0604020202020204" pitchFamily="34" charset="0"/>
            </a:endParaRPr>
          </a:p>
          <a:p>
            <a:endParaRPr lang="en-US" sz="900" dirty="0">
              <a:solidFill>
                <a:schemeClr val="tx1"/>
              </a:solidFill>
              <a:latin typeface="Arial" panose="020B0604020202020204" pitchFamily="34" charset="0"/>
              <a:cs typeface="Arial" panose="020B0604020202020204" pitchFamily="34" charset="0"/>
            </a:endParaRPr>
          </a:p>
          <a:p>
            <a:endParaRPr lang="en-US" sz="900" dirty="0">
              <a:solidFill>
                <a:schemeClr val="tx1"/>
              </a:solidFill>
              <a:latin typeface="Arial" panose="020B0604020202020204" pitchFamily="34" charset="0"/>
              <a:cs typeface="Arial" panose="020B0604020202020204" pitchFamily="34" charset="0"/>
            </a:endParaRPr>
          </a:p>
          <a:p>
            <a:endParaRPr lang="en-US" sz="900" dirty="0">
              <a:solidFill>
                <a:schemeClr val="tx1"/>
              </a:solidFill>
              <a:latin typeface="Arial" panose="020B0604020202020204" pitchFamily="34" charset="0"/>
              <a:cs typeface="Arial" panose="020B0604020202020204" pitchFamily="34" charset="0"/>
            </a:endParaRPr>
          </a:p>
          <a:p>
            <a:r>
              <a:rPr lang="en-US" sz="1300" dirty="0">
                <a:solidFill>
                  <a:schemeClr val="tx1"/>
                </a:solidFill>
                <a:latin typeface="Arial" panose="020B0604020202020204" pitchFamily="34" charset="0"/>
                <a:cs typeface="Arial" panose="020B0604020202020204" pitchFamily="34" charset="0"/>
              </a:rPr>
              <a:t>Implant failure rates can be as high as 22% in humerus plate fixation, particularly in humeral shaft fractures. Failure may occur due to mechanical, biological, or infective causes. Common modes of failure include plate bending or breakage, screw loosening and intra-articular screw </a:t>
            </a:r>
            <a:r>
              <a:rPr lang="en-US" sz="1300" dirty="0" err="1">
                <a:solidFill>
                  <a:schemeClr val="tx1"/>
                </a:solidFill>
                <a:latin typeface="Arial" panose="020B0604020202020204" pitchFamily="34" charset="0"/>
                <a:cs typeface="Arial" panose="020B0604020202020204" pitchFamily="34" charset="0"/>
              </a:rPr>
              <a:t>penetration.Contributing</a:t>
            </a:r>
            <a:r>
              <a:rPr lang="en-US" sz="1300" dirty="0">
                <a:solidFill>
                  <a:schemeClr val="tx1"/>
                </a:solidFill>
                <a:latin typeface="Arial" panose="020B0604020202020204" pitchFamily="34" charset="0"/>
                <a:cs typeface="Arial" panose="020B0604020202020204" pitchFamily="34" charset="0"/>
              </a:rPr>
              <a:t> factors include mechanical overload and bending forces on the implant, improper screw positioning, varus </a:t>
            </a:r>
            <a:r>
              <a:rPr lang="en-US" sz="1300" dirty="0" err="1">
                <a:solidFill>
                  <a:schemeClr val="tx1"/>
                </a:solidFill>
                <a:latin typeface="Arial" panose="020B0604020202020204" pitchFamily="34" charset="0"/>
                <a:cs typeface="Arial" panose="020B0604020202020204" pitchFamily="34" charset="0"/>
              </a:rPr>
              <a:t>malreduction</a:t>
            </a:r>
            <a:r>
              <a:rPr lang="en-US" sz="1300" dirty="0">
                <a:solidFill>
                  <a:schemeClr val="tx1"/>
                </a:solidFill>
                <a:latin typeface="Arial" panose="020B0604020202020204" pitchFamily="34" charset="0"/>
                <a:cs typeface="Arial" panose="020B0604020202020204" pitchFamily="34" charset="0"/>
              </a:rPr>
              <a:t>, lack of medial calcar support, osteoporotic or poor-quality bone, and early or secondary trauma.</a:t>
            </a:r>
          </a:p>
          <a:p>
            <a:endParaRPr lang="en-US" sz="900" dirty="0">
              <a:solidFill>
                <a:schemeClr val="tx1"/>
              </a:solidFill>
              <a:latin typeface="Arial" panose="020B0604020202020204" pitchFamily="34" charset="0"/>
              <a:cs typeface="Arial" panose="020B0604020202020204" pitchFamily="34" charset="0"/>
            </a:endParaRPr>
          </a:p>
          <a:p>
            <a:endParaRPr lang="en-US" sz="1100" dirty="0">
              <a:solidFill>
                <a:schemeClr val="tx1"/>
              </a:solidFill>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EC094F03-F93B-9B6D-7C11-87F9C75E6ABB}"/>
              </a:ext>
            </a:extLst>
          </p:cNvPr>
          <p:cNvSpPr/>
          <p:nvPr/>
        </p:nvSpPr>
        <p:spPr>
          <a:xfrm>
            <a:off x="0" y="5080536"/>
            <a:ext cx="3108960" cy="17774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a:p>
            <a:endParaRPr lang="en-US" dirty="0">
              <a:solidFill>
                <a:schemeClr val="tx1"/>
              </a:solidFill>
            </a:endParaRPr>
          </a:p>
          <a:p>
            <a:r>
              <a:rPr lang="en-US" sz="1200" dirty="0">
                <a:solidFill>
                  <a:schemeClr val="tx1"/>
                </a:solidFill>
                <a:latin typeface="Arial" panose="020B0604020202020204" pitchFamily="34" charset="0"/>
                <a:cs typeface="Arial" panose="020B0604020202020204" pitchFamily="34" charset="0"/>
              </a:rPr>
              <a:t>A 75-year-old male with a previously plated for humeral shaft fracture sustained a </a:t>
            </a:r>
          </a:p>
          <a:p>
            <a:r>
              <a:rPr lang="en-US" sz="1200" dirty="0">
                <a:solidFill>
                  <a:schemeClr val="tx1"/>
                </a:solidFill>
                <a:latin typeface="Arial" panose="020B0604020202020204" pitchFamily="34" charset="0"/>
                <a:cs typeface="Arial" panose="020B0604020202020204" pitchFamily="34" charset="0"/>
              </a:rPr>
              <a:t>second fall leading to implant failure. Revision fixation was done using intramedullary interlocking nailing after plate removal. Recovery was uneventful with </a:t>
            </a:r>
            <a:r>
              <a:rPr lang="en-US" sz="1200" dirty="0" err="1">
                <a:solidFill>
                  <a:schemeClr val="tx1"/>
                </a:solidFill>
                <a:latin typeface="Arial" panose="020B0604020202020204" pitchFamily="34" charset="0"/>
                <a:cs typeface="Arial" panose="020B0604020202020204" pitchFamily="34" charset="0"/>
              </a:rPr>
              <a:t>immobilisation</a:t>
            </a:r>
            <a:r>
              <a:rPr lang="en-US" sz="1200" dirty="0">
                <a:solidFill>
                  <a:schemeClr val="tx1"/>
                </a:solidFill>
                <a:latin typeface="Arial" panose="020B0604020202020204" pitchFamily="34" charset="0"/>
                <a:cs typeface="Arial" panose="020B0604020202020204" pitchFamily="34" charset="0"/>
              </a:rPr>
              <a:t> followed by physiotherapy, and three-month follow-up showed good functional outcome.</a:t>
            </a:r>
          </a:p>
          <a:p>
            <a:endParaRPr lang="en-US" sz="1200"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Arial" panose="020B0604020202020204" pitchFamily="34" charset="0"/>
                <a:cs typeface="Arial" panose="020B0604020202020204" pitchFamily="34" charset="0"/>
              </a:rPr>
              <a:t>Intra-operatively, implant failure with loosening of screws was </a:t>
            </a:r>
          </a:p>
          <a:p>
            <a:r>
              <a:rPr lang="en-US" dirty="0">
                <a:solidFill>
                  <a:schemeClr val="tx1"/>
                </a:solidFill>
                <a:latin typeface="Arial" panose="020B0604020202020204" pitchFamily="34" charset="0"/>
                <a:cs typeface="Arial" panose="020B0604020202020204" pitchFamily="34" charset="0"/>
              </a:rPr>
              <a:t>noted at the </a:t>
            </a:r>
          </a:p>
          <a:p>
            <a:r>
              <a:rPr lang="en-US" dirty="0">
                <a:solidFill>
                  <a:schemeClr val="tx1"/>
                </a:solidFill>
                <a:latin typeface="Arial" panose="020B0604020202020204" pitchFamily="34" charset="0"/>
                <a:cs typeface="Arial" panose="020B0604020202020204" pitchFamily="34" charset="0"/>
              </a:rPr>
              <a:t>fracture site. </a:t>
            </a:r>
          </a:p>
          <a:p>
            <a:endParaRPr lang="en-US" dirty="0">
              <a:solidFill>
                <a:schemeClr val="tx1"/>
              </a:solidFill>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The previously applied plate </a:t>
            </a:r>
          </a:p>
          <a:p>
            <a:r>
              <a:rPr lang="en-US" dirty="0">
                <a:solidFill>
                  <a:schemeClr val="tx1"/>
                </a:solidFill>
                <a:latin typeface="Arial" panose="020B0604020202020204" pitchFamily="34" charset="0"/>
                <a:cs typeface="Arial" panose="020B0604020202020204" pitchFamily="34" charset="0"/>
              </a:rPr>
              <a:t>and screws were removed, and the fracture ends were </a:t>
            </a:r>
            <a:r>
              <a:rPr lang="en-US" dirty="0" err="1">
                <a:solidFill>
                  <a:schemeClr val="tx1"/>
                </a:solidFill>
                <a:latin typeface="Arial" panose="020B0604020202020204" pitchFamily="34" charset="0"/>
                <a:cs typeface="Arial" panose="020B0604020202020204" pitchFamily="34" charset="0"/>
              </a:rPr>
              <a:t>refreshed.Intramedullary</a:t>
            </a:r>
            <a:r>
              <a:rPr lang="en-US" dirty="0">
                <a:solidFill>
                  <a:schemeClr val="tx1"/>
                </a:solidFill>
                <a:latin typeface="Arial" panose="020B0604020202020204" pitchFamily="34" charset="0"/>
                <a:cs typeface="Arial" panose="020B0604020202020204" pitchFamily="34" charset="0"/>
              </a:rPr>
              <a:t> interlocking nailing was performed under fluoroscopic guidance, achieving satisfactory </a:t>
            </a:r>
          </a:p>
          <a:p>
            <a:r>
              <a:rPr lang="en-US" dirty="0">
                <a:solidFill>
                  <a:schemeClr val="tx1"/>
                </a:solidFill>
                <a:latin typeface="Arial" panose="020B0604020202020204" pitchFamily="34" charset="0"/>
                <a:cs typeface="Arial" panose="020B0604020202020204" pitchFamily="34" charset="0"/>
              </a:rPr>
              <a:t>alignment and </a:t>
            </a:r>
          </a:p>
          <a:p>
            <a:r>
              <a:rPr lang="en-US" dirty="0">
                <a:solidFill>
                  <a:schemeClr val="tx1"/>
                </a:solidFill>
                <a:latin typeface="Arial" panose="020B0604020202020204" pitchFamily="34" charset="0"/>
                <a:cs typeface="Arial" panose="020B0604020202020204" pitchFamily="34" charset="0"/>
              </a:rPr>
              <a:t>stable fixation.</a:t>
            </a: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r>
              <a:rPr lang="en-US" dirty="0">
                <a:solidFill>
                  <a:schemeClr val="tx1"/>
                </a:solidFill>
                <a:latin typeface="Arial" panose="020B0604020202020204" pitchFamily="34" charset="0"/>
                <a:cs typeface="Arial" panose="020B0604020202020204" pitchFamily="34" charset="0"/>
              </a:rPr>
              <a:t>Humeral shaft fractures treated with plating may fail due to poor bone quality, inadequate medial support, </a:t>
            </a:r>
            <a:r>
              <a:rPr lang="en-US" dirty="0" err="1">
                <a:solidFill>
                  <a:schemeClr val="tx1"/>
                </a:solidFill>
                <a:latin typeface="Arial" panose="020B0604020202020204" pitchFamily="34" charset="0"/>
                <a:cs typeface="Arial" panose="020B0604020202020204" pitchFamily="34" charset="0"/>
              </a:rPr>
              <a:t>malreduction</a:t>
            </a:r>
            <a:r>
              <a:rPr lang="en-US" dirty="0">
                <a:solidFill>
                  <a:schemeClr val="tx1"/>
                </a:solidFill>
                <a:latin typeface="Arial" panose="020B0604020202020204" pitchFamily="34" charset="0"/>
                <a:cs typeface="Arial" panose="020B0604020202020204" pitchFamily="34" charset="0"/>
              </a:rPr>
              <a:t>, or repeat trauma. In this case, a second fall and probable osteoporotic bone contributed to implant failure. Revision fixation using intramedullary interlocking nailing provided stable load-sharing fixation with minimal soft-tissue disruption and allowed early rehabilitation. This technique is particularly useful in revision settings and in patients with compromised bone quality, offering reliable union and satisfactory functional outcomes.</a:t>
            </a:r>
          </a:p>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Intramedullary interlocking nailing is an effective option for revision of failed humeral shaft plating, particularly in osteoporotic bone, providing stable fixation, good union rates, and satisfactory functional recovery.</a:t>
            </a:r>
          </a:p>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0157"/>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52673" y="1280157"/>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0" y="4807815"/>
            <a:ext cx="3108960" cy="394639"/>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pic>
        <p:nvPicPr>
          <p:cNvPr id="21" name="Picture 20">
            <a:extLst>
              <a:ext uri="{FF2B5EF4-FFF2-40B4-BE49-F238E27FC236}">
                <a16:creationId xmlns:a16="http://schemas.microsoft.com/office/drawing/2014/main" id="{B2AB7C38-B472-7539-6F44-84DBA77092D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89415" y="2275206"/>
            <a:ext cx="1579958" cy="1426305"/>
          </a:xfrm>
          <a:prstGeom prst="rect">
            <a:avLst/>
          </a:prstGeom>
        </p:spPr>
      </p:pic>
      <p:pic>
        <p:nvPicPr>
          <p:cNvPr id="25" name="Picture 24">
            <a:extLst>
              <a:ext uri="{FF2B5EF4-FFF2-40B4-BE49-F238E27FC236}">
                <a16:creationId xmlns:a16="http://schemas.microsoft.com/office/drawing/2014/main" id="{11BF79B7-9C80-2314-0837-EC50058C54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30817" y="5550420"/>
            <a:ext cx="1438556" cy="1280156"/>
          </a:xfrm>
          <a:prstGeom prst="rect">
            <a:avLst/>
          </a:prstGeom>
        </p:spPr>
      </p:pic>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363</Words>
  <Application>Microsoft Office PowerPoint</Application>
  <PresentationFormat>Widescreen</PresentationFormat>
  <Paragraphs>37</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Anish Chaitanya Kadavakollu</cp:lastModifiedBy>
  <cp:revision>11</cp:revision>
  <dcterms:created xsi:type="dcterms:W3CDTF">2026-01-11T06:24:43Z</dcterms:created>
  <dcterms:modified xsi:type="dcterms:W3CDTF">2026-02-09T16:32:07Z</dcterms:modified>
</cp:coreProperties>
</file>