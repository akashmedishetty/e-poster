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9" r:id="rId3"/>
    <p:sldId id="258" r:id="rId4"/>
    <p:sldId id="257" r:id="rId5"/>
    <p:sldId id="261" r:id="rId6"/>
    <p:sldId id="265" r:id="rId7"/>
    <p:sldId id="262" r:id="rId8"/>
    <p:sldId id="260"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6000" y="394405"/>
            <a:ext cx="10800000" cy="792000"/>
          </a:xfrm>
        </p:spPr>
        <p:txBody>
          <a:bodyPr lIns="0" tIns="0" rIns="0" bIns="0"/>
          <a:lstStyle>
            <a:lvl1pPr algn="ctr" fontAlgn="base">
              <a:defRPr sz="3200">
                <a:solidFill>
                  <a:schemeClr val="tx1">
                    <a:lumMod val="85000"/>
                    <a:lumOff val="15000"/>
                  </a:schemeClr>
                </a:solidFill>
                <a:latin typeface="+mj-lt"/>
              </a:defRPr>
            </a:lvl1pPr>
          </a:lstStyle>
          <a:p>
            <a:r>
              <a:rPr lang="en-US" dirty="0"/>
              <a:t>Click to add title</a:t>
            </a:r>
            <a:endParaRPr lang="en-US" dirty="0"/>
          </a:p>
        </p:txBody>
      </p:sp>
      <p:sp>
        <p:nvSpPr>
          <p:cNvPr id="3" name="日期占位符 2"/>
          <p:cNvSpPr>
            <a:spLocks noGrp="1"/>
          </p:cNvSpPr>
          <p:nvPr>
            <p:ph type="dt" sz="half" idx="10"/>
            <p:custDataLst>
              <p:tags r:id="rId3"/>
            </p:custDataLst>
          </p:nvPr>
        </p:nvSpPr>
        <p:spPr>
          <a:xfrm>
            <a:off x="612000" y="6314400"/>
            <a:ext cx="2700000" cy="316800"/>
          </a:xfrm>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image" Target="../media/image4.png"/><Relationship Id="rId15" Type="http://schemas.openxmlformats.org/officeDocument/2006/relationships/image" Target="../media/image3.png"/><Relationship Id="rId14" Type="http://schemas.openxmlformats.org/officeDocument/2006/relationships/image" Target="../media/image2.png"/><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a:rPr>
              <a:t>55</a:t>
            </a:r>
            <a:r>
              <a:rPr lang="en-US" b="1" baseline="30000" dirty="0">
                <a:solidFill>
                  <a:schemeClr val="bg1"/>
                </a:solidFill>
                <a:latin typeface="Gordita "/>
              </a:rPr>
              <a:t>th</a:t>
            </a:r>
            <a:r>
              <a:rPr lang="en-US" b="1" dirty="0">
                <a:solidFill>
                  <a:schemeClr val="bg1"/>
                </a:solidFill>
                <a:latin typeface="Gordita "/>
              </a:rPr>
              <a:t>   Annual Conference of </a:t>
            </a:r>
            <a:endParaRPr lang="en-US" b="1" dirty="0">
              <a:solidFill>
                <a:schemeClr val="bg1"/>
              </a:solidFill>
              <a:latin typeface="Gordita "/>
            </a:endParaRPr>
          </a:p>
          <a:p>
            <a:r>
              <a:rPr lang="en-US" b="1" dirty="0">
                <a:solidFill>
                  <a:schemeClr val="bg1"/>
                </a:solidFill>
                <a:latin typeface="Gordita "/>
              </a:rPr>
              <a:t>Orthopedic Surgeon Society of Andhra Pradesh</a:t>
            </a:r>
            <a:endParaRPr lang="en-US" b="1" dirty="0">
              <a:solidFill>
                <a:schemeClr val="bg1"/>
              </a:solidFill>
              <a:latin typeface="Gordita "/>
            </a:endParaRPr>
          </a:p>
        </p:txBody>
      </p:sp>
      <p:sp>
        <p:nvSpPr>
          <p:cNvPr id="19" name="TextBox 18"/>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endParaRPr lang="en-US" sz="1200" b="1" dirty="0">
              <a:solidFill>
                <a:schemeClr val="bg1"/>
              </a:solidFill>
              <a:latin typeface="Gordita "/>
            </a:endParaRPr>
          </a:p>
        </p:txBody>
      </p:sp>
      <p:sp>
        <p:nvSpPr>
          <p:cNvPr id="20" name="TextBox 19"/>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endParaRPr lang="en-US" sz="1200" b="1" dirty="0">
              <a:solidFill>
                <a:schemeClr val="bg1"/>
              </a:solidFill>
              <a:latin typeface="Gordita "/>
            </a:endParaRPr>
          </a:p>
        </p:txBody>
      </p:sp>
      <p:sp>
        <p:nvSpPr>
          <p:cNvPr id="21" name="Freeform 13"/>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23900" y="1772920"/>
            <a:ext cx="10515600" cy="2162810"/>
          </a:xfrm>
        </p:spPr>
        <p:txBody>
          <a:bodyPr/>
          <a:p>
            <a:pPr algn="ctr"/>
            <a:r>
              <a:rPr lang="en-US" sz="3200" b="1" u="sng" dirty="0">
                <a:latin typeface="Arial" panose="020B0604020202020204" pitchFamily="34" charset="0"/>
                <a:cs typeface="Arial" panose="020B0604020202020204" pitchFamily="34" charset="0"/>
                <a:sym typeface="+mn-ea"/>
              </a:rPr>
              <a:t>Analysis of culture and sensitivity of surgical site microorganisms in post op infection at </a:t>
            </a:r>
            <a:r>
              <a:rPr lang="en-US" sz="3200" b="1" u="sng" dirty="0" err="1">
                <a:latin typeface="Arial" panose="020B0604020202020204" pitchFamily="34" charset="0"/>
                <a:cs typeface="Arial" panose="020B0604020202020204" pitchFamily="34" charset="0"/>
                <a:sym typeface="+mn-ea"/>
              </a:rPr>
              <a:t>Kims</a:t>
            </a:r>
            <a:r>
              <a:rPr lang="en-US" sz="3200" b="1" u="sng" dirty="0">
                <a:latin typeface="Arial" panose="020B0604020202020204" pitchFamily="34" charset="0"/>
                <a:cs typeface="Arial" panose="020B0604020202020204" pitchFamily="34" charset="0"/>
                <a:sym typeface="+mn-ea"/>
              </a:rPr>
              <a:t> hospital</a:t>
            </a:r>
            <a:br>
              <a:rPr lang="en-US" sz="3200" u="sng" dirty="0">
                <a:latin typeface="Arial" panose="020B0604020202020204" pitchFamily="34" charset="0"/>
                <a:cs typeface="Arial" panose="020B0604020202020204" pitchFamily="34" charset="0"/>
                <a:sym typeface="+mn-ea"/>
              </a:rPr>
            </a:br>
            <a:endParaRPr lang="en-US" sz="3200" u="sng" dirty="0">
              <a:latin typeface="Arial" panose="020B0604020202020204" pitchFamily="34" charset="0"/>
              <a:cs typeface="Arial" panose="020B0604020202020204" pitchFamily="34" charset="0"/>
              <a:sym typeface="+mn-ea"/>
            </a:endParaRPr>
          </a:p>
        </p:txBody>
      </p:sp>
      <p:sp>
        <p:nvSpPr>
          <p:cNvPr id="3" name="Content Placeholder 2"/>
          <p:cNvSpPr>
            <a:spLocks noGrp="1"/>
          </p:cNvSpPr>
          <p:nvPr>
            <p:ph idx="1"/>
          </p:nvPr>
        </p:nvSpPr>
        <p:spPr>
          <a:xfrm>
            <a:off x="5812790" y="3643630"/>
            <a:ext cx="8242935" cy="2573655"/>
          </a:xfrm>
        </p:spPr>
        <p:txBody>
          <a:bodyPr/>
          <a:p>
            <a:pPr marL="0" indent="0">
              <a:buNone/>
            </a:pPr>
            <a:r>
              <a:rPr lang="en-US" b="1" dirty="0" err="1" smtClean="0">
                <a:latin typeface="Arial" panose="020B0604020202020204" pitchFamily="34" charset="0"/>
                <a:cs typeface="Arial" panose="020B0604020202020204" pitchFamily="34" charset="0"/>
                <a:sym typeface="+mn-ea"/>
              </a:rPr>
              <a:t>Dr.K</a:t>
            </a:r>
            <a:r>
              <a:rPr lang="en-US" b="1" dirty="0" smtClean="0">
                <a:latin typeface="Arial" panose="020B0604020202020204" pitchFamily="34" charset="0"/>
                <a:cs typeface="Arial" panose="020B0604020202020204" pitchFamily="34" charset="0"/>
                <a:sym typeface="+mn-ea"/>
              </a:rPr>
              <a:t> </a:t>
            </a:r>
            <a:r>
              <a:rPr lang="en-US" b="1" dirty="0" err="1" smtClean="0">
                <a:latin typeface="Arial" panose="020B0604020202020204" pitchFamily="34" charset="0"/>
                <a:cs typeface="Arial" panose="020B0604020202020204" pitchFamily="34" charset="0"/>
                <a:sym typeface="+mn-ea"/>
              </a:rPr>
              <a:t>Guruprasath</a:t>
            </a:r>
            <a:r>
              <a:rPr lang="en-US" b="1" dirty="0" smtClean="0">
                <a:latin typeface="Arial" panose="020B0604020202020204" pitchFamily="34" charset="0"/>
                <a:cs typeface="Arial" panose="020B0604020202020204" pitchFamily="34" charset="0"/>
                <a:sym typeface="+mn-ea"/>
              </a:rPr>
              <a:t>, </a:t>
            </a:r>
            <a:endParaRPr lang="en-US" b="1" dirty="0" smtClean="0">
              <a:latin typeface="Arial" panose="020B0604020202020204" pitchFamily="34" charset="0"/>
              <a:cs typeface="Arial" panose="020B0604020202020204" pitchFamily="34" charset="0"/>
            </a:endParaRPr>
          </a:p>
          <a:p>
            <a:pPr marL="0" indent="0">
              <a:buNone/>
            </a:pPr>
            <a:r>
              <a:rPr lang="en-US" b="1" dirty="0" smtClean="0">
                <a:latin typeface="Arial" panose="020B0604020202020204" pitchFamily="34" charset="0"/>
                <a:cs typeface="Arial" panose="020B0604020202020204" pitchFamily="34" charset="0"/>
                <a:sym typeface="+mn-ea"/>
              </a:rPr>
              <a:t>Second year PG,</a:t>
            </a:r>
            <a:endParaRPr lang="en-US" b="1" dirty="0" smtClean="0">
              <a:latin typeface="Arial" panose="020B0604020202020204" pitchFamily="34" charset="0"/>
              <a:cs typeface="Arial" panose="020B0604020202020204" pitchFamily="34" charset="0"/>
            </a:endParaRPr>
          </a:p>
          <a:p>
            <a:pPr marL="0" indent="0">
              <a:buNone/>
            </a:pPr>
            <a:r>
              <a:rPr lang="en-US" b="1" dirty="0" smtClean="0">
                <a:latin typeface="Arial" panose="020B0604020202020204" pitchFamily="34" charset="0"/>
                <a:cs typeface="Arial" panose="020B0604020202020204" pitchFamily="34" charset="0"/>
                <a:sym typeface="+mn-ea"/>
              </a:rPr>
              <a:t>KIMS&amp;RF,</a:t>
            </a:r>
            <a:endParaRPr lang="en-US" b="1" dirty="0" smtClean="0">
              <a:latin typeface="Arial" panose="020B0604020202020204" pitchFamily="34" charset="0"/>
              <a:cs typeface="Arial" panose="020B0604020202020204" pitchFamily="34" charset="0"/>
            </a:endParaRPr>
          </a:p>
          <a:p>
            <a:pPr marL="0" indent="0">
              <a:buNone/>
            </a:pPr>
            <a:r>
              <a:rPr lang="en-US" b="1" dirty="0" err="1" smtClean="0">
                <a:latin typeface="Arial" panose="020B0604020202020204" pitchFamily="34" charset="0"/>
                <a:cs typeface="Arial" panose="020B0604020202020204" pitchFamily="34" charset="0"/>
                <a:sym typeface="+mn-ea"/>
              </a:rPr>
              <a:t>Amalapuram</a:t>
            </a:r>
            <a:r>
              <a:rPr lang="en-US" b="1" dirty="0" smtClean="0">
                <a:latin typeface="Arial" panose="020B0604020202020204" pitchFamily="34" charset="0"/>
                <a:cs typeface="Arial" panose="020B0604020202020204" pitchFamily="34" charset="0"/>
                <a:sym typeface="+mn-ea"/>
              </a:rPr>
              <a:t>.</a:t>
            </a:r>
            <a:endParaRPr lang="en-US" b="1" dirty="0">
              <a:latin typeface="Arial" panose="020B0604020202020204" pitchFamily="34" charset="0"/>
              <a:cs typeface="Arial" panose="020B0604020202020204" pitchFamily="34" charset="0"/>
            </a:endParaRPr>
          </a:p>
          <a:p>
            <a:pPr marL="0" indent="0">
              <a:buNone/>
            </a:pPr>
            <a:endParaRPr lang="en-US">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297305"/>
            <a:ext cx="10515600" cy="393700"/>
          </a:xfrm>
        </p:spPr>
        <p:txBody>
          <a:bodyPr/>
          <a:p>
            <a:pPr algn="ctr"/>
            <a:r>
              <a:rPr lang="en-US" sz="2800" b="1" u="sng" dirty="0" smtClean="0">
                <a:latin typeface="Arial" panose="020B0604020202020204" pitchFamily="34" charset="0"/>
                <a:cs typeface="Arial" panose="020B0604020202020204" pitchFamily="34" charset="0"/>
                <a:sym typeface="+mn-ea"/>
              </a:rPr>
              <a:t>INTRODUCTION</a:t>
            </a:r>
            <a:br>
              <a:rPr lang="en-US" sz="2800" u="sng" dirty="0" smtClean="0">
                <a:latin typeface="Arial" panose="020B0604020202020204" pitchFamily="34" charset="0"/>
                <a:cs typeface="Arial" panose="020B0604020202020204" pitchFamily="34" charset="0"/>
                <a:sym typeface="+mn-ea"/>
              </a:rPr>
            </a:br>
            <a:endParaRPr lang="en-US" sz="2800" u="sng" dirty="0" smtClean="0">
              <a:latin typeface="Arial" panose="020B0604020202020204" pitchFamily="34" charset="0"/>
              <a:cs typeface="Arial" panose="020B0604020202020204" pitchFamily="34" charset="0"/>
              <a:sym typeface="+mn-ea"/>
            </a:endParaRPr>
          </a:p>
        </p:txBody>
      </p:sp>
      <p:sp>
        <p:nvSpPr>
          <p:cNvPr id="3" name="Content Placeholder 2"/>
          <p:cNvSpPr>
            <a:spLocks noGrp="1"/>
          </p:cNvSpPr>
          <p:nvPr>
            <p:ph idx="1"/>
          </p:nvPr>
        </p:nvSpPr>
        <p:spPr/>
        <p:txBody>
          <a:bodyPr/>
          <a:p>
            <a:r>
              <a:rPr lang="en-US" sz="2400" dirty="0" smtClean="0">
                <a:latin typeface="Arial" panose="020B0604020202020204" pitchFamily="34" charset="0"/>
                <a:cs typeface="Arial" panose="020B0604020202020204" pitchFamily="34" charset="0"/>
                <a:sym typeface="+mn-ea"/>
              </a:rPr>
              <a:t>Surgical site infections (SSIs) are among the most common postoperative complications, leading to significant morbidity, prolonged hospitalization, and increased healthcare costs worldwide. </a:t>
            </a:r>
            <a:endParaRPr lang="en-US" sz="2400" dirty="0" smtClean="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sym typeface="+mn-ea"/>
              </a:rPr>
              <a:t>Culture and sensitivity testing remains the gold standard for pathogen identification and selection of appropriate antimicrobial therapy, while also providing crucial epidemiological data for guiding empirical treatment, strengthening infection control practices, and limiting antimicrobial resistance. </a:t>
            </a:r>
            <a:endParaRPr lang="en-US" sz="2400" dirty="0" smtClean="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sym typeface="+mn-ea"/>
              </a:rPr>
              <a:t>As a tertiary care referral center managing a large surgical population, KIMS Hospital faces a significant burden of postoperative infections; therefore, evaluating the bacteriological profile of SSIs and their antimicrobial susceptibility patterns is essential to ensure rational and effective antibiotic use.</a:t>
            </a: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287780"/>
            <a:ext cx="10515600" cy="469900"/>
          </a:xfrm>
        </p:spPr>
        <p:txBody>
          <a:bodyPr/>
          <a:p>
            <a:pPr algn="ctr"/>
            <a:r>
              <a:rPr lang="en-US" sz="2800" b="1" u="sng" dirty="0" smtClean="0">
                <a:latin typeface="Arial" panose="020B0604020202020204" pitchFamily="34" charset="0"/>
                <a:cs typeface="Arial" panose="020B0604020202020204" pitchFamily="34" charset="0"/>
                <a:sym typeface="+mn-ea"/>
              </a:rPr>
              <a:t>AIM AND OBJECTIVES</a:t>
            </a:r>
            <a:br>
              <a:rPr lang="en-US" sz="2800" u="sng" dirty="0" smtClean="0">
                <a:latin typeface="Arial" panose="020B0604020202020204" pitchFamily="34" charset="0"/>
                <a:cs typeface="Arial" panose="020B0604020202020204" pitchFamily="34" charset="0"/>
                <a:sym typeface="+mn-ea"/>
              </a:rPr>
            </a:br>
            <a:endParaRPr lang="en-US" sz="280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52475" y="1691005"/>
            <a:ext cx="10515600" cy="4351338"/>
          </a:xfrm>
        </p:spPr>
        <p:txBody>
          <a:bodyPr/>
          <a:p>
            <a:pPr>
              <a:buNone/>
            </a:pPr>
            <a:r>
              <a:rPr lang="en-US" sz="2400" b="1" u="sng" dirty="0" smtClean="0">
                <a:latin typeface="Arial" panose="020B0604020202020204" pitchFamily="34" charset="0"/>
                <a:cs typeface="Arial" panose="020B0604020202020204" pitchFamily="34" charset="0"/>
                <a:sym typeface="+mn-ea"/>
              </a:rPr>
              <a:t>Aim </a:t>
            </a:r>
            <a:endParaRPr lang="en-US" sz="2400" u="sng"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sym typeface="+mn-ea"/>
              </a:rPr>
              <a:t>To analyze the microbial profile of surgical site infections (SSIs) in postoperative patients at KIMS Hospital and to evaluate their antimicrobial sensitivity pattern.</a:t>
            </a:r>
            <a:endParaRPr lang="en-US" sz="2400" b="1" dirty="0" smtClean="0">
              <a:latin typeface="Arial" panose="020B0604020202020204" pitchFamily="34" charset="0"/>
              <a:cs typeface="Arial" panose="020B0604020202020204" pitchFamily="34" charset="0"/>
            </a:endParaRPr>
          </a:p>
          <a:p>
            <a:pPr>
              <a:buNone/>
            </a:pPr>
            <a:r>
              <a:rPr lang="en-US" sz="2400" b="1" u="sng" dirty="0" smtClean="0">
                <a:latin typeface="Arial" panose="020B0604020202020204" pitchFamily="34" charset="0"/>
                <a:cs typeface="Arial" panose="020B0604020202020204" pitchFamily="34" charset="0"/>
                <a:sym typeface="+mn-ea"/>
              </a:rPr>
              <a:t>Objectives</a:t>
            </a:r>
            <a:endParaRPr lang="en-US" sz="2400" u="sng" dirty="0">
              <a:latin typeface="Arial" panose="020B0604020202020204" pitchFamily="34" charset="0"/>
              <a:cs typeface="Arial" panose="020B0604020202020204" pitchFamily="34" charset="0"/>
            </a:endParaRPr>
          </a:p>
          <a:p>
            <a:pPr lvl="0">
              <a:buFont typeface="Wingdings" panose="05000000000000000000" pitchFamily="2" charset="2"/>
              <a:buChar char="Ø"/>
            </a:pPr>
            <a:r>
              <a:rPr lang="en-US" sz="2400" dirty="0">
                <a:latin typeface="Arial" panose="020B0604020202020204" pitchFamily="34" charset="0"/>
                <a:cs typeface="Arial" panose="020B0604020202020204" pitchFamily="34" charset="0"/>
                <a:sym typeface="+mn-ea"/>
              </a:rPr>
              <a:t>To identify the bacterial pathogens responsible for surgical site infections in postoperative patients.</a:t>
            </a:r>
            <a:endParaRPr lang="en-US" sz="2400" dirty="0">
              <a:latin typeface="Arial" panose="020B0604020202020204" pitchFamily="34" charset="0"/>
              <a:cs typeface="Arial" panose="020B0604020202020204" pitchFamily="34" charset="0"/>
            </a:endParaRPr>
          </a:p>
          <a:p>
            <a:pPr lvl="0">
              <a:buFont typeface="Wingdings" panose="05000000000000000000" pitchFamily="2" charset="2"/>
              <a:buChar char="Ø"/>
            </a:pPr>
            <a:r>
              <a:rPr lang="en-US" sz="2400" dirty="0">
                <a:latin typeface="Arial" panose="020B0604020202020204" pitchFamily="34" charset="0"/>
                <a:cs typeface="Arial" panose="020B0604020202020204" pitchFamily="34" charset="0"/>
                <a:sym typeface="+mn-ea"/>
              </a:rPr>
              <a:t>To determine the antimicrobial susceptibility patterns of the isolated pathogens.</a:t>
            </a:r>
            <a:endParaRPr lang="en-US" sz="2400" dirty="0">
              <a:latin typeface="Arial" panose="020B0604020202020204" pitchFamily="34" charset="0"/>
              <a:cs typeface="Arial" panose="020B0604020202020204" pitchFamily="34" charset="0"/>
            </a:endParaRPr>
          </a:p>
          <a:p>
            <a:pPr lvl="0">
              <a:buFont typeface="Wingdings" panose="05000000000000000000" pitchFamily="2" charset="2"/>
              <a:buChar char="Ø"/>
            </a:pPr>
            <a:r>
              <a:rPr lang="en-US" sz="2400" dirty="0">
                <a:latin typeface="Arial" panose="020B0604020202020204" pitchFamily="34" charset="0"/>
                <a:cs typeface="Arial" panose="020B0604020202020204" pitchFamily="34" charset="0"/>
                <a:sym typeface="+mn-ea"/>
              </a:rPr>
              <a:t>To assess the prevalence of multidrug-resistant (MDR) strains among the isolates.</a:t>
            </a:r>
            <a:endParaRPr lang="en-US" sz="2400" dirty="0">
              <a:latin typeface="Arial" panose="020B0604020202020204" pitchFamily="34" charset="0"/>
              <a:cs typeface="Arial" panose="020B0604020202020204" pitchFamily="34" charset="0"/>
            </a:endParaRPr>
          </a:p>
          <a:p>
            <a:pPr>
              <a:buFont typeface="Wingdings" panose="05000000000000000000" pitchFamily="2" charset="2"/>
              <a:buChar char="Ø"/>
            </a:pPr>
            <a:r>
              <a:rPr lang="en-US" sz="2400" dirty="0">
                <a:latin typeface="Arial" panose="020B0604020202020204" pitchFamily="34" charset="0"/>
                <a:cs typeface="Arial" panose="020B0604020202020204" pitchFamily="34" charset="0"/>
                <a:sym typeface="+mn-ea"/>
              </a:rPr>
              <a:t>To provide data that can guide rational empirical antibiotic therapy and strengthen infection control measures.</a:t>
            </a: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449070"/>
            <a:ext cx="10515600" cy="688975"/>
          </a:xfrm>
        </p:spPr>
        <p:txBody>
          <a:bodyPr/>
          <a:p>
            <a:pPr algn="ctr"/>
            <a:r>
              <a:rPr lang="en-US" sz="2800" b="1" u="sng" dirty="0" smtClean="0">
                <a:latin typeface="Arial" panose="020B0604020202020204" pitchFamily="34" charset="0"/>
                <a:cs typeface="Arial" panose="020B0604020202020204" pitchFamily="34" charset="0"/>
                <a:sym typeface="+mn-ea"/>
              </a:rPr>
              <a:t>MATERIALS AND METHODS</a:t>
            </a:r>
            <a:br>
              <a:rPr lang="en-US" sz="2800" u="sng" dirty="0" smtClean="0">
                <a:latin typeface="Arial" panose="020B0604020202020204" pitchFamily="34" charset="0"/>
                <a:cs typeface="Arial" panose="020B0604020202020204" pitchFamily="34" charset="0"/>
                <a:sym typeface="+mn-ea"/>
              </a:rPr>
            </a:br>
            <a:endParaRPr lang="en-US" sz="2800" u="sng" dirty="0" smtClean="0">
              <a:latin typeface="Arial" panose="020B0604020202020204" pitchFamily="34" charset="0"/>
              <a:cs typeface="Arial" panose="020B0604020202020204" pitchFamily="34" charset="0"/>
              <a:sym typeface="+mn-ea"/>
            </a:endParaRPr>
          </a:p>
        </p:txBody>
      </p:sp>
      <p:sp>
        <p:nvSpPr>
          <p:cNvPr id="3" name="Content Placeholder 2"/>
          <p:cNvSpPr>
            <a:spLocks noGrp="1"/>
          </p:cNvSpPr>
          <p:nvPr>
            <p:ph idx="1"/>
          </p:nvPr>
        </p:nvSpPr>
        <p:spPr>
          <a:xfrm>
            <a:off x="904240" y="2406015"/>
            <a:ext cx="10515600" cy="4351338"/>
          </a:xfrm>
        </p:spPr>
        <p:txBody>
          <a:bodyPr/>
          <a:p>
            <a:pPr lvl="0"/>
            <a:r>
              <a:rPr lang="en-US" sz="2400" b="1" dirty="0" smtClean="0">
                <a:latin typeface="Arial" panose="020B0604020202020204" pitchFamily="34" charset="0"/>
                <a:cs typeface="Arial" panose="020B0604020202020204" pitchFamily="34" charset="0"/>
                <a:sym typeface="+mn-ea"/>
              </a:rPr>
              <a:t>Study </a:t>
            </a:r>
            <a:r>
              <a:rPr lang="en-US" sz="2400" b="1" dirty="0" err="1">
                <a:latin typeface="Arial" panose="020B0604020202020204" pitchFamily="34" charset="0"/>
                <a:cs typeface="Arial" panose="020B0604020202020204" pitchFamily="34" charset="0"/>
                <a:sym typeface="+mn-ea"/>
              </a:rPr>
              <a:t>Design:</a:t>
            </a:r>
            <a:r>
              <a:rPr lang="en-US" sz="2400" dirty="0" err="1">
                <a:latin typeface="Arial" panose="020B0604020202020204" pitchFamily="34" charset="0"/>
                <a:cs typeface="Arial" panose="020B0604020202020204" pitchFamily="34" charset="0"/>
                <a:sym typeface="+mn-ea"/>
              </a:rPr>
              <a:t>A</a:t>
            </a:r>
            <a:r>
              <a:rPr lang="en-US" sz="2400" dirty="0">
                <a:latin typeface="Arial" panose="020B0604020202020204" pitchFamily="34" charset="0"/>
                <a:cs typeface="Arial" panose="020B0604020202020204" pitchFamily="34" charset="0"/>
                <a:sym typeface="+mn-ea"/>
              </a:rPr>
              <a:t> descriptive observational study.</a:t>
            </a:r>
            <a:endParaRPr lang="en-US" sz="2400" dirty="0">
              <a:latin typeface="Arial" panose="020B0604020202020204" pitchFamily="34" charset="0"/>
              <a:cs typeface="Arial" panose="020B0604020202020204" pitchFamily="34" charset="0"/>
            </a:endParaRPr>
          </a:p>
          <a:p>
            <a:pPr lvl="0"/>
            <a:r>
              <a:rPr lang="en-US" sz="2400" b="1" dirty="0">
                <a:latin typeface="Arial" panose="020B0604020202020204" pitchFamily="34" charset="0"/>
                <a:cs typeface="Arial" panose="020B0604020202020204" pitchFamily="34" charset="0"/>
                <a:sym typeface="+mn-ea"/>
              </a:rPr>
              <a:t>Study </a:t>
            </a:r>
            <a:r>
              <a:rPr lang="en-US" sz="2400" b="1" dirty="0" err="1">
                <a:latin typeface="Arial" panose="020B0604020202020204" pitchFamily="34" charset="0"/>
                <a:cs typeface="Arial" panose="020B0604020202020204" pitchFamily="34" charset="0"/>
                <a:sym typeface="+mn-ea"/>
              </a:rPr>
              <a:t>Setting:</a:t>
            </a:r>
            <a:r>
              <a:rPr lang="en-US" sz="2400" dirty="0" err="1">
                <a:latin typeface="Arial" panose="020B0604020202020204" pitchFamily="34" charset="0"/>
                <a:cs typeface="Arial" panose="020B0604020202020204" pitchFamily="34" charset="0"/>
                <a:sym typeface="+mn-ea"/>
              </a:rPr>
              <a:t>Conducted</a:t>
            </a:r>
            <a:r>
              <a:rPr lang="en-US" sz="2400" dirty="0">
                <a:latin typeface="Arial" panose="020B0604020202020204" pitchFamily="34" charset="0"/>
                <a:cs typeface="Arial" panose="020B0604020202020204" pitchFamily="34" charset="0"/>
                <a:sym typeface="+mn-ea"/>
              </a:rPr>
              <a:t> at KIMS Hospital, a tertiary care center </a:t>
            </a:r>
            <a:endParaRPr lang="en-US" sz="2400" dirty="0">
              <a:latin typeface="Arial" panose="020B0604020202020204" pitchFamily="34" charset="0"/>
              <a:cs typeface="Arial" panose="020B0604020202020204" pitchFamily="34" charset="0"/>
            </a:endParaRPr>
          </a:p>
          <a:p>
            <a:pPr lvl="0"/>
            <a:r>
              <a:rPr lang="en-US" sz="2400" b="1" dirty="0">
                <a:latin typeface="Arial" panose="020B0604020202020204" pitchFamily="34" charset="0"/>
                <a:cs typeface="Arial" panose="020B0604020202020204" pitchFamily="34" charset="0"/>
                <a:sym typeface="+mn-ea"/>
              </a:rPr>
              <a:t>Study </a:t>
            </a:r>
            <a:r>
              <a:rPr lang="en-US" sz="2400" b="1" dirty="0" err="1">
                <a:latin typeface="Arial" panose="020B0604020202020204" pitchFamily="34" charset="0"/>
                <a:cs typeface="Arial" panose="020B0604020202020204" pitchFamily="34" charset="0"/>
                <a:sym typeface="+mn-ea"/>
              </a:rPr>
              <a:t>Population:</a:t>
            </a:r>
            <a:r>
              <a:rPr lang="en-US" sz="2400" dirty="0" err="1">
                <a:latin typeface="Arial" panose="020B0604020202020204" pitchFamily="34" charset="0"/>
                <a:cs typeface="Arial" panose="020B0604020202020204" pitchFamily="34" charset="0"/>
                <a:sym typeface="+mn-ea"/>
              </a:rPr>
              <a:t>Postoperative</a:t>
            </a:r>
            <a:r>
              <a:rPr lang="en-US" sz="2400" dirty="0">
                <a:latin typeface="Arial" panose="020B0604020202020204" pitchFamily="34" charset="0"/>
                <a:cs typeface="Arial" panose="020B0604020202020204" pitchFamily="34" charset="0"/>
                <a:sym typeface="+mn-ea"/>
              </a:rPr>
              <a:t> patients presenting with clinical features suggestive of surgical site infections.</a:t>
            </a:r>
            <a:endParaRPr lang="en-US" sz="2400" dirty="0">
              <a:latin typeface="Arial" panose="020B0604020202020204" pitchFamily="34" charset="0"/>
              <a:cs typeface="Arial" panose="020B0604020202020204" pitchFamily="34" charset="0"/>
            </a:endParaRPr>
          </a:p>
          <a:p>
            <a:pPr lvl="0"/>
            <a:r>
              <a:rPr lang="en-US" sz="2400" b="1" dirty="0">
                <a:latin typeface="Arial" panose="020B0604020202020204" pitchFamily="34" charset="0"/>
                <a:cs typeface="Arial" panose="020B0604020202020204" pitchFamily="34" charset="0"/>
                <a:sym typeface="+mn-ea"/>
              </a:rPr>
              <a:t>Sample </a:t>
            </a:r>
            <a:r>
              <a:rPr lang="en-US" sz="2400" b="1" dirty="0" err="1">
                <a:latin typeface="Arial" panose="020B0604020202020204" pitchFamily="34" charset="0"/>
                <a:cs typeface="Arial" panose="020B0604020202020204" pitchFamily="34" charset="0"/>
                <a:sym typeface="+mn-ea"/>
              </a:rPr>
              <a:t>Collection:</a:t>
            </a:r>
            <a:r>
              <a:rPr lang="en-US" sz="2400" dirty="0" err="1">
                <a:latin typeface="Arial" panose="020B0604020202020204" pitchFamily="34" charset="0"/>
                <a:cs typeface="Arial" panose="020B0604020202020204" pitchFamily="34" charset="0"/>
                <a:sym typeface="+mn-ea"/>
              </a:rPr>
              <a:t>Wound</a:t>
            </a:r>
            <a:r>
              <a:rPr lang="en-US" sz="2400" dirty="0">
                <a:latin typeface="Arial" panose="020B0604020202020204" pitchFamily="34" charset="0"/>
                <a:cs typeface="Arial" panose="020B0604020202020204" pitchFamily="34" charset="0"/>
                <a:sym typeface="+mn-ea"/>
              </a:rPr>
              <a:t> swabs or pus samples were collected aseptically from patients with suspected SSIs following standard protocols.</a:t>
            </a: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838200" y="1691005"/>
            <a:ext cx="10515600" cy="4351338"/>
          </a:xfrm>
        </p:spPr>
        <p:txBody>
          <a:bodyPr/>
          <a:p>
            <a:pPr lvl="0"/>
            <a:r>
              <a:rPr lang="en-US" sz="2400" b="1" dirty="0">
                <a:latin typeface="Arial" panose="020B0604020202020204" pitchFamily="34" charset="0"/>
                <a:cs typeface="Arial" panose="020B0604020202020204" pitchFamily="34" charset="0"/>
                <a:sym typeface="+mn-ea"/>
              </a:rPr>
              <a:t>Laboratory Processing:</a:t>
            </a:r>
            <a:endParaRPr lang="en-US" sz="2400"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sym typeface="+mn-ea"/>
              </a:rPr>
              <a:t>Culture and sensitivity testing of the collected samples were performed using standard microbiological techniques.</a:t>
            </a:r>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sym typeface="+mn-ea"/>
              </a:rPr>
              <a:t>Isolation and identification of bacterial pathogens were done according to conventional methods.</a:t>
            </a:r>
            <a:endParaRPr lang="en-US" dirty="0">
              <a:latin typeface="Arial" panose="020B0604020202020204" pitchFamily="34" charset="0"/>
              <a:cs typeface="Arial" panose="020B0604020202020204" pitchFamily="34" charset="0"/>
            </a:endParaRPr>
          </a:p>
          <a:p>
            <a:pPr lvl="1"/>
            <a:r>
              <a:rPr lang="en-US" dirty="0">
                <a:latin typeface="Arial" panose="020B0604020202020204" pitchFamily="34" charset="0"/>
                <a:cs typeface="Arial" panose="020B0604020202020204" pitchFamily="34" charset="0"/>
                <a:sym typeface="+mn-ea"/>
              </a:rPr>
              <a:t>Antimicrobial susceptibility testing was conducted using the Kirby-Bauer disk diffusion method following CLSI guidelines.</a:t>
            </a:r>
            <a:endParaRPr lang="en-US" dirty="0">
              <a:latin typeface="Arial" panose="020B0604020202020204" pitchFamily="34" charset="0"/>
              <a:cs typeface="Arial" panose="020B0604020202020204" pitchFamily="34" charset="0"/>
            </a:endParaRPr>
          </a:p>
          <a:p>
            <a:pPr lvl="0"/>
            <a:r>
              <a:rPr lang="en-US" sz="2400" b="1" dirty="0">
                <a:latin typeface="Arial" panose="020B0604020202020204" pitchFamily="34" charset="0"/>
                <a:cs typeface="Arial" panose="020B0604020202020204" pitchFamily="34" charset="0"/>
                <a:sym typeface="+mn-ea"/>
              </a:rPr>
              <a:t>Data Analysis:</a:t>
            </a: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sym typeface="+mn-ea"/>
              </a:rPr>
              <a:t>The results of bacterial isolates and their antibiotic sensitivity patterns were analyzed and tabulated to understand the prevalent microbial profile and resistance patterns.</a:t>
            </a: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sym typeface="+mn-ea"/>
              </a:rPr>
              <a:t>SPSS version 27 was used for analysis</a:t>
            </a: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354455"/>
            <a:ext cx="10515600" cy="393700"/>
          </a:xfrm>
        </p:spPr>
        <p:txBody>
          <a:bodyPr/>
          <a:p>
            <a:pPr algn="ctr"/>
            <a:r>
              <a:rPr lang="en-US" sz="2800" b="1" u="sng" dirty="0" smtClean="0">
                <a:latin typeface="Arial" panose="020B0604020202020204" pitchFamily="34" charset="0"/>
                <a:cs typeface="Arial" panose="020B0604020202020204" pitchFamily="34" charset="0"/>
                <a:sym typeface="+mn-ea"/>
              </a:rPr>
              <a:t>RESULTS</a:t>
            </a:r>
            <a:br>
              <a:rPr lang="en-US" sz="2800" u="sng" dirty="0" smtClean="0">
                <a:latin typeface="Arial" panose="020B0604020202020204" pitchFamily="34" charset="0"/>
                <a:cs typeface="Arial" panose="020B0604020202020204" pitchFamily="34" charset="0"/>
                <a:sym typeface="+mn-ea"/>
              </a:rPr>
            </a:br>
            <a:endParaRPr lang="en-US" sz="2800" u="sng" dirty="0" smtClean="0">
              <a:latin typeface="Arial" panose="020B0604020202020204" pitchFamily="34" charset="0"/>
              <a:cs typeface="Arial" panose="020B0604020202020204" pitchFamily="34" charset="0"/>
              <a:sym typeface="+mn-ea"/>
            </a:endParaRPr>
          </a:p>
        </p:txBody>
      </p:sp>
      <p:sp>
        <p:nvSpPr>
          <p:cNvPr id="3" name="Content Placeholder 2"/>
          <p:cNvSpPr>
            <a:spLocks noGrp="1"/>
          </p:cNvSpPr>
          <p:nvPr>
            <p:ph idx="1"/>
          </p:nvPr>
        </p:nvSpPr>
        <p:spPr>
          <a:xfrm>
            <a:off x="838200" y="1968500"/>
            <a:ext cx="10515600" cy="4351338"/>
          </a:xfrm>
        </p:spPr>
        <p:txBody>
          <a:bodyPr/>
          <a:p>
            <a:r>
              <a:rPr lang="en-US" sz="2400" dirty="0" smtClean="0">
                <a:latin typeface="Arial" panose="020B0604020202020204" pitchFamily="34" charset="0"/>
                <a:cs typeface="Arial" panose="020B0604020202020204" pitchFamily="34" charset="0"/>
                <a:sym typeface="+mn-ea"/>
              </a:rPr>
              <a:t>The </a:t>
            </a:r>
            <a:r>
              <a:rPr lang="en-US" sz="2400" dirty="0">
                <a:latin typeface="Arial" panose="020B0604020202020204" pitchFamily="34" charset="0"/>
                <a:cs typeface="Arial" panose="020B0604020202020204" pitchFamily="34" charset="0"/>
                <a:sym typeface="+mn-ea"/>
              </a:rPr>
              <a:t>majority were in the 41–60 years group (36.7%), followed by 21–40 years.</a:t>
            </a:r>
            <a:endParaRPr lang="en-US" sz="2400" dirty="0">
              <a:latin typeface="Arial" panose="020B0604020202020204" pitchFamily="34" charset="0"/>
              <a:cs typeface="Arial" panose="020B0604020202020204" pitchFamily="34" charset="0"/>
              <a:sym typeface="+mn-ea"/>
            </a:endParaRPr>
          </a:p>
          <a:p>
            <a:r>
              <a:rPr lang="en-US" sz="2400" dirty="0" smtClean="0">
                <a:latin typeface="Arial" panose="020B0604020202020204" pitchFamily="34" charset="0"/>
                <a:cs typeface="Arial" panose="020B0604020202020204" pitchFamily="34" charset="0"/>
                <a:sym typeface="+mn-ea"/>
              </a:rPr>
              <a:t>Demonstrates </a:t>
            </a:r>
            <a:r>
              <a:rPr lang="en-US" sz="2400" dirty="0">
                <a:latin typeface="Arial" panose="020B0604020202020204" pitchFamily="34" charset="0"/>
                <a:cs typeface="Arial" panose="020B0604020202020204" pitchFamily="34" charset="0"/>
                <a:sym typeface="+mn-ea"/>
              </a:rPr>
              <a:t>gender distribution, with males (63.3%) being more commonly affected than females.</a:t>
            </a:r>
            <a:endParaRPr lang="en-US" sz="2400" dirty="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sym typeface="+mn-ea"/>
              </a:rPr>
              <a:t>Fracture </a:t>
            </a:r>
            <a:r>
              <a:rPr lang="en-US" sz="2400" dirty="0">
                <a:latin typeface="Arial" panose="020B0604020202020204" pitchFamily="34" charset="0"/>
                <a:cs typeface="Arial" panose="020B0604020202020204" pitchFamily="34" charset="0"/>
                <a:sym typeface="+mn-ea"/>
              </a:rPr>
              <a:t>fixation (40%) was the most common, followed by joint replacement and ORIF.</a:t>
            </a:r>
            <a:endParaRPr lang="en-US" sz="2400" dirty="0">
              <a:latin typeface="Arial" panose="020B0604020202020204" pitchFamily="34" charset="0"/>
              <a:cs typeface="Arial" panose="020B0604020202020204" pitchFamily="34" charset="0"/>
              <a:sym typeface="+mn-ea"/>
            </a:endParaRPr>
          </a:p>
          <a:p>
            <a:r>
              <a:rPr lang="en-US" sz="2400" dirty="0" smtClean="0">
                <a:latin typeface="Arial" panose="020B0604020202020204" pitchFamily="34" charset="0"/>
                <a:cs typeface="Arial" panose="020B0604020202020204" pitchFamily="34" charset="0"/>
                <a:sym typeface="+mn-ea"/>
              </a:rPr>
              <a:t>Staphylococcus </a:t>
            </a:r>
            <a:r>
              <a:rPr lang="en-US" sz="2400" dirty="0" err="1">
                <a:latin typeface="Arial" panose="020B0604020202020204" pitchFamily="34" charset="0"/>
                <a:cs typeface="Arial" panose="020B0604020202020204" pitchFamily="34" charset="0"/>
                <a:sym typeface="+mn-ea"/>
              </a:rPr>
              <a:t>aureus</a:t>
            </a:r>
            <a:r>
              <a:rPr lang="en-US" sz="2400" dirty="0">
                <a:latin typeface="Arial" panose="020B0604020202020204" pitchFamily="34" charset="0"/>
                <a:cs typeface="Arial" panose="020B0604020202020204" pitchFamily="34" charset="0"/>
                <a:sym typeface="+mn-ea"/>
              </a:rPr>
              <a:t> (43.3%) was the predominant pathogen, followed by E. coli and </a:t>
            </a:r>
            <a:r>
              <a:rPr lang="en-US" sz="2400" dirty="0" err="1">
                <a:latin typeface="Arial" panose="020B0604020202020204" pitchFamily="34" charset="0"/>
                <a:cs typeface="Arial" panose="020B0604020202020204" pitchFamily="34" charset="0"/>
                <a:sym typeface="+mn-ea"/>
              </a:rPr>
              <a:t>Klebsiella</a:t>
            </a:r>
            <a:r>
              <a:rPr lang="en-US" sz="2400" dirty="0">
                <a:latin typeface="Arial" panose="020B0604020202020204" pitchFamily="34" charset="0"/>
                <a:cs typeface="Arial" panose="020B0604020202020204" pitchFamily="34" charset="0"/>
                <a:sym typeface="+mn-ea"/>
              </a:rPr>
              <a:t>.</a:t>
            </a:r>
            <a:endParaRPr lang="en-US" sz="2400" dirty="0">
              <a:latin typeface="Arial" panose="020B0604020202020204" pitchFamily="34" charset="0"/>
              <a:cs typeface="Arial" panose="020B0604020202020204" pitchFamily="34" charset="0"/>
              <a:sym typeface="+mn-ea"/>
            </a:endParaRPr>
          </a:p>
          <a:p>
            <a:r>
              <a:rPr lang="en-US" sz="2400" dirty="0" smtClean="0">
                <a:latin typeface="Arial" panose="020B0604020202020204" pitchFamily="34" charset="0"/>
                <a:cs typeface="Arial" panose="020B0604020202020204" pitchFamily="34" charset="0"/>
                <a:sym typeface="+mn-ea"/>
              </a:rPr>
              <a:t>About </a:t>
            </a:r>
            <a:r>
              <a:rPr lang="en-US" sz="2400" dirty="0">
                <a:latin typeface="Arial" panose="020B0604020202020204" pitchFamily="34" charset="0"/>
                <a:cs typeface="Arial" panose="020B0604020202020204" pitchFamily="34" charset="0"/>
                <a:sym typeface="+mn-ea"/>
              </a:rPr>
              <a:t>45% of organisms were multidrug-resistant, highest in E. </a:t>
            </a:r>
            <a:r>
              <a:rPr lang="en-US" sz="2400" dirty="0" smtClean="0">
                <a:latin typeface="Arial" panose="020B0604020202020204" pitchFamily="34" charset="0"/>
                <a:cs typeface="Arial" panose="020B0604020202020204" pitchFamily="34" charset="0"/>
                <a:sym typeface="+mn-ea"/>
              </a:rPr>
              <a:t>coli &amp; </a:t>
            </a:r>
            <a:r>
              <a:rPr lang="en-US" sz="2400" dirty="0" err="1">
                <a:latin typeface="Arial" panose="020B0604020202020204" pitchFamily="34" charset="0"/>
                <a:cs typeface="Arial" panose="020B0604020202020204" pitchFamily="34" charset="0"/>
                <a:sym typeface="+mn-ea"/>
              </a:rPr>
              <a:t>Klebsiella</a:t>
            </a:r>
            <a:r>
              <a:rPr lang="en-US" sz="2400" dirty="0">
                <a:latin typeface="Arial" panose="020B0604020202020204" pitchFamily="34" charset="0"/>
                <a:cs typeface="Arial" panose="020B0604020202020204" pitchFamily="34" charset="0"/>
                <a:sym typeface="+mn-ea"/>
              </a:rPr>
              <a:t>.</a:t>
            </a:r>
            <a:endParaRPr lang="en-US" sz="2400" dirty="0">
              <a:latin typeface="Arial" panose="020B0604020202020204" pitchFamily="34" charset="0"/>
              <a:cs typeface="Arial" panose="020B0604020202020204" pitchFamily="34" charset="0"/>
            </a:endParaRPr>
          </a:p>
          <a:p>
            <a:pPr>
              <a:buNone/>
            </a:pP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335405"/>
            <a:ext cx="10515600" cy="490220"/>
          </a:xfrm>
        </p:spPr>
        <p:txBody>
          <a:bodyPr/>
          <a:p>
            <a:pPr algn="ctr"/>
            <a:r>
              <a:rPr lang="en-US" sz="2800" b="1" u="sng" dirty="0" smtClean="0">
                <a:latin typeface="Arial" panose="020B0604020202020204" pitchFamily="34" charset="0"/>
                <a:cs typeface="Arial" panose="020B0604020202020204" pitchFamily="34" charset="0"/>
                <a:sym typeface="+mn-ea"/>
              </a:rPr>
              <a:t>CONCLUSION</a:t>
            </a:r>
            <a:br>
              <a:rPr lang="en-US" sz="2800" u="sng" dirty="0" smtClean="0">
                <a:sym typeface="+mn-ea"/>
              </a:rPr>
            </a:br>
            <a:endParaRPr lang="en-US" sz="2800"/>
          </a:p>
        </p:txBody>
      </p:sp>
      <p:sp>
        <p:nvSpPr>
          <p:cNvPr id="3" name="Content Placeholder 2"/>
          <p:cNvSpPr>
            <a:spLocks noGrp="1"/>
          </p:cNvSpPr>
          <p:nvPr>
            <p:ph idx="1"/>
          </p:nvPr>
        </p:nvSpPr>
        <p:spPr>
          <a:xfrm>
            <a:off x="838200" y="1911350"/>
            <a:ext cx="10515600" cy="4351338"/>
          </a:xfrm>
        </p:spPr>
        <p:txBody>
          <a:bodyPr/>
          <a:p>
            <a:r>
              <a:rPr lang="en-US" sz="2400" dirty="0" smtClean="0">
                <a:latin typeface="Arial" panose="020B0604020202020204" pitchFamily="34" charset="0"/>
                <a:cs typeface="Arial" panose="020B0604020202020204" pitchFamily="34" charset="0"/>
                <a:sym typeface="+mn-ea"/>
              </a:rPr>
              <a:t>S</a:t>
            </a:r>
            <a:r>
              <a:rPr lang="en-US" sz="2400" dirty="0">
                <a:latin typeface="Arial" panose="020B0604020202020204" pitchFamily="34" charset="0"/>
                <a:cs typeface="Arial" panose="020B0604020202020204" pitchFamily="34" charset="0"/>
                <a:sym typeface="+mn-ea"/>
              </a:rPr>
              <a:t>. </a:t>
            </a:r>
            <a:r>
              <a:rPr lang="en-US" sz="2400" dirty="0" err="1">
                <a:latin typeface="Arial" panose="020B0604020202020204" pitchFamily="34" charset="0"/>
                <a:cs typeface="Arial" panose="020B0604020202020204" pitchFamily="34" charset="0"/>
                <a:sym typeface="+mn-ea"/>
              </a:rPr>
              <a:t>aureus</a:t>
            </a:r>
            <a:r>
              <a:rPr lang="en-US" sz="2400" dirty="0">
                <a:latin typeface="Arial" panose="020B0604020202020204" pitchFamily="34" charset="0"/>
                <a:cs typeface="Arial" panose="020B0604020202020204" pitchFamily="34" charset="0"/>
                <a:sym typeface="+mn-ea"/>
              </a:rPr>
              <a:t> remains the leading cause of orthopedic SSIs, but Gram-negative bacilli also play a significant role</a:t>
            </a:r>
            <a:r>
              <a:rPr lang="en-US" sz="2400" dirty="0" smtClean="0">
                <a:latin typeface="Arial" panose="020B0604020202020204" pitchFamily="34" charset="0"/>
                <a:cs typeface="Arial" panose="020B0604020202020204" pitchFamily="34" charset="0"/>
                <a:sym typeface="+mn-ea"/>
              </a:rPr>
              <a:t>.</a:t>
            </a:r>
            <a:endParaRPr lang="en-US" sz="2400" dirty="0" smtClean="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sym typeface="+mn-ea"/>
              </a:rPr>
              <a:t>The </a:t>
            </a:r>
            <a:r>
              <a:rPr lang="en-US" sz="2400" dirty="0">
                <a:latin typeface="Arial" panose="020B0604020202020204" pitchFamily="34" charset="0"/>
                <a:cs typeface="Arial" panose="020B0604020202020204" pitchFamily="34" charset="0"/>
                <a:sym typeface="+mn-ea"/>
              </a:rPr>
              <a:t>high prevalence of multidrug resistance underscores the importance of culture and sensitivity testing to guide antibiotic therapy, rather than relying solely on empirical treatment. </a:t>
            </a:r>
            <a:endParaRPr lang="en-US" sz="2400" dirty="0" smtClean="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sym typeface="+mn-ea"/>
              </a:rPr>
              <a:t>Since </a:t>
            </a:r>
            <a:r>
              <a:rPr lang="en-US" sz="2400" dirty="0">
                <a:latin typeface="Arial" panose="020B0604020202020204" pitchFamily="34" charset="0"/>
                <a:cs typeface="Arial" panose="020B0604020202020204" pitchFamily="34" charset="0"/>
                <a:sym typeface="+mn-ea"/>
              </a:rPr>
              <a:t>no significant association was observed between the type of surgery and the infecting organism, other factors such as </a:t>
            </a:r>
            <a:r>
              <a:rPr lang="en-US" sz="2400" dirty="0" err="1">
                <a:latin typeface="Arial" panose="020B0604020202020204" pitchFamily="34" charset="0"/>
                <a:cs typeface="Arial" panose="020B0604020202020204" pitchFamily="34" charset="0"/>
                <a:sym typeface="+mn-ea"/>
              </a:rPr>
              <a:t>perioperative</a:t>
            </a:r>
            <a:r>
              <a:rPr lang="en-US" sz="2400" dirty="0">
                <a:latin typeface="Arial" panose="020B0604020202020204" pitchFamily="34" charset="0"/>
                <a:cs typeface="Arial" panose="020B0604020202020204" pitchFamily="34" charset="0"/>
                <a:sym typeface="+mn-ea"/>
              </a:rPr>
              <a:t> asepsis, host immunity, and duration of surgery likely contribute more to infection risk. </a:t>
            </a:r>
            <a:endParaRPr lang="en-US" sz="2400" dirty="0" smtClean="0">
              <a:latin typeface="Arial" panose="020B0604020202020204" pitchFamily="34" charset="0"/>
              <a:cs typeface="Arial" panose="020B0604020202020204" pitchFamily="34" charset="0"/>
            </a:endParaRPr>
          </a:p>
          <a:p>
            <a:r>
              <a:rPr lang="en-US" sz="2400" dirty="0" smtClean="0">
                <a:latin typeface="Arial" panose="020B0604020202020204" pitchFamily="34" charset="0"/>
                <a:cs typeface="Arial" panose="020B0604020202020204" pitchFamily="34" charset="0"/>
                <a:sym typeface="+mn-ea"/>
              </a:rPr>
              <a:t>Regular </a:t>
            </a:r>
            <a:r>
              <a:rPr lang="en-US" sz="2400" dirty="0">
                <a:latin typeface="Arial" panose="020B0604020202020204" pitchFamily="34" charset="0"/>
                <a:cs typeface="Arial" panose="020B0604020202020204" pitchFamily="34" charset="0"/>
                <a:sym typeface="+mn-ea"/>
              </a:rPr>
              <a:t>surveillance of microbial patterns, strict adherence to infection control protocols, and rational antibiotic stewardship are essential to reduce SSI burden and improve outcomes in orthopedic surgical practice.</a:t>
            </a: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344930"/>
            <a:ext cx="10515600" cy="346075"/>
          </a:xfrm>
        </p:spPr>
        <p:txBody>
          <a:bodyPr/>
          <a:p>
            <a:pPr algn="ctr"/>
            <a:r>
              <a:rPr lang="en-US" sz="2800" b="1" u="sng">
                <a:latin typeface="Arial" panose="020B0604020202020204" pitchFamily="34" charset="0"/>
                <a:cs typeface="Arial" panose="020B0604020202020204" pitchFamily="34" charset="0"/>
              </a:rPr>
              <a:t>REFERENCES</a:t>
            </a:r>
            <a:endParaRPr lang="en-US" sz="2800" b="1" u="sng">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p:txBody>
          <a:bodyPr/>
          <a:p>
            <a:r>
              <a:rPr lang="en-US" altLang="en-US" sz="2400">
                <a:latin typeface="Arial" panose="020B0604020202020204" pitchFamily="34" charset="0"/>
                <a:cs typeface="Arial" panose="020B0604020202020204" pitchFamily="34" charset="0"/>
                <a:sym typeface="+mn-ea"/>
              </a:rPr>
              <a:t>Das A, Saha R, et al. Microbiological profile and outcome of surgical site infections following orthopedic procedures: a tertiary care study from eastern India. J Clin Orthop Trauma. 2025;39:102087.</a:t>
            </a:r>
            <a:endParaRPr lang="en-US" altLang="en-US" sz="2400">
              <a:latin typeface="Arial" panose="020B0604020202020204" pitchFamily="34" charset="0"/>
              <a:cs typeface="Arial" panose="020B0604020202020204" pitchFamily="34" charset="0"/>
            </a:endParaRPr>
          </a:p>
          <a:p>
            <a:r>
              <a:rPr lang="en-US" altLang="en-US" sz="2400">
                <a:latin typeface="Arial" panose="020B0604020202020204" pitchFamily="34" charset="0"/>
                <a:cs typeface="Arial" panose="020B0604020202020204" pitchFamily="34" charset="0"/>
              </a:rPr>
              <a:t>Allegranzi B, et al. Burden of endemic health-care-associated infection in developing countries: systematic review and meta-analysis. Lancet. 2011;377(9761):228–41.</a:t>
            </a:r>
            <a:endParaRPr lang="en-US" altLang="en-US" sz="2400">
              <a:latin typeface="Arial" panose="020B0604020202020204" pitchFamily="34" charset="0"/>
              <a:cs typeface="Arial" panose="020B0604020202020204" pitchFamily="34" charset="0"/>
            </a:endParaRPr>
          </a:p>
          <a:p>
            <a:r>
              <a:rPr lang="en-US" altLang="en-US" sz="2400">
                <a:latin typeface="Arial" panose="020B0604020202020204" pitchFamily="34" charset="0"/>
                <a:cs typeface="Arial" panose="020B0604020202020204" pitchFamily="34" charset="0"/>
              </a:rPr>
              <a:t>Owens CD, Stoessel K. Surgical site infections: epidemiology, microbiology and prevention. J Hosp Infect. 2008;70 Suppl 2:3–10.</a:t>
            </a:r>
            <a:endParaRPr lang="en-US" altLang="en-US" sz="2400">
              <a:latin typeface="Arial" panose="020B0604020202020204" pitchFamily="34" charset="0"/>
              <a:cs typeface="Arial" panose="020B0604020202020204" pitchFamily="34" charset="0"/>
            </a:endParaRPr>
          </a:p>
          <a:p>
            <a:r>
              <a:rPr lang="en-US" altLang="en-US" sz="2400">
                <a:latin typeface="Arial" panose="020B0604020202020204" pitchFamily="34" charset="0"/>
                <a:cs typeface="Arial" panose="020B0604020202020204" pitchFamily="34" charset="0"/>
              </a:rPr>
              <a:t>Mahesh CB, et al. A prospective study of surgical site infections in a teaching hospital. J Clin Diagn Res. 2010;4:3114–9.</a:t>
            </a:r>
            <a:endParaRPr lang="en-US" altLang="en-US" sz="2400">
              <a:latin typeface="Arial" panose="020B0604020202020204" pitchFamily="34" charset="0"/>
              <a:cs typeface="Arial" panose="020B0604020202020204" pitchFamily="34" charset="0"/>
            </a:endParaRPr>
          </a:p>
          <a:p>
            <a:r>
              <a:rPr lang="en-US" altLang="en-US" sz="2400">
                <a:latin typeface="Arial" panose="020B0604020202020204" pitchFamily="34" charset="0"/>
                <a:cs typeface="Arial" panose="020B0604020202020204" pitchFamily="34" charset="0"/>
              </a:rPr>
              <a:t>Patel SM, et al. Surgical site infections: incidence and risk factors in a tertiary care hospital. Int J Med Public Health. 2013;3(3):193–6.</a:t>
            </a:r>
            <a:endParaRPr lang="en-US" altLang="en-US" sz="2400">
              <a:latin typeface="Arial" panose="020B0604020202020204" pitchFamily="34" charset="0"/>
              <a:cs typeface="Arial" panose="020B0604020202020204" pitchFamily="34" charset="0"/>
            </a:endParaRPr>
          </a:p>
          <a:p>
            <a:endParaRPr lang="en-US" altLang="en-US" sz="2400">
              <a:latin typeface="Arial" panose="020B0604020202020204" pitchFamily="34" charset="0"/>
              <a:cs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4463</Words>
  <Application>WPS Presentation</Application>
  <PresentationFormat>Widescreen</PresentationFormat>
  <Paragraphs>73</Paragraphs>
  <Slides>8</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8</vt:i4>
      </vt:variant>
    </vt:vector>
  </HeadingPairs>
  <TitlesOfParts>
    <vt:vector size="30" baseType="lpstr">
      <vt:lpstr>Arial</vt:lpstr>
      <vt:lpstr>SimSun</vt:lpstr>
      <vt:lpstr>Wingdings</vt:lpstr>
      <vt:lpstr>Gordita</vt:lpstr>
      <vt:lpstr>Segoe Print</vt:lpstr>
      <vt:lpstr>Gordita </vt:lpstr>
      <vt:lpstr>Aptos</vt:lpstr>
      <vt:lpstr>Segoe UI</vt:lpstr>
      <vt:lpstr>Microsoft YaHei</vt:lpstr>
      <vt:lpstr>Arial Unicode MS</vt:lpstr>
      <vt:lpstr>Aptos Display</vt:lpstr>
      <vt:lpstr>Calibri</vt:lpstr>
      <vt:lpstr>Monotype Corsiva</vt:lpstr>
      <vt:lpstr>Microsoft JhengHei</vt:lpstr>
      <vt:lpstr>Algerian</vt:lpstr>
      <vt:lpstr>Agency FB</vt:lpstr>
      <vt:lpstr>Microsoft YaHei UI Light</vt:lpstr>
      <vt:lpstr>Arial Black</vt:lpstr>
      <vt:lpstr>Microsoft YaHei Light</vt:lpstr>
      <vt:lpstr>Microsoft YaHei UI</vt:lpstr>
      <vt:lpstr>Arial Narrow</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Virinchi Vinay</dc:creator>
  <cp:lastModifiedBy>Sowjii Kottada</cp:lastModifiedBy>
  <cp:revision>5</cp:revision>
  <dcterms:created xsi:type="dcterms:W3CDTF">2026-01-11T06:24:00Z</dcterms:created>
  <dcterms:modified xsi:type="dcterms:W3CDTF">2026-01-27T17:24:03Z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0112193654CF48968E816EF049362C7E_13</vt:lpwstr>
  </property>
  <property fmtid="{D5CDD505-2E9C-101B-9397-08002B2CF9AE}" pid="3" name="KSOProductBuildVer">
    <vt:lpwstr>1033-12.2.0.23196</vt:lpwstr>
  </property>
</Properties>
</file>