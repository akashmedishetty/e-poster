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9" d="100"/>
          <a:sy n="69" d="100"/>
        </p:scale>
        <p:origin x="7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1/28/2026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cstate="hqprint">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cstate="hqprint">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28876" y="-14584"/>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1979161" y="26514"/>
            <a:ext cx="7905808" cy="369332"/>
          </a:xfrm>
          <a:prstGeom prst="rect">
            <a:avLst/>
          </a:prstGeom>
          <a:noFill/>
        </p:spPr>
        <p:txBody>
          <a:bodyPr wrap="square" rtlCol="0">
            <a:spAutoFit/>
          </a:bodyPr>
          <a:lstStyle/>
          <a:p>
            <a:r>
              <a:rPr lang="en-US" sz="1600" b="1" dirty="0">
                <a:solidFill>
                  <a:schemeClr val="bg1"/>
                </a:solidFill>
                <a:latin typeface="Gordita "/>
              </a:rPr>
              <a:t>55</a:t>
            </a:r>
            <a:r>
              <a:rPr lang="en-US" sz="1600" b="1" baseline="30000" dirty="0">
                <a:solidFill>
                  <a:schemeClr val="bg1"/>
                </a:solidFill>
                <a:latin typeface="Gordita "/>
              </a:rPr>
              <a:t>th</a:t>
            </a:r>
            <a:r>
              <a:rPr lang="en-US" sz="1600" b="1" dirty="0">
                <a:solidFill>
                  <a:schemeClr val="bg1"/>
                </a:solidFill>
                <a:latin typeface="Gordita "/>
              </a:rPr>
              <a:t>   Annual </a:t>
            </a:r>
            <a:r>
              <a:rPr lang="en-US" b="1" dirty="0">
                <a:solidFill>
                  <a:schemeClr val="bg1"/>
                </a:solidFill>
                <a:latin typeface="Gordita "/>
              </a:rPr>
              <a:t>Conference</a:t>
            </a:r>
            <a:r>
              <a:rPr lang="en-US" sz="1600" b="1" dirty="0">
                <a:solidFill>
                  <a:schemeClr val="bg1"/>
                </a:solidFill>
                <a:latin typeface="Gordita "/>
              </a:rPr>
              <a:t> of </a:t>
            </a:r>
            <a:r>
              <a:rPr lang="en-US" sz="1600" b="1" dirty="0" smtClean="0">
                <a:solidFill>
                  <a:schemeClr val="bg1"/>
                </a:solidFill>
                <a:latin typeface="Gordita "/>
              </a:rPr>
              <a:t> Orthopedic </a:t>
            </a:r>
            <a:r>
              <a:rPr lang="en-US" sz="1600" b="1" dirty="0">
                <a:solidFill>
                  <a:schemeClr val="bg1"/>
                </a:solidFill>
                <a:latin typeface="Gordita "/>
              </a:rPr>
              <a:t>Surgeon Society of Andhra Pradesh</a:t>
            </a:r>
          </a:p>
        </p:txBody>
      </p:sp>
      <p:sp>
        <p:nvSpPr>
          <p:cNvPr id="19" name="TextBox 18">
            <a:extLst>
              <a:ext uri="{FF2B5EF4-FFF2-40B4-BE49-F238E27FC236}">
                <a16:creationId xmlns:a16="http://schemas.microsoft.com/office/drawing/2014/main" id="{CF1F608A-7742-BF27-09EC-3BB7CA324D68}"/>
              </a:ext>
            </a:extLst>
          </p:cNvPr>
          <p:cNvSpPr txBox="1"/>
          <p:nvPr/>
        </p:nvSpPr>
        <p:spPr>
          <a:xfrm>
            <a:off x="1995902" y="374950"/>
            <a:ext cx="7010982" cy="646331"/>
          </a:xfrm>
          <a:prstGeom prst="rect">
            <a:avLst/>
          </a:prstGeom>
          <a:noFill/>
        </p:spPr>
        <p:txBody>
          <a:bodyPr wrap="square" rtlCol="0">
            <a:spAutoFit/>
          </a:bodyPr>
          <a:lstStyle/>
          <a:p>
            <a:r>
              <a:rPr lang="en-US" b="1" dirty="0" smtClean="0">
                <a:solidFill>
                  <a:schemeClr val="bg1"/>
                </a:solidFill>
                <a:latin typeface="Gordita "/>
              </a:rPr>
              <a:t>Title : Common peroneal nerve palsy due to constriction band following displaced fibular head fracture </a:t>
            </a:r>
            <a:endParaRPr lang="en-US" b="1" dirty="0">
              <a:solidFill>
                <a:schemeClr val="bg1"/>
              </a:solidFill>
              <a:latin typeface="Gordita "/>
            </a:endParaRPr>
          </a:p>
        </p:txBody>
      </p:sp>
      <p:sp>
        <p:nvSpPr>
          <p:cNvPr id="20" name="TextBox 19">
            <a:extLst>
              <a:ext uri="{FF2B5EF4-FFF2-40B4-BE49-F238E27FC236}">
                <a16:creationId xmlns:a16="http://schemas.microsoft.com/office/drawing/2014/main" id="{C0616687-624D-607B-6F85-335EE46873F1}"/>
              </a:ext>
            </a:extLst>
          </p:cNvPr>
          <p:cNvSpPr txBox="1"/>
          <p:nvPr/>
        </p:nvSpPr>
        <p:spPr>
          <a:xfrm>
            <a:off x="1979614" y="953365"/>
            <a:ext cx="7114032" cy="338554"/>
          </a:xfrm>
          <a:prstGeom prst="rect">
            <a:avLst/>
          </a:prstGeom>
          <a:noFill/>
        </p:spPr>
        <p:txBody>
          <a:bodyPr wrap="square" rtlCol="0">
            <a:spAutoFit/>
          </a:bodyPr>
          <a:lstStyle/>
          <a:p>
            <a:r>
              <a:rPr lang="en-US" sz="1600" b="1" dirty="0" smtClean="0">
                <a:solidFill>
                  <a:schemeClr val="bg1"/>
                </a:solidFill>
                <a:latin typeface="Gordita "/>
              </a:rPr>
              <a:t>Authors : </a:t>
            </a:r>
            <a:r>
              <a:rPr lang="en-US" sz="1600" b="1" dirty="0" err="1" smtClean="0">
                <a:solidFill>
                  <a:schemeClr val="bg1"/>
                </a:solidFill>
                <a:latin typeface="Gordita "/>
              </a:rPr>
              <a:t>Dr</a:t>
            </a:r>
            <a:r>
              <a:rPr lang="en-US" sz="1600" b="1" dirty="0" smtClean="0">
                <a:solidFill>
                  <a:schemeClr val="bg1"/>
                </a:solidFill>
                <a:latin typeface="Gordita "/>
              </a:rPr>
              <a:t> </a:t>
            </a:r>
            <a:r>
              <a:rPr lang="en-US" sz="1600" b="1" dirty="0" err="1" smtClean="0">
                <a:solidFill>
                  <a:schemeClr val="bg1"/>
                </a:solidFill>
                <a:latin typeface="Gordita "/>
              </a:rPr>
              <a:t>Pothuraju</a:t>
            </a:r>
            <a:r>
              <a:rPr lang="en-US" sz="1600" b="1" dirty="0" smtClean="0">
                <a:solidFill>
                  <a:schemeClr val="bg1"/>
                </a:solidFill>
                <a:latin typeface="Gordita "/>
              </a:rPr>
              <a:t> </a:t>
            </a:r>
            <a:r>
              <a:rPr lang="en-US" sz="1600" b="1" dirty="0" err="1" smtClean="0">
                <a:solidFill>
                  <a:schemeClr val="bg1"/>
                </a:solidFill>
                <a:latin typeface="Gordita "/>
              </a:rPr>
              <a:t>Durg</a:t>
            </a:r>
            <a:r>
              <a:rPr lang="en-US" sz="1600" b="1" dirty="0" err="1" smtClean="0">
                <a:solidFill>
                  <a:schemeClr val="bg1"/>
                </a:solidFill>
                <a:latin typeface="Gordita "/>
              </a:rPr>
              <a:t>a</a:t>
            </a:r>
            <a:r>
              <a:rPr lang="en-US" sz="1600" b="1" dirty="0" smtClean="0">
                <a:solidFill>
                  <a:schemeClr val="bg1"/>
                </a:solidFill>
                <a:latin typeface="Gordita "/>
              </a:rPr>
              <a:t> Sai Prasad , </a:t>
            </a:r>
            <a:r>
              <a:rPr lang="en-US" sz="1600" b="1" dirty="0" err="1" smtClean="0">
                <a:solidFill>
                  <a:schemeClr val="bg1"/>
                </a:solidFill>
                <a:latin typeface="Gordita "/>
              </a:rPr>
              <a:t>Dr</a:t>
            </a:r>
            <a:r>
              <a:rPr lang="en-US" sz="1600" b="1" dirty="0" smtClean="0">
                <a:solidFill>
                  <a:schemeClr val="bg1"/>
                </a:solidFill>
                <a:latin typeface="Gordita "/>
              </a:rPr>
              <a:t> I </a:t>
            </a:r>
            <a:r>
              <a:rPr lang="en-US" sz="1600" b="1" dirty="0" err="1" smtClean="0">
                <a:solidFill>
                  <a:schemeClr val="bg1"/>
                </a:solidFill>
                <a:latin typeface="Gordita "/>
              </a:rPr>
              <a:t>Rohit</a:t>
            </a:r>
            <a:endParaRPr lang="en-US" sz="1600" b="1" dirty="0">
              <a:solidFill>
                <a:schemeClr val="bg1"/>
              </a:solidFill>
              <a:latin typeface="Gordita "/>
            </a:endParaRPr>
          </a:p>
        </p:txBody>
      </p:sp>
      <p:sp>
        <p:nvSpPr>
          <p:cNvPr id="4" name="Freeform 13">
            <a:extLst>
              <a:ext uri="{FF2B5EF4-FFF2-40B4-BE49-F238E27FC236}">
                <a16:creationId xmlns:a16="http://schemas.microsoft.com/office/drawing/2014/main" id="{0F401C6F-33A3-A415-AD1A-709059E901BF}"/>
              </a:ext>
            </a:extLst>
          </p:cNvPr>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5"/>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0" y="1674797"/>
            <a:ext cx="3108960" cy="28002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EC094F03-F93B-9B6D-7C11-87F9C75E6ABB}"/>
              </a:ext>
            </a:extLst>
          </p:cNvPr>
          <p:cNvSpPr/>
          <p:nvPr/>
        </p:nvSpPr>
        <p:spPr>
          <a:xfrm>
            <a:off x="0" y="4601263"/>
            <a:ext cx="3108960" cy="22567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37836" y="1280157"/>
            <a:ext cx="3185962"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6352674" y="1477475"/>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6323796" y="5042882"/>
            <a:ext cx="5839326"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0" y="4206625"/>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52674" y="4807818"/>
            <a:ext cx="5839324" cy="316112"/>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3" name="Rectangle 2"/>
          <p:cNvSpPr/>
          <p:nvPr/>
        </p:nvSpPr>
        <p:spPr>
          <a:xfrm>
            <a:off x="-57752" y="1614889"/>
            <a:ext cx="3108960" cy="2677656"/>
          </a:xfrm>
          <a:prstGeom prst="rect">
            <a:avLst/>
          </a:prstGeom>
          <a:noFill/>
        </p:spPr>
        <p:txBody>
          <a:bodyPr wrap="square" lIns="91440" tIns="45720" rIns="91440" bIns="45720">
            <a:spAutoFit/>
          </a:bodyPr>
          <a:lstStyle/>
          <a:p>
            <a:pPr marL="171450" indent="-171450">
              <a:buFont typeface="Arial" panose="020B0604020202020204" pitchFamily="34" charset="0"/>
              <a:buChar char="•"/>
            </a:pPr>
            <a:r>
              <a:rPr lang="en-US" sz="1200" b="0" cap="none" spc="0" dirty="0" smtClean="0">
                <a:ln w="0"/>
                <a:solidFill>
                  <a:schemeClr val="tx1"/>
                </a:solidFill>
                <a:latin typeface="Arial" panose="020B0604020202020204" pitchFamily="34" charset="0"/>
                <a:cs typeface="Arial" panose="020B0604020202020204" pitchFamily="34" charset="0"/>
              </a:rPr>
              <a:t>Fractures of the fibular head are uncommon and usually caused by a direct blow or a </a:t>
            </a:r>
            <a:r>
              <a:rPr lang="en-US" sz="1200" b="0" cap="none" spc="0" dirty="0" err="1" smtClean="0">
                <a:ln w="0"/>
                <a:solidFill>
                  <a:schemeClr val="tx1"/>
                </a:solidFill>
                <a:latin typeface="Arial" panose="020B0604020202020204" pitchFamily="34" charset="0"/>
                <a:cs typeface="Arial" panose="020B0604020202020204" pitchFamily="34" charset="0"/>
              </a:rPr>
              <a:t>varus</a:t>
            </a:r>
            <a:r>
              <a:rPr lang="en-US" sz="1200" b="0" cap="none" spc="0" dirty="0" smtClean="0">
                <a:ln w="0"/>
                <a:solidFill>
                  <a:schemeClr val="tx1"/>
                </a:solidFill>
                <a:latin typeface="Arial" panose="020B0604020202020204" pitchFamily="34" charset="0"/>
                <a:cs typeface="Arial" panose="020B0604020202020204" pitchFamily="34" charset="0"/>
              </a:rPr>
              <a:t> </a:t>
            </a:r>
            <a:r>
              <a:rPr lang="en-US" sz="1200" dirty="0" smtClean="0">
                <a:ln w="0"/>
                <a:latin typeface="Arial" panose="020B0604020202020204" pitchFamily="34" charset="0"/>
                <a:cs typeface="Arial" panose="020B0604020202020204" pitchFamily="34" charset="0"/>
              </a:rPr>
              <a:t>s</a:t>
            </a:r>
            <a:r>
              <a:rPr lang="en-US" sz="1200" b="0" cap="none" spc="0" dirty="0" smtClean="0">
                <a:ln w="0"/>
                <a:solidFill>
                  <a:schemeClr val="tx1"/>
                </a:solidFill>
                <a:latin typeface="Arial" panose="020B0604020202020204" pitchFamily="34" charset="0"/>
                <a:cs typeface="Arial" panose="020B0604020202020204" pitchFamily="34" charset="0"/>
              </a:rPr>
              <a:t>tress on the </a:t>
            </a:r>
            <a:r>
              <a:rPr lang="en-US" sz="1200" b="0" cap="none" spc="0" dirty="0" err="1" smtClean="0">
                <a:ln w="0"/>
                <a:solidFill>
                  <a:schemeClr val="tx1"/>
                </a:solidFill>
                <a:latin typeface="Arial" panose="020B0604020202020204" pitchFamily="34" charset="0"/>
                <a:cs typeface="Arial" panose="020B0604020202020204" pitchFamily="34" charset="0"/>
              </a:rPr>
              <a:t>knee.</a:t>
            </a:r>
            <a:r>
              <a:rPr lang="en-US" sz="1200" dirty="0" err="1" smtClean="0">
                <a:ln w="0"/>
                <a:latin typeface="Arial" panose="020B0604020202020204" pitchFamily="34" charset="0"/>
                <a:cs typeface="Arial" panose="020B0604020202020204" pitchFamily="34" charset="0"/>
              </a:rPr>
              <a:t>T</a:t>
            </a:r>
            <a:r>
              <a:rPr lang="en-US" sz="1200" b="0" cap="none" spc="0" dirty="0" err="1" smtClean="0">
                <a:ln w="0"/>
                <a:solidFill>
                  <a:schemeClr val="tx1"/>
                </a:solidFill>
                <a:latin typeface="Arial" panose="020B0604020202020204" pitchFamily="34" charset="0"/>
                <a:cs typeface="Arial" panose="020B0604020202020204" pitchFamily="34" charset="0"/>
              </a:rPr>
              <a:t>he</a:t>
            </a:r>
            <a:r>
              <a:rPr lang="en-US" sz="1200" b="0" cap="none" spc="0" dirty="0" smtClean="0">
                <a:ln w="0"/>
                <a:solidFill>
                  <a:schemeClr val="tx1"/>
                </a:solidFill>
                <a:latin typeface="Arial" panose="020B0604020202020204" pitchFamily="34" charset="0"/>
                <a:cs typeface="Arial" panose="020B0604020202020204" pitchFamily="34" charset="0"/>
              </a:rPr>
              <a:t> common peroneal nerve is susceptible to injury by a traction force or a compression force because of its fixed attachment in the region of the neck </a:t>
            </a:r>
            <a:r>
              <a:rPr lang="en-US" sz="1200" b="0" cap="none" spc="0" smtClean="0">
                <a:ln w="0"/>
                <a:solidFill>
                  <a:schemeClr val="tx1"/>
                </a:solidFill>
                <a:latin typeface="Arial" panose="020B0604020202020204" pitchFamily="34" charset="0"/>
                <a:cs typeface="Arial" panose="020B0604020202020204" pitchFamily="34" charset="0"/>
              </a:rPr>
              <a:t>of fibula</a:t>
            </a:r>
            <a:r>
              <a:rPr lang="en-US" sz="1200" b="0" cap="none" spc="0" baseline="30000" smtClean="0">
                <a:ln w="0"/>
                <a:solidFill>
                  <a:schemeClr val="tx1"/>
                </a:solidFill>
                <a:latin typeface="Arial" panose="020B0604020202020204" pitchFamily="34" charset="0"/>
                <a:cs typeface="Arial" panose="020B0604020202020204" pitchFamily="34" charset="0"/>
              </a:rPr>
              <a:t>(1)</a:t>
            </a:r>
            <a:r>
              <a:rPr lang="en-US" sz="1200" b="0" cap="none" spc="0" smtClean="0">
                <a:ln w="0"/>
                <a:solidFill>
                  <a:schemeClr val="tx1"/>
                </a:solidFill>
                <a:latin typeface="Arial" panose="020B0604020202020204" pitchFamily="34" charset="0"/>
                <a:cs typeface="Arial" panose="020B0604020202020204" pitchFamily="34" charset="0"/>
              </a:rPr>
              <a:t>.</a:t>
            </a:r>
            <a:endParaRPr lang="en-US" sz="1200" b="0" cap="none" spc="0" dirty="0" smtClean="0">
              <a:ln w="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dirty="0" smtClean="0">
                <a:ln w="0"/>
                <a:latin typeface="Arial" panose="020B0604020202020204" pitchFamily="34" charset="0"/>
                <a:cs typeface="Arial" panose="020B0604020202020204" pitchFamily="34" charset="0"/>
              </a:rPr>
              <a:t>Here we describe an unusual mechanism where a displaced fracture of fibula head has carried the common peroneal nerve along with the fracture fragment proximally causing entrapment by a constriction band. </a:t>
            </a:r>
            <a:endParaRPr lang="en-US" sz="1200" b="0" cap="none" spc="0" dirty="0">
              <a:ln w="0"/>
              <a:solidFill>
                <a:schemeClr val="tx1"/>
              </a:solidFill>
              <a:latin typeface="Arial" panose="020B0604020202020204" pitchFamily="34" charset="0"/>
              <a:cs typeface="Arial" panose="020B0604020202020204" pitchFamily="34" charset="0"/>
            </a:endParaRPr>
          </a:p>
        </p:txBody>
      </p:sp>
      <p:sp>
        <p:nvSpPr>
          <p:cNvPr id="23" name="Rectangle 22"/>
          <p:cNvSpPr/>
          <p:nvPr/>
        </p:nvSpPr>
        <p:spPr>
          <a:xfrm>
            <a:off x="0" y="4601262"/>
            <a:ext cx="3108960" cy="2492990"/>
          </a:xfrm>
          <a:prstGeom prst="rect">
            <a:avLst/>
          </a:prstGeom>
          <a:noFill/>
        </p:spPr>
        <p:txBody>
          <a:bodyPr wrap="square" lIns="91440" tIns="45720" rIns="91440" bIns="45720">
            <a:spAutoFit/>
          </a:bodyPr>
          <a:lstStyle/>
          <a:p>
            <a:r>
              <a:rPr lang="en-US" sz="1200" dirty="0">
                <a:latin typeface="Arial" panose="020B0604020202020204" pitchFamily="34" charset="0"/>
                <a:cs typeface="Arial" panose="020B0604020202020204" pitchFamily="34" charset="0"/>
              </a:rPr>
              <a:t>25 year male came with C/O pain in lateral aspect of the right knee and difficulty in walking following an injury to his right knee 5 months back when he had a fall from a bike</a:t>
            </a:r>
            <a:r>
              <a:rPr lang="en-US" sz="1200" dirty="0" smtClean="0">
                <a:latin typeface="Arial" panose="020B0604020202020204" pitchFamily="34" charset="0"/>
                <a:cs typeface="Arial" panose="020B0604020202020204" pitchFamily="34" charset="0"/>
              </a:rPr>
              <a:t>.</a:t>
            </a:r>
          </a:p>
          <a:p>
            <a:r>
              <a:rPr lang="en-US" sz="1200" dirty="0">
                <a:latin typeface="Arial" panose="020B0604020202020204" pitchFamily="34" charset="0"/>
                <a:cs typeface="Arial" panose="020B0604020202020204" pitchFamily="34" charset="0"/>
              </a:rPr>
              <a:t>O/E: High stepping gait, right sided foot drop. Bony tenderness around lateral femoral condyle and fibular head. Palpable swelling at lateral aspect of knee, bony hard. Ankle dorsiflexion, Eversion- 0/5, EHL/EDL-0/5.Sensory loss over lateral aspect of leg and dorsum of foot.</a:t>
            </a:r>
            <a:endParaRPr lang="en-IN" sz="1200" dirty="0">
              <a:latin typeface="Arial" panose="020B0604020202020204" pitchFamily="34" charset="0"/>
              <a:cs typeface="Arial" panose="020B0604020202020204" pitchFamily="34" charset="0"/>
            </a:endParaRPr>
          </a:p>
          <a:p>
            <a:endParaRPr lang="en-IN" sz="1200" dirty="0">
              <a:latin typeface="Arial" panose="020B0604020202020204" pitchFamily="34" charset="0"/>
              <a:cs typeface="Arial" panose="020B0604020202020204" pitchFamily="34" charset="0"/>
            </a:endParaRPr>
          </a:p>
        </p:txBody>
      </p:sp>
      <p:sp>
        <p:nvSpPr>
          <p:cNvPr id="24" name="Rectangle 23"/>
          <p:cNvSpPr/>
          <p:nvPr/>
        </p:nvSpPr>
        <p:spPr>
          <a:xfrm>
            <a:off x="3108960" y="1664216"/>
            <a:ext cx="3214838" cy="3416320"/>
          </a:xfrm>
          <a:prstGeom prst="rect">
            <a:avLst/>
          </a:prstGeom>
          <a:noFill/>
        </p:spPr>
        <p:txBody>
          <a:bodyPr wrap="square" lIns="91440" tIns="45720" rIns="91440" bIns="45720">
            <a:spAutoFit/>
          </a:bodyPr>
          <a:lstStyle/>
          <a:p>
            <a:r>
              <a:rPr lang="en-US" sz="1200" dirty="0" smtClean="0">
                <a:latin typeface="Arial" panose="020B0604020202020204" pitchFamily="34" charset="0"/>
                <a:cs typeface="Arial" panose="020B0604020202020204" pitchFamily="34" charset="0"/>
              </a:rPr>
              <a:t>USG </a:t>
            </a:r>
            <a:r>
              <a:rPr lang="en-US" sz="1200" dirty="0">
                <a:latin typeface="Arial" panose="020B0604020202020204" pitchFamily="34" charset="0"/>
                <a:cs typeface="Arial" panose="020B0604020202020204" pitchFamily="34" charset="0"/>
              </a:rPr>
              <a:t>of knee joint-traumatic neuroma of the common peroneal nerve which was located at the lateral aspect of right knee. Diagnosis: 6 month old fibula head fracture right side with common peroneal nerve injury</a:t>
            </a:r>
            <a:endParaRPr lang="en-IN"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Surgery </a:t>
            </a:r>
            <a:r>
              <a:rPr lang="en-US" sz="1200" dirty="0" smtClean="0">
                <a:latin typeface="Arial" panose="020B0604020202020204" pitchFamily="34" charset="0"/>
                <a:cs typeface="Arial" panose="020B0604020202020204" pitchFamily="34" charset="0"/>
              </a:rPr>
              <a:t>planned</a:t>
            </a:r>
            <a:r>
              <a:rPr lang="en-US" sz="1200" dirty="0">
                <a:latin typeface="Arial" panose="020B0604020202020204" pitchFamily="34" charset="0"/>
                <a:cs typeface="Arial" panose="020B0604020202020204" pitchFamily="34" charset="0"/>
              </a:rPr>
              <a:t>: Excision of fibular head fragment + exploration of the common peroneal nerve and proceed. Intraoperative finding:</a:t>
            </a:r>
            <a:endParaRPr lang="en-IN"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•An avulsed fragment from head of the fibula with a band of fibrous tissue constricting the common peroneal nerve resulting in a proximal neuroma</a:t>
            </a:r>
            <a:r>
              <a:rPr lang="en-US" sz="1200" dirty="0" smtClean="0">
                <a:latin typeface="Arial" panose="020B0604020202020204" pitchFamily="34" charset="0"/>
                <a:cs typeface="Arial" panose="020B0604020202020204" pitchFamily="34" charset="0"/>
              </a:rPr>
              <a:t>.</a:t>
            </a:r>
            <a:endParaRPr lang="en-IN"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•Fibular head fragment was excised and nerve decompression was </a:t>
            </a:r>
            <a:r>
              <a:rPr lang="en-US" sz="1200" dirty="0" smtClean="0">
                <a:latin typeface="Arial" panose="020B0604020202020204" pitchFamily="34" charset="0"/>
                <a:cs typeface="Arial" panose="020B0604020202020204" pitchFamily="34" charset="0"/>
              </a:rPr>
              <a:t>done.</a:t>
            </a:r>
            <a:endParaRPr lang="en-IN"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•Common peroneal nerve was found to be posteromedial to biceps </a:t>
            </a:r>
            <a:r>
              <a:rPr lang="en-US" sz="1200" dirty="0" err="1">
                <a:latin typeface="Arial" panose="020B0604020202020204" pitchFamily="34" charset="0"/>
                <a:cs typeface="Arial" panose="020B0604020202020204" pitchFamily="34" charset="0"/>
              </a:rPr>
              <a:t>femoris</a:t>
            </a:r>
            <a:r>
              <a:rPr lang="en-US" sz="1200" dirty="0">
                <a:latin typeface="Arial" panose="020B0604020202020204" pitchFamily="34" charset="0"/>
                <a:cs typeface="Arial" panose="020B0604020202020204" pitchFamily="34" charset="0"/>
              </a:rPr>
              <a:t> going anterior to head of fibula</a:t>
            </a:r>
            <a:r>
              <a:rPr lang="en-US" sz="1200" dirty="0" smtClean="0">
                <a:latin typeface="Arial" panose="020B0604020202020204" pitchFamily="34" charset="0"/>
                <a:cs typeface="Arial" panose="020B0604020202020204" pitchFamily="34" charset="0"/>
              </a:rPr>
              <a:t>.</a:t>
            </a:r>
            <a:endParaRPr lang="en-US" sz="12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
        <p:nvSpPr>
          <p:cNvPr id="25" name="Rectangle 24"/>
          <p:cNvSpPr/>
          <p:nvPr/>
        </p:nvSpPr>
        <p:spPr>
          <a:xfrm>
            <a:off x="6393660" y="1689379"/>
            <a:ext cx="5798338" cy="1754326"/>
          </a:xfrm>
          <a:prstGeom prst="rect">
            <a:avLst/>
          </a:prstGeom>
          <a:noFill/>
        </p:spPr>
        <p:txBody>
          <a:bodyPr wrap="square" lIns="91440" tIns="45720" rIns="91440" bIns="45720">
            <a:spAutoFit/>
          </a:bodyPr>
          <a:lstStyle/>
          <a:p>
            <a:r>
              <a:rPr lang="en-US" sz="1200" dirty="0">
                <a:latin typeface="Arial" panose="020B0604020202020204" pitchFamily="34" charset="0"/>
                <a:cs typeface="Arial" panose="020B0604020202020204" pitchFamily="34" charset="0"/>
              </a:rPr>
              <a:t>• Here we have shown a rare mechanism of injury where a fracture of fibular head has caused the common peroneal nerve to be shifted proximally along with the fracture fragment</a:t>
            </a:r>
            <a:r>
              <a:rPr lang="en-US" sz="1200" dirty="0" smtClean="0">
                <a:latin typeface="Arial" panose="020B0604020202020204" pitchFamily="34" charset="0"/>
                <a:cs typeface="Arial" panose="020B0604020202020204" pitchFamily="34" charset="0"/>
              </a:rPr>
              <a:t>. A </a:t>
            </a:r>
            <a:r>
              <a:rPr lang="en-US" sz="1200" dirty="0">
                <a:latin typeface="Arial" panose="020B0604020202020204" pitchFamily="34" charset="0"/>
                <a:cs typeface="Arial" panose="020B0604020202020204" pitchFamily="34" charset="0"/>
              </a:rPr>
              <a:t>fibrous band has caused constriction of the nerve which has resulted in injury to the nerve.</a:t>
            </a:r>
            <a:endParaRPr lang="en-IN"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 Since the patient presented late and muscle atrophy was present it was decided to observe for recovery of nerve function with electrophysiological assistance after decompression. Electrical stimulation of the nerve showed a faradic response.</a:t>
            </a:r>
            <a:endParaRPr lang="en-IN"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 The patient will be followed up for pattern of recovery. If recovery is poor needs reconstruction by tendon transfer</a:t>
            </a:r>
            <a:endParaRPr lang="en-US" sz="1200" b="0" cap="none" spc="0"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pic>
        <p:nvPicPr>
          <p:cNvPr id="26" name="Picture 25"/>
          <p:cNvPicPr>
            <a:picLocks noChangeAspect="1"/>
          </p:cNvPicPr>
          <p:nvPr/>
        </p:nvPicPr>
        <p:blipFill rotWithShape="1">
          <a:blip r:embed="rId6">
            <a:extLst>
              <a:ext uri="{28A0092B-C50C-407E-A947-70E740481C1C}">
                <a14:useLocalDpi xmlns:a14="http://schemas.microsoft.com/office/drawing/2010/main" val="0"/>
              </a:ext>
            </a:extLst>
          </a:blip>
          <a:srcRect l="50286" t="10505" r="25406" b="73737"/>
          <a:stretch/>
        </p:blipFill>
        <p:spPr>
          <a:xfrm>
            <a:off x="3137834" y="5005135"/>
            <a:ext cx="1713589" cy="1574171"/>
          </a:xfrm>
          <a:prstGeom prst="rect">
            <a:avLst/>
          </a:prstGeom>
        </p:spPr>
      </p:pic>
      <p:pic>
        <p:nvPicPr>
          <p:cNvPr id="27" name="Picture 26"/>
          <p:cNvPicPr>
            <a:picLocks noChangeAspect="1"/>
          </p:cNvPicPr>
          <p:nvPr/>
        </p:nvPicPr>
        <p:blipFill rotWithShape="1">
          <a:blip r:embed="rId6">
            <a:extLst>
              <a:ext uri="{28A0092B-C50C-407E-A947-70E740481C1C}">
                <a14:useLocalDpi xmlns:a14="http://schemas.microsoft.com/office/drawing/2010/main" val="0"/>
              </a:ext>
            </a:extLst>
          </a:blip>
          <a:srcRect l="74908" t="33939" r="3046" b="48687"/>
          <a:stretch/>
        </p:blipFill>
        <p:spPr>
          <a:xfrm>
            <a:off x="6427949" y="3369603"/>
            <a:ext cx="1303203" cy="1455524"/>
          </a:xfrm>
          <a:prstGeom prst="rect">
            <a:avLst/>
          </a:prstGeom>
        </p:spPr>
      </p:pic>
      <p:pic>
        <p:nvPicPr>
          <p:cNvPr id="28" name="Picture 27"/>
          <p:cNvPicPr>
            <a:picLocks noChangeAspect="1"/>
          </p:cNvPicPr>
          <p:nvPr/>
        </p:nvPicPr>
        <p:blipFill rotWithShape="1">
          <a:blip r:embed="rId6">
            <a:extLst>
              <a:ext uri="{28A0092B-C50C-407E-A947-70E740481C1C}">
                <a14:useLocalDpi xmlns:a14="http://schemas.microsoft.com/office/drawing/2010/main" val="0"/>
              </a:ext>
            </a:extLst>
          </a:blip>
          <a:srcRect l="76340" t="55713" r="183" b="27071"/>
          <a:stretch/>
        </p:blipFill>
        <p:spPr>
          <a:xfrm>
            <a:off x="9272335" y="3372330"/>
            <a:ext cx="1395244" cy="1450071"/>
          </a:xfrm>
          <a:prstGeom prst="rect">
            <a:avLst/>
          </a:prstGeom>
        </p:spPr>
      </p:pic>
      <p:pic>
        <p:nvPicPr>
          <p:cNvPr id="29" name="Picture 28"/>
          <p:cNvPicPr>
            <a:picLocks noChangeAspect="1"/>
          </p:cNvPicPr>
          <p:nvPr/>
        </p:nvPicPr>
        <p:blipFill rotWithShape="1">
          <a:blip r:embed="rId6">
            <a:extLst>
              <a:ext uri="{28A0092B-C50C-407E-A947-70E740481C1C}">
                <a14:useLocalDpi xmlns:a14="http://schemas.microsoft.com/office/drawing/2010/main" val="0"/>
              </a:ext>
            </a:extLst>
          </a:blip>
          <a:srcRect l="50286" t="78788" r="26810" b="3636"/>
          <a:stretch/>
        </p:blipFill>
        <p:spPr>
          <a:xfrm>
            <a:off x="10681883" y="3373849"/>
            <a:ext cx="1467397" cy="1433967"/>
          </a:xfrm>
          <a:prstGeom prst="rect">
            <a:avLst/>
          </a:prstGeom>
        </p:spPr>
      </p:pic>
      <p:pic>
        <p:nvPicPr>
          <p:cNvPr id="30" name="Picture 29"/>
          <p:cNvPicPr>
            <a:picLocks noChangeAspect="1"/>
          </p:cNvPicPr>
          <p:nvPr/>
        </p:nvPicPr>
        <p:blipFill rotWithShape="1">
          <a:blip r:embed="rId6">
            <a:extLst>
              <a:ext uri="{28A0092B-C50C-407E-A947-70E740481C1C}">
                <a14:useLocalDpi xmlns:a14="http://schemas.microsoft.com/office/drawing/2010/main" val="0"/>
              </a:ext>
            </a:extLst>
          </a:blip>
          <a:srcRect l="50389" t="56011" r="25562" b="27424"/>
          <a:stretch/>
        </p:blipFill>
        <p:spPr>
          <a:xfrm>
            <a:off x="7760028" y="3384556"/>
            <a:ext cx="1448414" cy="1413928"/>
          </a:xfrm>
          <a:prstGeom prst="rect">
            <a:avLst/>
          </a:prstGeom>
        </p:spPr>
      </p:pic>
      <p:pic>
        <p:nvPicPr>
          <p:cNvPr id="31" name="Picture 30"/>
          <p:cNvPicPr>
            <a:picLocks noChangeAspect="1"/>
          </p:cNvPicPr>
          <p:nvPr/>
        </p:nvPicPr>
        <p:blipFill rotWithShape="1">
          <a:blip r:embed="rId6">
            <a:extLst>
              <a:ext uri="{28A0092B-C50C-407E-A947-70E740481C1C}">
                <a14:useLocalDpi xmlns:a14="http://schemas.microsoft.com/office/drawing/2010/main" val="0"/>
              </a:ext>
            </a:extLst>
          </a:blip>
          <a:srcRect l="82545" t="11933" r="210" b="73724"/>
          <a:stretch/>
        </p:blipFill>
        <p:spPr>
          <a:xfrm>
            <a:off x="4847563" y="5004124"/>
            <a:ext cx="1482437" cy="1747459"/>
          </a:xfrm>
          <a:prstGeom prst="rect">
            <a:avLst/>
          </a:prstGeom>
        </p:spPr>
      </p:pic>
      <p:sp>
        <p:nvSpPr>
          <p:cNvPr id="37" name="Rectangle 36"/>
          <p:cNvSpPr/>
          <p:nvPr/>
        </p:nvSpPr>
        <p:spPr>
          <a:xfrm rot="10800000" flipV="1">
            <a:off x="6323796" y="5143967"/>
            <a:ext cx="5825483" cy="1708160"/>
          </a:xfrm>
          <a:prstGeom prst="rect">
            <a:avLst/>
          </a:prstGeom>
          <a:noFill/>
        </p:spPr>
        <p:txBody>
          <a:bodyPr wrap="square" lIns="91440" tIns="45720" rIns="91440" bIns="45720">
            <a:spAutoFit/>
          </a:bodyPr>
          <a:lstStyle/>
          <a:p>
            <a:r>
              <a:rPr lang="en-US" altLang="en-US" sz="1200" dirty="0" smtClean="0">
                <a:latin typeface="Arial" panose="020B0604020202020204" pitchFamily="34" charset="0"/>
                <a:cs typeface="Arial" panose="020B0604020202020204" pitchFamily="34" charset="0"/>
              </a:rPr>
              <a:t>Displaced </a:t>
            </a:r>
            <a:r>
              <a:rPr lang="en-US" altLang="en-US" sz="1200" dirty="0">
                <a:latin typeface="Arial" panose="020B0604020202020204" pitchFamily="34" charset="0"/>
                <a:cs typeface="Arial" panose="020B0604020202020204" pitchFamily="34" charset="0"/>
              </a:rPr>
              <a:t>fractures of the fibular head can rarely result in delayed common peroneal nerve palsy due to nerve entrapment by a constricting fibrous band. </a:t>
            </a:r>
            <a:r>
              <a:rPr lang="en-US" altLang="en-US" sz="1200" dirty="0" smtClean="0">
                <a:latin typeface="Arial" panose="020B0604020202020204" pitchFamily="34" charset="0"/>
                <a:cs typeface="Arial" panose="020B0604020202020204" pitchFamily="34" charset="0"/>
              </a:rPr>
              <a:t>A </a:t>
            </a:r>
            <a:r>
              <a:rPr lang="en-US" altLang="en-US" sz="1200" dirty="0">
                <a:latin typeface="Arial" panose="020B0604020202020204" pitchFamily="34" charset="0"/>
                <a:cs typeface="Arial" panose="020B0604020202020204" pitchFamily="34" charset="0"/>
              </a:rPr>
              <a:t>high index of </a:t>
            </a:r>
            <a:r>
              <a:rPr lang="en-US" altLang="en-US" sz="1200" dirty="0" smtClean="0">
                <a:latin typeface="Arial" panose="020B0604020202020204" pitchFamily="34" charset="0"/>
                <a:cs typeface="Arial" panose="020B0604020202020204" pitchFamily="34" charset="0"/>
              </a:rPr>
              <a:t>suspicion, careful </a:t>
            </a:r>
            <a:r>
              <a:rPr lang="en-US" altLang="en-US" sz="1200" dirty="0">
                <a:latin typeface="Arial" panose="020B0604020202020204" pitchFamily="34" charset="0"/>
                <a:cs typeface="Arial" panose="020B0604020202020204" pitchFamily="34" charset="0"/>
              </a:rPr>
              <a:t>clinical </a:t>
            </a:r>
            <a:r>
              <a:rPr lang="en-US" altLang="en-US" sz="1200" dirty="0" smtClean="0">
                <a:latin typeface="Arial" panose="020B0604020202020204" pitchFamily="34" charset="0"/>
                <a:cs typeface="Arial" panose="020B0604020202020204" pitchFamily="34" charset="0"/>
              </a:rPr>
              <a:t>evaluation and </a:t>
            </a:r>
            <a:r>
              <a:rPr lang="en-US" altLang="en-US" sz="1200" dirty="0">
                <a:latin typeface="Arial" panose="020B0604020202020204" pitchFamily="34" charset="0"/>
                <a:cs typeface="Arial" panose="020B0604020202020204" pitchFamily="34" charset="0"/>
              </a:rPr>
              <a:t>imaging are essential for early </a:t>
            </a:r>
            <a:r>
              <a:rPr lang="en-US" altLang="en-US" sz="1200" dirty="0" err="1" smtClean="0">
                <a:latin typeface="Arial" panose="020B0604020202020204" pitchFamily="34" charset="0"/>
                <a:cs typeface="Arial" panose="020B0604020202020204" pitchFamily="34" charset="0"/>
              </a:rPr>
              <a:t>diagnosis.Timely</a:t>
            </a:r>
            <a:r>
              <a:rPr lang="en-US" altLang="en-US" sz="1200" dirty="0" smtClean="0">
                <a:latin typeface="Arial" panose="020B0604020202020204" pitchFamily="34" charset="0"/>
                <a:cs typeface="Arial" panose="020B0604020202020204" pitchFamily="34" charset="0"/>
              </a:rPr>
              <a:t> </a:t>
            </a:r>
            <a:r>
              <a:rPr lang="en-US" altLang="en-US" sz="1200" dirty="0">
                <a:latin typeface="Arial" panose="020B0604020202020204" pitchFamily="34" charset="0"/>
                <a:cs typeface="Arial" panose="020B0604020202020204" pitchFamily="34" charset="0"/>
              </a:rPr>
              <a:t>surgical exploration with excision of the fracture fragment and decompression </a:t>
            </a:r>
            <a:r>
              <a:rPr lang="en-US" altLang="en-US" sz="1200" dirty="0" smtClean="0">
                <a:latin typeface="Arial" panose="020B0604020202020204" pitchFamily="34" charset="0"/>
                <a:cs typeface="Arial" panose="020B0604020202020204" pitchFamily="34" charset="0"/>
              </a:rPr>
              <a:t>of </a:t>
            </a:r>
            <a:r>
              <a:rPr lang="en-US" altLang="en-US" sz="1200" dirty="0">
                <a:latin typeface="Arial" panose="020B0604020202020204" pitchFamily="34" charset="0"/>
                <a:cs typeface="Arial" panose="020B0604020202020204" pitchFamily="34" charset="0"/>
              </a:rPr>
              <a:t>nerve can prevent irreversible neurological damage and improve functional </a:t>
            </a:r>
            <a:r>
              <a:rPr lang="en-US" altLang="en-US" sz="1200" dirty="0" smtClean="0">
                <a:latin typeface="Arial" panose="020B0604020202020204" pitchFamily="34" charset="0"/>
                <a:cs typeface="Arial" panose="020B0604020202020204" pitchFamily="34" charset="0"/>
              </a:rPr>
              <a:t>outcomes</a:t>
            </a:r>
            <a:r>
              <a:rPr lang="en-US" altLang="en-US" sz="1050" dirty="0" smtClean="0">
                <a:latin typeface="Arial" panose="020B0604020202020204" pitchFamily="34" charset="0"/>
                <a:cs typeface="Arial" panose="020B0604020202020204" pitchFamily="34" charset="0"/>
              </a:rPr>
              <a:t>. References :</a:t>
            </a:r>
            <a:endParaRPr lang="en-IN" altLang="en-US" sz="1050" dirty="0">
              <a:latin typeface="Arial" panose="020B0604020202020204" pitchFamily="34" charset="0"/>
              <a:cs typeface="Arial" panose="020B0604020202020204" pitchFamily="34" charset="0"/>
            </a:endParaRPr>
          </a:p>
          <a:p>
            <a:r>
              <a:rPr lang="en-US" sz="1050" dirty="0" smtClean="0">
                <a:latin typeface="Arial" panose="020B0604020202020204" pitchFamily="34" charset="0"/>
                <a:cs typeface="Arial" panose="020B0604020202020204" pitchFamily="34" charset="0"/>
              </a:rPr>
              <a:t>(</a:t>
            </a:r>
            <a:r>
              <a:rPr lang="en-US" sz="1050" dirty="0">
                <a:latin typeface="Arial" panose="020B0604020202020204" pitchFamily="34" charset="0"/>
                <a:cs typeface="Arial" panose="020B0604020202020204" pitchFamily="34" charset="0"/>
              </a:rPr>
              <a:t>1</a:t>
            </a:r>
            <a:r>
              <a:rPr lang="en-US" sz="1050" dirty="0" smtClean="0">
                <a:latin typeface="Arial" panose="020B0604020202020204" pitchFamily="34" charset="0"/>
                <a:cs typeface="Arial" panose="020B0604020202020204" pitchFamily="34" charset="0"/>
              </a:rPr>
              <a:t>)Ryan </a:t>
            </a:r>
            <a:r>
              <a:rPr lang="en-US" sz="1050" dirty="0">
                <a:latin typeface="Arial" panose="020B0604020202020204" pitchFamily="34" charset="0"/>
                <a:cs typeface="Arial" panose="020B0604020202020204" pitchFamily="34" charset="0"/>
              </a:rPr>
              <a:t>W, </a:t>
            </a:r>
            <a:r>
              <a:rPr lang="en-US" sz="1050" dirty="0" err="1">
                <a:latin typeface="Arial" panose="020B0604020202020204" pitchFamily="34" charset="0"/>
                <a:cs typeface="Arial" panose="020B0604020202020204" pitchFamily="34" charset="0"/>
              </a:rPr>
              <a:t>Mahony</a:t>
            </a:r>
            <a:r>
              <a:rPr lang="en-US" sz="1050" dirty="0">
                <a:latin typeface="Arial" panose="020B0604020202020204" pitchFamily="34" charset="0"/>
                <a:cs typeface="Arial" panose="020B0604020202020204" pitchFamily="34" charset="0"/>
              </a:rPr>
              <a:t> N, Delaney M, O'Brien M, Murray P. Relationship of the common peroneal nerve and its branches to the head and neck of the fibula. </a:t>
            </a:r>
            <a:r>
              <a:rPr lang="en-US" sz="1050" dirty="0" err="1">
                <a:latin typeface="Arial" panose="020B0604020202020204" pitchFamily="34" charset="0"/>
                <a:cs typeface="Arial" panose="020B0604020202020204" pitchFamily="34" charset="0"/>
              </a:rPr>
              <a:t>Clin</a:t>
            </a:r>
            <a:r>
              <a:rPr lang="en-US" sz="1050" dirty="0">
                <a:latin typeface="Arial" panose="020B0604020202020204" pitchFamily="34" charset="0"/>
                <a:cs typeface="Arial" panose="020B0604020202020204" pitchFamily="34" charset="0"/>
              </a:rPr>
              <a:t> </a:t>
            </a:r>
            <a:r>
              <a:rPr lang="en-US" sz="1050" dirty="0" err="1">
                <a:latin typeface="Arial" panose="020B0604020202020204" pitchFamily="34" charset="0"/>
                <a:cs typeface="Arial" panose="020B0604020202020204" pitchFamily="34" charset="0"/>
              </a:rPr>
              <a:t>Anat</a:t>
            </a:r>
            <a:r>
              <a:rPr lang="en-US" sz="1050" dirty="0">
                <a:latin typeface="Arial" panose="020B0604020202020204" pitchFamily="34" charset="0"/>
                <a:cs typeface="Arial" panose="020B0604020202020204" pitchFamily="34" charset="0"/>
              </a:rPr>
              <a:t> 2003;16(6):501-505</a:t>
            </a:r>
            <a:endParaRPr lang="en-IN" sz="1050" dirty="0">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en-US" alt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735463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TotalTime>
  <Words>538</Words>
  <Application>Microsoft Office PowerPoint</Application>
  <PresentationFormat>Widescreen</PresentationFormat>
  <Paragraphs>22</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Virinchi Vinay</dc:creator>
  <cp:lastModifiedBy>LENOVO</cp:lastModifiedBy>
  <cp:revision>15</cp:revision>
  <dcterms:created xsi:type="dcterms:W3CDTF">2026-01-11T06:24:43Z</dcterms:created>
  <dcterms:modified xsi:type="dcterms:W3CDTF">2026-01-28T15:18:36Z</dcterms:modified>
</cp:coreProperties>
</file>