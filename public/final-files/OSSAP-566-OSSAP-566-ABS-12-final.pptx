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DB4C-97CB-97A1-6A00-97671D72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8FC155-A7BD-1627-D486-946A31153603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3C77E2-A9C6-D8E1-F03B-DAFAED35B338}"/>
              </a:ext>
            </a:extLst>
          </p:cNvPr>
          <p:cNvSpPr txBox="1"/>
          <p:nvPr/>
        </p:nvSpPr>
        <p:spPr>
          <a:xfrm>
            <a:off x="1535441" y="172806"/>
            <a:ext cx="831629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REBUILDING A 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COMPLEX POST-TRAUMATIC</a:t>
            </a: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 SHOULDER – REVERSE SHOULDER ARTHROPLASTY WITH VIRTUAL IMPLANT PLANNING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37E3DF-6DD8-071C-7654-75DC7DB079B5}"/>
              </a:ext>
            </a:extLst>
          </p:cNvPr>
          <p:cNvSpPr txBox="1"/>
          <p:nvPr/>
        </p:nvSpPr>
        <p:spPr>
          <a:xfrm>
            <a:off x="2325249" y="881138"/>
            <a:ext cx="71140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Arial"/>
                <a:cs typeface="Arial"/>
              </a:rPr>
              <a:t>DR MAHITH GUDURI, DR THADI MOHAN</a:t>
            </a:r>
            <a:endParaRPr lang="en-US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AFBCE888-0D47-CA50-7D49-3A2565FD8DF7}"/>
              </a:ext>
            </a:extLst>
          </p:cNvPr>
          <p:cNvSpPr/>
          <p:nvPr/>
        </p:nvSpPr>
        <p:spPr>
          <a:xfrm>
            <a:off x="54668" y="3131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D0752-CDCF-D3C8-C58B-1FA8D524ADEC}"/>
              </a:ext>
            </a:extLst>
          </p:cNvPr>
          <p:cNvSpPr/>
          <p:nvPr/>
        </p:nvSpPr>
        <p:spPr>
          <a:xfrm>
            <a:off x="0" y="1680358"/>
            <a:ext cx="2602815" cy="3258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7A577-3785-F7ED-7A28-DF670B647BBA}"/>
              </a:ext>
            </a:extLst>
          </p:cNvPr>
          <p:cNvSpPr/>
          <p:nvPr/>
        </p:nvSpPr>
        <p:spPr>
          <a:xfrm>
            <a:off x="5013" y="4971417"/>
            <a:ext cx="2602815" cy="18921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7037C-6C6A-8F72-0A6A-BA3E8823B9C6}"/>
              </a:ext>
            </a:extLst>
          </p:cNvPr>
          <p:cNvSpPr/>
          <p:nvPr/>
        </p:nvSpPr>
        <p:spPr>
          <a:xfrm>
            <a:off x="2604429" y="1280157"/>
            <a:ext cx="6020408" cy="55678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71755-2351-E4C2-969C-10229246720F}"/>
              </a:ext>
            </a:extLst>
          </p:cNvPr>
          <p:cNvSpPr/>
          <p:nvPr/>
        </p:nvSpPr>
        <p:spPr>
          <a:xfrm>
            <a:off x="8638674" y="1492384"/>
            <a:ext cx="3553326" cy="32265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760FE4-2D9D-EB1C-DA46-B5C7B330DAC3}"/>
              </a:ext>
            </a:extLst>
          </p:cNvPr>
          <p:cNvSpPr/>
          <p:nvPr/>
        </p:nvSpPr>
        <p:spPr>
          <a:xfrm>
            <a:off x="8638674" y="4937840"/>
            <a:ext cx="3553055" cy="1914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60B058-206F-D5B9-EE64-9E02524BB369}"/>
              </a:ext>
            </a:extLst>
          </p:cNvPr>
          <p:cNvSpPr/>
          <p:nvPr/>
        </p:nvSpPr>
        <p:spPr>
          <a:xfrm>
            <a:off x="0" y="1289682"/>
            <a:ext cx="2597253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AE74F3-B7BE-3942-E65E-4D782B616777}"/>
              </a:ext>
            </a:extLst>
          </p:cNvPr>
          <p:cNvSpPr/>
          <p:nvPr/>
        </p:nvSpPr>
        <p:spPr>
          <a:xfrm>
            <a:off x="2616102" y="1280157"/>
            <a:ext cx="6018761" cy="3996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EXAMINATION AND OPERATIVE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82DAA4-C704-D033-D3F9-926162C73B83}"/>
              </a:ext>
            </a:extLst>
          </p:cNvPr>
          <p:cNvSpPr/>
          <p:nvPr/>
        </p:nvSpPr>
        <p:spPr>
          <a:xfrm>
            <a:off x="8627549" y="1279608"/>
            <a:ext cx="3553325" cy="4046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85A24-2391-3C3C-276E-117BC780E5B7}"/>
              </a:ext>
            </a:extLst>
          </p:cNvPr>
          <p:cNvSpPr/>
          <p:nvPr/>
        </p:nvSpPr>
        <p:spPr>
          <a:xfrm>
            <a:off x="-6231" y="4842412"/>
            <a:ext cx="2604414" cy="3882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HISTORY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BE02BD-F382-2CBF-D61F-F8723BB6A642}"/>
              </a:ext>
            </a:extLst>
          </p:cNvPr>
          <p:cNvSpPr/>
          <p:nvPr/>
        </p:nvSpPr>
        <p:spPr>
          <a:xfrm>
            <a:off x="8645143" y="4715631"/>
            <a:ext cx="354831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AD8267-A936-1491-AEFB-385ED7426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9" t="30386" r="-176" b="26756"/>
          <a:stretch>
            <a:fillRect/>
          </a:stretch>
        </p:blipFill>
        <p:spPr>
          <a:xfrm>
            <a:off x="9857122" y="171702"/>
            <a:ext cx="2148146" cy="9184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5AF7A04-0429-6967-8C9E-BF28990A9ACD}"/>
              </a:ext>
            </a:extLst>
          </p:cNvPr>
          <p:cNvSpPr txBox="1"/>
          <p:nvPr/>
        </p:nvSpPr>
        <p:spPr>
          <a:xfrm>
            <a:off x="-4606" y="1675469"/>
            <a:ext cx="2594741" cy="3421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Chronic proximal humeral malunion secondary to implant failure results in 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distorted anatomy, altered biomechanics and rotator cuff dysfunction</a:t>
            </a:r>
            <a:r>
              <a:rPr lang="en-US" sz="1200" dirty="0">
                <a:latin typeface="Arial"/>
                <a:ea typeface="+mn-lt"/>
                <a:cs typeface="+mn-lt"/>
              </a:rPr>
              <a:t>, making shoulder arthroplasty challenging. </a:t>
            </a:r>
            <a:endParaRPr lang="en-US" sz="12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b="1" u="sng" dirty="0">
                <a:latin typeface="Arial"/>
                <a:ea typeface="+mn-lt"/>
                <a:cs typeface="+mn-lt"/>
              </a:rPr>
              <a:t>Reverse shoulder arthroplasty </a:t>
            </a:r>
            <a:r>
              <a:rPr lang="en-US" sz="1200" dirty="0">
                <a:latin typeface="Arial"/>
                <a:ea typeface="+mn-lt"/>
                <a:cs typeface="+mn-lt"/>
              </a:rPr>
              <a:t>(RSA) provides reliable functional restoration  </a:t>
            </a:r>
            <a:endParaRPr lang="en-US" sz="12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b="1" u="sng" dirty="0">
                <a:latin typeface="Arial"/>
                <a:ea typeface="+mn-lt"/>
                <a:cs typeface="+mn-lt"/>
              </a:rPr>
              <a:t>CT-based Virtual Implant Positioning (VIP) </a:t>
            </a:r>
            <a:r>
              <a:rPr lang="en-US" sz="1200" dirty="0">
                <a:latin typeface="Arial"/>
                <a:ea typeface="+mn-lt"/>
                <a:cs typeface="+mn-lt"/>
              </a:rPr>
              <a:t>planning allows 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patient-specific</a:t>
            </a:r>
            <a:r>
              <a:rPr lang="en-US" sz="1200" dirty="0">
                <a:latin typeface="Arial"/>
                <a:ea typeface="+mn-lt"/>
                <a:cs typeface="+mn-lt"/>
              </a:rPr>
              <a:t>, 3D optimization of implant selection, positioning, and fixation.</a:t>
            </a:r>
            <a:endParaRPr lang="en-US" sz="1200" dirty="0">
              <a:latin typeface="Arial"/>
              <a:cs typeface="Arial"/>
            </a:endParaRPr>
          </a:p>
          <a:p>
            <a:pPr marL="171450" indent="-171450" algn="l">
              <a:buFont typeface="Wingdings"/>
              <a:buChar char="§"/>
            </a:pPr>
            <a:endParaRPr lang="en-US" sz="1200" dirty="0"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E4AB5-D0B5-41A4-2335-B236B2B2A2C9}"/>
              </a:ext>
            </a:extLst>
          </p:cNvPr>
          <p:cNvSpPr txBox="1"/>
          <p:nvPr/>
        </p:nvSpPr>
        <p:spPr>
          <a:xfrm>
            <a:off x="-3186" y="5167200"/>
            <a:ext cx="260325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66 y/o male</a:t>
            </a:r>
            <a:endParaRPr lang="en-US" sz="1200">
              <a:latin typeface="Arial"/>
              <a:ea typeface="+mn-lt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Had a 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left proximal humeral intra-articular fracture</a:t>
            </a:r>
            <a:r>
              <a:rPr lang="en-US" sz="1200" dirty="0">
                <a:latin typeface="Arial"/>
                <a:ea typeface="+mn-lt"/>
                <a:cs typeface="+mn-lt"/>
              </a:rPr>
              <a:t> operated elsewhere 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15 years back</a:t>
            </a:r>
            <a:r>
              <a:rPr lang="en-US" sz="1200" dirty="0">
                <a:latin typeface="Arial"/>
                <a:ea typeface="+mn-lt"/>
                <a:cs typeface="+mn-lt"/>
              </a:rPr>
              <a:t>.</a:t>
            </a:r>
            <a:endParaRPr lang="en-US" sz="1200">
              <a:latin typeface="Arial"/>
              <a:ea typeface="+mn-lt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Subsequently, he reported painful restriction of movements not improving with physio.  </a:t>
            </a:r>
            <a:endParaRPr lang="en-US" sz="1200">
              <a:latin typeface="Arial"/>
              <a:cs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F533CF-5CB3-A493-1657-EBFEAC7CBE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51" t="5985" r="64089" b="43180"/>
          <a:stretch>
            <a:fillRect/>
          </a:stretch>
        </p:blipFill>
        <p:spPr>
          <a:xfrm>
            <a:off x="2607687" y="1676078"/>
            <a:ext cx="1820290" cy="19154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EAE364F-9CB4-9093-759F-456A38443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294" y="3586079"/>
            <a:ext cx="1387030" cy="13773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3EAA42-F654-7FE7-2732-22F1AD9EC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5554" y="3583745"/>
            <a:ext cx="1378494" cy="14111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13238F-3416-0E0A-8BC4-C8A5AFD19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069" y="4937126"/>
            <a:ext cx="1486609" cy="192318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057259F-220F-F68B-C753-AFE17C347C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2792" y="4959428"/>
            <a:ext cx="1807402" cy="7819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76A4123-5331-CCA9-6D12-5AC96B8057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6652" y="5731924"/>
            <a:ext cx="1797424" cy="11187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8213A4D-9231-8DBA-FAE2-0DE1D33E7A4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383" t="19575" r="467" b="14688"/>
          <a:stretch>
            <a:fillRect/>
          </a:stretch>
        </p:blipFill>
        <p:spPr>
          <a:xfrm>
            <a:off x="5868944" y="4964056"/>
            <a:ext cx="2765281" cy="190757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BFFA014-DBF6-CFC8-0ADC-9187A84C35EC}"/>
              </a:ext>
            </a:extLst>
          </p:cNvPr>
          <p:cNvSpPr txBox="1"/>
          <p:nvPr/>
        </p:nvSpPr>
        <p:spPr>
          <a:xfrm>
            <a:off x="5364027" y="1716618"/>
            <a:ext cx="3268264" cy="3239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100" b="1" dirty="0">
                <a:latin typeface="Arial"/>
                <a:ea typeface="+mn-lt"/>
                <a:cs typeface="+mn-lt"/>
              </a:rPr>
              <a:t>O/E</a:t>
            </a:r>
            <a:endParaRPr lang="en-US" sz="1100" b="1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ea typeface="+mn-lt"/>
                <a:cs typeface="+mn-lt"/>
              </a:rPr>
              <a:t>Severely restricted ROM beyond 30°</a:t>
            </a:r>
          </a:p>
          <a:p>
            <a:r>
              <a:rPr lang="en-US" sz="1100" b="1" dirty="0">
                <a:latin typeface="Arial"/>
                <a:ea typeface="+mn-lt"/>
                <a:cs typeface="+mn-lt"/>
              </a:rPr>
              <a:t>PLANNING</a:t>
            </a:r>
            <a:endParaRPr lang="en-US" sz="1100" dirty="0"/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ea typeface="+mn-lt"/>
                <a:cs typeface="+mn-lt"/>
              </a:rPr>
              <a:t>3D CT was done with </a:t>
            </a:r>
            <a:r>
              <a:rPr lang="en-US" sz="1100" b="1" u="sng" dirty="0">
                <a:latin typeface="Arial"/>
                <a:ea typeface="+mn-lt"/>
                <a:cs typeface="+mn-lt"/>
              </a:rPr>
              <a:t>1 mm cuts</a:t>
            </a:r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ea typeface="+mn-lt"/>
                <a:cs typeface="+mn-lt"/>
              </a:rPr>
              <a:t>Various implant sizes and version simulated</a:t>
            </a:r>
          </a:p>
          <a:p>
            <a:r>
              <a:rPr lang="en-US" sz="1100" b="1" dirty="0">
                <a:latin typeface="Arial"/>
                <a:ea typeface="+mn-lt"/>
                <a:cs typeface="+mn-lt"/>
              </a:rPr>
              <a:t>SURGERY</a:t>
            </a:r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ea typeface="+mn-lt"/>
                <a:cs typeface="+mn-lt"/>
              </a:rPr>
              <a:t>Deltopectoral approach</a:t>
            </a:r>
            <a:endParaRPr lang="en-US" sz="1100" dirty="0">
              <a:latin typeface="Arial"/>
              <a:ea typeface="+mn-lt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100" dirty="0" err="1">
                <a:latin typeface="Arial"/>
                <a:cs typeface="Arial"/>
              </a:rPr>
              <a:t>Subluxed</a:t>
            </a:r>
            <a:r>
              <a:rPr lang="en-US" sz="1100" dirty="0">
                <a:latin typeface="Arial"/>
                <a:cs typeface="Arial"/>
              </a:rPr>
              <a:t> humeral head remnant removed</a:t>
            </a:r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ea typeface="+mn-lt"/>
                <a:cs typeface="+mn-lt"/>
              </a:rPr>
              <a:t>Glenoid reaming done as per plan</a:t>
            </a:r>
            <a:endParaRPr lang="en-US" sz="1100" dirty="0">
              <a:latin typeface="Arial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ea typeface="+mn-lt"/>
                <a:cs typeface="+mn-lt"/>
              </a:rPr>
              <a:t>Glenoid bone loss augmented with half wedge and bone graft</a:t>
            </a:r>
            <a:endParaRPr lang="en-US" sz="1100" dirty="0">
              <a:latin typeface="Arial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100" dirty="0" err="1">
                <a:latin typeface="Arial"/>
                <a:ea typeface="+mn-lt"/>
                <a:cs typeface="+mn-lt"/>
              </a:rPr>
              <a:t>Glenosphere</a:t>
            </a:r>
            <a:r>
              <a:rPr lang="en-US" sz="1100" dirty="0">
                <a:latin typeface="Arial"/>
                <a:ea typeface="+mn-lt"/>
                <a:cs typeface="+mn-lt"/>
              </a:rPr>
              <a:t> size and offset selected per VIP plan</a:t>
            </a:r>
            <a:endParaRPr lang="en-US" sz="1100" dirty="0">
              <a:latin typeface="Arial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ea typeface="+mn-lt"/>
                <a:cs typeface="+mn-lt"/>
              </a:rPr>
              <a:t>Intra-operative fracture at the surgical neck approximated with cerclage</a:t>
            </a:r>
          </a:p>
          <a:p>
            <a:pPr marL="285750" indent="-285750">
              <a:buFont typeface="Wingdings"/>
              <a:buChar char="§"/>
            </a:pPr>
            <a:r>
              <a:rPr lang="en-US" sz="1100" dirty="0">
                <a:latin typeface="Arial"/>
                <a:cs typeface="Arial"/>
              </a:rPr>
              <a:t>Subscapularis repair done</a:t>
            </a:r>
          </a:p>
          <a:p>
            <a:pPr marL="285750" indent="-285750">
              <a:buFont typeface="Wingdings"/>
              <a:buChar char="§"/>
            </a:pPr>
            <a:r>
              <a:rPr lang="en-US" sz="1100" dirty="0" err="1">
                <a:latin typeface="Arial"/>
                <a:cs typeface="Arial"/>
              </a:rPr>
              <a:t>Intraop</a:t>
            </a:r>
            <a:r>
              <a:rPr lang="en-US" sz="1100" dirty="0">
                <a:latin typeface="Arial"/>
                <a:cs typeface="Arial"/>
              </a:rPr>
              <a:t> function was full</a:t>
            </a:r>
          </a:p>
          <a:p>
            <a:endParaRPr lang="en-US" sz="1100" dirty="0"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8BD543-2F58-471E-CC8D-3E84BA007FC3}"/>
              </a:ext>
            </a:extLst>
          </p:cNvPr>
          <p:cNvSpPr txBox="1"/>
          <p:nvPr/>
        </p:nvSpPr>
        <p:spPr>
          <a:xfrm>
            <a:off x="8642621" y="1687055"/>
            <a:ext cx="355970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u="sng" dirty="0">
                <a:latin typeface="Arial"/>
                <a:ea typeface="+mn-lt"/>
                <a:cs typeface="+mn-lt"/>
              </a:rPr>
              <a:t>RSA</a:t>
            </a:r>
            <a:r>
              <a:rPr lang="en-US" sz="1200" dirty="0">
                <a:latin typeface="Arial"/>
                <a:ea typeface="+mn-lt"/>
                <a:cs typeface="+mn-lt"/>
              </a:rPr>
              <a:t> is effective in proximal humerus implant failure with distorted anatomy with rotator cuff deficiency.</a:t>
            </a:r>
            <a:endParaRPr lang="en-US" sz="1200" dirty="0"/>
          </a:p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allows the 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deltoid to function as the primary elevator</a:t>
            </a:r>
            <a:r>
              <a:rPr lang="en-US" sz="1200" dirty="0">
                <a:latin typeface="Arial"/>
                <a:ea typeface="+mn-lt"/>
                <a:cs typeface="+mn-lt"/>
              </a:rPr>
              <a:t>. </a:t>
            </a:r>
            <a:endParaRPr lang="en-US" sz="1200" dirty="0">
              <a:latin typeface="Aptos" panose="02110004020202020204"/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significant </a:t>
            </a:r>
            <a:r>
              <a:rPr lang="en-US" sz="1200" dirty="0" err="1">
                <a:latin typeface="Arial"/>
                <a:ea typeface="+mn-lt"/>
                <a:cs typeface="+mn-lt"/>
              </a:rPr>
              <a:t>postop</a:t>
            </a:r>
            <a:r>
              <a:rPr lang="en-US" sz="1200" dirty="0">
                <a:latin typeface="Arial"/>
                <a:ea typeface="+mn-lt"/>
                <a:cs typeface="+mn-lt"/>
              </a:rPr>
              <a:t> improvements</a:t>
            </a:r>
            <a:r>
              <a:rPr lang="en-IN" sz="1200" dirty="0">
                <a:latin typeface="Arial"/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ea typeface="+mn-lt"/>
                <a:cs typeface="+mn-lt"/>
              </a:rPr>
              <a:t>with 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consistent gains in rotational movements</a:t>
            </a:r>
            <a:r>
              <a:rPr lang="en-US" sz="1200" dirty="0">
                <a:latin typeface="Arial"/>
                <a:ea typeface="+mn-lt"/>
                <a:cs typeface="+mn-lt"/>
              </a:rPr>
              <a:t>. </a:t>
            </a:r>
            <a:endParaRPr lang="en-US" sz="1200" dirty="0">
              <a:latin typeface="Aptos" panose="02110004020202020204"/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provides a stable construct - 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reducing instability</a:t>
            </a:r>
            <a:r>
              <a:rPr lang="en-IN" sz="1200" b="1" u="sng" dirty="0">
                <a:latin typeface="Arial"/>
                <a:ea typeface="+mn-lt"/>
                <a:cs typeface="+mn-lt"/>
              </a:rPr>
              <a:t> when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 compared with anatomic arthroplasty</a:t>
            </a:r>
            <a:r>
              <a:rPr lang="en-US" sz="1200" dirty="0">
                <a:latin typeface="Arial"/>
                <a:ea typeface="+mn-lt"/>
                <a:cs typeface="+mn-lt"/>
              </a:rPr>
              <a:t>.</a:t>
            </a:r>
            <a:endParaRPr lang="en-US" sz="1200" dirty="0">
              <a:latin typeface="Aptos" panose="02110004020202020204"/>
              <a:ea typeface="+mn-lt"/>
              <a:cs typeface="+mn-lt"/>
            </a:endParaRPr>
          </a:p>
          <a:p>
            <a:r>
              <a:rPr lang="en-US" sz="1200" dirty="0">
                <a:latin typeface="Arial"/>
                <a:ea typeface="+mn-lt"/>
                <a:cs typeface="+mn-lt"/>
              </a:rPr>
              <a:t> </a:t>
            </a:r>
            <a:r>
              <a:rPr lang="en-US" sz="1200" b="1" u="sng" dirty="0">
                <a:latin typeface="Arial"/>
                <a:ea typeface="+mn-lt"/>
                <a:cs typeface="+mn-lt"/>
              </a:rPr>
              <a:t>3D CT-based VIP planning</a:t>
            </a:r>
            <a:r>
              <a:rPr lang="en-US" sz="1200" dirty="0">
                <a:latin typeface="Arial"/>
                <a:ea typeface="+mn-lt"/>
                <a:cs typeface="+mn-lt"/>
              </a:rPr>
              <a:t> </a:t>
            </a:r>
            <a:endParaRPr lang="en-US" sz="1200" dirty="0">
              <a:latin typeface="Aptos" panose="02110004020202020204"/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b="1" u="sng" dirty="0">
                <a:latin typeface="Arial"/>
                <a:ea typeface="+mn-lt"/>
                <a:cs typeface="+mn-lt"/>
              </a:rPr>
              <a:t>improves the accuracy of glenoid component placement</a:t>
            </a:r>
            <a:r>
              <a:rPr lang="en-US" sz="1200" dirty="0">
                <a:latin typeface="Arial"/>
                <a:ea typeface="+mn-lt"/>
                <a:cs typeface="+mn-lt"/>
              </a:rPr>
              <a:t> . </a:t>
            </a:r>
            <a:endParaRPr lang="en-US" sz="1200" dirty="0">
              <a:latin typeface="Aptos" panose="02110004020202020204"/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dirty="0">
                <a:latin typeface="Arial"/>
                <a:ea typeface="+mn-lt"/>
                <a:cs typeface="+mn-lt"/>
              </a:rPr>
              <a:t>patient-specific planning </a:t>
            </a:r>
            <a:endParaRPr lang="en-US" sz="1200" dirty="0">
              <a:latin typeface="Aptos" panose="02110004020202020204"/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US" sz="1200" b="1" u="sng" dirty="0">
                <a:latin typeface="Arial"/>
                <a:ea typeface="+mn-lt"/>
                <a:cs typeface="+mn-lt"/>
              </a:rPr>
              <a:t>enhanced implant biomechanics, fixation</a:t>
            </a:r>
            <a:endParaRPr lang="en-US" sz="1200" dirty="0">
              <a:latin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E3D724-59C3-57CC-5384-0AC41764411E}"/>
              </a:ext>
            </a:extLst>
          </p:cNvPr>
          <p:cNvSpPr txBox="1"/>
          <p:nvPr/>
        </p:nvSpPr>
        <p:spPr>
          <a:xfrm>
            <a:off x="8625272" y="5096574"/>
            <a:ext cx="353745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Arial"/>
                <a:cs typeface="Arial"/>
              </a:rPr>
              <a:t>RSA COMBINED WITH VIP PLANNING IMPROVES SURGICAL ACCURACY AND PRECISION IN IMPLANT POSITIONING LEADING TO PREDICTABLE OUTCOMES IN COMPLEX POST TRAUMATIC SHOULDER.</a:t>
            </a:r>
            <a:endParaRPr lang="en-US" sz="2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D47D5FC-5977-4205-514A-AB9D4A92A5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9535" y="1676143"/>
            <a:ext cx="934403" cy="190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173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6fdfc6-7590-46df-8878-831e1b6bc916}" enabled="0" method="" siteId="{916fdfc6-7590-46df-8878-831e1b6bc9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Guduri Mahith</cp:lastModifiedBy>
  <cp:revision>105</cp:revision>
  <dcterms:created xsi:type="dcterms:W3CDTF">2026-01-11T06:24:43Z</dcterms:created>
  <dcterms:modified xsi:type="dcterms:W3CDTF">2026-01-28T14:40:37Z</dcterms:modified>
</cp:coreProperties>
</file>