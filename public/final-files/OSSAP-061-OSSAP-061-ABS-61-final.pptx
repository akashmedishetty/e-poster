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755"/>
    <a:srgbClr val="01234D"/>
    <a:srgbClr val="D9F2D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37790B-CA1D-4BEC-B8D6-976B18CFB950}" v="42" dt="2026-02-15T11:35:13.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94660"/>
  </p:normalViewPr>
  <p:slideViewPr>
    <p:cSldViewPr snapToGrid="0">
      <p:cViewPr varScale="1">
        <p:scale>
          <a:sx n="64" d="100"/>
          <a:sy n="64" d="100"/>
        </p:scale>
        <p:origin x="-900"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jal Ubaid" userId="0124ee5962e05e05" providerId="LiveId" clId="{830CD589-E08F-45D9-A673-81A4C21963BE}"/>
    <pc:docChg chg="modSld">
      <pc:chgData name="Kajal Ubaid" userId="0124ee5962e05e05" providerId="LiveId" clId="{830CD589-E08F-45D9-A673-81A4C21963BE}" dt="2026-02-15T11:47:19.708" v="0" actId="14100"/>
      <pc:docMkLst>
        <pc:docMk/>
      </pc:docMkLst>
      <pc:sldChg chg="modSp">
        <pc:chgData name="Kajal Ubaid" userId="0124ee5962e05e05" providerId="LiveId" clId="{830CD589-E08F-45D9-A673-81A4C21963BE}" dt="2026-02-15T11:47:19.708" v="0" actId="14100"/>
        <pc:sldMkLst>
          <pc:docMk/>
          <pc:sldMk cId="3607354635" sldId="256"/>
        </pc:sldMkLst>
        <pc:spChg chg="mod">
          <ac:chgData name="Kajal Ubaid" userId="0124ee5962e05e05" providerId="LiveId" clId="{830CD589-E08F-45D9-A673-81A4C21963BE}" dt="2026-02-15T11:47:19.708" v="0" actId="14100"/>
          <ac:spMkLst>
            <pc:docMk/>
            <pc:sldMk cId="3607354635" sldId="256"/>
            <ac:spMk id="7" creationId="{6D1A47E9-312C-D04A-D368-EE96CE32C98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5" name="Footer Placeholder 4">
            <a:extLst>
              <a:ext uri="{FF2B5EF4-FFF2-40B4-BE49-F238E27FC236}">
                <a16:creationId xmlns:a16="http://schemas.microsoft.com/office/drawing/2014/main" xmlns=""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5" name="Footer Placeholder 4">
            <a:extLst>
              <a:ext uri="{FF2B5EF4-FFF2-40B4-BE49-F238E27FC236}">
                <a16:creationId xmlns:a16="http://schemas.microsoft.com/office/drawing/2014/main" xmlns=""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5" name="Footer Placeholder 4">
            <a:extLst>
              <a:ext uri="{FF2B5EF4-FFF2-40B4-BE49-F238E27FC236}">
                <a16:creationId xmlns:a16="http://schemas.microsoft.com/office/drawing/2014/main" xmlns=""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6" name="Footer Placeholder 5">
            <a:extLst>
              <a:ext uri="{FF2B5EF4-FFF2-40B4-BE49-F238E27FC236}">
                <a16:creationId xmlns:a16="http://schemas.microsoft.com/office/drawing/2014/main" xmlns=""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8" name="Footer Placeholder 7">
            <a:extLst>
              <a:ext uri="{FF2B5EF4-FFF2-40B4-BE49-F238E27FC236}">
                <a16:creationId xmlns:a16="http://schemas.microsoft.com/office/drawing/2014/main" xmlns=""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xmlns=""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xmlns=""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4" name="Footer Placeholder 3">
            <a:extLst>
              <a:ext uri="{FF2B5EF4-FFF2-40B4-BE49-F238E27FC236}">
                <a16:creationId xmlns:a16="http://schemas.microsoft.com/office/drawing/2014/main" xmlns=""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xmlns=""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3" name="Footer Placeholder 2">
            <a:extLst>
              <a:ext uri="{FF2B5EF4-FFF2-40B4-BE49-F238E27FC236}">
                <a16:creationId xmlns:a16="http://schemas.microsoft.com/office/drawing/2014/main" xmlns=""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xmlns=""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6" name="Footer Placeholder 5">
            <a:extLst>
              <a:ext uri="{FF2B5EF4-FFF2-40B4-BE49-F238E27FC236}">
                <a16:creationId xmlns:a16="http://schemas.microsoft.com/office/drawing/2014/main" xmlns=""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6" name="Footer Placeholder 5">
            <a:extLst>
              <a:ext uri="{FF2B5EF4-FFF2-40B4-BE49-F238E27FC236}">
                <a16:creationId xmlns:a16="http://schemas.microsoft.com/office/drawing/2014/main" xmlns=""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xmlns=""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5" name="Footer Placeholder 4">
            <a:extLst>
              <a:ext uri="{FF2B5EF4-FFF2-40B4-BE49-F238E27FC236}">
                <a16:creationId xmlns:a16="http://schemas.microsoft.com/office/drawing/2014/main" xmlns=""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pPr/>
              <a:t>2/16/2026</a:t>
            </a:fld>
            <a:endParaRPr lang="en-US"/>
          </a:p>
        </p:txBody>
      </p:sp>
      <p:sp>
        <p:nvSpPr>
          <p:cNvPr id="5" name="Footer Placeholder 4">
            <a:extLst>
              <a:ext uri="{FF2B5EF4-FFF2-40B4-BE49-F238E27FC236}">
                <a16:creationId xmlns:a16="http://schemas.microsoft.com/office/drawing/2014/main" xmlns=""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xmlns=""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pPr/>
              <a:t>‹#›</a:t>
            </a:fld>
            <a:endParaRPr lang="en-US"/>
          </a:p>
        </p:txBody>
      </p:sp>
    </p:spTree>
    <p:extLst>
      <p:ext uri="{BB962C8B-B14F-4D97-AF65-F5344CB8AC3E}">
        <p14:creationId xmlns:p14="http://schemas.microsoft.com/office/powerpoint/2010/main" xmlns=""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xmlns="" id="{F2BE4274-EF19-EE7E-5761-D489EED61B88}"/>
              </a:ext>
            </a:extLst>
          </p:cNvPr>
          <p:cNvPicPr>
            <a:picLocks noChangeAspect="1"/>
          </p:cNvPicPr>
          <p:nvPr userDrawn="1"/>
        </p:nvPicPr>
        <p:blipFill>
          <a:blip r:embed="rId13" cstate="print">
            <a:extLst>
              <a:ext uri="{28A0092B-C50C-407E-A947-70E740481C1C}">
                <a14:useLocalDpi xmlns:a14="http://schemas.microsoft.com/office/drawing/2010/main" xmlns=""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xmlns="" id="{A91A2BA2-F38B-80BA-A985-5949FC76FEA7}"/>
              </a:ext>
            </a:extLst>
          </p:cNvPr>
          <p:cNvPicPr>
            <a:picLocks noChangeAspect="1"/>
          </p:cNvPicPr>
          <p:nvPr userDrawn="1"/>
        </p:nvPicPr>
        <p:blipFill>
          <a:blip r:embed="rId14" cstate="print">
            <a:extLst>
              <a:ext uri="{28A0092B-C50C-407E-A947-70E740481C1C}">
                <a14:useLocalDpi xmlns:a14="http://schemas.microsoft.com/office/drawing/2010/main" xmlns=""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xmlns="" id="{604524FB-BCF4-1B74-A89E-4EDE85967878}"/>
              </a:ext>
            </a:extLst>
          </p:cNvPr>
          <p:cNvPicPr>
            <a:picLocks noChangeAspect="1"/>
          </p:cNvPicPr>
          <p:nvPr userDrawn="1"/>
        </p:nvPicPr>
        <p:blipFill>
          <a:blip r:embed="rId15" cstate="print">
            <a:extLst>
              <a:ext uri="{28A0092B-C50C-407E-A947-70E740481C1C}">
                <a14:useLocalDpi xmlns:a14="http://schemas.microsoft.com/office/drawing/2010/main" xmlns=""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xmlns=""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xmlns=""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xmlns=""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xmlns=""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cstate="print"/>
            <a:stretch>
              <a:fillRect t="-9937" r="-4895" b="-10857"/>
            </a:stretch>
          </a:blipFill>
        </p:spPr>
        <p:txBody>
          <a:bodyPr/>
          <a:lstStyle/>
          <a:p>
            <a:endParaRPr lang="en-US"/>
          </a:p>
        </p:txBody>
      </p:sp>
    </p:spTree>
    <p:extLst>
      <p:ext uri="{BB962C8B-B14F-4D97-AF65-F5344CB8AC3E}">
        <p14:creationId xmlns:p14="http://schemas.microsoft.com/office/powerpoint/2010/main" xmlns=""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openxmlformats.org/officeDocument/2006/relationships/image" Target="../media/image7.jpeg"/><Relationship Id="rId12"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4.png"/><Relationship Id="rId10" Type="http://schemas.openxmlformats.org/officeDocument/2006/relationships/image" Target="../media/image10.jpeg"/><Relationship Id="rId4" Type="http://schemas.openxmlformats.org/officeDocument/2006/relationships/image" Target="../media/image3.pn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xmlns="" id="{E872BCCA-09F4-9D91-AE26-B5E437D7714E}"/>
              </a:ext>
            </a:extLst>
          </p:cNvPr>
          <p:cNvSpPr/>
          <p:nvPr/>
        </p:nvSpPr>
        <p:spPr>
          <a:xfrm>
            <a:off x="0" y="0"/>
            <a:ext cx="12177561" cy="1398878"/>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p>
        </p:txBody>
      </p:sp>
      <p:pic>
        <p:nvPicPr>
          <p:cNvPr id="15" name="Picture 14">
            <a:extLst>
              <a:ext uri="{FF2B5EF4-FFF2-40B4-BE49-F238E27FC236}">
                <a16:creationId xmlns:a16="http://schemas.microsoft.com/office/drawing/2014/main" xmlns="" id="{4D4B9414-324A-B4ED-525E-CF04D2394B1B}"/>
              </a:ext>
            </a:extLst>
          </p:cNvPr>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9341079" y="0"/>
            <a:ext cx="1002134" cy="1002134"/>
          </a:xfrm>
          <a:prstGeom prst="rect">
            <a:avLst/>
          </a:prstGeom>
        </p:spPr>
      </p:pic>
      <p:pic>
        <p:nvPicPr>
          <p:cNvPr id="16" name="Picture 15">
            <a:extLst>
              <a:ext uri="{FF2B5EF4-FFF2-40B4-BE49-F238E27FC236}">
                <a16:creationId xmlns:a16="http://schemas.microsoft.com/office/drawing/2014/main" xmlns="" id="{6B23EAFB-E583-3DAF-08B5-661672CE88F0}"/>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1163316" y="60344"/>
            <a:ext cx="884047" cy="884047"/>
          </a:xfrm>
          <a:prstGeom prst="rect">
            <a:avLst/>
          </a:prstGeom>
        </p:spPr>
      </p:pic>
      <p:pic>
        <p:nvPicPr>
          <p:cNvPr id="17" name="Picture 16">
            <a:extLst>
              <a:ext uri="{FF2B5EF4-FFF2-40B4-BE49-F238E27FC236}">
                <a16:creationId xmlns:a16="http://schemas.microsoft.com/office/drawing/2014/main" xmlns="" id="{3C21D24D-75B4-7ADE-170F-FE845B818D4F}"/>
              </a:ext>
            </a:extLst>
          </p:cNvPr>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10413869" y="66864"/>
            <a:ext cx="785940" cy="785940"/>
          </a:xfrm>
          <a:prstGeom prst="rect">
            <a:avLst/>
          </a:prstGeom>
        </p:spPr>
      </p:pic>
      <p:sp>
        <p:nvSpPr>
          <p:cNvPr id="4" name="Freeform 13">
            <a:extLst>
              <a:ext uri="{FF2B5EF4-FFF2-40B4-BE49-F238E27FC236}">
                <a16:creationId xmlns:a16="http://schemas.microsoft.com/office/drawing/2014/main" xmlns="" id="{0F401C6F-33A3-A415-AD1A-709059E901BF}"/>
              </a:ext>
            </a:extLst>
          </p:cNvPr>
          <p:cNvSpPr/>
          <p:nvPr/>
        </p:nvSpPr>
        <p:spPr>
          <a:xfrm>
            <a:off x="-52055" y="81662"/>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5" cstate="print"/>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xmlns="" id="{1D4F9D5A-1DDA-4BC3-63F3-F36226B86C87}"/>
              </a:ext>
            </a:extLst>
          </p:cNvPr>
          <p:cNvSpPr/>
          <p:nvPr/>
        </p:nvSpPr>
        <p:spPr>
          <a:xfrm>
            <a:off x="0" y="1618742"/>
            <a:ext cx="3282846" cy="20688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xmlns="" id="{EC094F03-F93B-9B6D-7C11-87F9C75E6ABB}"/>
              </a:ext>
            </a:extLst>
          </p:cNvPr>
          <p:cNvSpPr/>
          <p:nvPr/>
        </p:nvSpPr>
        <p:spPr>
          <a:xfrm>
            <a:off x="0" y="3702570"/>
            <a:ext cx="3282846" cy="31554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xmlns="" id="{6D1A47E9-312C-D04A-D368-EE96CE32C982}"/>
              </a:ext>
            </a:extLst>
          </p:cNvPr>
          <p:cNvSpPr/>
          <p:nvPr/>
        </p:nvSpPr>
        <p:spPr>
          <a:xfrm>
            <a:off x="3297836" y="1678898"/>
            <a:ext cx="3192905" cy="51791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xmlns="" id="{63A874B9-B8E1-A36B-AA38-6FCC7D5D8F32}"/>
              </a:ext>
            </a:extLst>
          </p:cNvPr>
          <p:cNvSpPr/>
          <p:nvPr/>
        </p:nvSpPr>
        <p:spPr>
          <a:xfrm>
            <a:off x="6490741" y="1618742"/>
            <a:ext cx="5710784" cy="173405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xmlns="" id="{0EFC2BB9-1938-0DF3-F424-CAC28C6D9880}"/>
              </a:ext>
            </a:extLst>
          </p:cNvPr>
          <p:cNvSpPr/>
          <p:nvPr/>
        </p:nvSpPr>
        <p:spPr>
          <a:xfrm>
            <a:off x="6490741" y="3351702"/>
            <a:ext cx="5721627" cy="3525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xmlns="" id="{6B0C050E-DD7C-3885-8EBF-D74C223C0531}"/>
              </a:ext>
            </a:extLst>
          </p:cNvPr>
          <p:cNvSpPr/>
          <p:nvPr/>
        </p:nvSpPr>
        <p:spPr>
          <a:xfrm>
            <a:off x="-1" y="1409075"/>
            <a:ext cx="3342807" cy="25483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xmlns="" id="{493EBCB5-BB50-7945-E88B-86122853702B}"/>
              </a:ext>
            </a:extLst>
          </p:cNvPr>
          <p:cNvSpPr/>
          <p:nvPr/>
        </p:nvSpPr>
        <p:spPr>
          <a:xfrm>
            <a:off x="3312825" y="1409075"/>
            <a:ext cx="3192905" cy="26982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xmlns="" id="{779DCDE1-7E85-0646-3543-9C1638CEB9CA}"/>
              </a:ext>
            </a:extLst>
          </p:cNvPr>
          <p:cNvSpPr/>
          <p:nvPr/>
        </p:nvSpPr>
        <p:spPr>
          <a:xfrm>
            <a:off x="6505731" y="1409075"/>
            <a:ext cx="5686269" cy="28481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xmlns="" id="{9A130820-FF42-EA8A-339B-145E1FC668F5}"/>
              </a:ext>
            </a:extLst>
          </p:cNvPr>
          <p:cNvSpPr/>
          <p:nvPr/>
        </p:nvSpPr>
        <p:spPr>
          <a:xfrm>
            <a:off x="0" y="3717562"/>
            <a:ext cx="3177916" cy="23984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xmlns="" id="{99633B59-00B8-9FD5-0D31-D1688B16556B}"/>
              </a:ext>
            </a:extLst>
          </p:cNvPr>
          <p:cNvSpPr/>
          <p:nvPr/>
        </p:nvSpPr>
        <p:spPr>
          <a:xfrm>
            <a:off x="6490742" y="3282846"/>
            <a:ext cx="5701258" cy="19487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3" name="Rectangle 2">
            <a:extLst>
              <a:ext uri="{FF2B5EF4-FFF2-40B4-BE49-F238E27FC236}">
                <a16:creationId xmlns:a16="http://schemas.microsoft.com/office/drawing/2014/main" xmlns="" id="{C1849B78-8A26-4851-977C-B361ABEBC8D7}"/>
              </a:ext>
            </a:extLst>
          </p:cNvPr>
          <p:cNvSpPr/>
          <p:nvPr/>
        </p:nvSpPr>
        <p:spPr>
          <a:xfrm>
            <a:off x="9971822" y="955677"/>
            <a:ext cx="2455974" cy="400110"/>
          </a:xfrm>
          <a:prstGeom prst="rect">
            <a:avLst/>
          </a:prstGeom>
          <a:noFill/>
        </p:spPr>
        <p:txBody>
          <a:bodyPr wrap="square" lIns="91440" tIns="45720" rIns="91440" bIns="45720">
            <a:spAutoFit/>
          </a:bodyPr>
          <a:lstStyle/>
          <a:p>
            <a:pPr algn="ctr"/>
            <a:r>
              <a:rPr lang="en-US" sz="2000" b="0" cap="none" spc="0" dirty="0">
                <a:ln w="0"/>
                <a:solidFill>
                  <a:srgbClr val="FF0000"/>
                </a:solidFill>
                <a:effectLst>
                  <a:outerShdw blurRad="38100" dist="19050" dir="2700000" algn="tl" rotWithShape="0">
                    <a:schemeClr val="dk1">
                      <a:alpha val="40000"/>
                    </a:schemeClr>
                  </a:outerShdw>
                </a:effectLst>
                <a:highlight>
                  <a:srgbClr val="FFFF00"/>
                </a:highlight>
              </a:rPr>
              <a:t>ID</a:t>
            </a:r>
            <a:r>
              <a:rPr lang="en-US" sz="2000" dirty="0">
                <a:ln w="0"/>
                <a:solidFill>
                  <a:srgbClr val="FF0000"/>
                </a:solidFill>
                <a:effectLst>
                  <a:outerShdw blurRad="38100" dist="19050" dir="2700000" algn="tl" rotWithShape="0">
                    <a:schemeClr val="dk1">
                      <a:alpha val="40000"/>
                    </a:schemeClr>
                  </a:outerShdw>
                </a:effectLst>
                <a:highlight>
                  <a:srgbClr val="FFFF00"/>
                </a:highlight>
              </a:rPr>
              <a:t>:</a:t>
            </a:r>
            <a:r>
              <a:rPr lang="en-US" sz="2000" b="0" cap="none" spc="0" dirty="0">
                <a:ln w="0"/>
                <a:solidFill>
                  <a:srgbClr val="FF0000"/>
                </a:solidFill>
                <a:effectLst>
                  <a:outerShdw blurRad="38100" dist="19050" dir="2700000" algn="tl" rotWithShape="0">
                    <a:schemeClr val="dk1">
                      <a:alpha val="40000"/>
                    </a:schemeClr>
                  </a:outerShdw>
                </a:effectLst>
                <a:highlight>
                  <a:srgbClr val="FFFF00"/>
                </a:highlight>
              </a:rPr>
              <a:t>OSSAP 061</a:t>
            </a:r>
          </a:p>
        </p:txBody>
      </p:sp>
      <p:sp>
        <p:nvSpPr>
          <p:cNvPr id="24" name="TextBox 23">
            <a:extLst>
              <a:ext uri="{FF2B5EF4-FFF2-40B4-BE49-F238E27FC236}">
                <a16:creationId xmlns:a16="http://schemas.microsoft.com/office/drawing/2014/main" xmlns="" id="{1F1A35B9-0445-4833-9E0E-7174570182B0}"/>
              </a:ext>
            </a:extLst>
          </p:cNvPr>
          <p:cNvSpPr txBox="1"/>
          <p:nvPr/>
        </p:nvSpPr>
        <p:spPr>
          <a:xfrm>
            <a:off x="1828800" y="1"/>
            <a:ext cx="7723247" cy="584775"/>
          </a:xfrm>
          <a:prstGeom prst="rect">
            <a:avLst/>
          </a:prstGeom>
          <a:noFill/>
        </p:spPr>
        <p:txBody>
          <a:bodyPr wrap="square" rtlCol="0">
            <a:spAutoFit/>
          </a:bodyPr>
          <a:lstStyle/>
          <a:p>
            <a:pPr algn="ctr"/>
            <a:r>
              <a:rPr lang="en-IN" sz="1200" b="1" dirty="0"/>
              <a:t>  </a:t>
            </a:r>
            <a:r>
              <a:rPr lang="en-IN" sz="1600" b="1" dirty="0">
                <a:solidFill>
                  <a:schemeClr val="bg1"/>
                </a:solidFill>
              </a:rPr>
              <a:t>BIOLOGICAL RECONSTRUCTION OF SUBTROCHANTERIC FRACTURE IN PROXIMAL FEMORAL FIBROUS DYSPLASIA – A CASE REPORT</a:t>
            </a:r>
            <a:endParaRPr lang="en-IN" sz="1200" b="1" dirty="0">
              <a:solidFill>
                <a:schemeClr val="bg1"/>
              </a:solidFill>
            </a:endParaRPr>
          </a:p>
        </p:txBody>
      </p:sp>
      <p:sp>
        <p:nvSpPr>
          <p:cNvPr id="26" name="TextBox 25">
            <a:extLst>
              <a:ext uri="{FF2B5EF4-FFF2-40B4-BE49-F238E27FC236}">
                <a16:creationId xmlns:a16="http://schemas.microsoft.com/office/drawing/2014/main" xmlns="" id="{461F0D2F-9338-426D-BE54-981C8F14CAA5}"/>
              </a:ext>
            </a:extLst>
          </p:cNvPr>
          <p:cNvSpPr txBox="1"/>
          <p:nvPr/>
        </p:nvSpPr>
        <p:spPr>
          <a:xfrm>
            <a:off x="3627620" y="569626"/>
            <a:ext cx="6265888" cy="646331"/>
          </a:xfrm>
          <a:prstGeom prst="rect">
            <a:avLst/>
          </a:prstGeom>
          <a:noFill/>
        </p:spPr>
        <p:txBody>
          <a:bodyPr wrap="square" rtlCol="0">
            <a:spAutoFit/>
          </a:bodyPr>
          <a:lstStyle/>
          <a:p>
            <a:r>
              <a:rPr lang="en-IN" sz="1200" dirty="0">
                <a:solidFill>
                  <a:srgbClr val="FFFF00"/>
                </a:solidFill>
              </a:rPr>
              <a:t>AUTHOR- DR MOHAMED MANSOOR ALI K</a:t>
            </a:r>
          </a:p>
          <a:p>
            <a:r>
              <a:rPr lang="en-IN" sz="1200" dirty="0">
                <a:solidFill>
                  <a:srgbClr val="FFFF00"/>
                </a:solidFill>
              </a:rPr>
              <a:t>GUIDE -DR  A.M ILIAS BASHA (ASS0CIATE PROFESSOR)</a:t>
            </a:r>
          </a:p>
          <a:p>
            <a:r>
              <a:rPr lang="en-IN" sz="1200" dirty="0">
                <a:solidFill>
                  <a:srgbClr val="FFFF00"/>
                </a:solidFill>
              </a:rPr>
              <a:t>KURNOOL MEDICAL COLLAGE</a:t>
            </a:r>
          </a:p>
        </p:txBody>
      </p:sp>
      <p:sp>
        <p:nvSpPr>
          <p:cNvPr id="21" name="TextBox 20">
            <a:extLst>
              <a:ext uri="{FF2B5EF4-FFF2-40B4-BE49-F238E27FC236}">
                <a16:creationId xmlns:a16="http://schemas.microsoft.com/office/drawing/2014/main" xmlns="" id="{A3271FFB-3B80-4A74-B150-09B969F0470F}"/>
              </a:ext>
            </a:extLst>
          </p:cNvPr>
          <p:cNvSpPr txBox="1"/>
          <p:nvPr/>
        </p:nvSpPr>
        <p:spPr>
          <a:xfrm>
            <a:off x="-1" y="1633936"/>
            <a:ext cx="3282847" cy="2092881"/>
          </a:xfrm>
          <a:prstGeom prst="rect">
            <a:avLst/>
          </a:prstGeom>
          <a:noFill/>
        </p:spPr>
        <p:txBody>
          <a:bodyPr wrap="square" rtlCol="0">
            <a:spAutoFit/>
          </a:bodyPr>
          <a:lstStyle/>
          <a:p>
            <a:r>
              <a:rPr lang="en-US" sz="1000" b="1" dirty="0"/>
              <a:t>Fibrous dysplasia is a benign fibro-osseous disorder in which normal bone is replaced by fibrous tissue and immature woven bone, resulting in structural weakness and increased risk of pathological fractures. The proximal femur is commonly affected due to high mechanical stress, making management challenging. Subtrochanteric fractures require both stable mechanical fixation and biological augmentation because of poor bone quality and </a:t>
            </a:r>
            <a:r>
              <a:rPr lang="en-US" sz="1000" b="1" dirty="0" err="1" smtClean="0"/>
              <a:t>impairaed</a:t>
            </a:r>
            <a:r>
              <a:rPr lang="en-US" sz="1000" b="1" dirty="0" smtClean="0"/>
              <a:t> </a:t>
            </a:r>
            <a:r>
              <a:rPr lang="en-US" sz="1000" b="1" dirty="0"/>
              <a:t>healing. Biological reconstruction using fibular strut graft and cancellous graft provides structural support and promotes fracture union.</a:t>
            </a:r>
            <a:endParaRPr lang="en-IN" sz="1000" b="1" dirty="0"/>
          </a:p>
        </p:txBody>
      </p:sp>
      <p:sp>
        <p:nvSpPr>
          <p:cNvPr id="23" name="TextBox 22">
            <a:extLst>
              <a:ext uri="{FF2B5EF4-FFF2-40B4-BE49-F238E27FC236}">
                <a16:creationId xmlns:a16="http://schemas.microsoft.com/office/drawing/2014/main" xmlns="" id="{BED989E1-1465-4FEB-B8DC-FDEF153B7ED0}"/>
              </a:ext>
            </a:extLst>
          </p:cNvPr>
          <p:cNvSpPr txBox="1"/>
          <p:nvPr/>
        </p:nvSpPr>
        <p:spPr>
          <a:xfrm>
            <a:off x="0" y="4002374"/>
            <a:ext cx="3297836" cy="1869743"/>
          </a:xfrm>
          <a:prstGeom prst="rect">
            <a:avLst/>
          </a:prstGeom>
          <a:noFill/>
        </p:spPr>
        <p:txBody>
          <a:bodyPr wrap="square" rtlCol="0">
            <a:spAutoFit/>
          </a:bodyPr>
          <a:lstStyle/>
          <a:p>
            <a:r>
              <a:rPr lang="en-US" sz="1050" b="1" dirty="0"/>
              <a:t>A 24-year-old male presented with pain, inability to bear weight, and deformity of the  right thigh following trivial trauma. Radiographic evaluation revealed a subtrochanteric pathological fracture of the left proximal femur with features suggestive of fibrous dysplasia. MRI confirmed the diagnosis, and histopathological examination demonstrated fibro-osseous tissue consistent with fibrous dysplasia.</a:t>
            </a:r>
          </a:p>
          <a:p>
            <a:r>
              <a:rPr lang="en-US" sz="1050" b="1" dirty="0"/>
              <a:t/>
            </a:r>
            <a:br>
              <a:rPr lang="en-US" sz="1050" b="1" dirty="0"/>
            </a:br>
            <a:endParaRPr lang="en-IN" sz="1050" b="1" dirty="0"/>
          </a:p>
        </p:txBody>
      </p:sp>
      <p:pic>
        <p:nvPicPr>
          <p:cNvPr id="28" name="Picture 27">
            <a:extLst>
              <a:ext uri="{FF2B5EF4-FFF2-40B4-BE49-F238E27FC236}">
                <a16:creationId xmlns:a16="http://schemas.microsoft.com/office/drawing/2014/main" xmlns="" id="{5145835F-3D0A-4189-B139-43C7E009A79D}"/>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734517" y="5601409"/>
            <a:ext cx="1813810" cy="1256591"/>
          </a:xfrm>
          <a:prstGeom prst="rect">
            <a:avLst/>
          </a:prstGeom>
        </p:spPr>
      </p:pic>
      <p:sp>
        <p:nvSpPr>
          <p:cNvPr id="29" name="TextBox 28">
            <a:extLst>
              <a:ext uri="{FF2B5EF4-FFF2-40B4-BE49-F238E27FC236}">
                <a16:creationId xmlns:a16="http://schemas.microsoft.com/office/drawing/2014/main" xmlns="" id="{6F9EA835-9719-4B1B-9641-B3FE34816DF5}"/>
              </a:ext>
            </a:extLst>
          </p:cNvPr>
          <p:cNvSpPr txBox="1"/>
          <p:nvPr/>
        </p:nvSpPr>
        <p:spPr>
          <a:xfrm>
            <a:off x="5753100" y="3136258"/>
            <a:ext cx="1485900" cy="215444"/>
          </a:xfrm>
          <a:prstGeom prst="rect">
            <a:avLst/>
          </a:prstGeom>
          <a:noFill/>
        </p:spPr>
        <p:txBody>
          <a:bodyPr wrap="square" rtlCol="0">
            <a:spAutoFit/>
          </a:bodyPr>
          <a:lstStyle/>
          <a:p>
            <a:endParaRPr lang="en-IN" sz="800" dirty="0"/>
          </a:p>
        </p:txBody>
      </p:sp>
      <p:sp>
        <p:nvSpPr>
          <p:cNvPr id="30" name="TextBox 29">
            <a:extLst>
              <a:ext uri="{FF2B5EF4-FFF2-40B4-BE49-F238E27FC236}">
                <a16:creationId xmlns:a16="http://schemas.microsoft.com/office/drawing/2014/main" xmlns="" id="{80A20782-9187-4A4B-9CCA-72ED1003A7E5}"/>
              </a:ext>
            </a:extLst>
          </p:cNvPr>
          <p:cNvSpPr txBox="1"/>
          <p:nvPr/>
        </p:nvSpPr>
        <p:spPr>
          <a:xfrm>
            <a:off x="8534400" y="32270700"/>
            <a:ext cx="45719" cy="369332"/>
          </a:xfrm>
          <a:prstGeom prst="rect">
            <a:avLst/>
          </a:prstGeom>
          <a:noFill/>
        </p:spPr>
        <p:txBody>
          <a:bodyPr wrap="square" rtlCol="0">
            <a:spAutoFit/>
          </a:bodyPr>
          <a:lstStyle/>
          <a:p>
            <a:endParaRPr lang="en-IN" dirty="0"/>
          </a:p>
        </p:txBody>
      </p:sp>
      <p:sp>
        <p:nvSpPr>
          <p:cNvPr id="31" name="Rectangle 30">
            <a:extLst>
              <a:ext uri="{FF2B5EF4-FFF2-40B4-BE49-F238E27FC236}">
                <a16:creationId xmlns:a16="http://schemas.microsoft.com/office/drawing/2014/main" xmlns="" id="{3B106F42-6C68-4C0B-B7CC-3A26AA648CBE}"/>
              </a:ext>
            </a:extLst>
          </p:cNvPr>
          <p:cNvSpPr/>
          <p:nvPr/>
        </p:nvSpPr>
        <p:spPr>
          <a:xfrm>
            <a:off x="3252866" y="1663908"/>
            <a:ext cx="3267854" cy="2554545"/>
          </a:xfrm>
          <a:prstGeom prst="rect">
            <a:avLst/>
          </a:prstGeom>
        </p:spPr>
        <p:txBody>
          <a:bodyPr wrap="square">
            <a:spAutoFit/>
          </a:bodyPr>
          <a:lstStyle/>
          <a:p>
            <a:r>
              <a:rPr lang="en-US" sz="1000" b="1" dirty="0"/>
              <a:t>Intraoperatively, the proximal femur showed abnormal fibrous tissue replacing normal cancellous bone with cortical thinning, consistent with fibrous dysplasia. The fracture site was exposed and curetted. Reconstruction was performed using a fibular strut graft to provide structural support. Additional biological augmentation was achieved using iliac crest cancellous graft and cancellous allograft harvested from a compatible donor femoral head.</a:t>
            </a:r>
          </a:p>
          <a:p>
            <a:r>
              <a:rPr lang="en-US" sz="1000" b="1" dirty="0"/>
              <a:t>Fracture stabilization was achieved using a distal femoral locking plate to provide rigid fixation and maintain alignment. Adequate stability and graft placement were confirmed intraoperatively.</a:t>
            </a:r>
          </a:p>
          <a:p>
            <a:r>
              <a:rPr lang="en-US" sz="1000" b="1" dirty="0"/>
              <a:t/>
            </a:r>
            <a:br>
              <a:rPr lang="en-US" sz="1000" b="1" dirty="0"/>
            </a:br>
            <a:endParaRPr lang="en-IN" sz="1000" b="1" dirty="0"/>
          </a:p>
        </p:txBody>
      </p:sp>
      <p:pic>
        <p:nvPicPr>
          <p:cNvPr id="33" name="Picture 32">
            <a:extLst>
              <a:ext uri="{FF2B5EF4-FFF2-40B4-BE49-F238E27FC236}">
                <a16:creationId xmlns:a16="http://schemas.microsoft.com/office/drawing/2014/main" xmlns="" id="{B54B6685-4BDE-42B1-8F54-02CC33DBBB0F}"/>
              </a:ext>
            </a:extLst>
          </p:cNvPr>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351419" y="3987383"/>
            <a:ext cx="1404896" cy="1244184"/>
          </a:xfrm>
          <a:prstGeom prst="rect">
            <a:avLst/>
          </a:prstGeom>
        </p:spPr>
      </p:pic>
      <p:pic>
        <p:nvPicPr>
          <p:cNvPr id="35" name="Picture 34">
            <a:extLst>
              <a:ext uri="{FF2B5EF4-FFF2-40B4-BE49-F238E27FC236}">
                <a16:creationId xmlns:a16="http://schemas.microsoft.com/office/drawing/2014/main" xmlns="" id="{0DBA5369-251D-4DA7-8D0B-A43DDD87A231}"/>
              </a:ext>
            </a:extLst>
          </p:cNvPr>
          <p:cNvPicPr>
            <a:picLocks noChangeAspect="1"/>
          </p:cNvPicPr>
          <p:nvPr/>
        </p:nvPicPr>
        <p:blipFill>
          <a:blip r:embed="rId8" cstate="print">
            <a:extLst>
              <a:ext uri="{28A0092B-C50C-407E-A947-70E740481C1C}">
                <a14:useLocalDpi xmlns:a14="http://schemas.microsoft.com/office/drawing/2010/main" xmlns="" val="0"/>
              </a:ext>
            </a:extLst>
          </a:blip>
          <a:stretch>
            <a:fillRect/>
          </a:stretch>
        </p:blipFill>
        <p:spPr>
          <a:xfrm>
            <a:off x="4778252" y="3991698"/>
            <a:ext cx="1671626" cy="1226561"/>
          </a:xfrm>
          <a:prstGeom prst="rect">
            <a:avLst/>
          </a:prstGeom>
        </p:spPr>
      </p:pic>
      <p:pic>
        <p:nvPicPr>
          <p:cNvPr id="37" name="Picture 36">
            <a:extLst>
              <a:ext uri="{FF2B5EF4-FFF2-40B4-BE49-F238E27FC236}">
                <a16:creationId xmlns:a16="http://schemas.microsoft.com/office/drawing/2014/main" xmlns="" id="{1D6B693A-A214-49BA-B838-7734D2FF9043}"/>
              </a:ext>
            </a:extLst>
          </p:cNvPr>
          <p:cNvPicPr>
            <a:picLocks noChangeAspect="1"/>
          </p:cNvPicPr>
          <p:nvPr/>
        </p:nvPicPr>
        <p:blipFill>
          <a:blip r:embed="rId9" cstate="print">
            <a:extLst>
              <a:ext uri="{28A0092B-C50C-407E-A947-70E740481C1C}">
                <a14:useLocalDpi xmlns:a14="http://schemas.microsoft.com/office/drawing/2010/main" xmlns="" val="0"/>
              </a:ext>
            </a:extLst>
          </a:blip>
          <a:stretch>
            <a:fillRect/>
          </a:stretch>
        </p:blipFill>
        <p:spPr>
          <a:xfrm rot="10800000" flipH="1" flipV="1">
            <a:off x="3342807" y="5232531"/>
            <a:ext cx="1015230" cy="1625469"/>
          </a:xfrm>
          <a:prstGeom prst="rect">
            <a:avLst/>
          </a:prstGeom>
        </p:spPr>
      </p:pic>
      <p:pic>
        <p:nvPicPr>
          <p:cNvPr id="39" name="Picture 38">
            <a:extLst>
              <a:ext uri="{FF2B5EF4-FFF2-40B4-BE49-F238E27FC236}">
                <a16:creationId xmlns:a16="http://schemas.microsoft.com/office/drawing/2014/main" xmlns="" id="{D4DCF3B0-20F8-495E-BCDD-C0E8C6E11D2F}"/>
              </a:ext>
            </a:extLst>
          </p:cNvPr>
          <p:cNvPicPr>
            <a:picLocks noChangeAspect="1"/>
          </p:cNvPicPr>
          <p:nvPr/>
        </p:nvPicPr>
        <p:blipFill rotWithShape="1">
          <a:blip r:embed="rId10" cstate="print">
            <a:extLst>
              <a:ext uri="{28A0092B-C50C-407E-A947-70E740481C1C}">
                <a14:useLocalDpi xmlns:a14="http://schemas.microsoft.com/office/drawing/2010/main" xmlns="" val="0"/>
              </a:ext>
            </a:extLst>
          </a:blip>
          <a:srcRect l="1936" r="22059" b="8647"/>
          <a:stretch/>
        </p:blipFill>
        <p:spPr>
          <a:xfrm>
            <a:off x="4398899" y="5215998"/>
            <a:ext cx="929629" cy="1642002"/>
          </a:xfrm>
          <a:prstGeom prst="rect">
            <a:avLst/>
          </a:prstGeom>
        </p:spPr>
      </p:pic>
      <p:pic>
        <p:nvPicPr>
          <p:cNvPr id="41" name="Picture 40">
            <a:extLst>
              <a:ext uri="{FF2B5EF4-FFF2-40B4-BE49-F238E27FC236}">
                <a16:creationId xmlns:a16="http://schemas.microsoft.com/office/drawing/2014/main" xmlns="" id="{FE75B8B0-3581-41C9-AC3A-DD45F9D808B2}"/>
              </a:ext>
            </a:extLst>
          </p:cNvPr>
          <p:cNvPicPr>
            <a:picLocks noChangeAspect="1"/>
          </p:cNvPicPr>
          <p:nvPr/>
        </p:nvPicPr>
        <p:blipFill>
          <a:blip r:embed="rId11" cstate="print">
            <a:extLst>
              <a:ext uri="{28A0092B-C50C-407E-A947-70E740481C1C}">
                <a14:useLocalDpi xmlns:a14="http://schemas.microsoft.com/office/drawing/2010/main" xmlns="" val="0"/>
              </a:ext>
            </a:extLst>
          </a:blip>
          <a:stretch>
            <a:fillRect/>
          </a:stretch>
        </p:blipFill>
        <p:spPr>
          <a:xfrm>
            <a:off x="5291529" y="5239640"/>
            <a:ext cx="1164612" cy="1618360"/>
          </a:xfrm>
          <a:prstGeom prst="rect">
            <a:avLst/>
          </a:prstGeom>
        </p:spPr>
      </p:pic>
      <p:sp>
        <p:nvSpPr>
          <p:cNvPr id="42" name="Rectangle 41">
            <a:extLst>
              <a:ext uri="{FF2B5EF4-FFF2-40B4-BE49-F238E27FC236}">
                <a16:creationId xmlns:a16="http://schemas.microsoft.com/office/drawing/2014/main" xmlns="" id="{A4F9EA96-8FB7-481A-9EE8-F79159D8B15F}"/>
              </a:ext>
            </a:extLst>
          </p:cNvPr>
          <p:cNvSpPr/>
          <p:nvPr/>
        </p:nvSpPr>
        <p:spPr>
          <a:xfrm>
            <a:off x="6475750" y="1643782"/>
            <a:ext cx="5716249" cy="1477328"/>
          </a:xfrm>
          <a:prstGeom prst="rect">
            <a:avLst/>
          </a:prstGeom>
        </p:spPr>
        <p:txBody>
          <a:bodyPr wrap="square">
            <a:spAutoFit/>
          </a:bodyPr>
          <a:lstStyle/>
          <a:p>
            <a:r>
              <a:rPr lang="en-US" sz="1000" b="1" dirty="0">
                <a:solidFill>
                  <a:srgbClr val="222222"/>
                </a:solidFill>
                <a:latin typeface="Arial" panose="020B0604020202020204" pitchFamily="34" charset="0"/>
              </a:rPr>
              <a:t>Management of pathological fractures in fibrous dysplasia is challenging due to poor bone quality, delayed healing, and risk of implant failure. Mechanical stabilization alone may not be sufficient; therefore, biological augmentation is essential. Fibular strut graft provides strong structural support and improves mechanical stability, while cancellous autograft and allograft enhance </a:t>
            </a:r>
            <a:r>
              <a:rPr lang="en-US" sz="1000" b="1" dirty="0" err="1">
                <a:solidFill>
                  <a:srgbClr val="222222"/>
                </a:solidFill>
                <a:latin typeface="Arial" panose="020B0604020202020204" pitchFamily="34" charset="0"/>
              </a:rPr>
              <a:t>osteoconduction</a:t>
            </a:r>
            <a:r>
              <a:rPr lang="en-US" sz="1000" b="1" dirty="0">
                <a:solidFill>
                  <a:srgbClr val="222222"/>
                </a:solidFill>
                <a:latin typeface="Arial" panose="020B0604020202020204" pitchFamily="34" charset="0"/>
              </a:rPr>
              <a:t> and promote fracture healing.</a:t>
            </a:r>
          </a:p>
          <a:p>
            <a:r>
              <a:rPr lang="en-US" sz="1000" b="1" dirty="0">
                <a:solidFill>
                  <a:srgbClr val="222222"/>
                </a:solidFill>
                <a:latin typeface="Arial" panose="020B0604020202020204" pitchFamily="34" charset="0"/>
              </a:rPr>
              <a:t>Locking plate fixation offers angular stability and is particularly useful in osteoporotic and pathological bone. Combined use of structural and cancellous grafts with locking plate fixation improves outcomes by addressing both mechanical and biological factors. This approach reduces the risk of nonunion, deformity, and implant failure.</a:t>
            </a:r>
            <a:endParaRPr lang="en-US" sz="1000" b="1" i="0" dirty="0">
              <a:solidFill>
                <a:srgbClr val="222222"/>
              </a:solidFill>
              <a:effectLst/>
              <a:latin typeface="Arial" panose="020B0604020202020204" pitchFamily="34" charset="0"/>
            </a:endParaRPr>
          </a:p>
        </p:txBody>
      </p:sp>
      <p:sp>
        <p:nvSpPr>
          <p:cNvPr id="44" name="TextBox 43">
            <a:extLst>
              <a:ext uri="{FF2B5EF4-FFF2-40B4-BE49-F238E27FC236}">
                <a16:creationId xmlns:a16="http://schemas.microsoft.com/office/drawing/2014/main" xmlns="" id="{AD105BBB-4616-44FF-9093-1258DFAF0688}"/>
              </a:ext>
            </a:extLst>
          </p:cNvPr>
          <p:cNvSpPr txBox="1"/>
          <p:nvPr/>
        </p:nvSpPr>
        <p:spPr>
          <a:xfrm>
            <a:off x="6505731" y="3507698"/>
            <a:ext cx="5686269" cy="1169551"/>
          </a:xfrm>
          <a:prstGeom prst="rect">
            <a:avLst/>
          </a:prstGeom>
          <a:noFill/>
        </p:spPr>
        <p:txBody>
          <a:bodyPr wrap="square" rtlCol="0">
            <a:spAutoFit/>
          </a:bodyPr>
          <a:lstStyle/>
          <a:p>
            <a:r>
              <a:rPr lang="en-US" sz="1000" b="1" dirty="0"/>
              <a:t>Combined biological reconstruction using fibular strut graft, iliac crest cancellous graft, and cancellous allograft along with stable locking plate fixation provides effective management of subtrochanteric pathological fractures in fibrous dysplasia. This technique provides structural support, enhances biological healing, and ensures stable fixation in compromised bone.</a:t>
            </a:r>
          </a:p>
          <a:p>
            <a:r>
              <a:rPr lang="en-US" sz="1000" b="1" dirty="0"/>
              <a:t/>
            </a:r>
            <a:br>
              <a:rPr lang="en-US" sz="1000" b="1" dirty="0"/>
            </a:br>
            <a:endParaRPr lang="en-IN" sz="1000" b="1" dirty="0"/>
          </a:p>
        </p:txBody>
      </p:sp>
      <p:sp>
        <p:nvSpPr>
          <p:cNvPr id="45" name="TextBox 44">
            <a:extLst>
              <a:ext uri="{FF2B5EF4-FFF2-40B4-BE49-F238E27FC236}">
                <a16:creationId xmlns:a16="http://schemas.microsoft.com/office/drawing/2014/main" xmlns="" id="{1B6F4D95-76E4-47C4-AB0F-CB39250280E6}"/>
              </a:ext>
            </a:extLst>
          </p:cNvPr>
          <p:cNvSpPr txBox="1"/>
          <p:nvPr/>
        </p:nvSpPr>
        <p:spPr>
          <a:xfrm>
            <a:off x="6496050" y="4484739"/>
            <a:ext cx="2494022" cy="369332"/>
          </a:xfrm>
          <a:prstGeom prst="rect">
            <a:avLst/>
          </a:prstGeom>
          <a:noFill/>
        </p:spPr>
        <p:txBody>
          <a:bodyPr wrap="square" rtlCol="0">
            <a:spAutoFit/>
          </a:bodyPr>
          <a:lstStyle/>
          <a:p>
            <a:endParaRPr lang="en-IN" dirty="0"/>
          </a:p>
        </p:txBody>
      </p:sp>
      <p:pic>
        <p:nvPicPr>
          <p:cNvPr id="47" name="Picture 46">
            <a:extLst>
              <a:ext uri="{FF2B5EF4-FFF2-40B4-BE49-F238E27FC236}">
                <a16:creationId xmlns:a16="http://schemas.microsoft.com/office/drawing/2014/main" xmlns="" id="{78C4737C-A220-4996-B7E4-764A647F07E8}"/>
              </a:ext>
            </a:extLst>
          </p:cNvPr>
          <p:cNvPicPr>
            <a:picLocks noChangeAspect="1"/>
          </p:cNvPicPr>
          <p:nvPr/>
        </p:nvPicPr>
        <p:blipFill>
          <a:blip r:embed="rId12" cstate="print">
            <a:extLst>
              <a:ext uri="{28A0092B-C50C-407E-A947-70E740481C1C}">
                <a14:useLocalDpi xmlns:a14="http://schemas.microsoft.com/office/drawing/2010/main" xmlns="" val="0"/>
              </a:ext>
            </a:extLst>
          </a:blip>
          <a:stretch>
            <a:fillRect/>
          </a:stretch>
        </p:blipFill>
        <p:spPr>
          <a:xfrm rot="10800000" flipH="1" flipV="1">
            <a:off x="7884826" y="4825083"/>
            <a:ext cx="3520076" cy="2018669"/>
          </a:xfrm>
          <a:prstGeom prst="rect">
            <a:avLst/>
          </a:prstGeom>
        </p:spPr>
      </p:pic>
      <p:sp>
        <p:nvSpPr>
          <p:cNvPr id="2" name="TextBox 1">
            <a:extLst>
              <a:ext uri="{FF2B5EF4-FFF2-40B4-BE49-F238E27FC236}">
                <a16:creationId xmlns:a16="http://schemas.microsoft.com/office/drawing/2014/main" xmlns="" id="{C82EBE7A-23A4-4283-8646-B820CFDCF1DE}"/>
              </a:ext>
            </a:extLst>
          </p:cNvPr>
          <p:cNvSpPr txBox="1"/>
          <p:nvPr/>
        </p:nvSpPr>
        <p:spPr>
          <a:xfrm>
            <a:off x="7146415" y="4452079"/>
            <a:ext cx="4528458" cy="369332"/>
          </a:xfrm>
          <a:prstGeom prst="rect">
            <a:avLst/>
          </a:prstGeom>
          <a:noFill/>
        </p:spPr>
        <p:txBody>
          <a:bodyPr wrap="square" rtlCol="0">
            <a:spAutoFit/>
          </a:bodyPr>
          <a:lstStyle/>
          <a:p>
            <a:r>
              <a:rPr lang="en-IN" b="1" dirty="0"/>
              <a:t>Clinical images after one and half year</a:t>
            </a:r>
          </a:p>
        </p:txBody>
      </p:sp>
    </p:spTree>
    <p:extLst>
      <p:ext uri="{BB962C8B-B14F-4D97-AF65-F5344CB8AC3E}">
        <p14:creationId xmlns:p14="http://schemas.microsoft.com/office/powerpoint/2010/main" xmlns=""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1205</TotalTime>
  <Words>448</Words>
  <Application>Microsoft Office PowerPoint</Application>
  <PresentationFormat>Custom</PresentationFormat>
  <Paragraphs>22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lenovo</cp:lastModifiedBy>
  <cp:revision>5</cp:revision>
  <dcterms:created xsi:type="dcterms:W3CDTF">2026-01-11T06:24:43Z</dcterms:created>
  <dcterms:modified xsi:type="dcterms:W3CDTF">2026-02-16T08:01:55Z</dcterms:modified>
</cp:coreProperties>
</file>