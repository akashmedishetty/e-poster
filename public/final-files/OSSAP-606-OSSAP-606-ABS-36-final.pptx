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22" Type="http://schemas.openxmlformats.org/officeDocument/2006/relationships/slide" Target="slides/slide19.xml"/><Relationship Id="rId21" Type="http://schemas.openxmlformats.org/officeDocument/2006/relationships/slide" Target="slides/slide18.xml"/><Relationship Id="rId24" Type="http://schemas.openxmlformats.org/officeDocument/2006/relationships/slide" Target="slides/slide21.xml"/><Relationship Id="rId23" Type="http://schemas.openxmlformats.org/officeDocument/2006/relationships/slide" Target="slides/slide20.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25" Type="http://schemas.openxmlformats.org/officeDocument/2006/relationships/slide" Target="slides/slide22.xml"/><Relationship Id="rId27" Type="http://schemas.openxmlformats.org/officeDocument/2006/relationships/slide" Target="slides/slide24.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11" Type="http://schemas.openxmlformats.org/officeDocument/2006/relationships/slide" Target="slides/slide8.xml"/><Relationship Id="rId10" Type="http://schemas.openxmlformats.org/officeDocument/2006/relationships/slide" Target="slides/slide7.xml"/><Relationship Id="rId13" Type="http://schemas.openxmlformats.org/officeDocument/2006/relationships/slide" Target="slides/slide10.xml"/><Relationship Id="rId12" Type="http://schemas.openxmlformats.org/officeDocument/2006/relationships/slide" Target="slides/slide9.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19" Type="http://schemas.openxmlformats.org/officeDocument/2006/relationships/slide" Target="slides/slide16.xml"/><Relationship Id="rId1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E67EE7-7C27-4A4D-AECB-C0F9A8A08B0C}" type="datetimeFigureOut">
              <a:rPr lang="en-IN" smtClean="0"/>
              <a:t>25-01-2024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1141450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E67EE7-7C27-4A4D-AECB-C0F9A8A08B0C}" type="datetimeFigureOut">
              <a:rPr lang="en-IN" smtClean="0"/>
              <a:t>25-01-2024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278947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E67EE7-7C27-4A4D-AECB-C0F9A8A08B0C}" type="datetimeFigureOut">
              <a:rPr lang="en-IN" smtClean="0"/>
              <a:t>25-01-2024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82511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E67EE7-7C27-4A4D-AECB-C0F9A8A08B0C}" type="datetimeFigureOut">
              <a:rPr lang="en-IN" smtClean="0"/>
              <a:t>25-01-2024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9144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E67EE7-7C27-4A4D-AECB-C0F9A8A08B0C}" type="datetimeFigureOut">
              <a:rPr lang="en-IN" smtClean="0"/>
              <a:t>25-01-2024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2001486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E67EE7-7C27-4A4D-AECB-C0F9A8A08B0C}" type="datetimeFigureOut">
              <a:rPr lang="en-IN" smtClean="0"/>
              <a:t>25-01-2024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1823421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67EE7-7C27-4A4D-AECB-C0F9A8A08B0C}" type="datetimeFigureOut">
              <a:rPr lang="en-IN" smtClean="0"/>
              <a:t>25-01-2024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3260005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E67EE7-7C27-4A4D-AECB-C0F9A8A08B0C}" type="datetimeFigureOut">
              <a:rPr lang="en-IN" smtClean="0"/>
              <a:t>25-01-2024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259157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E67EE7-7C27-4A4D-AECB-C0F9A8A08B0C}" type="datetimeFigureOut">
              <a:rPr lang="en-IN" smtClean="0"/>
              <a:t>25-01-2024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2538633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E67EE7-7C27-4A4D-AECB-C0F9A8A08B0C}" type="datetimeFigureOut">
              <a:rPr lang="en-IN" smtClean="0"/>
              <a:t>25-01-2024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31229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E67EE7-7C27-4A4D-AECB-C0F9A8A08B0C}" type="datetimeFigureOut">
              <a:rPr lang="en-IN" smtClean="0"/>
              <a:t>25-01-2024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E68484-EC6D-4978-BBB5-AD771A209C3A}"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93332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DE67EE7-7C27-4A4D-AECB-C0F9A8A08B0C}" type="datetimeFigureOut">
              <a:rPr lang="en-IN" smtClean="0"/>
              <a:t>25-01-2024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656137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DE67EE7-7C27-4A4D-AECB-C0F9A8A08B0C}" type="datetimeFigureOut">
              <a:rPr lang="en-IN" smtClean="0"/>
              <a:t>25-01-2024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E68484-EC6D-4978-BBB5-AD771A209C3A}"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07419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DE67EE7-7C27-4A4D-AECB-C0F9A8A08B0C}" type="datetimeFigureOut">
              <a:rPr lang="en-IN" smtClean="0"/>
              <a:t>25-01-2024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918820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E67EE7-7C27-4A4D-AECB-C0F9A8A08B0C}" type="datetimeFigureOut">
              <a:rPr lang="en-IN" smtClean="0"/>
              <a:t>25-01-2024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3531493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E67EE7-7C27-4A4D-AECB-C0F9A8A08B0C}" type="datetimeFigureOut">
              <a:rPr lang="en-IN" smtClean="0"/>
              <a:t>25-01-2024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E68484-EC6D-4978-BBB5-AD771A209C3A}" type="slidenum">
              <a:rPr lang="en-IN" smtClean="0"/>
              <a:t>‹#›</a:t>
            </a:fld>
            <a:endParaRPr lang="en-IN"/>
          </a:p>
        </p:txBody>
      </p:sp>
    </p:spTree>
    <p:extLst>
      <p:ext uri="{BB962C8B-B14F-4D97-AF65-F5344CB8AC3E}">
        <p14:creationId xmlns:p14="http://schemas.microsoft.com/office/powerpoint/2010/main" val="2581824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DE67EE7-7C27-4A4D-AECB-C0F9A8A08B0C}" type="datetimeFigureOut">
              <a:rPr lang="en-IN" smtClean="0"/>
              <a:t>25-01-2024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0E68484-EC6D-4978-BBB5-AD771A209C3A}" type="slidenum">
              <a:rPr lang="en-IN" smtClean="0"/>
              <a:t>‹#›</a:t>
            </a:fld>
            <a:endParaRPr lang="en-IN"/>
          </a:p>
        </p:txBody>
      </p:sp>
    </p:spTree>
    <p:extLst>
      <p:ext uri="{BB962C8B-B14F-4D97-AF65-F5344CB8AC3E}">
        <p14:creationId xmlns:p14="http://schemas.microsoft.com/office/powerpoint/2010/main" val="185673051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1"/>
          <p:cNvSpPr txBox="1"/>
          <p:nvPr>
            <p:ph type="ctrTitle"/>
          </p:nvPr>
        </p:nvSpPr>
        <p:spPr>
          <a:xfrm>
            <a:off x="1636643" y="288406"/>
            <a:ext cx="9528300" cy="38412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7B230B"/>
              </a:buClr>
              <a:buSzPct val="100000"/>
              <a:buFont typeface="Century Gothic"/>
              <a:buNone/>
            </a:pPr>
            <a:r>
              <a:rPr lang="en-IN" sz="4800">
                <a:solidFill>
                  <a:srgbClr val="7B230B"/>
                </a:solidFill>
              </a:rPr>
              <a:t>COMPARATIVE STUDY OF DYNAMIC COMPRESSION PLATING   VS INTERLOCKING NAIL IN FRACTURE SHAFT OF HUMERUS</a:t>
            </a:r>
            <a:br>
              <a:rPr lang="en-IN" sz="4800"/>
            </a:br>
            <a:endParaRPr sz="4800"/>
          </a:p>
        </p:txBody>
      </p:sp>
      <p:sp>
        <p:nvSpPr>
          <p:cNvPr id="39" name="Google Shape;39;p1"/>
          <p:cNvSpPr txBox="1"/>
          <p:nvPr>
            <p:ph idx="1" type="subTitle"/>
          </p:nvPr>
        </p:nvSpPr>
        <p:spPr>
          <a:xfrm>
            <a:off x="1636650" y="4129676"/>
            <a:ext cx="10224000" cy="2439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IN">
                <a:solidFill>
                  <a:srgbClr val="4F4128"/>
                </a:solidFill>
              </a:rPr>
              <a:t>                                                                              Dr. Sri chaitanya Ganji (PG)</a:t>
            </a:r>
            <a:endParaRPr/>
          </a:p>
          <a:p>
            <a:pPr indent="0" lvl="0" marL="0" rtl="0" algn="l">
              <a:spcBef>
                <a:spcPts val="1000"/>
              </a:spcBef>
              <a:spcAft>
                <a:spcPts val="0"/>
              </a:spcAft>
              <a:buSzPts val="1800"/>
              <a:buNone/>
            </a:pPr>
            <a:r>
              <a:rPr lang="en-IN">
                <a:solidFill>
                  <a:srgbClr val="4F4128"/>
                </a:solidFill>
              </a:rPr>
              <a:t>                                                         GUIDE: Dr Soma sekhar ,M.S. ORTHO</a:t>
            </a:r>
            <a:endParaRPr/>
          </a:p>
          <a:p>
            <a:pPr indent="0" lvl="0" marL="0" rtl="0" algn="l">
              <a:spcBef>
                <a:spcPts val="1000"/>
              </a:spcBef>
              <a:spcAft>
                <a:spcPts val="0"/>
              </a:spcAft>
              <a:buSzPts val="1800"/>
              <a:buNone/>
            </a:pPr>
            <a:r>
              <a:rPr lang="en-IN">
                <a:solidFill>
                  <a:srgbClr val="4F4128"/>
                </a:solidFill>
              </a:rPr>
              <a:t>                                                         PROFESSOR &amp; HOD,GVPIHC and MT, visakhapatnam </a:t>
            </a:r>
            <a:endParaRPr/>
          </a:p>
          <a:p>
            <a:pPr indent="0" lvl="0" marL="0" rtl="0" algn="l">
              <a:spcBef>
                <a:spcPts val="1000"/>
              </a:spcBef>
              <a:spcAft>
                <a:spcPts val="0"/>
              </a:spcAft>
              <a:buSzPts val="1800"/>
              <a:buNone/>
            </a:pPr>
            <a:r>
              <a:rPr lang="en-IN">
                <a:solidFill>
                  <a:srgbClr val="4F4128"/>
                </a:solidFill>
              </a:rPr>
              <a:t>                                                                    </a:t>
            </a:r>
            <a:endParaRPr/>
          </a:p>
          <a:p>
            <a:pPr indent="0" lvl="0" marL="0" rtl="0" algn="l">
              <a:spcBef>
                <a:spcPts val="1000"/>
              </a:spcBef>
              <a:spcAft>
                <a:spcPts val="0"/>
              </a:spcAft>
              <a:buSzPts val="1600"/>
              <a:buNone/>
            </a:pPr>
            <a:r>
              <a:rPr lang="en-IN" sz="1600"/>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49956-A6EB-7316-C4B7-D01D81908425}"/>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B9BCCB37-CFA1-CCBC-81DE-0C66606DBAA6}"/>
              </a:ext>
            </a:extLst>
          </p:cNvPr>
          <p:cNvSpPr>
            <a:spLocks noGrp="1"/>
          </p:cNvSpPr>
          <p:nvPr>
            <p:ph idx="1"/>
          </p:nvPr>
        </p:nvSpPr>
        <p:spPr>
          <a:xfrm>
            <a:off x="1451579" y="2015732"/>
            <a:ext cx="9603275" cy="4037749"/>
          </a:xfrm>
        </p:spPr>
        <p:txBody>
          <a:bodyPr>
            <a:normAutofit lnSpcReduction="10000"/>
          </a:bodyPr>
          <a:lstStyle/>
          <a:p>
            <a:r>
              <a:rPr lang="en-IN" sz="2400" dirty="0"/>
              <a:t>Fractures of humerus shaft are very commonly seen now a days of modern World accounting about 3% of all the fractures</a:t>
            </a:r>
            <a:r>
              <a:rPr lang="en-IN" sz="2400" baseline="30000" dirty="0"/>
              <a:t>1 </a:t>
            </a:r>
            <a:endParaRPr lang="en-IN" sz="2400" dirty="0"/>
          </a:p>
          <a:p>
            <a:r>
              <a:rPr lang="en-IN" sz="2400" dirty="0"/>
              <a:t>Treatment methods are also advancing, initially treated with the help of hanging casts, arm cylinders, collar and cuff slings, then functional cast bracing, U casts, shoulder spica improved results but the long duration of treatment results in adverse effect on economy of the patients</a:t>
            </a:r>
            <a:r>
              <a:rPr lang="en-IN" sz="2400" baseline="30000" dirty="0"/>
              <a:t>2</a:t>
            </a:r>
            <a:r>
              <a:rPr lang="en-IN" sz="2400" dirty="0"/>
              <a:t> </a:t>
            </a:r>
          </a:p>
          <a:p>
            <a:r>
              <a:rPr lang="en-IN" sz="2400" dirty="0" err="1"/>
              <a:t>Nonunion</a:t>
            </a:r>
            <a:r>
              <a:rPr lang="en-IN" sz="2400" dirty="0"/>
              <a:t>, malunion, limitation of joint motion and progressive degenerative arthritis are commonly seen complications in conservative modes. </a:t>
            </a:r>
          </a:p>
          <a:p>
            <a:endParaRPr lang="en-IN" dirty="0"/>
          </a:p>
        </p:txBody>
      </p:sp>
    </p:spTree>
    <p:extLst>
      <p:ext uri="{BB962C8B-B14F-4D97-AF65-F5344CB8AC3E}">
        <p14:creationId xmlns:p14="http://schemas.microsoft.com/office/powerpoint/2010/main" val="937506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55E9E5-EC0C-E679-B6DA-307C7A0BA672}"/>
              </a:ext>
            </a:extLst>
          </p:cNvPr>
          <p:cNvSpPr>
            <a:spLocks noGrp="1"/>
          </p:cNvSpPr>
          <p:nvPr>
            <p:ph idx="1"/>
          </p:nvPr>
        </p:nvSpPr>
        <p:spPr/>
        <p:txBody>
          <a:bodyPr/>
          <a:lstStyle/>
          <a:p>
            <a:r>
              <a:rPr lang="en-IN" sz="2400" dirty="0"/>
              <a:t>The present study covers the comparison of results of open reduction and internal fixation by dynamic compression plate with close interlocking nailing in fracture shaft of humerus. </a:t>
            </a:r>
          </a:p>
          <a:p>
            <a:endParaRPr lang="en-IN" dirty="0"/>
          </a:p>
        </p:txBody>
      </p:sp>
    </p:spTree>
    <p:extLst>
      <p:ext uri="{BB962C8B-B14F-4D97-AF65-F5344CB8AC3E}">
        <p14:creationId xmlns:p14="http://schemas.microsoft.com/office/powerpoint/2010/main" val="2831653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0FF14-8E04-3A82-5768-2B6C35E6F3D6}"/>
              </a:ext>
            </a:extLst>
          </p:cNvPr>
          <p:cNvSpPr>
            <a:spLocks noGrp="1"/>
          </p:cNvSpPr>
          <p:nvPr>
            <p:ph type="title"/>
          </p:nvPr>
        </p:nvSpPr>
        <p:spPr/>
        <p:txBody>
          <a:bodyPr/>
          <a:lstStyle/>
          <a:p>
            <a:r>
              <a:rPr lang="en-IN" dirty="0"/>
              <a:t>MATERIAL AND METHODS </a:t>
            </a:r>
          </a:p>
        </p:txBody>
      </p:sp>
      <p:sp>
        <p:nvSpPr>
          <p:cNvPr id="3" name="Content Placeholder 2">
            <a:extLst>
              <a:ext uri="{FF2B5EF4-FFF2-40B4-BE49-F238E27FC236}">
                <a16:creationId xmlns:a16="http://schemas.microsoft.com/office/drawing/2014/main" id="{CE2FA0A0-7124-6371-0AE9-8CC1D1E25525}"/>
              </a:ext>
            </a:extLst>
          </p:cNvPr>
          <p:cNvSpPr>
            <a:spLocks noGrp="1"/>
          </p:cNvSpPr>
          <p:nvPr>
            <p:ph idx="1"/>
          </p:nvPr>
        </p:nvSpPr>
        <p:spPr>
          <a:xfrm>
            <a:off x="1451579" y="2015732"/>
            <a:ext cx="9603275" cy="3894738"/>
          </a:xfrm>
        </p:spPr>
        <p:txBody>
          <a:bodyPr/>
          <a:lstStyle/>
          <a:p>
            <a:r>
              <a:rPr lang="en-IN" sz="2400" dirty="0"/>
              <a:t>This was a prospective study conducted in Siddhartha Medical College &amp; Hospital , during the period of May 2022 to Jan 2023, after taking ethical committee approval. </a:t>
            </a:r>
          </a:p>
          <a:p>
            <a:endParaRPr lang="en-IN" sz="2400" dirty="0"/>
          </a:p>
          <a:p>
            <a:r>
              <a:rPr lang="en-IN" sz="2400" dirty="0"/>
              <a:t>The study consist of 11 cases (group A) of fracture shaft humerus treated with closed intramedullary nailing and 11 cases (group B) treated with dynamic compression plating</a:t>
            </a:r>
            <a:r>
              <a:rPr lang="en-IN" dirty="0"/>
              <a:t>. </a:t>
            </a:r>
          </a:p>
          <a:p>
            <a:endParaRPr lang="en-IN" dirty="0"/>
          </a:p>
        </p:txBody>
      </p:sp>
    </p:spTree>
    <p:extLst>
      <p:ext uri="{BB962C8B-B14F-4D97-AF65-F5344CB8AC3E}">
        <p14:creationId xmlns:p14="http://schemas.microsoft.com/office/powerpoint/2010/main" val="3890367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35939-D596-7791-8548-40E0D66FEEFE}"/>
              </a:ext>
            </a:extLst>
          </p:cNvPr>
          <p:cNvSpPr>
            <a:spLocks noGrp="1"/>
          </p:cNvSpPr>
          <p:nvPr>
            <p:ph type="title"/>
          </p:nvPr>
        </p:nvSpPr>
        <p:spPr/>
        <p:txBody>
          <a:bodyPr/>
          <a:lstStyle/>
          <a:p>
            <a:r>
              <a:rPr lang="en-IN" dirty="0"/>
              <a:t>INCLUSION AND EXCLUSION CRITERIA</a:t>
            </a:r>
          </a:p>
        </p:txBody>
      </p:sp>
      <p:sp>
        <p:nvSpPr>
          <p:cNvPr id="3" name="Content Placeholder 2">
            <a:extLst>
              <a:ext uri="{FF2B5EF4-FFF2-40B4-BE49-F238E27FC236}">
                <a16:creationId xmlns:a16="http://schemas.microsoft.com/office/drawing/2014/main" id="{8AE0BBC3-CAA0-288D-0F9D-799EF29E526F}"/>
              </a:ext>
            </a:extLst>
          </p:cNvPr>
          <p:cNvSpPr>
            <a:spLocks noGrp="1"/>
          </p:cNvSpPr>
          <p:nvPr>
            <p:ph idx="1"/>
          </p:nvPr>
        </p:nvSpPr>
        <p:spPr>
          <a:xfrm>
            <a:off x="1451579" y="2015732"/>
            <a:ext cx="9603275" cy="4037749"/>
          </a:xfrm>
        </p:spPr>
        <p:txBody>
          <a:bodyPr>
            <a:noAutofit/>
          </a:bodyPr>
          <a:lstStyle/>
          <a:p>
            <a:r>
              <a:rPr lang="en-IN" sz="2400" dirty="0"/>
              <a:t>The inclusion criteria was patients more than 15 years of age of either sex. </a:t>
            </a:r>
          </a:p>
          <a:p>
            <a:r>
              <a:rPr lang="en-IN" sz="2400" dirty="0"/>
              <a:t>All cases of compound fractures, poly trauma patients who were initially managed with external fixator and patients below 15 years age were excluded from the study. </a:t>
            </a:r>
          </a:p>
          <a:p>
            <a:r>
              <a:rPr lang="en-IN" sz="2400" dirty="0"/>
              <a:t>All the fractures were managed and stabilized initially with pop back splint, then fractures were classified and managed accordingly with intramedullary nails or DCP</a:t>
            </a:r>
          </a:p>
        </p:txBody>
      </p:sp>
    </p:spTree>
    <p:extLst>
      <p:ext uri="{BB962C8B-B14F-4D97-AF65-F5344CB8AC3E}">
        <p14:creationId xmlns:p14="http://schemas.microsoft.com/office/powerpoint/2010/main" val="174017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4F158-50D3-6FCA-3A6A-7D8B900EDED6}"/>
              </a:ext>
            </a:extLst>
          </p:cNvPr>
          <p:cNvSpPr>
            <a:spLocks noGrp="1"/>
          </p:cNvSpPr>
          <p:nvPr>
            <p:ph type="title"/>
          </p:nvPr>
        </p:nvSpPr>
        <p:spPr/>
        <p:txBody>
          <a:bodyPr/>
          <a:lstStyle/>
          <a:p>
            <a:r>
              <a:rPr lang="en-IN" dirty="0"/>
              <a:t>SURGICAL APPROACH</a:t>
            </a:r>
          </a:p>
        </p:txBody>
      </p:sp>
      <p:sp>
        <p:nvSpPr>
          <p:cNvPr id="3" name="Content Placeholder 2">
            <a:extLst>
              <a:ext uri="{FF2B5EF4-FFF2-40B4-BE49-F238E27FC236}">
                <a16:creationId xmlns:a16="http://schemas.microsoft.com/office/drawing/2014/main" id="{DD0C35A5-8FB6-242F-7873-A5127BC2A4F8}"/>
              </a:ext>
            </a:extLst>
          </p:cNvPr>
          <p:cNvSpPr>
            <a:spLocks noGrp="1"/>
          </p:cNvSpPr>
          <p:nvPr>
            <p:ph idx="1"/>
          </p:nvPr>
        </p:nvSpPr>
        <p:spPr>
          <a:xfrm>
            <a:off x="1205948" y="1470992"/>
            <a:ext cx="10561981" cy="4929808"/>
          </a:xfrm>
        </p:spPr>
        <p:txBody>
          <a:bodyPr>
            <a:normAutofit/>
          </a:bodyPr>
          <a:lstStyle/>
          <a:p>
            <a:r>
              <a:rPr lang="en-IN" sz="2400" dirty="0"/>
              <a:t> For interlocking nail under Brachial plexus block via Interscalene approach patient was placed in semi inclined position.</a:t>
            </a:r>
          </a:p>
          <a:p>
            <a:r>
              <a:rPr lang="en-IN" sz="2400" dirty="0"/>
              <a:t> A 2 cm incision was given lateral to acromion in the direction of deltoid fibres. Entry made into the medullary canal just medial to the greater tuberosity.</a:t>
            </a:r>
          </a:p>
          <a:p>
            <a:r>
              <a:rPr lang="en-IN" sz="2400" dirty="0"/>
              <a:t> Guide wire passed into the proximal fragment, passed to distal fragment and confirmed under image intensifier. Sequential reaming done. Then nail of appropriate size placed with jig and guide wire taken out. Distal locking done by free hand technique, fracture compression given by back hammering. Wound closure done and arm sling applied. </a:t>
            </a:r>
          </a:p>
          <a:p>
            <a:endParaRPr lang="en-IN" dirty="0"/>
          </a:p>
        </p:txBody>
      </p:sp>
    </p:spTree>
    <p:extLst>
      <p:ext uri="{BB962C8B-B14F-4D97-AF65-F5344CB8AC3E}">
        <p14:creationId xmlns:p14="http://schemas.microsoft.com/office/powerpoint/2010/main" val="280592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97410-1129-D9D4-52F8-6DB3409C9078}"/>
              </a:ext>
            </a:extLst>
          </p:cNvPr>
          <p:cNvSpPr>
            <a:spLocks noGrp="1"/>
          </p:cNvSpPr>
          <p:nvPr>
            <p:ph idx="1"/>
          </p:nvPr>
        </p:nvSpPr>
        <p:spPr>
          <a:xfrm>
            <a:off x="1484244" y="556592"/>
            <a:ext cx="10561982" cy="5963478"/>
          </a:xfrm>
        </p:spPr>
        <p:txBody>
          <a:bodyPr>
            <a:normAutofit lnSpcReduction="10000"/>
          </a:bodyPr>
          <a:lstStyle/>
          <a:p>
            <a:r>
              <a:rPr lang="en-IN" sz="2400" dirty="0"/>
              <a:t>For D.C.P patient was placed in supine position under Brachial plexus block with shoulder fully adducted and forearm lying on the chest. </a:t>
            </a:r>
          </a:p>
          <a:p>
            <a:endParaRPr lang="en-IN" sz="2400" dirty="0"/>
          </a:p>
          <a:p>
            <a:r>
              <a:rPr lang="en-IN" sz="2400" dirty="0"/>
              <a:t>After proper painting and draping incision was given proximally and distally to fracture site through Anterolateral  approach. Skin and subcutaneous tissue ,Deep fascia was incised . Biceps muscle identified and retracted medially exposing brachialis and brachioradialis muscle which were retracted medially.</a:t>
            </a:r>
          </a:p>
          <a:p>
            <a:endParaRPr lang="en-IN" sz="2400" dirty="0"/>
          </a:p>
          <a:p>
            <a:r>
              <a:rPr lang="en-IN" sz="2400" dirty="0"/>
              <a:t> Radial nerve identified and explored wherever required. Muscle were stripped off by periosteal elevator, fracture reduced and plate of appropriate size fixed with screws. Wound wash given and sutured in layers and drain, crepe bandage applied arm sling given. </a:t>
            </a:r>
          </a:p>
          <a:p>
            <a:endParaRPr lang="en-IN" dirty="0"/>
          </a:p>
        </p:txBody>
      </p:sp>
    </p:spTree>
    <p:extLst>
      <p:ext uri="{BB962C8B-B14F-4D97-AF65-F5344CB8AC3E}">
        <p14:creationId xmlns:p14="http://schemas.microsoft.com/office/powerpoint/2010/main" val="2391409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E2450-1BF6-61ED-1D3A-8C0E0939F284}"/>
              </a:ext>
            </a:extLst>
          </p:cNvPr>
          <p:cNvSpPr>
            <a:spLocks noGrp="1"/>
          </p:cNvSpPr>
          <p:nvPr>
            <p:ph idx="1"/>
          </p:nvPr>
        </p:nvSpPr>
        <p:spPr>
          <a:xfrm>
            <a:off x="1451579" y="2015732"/>
            <a:ext cx="9603275" cy="4037749"/>
          </a:xfrm>
        </p:spPr>
        <p:txBody>
          <a:bodyPr>
            <a:normAutofit/>
          </a:bodyPr>
          <a:lstStyle/>
          <a:p>
            <a:r>
              <a:rPr lang="en-IN" sz="2400" dirty="0"/>
              <a:t>Physiotherapy of shoulder and elbow advised from the next day.</a:t>
            </a:r>
          </a:p>
          <a:p>
            <a:endParaRPr lang="en-IN" sz="2400" dirty="0"/>
          </a:p>
          <a:p>
            <a:r>
              <a:rPr lang="en-IN" sz="2400" dirty="0"/>
              <a:t>Radiographic examination done to confirm the fixation of reduction. </a:t>
            </a:r>
          </a:p>
          <a:p>
            <a:endParaRPr lang="en-IN" sz="2400" dirty="0"/>
          </a:p>
          <a:p>
            <a:r>
              <a:rPr lang="en-IN" sz="2400" dirty="0"/>
              <a:t>Patients were followed up and examined at weekly interval till union.</a:t>
            </a:r>
          </a:p>
        </p:txBody>
      </p:sp>
    </p:spTree>
    <p:extLst>
      <p:ext uri="{BB962C8B-B14F-4D97-AF65-F5344CB8AC3E}">
        <p14:creationId xmlns:p14="http://schemas.microsoft.com/office/powerpoint/2010/main" val="1253380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3D6203-0CEE-D9DD-7CE5-E264F8155065}"/>
              </a:ext>
            </a:extLst>
          </p:cNvPr>
          <p:cNvSpPr>
            <a:spLocks noGrp="1"/>
          </p:cNvSpPr>
          <p:nvPr>
            <p:ph idx="1"/>
          </p:nvPr>
        </p:nvSpPr>
        <p:spPr/>
        <p:txBody>
          <a:bodyPr/>
          <a:lstStyle/>
          <a:p>
            <a:r>
              <a:rPr lang="en-IN" sz="2400" dirty="0"/>
              <a:t>On every visit radiographs were taken in anteroposterior and lateral view. Radiological sign of union, displacement, angulation were recorded. </a:t>
            </a:r>
          </a:p>
          <a:p>
            <a:endParaRPr lang="en-IN" sz="2400" dirty="0"/>
          </a:p>
          <a:p>
            <a:r>
              <a:rPr lang="en-IN" sz="2400" dirty="0"/>
              <a:t>Clinically patients were examined for any tenderness, infection, pain. Movements of elbow and shoulder recorded. </a:t>
            </a:r>
          </a:p>
          <a:p>
            <a:endParaRPr lang="en-IN" dirty="0"/>
          </a:p>
        </p:txBody>
      </p:sp>
    </p:spTree>
    <p:extLst>
      <p:ext uri="{BB962C8B-B14F-4D97-AF65-F5344CB8AC3E}">
        <p14:creationId xmlns:p14="http://schemas.microsoft.com/office/powerpoint/2010/main" val="1397031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407B-D6B8-D667-4DFA-1471075F1093}"/>
              </a:ext>
            </a:extLst>
          </p:cNvPr>
          <p:cNvSpPr>
            <a:spLocks noGrp="1"/>
          </p:cNvSpPr>
          <p:nvPr>
            <p:ph type="title"/>
          </p:nvPr>
        </p:nvSpPr>
        <p:spPr/>
        <p:txBody>
          <a:bodyPr/>
          <a:lstStyle/>
          <a:p>
            <a:r>
              <a:rPr lang="en-IN" dirty="0"/>
              <a:t>RESULTS </a:t>
            </a:r>
          </a:p>
        </p:txBody>
      </p:sp>
      <p:sp>
        <p:nvSpPr>
          <p:cNvPr id="3" name="Content Placeholder 2">
            <a:extLst>
              <a:ext uri="{FF2B5EF4-FFF2-40B4-BE49-F238E27FC236}">
                <a16:creationId xmlns:a16="http://schemas.microsoft.com/office/drawing/2014/main" id="{442F531C-9C54-939E-9E8F-6E110E899871}"/>
              </a:ext>
            </a:extLst>
          </p:cNvPr>
          <p:cNvSpPr>
            <a:spLocks noGrp="1"/>
          </p:cNvSpPr>
          <p:nvPr>
            <p:ph idx="1"/>
          </p:nvPr>
        </p:nvSpPr>
        <p:spPr>
          <a:xfrm>
            <a:off x="874644" y="2612080"/>
            <a:ext cx="11224592" cy="4014007"/>
          </a:xfrm>
        </p:spPr>
        <p:txBody>
          <a:bodyPr>
            <a:normAutofit/>
          </a:bodyPr>
          <a:lstStyle/>
          <a:p>
            <a:r>
              <a:rPr lang="en-IN" sz="2400" dirty="0"/>
              <a:t>The youngest patient in our study had age of 18 years and oldest has age of 59 years. Average age was 35.77 years. 80% of fractures occurred between age group of 21-50 years. </a:t>
            </a:r>
          </a:p>
          <a:p>
            <a:r>
              <a:rPr lang="en-IN" sz="2400" dirty="0"/>
              <a:t>There is male preponderance in our study with male female ratio 7:3 due to more involvement in outdoor activities. </a:t>
            </a:r>
          </a:p>
          <a:p>
            <a:r>
              <a:rPr lang="en-IN" sz="2400" dirty="0"/>
              <a:t>Injury was more common on right arm because of conditioned protective reflex in using right upper limb more often in a bid to avoid trauma</a:t>
            </a:r>
            <a:r>
              <a:rPr lang="en-IN" dirty="0"/>
              <a:t>. </a:t>
            </a:r>
          </a:p>
        </p:txBody>
      </p:sp>
      <p:pic>
        <p:nvPicPr>
          <p:cNvPr id="4" name="Picture 3">
            <a:extLst>
              <a:ext uri="{FF2B5EF4-FFF2-40B4-BE49-F238E27FC236}">
                <a16:creationId xmlns:a16="http://schemas.microsoft.com/office/drawing/2014/main" id="{F002292E-FC43-C50B-CFE4-796F6A6BA1DA}"/>
              </a:ext>
            </a:extLst>
          </p:cNvPr>
          <p:cNvPicPr>
            <a:picLocks noChangeAspect="1"/>
          </p:cNvPicPr>
          <p:nvPr/>
        </p:nvPicPr>
        <p:blipFill>
          <a:blip r:embed="rId2"/>
          <a:stretch>
            <a:fillRect/>
          </a:stretch>
        </p:blipFill>
        <p:spPr>
          <a:xfrm>
            <a:off x="4219031" y="1386795"/>
            <a:ext cx="4535817" cy="1036410"/>
          </a:xfrm>
          <a:prstGeom prst="rect">
            <a:avLst/>
          </a:prstGeom>
        </p:spPr>
      </p:pic>
    </p:spTree>
    <p:extLst>
      <p:ext uri="{BB962C8B-B14F-4D97-AF65-F5344CB8AC3E}">
        <p14:creationId xmlns:p14="http://schemas.microsoft.com/office/powerpoint/2010/main" val="4120730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0BEE3AE-6E3B-B8CA-1FF5-0186328D88BA}"/>
              </a:ext>
            </a:extLst>
          </p:cNvPr>
          <p:cNvSpPr txBox="1"/>
          <p:nvPr/>
        </p:nvSpPr>
        <p:spPr>
          <a:xfrm>
            <a:off x="1636643" y="4468144"/>
            <a:ext cx="8918713" cy="1200329"/>
          </a:xfrm>
          <a:prstGeom prst="rect">
            <a:avLst/>
          </a:prstGeom>
          <a:noFill/>
        </p:spPr>
        <p:txBody>
          <a:bodyPr wrap="square">
            <a:spAutoFit/>
          </a:bodyPr>
          <a:lstStyle/>
          <a:p>
            <a:r>
              <a:rPr lang="en-IN" sz="2400" dirty="0"/>
              <a:t>Present study had 90.90% closed fractures and 9.09% (2) compound fractures with grade 1 injury as per Gustilo Anderson classification.</a:t>
            </a:r>
          </a:p>
        </p:txBody>
      </p:sp>
      <p:pic>
        <p:nvPicPr>
          <p:cNvPr id="8" name="Picture 7">
            <a:extLst>
              <a:ext uri="{FF2B5EF4-FFF2-40B4-BE49-F238E27FC236}">
                <a16:creationId xmlns:a16="http://schemas.microsoft.com/office/drawing/2014/main" id="{661F6947-C8B0-DB0A-802E-2492206EDF56}"/>
              </a:ext>
            </a:extLst>
          </p:cNvPr>
          <p:cNvPicPr>
            <a:picLocks noChangeAspect="1"/>
          </p:cNvPicPr>
          <p:nvPr/>
        </p:nvPicPr>
        <p:blipFill>
          <a:blip r:embed="rId2"/>
          <a:stretch>
            <a:fillRect/>
          </a:stretch>
        </p:blipFill>
        <p:spPr>
          <a:xfrm>
            <a:off x="1415442" y="1674322"/>
            <a:ext cx="4230991" cy="2054530"/>
          </a:xfrm>
          <a:prstGeom prst="rect">
            <a:avLst/>
          </a:prstGeom>
        </p:spPr>
      </p:pic>
      <p:pic>
        <p:nvPicPr>
          <p:cNvPr id="9" name="Picture 8">
            <a:extLst>
              <a:ext uri="{FF2B5EF4-FFF2-40B4-BE49-F238E27FC236}">
                <a16:creationId xmlns:a16="http://schemas.microsoft.com/office/drawing/2014/main" id="{D2996D60-06D7-0753-CAEC-127487EC8C8D}"/>
              </a:ext>
            </a:extLst>
          </p:cNvPr>
          <p:cNvPicPr>
            <a:picLocks noChangeAspect="1"/>
          </p:cNvPicPr>
          <p:nvPr/>
        </p:nvPicPr>
        <p:blipFill>
          <a:blip r:embed="rId3"/>
          <a:stretch>
            <a:fillRect/>
          </a:stretch>
        </p:blipFill>
        <p:spPr>
          <a:xfrm>
            <a:off x="6393154" y="1674322"/>
            <a:ext cx="4383404" cy="2054530"/>
          </a:xfrm>
          <a:prstGeom prst="rect">
            <a:avLst/>
          </a:prstGeom>
        </p:spPr>
      </p:pic>
    </p:spTree>
    <p:extLst>
      <p:ext uri="{BB962C8B-B14F-4D97-AF65-F5344CB8AC3E}">
        <p14:creationId xmlns:p14="http://schemas.microsoft.com/office/powerpoint/2010/main" val="3915252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9C885-A629-616C-935B-72B897F73E9B}"/>
              </a:ext>
            </a:extLst>
          </p:cNvPr>
          <p:cNvSpPr>
            <a:spLocks noGrp="1"/>
          </p:cNvSpPr>
          <p:nvPr>
            <p:ph idx="1"/>
          </p:nvPr>
        </p:nvSpPr>
        <p:spPr/>
        <p:txBody>
          <a:bodyPr>
            <a:normAutofit/>
          </a:bodyPr>
          <a:lstStyle/>
          <a:p>
            <a:r>
              <a:rPr lang="en-IN" sz="2400" dirty="0"/>
              <a:t>6 (27.27%) patients had associated injuries like fracture both bone forearm, radial nerve involvement, fracture metacarpals, head injury. In this study majority of the patients were operated within three days (80%) in group A and (73.33%) in group B. </a:t>
            </a:r>
          </a:p>
        </p:txBody>
      </p:sp>
    </p:spTree>
    <p:extLst>
      <p:ext uri="{BB962C8B-B14F-4D97-AF65-F5344CB8AC3E}">
        <p14:creationId xmlns:p14="http://schemas.microsoft.com/office/powerpoint/2010/main" val="1938480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B7C5C0-D2FD-29AE-1B6D-25967561CE78}"/>
              </a:ext>
            </a:extLst>
          </p:cNvPr>
          <p:cNvPicPr>
            <a:picLocks noGrp="1" noChangeAspect="1"/>
          </p:cNvPicPr>
          <p:nvPr>
            <p:ph idx="1"/>
          </p:nvPr>
        </p:nvPicPr>
        <p:blipFill>
          <a:blip r:embed="rId2"/>
          <a:stretch>
            <a:fillRect/>
          </a:stretch>
        </p:blipFill>
        <p:spPr>
          <a:xfrm>
            <a:off x="1660799" y="804518"/>
            <a:ext cx="4767485" cy="2334970"/>
          </a:xfrm>
        </p:spPr>
      </p:pic>
      <p:pic>
        <p:nvPicPr>
          <p:cNvPr id="7" name="Picture 6">
            <a:extLst>
              <a:ext uri="{FF2B5EF4-FFF2-40B4-BE49-F238E27FC236}">
                <a16:creationId xmlns:a16="http://schemas.microsoft.com/office/drawing/2014/main" id="{16493A10-4714-7E08-D6FA-DA4B558ED7EF}"/>
              </a:ext>
            </a:extLst>
          </p:cNvPr>
          <p:cNvPicPr>
            <a:picLocks noChangeAspect="1"/>
          </p:cNvPicPr>
          <p:nvPr/>
        </p:nvPicPr>
        <p:blipFill>
          <a:blip r:embed="rId3"/>
          <a:stretch>
            <a:fillRect/>
          </a:stretch>
        </p:blipFill>
        <p:spPr>
          <a:xfrm>
            <a:off x="6762514" y="804519"/>
            <a:ext cx="5197492" cy="2334969"/>
          </a:xfrm>
          <a:prstGeom prst="rect">
            <a:avLst/>
          </a:prstGeom>
        </p:spPr>
      </p:pic>
      <p:pic>
        <p:nvPicPr>
          <p:cNvPr id="8" name="Picture 7">
            <a:extLst>
              <a:ext uri="{FF2B5EF4-FFF2-40B4-BE49-F238E27FC236}">
                <a16:creationId xmlns:a16="http://schemas.microsoft.com/office/drawing/2014/main" id="{12C4C6C6-765B-56B8-6464-0157B69CF40D}"/>
              </a:ext>
            </a:extLst>
          </p:cNvPr>
          <p:cNvPicPr>
            <a:picLocks noChangeAspect="1"/>
          </p:cNvPicPr>
          <p:nvPr/>
        </p:nvPicPr>
        <p:blipFill>
          <a:blip r:embed="rId4"/>
          <a:stretch>
            <a:fillRect/>
          </a:stretch>
        </p:blipFill>
        <p:spPr>
          <a:xfrm>
            <a:off x="2830740" y="3797765"/>
            <a:ext cx="7431668" cy="2255716"/>
          </a:xfrm>
          <a:prstGeom prst="rect">
            <a:avLst/>
          </a:prstGeom>
        </p:spPr>
      </p:pic>
    </p:spTree>
    <p:extLst>
      <p:ext uri="{BB962C8B-B14F-4D97-AF65-F5344CB8AC3E}">
        <p14:creationId xmlns:p14="http://schemas.microsoft.com/office/powerpoint/2010/main" val="3265783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FDE247-A63D-31E4-C55D-0E8F002AB643}"/>
              </a:ext>
            </a:extLst>
          </p:cNvPr>
          <p:cNvSpPr>
            <a:spLocks noGrp="1"/>
          </p:cNvSpPr>
          <p:nvPr>
            <p:ph idx="1"/>
          </p:nvPr>
        </p:nvSpPr>
        <p:spPr>
          <a:xfrm>
            <a:off x="2575960" y="2859156"/>
            <a:ext cx="8915400" cy="1139687"/>
          </a:xfrm>
        </p:spPr>
        <p:txBody>
          <a:bodyPr>
            <a:normAutofit/>
          </a:bodyPr>
          <a:lstStyle/>
          <a:p>
            <a:r>
              <a:rPr lang="en-IN" sz="2400" dirty="0"/>
              <a:t>There was decrease in abduction and rotation at shoulder joint at final follow up in group A patients </a:t>
            </a:r>
          </a:p>
        </p:txBody>
      </p:sp>
    </p:spTree>
    <p:extLst>
      <p:ext uri="{BB962C8B-B14F-4D97-AF65-F5344CB8AC3E}">
        <p14:creationId xmlns:p14="http://schemas.microsoft.com/office/powerpoint/2010/main" val="3527618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5D79-5F46-07B3-613E-268771A4FC0D}"/>
              </a:ext>
            </a:extLst>
          </p:cNvPr>
          <p:cNvSpPr>
            <a:spLocks noGrp="1"/>
          </p:cNvSpPr>
          <p:nvPr>
            <p:ph type="title"/>
          </p:nvPr>
        </p:nvSpPr>
        <p:spPr>
          <a:xfrm>
            <a:off x="3008243" y="102154"/>
            <a:ext cx="8073115" cy="759237"/>
          </a:xfrm>
        </p:spPr>
        <p:txBody>
          <a:bodyPr>
            <a:normAutofit fontScale="90000"/>
          </a:bodyPr>
          <a:lstStyle/>
          <a:p>
            <a:r>
              <a:rPr lang="en-IN" dirty="0"/>
              <a:t>ILN                                                   DCP</a:t>
            </a:r>
          </a:p>
        </p:txBody>
      </p:sp>
      <p:pic>
        <p:nvPicPr>
          <p:cNvPr id="4" name="Picture 3">
            <a:extLst>
              <a:ext uri="{FF2B5EF4-FFF2-40B4-BE49-F238E27FC236}">
                <a16:creationId xmlns:a16="http://schemas.microsoft.com/office/drawing/2014/main" id="{A5BBA394-AC85-3382-2FDE-357981A01EA8}"/>
              </a:ext>
            </a:extLst>
          </p:cNvPr>
          <p:cNvPicPr>
            <a:picLocks noChangeAspect="1"/>
          </p:cNvPicPr>
          <p:nvPr/>
        </p:nvPicPr>
        <p:blipFill>
          <a:blip r:embed="rId2"/>
          <a:stretch>
            <a:fillRect/>
          </a:stretch>
        </p:blipFill>
        <p:spPr>
          <a:xfrm>
            <a:off x="2103135" y="861391"/>
            <a:ext cx="3048264" cy="2743438"/>
          </a:xfrm>
          <a:prstGeom prst="rect">
            <a:avLst/>
          </a:prstGeom>
        </p:spPr>
      </p:pic>
      <p:pic>
        <p:nvPicPr>
          <p:cNvPr id="5" name="Picture 4">
            <a:extLst>
              <a:ext uri="{FF2B5EF4-FFF2-40B4-BE49-F238E27FC236}">
                <a16:creationId xmlns:a16="http://schemas.microsoft.com/office/drawing/2014/main" id="{B8ABD517-9D49-C4FD-0C7A-0D384408B8F2}"/>
              </a:ext>
            </a:extLst>
          </p:cNvPr>
          <p:cNvPicPr>
            <a:picLocks noChangeAspect="1"/>
          </p:cNvPicPr>
          <p:nvPr/>
        </p:nvPicPr>
        <p:blipFill>
          <a:blip r:embed="rId3"/>
          <a:stretch>
            <a:fillRect/>
          </a:stretch>
        </p:blipFill>
        <p:spPr>
          <a:xfrm>
            <a:off x="2103135" y="3809736"/>
            <a:ext cx="3048264" cy="3048264"/>
          </a:xfrm>
          <a:prstGeom prst="rect">
            <a:avLst/>
          </a:prstGeom>
        </p:spPr>
      </p:pic>
      <p:pic>
        <p:nvPicPr>
          <p:cNvPr id="6" name="Picture 5">
            <a:extLst>
              <a:ext uri="{FF2B5EF4-FFF2-40B4-BE49-F238E27FC236}">
                <a16:creationId xmlns:a16="http://schemas.microsoft.com/office/drawing/2014/main" id="{CE583C65-AEB5-3330-54D2-E72A3F142A7E}"/>
              </a:ext>
            </a:extLst>
          </p:cNvPr>
          <p:cNvPicPr>
            <a:picLocks noChangeAspect="1"/>
          </p:cNvPicPr>
          <p:nvPr/>
        </p:nvPicPr>
        <p:blipFill rotWithShape="1">
          <a:blip r:embed="rId4"/>
          <a:srcRect b="9890"/>
          <a:stretch/>
        </p:blipFill>
        <p:spPr>
          <a:xfrm>
            <a:off x="7865972" y="890985"/>
            <a:ext cx="1993565" cy="2816595"/>
          </a:xfrm>
          <a:prstGeom prst="rect">
            <a:avLst/>
          </a:prstGeom>
        </p:spPr>
      </p:pic>
      <p:pic>
        <p:nvPicPr>
          <p:cNvPr id="7" name="Picture 6">
            <a:extLst>
              <a:ext uri="{FF2B5EF4-FFF2-40B4-BE49-F238E27FC236}">
                <a16:creationId xmlns:a16="http://schemas.microsoft.com/office/drawing/2014/main" id="{16C14927-2F56-5079-0C19-FD964ED1E248}"/>
              </a:ext>
            </a:extLst>
          </p:cNvPr>
          <p:cNvPicPr>
            <a:picLocks noChangeAspect="1"/>
          </p:cNvPicPr>
          <p:nvPr/>
        </p:nvPicPr>
        <p:blipFill>
          <a:blip r:embed="rId5"/>
          <a:stretch>
            <a:fillRect/>
          </a:stretch>
        </p:blipFill>
        <p:spPr>
          <a:xfrm>
            <a:off x="9859537" y="890986"/>
            <a:ext cx="1828959" cy="2816596"/>
          </a:xfrm>
          <a:prstGeom prst="rect">
            <a:avLst/>
          </a:prstGeom>
        </p:spPr>
      </p:pic>
      <p:pic>
        <p:nvPicPr>
          <p:cNvPr id="8" name="Picture 7">
            <a:extLst>
              <a:ext uri="{FF2B5EF4-FFF2-40B4-BE49-F238E27FC236}">
                <a16:creationId xmlns:a16="http://schemas.microsoft.com/office/drawing/2014/main" id="{ED9071C6-D74B-F40C-DBE0-FC38FB11969E}"/>
              </a:ext>
            </a:extLst>
          </p:cNvPr>
          <p:cNvPicPr>
            <a:picLocks noChangeAspect="1"/>
          </p:cNvPicPr>
          <p:nvPr/>
        </p:nvPicPr>
        <p:blipFill>
          <a:blip r:embed="rId6"/>
          <a:stretch>
            <a:fillRect/>
          </a:stretch>
        </p:blipFill>
        <p:spPr>
          <a:xfrm>
            <a:off x="7878165" y="3773902"/>
            <a:ext cx="1981372" cy="2981944"/>
          </a:xfrm>
          <a:prstGeom prst="rect">
            <a:avLst/>
          </a:prstGeom>
        </p:spPr>
      </p:pic>
      <p:pic>
        <p:nvPicPr>
          <p:cNvPr id="9" name="Picture 8">
            <a:extLst>
              <a:ext uri="{FF2B5EF4-FFF2-40B4-BE49-F238E27FC236}">
                <a16:creationId xmlns:a16="http://schemas.microsoft.com/office/drawing/2014/main" id="{A22EFC44-17D1-2023-ECC0-28D0DAF01F93}"/>
              </a:ext>
            </a:extLst>
          </p:cNvPr>
          <p:cNvPicPr>
            <a:picLocks noChangeAspect="1"/>
          </p:cNvPicPr>
          <p:nvPr/>
        </p:nvPicPr>
        <p:blipFill>
          <a:blip r:embed="rId7"/>
          <a:stretch>
            <a:fillRect/>
          </a:stretch>
        </p:blipFill>
        <p:spPr>
          <a:xfrm>
            <a:off x="9859537" y="3773901"/>
            <a:ext cx="1828959" cy="2981945"/>
          </a:xfrm>
          <a:prstGeom prst="rect">
            <a:avLst/>
          </a:prstGeom>
        </p:spPr>
      </p:pic>
    </p:spTree>
    <p:extLst>
      <p:ext uri="{BB962C8B-B14F-4D97-AF65-F5344CB8AC3E}">
        <p14:creationId xmlns:p14="http://schemas.microsoft.com/office/powerpoint/2010/main" val="3179134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0B33E-2FFC-1BCB-DAEE-2C46CCECDD36}"/>
              </a:ext>
            </a:extLst>
          </p:cNvPr>
          <p:cNvSpPr>
            <a:spLocks noGrp="1"/>
          </p:cNvSpPr>
          <p:nvPr>
            <p:ph type="title"/>
          </p:nvPr>
        </p:nvSpPr>
        <p:spPr/>
        <p:txBody>
          <a:bodyPr/>
          <a:lstStyle/>
          <a:p>
            <a:r>
              <a:rPr lang="en-IN" dirty="0"/>
              <a:t>DISCUSSION </a:t>
            </a:r>
          </a:p>
        </p:txBody>
      </p:sp>
      <p:sp>
        <p:nvSpPr>
          <p:cNvPr id="3" name="Content Placeholder 2">
            <a:extLst>
              <a:ext uri="{FF2B5EF4-FFF2-40B4-BE49-F238E27FC236}">
                <a16:creationId xmlns:a16="http://schemas.microsoft.com/office/drawing/2014/main" id="{DBC8695E-DC94-B375-E07E-875597231335}"/>
              </a:ext>
            </a:extLst>
          </p:cNvPr>
          <p:cNvSpPr>
            <a:spLocks noGrp="1"/>
          </p:cNvSpPr>
          <p:nvPr>
            <p:ph idx="1"/>
          </p:nvPr>
        </p:nvSpPr>
        <p:spPr>
          <a:xfrm>
            <a:off x="1451579" y="2015732"/>
            <a:ext cx="9603275" cy="4037749"/>
          </a:xfrm>
        </p:spPr>
        <p:txBody>
          <a:bodyPr>
            <a:normAutofit lnSpcReduction="10000"/>
          </a:bodyPr>
          <a:lstStyle/>
          <a:p>
            <a:r>
              <a:rPr lang="en-IN" sz="2400" dirty="0"/>
              <a:t>11 of each cases in group A and group B were treated with interlocking nail and dynamic compression plating respectively with age of youngest patient 18 years and oldest 59years with mean age 35.7. </a:t>
            </a:r>
          </a:p>
          <a:p>
            <a:endParaRPr lang="en-IN" sz="2400" dirty="0"/>
          </a:p>
          <a:p>
            <a:r>
              <a:rPr lang="en-IN" sz="2400" dirty="0"/>
              <a:t>Similar trend was seen in a series of Lal et al</a:t>
            </a:r>
            <a:r>
              <a:rPr lang="en-IN" sz="2400" baseline="30000" dirty="0"/>
              <a:t>3</a:t>
            </a:r>
            <a:r>
              <a:rPr lang="en-IN" sz="2400" dirty="0"/>
              <a:t> in which mean was 39.5 years and </a:t>
            </a:r>
            <a:r>
              <a:rPr lang="en-IN" sz="2400" dirty="0" err="1"/>
              <a:t>chacha</a:t>
            </a:r>
            <a:r>
              <a:rPr lang="en-IN" sz="2400" dirty="0"/>
              <a:t> et al</a:t>
            </a:r>
            <a:r>
              <a:rPr lang="en-IN" sz="2400" baseline="30000" dirty="0"/>
              <a:t>4</a:t>
            </a:r>
            <a:r>
              <a:rPr lang="en-IN" sz="2400" dirty="0"/>
              <a:t> average being 36.3 years. </a:t>
            </a:r>
          </a:p>
          <a:p>
            <a:endParaRPr lang="en-IN" sz="2400" dirty="0"/>
          </a:p>
          <a:p>
            <a:r>
              <a:rPr lang="en-IN" sz="2400" dirty="0"/>
              <a:t>In this study male/ female ratio being 7:3 similar to study series of Reddy et al</a:t>
            </a:r>
            <a:r>
              <a:rPr lang="en-IN" sz="2400" baseline="30000" dirty="0"/>
              <a:t>5</a:t>
            </a:r>
            <a:r>
              <a:rPr lang="en-IN" sz="2400" dirty="0"/>
              <a:t> where also m/f ratio was 7:3. </a:t>
            </a:r>
          </a:p>
          <a:p>
            <a:endParaRPr lang="en-IN" dirty="0"/>
          </a:p>
        </p:txBody>
      </p:sp>
    </p:spTree>
    <p:extLst>
      <p:ext uri="{BB962C8B-B14F-4D97-AF65-F5344CB8AC3E}">
        <p14:creationId xmlns:p14="http://schemas.microsoft.com/office/powerpoint/2010/main" val="2546542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9AB26-A360-41D8-48A1-81BDC9E8B506}"/>
              </a:ext>
            </a:extLst>
          </p:cNvPr>
          <p:cNvSpPr>
            <a:spLocks noGrp="1"/>
          </p:cNvSpPr>
          <p:nvPr>
            <p:ph idx="1"/>
          </p:nvPr>
        </p:nvSpPr>
        <p:spPr>
          <a:xfrm>
            <a:off x="2589212" y="2133600"/>
            <a:ext cx="8915400" cy="2067339"/>
          </a:xfrm>
        </p:spPr>
        <p:txBody>
          <a:bodyPr/>
          <a:lstStyle/>
          <a:p>
            <a:r>
              <a:rPr lang="en-IN" sz="2400" dirty="0"/>
              <a:t>P.M Rommens</a:t>
            </a:r>
            <a:r>
              <a:rPr lang="en-IN" sz="2400" baseline="30000" dirty="0"/>
              <a:t>7</a:t>
            </a:r>
            <a:r>
              <a:rPr lang="en-IN" sz="2400" dirty="0"/>
              <a:t> found No patient of group A had superficial infection in comparison with 1 patient in group B; 2 patients in group B has postoperative neurapraxia of radial nerve with no patient in group A.</a:t>
            </a:r>
            <a:endParaRPr lang="en-IN" dirty="0"/>
          </a:p>
        </p:txBody>
      </p:sp>
    </p:spTree>
    <p:extLst>
      <p:ext uri="{BB962C8B-B14F-4D97-AF65-F5344CB8AC3E}">
        <p14:creationId xmlns:p14="http://schemas.microsoft.com/office/powerpoint/2010/main" val="3641900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5DA1FC-89BD-838E-CC6C-493C0315C73B}"/>
              </a:ext>
            </a:extLst>
          </p:cNvPr>
          <p:cNvSpPr>
            <a:spLocks noGrp="1"/>
          </p:cNvSpPr>
          <p:nvPr>
            <p:ph idx="1"/>
          </p:nvPr>
        </p:nvSpPr>
        <p:spPr>
          <a:xfrm>
            <a:off x="1796136" y="862793"/>
            <a:ext cx="10197081" cy="5339224"/>
          </a:xfrm>
        </p:spPr>
        <p:txBody>
          <a:bodyPr>
            <a:normAutofit/>
          </a:bodyPr>
          <a:lstStyle/>
          <a:p>
            <a:r>
              <a:rPr lang="en-IN" sz="2600" dirty="0"/>
              <a:t>8 patients in group A had shown pain in shoulder in comparison to 2 in group B. 07 patients of group A has shoulder stiffness in comparison to no patient in group B, two patients in group A had shown delayed union in comparison to 1 in group B. </a:t>
            </a:r>
          </a:p>
          <a:p>
            <a:r>
              <a:rPr lang="en-IN" sz="2600" dirty="0"/>
              <a:t>In this study 63.63% of patients developed shoulder stiffness treated with interlocking nail and same trends were seen in study of Suh JT et al</a:t>
            </a:r>
            <a:r>
              <a:rPr lang="en-IN" sz="2600" baseline="30000" dirty="0"/>
              <a:t>8</a:t>
            </a:r>
            <a:r>
              <a:rPr lang="en-IN" sz="2600" dirty="0"/>
              <a:t> where 50% of patients shows shoulder stiffness. </a:t>
            </a:r>
          </a:p>
          <a:p>
            <a:r>
              <a:rPr lang="en-IN" sz="2600" dirty="0"/>
              <a:t>No patient in either group shows </a:t>
            </a:r>
            <a:r>
              <a:rPr lang="en-IN" sz="2600" dirty="0" err="1"/>
              <a:t>nonunion</a:t>
            </a:r>
            <a:r>
              <a:rPr lang="en-IN" sz="2600" dirty="0"/>
              <a:t>, malunion, deep infection and any instability. </a:t>
            </a:r>
          </a:p>
          <a:p>
            <a:endParaRPr lang="en-IN" dirty="0"/>
          </a:p>
        </p:txBody>
      </p:sp>
    </p:spTree>
    <p:extLst>
      <p:ext uri="{BB962C8B-B14F-4D97-AF65-F5344CB8AC3E}">
        <p14:creationId xmlns:p14="http://schemas.microsoft.com/office/powerpoint/2010/main" val="2841366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982C52-AD0B-2443-DEE4-10FDFADA1305}"/>
              </a:ext>
            </a:extLst>
          </p:cNvPr>
          <p:cNvSpPr>
            <a:spLocks noGrp="1"/>
          </p:cNvSpPr>
          <p:nvPr>
            <p:ph idx="1"/>
          </p:nvPr>
        </p:nvSpPr>
        <p:spPr>
          <a:xfrm>
            <a:off x="2622205" y="2557669"/>
            <a:ext cx="9569795" cy="2292626"/>
          </a:xfrm>
        </p:spPr>
        <p:txBody>
          <a:bodyPr>
            <a:normAutofit/>
          </a:bodyPr>
          <a:lstStyle/>
          <a:p>
            <a:r>
              <a:rPr lang="en-IN" sz="2400" dirty="0"/>
              <a:t>In our study 100% cases achieved union. </a:t>
            </a:r>
          </a:p>
          <a:p>
            <a:r>
              <a:rPr lang="en-IN" sz="2400" dirty="0"/>
              <a:t>Ikpeme</a:t>
            </a:r>
            <a:r>
              <a:rPr lang="en-IN" sz="2400" baseline="30000" dirty="0"/>
              <a:t>9</a:t>
            </a:r>
            <a:r>
              <a:rPr lang="en-IN" sz="2400" dirty="0"/>
              <a:t> noted 100% union of shaft fractures with I.L.N. </a:t>
            </a:r>
          </a:p>
          <a:p>
            <a:r>
              <a:rPr lang="en-IN" sz="2400" dirty="0"/>
              <a:t>Willis MP et al</a:t>
            </a:r>
            <a:r>
              <a:rPr lang="en-IN" sz="2400" baseline="30000" dirty="0"/>
              <a:t>10</a:t>
            </a:r>
            <a:r>
              <a:rPr lang="en-IN" sz="2400" dirty="0"/>
              <a:t> reported union rate of 100% in humerus fractures with plating</a:t>
            </a:r>
          </a:p>
        </p:txBody>
      </p:sp>
    </p:spTree>
    <p:extLst>
      <p:ext uri="{BB962C8B-B14F-4D97-AF65-F5344CB8AC3E}">
        <p14:creationId xmlns:p14="http://schemas.microsoft.com/office/powerpoint/2010/main" val="2178485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A0F6B-1163-EEF6-E146-4E3DA00C1130}"/>
              </a:ext>
            </a:extLst>
          </p:cNvPr>
          <p:cNvSpPr>
            <a:spLocks noGrp="1"/>
          </p:cNvSpPr>
          <p:nvPr>
            <p:ph type="title"/>
          </p:nvPr>
        </p:nvSpPr>
        <p:spPr/>
        <p:txBody>
          <a:bodyPr/>
          <a:lstStyle/>
          <a:p>
            <a:r>
              <a:rPr lang="en-IN" dirty="0"/>
              <a:t>FINAL RESULTS</a:t>
            </a:r>
          </a:p>
        </p:txBody>
      </p:sp>
      <p:pic>
        <p:nvPicPr>
          <p:cNvPr id="5" name="Content Placeholder 4">
            <a:extLst>
              <a:ext uri="{FF2B5EF4-FFF2-40B4-BE49-F238E27FC236}">
                <a16:creationId xmlns:a16="http://schemas.microsoft.com/office/drawing/2014/main" id="{0CCA5BE6-C670-CCBE-8F0F-95631BCDBF5A}"/>
              </a:ext>
            </a:extLst>
          </p:cNvPr>
          <p:cNvPicPr>
            <a:picLocks noGrp="1" noChangeAspect="1"/>
          </p:cNvPicPr>
          <p:nvPr>
            <p:ph idx="1"/>
          </p:nvPr>
        </p:nvPicPr>
        <p:blipFill>
          <a:blip r:embed="rId2"/>
          <a:stretch>
            <a:fillRect/>
          </a:stretch>
        </p:blipFill>
        <p:spPr>
          <a:xfrm>
            <a:off x="2273637" y="1361397"/>
            <a:ext cx="8182327" cy="4872493"/>
          </a:xfrm>
        </p:spPr>
      </p:pic>
    </p:spTree>
    <p:extLst>
      <p:ext uri="{BB962C8B-B14F-4D97-AF65-F5344CB8AC3E}">
        <p14:creationId xmlns:p14="http://schemas.microsoft.com/office/powerpoint/2010/main" val="167484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94E01-46C7-3B82-EF5C-E2A3E823BD1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2144A166-4EB9-6142-57F3-00284B541584}"/>
              </a:ext>
            </a:extLst>
          </p:cNvPr>
          <p:cNvSpPr>
            <a:spLocks noGrp="1"/>
          </p:cNvSpPr>
          <p:nvPr>
            <p:ph idx="1"/>
          </p:nvPr>
        </p:nvSpPr>
        <p:spPr>
          <a:xfrm>
            <a:off x="1451579" y="2015732"/>
            <a:ext cx="9603275" cy="4037749"/>
          </a:xfrm>
        </p:spPr>
        <p:txBody>
          <a:bodyPr>
            <a:normAutofit/>
          </a:bodyPr>
          <a:lstStyle/>
          <a:p>
            <a:r>
              <a:rPr lang="en-IN" sz="2400" dirty="0"/>
              <a:t>So we concluded that compression plating is gold standard for fracture shaft humerus. </a:t>
            </a:r>
          </a:p>
          <a:p>
            <a:r>
              <a:rPr lang="en-IN" sz="2400" dirty="0"/>
              <a:t>While there is no significant difference in the radiological union in the patients treated with interlocking nail and compression plate. </a:t>
            </a:r>
          </a:p>
          <a:p>
            <a:r>
              <a:rPr lang="en-IN" sz="2400" dirty="0"/>
              <a:t>But there is significant decrease in movements of shoulder joint; shoulder stiffness and persistent shoulder pain in patients treated with interlocking nail. </a:t>
            </a:r>
          </a:p>
          <a:p>
            <a:endParaRPr lang="en-IN" dirty="0"/>
          </a:p>
        </p:txBody>
      </p:sp>
    </p:spTree>
    <p:extLst>
      <p:ext uri="{BB962C8B-B14F-4D97-AF65-F5344CB8AC3E}">
        <p14:creationId xmlns:p14="http://schemas.microsoft.com/office/powerpoint/2010/main" val="2295633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F2CF3-BBB5-54E9-6F13-0B4F06BA90B9}"/>
              </a:ext>
            </a:extLst>
          </p:cNvPr>
          <p:cNvSpPr>
            <a:spLocks noGrp="1"/>
          </p:cNvSpPr>
          <p:nvPr>
            <p:ph type="title"/>
          </p:nvPr>
        </p:nvSpPr>
        <p:spPr>
          <a:xfrm>
            <a:off x="1133527" y="115406"/>
            <a:ext cx="9603275" cy="1049235"/>
          </a:xfrm>
        </p:spPr>
        <p:txBody>
          <a:bodyPr/>
          <a:lstStyle/>
          <a:p>
            <a:r>
              <a:rPr lang="en-IN" dirty="0"/>
              <a:t>REFERENCES</a:t>
            </a:r>
          </a:p>
        </p:txBody>
      </p:sp>
      <p:sp>
        <p:nvSpPr>
          <p:cNvPr id="3" name="Content Placeholder 2">
            <a:extLst>
              <a:ext uri="{FF2B5EF4-FFF2-40B4-BE49-F238E27FC236}">
                <a16:creationId xmlns:a16="http://schemas.microsoft.com/office/drawing/2014/main" id="{342EF26B-B43A-5AF1-0189-C00E4C8F0152}"/>
              </a:ext>
            </a:extLst>
          </p:cNvPr>
          <p:cNvSpPr>
            <a:spLocks noGrp="1"/>
          </p:cNvSpPr>
          <p:nvPr>
            <p:ph idx="1"/>
          </p:nvPr>
        </p:nvSpPr>
        <p:spPr>
          <a:xfrm>
            <a:off x="1133526" y="812301"/>
            <a:ext cx="9603275" cy="5442725"/>
          </a:xfrm>
        </p:spPr>
        <p:txBody>
          <a:bodyPr>
            <a:normAutofit fontScale="77500" lnSpcReduction="20000"/>
          </a:bodyPr>
          <a:lstStyle/>
          <a:p>
            <a:r>
              <a:rPr lang="en-IN" sz="2400" dirty="0"/>
              <a:t>1.  </a:t>
            </a:r>
            <a:r>
              <a:rPr lang="en-IN" sz="2400" dirty="0" err="1"/>
              <a:t>Corroll</a:t>
            </a:r>
            <a:r>
              <a:rPr lang="en-IN" sz="2400" dirty="0"/>
              <a:t> EA, Schweppe M, </a:t>
            </a:r>
            <a:r>
              <a:rPr lang="en-IN" sz="2400" dirty="0" err="1"/>
              <a:t>Langfitt</a:t>
            </a:r>
            <a:r>
              <a:rPr lang="en-IN" sz="2400" dirty="0"/>
              <a:t> M, Miller AN, Halvorson JJ. Management of humeral shaft fractures. J Am </a:t>
            </a:r>
            <a:r>
              <a:rPr lang="en-IN" sz="2400" dirty="0" err="1"/>
              <a:t>Acad</a:t>
            </a:r>
            <a:r>
              <a:rPr lang="en-IN" sz="2400" dirty="0"/>
              <a:t> </a:t>
            </a:r>
            <a:r>
              <a:rPr lang="en-IN" sz="2400" dirty="0" err="1"/>
              <a:t>Orthop</a:t>
            </a:r>
            <a:r>
              <a:rPr lang="en-IN" sz="2400" dirty="0"/>
              <a:t> Surg. 2013;20:423-33. </a:t>
            </a:r>
          </a:p>
          <a:p>
            <a:endParaRPr lang="en-IN" sz="2400" dirty="0"/>
          </a:p>
          <a:p>
            <a:r>
              <a:rPr lang="en-IN" sz="2400" dirty="0"/>
              <a:t>2.  </a:t>
            </a:r>
            <a:r>
              <a:rPr lang="en-IN" sz="2400" dirty="0" err="1"/>
              <a:t>Canavese</a:t>
            </a:r>
            <a:r>
              <a:rPr lang="en-IN" sz="2400" dirty="0"/>
              <a:t> F, Marengo L, </a:t>
            </a:r>
            <a:r>
              <a:rPr lang="en-IN" sz="2400" dirty="0" err="1"/>
              <a:t>Cravino</a:t>
            </a:r>
            <a:r>
              <a:rPr lang="en-IN" sz="2400" dirty="0"/>
              <a:t> M, Giacometti V, Pereira B, </a:t>
            </a:r>
            <a:r>
              <a:rPr lang="en-IN" sz="2400" dirty="0" err="1"/>
              <a:t>Dimeglio</a:t>
            </a:r>
            <a:r>
              <a:rPr lang="en-IN" sz="2400" dirty="0"/>
              <a:t> A, </a:t>
            </a:r>
            <a:r>
              <a:rPr lang="en-IN" sz="2400" dirty="0" err="1"/>
              <a:t>Origo</a:t>
            </a:r>
            <a:r>
              <a:rPr lang="en-IN" sz="2400" dirty="0"/>
              <a:t> C, </a:t>
            </a:r>
            <a:r>
              <a:rPr lang="en-IN" sz="2400" dirty="0" err="1"/>
              <a:t>Andreacchio</a:t>
            </a:r>
            <a:r>
              <a:rPr lang="en-IN" sz="2400" dirty="0"/>
              <a:t> A. Outcome of Conservative Versus Surgical Treatment of Humeral Shaft Fracture in Children and Adolescents: Comparison Between Nonoperative Treatment (</a:t>
            </a:r>
            <a:r>
              <a:rPr lang="en-IN" sz="2400" dirty="0" err="1"/>
              <a:t>Desault's</a:t>
            </a:r>
            <a:r>
              <a:rPr lang="en-IN" sz="2400" dirty="0"/>
              <a:t> Bandage), External Fixation and Elastic Stable Intramedullary Nailing. J </a:t>
            </a:r>
            <a:r>
              <a:rPr lang="en-IN" sz="2400" dirty="0" err="1"/>
              <a:t>Pediatr</a:t>
            </a:r>
            <a:r>
              <a:rPr lang="en-IN" sz="2400" dirty="0"/>
              <a:t> </a:t>
            </a:r>
            <a:r>
              <a:rPr lang="en-IN" sz="2400" dirty="0" err="1"/>
              <a:t>Orthop</a:t>
            </a:r>
            <a:r>
              <a:rPr lang="en-IN" sz="2400" dirty="0"/>
              <a:t>. 2016 Jul 29. </a:t>
            </a:r>
          </a:p>
          <a:p>
            <a:endParaRPr lang="en-IN" sz="2400" dirty="0"/>
          </a:p>
          <a:p>
            <a:r>
              <a:rPr lang="en-IN" sz="2400" dirty="0"/>
              <a:t>3.  Lal Y, Sharma S, Krishna LG, Ahmed A: Humeral shaft fractures treated by undreamed interlocking nail. Indian journal of Ortho. 1999;33:23-30. </a:t>
            </a:r>
          </a:p>
          <a:p>
            <a:endParaRPr lang="en-IN" sz="2400" dirty="0"/>
          </a:p>
          <a:p>
            <a:r>
              <a:rPr lang="en-IN" sz="2400" dirty="0"/>
              <a:t>4.  </a:t>
            </a:r>
            <a:r>
              <a:rPr lang="en-IN" sz="2400" dirty="0" err="1"/>
              <a:t>Chacha</a:t>
            </a:r>
            <a:r>
              <a:rPr lang="en-IN" sz="2400" dirty="0"/>
              <a:t> PB: Compression plating without bone grafting for delayed and </a:t>
            </a:r>
            <a:r>
              <a:rPr lang="en-IN" sz="2400" dirty="0" err="1"/>
              <a:t>nonunion</a:t>
            </a:r>
            <a:r>
              <a:rPr lang="en-IN" sz="2400" dirty="0"/>
              <a:t> of humeral shaft fractures injury. 1974;5:283-85. </a:t>
            </a:r>
          </a:p>
          <a:p>
            <a:endParaRPr lang="en-IN" sz="2400" dirty="0"/>
          </a:p>
          <a:p>
            <a:r>
              <a:rPr lang="en-IN" sz="2400" dirty="0"/>
              <a:t>5.  Reddy BJ, </a:t>
            </a:r>
            <a:r>
              <a:rPr lang="en-IN" sz="2400" dirty="0" err="1"/>
              <a:t>Athmaram</a:t>
            </a:r>
            <a:r>
              <a:rPr lang="en-IN" sz="2400" dirty="0"/>
              <a:t> M, Swaroop VS. A clinical study of fixation of fracture of shaft of humerus with interlocking nail. JEMDS. 2015;4:2172-9. </a:t>
            </a:r>
          </a:p>
          <a:p>
            <a:endParaRPr lang="en-IN" dirty="0"/>
          </a:p>
        </p:txBody>
      </p:sp>
    </p:spTree>
    <p:extLst>
      <p:ext uri="{BB962C8B-B14F-4D97-AF65-F5344CB8AC3E}">
        <p14:creationId xmlns:p14="http://schemas.microsoft.com/office/powerpoint/2010/main" val="812824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4E70C0-1443-8596-D5F0-90CCE8FA6CD6}"/>
              </a:ext>
            </a:extLst>
          </p:cNvPr>
          <p:cNvSpPr>
            <a:spLocks noGrp="1"/>
          </p:cNvSpPr>
          <p:nvPr>
            <p:ph idx="1"/>
          </p:nvPr>
        </p:nvSpPr>
        <p:spPr>
          <a:xfrm>
            <a:off x="152400" y="526774"/>
            <a:ext cx="11887199" cy="5804452"/>
          </a:xfrm>
        </p:spPr>
        <p:txBody>
          <a:bodyPr>
            <a:normAutofit/>
          </a:bodyPr>
          <a:lstStyle/>
          <a:p>
            <a:r>
              <a:rPr lang="en-IN" dirty="0"/>
              <a:t>6. </a:t>
            </a:r>
            <a:r>
              <a:rPr lang="en-IN" dirty="0" err="1"/>
              <a:t>Changulani</a:t>
            </a:r>
            <a:r>
              <a:rPr lang="en-IN" dirty="0"/>
              <a:t> M, Jain UK, </a:t>
            </a:r>
            <a:r>
              <a:rPr lang="en-IN" dirty="0" err="1"/>
              <a:t>Keswani</a:t>
            </a:r>
            <a:r>
              <a:rPr lang="en-IN" dirty="0"/>
              <a:t> T. Comparison of the use of the humerus intramedullary nail and dynamic compression plate for the management of diaphyseal fractures of the humerus. A randomised controlled study. International orthopaedics. 2007;31:391-5. </a:t>
            </a:r>
          </a:p>
          <a:p>
            <a:endParaRPr lang="en-IN" dirty="0"/>
          </a:p>
          <a:p>
            <a:r>
              <a:rPr lang="en-IN" dirty="0"/>
              <a:t>7.  </a:t>
            </a:r>
            <a:r>
              <a:rPr lang="en-IN" dirty="0" err="1"/>
              <a:t>Rommens</a:t>
            </a:r>
            <a:r>
              <a:rPr lang="en-IN" dirty="0"/>
              <a:t> PM, </a:t>
            </a:r>
            <a:r>
              <a:rPr lang="en-IN" dirty="0" err="1"/>
              <a:t>Verbruggen</a:t>
            </a:r>
            <a:r>
              <a:rPr lang="en-IN" dirty="0"/>
              <a:t> J, Retrograde locked nailing of humerus shaft fractures. A review of 39 patients JBJS. 1995;77B,84-9. </a:t>
            </a:r>
          </a:p>
          <a:p>
            <a:endParaRPr lang="en-IN" dirty="0"/>
          </a:p>
          <a:p>
            <a:r>
              <a:rPr lang="en-IN" dirty="0"/>
              <a:t>8.  Suh JT, Jung SW, Ku JK, </a:t>
            </a:r>
            <a:r>
              <a:rPr lang="en-IN" dirty="0" err="1"/>
              <a:t>Yoo</a:t>
            </a:r>
            <a:r>
              <a:rPr lang="en-IN" dirty="0"/>
              <a:t> CI. Operative treatment of the humeral shaft fracture: Comparative study of dynamic compression plate and interlocking intramedullary nail. Journal of the Korean Society of Fractures. 2002;15:391-7. </a:t>
            </a:r>
          </a:p>
          <a:p>
            <a:endParaRPr lang="en-IN" dirty="0"/>
          </a:p>
          <a:p>
            <a:r>
              <a:rPr lang="en-IN" dirty="0"/>
              <a:t>9.  </a:t>
            </a:r>
            <a:r>
              <a:rPr lang="en-IN" dirty="0" err="1"/>
              <a:t>Ikpeme</a:t>
            </a:r>
            <a:r>
              <a:rPr lang="en-IN" dirty="0"/>
              <a:t> JO, I.M. nailing interlocking of humerus fracture. Experience with Russel Taylor nail. Injury. 1994;25:447- 55. </a:t>
            </a:r>
          </a:p>
          <a:p>
            <a:r>
              <a:rPr lang="en-IN" dirty="0"/>
              <a:t>10.  Willis MP, Brooks JP, Badman BL, Gaines RJ, </a:t>
            </a:r>
            <a:r>
              <a:rPr lang="en-IN" dirty="0" err="1"/>
              <a:t>Mighell</a:t>
            </a:r>
            <a:r>
              <a:rPr lang="en-IN" dirty="0"/>
              <a:t> MA, Sanders RW. Treatment of atrophic diaphyseal humeral </a:t>
            </a:r>
            <a:r>
              <a:rPr lang="en-IN" dirty="0" err="1"/>
              <a:t>nonunions</a:t>
            </a:r>
            <a:r>
              <a:rPr lang="en-IN" dirty="0"/>
              <a:t> with compressive locked plating and augmented with an intramedullary strut allograft. Journal of orthopaedic trauma. 2013;27:77-81. </a:t>
            </a:r>
          </a:p>
          <a:p>
            <a:endParaRPr lang="en-IN" dirty="0"/>
          </a:p>
          <a:p>
            <a:pPr marL="0" indent="0">
              <a:buNone/>
            </a:pPr>
            <a:endParaRPr lang="en-IN" dirty="0"/>
          </a:p>
          <a:p>
            <a:endParaRPr lang="en-IN" dirty="0"/>
          </a:p>
        </p:txBody>
      </p:sp>
    </p:spTree>
    <p:extLst>
      <p:ext uri="{BB962C8B-B14F-4D97-AF65-F5344CB8AC3E}">
        <p14:creationId xmlns:p14="http://schemas.microsoft.com/office/powerpoint/2010/main" val="4199411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67C04-645C-F732-FB78-1B4092E6736F}"/>
              </a:ext>
            </a:extLst>
          </p:cNvPr>
          <p:cNvSpPr>
            <a:spLocks noGrp="1"/>
          </p:cNvSpPr>
          <p:nvPr>
            <p:ph idx="1"/>
          </p:nvPr>
        </p:nvSpPr>
        <p:spPr>
          <a:xfrm>
            <a:off x="3624936" y="2069652"/>
            <a:ext cx="6035898" cy="2067340"/>
          </a:xfrm>
        </p:spPr>
        <p:txBody>
          <a:bodyPr>
            <a:normAutofit/>
          </a:bodyPr>
          <a:lstStyle/>
          <a:p>
            <a:pPr marL="0" indent="0">
              <a:buNone/>
            </a:pPr>
            <a:r>
              <a:rPr lang="en-IN" sz="6000" dirty="0"/>
              <a:t>                                                                                        THANK YOU</a:t>
            </a:r>
          </a:p>
        </p:txBody>
      </p:sp>
    </p:spTree>
    <p:extLst>
      <p:ext uri="{BB962C8B-B14F-4D97-AF65-F5344CB8AC3E}">
        <p14:creationId xmlns:p14="http://schemas.microsoft.com/office/powerpoint/2010/main" val="421050640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