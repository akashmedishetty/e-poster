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10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0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43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67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83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07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1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91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40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05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45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91C1663-7624-B356-9538-48D14717FE0F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832D0A-F784-1863-527C-9A13BB5B99D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9D4529-8AF6-BE7E-B64C-DBF18872ABF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1CD1BD-2441-E1A0-9195-017E7F8D96E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2904B2-88EF-89A0-16CA-CB42C9B04A17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4B8959-579E-5F1A-502E-6154EF1A9376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1FDA01-EF1C-9C2A-4C60-BEDB18AEBEBB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48570FA9-0993-08B5-7F66-5B5868E68068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9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A260-2550-6D11-1823-B0D3F3FCF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890" y="1530158"/>
            <a:ext cx="10186219" cy="1800520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FUNCTIONAL OUTCOME OF ENDOSCOPIC CALCANEOPLASTY WITH FLEXOR HALLUCIS LONGUS TENDON TRANSFER IN HAGLUND SYNDROME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10425-F022-424F-A2C8-763F592E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5433" y="3687096"/>
            <a:ext cx="4896464" cy="2182761"/>
          </a:xfrm>
        </p:spPr>
        <p:txBody>
          <a:bodyPr>
            <a:normAutofit/>
          </a:bodyPr>
          <a:lstStyle/>
          <a:p>
            <a:r>
              <a:rPr lang="en-IN" dirty="0"/>
              <a:t>PRESENTER: Dr. S SAI DHARMA TEJA</a:t>
            </a:r>
          </a:p>
          <a:p>
            <a:r>
              <a:rPr lang="en-IN" dirty="0"/>
              <a:t>    GANDHI MEDICAL COLLEGE</a:t>
            </a:r>
          </a:p>
          <a:p>
            <a:r>
              <a:rPr lang="en-IN" dirty="0"/>
              <a:t>              HYDERABAD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BC7A-712F-3B24-FB61-ADE5E881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1" y="1296132"/>
            <a:ext cx="9603275" cy="562165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6D9E-1F99-BD5B-C101-E5ADC46F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032597"/>
            <a:ext cx="10632167" cy="3450613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Haglund syndrome consists of a triad of posterosuperior calcaneal exostosis (Haglund deformity), retrocalcaneal bursitis, and insertional Achilles tendinopathy.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Retrocalcaneal bursitis and insertional Achilles tendinopathy cause pain and discomfort in the posterior part of heel.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While conservative management like rest, ice, physiotherapy and NSAIDs are effective in many cases, some chronic cases may require surgical management</a:t>
            </a:r>
          </a:p>
        </p:txBody>
      </p:sp>
    </p:spTree>
    <p:extLst>
      <p:ext uri="{BB962C8B-B14F-4D97-AF65-F5344CB8AC3E}">
        <p14:creationId xmlns:p14="http://schemas.microsoft.com/office/powerpoint/2010/main" val="421056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060E66-AE61-5911-B724-1313DB95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8026"/>
            <a:ext cx="9603275" cy="56572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837CA8-E7C3-37EB-6D9D-11051279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To evaluate the clinical and functional outcomes of endoscopic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calcaneoplasty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combined with flexor hallucis longus (FHL) tendon transfer in patients with Haglund syndrome</a:t>
            </a:r>
          </a:p>
        </p:txBody>
      </p:sp>
    </p:spTree>
    <p:extLst>
      <p:ext uri="{BB962C8B-B14F-4D97-AF65-F5344CB8AC3E}">
        <p14:creationId xmlns:p14="http://schemas.microsoft.com/office/powerpoint/2010/main" val="92151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63A8-5D85-90B7-5440-9C620B116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8194"/>
            <a:ext cx="9603275" cy="57556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073D-19B6-5864-E154-C40F71AD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630" y="2005900"/>
            <a:ext cx="10406124" cy="3450613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prospective case series of 10 patients with MRI- confirmed Grade IB or Grade II insertional Achilles tendinopathy who failed conservative treatment was conducted between April 2023 and August 2024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All patients underwent endoscopic resection of the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posterisuperior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calcaneal prominence with FHL tendon transfer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Outcomes are measured using Visual Analogue Scale( VAS), AOFAS ankle-hindfoot score, time to weight bearing, return to activity and complications</a:t>
            </a:r>
          </a:p>
        </p:txBody>
      </p:sp>
    </p:spTree>
    <p:extLst>
      <p:ext uri="{BB962C8B-B14F-4D97-AF65-F5344CB8AC3E}">
        <p14:creationId xmlns:p14="http://schemas.microsoft.com/office/powerpoint/2010/main" val="53668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F63B-DE85-C0DE-D0A3-E97A6D9F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7858"/>
            <a:ext cx="9603275" cy="555896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technique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52B30-AB2C-976E-4108-F94241C2C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69" y="2073945"/>
            <a:ext cx="2834647" cy="2942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D30654-9B1D-E482-0CEF-33DAE62E5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95" y="2061408"/>
            <a:ext cx="2334028" cy="29428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B59EB7-8039-1D6C-1C37-EC0DB508E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703" y="2178424"/>
            <a:ext cx="2334028" cy="29428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0B6F4F-AC62-15C0-5AA4-3F3E124AB19D}"/>
              </a:ext>
            </a:extLst>
          </p:cNvPr>
          <p:cNvSpPr txBox="1"/>
          <p:nvPr/>
        </p:nvSpPr>
        <p:spPr>
          <a:xfrm>
            <a:off x="1087359" y="5236974"/>
            <a:ext cx="283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Marking of anatomical landmarks and portals.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FE9B6-152E-C045-752F-E42980693E1E}"/>
              </a:ext>
            </a:extLst>
          </p:cNvPr>
          <p:cNvSpPr txBox="1"/>
          <p:nvPr/>
        </p:nvSpPr>
        <p:spPr>
          <a:xfrm>
            <a:off x="5006579" y="5098474"/>
            <a:ext cx="2834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Intraoperative delineation of </a:t>
            </a:r>
            <a:r>
              <a:rPr lang="en-US" dirty="0" err="1"/>
              <a:t>haglund</a:t>
            </a:r>
            <a:r>
              <a:rPr lang="en-US" dirty="0"/>
              <a:t> tubercle under fluoroscopy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05E910-AD66-545B-1455-0121F32F37C4}"/>
              </a:ext>
            </a:extLst>
          </p:cNvPr>
          <p:cNvSpPr txBox="1"/>
          <p:nvPr/>
        </p:nvSpPr>
        <p:spPr>
          <a:xfrm>
            <a:off x="8877703" y="5236973"/>
            <a:ext cx="2834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Excision of calcaneal prominence with burr.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CCCEA4-3CC1-02EC-1C99-0CC083C1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70" y="1419042"/>
            <a:ext cx="2654433" cy="3559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F673F-1D8F-4392-6FE7-FB006F6C1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550" y="1419042"/>
            <a:ext cx="2661666" cy="3559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8626B7-A390-F2CD-EC94-19B02567D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863" y="1419041"/>
            <a:ext cx="2661667" cy="35597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7A8578-9748-6B69-9AF3-12AC6CF18C81}"/>
              </a:ext>
            </a:extLst>
          </p:cNvPr>
          <p:cNvSpPr txBox="1"/>
          <p:nvPr/>
        </p:nvSpPr>
        <p:spPr>
          <a:xfrm>
            <a:off x="983470" y="5131188"/>
            <a:ext cx="283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Isolation of FHL tendon.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32AFB-CCF3-98F5-65BB-7F8498A7F4C7}"/>
              </a:ext>
            </a:extLst>
          </p:cNvPr>
          <p:cNvSpPr txBox="1"/>
          <p:nvPr/>
        </p:nvSpPr>
        <p:spPr>
          <a:xfrm>
            <a:off x="4761550" y="5066208"/>
            <a:ext cx="2834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Fixation of FHL tendon to calcaneum with interference screw.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97AA7-6080-58F9-32FC-FB67D86AB067}"/>
              </a:ext>
            </a:extLst>
          </p:cNvPr>
          <p:cNvSpPr txBox="1"/>
          <p:nvPr/>
        </p:nvSpPr>
        <p:spPr>
          <a:xfrm>
            <a:off x="8618869" y="5066208"/>
            <a:ext cx="2834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Intraoperative fluoroscopy image of interference screw.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13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F674-FA91-7297-BDD6-7219F54B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78195"/>
            <a:ext cx="9603275" cy="575560"/>
          </a:xfrm>
        </p:spPr>
        <p:txBody>
          <a:bodyPr>
            <a:normAutofit/>
          </a:bodyPr>
          <a:lstStyle/>
          <a:p>
            <a:r>
              <a:rPr lang="en-IN" dirty="0"/>
              <a:t>results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7DA3DB-1105-C65A-11D1-0755A6259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18399"/>
              </p:ext>
            </p:extLst>
          </p:nvPr>
        </p:nvGraphicFramePr>
        <p:xfrm>
          <a:off x="6459792" y="3526279"/>
          <a:ext cx="5546110" cy="1861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966">
                  <a:extLst>
                    <a:ext uri="{9D8B030D-6E8A-4147-A177-3AD203B41FA5}">
                      <a16:colId xmlns:a16="http://schemas.microsoft.com/office/drawing/2014/main" val="1794815451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248245069"/>
                    </a:ext>
                  </a:extLst>
                </a:gridCol>
                <a:gridCol w="2313783">
                  <a:extLst>
                    <a:ext uri="{9D8B030D-6E8A-4147-A177-3AD203B41FA5}">
                      <a16:colId xmlns:a16="http://schemas.microsoft.com/office/drawing/2014/main" val="2754857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Study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Weight bearing </a:t>
                      </a:r>
                      <a:endParaRPr lang="en-IN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Return to normal activities </a:t>
                      </a:r>
                      <a:endParaRPr lang="en-IN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63967"/>
                  </a:ext>
                </a:extLst>
              </a:tr>
              <a:tr h="489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 Garvey et al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 weeks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01950"/>
                  </a:ext>
                </a:extLst>
              </a:tr>
              <a:tr h="264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Batista et al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441197"/>
                  </a:ext>
                </a:extLst>
              </a:tr>
              <a:tr h="2648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study 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3-4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5413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3E3E39-5695-06E7-FC4D-12276520E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32975"/>
              </p:ext>
            </p:extLst>
          </p:nvPr>
        </p:nvGraphicFramePr>
        <p:xfrm>
          <a:off x="492465" y="3252752"/>
          <a:ext cx="523974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580">
                  <a:extLst>
                    <a:ext uri="{9D8B030D-6E8A-4147-A177-3AD203B41FA5}">
                      <a16:colId xmlns:a16="http://schemas.microsoft.com/office/drawing/2014/main" val="3383948014"/>
                    </a:ext>
                  </a:extLst>
                </a:gridCol>
                <a:gridCol w="2809164">
                  <a:extLst>
                    <a:ext uri="{9D8B030D-6E8A-4147-A177-3AD203B41FA5}">
                      <a16:colId xmlns:a16="http://schemas.microsoft.com/office/drawing/2014/main" val="395261322"/>
                    </a:ext>
                  </a:extLst>
                </a:gridCol>
              </a:tblGrid>
              <a:tr h="262154">
                <a:tc>
                  <a:txBody>
                    <a:bodyPr/>
                    <a:lstStyle/>
                    <a:p>
                      <a:r>
                        <a:rPr lang="en-IN" dirty="0"/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27208"/>
                  </a:ext>
                </a:extLst>
              </a:tr>
              <a:tr h="26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 FHL transfers 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36200"/>
                  </a:ext>
                </a:extLst>
              </a:tr>
              <a:tr h="26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Ahmed et al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15.6% - wound related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54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Alhaug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30% - wound related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677212"/>
                  </a:ext>
                </a:extLst>
              </a:tr>
              <a:tr h="26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Endoscopic FHL transfers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271370"/>
                  </a:ext>
                </a:extLst>
              </a:tr>
              <a:tr h="26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Basita et al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10.7% - portal pain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400650"/>
                  </a:ext>
                </a:extLst>
              </a:tr>
              <a:tr h="2621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Our study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13% - portal pain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01605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3C67C55-F90A-2714-3943-87BD8294B8BE}"/>
              </a:ext>
            </a:extLst>
          </p:cNvPr>
          <p:cNvSpPr txBox="1"/>
          <p:nvPr/>
        </p:nvSpPr>
        <p:spPr>
          <a:xfrm>
            <a:off x="1061883" y="1956619"/>
            <a:ext cx="10795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Mean AOFAS improved from 71.2 to 97 at 6 months.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VAS reduced from 6 to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Early return to activity with minimal complications.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5715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26E5-B72D-E731-7D12-C577E8D8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8529"/>
            <a:ext cx="9603275" cy="59522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041B-7979-B2E3-4BDE-34E90A46E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Endoscopic </a:t>
            </a:r>
            <a:r>
              <a:rPr lang="en-IN" dirty="0" err="1"/>
              <a:t>calcaneoplasty</a:t>
            </a:r>
            <a:r>
              <a:rPr lang="en-IN" dirty="0"/>
              <a:t> with FHL transfer is a safe, minimally invasive technique providing excellent pain relief, rapid functional recovery, and low complication rates in Haglund syndrome</a:t>
            </a:r>
          </a:p>
        </p:txBody>
      </p:sp>
    </p:spTree>
    <p:extLst>
      <p:ext uri="{BB962C8B-B14F-4D97-AF65-F5344CB8AC3E}">
        <p14:creationId xmlns:p14="http://schemas.microsoft.com/office/powerpoint/2010/main" val="1812833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6319-AC85-420C-D5B6-3BA1B2EB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7858"/>
            <a:ext cx="9603275" cy="555896"/>
          </a:xfrm>
        </p:spPr>
        <p:txBody>
          <a:bodyPr/>
          <a:lstStyle/>
          <a:p>
            <a:r>
              <a:rPr lang="en-IN" dirty="0" err="1"/>
              <a:t>refernces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65806-55FA-4F15-0FE6-A1E08EE6A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067742"/>
            <a:ext cx="9603275" cy="3450613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van Dijk CN, van Sterkenburg MN, </a:t>
            </a:r>
            <a:r>
              <a:rPr lang="en-IN" dirty="0" err="1"/>
              <a:t>Wiegerinck</a:t>
            </a:r>
            <a:r>
              <a:rPr lang="en-IN" dirty="0"/>
              <a:t> JI, Karlsson J, </a:t>
            </a:r>
            <a:r>
              <a:rPr lang="en-IN" dirty="0" err="1"/>
              <a:t>Maffulli</a:t>
            </a:r>
            <a:r>
              <a:rPr lang="en-IN" dirty="0"/>
              <a:t> N. Terminology for Achilles tendon related disorders. Knee </a:t>
            </a:r>
            <a:r>
              <a:rPr lang="en-IN" dirty="0" err="1"/>
              <a:t>Surg</a:t>
            </a:r>
            <a:r>
              <a:rPr lang="en-IN" dirty="0"/>
              <a:t> Sports </a:t>
            </a:r>
            <a:r>
              <a:rPr lang="en-IN" dirty="0" err="1"/>
              <a:t>Traumatol</a:t>
            </a:r>
            <a:r>
              <a:rPr lang="en-IN" dirty="0"/>
              <a:t> </a:t>
            </a:r>
            <a:r>
              <a:rPr lang="en-IN" dirty="0" err="1"/>
              <a:t>Arthrosc</a:t>
            </a:r>
            <a:r>
              <a:rPr lang="en-IN" dirty="0"/>
              <a:t>. 2011;19(5):835-41. </a:t>
            </a:r>
          </a:p>
          <a:p>
            <a:r>
              <a:rPr lang="en-IN" dirty="0"/>
              <a:t>Batista JP, </a:t>
            </a:r>
            <a:r>
              <a:rPr lang="en-IN" dirty="0" err="1"/>
              <a:t>Abdelatif</a:t>
            </a:r>
            <a:r>
              <a:rPr lang="en-IN" dirty="0"/>
              <a:t> NMN, Del Vecchio JJ, Diniz P, Pereira H. Endoscopic Flexor Hallucis Longus Transfer for the Management of Acute Achilles Tendon Ruptures: A Prospective Case Series Report With a Minimum of 18 Months' Follow-Up. J Foot Ankle Surg. 2020;59(5):927-37. </a:t>
            </a:r>
          </a:p>
          <a:p>
            <a:r>
              <a:rPr lang="en-IN" dirty="0"/>
              <a:t>McGarvey WC, Palumbo RC, Baxter DE, Leibman BD. Insertional Achilles tendinosis: surgical treatment through a central tendon splitting approach. Foot Ankle Int. 2002;23(1):19-25. </a:t>
            </a:r>
          </a:p>
          <a:p>
            <a:r>
              <a:rPr lang="en-IN" dirty="0" err="1"/>
              <a:t>Alhaug</a:t>
            </a:r>
            <a:r>
              <a:rPr lang="en-IN" dirty="0"/>
              <a:t> OK, Berdal G, </a:t>
            </a:r>
            <a:r>
              <a:rPr lang="en-IN" dirty="0" err="1"/>
              <a:t>Husebye</a:t>
            </a:r>
            <a:r>
              <a:rPr lang="en-IN" dirty="0"/>
              <a:t> EE, Hvaal K. Flexor hallucis longus tendon transfer for chronic Achilles tendon rupture. A retrospective study. Foot Ankle Surg. 2019;25(5):630-5.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83978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109</TotalTime>
  <Words>516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Gordita </vt:lpstr>
      <vt:lpstr>Gallery</vt:lpstr>
      <vt:lpstr>FUNCTIONAL OUTCOME OF ENDOSCOPIC CALCANEOPLASTY WITH FLEXOR HALLUCIS LONGUS TENDON TRANSFER IN HAGLUND SYNDROME</vt:lpstr>
      <vt:lpstr>INTRODUCTION</vt:lpstr>
      <vt:lpstr>aim</vt:lpstr>
      <vt:lpstr>methods</vt:lpstr>
      <vt:lpstr>technique</vt:lpstr>
      <vt:lpstr>PowerPoint Presentation</vt:lpstr>
      <vt:lpstr>results</vt:lpstr>
      <vt:lpstr>conclusion</vt:lpstr>
      <vt:lpstr>refernces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Kiran Dev</cp:lastModifiedBy>
  <cp:revision>4</cp:revision>
  <dcterms:created xsi:type="dcterms:W3CDTF">2026-01-11T06:24:43Z</dcterms:created>
  <dcterms:modified xsi:type="dcterms:W3CDTF">2026-02-13T07:09:35Z</dcterms:modified>
</cp:coreProperties>
</file>