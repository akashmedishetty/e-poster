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028517999065"/>
          <c:y val="0.227587184524017"/>
          <c:w val="0.610286881440906"/>
          <c:h val="0.2930404105195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ROSENBERG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Joint space narrow</c:v>
                </c:pt>
                <c:pt idx="1">
                  <c:v>osteophytes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Joint space narrow</c:v>
                </c:pt>
                <c:pt idx="1">
                  <c:v>osteophytes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0.5</c:v>
                </c:pt>
                <c:pt idx="1">
                  <c:v>0.4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437424508"/>
        <c:axId val="844282150"/>
      </c:barChart>
      <c:catAx>
        <c:axId val="4374245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44282150"/>
        <c:crosses val="autoZero"/>
        <c:auto val="1"/>
        <c:lblAlgn val="ctr"/>
        <c:lblOffset val="100"/>
        <c:noMultiLvlLbl val="0"/>
      </c:catAx>
      <c:valAx>
        <c:axId val="84428215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374245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8362128541811"/>
          <c:y val="0.65841288782816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eeaba92-93db-4725-9b8c-77aacbfc8ce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jpeg"/><Relationship Id="rId7" Type="http://schemas.openxmlformats.org/officeDocument/2006/relationships/image" Target="../media/image6.png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415" y="26670"/>
            <a:ext cx="1043305" cy="8445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773" y="-102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37970" y="21590"/>
            <a:ext cx="7007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Rosenberg View vs Standing AP View in Early Detection of Knee Osteoarthritis-A comparative study</a:t>
            </a:r>
            <a:endParaRPr lang="en-US" altLang="en-US" b="1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21815" y="651510"/>
            <a:ext cx="63074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AUTHOR - Dr.Ramkoushik Parthasarathi-Postgraduate</a:t>
            </a:r>
            <a:endParaRPr lang="en-US" sz="1200" b="1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CO AUTHOR- Dr.V.Nageswara Rao -PROF &amp; HOD</a:t>
            </a:r>
            <a:endParaRPr lang="en-US" sz="1200" b="1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GSL MEDICAL COLLEGE ,RAJAHMUNDRY</a:t>
            </a:r>
            <a:endParaRPr lang="en-US" sz="1200" b="1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Freeform 13"/>
          <p:cNvSpPr/>
          <p:nvPr/>
        </p:nvSpPr>
        <p:spPr>
          <a:xfrm>
            <a:off x="137904" y="2187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74495"/>
            <a:ext cx="2987040" cy="51701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87040" y="1294130"/>
            <a:ext cx="2939415" cy="5577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740" y="1301750"/>
            <a:ext cx="3345815" cy="55556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25820" y="1294130"/>
            <a:ext cx="2917825" cy="55638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80160"/>
            <a:ext cx="2987040" cy="3937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86405" y="1280160"/>
            <a:ext cx="2940685" cy="3943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MATERIALS AND METHODS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818880" y="1280160"/>
            <a:ext cx="3373120" cy="3943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27090" y="1278890"/>
            <a:ext cx="2921635" cy="3943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RESULTS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0" y="1673860"/>
            <a:ext cx="2986405" cy="5212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Wingdings" panose="05000000000000000000" charset="0"/>
              <a:buChar char="Ø"/>
            </a:pPr>
            <a:r>
              <a:rPr lang="en-US" sz="1200"/>
              <a:t>Knee osteoarthritis is a leading cause of pain and disability in elderly ,making early detection essential for effective intervention and delaying progression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/>
              <a:t>Standard standing AP radiographs are commonly used but may miss early degenrative changes ,especially in posterior weight bearing tibiofemoral component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/>
              <a:t>Rosenberg view (PA,45* flexion) improves asssessment by plavcing knee in a functional, weight bearing position,enhancing posterior joint space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/>
              <a:t>Our aim is to compare Rosenberg and AP views to determine whether incorporating view improves early radiographic detection of OA knee</a:t>
            </a:r>
            <a:endParaRPr lang="en-US" sz="1200"/>
          </a:p>
          <a:p>
            <a:endParaRPr lang="en-US" sz="1200"/>
          </a:p>
        </p:txBody>
      </p:sp>
      <p:pic>
        <p:nvPicPr>
          <p:cNvPr id="23" name="Picture 22" descr="download"/>
          <p:cNvPicPr>
            <a:picLocks noChangeAspect="1"/>
          </p:cNvPicPr>
          <p:nvPr/>
        </p:nvPicPr>
        <p:blipFill>
          <a:blip r:embed="rId6"/>
          <a:srcRect r="13141"/>
          <a:stretch>
            <a:fillRect/>
          </a:stretch>
        </p:blipFill>
        <p:spPr>
          <a:xfrm>
            <a:off x="1386840" y="5036820"/>
            <a:ext cx="1570990" cy="1798955"/>
          </a:xfrm>
          <a:prstGeom prst="rect">
            <a:avLst/>
          </a:prstGeom>
        </p:spPr>
      </p:pic>
      <p:sp>
        <p:nvSpPr>
          <p:cNvPr id="24" name="Text Box 23"/>
          <p:cNvSpPr txBox="1"/>
          <p:nvPr/>
        </p:nvSpPr>
        <p:spPr>
          <a:xfrm>
            <a:off x="1760220" y="6390005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  <a:highlight>
                  <a:srgbClr val="FF0000"/>
                </a:highlight>
              </a:rPr>
              <a:t>rosenberg</a:t>
            </a:r>
            <a:r>
              <a:rPr lang="en-US"/>
              <a:t> </a:t>
            </a:r>
            <a:endParaRPr lang="en-US"/>
          </a:p>
        </p:txBody>
      </p:sp>
      <p:pic>
        <p:nvPicPr>
          <p:cNvPr id="26" name="Picture 25" descr="BQst6Hd-luvlLgaA70gAHg"/>
          <p:cNvPicPr>
            <a:picLocks noChangeAspect="1"/>
          </p:cNvPicPr>
          <p:nvPr/>
        </p:nvPicPr>
        <p:blipFill>
          <a:blip r:embed="rId7"/>
          <a:srcRect l="26480" t="21227" r="40493" b="14009"/>
          <a:stretch>
            <a:fillRect/>
          </a:stretch>
        </p:blipFill>
        <p:spPr>
          <a:xfrm>
            <a:off x="0" y="5037455"/>
            <a:ext cx="1356995" cy="1820545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137795" y="6390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  <a:highlight>
                  <a:srgbClr val="FF0000"/>
                </a:highlight>
              </a:rPr>
              <a:t>AP view</a:t>
            </a:r>
            <a:endParaRPr lang="en-US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2987040" y="1673225"/>
            <a:ext cx="2938145" cy="5187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Wingdings" panose="05000000000000000000" charset="0"/>
              <a:buChar char="Ø"/>
            </a:pPr>
            <a:r>
              <a:rPr lang="en-US" altLang="en-US" sz="1200"/>
              <a:t>50 patients with clinical suspicion of early knee OA underwent both standing AP and Rosenberg views.</a:t>
            </a:r>
            <a:endParaRPr lang="en-US" alt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altLang="en-US" sz="1200"/>
              <a:t> Joint space narrowing, osteophytes, and subchondral sclerosis were graded using the Kellgren-Lawrence scale.</a:t>
            </a:r>
            <a:endParaRPr lang="en-US" alt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altLang="en-US" sz="1200"/>
              <a:t>Detection rates for early osteoarthritic changes were compared between the two radiographic views.</a:t>
            </a:r>
            <a:endParaRPr lang="en-US" altLang="en-US" sz="1200"/>
          </a:p>
          <a:p>
            <a:pPr marL="171450" indent="-171450">
              <a:buFont typeface="Wingdings" panose="05000000000000000000" charset="0"/>
              <a:buChar char="ü"/>
            </a:pPr>
            <a:r>
              <a:rPr lang="en-US" altLang="en-US" sz="1200" b="1"/>
              <a:t>RADIOGRAPHIC PROTOCOL</a:t>
            </a:r>
            <a:r>
              <a:rPr lang="en-US" altLang="en-US" sz="1200"/>
              <a:t>-</a:t>
            </a:r>
            <a:r>
              <a:rPr lang="en-US" altLang="en-US" sz="1200" i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Standing AP view</a:t>
            </a:r>
            <a:r>
              <a:rPr lang="en-US" altLang="en-US" sz="1200"/>
              <a:t>-patient standing with knee fully extended 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standard expose paramteres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equal bilateral weight bearing during imaging.</a:t>
            </a:r>
            <a:endParaRPr lang="en-US" altLang="en-US" sz="1200"/>
          </a:p>
          <a:p>
            <a:pPr marL="171450" indent="-171450">
              <a:buFont typeface="Wingdings" panose="05000000000000000000" charset="0"/>
              <a:buChar char="ü"/>
            </a:pPr>
            <a:r>
              <a:rPr lang="en-US" altLang="en-US" sz="1200" i="1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a:rPr>
              <a:t>Rosenberg view</a:t>
            </a:r>
            <a:r>
              <a:rPr lang="en-US" altLang="en-US" sz="1200"/>
              <a:t>-Patient standing with knee flexed to 45* under equal weight bearing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X ray beam angled 10* caudally,identical expose parameters</a:t>
            </a:r>
            <a:endParaRPr lang="en-US" altLang="en-US" sz="1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200"/>
              <a:t> </a:t>
            </a:r>
            <a:endParaRPr lang="en-US" altLang="en-US" sz="1200"/>
          </a:p>
        </p:txBody>
      </p:sp>
      <p:sp>
        <p:nvSpPr>
          <p:cNvPr id="34" name="Text Box 33"/>
          <p:cNvSpPr txBox="1"/>
          <p:nvPr/>
        </p:nvSpPr>
        <p:spPr>
          <a:xfrm>
            <a:off x="5925185" y="1674495"/>
            <a:ext cx="2892425" cy="4471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Wingdings" panose="05000000000000000000" charset="0"/>
              <a:buChar char="Ø"/>
            </a:pPr>
            <a:r>
              <a:rPr lang="en-US" sz="1200" i="1">
                <a:solidFill>
                  <a:srgbClr val="FF0000"/>
                </a:solidFill>
              </a:rPr>
              <a:t>Joint space narrowing</a:t>
            </a:r>
            <a:r>
              <a:rPr lang="en-US" sz="1200"/>
              <a:t> -was identified in 80% cases using rosenberg view vompared to 50 % using standard AP view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 i="1">
                <a:solidFill>
                  <a:srgbClr val="FF0000"/>
                </a:solidFill>
              </a:rPr>
              <a:t>Osteophytes</a:t>
            </a:r>
            <a:r>
              <a:rPr lang="en-US" sz="1200"/>
              <a:t> were detected in 65% of rosenberg view versus 40% on Standard AP view,indicating improved visualization of marginal changes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 i="1">
                <a:solidFill>
                  <a:srgbClr val="FF0000"/>
                </a:solidFill>
              </a:rPr>
              <a:t>Subchondral sclerosis</a:t>
            </a:r>
            <a:r>
              <a:rPr lang="en-US" sz="1200"/>
              <a:t> was noted in 50% of Rosenberg view, nearly doublr 28% detected on AP view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/>
              <a:t>Rosenberg view identified</a:t>
            </a:r>
            <a:r>
              <a:rPr lang="en-US" sz="1200" i="1">
                <a:solidFill>
                  <a:srgbClr val="FF0000"/>
                </a:solidFill>
              </a:rPr>
              <a:t> Kellgren Lawerence grade &gt;1 </a:t>
            </a:r>
            <a:r>
              <a:rPr lang="en-US" sz="1200"/>
              <a:t>changes in 60% of knees,whereas AP view detected changes in only in 35%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200"/>
              <a:t>Overall ,Rosenberg view consistently revealed more subtle degenrative features than AP view </a:t>
            </a: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endParaRPr lang="en-US" sz="1200"/>
          </a:p>
          <a:p>
            <a:pPr marL="171450" indent="-171450">
              <a:buFont typeface="Wingdings" panose="05000000000000000000" charset="0"/>
              <a:buChar char="Ø"/>
            </a:pPr>
            <a:endParaRPr lang="en-US" sz="1200"/>
          </a:p>
        </p:txBody>
      </p:sp>
      <p:graphicFrame>
        <p:nvGraphicFramePr>
          <p:cNvPr id="35" name="Chart 34"/>
          <p:cNvGraphicFramePr/>
          <p:nvPr/>
        </p:nvGraphicFramePr>
        <p:xfrm>
          <a:off x="2600960" y="5259070"/>
          <a:ext cx="4594225" cy="2128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37" name="Picture 36" descr="WhatsApp Image 2026-01-31 at 00.44.43"/>
          <p:cNvPicPr>
            <a:picLocks noChangeAspect="1"/>
          </p:cNvPicPr>
          <p:nvPr/>
        </p:nvPicPr>
        <p:blipFill>
          <a:blip r:embed="rId8"/>
          <a:srcRect l="15012" t="24519" r="18864" b="53611"/>
          <a:stretch>
            <a:fillRect/>
          </a:stretch>
        </p:blipFill>
        <p:spPr>
          <a:xfrm>
            <a:off x="5925820" y="5036820"/>
            <a:ext cx="2927985" cy="1835150"/>
          </a:xfrm>
          <a:prstGeom prst="rect">
            <a:avLst/>
          </a:prstGeom>
        </p:spPr>
      </p:pic>
      <p:sp>
        <p:nvSpPr>
          <p:cNvPr id="38" name="Text Box 37"/>
          <p:cNvSpPr txBox="1"/>
          <p:nvPr/>
        </p:nvSpPr>
        <p:spPr>
          <a:xfrm>
            <a:off x="6278245" y="5037455"/>
            <a:ext cx="2358390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  <a:highlight>
                  <a:srgbClr val="FF0000"/>
                </a:highlight>
              </a:rPr>
              <a:t>Standard AP view</a:t>
            </a:r>
            <a:endParaRPr lang="en-US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pic>
        <p:nvPicPr>
          <p:cNvPr id="39" name="Picture 38" descr="WhatsApp Image 2026-01-31 at 00.44.43"/>
          <p:cNvPicPr>
            <a:picLocks noChangeAspect="1"/>
          </p:cNvPicPr>
          <p:nvPr/>
        </p:nvPicPr>
        <p:blipFill>
          <a:blip r:embed="rId8"/>
          <a:srcRect l="15726" t="47185" r="54370" b="32861"/>
          <a:stretch>
            <a:fillRect/>
          </a:stretch>
        </p:blipFill>
        <p:spPr>
          <a:xfrm>
            <a:off x="8843645" y="5036820"/>
            <a:ext cx="1393190" cy="1824355"/>
          </a:xfrm>
          <a:prstGeom prst="rect">
            <a:avLst/>
          </a:prstGeom>
        </p:spPr>
      </p:pic>
      <p:sp>
        <p:nvSpPr>
          <p:cNvPr id="40" name="Text Box 39"/>
          <p:cNvSpPr txBox="1"/>
          <p:nvPr/>
        </p:nvSpPr>
        <p:spPr>
          <a:xfrm>
            <a:off x="8855710" y="5037455"/>
            <a:ext cx="1393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  <a:highlight>
                  <a:srgbClr val="FF0000"/>
                </a:highlight>
              </a:rPr>
              <a:t>Rosenberg</a:t>
            </a:r>
            <a:endParaRPr lang="en-US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8863965" y="1673225"/>
            <a:ext cx="3319780" cy="165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Wingdings" panose="05000000000000000000" charset="0"/>
              <a:buChar char="v"/>
            </a:pPr>
            <a:r>
              <a:rPr lang="en-US" altLang="en-US" sz="1200"/>
              <a:t>Rosenberg view is superior to standing AP radiographs for early detection of knee OA and should be included routinely in initial assessment to guide timely management.</a:t>
            </a:r>
            <a:endParaRPr lang="en-US" altLang="en-US" sz="1200"/>
          </a:p>
          <a:p>
            <a:pPr marL="171450" indent="-171450">
              <a:buFont typeface="Wingdings" panose="05000000000000000000" charset="0"/>
              <a:buChar char="v"/>
            </a:pPr>
            <a:r>
              <a:rPr lang="en-US" altLang="en-US" sz="1200"/>
              <a:t>subtle joint space narrowing,early osteophytes,subchondral changes are more consistently identified on rosenberg view</a:t>
            </a:r>
            <a:endParaRPr lang="en-US" altLang="en-US" sz="1200"/>
          </a:p>
        </p:txBody>
      </p:sp>
      <p:sp>
        <p:nvSpPr>
          <p:cNvPr id="43" name="Rectangle 11"/>
          <p:cNvSpPr/>
          <p:nvPr/>
        </p:nvSpPr>
        <p:spPr>
          <a:xfrm>
            <a:off x="8862695" y="3158490"/>
            <a:ext cx="3333115" cy="3943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RECOMMENDATIONS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8864600" y="3713480"/>
            <a:ext cx="3348355" cy="1310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sz="1200"/>
              <a:t>Incorporation of Rosenberg view in routine practice in clinical suspicion of OA knee</a:t>
            </a:r>
            <a:endParaRPr lang="en-US" sz="1200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sz="1200"/>
              <a:t>Standardized radiological parameters to be followed </a:t>
            </a:r>
            <a:endParaRPr lang="en-US" sz="1200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sz="1200"/>
              <a:t>Avoid Rosenberg view in recent trauma,knee instability patients</a:t>
            </a:r>
            <a:endParaRPr lang="en-US" sz="1200"/>
          </a:p>
          <a:p>
            <a:pPr marL="285750" indent="-285750">
              <a:buFont typeface="Wingdings" panose="05000000000000000000" charset="0"/>
              <a:buChar char="ü"/>
            </a:pPr>
            <a:endParaRPr lang="en-US" sz="1200"/>
          </a:p>
        </p:txBody>
      </p:sp>
      <p:sp>
        <p:nvSpPr>
          <p:cNvPr id="45" name="Rectangle 11"/>
          <p:cNvSpPr/>
          <p:nvPr/>
        </p:nvSpPr>
        <p:spPr>
          <a:xfrm>
            <a:off x="10236835" y="5036820"/>
            <a:ext cx="1954530" cy="3943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ACKNOWLEDGEMENT</a:t>
            </a:r>
            <a:endParaRPr lang="en-US" sz="13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10262870" y="5431155"/>
            <a:ext cx="1920875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1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 sincerely thank  </a:t>
            </a:r>
            <a:endParaRPr lang="en-US" sz="11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US" sz="11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Dr. V. Nageswara Rao-HOD</a:t>
            </a:r>
            <a:r>
              <a:rPr lang="en-US" sz="11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along with the faculty of Orthopaedics and the Department of Radiology, GSL Medical College &amp; General Hospital, for their guidance and support</a:t>
            </a:r>
            <a:endParaRPr lang="en-US" sz="110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2595" y="675640"/>
            <a:ext cx="629920" cy="626110"/>
          </a:xfrm>
          <a:prstGeom prst="rect">
            <a:avLst/>
          </a:prstGeom>
        </p:spPr>
      </p:pic>
      <p:sp>
        <p:nvSpPr>
          <p:cNvPr id="58" name="Text Box 57"/>
          <p:cNvSpPr txBox="1"/>
          <p:nvPr/>
        </p:nvSpPr>
        <p:spPr>
          <a:xfrm>
            <a:off x="6719570" y="890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OSSAP ID - 393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2768</Words>
  <Application>WPS Presentation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SimSun</vt:lpstr>
      <vt:lpstr>Wingdings</vt:lpstr>
      <vt:lpstr>Gordita</vt:lpstr>
      <vt:lpstr>Segoe Print</vt:lpstr>
      <vt:lpstr>Gordita </vt:lpstr>
      <vt:lpstr>Arial Black</vt:lpstr>
      <vt:lpstr>Wingdings</vt:lpstr>
      <vt:lpstr>Arial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ram koushik</cp:lastModifiedBy>
  <cp:revision>6</cp:revision>
  <dcterms:created xsi:type="dcterms:W3CDTF">2026-01-11T06:24:00Z</dcterms:created>
  <dcterms:modified xsi:type="dcterms:W3CDTF">2026-01-30T19:57:07Z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DD40CC81A3544E6FA6DF80525D52F038_12</vt:lpwstr>
  </property>
  <property fmtid="{D5CDD505-2E9C-101B-9397-08002B2CF9AE}" pid="3" name="KSOProductBuildVer">
    <vt:lpwstr>1033-12.2.0.23196</vt:lpwstr>
  </property>
</Properties>
</file>