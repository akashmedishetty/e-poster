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package/2006/relationships/metadata/core-properties" Target="/docProps/core.xml" Id="rId3" /><Relationship Type="http://schemas.openxmlformats.org/package/2006/relationships/metadata/thumbnail" Target="/docProps/thumbnail.jpeg" Id="rId2" /><Relationship Type="http://schemas.openxmlformats.org/officeDocument/2006/relationships/officeDocument" Target="/ppt/presentation.xml" Id="rId1" /><Relationship Type="http://schemas.openxmlformats.org/officeDocument/2006/relationships/extended-properties" Target="/docProps/app.xml" Id="rId4"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90" d="100"/>
          <a:sy n="90" d="100"/>
        </p:scale>
        <p:origin x="58" y="-34"/>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Id3" /><Relationship Type="http://schemas.openxmlformats.org/officeDocument/2006/relationships/tableStyles" Target="/ppt/tableStyles.xml" Id="rId7" /><Relationship Type="http://schemas.openxmlformats.org/officeDocument/2006/relationships/slide" Target="/ppt/slides/slide1.xml" Id="rId2" /><Relationship Type="http://schemas.openxmlformats.org/officeDocument/2006/relationships/slideMaster" Target="/ppt/slideMasters/slideMaster1.xml" Id="rId1" /><Relationship Type="http://schemas.openxmlformats.org/officeDocument/2006/relationships/theme" Target="/ppt/theme/theme1.xml" Id="rId6" /><Relationship Type="http://schemas.openxmlformats.org/officeDocument/2006/relationships/viewProps" Target="/ppt/viewProps.xml" Id="rId5" /><Relationship Type="http://schemas.openxmlformats.org/officeDocument/2006/relationships/presProps" Target="/ppt/presProps.xml" Id="rId4" /></Relationships>
</file>

<file path=ppt/notesMasters/_rels/notesMaster1.xml.rels>&#65279;<?xml version="1.0" encoding="utf-8"?><Relationships xmlns="http://schemas.openxmlformats.org/package/2006/relationships"><Relationship Type="http://schemas.openxmlformats.org/officeDocument/2006/relationships/theme" Target="/ppt/theme/theme2.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A969EE-A943-495A-A7A8-9E6EC98F963F}" type="datetimeFigureOut">
              <a:rPr lang="en-IN" smtClean="0"/>
              <a:t>28-01-2026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FF91C7-7BCF-4E8E-9559-6341D938472B}" type="slidenum">
              <a:rPr lang="en-IN" smtClean="0"/>
              <a:t>‹#›</a:t>
            </a:fld>
            <a:endParaRPr lang="en-IN"/>
          </a:p>
        </p:txBody>
      </p:sp>
    </p:spTree>
    <p:extLst>
      <p:ext uri="{BB962C8B-B14F-4D97-AF65-F5344CB8AC3E}">
        <p14:creationId xmlns:p14="http://schemas.microsoft.com/office/powerpoint/2010/main" val="3528472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Relationships xmlns="http://schemas.openxmlformats.org/package/2006/relationships"><Relationship Type="http://schemas.openxmlformats.org/officeDocument/2006/relationships/slide" Target="/ppt/slides/slide1.xml" Id="rId2" /><Relationship Type="http://schemas.openxmlformats.org/officeDocument/2006/relationships/notesMaster" Target="/ppt/notesMasters/notesMaster1.xml" Id="rId1"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AFF91C7-7BCF-4E8E-9559-6341D938472B}" type="slidenum">
              <a:rPr lang="en-IN" smtClean="0"/>
              <a:t>1</a:t>
            </a:fld>
            <a:endParaRPr lang="en-IN"/>
          </a:p>
        </p:txBody>
      </p:sp>
    </p:spTree>
    <p:extLst>
      <p:ext uri="{BB962C8B-B14F-4D97-AF65-F5344CB8AC3E}">
        <p14:creationId xmlns:p14="http://schemas.microsoft.com/office/powerpoint/2010/main" val="3309552249"/>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image" Target="/ppt/media/image1.png" Id="rId13" /><Relationship Type="http://schemas.openxmlformats.org/officeDocument/2006/relationships/theme" Target="/ppt/theme/theme1.xml" Id="rId12" /><Relationship Type="http://schemas.openxmlformats.org/officeDocument/2006/relationships/image" Target="/ppt/media/image4.png" Id="rId16" /><Relationship Type="http://schemas.openxmlformats.org/officeDocument/2006/relationships/slideLayout" Target="/ppt/slideLayouts/slideLayout1.xml" Id="rId1" /><Relationship Type="http://schemas.openxmlformats.org/officeDocument/2006/relationships/image" Target="/ppt/media/image3.png" Id="rId15" /><Relationship Type="http://schemas.openxmlformats.org/officeDocument/2006/relationships/image" Target="/ppt/media/image2.png" Id="rId14" /></Relationships>
</file>

<file path=ppt/slideMasters/slideMaster1.xml><?xml version="1.0" encoding="utf-8"?>
<p:sldMaster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ppt/media/image9.png" Id="rId8" /><Relationship Type="http://schemas.openxmlformats.org/officeDocument/2006/relationships/image" Target="/ppt/media/image4.png" Id="rId3" /><Relationship Type="http://schemas.openxmlformats.org/officeDocument/2006/relationships/image" Target="/ppt/media/image8.jpeg" Id="rId7" /><Relationship Type="http://schemas.openxmlformats.org/officeDocument/2006/relationships/notesSlide" Target="/ppt/notesSlides/notesSlide1.xml" Id="rId2" /><Relationship Type="http://schemas.openxmlformats.org/officeDocument/2006/relationships/slideLayout" Target="/ppt/slideLayouts/slideLayout1.xml" Id="rId1" /><Relationship Type="http://schemas.openxmlformats.org/officeDocument/2006/relationships/image" Target="/ppt/media/image7.jpg" Id="rId6" /><Relationship Type="http://schemas.openxmlformats.org/officeDocument/2006/relationships/image" Target="/ppt/media/image12.png" Id="rId11" /><Relationship Type="http://schemas.openxmlformats.org/officeDocument/2006/relationships/image" Target="/ppt/media/image6.jpg" Id="rId5" /><Relationship Type="http://schemas.openxmlformats.org/officeDocument/2006/relationships/image" Target="/ppt/media/image11.png" Id="rId10" /><Relationship Type="http://schemas.openxmlformats.org/officeDocument/2006/relationships/image" Target="/ppt/media/image5.png" Id="rId4" /><Relationship Type="http://schemas.openxmlformats.org/officeDocument/2006/relationships/image" Target="/ppt/media/image10.png" Id="rId9"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reeform 13">
            <a:extLst>
              <a:ext uri="{FF2B5EF4-FFF2-40B4-BE49-F238E27FC236}">
                <a16:creationId xmlns:a16="http://schemas.microsoft.com/office/drawing/2014/main" id="{0F401C6F-33A3-A415-AD1A-709059E901BF}"/>
              </a:ext>
            </a:extLst>
          </p:cNvPr>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3"/>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0" y="1674796"/>
            <a:ext cx="3108960"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EC094F03-F93B-9B6D-7C11-87F9C75E6ABB}"/>
              </a:ext>
            </a:extLst>
          </p:cNvPr>
          <p:cNvSpPr/>
          <p:nvPr/>
        </p:nvSpPr>
        <p:spPr>
          <a:xfrm>
            <a:off x="0" y="5080536"/>
            <a:ext cx="3108960" cy="17774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137836" y="1280157"/>
            <a:ext cx="3185962"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6352674" y="1477475"/>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0" y="1273030"/>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6352674" y="1250963"/>
            <a:ext cx="5839324" cy="423832"/>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28875" y="488321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6352669" y="4488580"/>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2" name="TextBox 1">
            <a:extLst>
              <a:ext uri="{FF2B5EF4-FFF2-40B4-BE49-F238E27FC236}">
                <a16:creationId xmlns:a16="http://schemas.microsoft.com/office/drawing/2014/main" id="{820A180B-958D-07E9-0B40-7E979A14C696}"/>
              </a:ext>
            </a:extLst>
          </p:cNvPr>
          <p:cNvSpPr txBox="1"/>
          <p:nvPr/>
        </p:nvSpPr>
        <p:spPr>
          <a:xfrm>
            <a:off x="1278167" y="14254"/>
            <a:ext cx="9143875" cy="1292662"/>
          </a:xfrm>
          <a:prstGeom prst="rect">
            <a:avLst/>
          </a:prstGeom>
          <a:noFill/>
        </p:spPr>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Olecranon osteotomy Facilitated Elbow Release(OFER)</a:t>
            </a:r>
            <a:endParaRPr lang="en-US" sz="2400" b="1" dirty="0">
              <a:ln w="0"/>
              <a:solidFill>
                <a:schemeClr val="bg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a:p>
            <a:pPr algn="ctr"/>
            <a:r>
              <a:rPr lang="en-US" b="0" cap="none" spc="0" dirty="0">
                <a:ln w="0"/>
                <a:solidFill>
                  <a:schemeClr val="bg1"/>
                </a:solidFill>
                <a:effectLst>
                  <a:outerShdw blurRad="38100" dist="19050" dir="2700000" algn="tl" rotWithShape="0">
                    <a:schemeClr val="dk1">
                      <a:alpha val="40000"/>
                    </a:schemeClr>
                  </a:outerShdw>
                </a:effectLst>
              </a:rPr>
              <a:t>AUTHOR: Dr. Dachepally Vinil</a:t>
            </a:r>
          </a:p>
          <a:p>
            <a:pPr algn="ctr"/>
            <a:r>
              <a:rPr lang="en-US" dirty="0">
                <a:ln w="0"/>
                <a:solidFill>
                  <a:schemeClr val="bg1"/>
                </a:solidFill>
                <a:effectLst>
                  <a:outerShdw blurRad="38100" dist="19050" dir="2700000" algn="tl" rotWithShape="0">
                    <a:schemeClr val="dk1">
                      <a:alpha val="40000"/>
                    </a:schemeClr>
                  </a:outerShdw>
                </a:effectLst>
              </a:rPr>
              <a:t>CO-AUTHOR: Dr. Karanam Vamsi  (Assistant Professor)</a:t>
            </a:r>
          </a:p>
          <a:p>
            <a:pPr algn="ctr"/>
            <a:r>
              <a:rPr lang="en-US" dirty="0">
                <a:ln w="0"/>
                <a:solidFill>
                  <a:schemeClr val="bg1"/>
                </a:solidFill>
                <a:effectLst>
                  <a:outerShdw blurRad="38100" dist="19050" dir="2700000" algn="tl" rotWithShape="0">
                    <a:schemeClr val="dk1">
                      <a:alpha val="40000"/>
                    </a:schemeClr>
                  </a:outerShdw>
                </a:effectLst>
              </a:rPr>
              <a:t>Department Of Orthopedics, GIMSR</a:t>
            </a:r>
          </a:p>
        </p:txBody>
      </p:sp>
      <p:pic>
        <p:nvPicPr>
          <p:cNvPr id="3" name="Picture 2">
            <a:extLst>
              <a:ext uri="{FF2B5EF4-FFF2-40B4-BE49-F238E27FC236}">
                <a16:creationId xmlns:a16="http://schemas.microsoft.com/office/drawing/2014/main" id="{F76A16EE-EC5B-F9C3-E68E-A8CC5F049959}"/>
              </a:ext>
            </a:extLst>
          </p:cNvPr>
          <p:cNvPicPr>
            <a:picLocks noChangeAspect="1"/>
          </p:cNvPicPr>
          <p:nvPr/>
        </p:nvPicPr>
        <p:blipFill>
          <a:blip r:embed="rId4"/>
          <a:stretch>
            <a:fillRect/>
          </a:stretch>
        </p:blipFill>
        <p:spPr>
          <a:xfrm>
            <a:off x="10219566" y="118533"/>
            <a:ext cx="1607643" cy="961871"/>
          </a:xfrm>
          <a:prstGeom prst="rect">
            <a:avLst/>
          </a:prstGeom>
        </p:spPr>
      </p:pic>
      <p:sp>
        <p:nvSpPr>
          <p:cNvPr id="21" name="TextBox 20">
            <a:extLst>
              <a:ext uri="{FF2B5EF4-FFF2-40B4-BE49-F238E27FC236}">
                <a16:creationId xmlns:a16="http://schemas.microsoft.com/office/drawing/2014/main" id="{F876FA07-4B43-14A0-2AED-B752805D8047}"/>
              </a:ext>
            </a:extLst>
          </p:cNvPr>
          <p:cNvSpPr txBox="1"/>
          <p:nvPr/>
        </p:nvSpPr>
        <p:spPr>
          <a:xfrm>
            <a:off x="43941" y="1691459"/>
            <a:ext cx="3065020" cy="3231654"/>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Post-traumatic elbow contracture is a challenging condition that significantly limits function and quality of life. Although both open and arthroscopic release techniques are available, each has limitations related to soft-tissue morbidity, technical difficulty, and restricted indications. </a:t>
            </a:r>
          </a:p>
          <a:p>
            <a:r>
              <a:rPr lang="en-US" sz="1200" b="1" dirty="0">
                <a:latin typeface="Arial" panose="020B0604020202020204" pitchFamily="34" charset="0"/>
                <a:cs typeface="Arial" panose="020B0604020202020204" pitchFamily="34" charset="0"/>
              </a:rPr>
              <a:t>Olecranon Osteotomy Facilitated Elbow Release (OFER)</a:t>
            </a:r>
            <a:r>
              <a:rPr lang="en-US" sz="1200" dirty="0">
                <a:latin typeface="Arial" panose="020B0604020202020204" pitchFamily="34" charset="0"/>
                <a:cs typeface="Arial" panose="020B0604020202020204" pitchFamily="34" charset="0"/>
              </a:rPr>
              <a:t> provides excellent circumferential exposure of the elbow joint, allowing effective release of both intrinsic and extrinsic contractures with controlled soft-tissue handling. This poster highlights the surgical technique and functional outcome of OFER in a long-standing post-traumatic elbow stiffness.</a:t>
            </a:r>
            <a:endParaRPr lang="en-IN" sz="1200" dirty="0">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BBAD9ED1-970E-8961-833A-0C67E5EF66C8}"/>
              </a:ext>
            </a:extLst>
          </p:cNvPr>
          <p:cNvSpPr txBox="1"/>
          <p:nvPr/>
        </p:nvSpPr>
        <p:spPr>
          <a:xfrm>
            <a:off x="0" y="5295468"/>
            <a:ext cx="3137835" cy="1569660"/>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A 14-year-old male with post-traumatic elbow stiffness of 5-year duration presented with a severely restricted motion arc of </a:t>
            </a:r>
            <a:r>
              <a:rPr lang="en-US" sz="1200" b="1" dirty="0">
                <a:latin typeface="Arial" panose="020B0604020202020204" pitchFamily="34" charset="0"/>
                <a:cs typeface="Arial" panose="020B0604020202020204" pitchFamily="34" charset="0"/>
              </a:rPr>
              <a:t>15°</a:t>
            </a:r>
            <a:r>
              <a:rPr lang="en-US" sz="1200" dirty="0">
                <a:latin typeface="Arial" panose="020B0604020202020204" pitchFamily="34" charset="0"/>
                <a:cs typeface="Arial" panose="020B0604020202020204" pitchFamily="34" charset="0"/>
              </a:rPr>
              <a:t> despite failed conservative treatment. He underwent </a:t>
            </a:r>
            <a:r>
              <a:rPr lang="en-US" sz="1200" b="1" dirty="0">
                <a:latin typeface="Arial" panose="020B0604020202020204" pitchFamily="34" charset="0"/>
                <a:cs typeface="Arial" panose="020B0604020202020204" pitchFamily="34" charset="0"/>
              </a:rPr>
              <a:t>OFER</a:t>
            </a:r>
            <a:r>
              <a:rPr lang="en-US" sz="1200" dirty="0">
                <a:latin typeface="Arial" panose="020B0604020202020204" pitchFamily="34" charset="0"/>
                <a:cs typeface="Arial" panose="020B0604020202020204" pitchFamily="34" charset="0"/>
              </a:rPr>
              <a:t>, resulting in improvement of the flexion–extension arc to </a:t>
            </a:r>
            <a:r>
              <a:rPr lang="en-US" sz="1200" b="1" dirty="0">
                <a:latin typeface="Arial" panose="020B0604020202020204" pitchFamily="34" charset="0"/>
                <a:cs typeface="Arial" panose="020B0604020202020204" pitchFamily="34" charset="0"/>
              </a:rPr>
              <a:t>100°</a:t>
            </a:r>
            <a:r>
              <a:rPr lang="en-US" sz="1200" dirty="0">
                <a:latin typeface="Arial" panose="020B0604020202020204" pitchFamily="34" charset="0"/>
                <a:cs typeface="Arial" panose="020B0604020202020204" pitchFamily="34" charset="0"/>
              </a:rPr>
              <a:t> at 6 months, with significant functional and pain score improvement and no complications.</a:t>
            </a:r>
            <a:endParaRPr lang="en-IN" sz="1200" dirty="0">
              <a:latin typeface="Arial" panose="020B0604020202020204" pitchFamily="34" charset="0"/>
              <a:cs typeface="Arial" panose="020B0604020202020204" pitchFamily="34" charset="0"/>
            </a:endParaRPr>
          </a:p>
        </p:txBody>
      </p:sp>
      <p:pic>
        <p:nvPicPr>
          <p:cNvPr id="31" name="Picture 30">
            <a:extLst>
              <a:ext uri="{FF2B5EF4-FFF2-40B4-BE49-F238E27FC236}">
                <a16:creationId xmlns:a16="http://schemas.microsoft.com/office/drawing/2014/main" id="{1D4A606F-C9E6-3880-8686-BB33AB476B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66710" y="5511748"/>
            <a:ext cx="1531063" cy="1330356"/>
          </a:xfrm>
          <a:prstGeom prst="rect">
            <a:avLst/>
          </a:prstGeom>
        </p:spPr>
      </p:pic>
      <p:pic>
        <p:nvPicPr>
          <p:cNvPr id="33" name="Picture 32">
            <a:extLst>
              <a:ext uri="{FF2B5EF4-FFF2-40B4-BE49-F238E27FC236}">
                <a16:creationId xmlns:a16="http://schemas.microsoft.com/office/drawing/2014/main" id="{74B48951-9FE8-C3BE-1226-28721A3F10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98136" y="5495851"/>
            <a:ext cx="1425299" cy="1330356"/>
          </a:xfrm>
          <a:prstGeom prst="rect">
            <a:avLst/>
          </a:prstGeom>
        </p:spPr>
      </p:pic>
      <p:sp>
        <p:nvSpPr>
          <p:cNvPr id="35" name="TextBox 34">
            <a:extLst>
              <a:ext uri="{FF2B5EF4-FFF2-40B4-BE49-F238E27FC236}">
                <a16:creationId xmlns:a16="http://schemas.microsoft.com/office/drawing/2014/main" id="{16F1A464-07AF-F3CA-D58F-31B87AA8D3A9}"/>
              </a:ext>
            </a:extLst>
          </p:cNvPr>
          <p:cNvSpPr txBox="1"/>
          <p:nvPr/>
        </p:nvSpPr>
        <p:spPr>
          <a:xfrm>
            <a:off x="3137834" y="1710199"/>
            <a:ext cx="3185962" cy="3785652"/>
          </a:xfrm>
          <a:prstGeom prst="rect">
            <a:avLst/>
          </a:prstGeom>
          <a:noFill/>
        </p:spPr>
        <p:txBody>
          <a:bodyPr wrap="square">
            <a:spAutoFit/>
          </a:bodyPr>
          <a:lstStyle/>
          <a:p>
            <a:r>
              <a:rPr lang="en-US" sz="1200" dirty="0"/>
              <a:t>Intraoperatively, there was marked thickening and fibrosis of both the anterior and posterior elbow capsule with dense post-traumatic adhesions severely restricting joint motion. Heterotopic ossification was noted, contributing to the extrinsic component of the contracture, along with a tight medial collateral ligament limiting elbow extension. Following olecranon osteotomy, excellent  exposure of the elbow joint was achieved, allowing complete visualization of both anterior and posterior compartments. This facilitated thorough capsular release and excision of heterotopic bone with minimal soft-tissue dissection. The articular surfaces were well preserved with no significant cartilage degeneration, and a significant improvement in elbow range of motion was noted intraoperatively after completion of the release.</a:t>
            </a:r>
            <a:endParaRPr lang="en-IN" sz="1200" dirty="0">
              <a:latin typeface="Arial" panose="020B0604020202020204" pitchFamily="34" charset="0"/>
              <a:cs typeface="Arial" panose="020B0604020202020204" pitchFamily="34" charset="0"/>
            </a:endParaRPr>
          </a:p>
        </p:txBody>
      </p:sp>
      <p:pic>
        <p:nvPicPr>
          <p:cNvPr id="36" name="Picture 35">
            <a:extLst>
              <a:ext uri="{FF2B5EF4-FFF2-40B4-BE49-F238E27FC236}">
                <a16:creationId xmlns:a16="http://schemas.microsoft.com/office/drawing/2014/main" id="{948252E4-344B-EE03-5DC2-76F0D58605E5}"/>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2121" t="31818" r="30303" b="22728"/>
          <a:stretch/>
        </p:blipFill>
        <p:spPr>
          <a:xfrm>
            <a:off x="12776200" y="31436733"/>
            <a:ext cx="3517232" cy="1566906"/>
          </a:xfrm>
          <a:prstGeom prst="rect">
            <a:avLst/>
          </a:prstGeom>
        </p:spPr>
      </p:pic>
      <p:pic>
        <p:nvPicPr>
          <p:cNvPr id="37" name="Picture 36">
            <a:extLst>
              <a:ext uri="{FF2B5EF4-FFF2-40B4-BE49-F238E27FC236}">
                <a16:creationId xmlns:a16="http://schemas.microsoft.com/office/drawing/2014/main" id="{485CB303-02B0-3A75-67B3-C9D759F2CAD5}"/>
              </a:ext>
            </a:extLst>
          </p:cNvPr>
          <p:cNvPicPr>
            <a:picLocks noChangeAspect="1"/>
          </p:cNvPicPr>
          <p:nvPr/>
        </p:nvPicPr>
        <p:blipFill>
          <a:blip r:embed="rId8"/>
          <a:stretch>
            <a:fillRect/>
          </a:stretch>
        </p:blipFill>
        <p:spPr>
          <a:xfrm>
            <a:off x="10219565" y="1686806"/>
            <a:ext cx="1928493" cy="1224697"/>
          </a:xfrm>
          <a:prstGeom prst="rect">
            <a:avLst/>
          </a:prstGeom>
        </p:spPr>
      </p:pic>
      <p:pic>
        <p:nvPicPr>
          <p:cNvPr id="38" name="Picture 37">
            <a:extLst>
              <a:ext uri="{FF2B5EF4-FFF2-40B4-BE49-F238E27FC236}">
                <a16:creationId xmlns:a16="http://schemas.microsoft.com/office/drawing/2014/main" id="{FF0036BB-9E0F-639E-517E-AD6E16EA35B6}"/>
              </a:ext>
            </a:extLst>
          </p:cNvPr>
          <p:cNvPicPr>
            <a:picLocks noChangeAspect="1"/>
          </p:cNvPicPr>
          <p:nvPr/>
        </p:nvPicPr>
        <p:blipFill>
          <a:blip r:embed="rId9"/>
          <a:stretch>
            <a:fillRect/>
          </a:stretch>
        </p:blipFill>
        <p:spPr>
          <a:xfrm>
            <a:off x="10219565" y="2922226"/>
            <a:ext cx="1964900" cy="1435689"/>
          </a:xfrm>
          <a:prstGeom prst="rect">
            <a:avLst/>
          </a:prstGeom>
        </p:spPr>
      </p:pic>
      <p:sp>
        <p:nvSpPr>
          <p:cNvPr id="39" name="TextBox 38">
            <a:extLst>
              <a:ext uri="{FF2B5EF4-FFF2-40B4-BE49-F238E27FC236}">
                <a16:creationId xmlns:a16="http://schemas.microsoft.com/office/drawing/2014/main" id="{EEE72F66-0873-AE39-5E8A-5F5581862CF2}"/>
              </a:ext>
            </a:extLst>
          </p:cNvPr>
          <p:cNvSpPr txBox="1"/>
          <p:nvPr/>
        </p:nvSpPr>
        <p:spPr>
          <a:xfrm>
            <a:off x="6369692" y="1722640"/>
            <a:ext cx="3849874" cy="2677656"/>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Post-traumatic elbow contracture remains a difficult condition to manage, In long-standing cases with extrinsic pathology such as heterotopic ossification. While arthroscopic release offers minimal soft-tissue disruption and limited utility in complex contractures. Open release techniques provide wider exposure but may be associated with increased morbidity.</a:t>
            </a:r>
            <a:endParaRPr lang="en-US" sz="1200" b="1"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OFER offers excellent circumferential exposure of the elbow joint, enabling effective release of both intrinsic and extrinsic components. In our case, OFER resulted in a substantial and sustained improvement in range of motion and functional outcome. This supports OFER as a safe and reliable alternative in severe post-traumatic elbow stiffness.</a:t>
            </a:r>
            <a:endParaRPr lang="en-IN" sz="1200" dirty="0">
              <a:latin typeface="Arial" panose="020B0604020202020204" pitchFamily="34" charset="0"/>
              <a:cs typeface="Arial" panose="020B0604020202020204" pitchFamily="34" charset="0"/>
            </a:endParaRPr>
          </a:p>
        </p:txBody>
      </p:sp>
      <p:pic>
        <p:nvPicPr>
          <p:cNvPr id="41" name="Picture 40">
            <a:extLst>
              <a:ext uri="{FF2B5EF4-FFF2-40B4-BE49-F238E27FC236}">
                <a16:creationId xmlns:a16="http://schemas.microsoft.com/office/drawing/2014/main" id="{F6B5E242-A5D8-1A48-4F49-62A9EB790E9A}"/>
              </a:ext>
            </a:extLst>
          </p:cNvPr>
          <p:cNvPicPr>
            <a:picLocks noChangeAspect="1"/>
          </p:cNvPicPr>
          <p:nvPr/>
        </p:nvPicPr>
        <p:blipFill>
          <a:blip r:embed="rId10"/>
          <a:stretch>
            <a:fillRect/>
          </a:stretch>
        </p:blipFill>
        <p:spPr>
          <a:xfrm>
            <a:off x="9600275" y="4947399"/>
            <a:ext cx="1267739" cy="1792068"/>
          </a:xfrm>
          <a:prstGeom prst="rect">
            <a:avLst/>
          </a:prstGeom>
        </p:spPr>
      </p:pic>
      <p:pic>
        <p:nvPicPr>
          <p:cNvPr id="42" name="Picture 41">
            <a:extLst>
              <a:ext uri="{FF2B5EF4-FFF2-40B4-BE49-F238E27FC236}">
                <a16:creationId xmlns:a16="http://schemas.microsoft.com/office/drawing/2014/main" id="{1CD8CE6C-04BA-1E43-A49B-264150B7D106}"/>
              </a:ext>
            </a:extLst>
          </p:cNvPr>
          <p:cNvPicPr>
            <a:picLocks noChangeAspect="1"/>
          </p:cNvPicPr>
          <p:nvPr/>
        </p:nvPicPr>
        <p:blipFill>
          <a:blip r:embed="rId11"/>
          <a:stretch>
            <a:fillRect/>
          </a:stretch>
        </p:blipFill>
        <p:spPr>
          <a:xfrm>
            <a:off x="10868014" y="4947399"/>
            <a:ext cx="1198493" cy="1792068"/>
          </a:xfrm>
          <a:prstGeom prst="rect">
            <a:avLst/>
          </a:prstGeom>
        </p:spPr>
      </p:pic>
      <p:sp>
        <p:nvSpPr>
          <p:cNvPr id="44" name="TextBox 43">
            <a:extLst>
              <a:ext uri="{FF2B5EF4-FFF2-40B4-BE49-F238E27FC236}">
                <a16:creationId xmlns:a16="http://schemas.microsoft.com/office/drawing/2014/main" id="{02B35246-F89F-266A-F423-C74A5523E6B8}"/>
              </a:ext>
            </a:extLst>
          </p:cNvPr>
          <p:cNvSpPr txBox="1"/>
          <p:nvPr/>
        </p:nvSpPr>
        <p:spPr>
          <a:xfrm>
            <a:off x="3837026" y="15972135"/>
            <a:ext cx="18453099" cy="461665"/>
          </a:xfrm>
          <a:prstGeom prst="rect">
            <a:avLst/>
          </a:prstGeom>
          <a:noFill/>
        </p:spPr>
        <p:txBody>
          <a:bodyPr wrap="square">
            <a:spAutoFit/>
          </a:bodyPr>
          <a:lstStyle/>
          <a:p>
            <a:r>
              <a:rPr lang="en-US" sz="1200" b="1" dirty="0">
                <a:latin typeface="Arial" panose="020B0604020202020204" pitchFamily="34" charset="0"/>
                <a:cs typeface="Arial" panose="020B0604020202020204" pitchFamily="34" charset="0"/>
              </a:rPr>
              <a:t>OFER)</a:t>
            </a:r>
            <a:r>
              <a:rPr lang="en-US" sz="1200" dirty="0">
                <a:latin typeface="Arial" panose="020B0604020202020204" pitchFamily="34" charset="0"/>
                <a:cs typeface="Arial" panose="020B0604020202020204" pitchFamily="34" charset="0"/>
              </a:rPr>
              <a:t> is a safe and effective technique for the management of long-standing post-traumatic elbow contractures. It provides excellent circumferential joint exposure, allows comprehensive release of both intrinsic and extrinsic pathology, and results in significant functional improvement with acceptable morbidity. OFER should be considered a reliable alternative to conventional open and arthroscopic release in selected cases.</a:t>
            </a:r>
            <a:endParaRPr lang="en-IN" sz="1200" dirty="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4F8558FD-93D6-3EB2-EA7B-D6830FFBBF87}"/>
              </a:ext>
            </a:extLst>
          </p:cNvPr>
          <p:cNvSpPr txBox="1"/>
          <p:nvPr/>
        </p:nvSpPr>
        <p:spPr>
          <a:xfrm>
            <a:off x="6352662" y="4883217"/>
            <a:ext cx="3290775" cy="2123658"/>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OFER is a safe and effective technique for long-standing post-traumatic elbow contractures. It provides excellent joint exposure, allows comprehensive release of both intrinsic and extrinsic pathology, and results in significant functional improvement with acceptable morbidity. OFER should be considered a reliable alternative to conventional open and arthroscopic release in selected cases.</a:t>
            </a:r>
            <a:endParaRPr lang="en-IN" sz="1200" dirty="0">
              <a:latin typeface="Arial" panose="020B0604020202020204" pitchFamily="34" charset="0"/>
              <a:cs typeface="Arial" panose="020B0604020202020204" pitchFamily="34" charset="0"/>
            </a:endParaRPr>
          </a:p>
          <a:p>
            <a:endParaRPr lang="en-IN" sz="1200" dirty="0"/>
          </a:p>
        </p:txBody>
      </p:sp>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TotalTime>
  <Words>522</Words>
  <Application>Microsoft Office PowerPoint</Application>
  <PresentationFormat>Widescreen</PresentationFormat>
  <Paragraphs>18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vinny dach</cp:lastModifiedBy>
  <cp:revision>7</cp:revision>
  <dcterms:created xsi:type="dcterms:W3CDTF">2026-01-11T06:24:43Z</dcterms:created>
  <dcterms:modified xsi:type="dcterms:W3CDTF">2026-01-28T17:43:43Z</dcterms:modified>
</cp:coreProperties>
</file>