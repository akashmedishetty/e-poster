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FB6C-C9F5-4E33-A880-C0D1D34437E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B239-D921-432B-8BAC-A7148B1604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FB6C-C9F5-4E33-A880-C0D1D34437E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B239-D921-432B-8BAC-A7148B1604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FB6C-C9F5-4E33-A880-C0D1D34437E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B239-D921-432B-8BAC-A7148B1604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FB6C-C9F5-4E33-A880-C0D1D34437E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B239-D921-432B-8BAC-A7148B1604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FB6C-C9F5-4E33-A880-C0D1D34437E7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B239-D921-432B-8BAC-A7148B1604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FB6C-C9F5-4E33-A880-C0D1D34437E7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B239-D921-432B-8BAC-A7148B1604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FB6C-C9F5-4E33-A880-C0D1D34437E7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B239-D921-432B-8BAC-A7148B1604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FB6C-C9F5-4E33-A880-C0D1D34437E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B239-D921-432B-8BAC-A7148B1604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FB6C-C9F5-4E33-A880-C0D1D34437E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B239-D921-432B-8BAC-A7148B1604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FB6C-C9F5-4E33-A880-C0D1D34437E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B239-D921-432B-8BAC-A7148B1604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FB6C-C9F5-4E33-A880-C0D1D34437E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B239-D921-432B-8BAC-A7148B1604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8FB6C-C9F5-4E33-A880-C0D1D34437E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7B239-D921-432B-8BAC-A7148B16045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1691005"/>
            <a:ext cx="11682095" cy="4913630"/>
          </a:xfrm>
        </p:spPr>
        <p:txBody>
          <a:bodyPr>
            <a:noAutofit/>
          </a:bodyPr>
          <a:lstStyle/>
          <a:p>
            <a:r>
              <a:rPr lang="en-US" sz="2400" dirty="0"/>
              <a:t>​</a:t>
            </a:r>
            <a:r>
              <a:rPr lang="en-US" sz="2400" dirty="0"/>
              <a:t>Title: Surgical Outcome of Distal Femoral Fractures 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 ​Subtitle: Open Reduction and Internal Fixation (ORIF) with Locking Compression Plate Technique  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​Prepared by: DR K. BHANU PRAKASH REDDY,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                             ORTHOPEDIC RESIDENT</a:t>
            </a:r>
            <a:endParaRPr lang="en-US" sz="2400" dirty="0"/>
          </a:p>
          <a:p>
            <a:r>
              <a:rPr lang="en-US" altLang="en-IN" sz="2400" dirty="0"/>
              <a:t>GUIDE:- DR S.C.V SRIKANTH,</a:t>
            </a:r>
            <a:endParaRPr lang="en-US" altLang="en-IN" sz="2400" dirty="0"/>
          </a:p>
          <a:p>
            <a:pPr marL="0" indent="0">
              <a:buNone/>
            </a:pPr>
            <a:r>
              <a:rPr lang="en-US" altLang="en-IN" sz="2400" dirty="0"/>
              <a:t>                   PROFESSOR,</a:t>
            </a:r>
            <a:endParaRPr lang="en-US" altLang="en-IN" sz="2400" dirty="0"/>
          </a:p>
          <a:p>
            <a:pPr marL="0" indent="0">
              <a:buNone/>
            </a:pPr>
            <a:r>
              <a:rPr lang="en-US" altLang="en-IN" sz="2400" dirty="0"/>
              <a:t>                   DEPARTMENT OF ORTHOPEDICS, </a:t>
            </a:r>
            <a:endParaRPr lang="en-US" altLang="en-IN" sz="2400" dirty="0"/>
          </a:p>
          <a:p>
            <a:pPr marL="0" indent="0">
              <a:buNone/>
            </a:pPr>
            <a:r>
              <a:rPr lang="en-US" altLang="en-IN" sz="2400" dirty="0"/>
              <a:t>                    DR PSIMS &amp; RF </a:t>
            </a:r>
            <a:endParaRPr lang="en-US" altLang="en-IN" sz="2400" dirty="0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 13"/>
          <p:cNvSpPr/>
          <p:nvPr/>
        </p:nvSpPr>
        <p:spPr>
          <a:xfrm>
            <a:off x="254744" y="28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877060" y="651510"/>
            <a:ext cx="7585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chemeClr val="bg1"/>
                </a:solidFill>
                <a:latin typeface="Gordita"/>
                <a:sym typeface="+mn-ea"/>
              </a:rPr>
              <a:t>Date 6 – 8 February,2026, Venue : Kurnool Medical College</a:t>
            </a:r>
            <a:endParaRPr lang="en-GB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1877060" y="919480"/>
            <a:ext cx="9410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chemeClr val="bg1"/>
                </a:solidFill>
                <a:latin typeface="Gordita "/>
                <a:sym typeface="+mn-ea"/>
              </a:rPr>
              <a:t>Organized by : Department of </a:t>
            </a:r>
            <a:r>
              <a:rPr lang="en-US" b="1" dirty="0" err="1">
                <a:solidFill>
                  <a:schemeClr val="bg1"/>
                </a:solidFill>
                <a:latin typeface="Gordita "/>
                <a:sym typeface="+mn-ea"/>
              </a:rPr>
              <a:t>Orthopaedics</a:t>
            </a:r>
            <a:r>
              <a:rPr lang="en-US" b="1" dirty="0">
                <a:solidFill>
                  <a:schemeClr val="bg1"/>
                </a:solidFill>
                <a:latin typeface="Gordita "/>
                <a:sym typeface="+mn-ea"/>
              </a:rPr>
              <a:t>, Kurnool Medical College Kurnool</a:t>
            </a:r>
            <a:endParaRPr lang="en-US" b="1" dirty="0">
              <a:solidFill>
                <a:schemeClr val="bg1"/>
              </a:solidFill>
              <a:latin typeface="Gordita "/>
            </a:endParaRPr>
          </a:p>
          <a:p>
            <a:endParaRPr lang="en-GB" alt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2590" y="83185"/>
            <a:ext cx="1091565" cy="9366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055" y="156210"/>
            <a:ext cx="612775" cy="6127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5" y="43815"/>
            <a:ext cx="725170" cy="72517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877060" y="43815"/>
            <a:ext cx="61010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chemeClr val="bg1"/>
                </a:solidFill>
                <a:latin typeface="Gordita "/>
                <a:sym typeface="+mn-ea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  <a:sym typeface="+mn-ea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  <a:sym typeface="+mn-ea"/>
              </a:rPr>
              <a:t>   Annual Conference of </a:t>
            </a:r>
            <a:endParaRPr lang="en-US" b="1" dirty="0">
              <a:solidFill>
                <a:schemeClr val="bg1"/>
              </a:solidFill>
              <a:latin typeface="Gordita "/>
            </a:endParaRPr>
          </a:p>
          <a:p>
            <a:r>
              <a:rPr lang="en-US" b="1" dirty="0">
                <a:solidFill>
                  <a:schemeClr val="bg1"/>
                </a:solidFill>
                <a:latin typeface="Gordita "/>
                <a:sym typeface="+mn-ea"/>
              </a:rPr>
              <a:t>Orthopedic Surgeon Society of Andhra Pradesh</a:t>
            </a:r>
            <a:endParaRPr lang="en-US" b="1" dirty="0">
              <a:solidFill>
                <a:schemeClr val="bg1"/>
              </a:solidFill>
              <a:latin typeface="Gordita "/>
            </a:endParaRPr>
          </a:p>
          <a:p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​Prevalence: Distal femur fractures account for approximately 3-6% of all femoral fractures.  ​</a:t>
            </a:r>
            <a:endParaRPr lang="en-US" dirty="0"/>
          </a:p>
          <a:p>
            <a:endParaRPr lang="en-US" dirty="0"/>
          </a:p>
          <a:p>
            <a:r>
              <a:rPr lang="en-US" dirty="0"/>
              <a:t>Demographics: A bimodal distribution is seen, primarily affecting young males in high-energy accidents and elderly females due to low-energy falls.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Aim of the Study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Aim: To study the functional and radiological outcomes of distal femoral fractures treated by ORIF with a distal femur locking plate.  </a:t>
            </a:r>
            <a:endParaRPr lang="en-US" dirty="0"/>
          </a:p>
          <a:p>
            <a:endParaRPr lang="en-US" dirty="0"/>
          </a:p>
          <a:p>
            <a:r>
              <a:rPr lang="en-US" dirty="0"/>
              <a:t>Objective 1: Evaluate the union rates achieved using distal femoral locking compression plates. </a:t>
            </a:r>
            <a:endParaRPr lang="en-US" dirty="0"/>
          </a:p>
          <a:p>
            <a:endParaRPr lang="en-US" dirty="0"/>
          </a:p>
          <a:p>
            <a:r>
              <a:rPr lang="en-US" dirty="0"/>
              <a:t> ​Objective 2: Assess the clinical outcomes associated with this specific treatment modality.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Primary Procedure: Open reduction and internal fixation (ORIF). </a:t>
            </a:r>
            <a:endParaRPr lang="en-US" dirty="0"/>
          </a:p>
          <a:p>
            <a:endParaRPr lang="en-US" dirty="0"/>
          </a:p>
          <a:p>
            <a:r>
              <a:rPr lang="en-US" dirty="0"/>
              <a:t> ​Hardware Used: Distal femur locking compression plates (LCP). </a:t>
            </a:r>
            <a:endParaRPr lang="en-US" dirty="0"/>
          </a:p>
          <a:p>
            <a:endParaRPr lang="en-US" dirty="0"/>
          </a:p>
          <a:p>
            <a:r>
              <a:rPr lang="en-US" dirty="0"/>
              <a:t> ​Anatomy of Focus: The distal femur is divided into intercondylar (articular surfaces) and supracondylar regions.  </a:t>
            </a:r>
            <a:endParaRPr lang="en-US" dirty="0"/>
          </a:p>
          <a:p>
            <a:endParaRPr lang="en-US" dirty="0"/>
          </a:p>
          <a:p>
            <a:r>
              <a:rPr lang="en-US" dirty="0"/>
              <a:t>​Surgical Goal: Stabilization of the periarticular/supracondylar region, which has better blood flow and allows for sufficient healing once stabilized.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 - Union Rates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​Healing Success: In a prospective study of 50 patients, 84% were able to walk normally by the 12th week post-surgery. </a:t>
            </a:r>
            <a:endParaRPr lang="en-US" dirty="0"/>
          </a:p>
          <a:p>
            <a:endParaRPr lang="en-US" dirty="0"/>
          </a:p>
          <a:p>
            <a:r>
              <a:rPr lang="en-US" dirty="0"/>
              <a:t> ​Dual Plating Benefits: Research indicates that dual plating (lateral and medial) results in higher union rates compared to a single lateral locking plate.</a:t>
            </a:r>
            <a:endParaRPr lang="en-US" dirty="0"/>
          </a:p>
          <a:p>
            <a:endParaRPr lang="en-US" dirty="0"/>
          </a:p>
          <a:p>
            <a:r>
              <a:rPr lang="en-US" dirty="0"/>
              <a:t>  ​Primary Union: One large retrospective analysis reported that 74.8% of fractures healed following the index operation.</a:t>
            </a:r>
            <a:endParaRPr lang="en-US" dirty="0"/>
          </a:p>
          <a:p>
            <a:endParaRPr lang="en-US" dirty="0"/>
          </a:p>
          <a:p>
            <a:r>
              <a:rPr lang="en-US" dirty="0"/>
              <a:t>  ​Closure Impact: Closed and minimally open fractures healed at a significantly higher rate (80%) compared to Type III open fractures (61.3%).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 - Clinical Outcomes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​Functional Mobility: Superior fixation and early postoperative mobilization are key to producing better results.</a:t>
            </a:r>
            <a:endParaRPr lang="en-US" dirty="0"/>
          </a:p>
          <a:p>
            <a:endParaRPr lang="en-US" dirty="0"/>
          </a:p>
          <a:p>
            <a:r>
              <a:rPr lang="en-US" dirty="0"/>
              <a:t>  ​Complications: Nonunion (NU) rates were approximately 18% in a study of 243 surgically treated fractures.</a:t>
            </a:r>
            <a:endParaRPr lang="en-US" dirty="0"/>
          </a:p>
          <a:p>
            <a:endParaRPr lang="en-US" dirty="0"/>
          </a:p>
          <a:p>
            <a:r>
              <a:rPr lang="en-US" dirty="0"/>
              <a:t>  ​Risk Factors: Loss of fixation was associated with pain and worse overall results. </a:t>
            </a:r>
            <a:endParaRPr lang="en-US" dirty="0"/>
          </a:p>
          <a:p>
            <a:endParaRPr lang="en-US" dirty="0"/>
          </a:p>
          <a:p>
            <a:r>
              <a:rPr lang="en-US" dirty="0"/>
              <a:t> ​Soft Tissue Management: Using a submuscular plate insertion technique significantly decreased nonunion rates (10.7% vs 32.0% for open reduction)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​Effectiveness: ORIF with locking compression plates is an effective treatment for complex distal femoral fractures.  </a:t>
            </a:r>
            <a:endParaRPr lang="en-US" dirty="0"/>
          </a:p>
          <a:p>
            <a:endParaRPr lang="en-US" dirty="0"/>
          </a:p>
          <a:p>
            <a:r>
              <a:rPr lang="en-US" dirty="0"/>
              <a:t>​Surgical Impact: Submuscular plating and careful soft tissue management are crucial for reducing nonunion rates and hardware failure. </a:t>
            </a:r>
            <a:endParaRPr lang="en-US" dirty="0"/>
          </a:p>
          <a:p>
            <a:endParaRPr lang="en-US" dirty="0"/>
          </a:p>
          <a:p>
            <a:r>
              <a:rPr lang="en-US" dirty="0"/>
              <a:t> ​Long-term Outlook: Despite modern fixing procedures, distal femoral fractures can still lead to long-lasting disability, particularly in elderly populations. </a:t>
            </a:r>
            <a:endParaRPr lang="en-US" dirty="0"/>
          </a:p>
          <a:p>
            <a:endParaRPr lang="en-US" dirty="0"/>
          </a:p>
          <a:p>
            <a:r>
              <a:rPr lang="en-US" dirty="0"/>
              <a:t> ​Ongoing Needs: Further research is necessary to identify consistent elements for improved surgical results.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err="1"/>
              <a:t>Manjeswar</a:t>
            </a:r>
            <a:r>
              <a:rPr lang="en-IN" dirty="0"/>
              <a:t> MP, et al. Prospective case series using dual plating technique. </a:t>
            </a:r>
            <a:endParaRPr lang="en-IN" dirty="0"/>
          </a:p>
          <a:p>
            <a:endParaRPr lang="en-IN" dirty="0"/>
          </a:p>
          <a:p>
            <a:r>
              <a:rPr lang="en-IN" dirty="0"/>
              <a:t> ​Bologna MG, et al. Dual plating vs. single lateral locking plate for </a:t>
            </a:r>
            <a:r>
              <a:rPr lang="en-IN" dirty="0" err="1"/>
              <a:t>comminuted</a:t>
            </a:r>
            <a:r>
              <a:rPr lang="en-IN" dirty="0"/>
              <a:t> fractures. </a:t>
            </a:r>
            <a:endParaRPr lang="en-IN" dirty="0"/>
          </a:p>
          <a:p>
            <a:endParaRPr lang="en-IN" dirty="0"/>
          </a:p>
          <a:p>
            <a:r>
              <a:rPr lang="en-IN" dirty="0"/>
              <a:t> ​Hoffman MF, et al. Retrospective analysis of 243 surgically treated distal femoral fractures.  </a:t>
            </a:r>
            <a:endParaRPr lang="en-IN" dirty="0"/>
          </a:p>
          <a:p>
            <a:endParaRPr lang="en-IN" dirty="0"/>
          </a:p>
          <a:p>
            <a:r>
              <a:rPr lang="en-IN" dirty="0"/>
              <a:t>​Kiyono M, et al. Assessment of bone union rates with locking compression plates.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3517</Words>
  <Application>WPS Presentation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Gordita</vt:lpstr>
      <vt:lpstr>Segoe Print</vt:lpstr>
      <vt:lpstr>Gordita 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INTRODUCTION</vt:lpstr>
      <vt:lpstr>Aim of the Study</vt:lpstr>
      <vt:lpstr>Methods</vt:lpstr>
      <vt:lpstr>Results - Union Rates</vt:lpstr>
      <vt:lpstr>Results - Clinical Outcomes</vt:lpstr>
      <vt:lpstr>Conclusion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Bhanu Prakash Reddy Kanikireddy</dc:creator>
  <cp:lastModifiedBy>kbhan</cp:lastModifiedBy>
  <cp:revision>3</cp:revision>
  <dcterms:created xsi:type="dcterms:W3CDTF">2026-01-24T14:51:00Z</dcterms:created>
  <dcterms:modified xsi:type="dcterms:W3CDTF">2026-01-25T08:18:28Z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E88180E072AE459897FF803CAC9FB2F3_12</vt:lpwstr>
  </property>
  <property fmtid="{D5CDD505-2E9C-101B-9397-08002B2CF9AE}" pid="3" name="KSOProductBuildVer">
    <vt:lpwstr>2057-12.2.0.23197</vt:lpwstr>
  </property>
</Properties>
</file>