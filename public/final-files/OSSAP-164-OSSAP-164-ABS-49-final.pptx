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90" d="100"/>
          <a:sy n="90" d="100"/>
        </p:scale>
        <p:origin x="-398" y="18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5" name="Footer Placeholder 4">
            <a:extLst>
              <a:ext uri="{FF2B5EF4-FFF2-40B4-BE49-F238E27FC236}">
                <a16:creationId xmlns:a16="http://schemas.microsoft.com/office/drawing/2014/main" xmlns=""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5" name="Footer Placeholder 4">
            <a:extLst>
              <a:ext uri="{FF2B5EF4-FFF2-40B4-BE49-F238E27FC236}">
                <a16:creationId xmlns:a16="http://schemas.microsoft.com/office/drawing/2014/main" xmlns=""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5" name="Footer Placeholder 4">
            <a:extLst>
              <a:ext uri="{FF2B5EF4-FFF2-40B4-BE49-F238E27FC236}">
                <a16:creationId xmlns:a16="http://schemas.microsoft.com/office/drawing/2014/main" xmlns=""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6" name="Footer Placeholder 5">
            <a:extLst>
              <a:ext uri="{FF2B5EF4-FFF2-40B4-BE49-F238E27FC236}">
                <a16:creationId xmlns:a16="http://schemas.microsoft.com/office/drawing/2014/main" xmlns=""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xmlns=""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xmlns=""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8" name="Footer Placeholder 7">
            <a:extLst>
              <a:ext uri="{FF2B5EF4-FFF2-40B4-BE49-F238E27FC236}">
                <a16:creationId xmlns:a16="http://schemas.microsoft.com/office/drawing/2014/main" xmlns=""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xmlns=""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xmlns=""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4" name="Footer Placeholder 3">
            <a:extLst>
              <a:ext uri="{FF2B5EF4-FFF2-40B4-BE49-F238E27FC236}">
                <a16:creationId xmlns:a16="http://schemas.microsoft.com/office/drawing/2014/main" xmlns=""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xmlns=""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3" name="Footer Placeholder 2">
            <a:extLst>
              <a:ext uri="{FF2B5EF4-FFF2-40B4-BE49-F238E27FC236}">
                <a16:creationId xmlns:a16="http://schemas.microsoft.com/office/drawing/2014/main" xmlns=""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xmlns=""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6" name="Footer Placeholder 5">
            <a:extLst>
              <a:ext uri="{FF2B5EF4-FFF2-40B4-BE49-F238E27FC236}">
                <a16:creationId xmlns:a16="http://schemas.microsoft.com/office/drawing/2014/main" xmlns=""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xmlns=""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6" name="Footer Placeholder 5">
            <a:extLst>
              <a:ext uri="{FF2B5EF4-FFF2-40B4-BE49-F238E27FC236}">
                <a16:creationId xmlns:a16="http://schemas.microsoft.com/office/drawing/2014/main" xmlns=""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xmlns=""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5" name="Footer Placeholder 4">
            <a:extLst>
              <a:ext uri="{FF2B5EF4-FFF2-40B4-BE49-F238E27FC236}">
                <a16:creationId xmlns:a16="http://schemas.microsoft.com/office/drawing/2014/main" xmlns=""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1/31/2026</a:t>
            </a:fld>
            <a:endParaRPr lang="en-US"/>
          </a:p>
        </p:txBody>
      </p:sp>
      <p:sp>
        <p:nvSpPr>
          <p:cNvPr id="5" name="Footer Placeholder 4">
            <a:extLst>
              <a:ext uri="{FF2B5EF4-FFF2-40B4-BE49-F238E27FC236}">
                <a16:creationId xmlns:a16="http://schemas.microsoft.com/office/drawing/2014/main" xmlns=""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1C422EEB-C18E-401D-4D14-F61D82881EC6}"/>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xmlns="" id="{5A44D43F-1B53-AAA9-B551-4D46D6B6290B}"/>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xmlns="" id="{9F3FAB85-38C0-CBC3-894D-F14B0983660B}"/>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xmlns="" id="{6AAAF0D4-F34A-1980-C65B-0B0205913902}"/>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xmlns="" id="{94EFB44A-ED67-5BFE-548D-FCB7384C661F}"/>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xmlns="" id="{BA2ED9E8-378E-74DB-69F2-37A19A83672D}"/>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xmlns="" id="{CE2363BD-0C06-5137-F50F-3CB1079D47C5}"/>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xmlns="" id="{A034863C-B4F3-2506-7721-DA2D88319DB1}"/>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74799" y="2006601"/>
            <a:ext cx="9144000" cy="1088496"/>
          </a:xfrm>
        </p:spPr>
        <p:txBody>
          <a:bodyPr/>
          <a:lstStyle/>
          <a:p>
            <a:r>
              <a:rPr lang="en-US" sz="3600" dirty="0">
                <a:latin typeface="Arial" pitchFamily="34" charset="0"/>
                <a:cs typeface="Arial" pitchFamily="34" charset="0"/>
              </a:rPr>
              <a:t>A  study  of  intra  articular  calcaneal  fracture  treated  with </a:t>
            </a:r>
            <a:r>
              <a:rPr lang="en-US" sz="3600" dirty="0" smtClean="0">
                <a:latin typeface="Arial" pitchFamily="34" charset="0"/>
                <a:cs typeface="Arial" pitchFamily="34" charset="0"/>
              </a:rPr>
              <a:t> </a:t>
            </a:r>
            <a:r>
              <a:rPr lang="en-US" sz="3600" dirty="0" err="1">
                <a:latin typeface="Arial" pitchFamily="34" charset="0"/>
                <a:cs typeface="Arial" pitchFamily="34" charset="0"/>
              </a:rPr>
              <a:t>cannulated</a:t>
            </a:r>
            <a:r>
              <a:rPr lang="en-US" sz="3600" dirty="0">
                <a:latin typeface="Arial" pitchFamily="34" charset="0"/>
                <a:cs typeface="Arial" pitchFamily="34" charset="0"/>
              </a:rPr>
              <a:t>  screw  fixation.</a:t>
            </a:r>
            <a:endParaRPr lang="en-IN" sz="3600" dirty="0">
              <a:latin typeface="Arial" pitchFamily="34" charset="0"/>
              <a:cs typeface="Arial" pitchFamily="34" charset="0"/>
            </a:endParaRPr>
          </a:p>
        </p:txBody>
      </p:sp>
      <p:sp>
        <p:nvSpPr>
          <p:cNvPr id="3" name="Subtitle 2"/>
          <p:cNvSpPr>
            <a:spLocks noGrp="1"/>
          </p:cNvSpPr>
          <p:nvPr>
            <p:ph type="subTitle" idx="1"/>
          </p:nvPr>
        </p:nvSpPr>
        <p:spPr/>
        <p:txBody>
          <a:bodyPr/>
          <a:lstStyle/>
          <a:p>
            <a:pPr algn="l"/>
            <a:r>
              <a:rPr lang="en-US" b="1" dirty="0" smtClean="0">
                <a:latin typeface="Arial" pitchFamily="34" charset="0"/>
                <a:cs typeface="Arial" pitchFamily="34" charset="0"/>
              </a:rPr>
              <a:t>Author</a:t>
            </a:r>
            <a:r>
              <a:rPr lang="en-US" dirty="0" smtClean="0">
                <a:latin typeface="Arial" pitchFamily="34" charset="0"/>
                <a:cs typeface="Arial" pitchFamily="34" charset="0"/>
              </a:rPr>
              <a:t>: </a:t>
            </a:r>
            <a:r>
              <a:rPr lang="en-US" dirty="0" err="1" smtClean="0">
                <a:latin typeface="Arial" pitchFamily="34" charset="0"/>
                <a:cs typeface="Arial" pitchFamily="34" charset="0"/>
              </a:rPr>
              <a:t>Dr.Cheetirala</a:t>
            </a:r>
            <a:r>
              <a:rPr lang="en-US" dirty="0" smtClean="0">
                <a:latin typeface="Arial" pitchFamily="34" charset="0"/>
                <a:cs typeface="Arial" pitchFamily="34" charset="0"/>
              </a:rPr>
              <a:t> </a:t>
            </a:r>
            <a:r>
              <a:rPr lang="en-US" dirty="0" err="1" smtClean="0">
                <a:latin typeface="Arial" pitchFamily="34" charset="0"/>
                <a:cs typeface="Arial" pitchFamily="34" charset="0"/>
              </a:rPr>
              <a:t>venkata</a:t>
            </a:r>
            <a:r>
              <a:rPr lang="en-US" dirty="0" smtClean="0">
                <a:latin typeface="Arial" pitchFamily="34" charset="0"/>
                <a:cs typeface="Arial" pitchFamily="34" charset="0"/>
              </a:rPr>
              <a:t> </a:t>
            </a:r>
            <a:r>
              <a:rPr lang="en-US" dirty="0" err="1" smtClean="0">
                <a:latin typeface="Arial" pitchFamily="34" charset="0"/>
                <a:cs typeface="Arial" pitchFamily="34" charset="0"/>
              </a:rPr>
              <a:t>siva</a:t>
            </a:r>
            <a:r>
              <a:rPr lang="en-US" dirty="0" smtClean="0">
                <a:latin typeface="Arial" pitchFamily="34" charset="0"/>
                <a:cs typeface="Arial" pitchFamily="34" charset="0"/>
              </a:rPr>
              <a:t> </a:t>
            </a:r>
            <a:r>
              <a:rPr lang="en-US" dirty="0" err="1" smtClean="0">
                <a:latin typeface="Arial" pitchFamily="34" charset="0"/>
                <a:cs typeface="Arial" pitchFamily="34" charset="0"/>
              </a:rPr>
              <a:t>satya</a:t>
            </a:r>
            <a:r>
              <a:rPr lang="en-US" dirty="0" smtClean="0">
                <a:latin typeface="Arial" pitchFamily="34" charset="0"/>
                <a:cs typeface="Arial" pitchFamily="34" charset="0"/>
              </a:rPr>
              <a:t> </a:t>
            </a:r>
            <a:r>
              <a:rPr lang="en-US" dirty="0" err="1" smtClean="0">
                <a:latin typeface="Arial" pitchFamily="34" charset="0"/>
                <a:cs typeface="Arial" pitchFamily="34" charset="0"/>
              </a:rPr>
              <a:t>prudhvi</a:t>
            </a:r>
            <a:endParaRPr lang="en-US" dirty="0" smtClean="0">
              <a:latin typeface="Arial" pitchFamily="34" charset="0"/>
              <a:cs typeface="Arial" pitchFamily="34" charset="0"/>
            </a:endParaRPr>
          </a:p>
          <a:p>
            <a:pPr algn="l"/>
            <a:r>
              <a:rPr lang="en-US" dirty="0">
                <a:latin typeface="Arial" pitchFamily="34" charset="0"/>
                <a:cs typeface="Arial" pitchFamily="34" charset="0"/>
              </a:rPr>
              <a:t> </a:t>
            </a:r>
            <a:r>
              <a:rPr lang="en-US" dirty="0" smtClean="0">
                <a:latin typeface="Arial" pitchFamily="34" charset="0"/>
                <a:cs typeface="Arial" pitchFamily="34" charset="0"/>
              </a:rPr>
              <a:t>             </a:t>
            </a:r>
            <a:r>
              <a:rPr lang="en-US" dirty="0" smtClean="0">
                <a:latin typeface="Arial" pitchFamily="34" charset="0"/>
                <a:cs typeface="Arial" pitchFamily="34" charset="0"/>
              </a:rPr>
              <a:t>2</a:t>
            </a:r>
            <a:r>
              <a:rPr lang="en-US" baseline="30000" dirty="0" smtClean="0">
                <a:latin typeface="Arial" pitchFamily="34" charset="0"/>
                <a:cs typeface="Arial" pitchFamily="34" charset="0"/>
              </a:rPr>
              <a:t>nd</a:t>
            </a:r>
            <a:r>
              <a:rPr lang="en-US" dirty="0" smtClean="0">
                <a:latin typeface="Arial" pitchFamily="34" charset="0"/>
                <a:cs typeface="Arial" pitchFamily="34" charset="0"/>
              </a:rPr>
              <a:t> year Post graduate</a:t>
            </a:r>
          </a:p>
          <a:p>
            <a:pPr algn="l"/>
            <a:r>
              <a:rPr lang="en-US" b="1" dirty="0" smtClean="0">
                <a:latin typeface="Arial" pitchFamily="34" charset="0"/>
                <a:cs typeface="Arial" pitchFamily="34" charset="0"/>
              </a:rPr>
              <a:t>Co-author</a:t>
            </a:r>
            <a:r>
              <a:rPr lang="en-US" dirty="0" smtClean="0">
                <a:latin typeface="Arial" pitchFamily="34" charset="0"/>
                <a:cs typeface="Arial" pitchFamily="34" charset="0"/>
              </a:rPr>
              <a:t>: </a:t>
            </a:r>
            <a:r>
              <a:rPr lang="en-US" dirty="0" smtClean="0">
                <a:latin typeface="Arial" pitchFamily="34" charset="0"/>
                <a:cs typeface="Arial" pitchFamily="34" charset="0"/>
              </a:rPr>
              <a:t>Dr. </a:t>
            </a:r>
            <a:r>
              <a:rPr lang="en-US" dirty="0" err="1" smtClean="0">
                <a:latin typeface="Arial" pitchFamily="34" charset="0"/>
                <a:cs typeface="Arial" pitchFamily="34" charset="0"/>
              </a:rPr>
              <a:t>Sujith</a:t>
            </a:r>
            <a:r>
              <a:rPr lang="en-US" dirty="0" smtClean="0">
                <a:latin typeface="Arial" pitchFamily="34" charset="0"/>
                <a:cs typeface="Arial" pitchFamily="34" charset="0"/>
              </a:rPr>
              <a:t> deva </a:t>
            </a:r>
            <a:r>
              <a:rPr lang="en-US" dirty="0" err="1" smtClean="0">
                <a:latin typeface="Arial" pitchFamily="34" charset="0"/>
                <a:cs typeface="Arial" pitchFamily="34" charset="0"/>
              </a:rPr>
              <a:t>prasad</a:t>
            </a:r>
            <a:r>
              <a:rPr lang="en-US" dirty="0">
                <a:latin typeface="Arial" pitchFamily="34" charset="0"/>
                <a:cs typeface="Arial" pitchFamily="34" charset="0"/>
              </a:rPr>
              <a:t>
</a:t>
            </a:r>
            <a:r>
              <a:rPr lang="en-US" dirty="0" smtClean="0">
                <a:latin typeface="Arial" pitchFamily="34" charset="0"/>
                <a:cs typeface="Arial" pitchFamily="34" charset="0"/>
              </a:rPr>
              <a:t>                   </a:t>
            </a:r>
            <a:r>
              <a:rPr lang="en-US" dirty="0" err="1" smtClean="0">
                <a:latin typeface="Arial" pitchFamily="34" charset="0"/>
                <a:cs typeface="Arial" pitchFamily="34" charset="0"/>
              </a:rPr>
              <a:t>HOD&amp;Professor</a:t>
            </a:r>
            <a:r>
              <a:rPr lang="en-US" dirty="0" smtClean="0">
                <a:latin typeface="Arial" pitchFamily="34" charset="0"/>
                <a:cs typeface="Arial" pitchFamily="34" charset="0"/>
              </a:rPr>
              <a:t>,</a:t>
            </a:r>
          </a:p>
          <a:p>
            <a:pPr algn="l"/>
            <a:r>
              <a:rPr lang="en-US" dirty="0">
                <a:latin typeface="Arial" pitchFamily="34" charset="0"/>
                <a:cs typeface="Arial" pitchFamily="34" charset="0"/>
              </a:rPr>
              <a:t> </a:t>
            </a:r>
            <a:r>
              <a:rPr lang="en-US" dirty="0" smtClean="0">
                <a:latin typeface="Arial" pitchFamily="34" charset="0"/>
                <a:cs typeface="Arial" pitchFamily="34" charset="0"/>
              </a:rPr>
              <a:t>                  </a:t>
            </a:r>
            <a:r>
              <a:rPr lang="en-US" dirty="0" smtClean="0">
                <a:latin typeface="Arial" pitchFamily="34" charset="0"/>
                <a:cs typeface="Arial" pitchFamily="34" charset="0"/>
              </a:rPr>
              <a:t>Department </a:t>
            </a:r>
            <a:r>
              <a:rPr lang="en-US" dirty="0">
                <a:latin typeface="Arial" pitchFamily="34" charset="0"/>
                <a:cs typeface="Arial" pitchFamily="34" charset="0"/>
              </a:rPr>
              <a:t>of </a:t>
            </a:r>
            <a:r>
              <a:rPr lang="en-US" dirty="0" err="1">
                <a:latin typeface="Arial" pitchFamily="34" charset="0"/>
                <a:cs typeface="Arial" pitchFamily="34" charset="0"/>
              </a:rPr>
              <a:t>orthopaedics</a:t>
            </a:r>
            <a:endParaRPr lang="en-US" dirty="0">
              <a:latin typeface="Arial" pitchFamily="34" charset="0"/>
              <a:cs typeface="Arial" pitchFamily="34" charset="0"/>
            </a:endParaRPr>
          </a:p>
          <a:p>
            <a:pPr algn="l"/>
            <a:r>
              <a:rPr lang="en-US" dirty="0" smtClean="0">
                <a:latin typeface="Arial" pitchFamily="34" charset="0"/>
                <a:cs typeface="Arial" pitchFamily="34" charset="0"/>
              </a:rPr>
              <a:t>                   </a:t>
            </a:r>
            <a:r>
              <a:rPr lang="en-US" dirty="0" err="1" smtClean="0">
                <a:latin typeface="Arial" pitchFamily="34" charset="0"/>
                <a:cs typeface="Arial" pitchFamily="34" charset="0"/>
              </a:rPr>
              <a:t>Santhiram</a:t>
            </a:r>
            <a:r>
              <a:rPr lang="en-US" dirty="0" smtClean="0">
                <a:latin typeface="Arial" pitchFamily="34" charset="0"/>
                <a:cs typeface="Arial" pitchFamily="34" charset="0"/>
              </a:rPr>
              <a:t> </a:t>
            </a:r>
            <a:r>
              <a:rPr lang="en-US" dirty="0">
                <a:latin typeface="Arial" pitchFamily="34" charset="0"/>
                <a:cs typeface="Arial" pitchFamily="34" charset="0"/>
              </a:rPr>
              <a:t>medical College, </a:t>
            </a:r>
            <a:r>
              <a:rPr lang="en-US" dirty="0" err="1">
                <a:latin typeface="Arial" pitchFamily="34" charset="0"/>
                <a:cs typeface="Arial" pitchFamily="34" charset="0"/>
              </a:rPr>
              <a:t>Nandyala</a:t>
            </a:r>
            <a:r>
              <a:rPr lang="en-US" dirty="0">
                <a:latin typeface="Arial" pitchFamily="34" charset="0"/>
                <a:cs typeface="Arial" pitchFamily="34" charset="0"/>
              </a:rPr>
              <a:t>.</a:t>
            </a:r>
          </a:p>
          <a:p>
            <a:endParaRPr lang="en-IN" dirty="0"/>
          </a:p>
        </p:txBody>
      </p:sp>
    </p:spTree>
    <p:extLst>
      <p:ext uri="{BB962C8B-B14F-4D97-AF65-F5344CB8AC3E}">
        <p14:creationId xmlns:p14="http://schemas.microsoft.com/office/powerpoint/2010/main" val="3607354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933" y="1410230"/>
            <a:ext cx="9144000" cy="816503"/>
          </a:xfrm>
        </p:spPr>
        <p:txBody>
          <a:bodyPr/>
          <a:lstStyle/>
          <a:p>
            <a:pPr algn="l"/>
            <a:r>
              <a:rPr lang="en-US" sz="4400" dirty="0">
                <a:latin typeface="Arial" pitchFamily="34" charset="0"/>
                <a:cs typeface="Arial" pitchFamily="34" charset="0"/>
              </a:rPr>
              <a:t>INTRODUCTION</a:t>
            </a:r>
            <a:endParaRPr lang="en-IN" sz="4400" dirty="0">
              <a:latin typeface="Arial" pitchFamily="34" charset="0"/>
              <a:cs typeface="Arial" pitchFamily="34" charset="0"/>
            </a:endParaRPr>
          </a:p>
        </p:txBody>
      </p:sp>
      <p:sp>
        <p:nvSpPr>
          <p:cNvPr id="3" name="Subtitle 2"/>
          <p:cNvSpPr>
            <a:spLocks noGrp="1"/>
          </p:cNvSpPr>
          <p:nvPr>
            <p:ph type="subTitle" idx="1"/>
          </p:nvPr>
        </p:nvSpPr>
        <p:spPr>
          <a:xfrm>
            <a:off x="372534" y="2523067"/>
            <a:ext cx="9144000" cy="2286000"/>
          </a:xfrm>
        </p:spPr>
        <p:txBody>
          <a:bodyPr/>
          <a:lstStyle/>
          <a:p>
            <a:pPr algn="l"/>
            <a:r>
              <a:rPr lang="en-US" dirty="0">
                <a:latin typeface="Arial" pitchFamily="34" charset="0"/>
                <a:cs typeface="Arial" pitchFamily="34" charset="0"/>
              </a:rPr>
              <a:t>Calcaneal  fracture  constitutes  above  70%  of  all  tarsal  injuries, majority  of  the  calcaneal  fractures  are  treated  non  operatively.</a:t>
            </a:r>
          </a:p>
          <a:p>
            <a:pPr algn="l"/>
            <a:r>
              <a:rPr lang="en-US" dirty="0">
                <a:latin typeface="Arial" pitchFamily="34" charset="0"/>
                <a:cs typeface="Arial" pitchFamily="34" charset="0"/>
              </a:rPr>
              <a:t>Open  reduction  and  internal  fixation  through  an  extensile  lateral  approach  has  been widely  accepted  but  high  wound  related  complication  rate  has  been  reported.
Minimally  invasive  techniques  have  been  reported  as  effective  in  wound  related  operation time,  complications   and  maintaining  articular  </a:t>
            </a:r>
            <a:r>
              <a:rPr lang="en-US" dirty="0" smtClean="0">
                <a:latin typeface="Arial" pitchFamily="34" charset="0"/>
                <a:cs typeface="Arial" pitchFamily="34" charset="0"/>
              </a:rPr>
              <a:t>reduction</a:t>
            </a:r>
            <a:r>
              <a:rPr lang="en-US" dirty="0">
                <a:latin typeface="Arial" pitchFamily="34" charset="0"/>
                <a:cs typeface="Arial" pitchFamily="34" charset="0"/>
              </a:rPr>
              <a:t>.</a:t>
            </a:r>
          </a:p>
          <a:p>
            <a:endParaRPr lang="en-IN" dirty="0">
              <a:latin typeface="Arial" pitchFamily="34" charset="0"/>
              <a:cs typeface="Arial" pitchFamily="34" charset="0"/>
            </a:endParaRPr>
          </a:p>
        </p:txBody>
      </p:sp>
    </p:spTree>
    <p:extLst>
      <p:ext uri="{BB962C8B-B14F-4D97-AF65-F5344CB8AC3E}">
        <p14:creationId xmlns:p14="http://schemas.microsoft.com/office/powerpoint/2010/main" val="3593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5733" y="1346199"/>
            <a:ext cx="9144000" cy="745067"/>
          </a:xfrm>
        </p:spPr>
        <p:txBody>
          <a:bodyPr/>
          <a:lstStyle/>
          <a:p>
            <a:pPr algn="l"/>
            <a:r>
              <a:rPr lang="en-US" sz="4400" dirty="0">
                <a:latin typeface="Arial" pitchFamily="34" charset="0"/>
                <a:cs typeface="Arial" pitchFamily="34" charset="0"/>
              </a:rPr>
              <a:t>AIM</a:t>
            </a:r>
            <a:endParaRPr lang="en-IN" sz="4400" dirty="0">
              <a:latin typeface="Arial" pitchFamily="34" charset="0"/>
              <a:cs typeface="Arial" pitchFamily="34" charset="0"/>
            </a:endParaRPr>
          </a:p>
        </p:txBody>
      </p:sp>
      <p:sp>
        <p:nvSpPr>
          <p:cNvPr id="3" name="Subtitle 2"/>
          <p:cNvSpPr>
            <a:spLocks noGrp="1"/>
          </p:cNvSpPr>
          <p:nvPr>
            <p:ph type="subTitle" idx="1"/>
          </p:nvPr>
        </p:nvSpPr>
        <p:spPr>
          <a:xfrm>
            <a:off x="321734" y="2010304"/>
            <a:ext cx="9144000" cy="1655762"/>
          </a:xfrm>
        </p:spPr>
        <p:txBody>
          <a:bodyPr/>
          <a:lstStyle/>
          <a:p>
            <a:r>
              <a:rPr lang="en-US" dirty="0">
                <a:latin typeface="Arial" pitchFamily="34" charset="0"/>
                <a:cs typeface="Arial" pitchFamily="34" charset="0"/>
              </a:rPr>
              <a:t>To  assess  the  functional  outcome  of  patients  with  displaced  intra-articular  calcaneal  fractures  treated  with  percutaneous  reduction,  </a:t>
            </a:r>
            <a:r>
              <a:rPr lang="en-US" dirty="0" err="1">
                <a:latin typeface="Arial" pitchFamily="34" charset="0"/>
                <a:cs typeface="Arial" pitchFamily="34" charset="0"/>
              </a:rPr>
              <a:t>cannulated</a:t>
            </a:r>
            <a:r>
              <a:rPr lang="en-US" dirty="0">
                <a:latin typeface="Arial" pitchFamily="34" charset="0"/>
                <a:cs typeface="Arial" pitchFamily="34" charset="0"/>
              </a:rPr>
              <a:t>  screw  fixation</a:t>
            </a:r>
          </a:p>
          <a:p>
            <a:pPr algn="l"/>
            <a:r>
              <a:rPr lang="en-US" sz="4400" dirty="0" smtClean="0">
                <a:latin typeface="Arial" pitchFamily="34" charset="0"/>
                <a:cs typeface="Arial" pitchFamily="34" charset="0"/>
              </a:rPr>
              <a:t>METHODS</a:t>
            </a:r>
          </a:p>
          <a:p>
            <a:pPr algn="l"/>
            <a:r>
              <a:rPr lang="en-US" dirty="0">
                <a:latin typeface="Arial" pitchFamily="34" charset="0"/>
                <a:cs typeface="Arial" pitchFamily="34" charset="0"/>
              </a:rPr>
              <a:t>14 patients with a DIACFs, underwent percutaneous reduction, </a:t>
            </a:r>
            <a:r>
              <a:rPr lang="en-US" dirty="0" err="1">
                <a:latin typeface="Arial" pitchFamily="34" charset="0"/>
                <a:cs typeface="Arial" pitchFamily="34" charset="0"/>
              </a:rPr>
              <a:t>cannulated</a:t>
            </a:r>
            <a:r>
              <a:rPr lang="en-US" dirty="0">
                <a:latin typeface="Arial" pitchFamily="34" charset="0"/>
                <a:cs typeface="Arial" pitchFamily="34" charset="0"/>
              </a:rPr>
              <a:t> screw fixation.</a:t>
            </a:r>
          </a:p>
          <a:p>
            <a:pPr algn="l"/>
            <a:r>
              <a:rPr lang="en-US" dirty="0">
                <a:latin typeface="Arial" pitchFamily="34" charset="0"/>
                <a:cs typeface="Arial" pitchFamily="34" charset="0"/>
              </a:rPr>
              <a:t> Functional outcomes were evaluated using the American </a:t>
            </a:r>
            <a:r>
              <a:rPr lang="en-US" dirty="0" err="1">
                <a:latin typeface="Arial" pitchFamily="34" charset="0"/>
                <a:cs typeface="Arial" pitchFamily="34" charset="0"/>
              </a:rPr>
              <a:t>Orthopaedic</a:t>
            </a:r>
            <a:r>
              <a:rPr lang="en-US" dirty="0">
                <a:latin typeface="Arial" pitchFamily="34" charset="0"/>
                <a:cs typeface="Arial" pitchFamily="34" charset="0"/>
              </a:rPr>
              <a:t> Foot and Ankle Society (AOFAS) hind foot scores.</a:t>
            </a:r>
          </a:p>
          <a:p>
            <a:pPr algn="l"/>
            <a:r>
              <a:rPr lang="en-US" dirty="0">
                <a:latin typeface="Arial" pitchFamily="34" charset="0"/>
                <a:cs typeface="Arial" pitchFamily="34" charset="0"/>
              </a:rPr>
              <a:t> Radiological results were assessed using plain radiographs and computed tomography (CT) scans, and postoperative wound-related complications were also recorded.</a:t>
            </a:r>
          </a:p>
          <a:p>
            <a:pPr algn="l"/>
            <a:endParaRPr lang="en-IN" dirty="0">
              <a:latin typeface="Arial" pitchFamily="34" charset="0"/>
              <a:cs typeface="Arial" pitchFamily="34" charset="0"/>
            </a:endParaRPr>
          </a:p>
        </p:txBody>
      </p:sp>
    </p:spTree>
    <p:extLst>
      <p:ext uri="{BB962C8B-B14F-4D97-AF65-F5344CB8AC3E}">
        <p14:creationId xmlns:p14="http://schemas.microsoft.com/office/powerpoint/2010/main" val="3720308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401763"/>
            <a:ext cx="9144000" cy="909637"/>
          </a:xfrm>
        </p:spPr>
        <p:txBody>
          <a:bodyPr/>
          <a:lstStyle/>
          <a:p>
            <a:pPr algn="l"/>
            <a:r>
              <a:rPr lang="en-US" sz="4400" dirty="0">
                <a:latin typeface="Arial" pitchFamily="34" charset="0"/>
                <a:cs typeface="Arial" pitchFamily="34" charset="0"/>
              </a:rPr>
              <a:t>SURGICAL  TECHNIQUE</a:t>
            </a:r>
            <a:endParaRPr lang="en-IN" sz="4400" dirty="0">
              <a:latin typeface="Arial" pitchFamily="34" charset="0"/>
              <a:cs typeface="Arial" pitchFamily="34" charset="0"/>
            </a:endParaRPr>
          </a:p>
        </p:txBody>
      </p:sp>
      <p:sp>
        <p:nvSpPr>
          <p:cNvPr id="3" name="Subtitle 2"/>
          <p:cNvSpPr>
            <a:spLocks noGrp="1"/>
          </p:cNvSpPr>
          <p:nvPr>
            <p:ph type="subTitle" idx="1"/>
          </p:nvPr>
        </p:nvSpPr>
        <p:spPr>
          <a:xfrm>
            <a:off x="364067" y="2929467"/>
            <a:ext cx="10303933" cy="2328333"/>
          </a:xfrm>
        </p:spPr>
        <p:txBody>
          <a:bodyPr/>
          <a:lstStyle/>
          <a:p>
            <a:pPr algn="l"/>
            <a:r>
              <a:rPr lang="en-US" dirty="0">
                <a:latin typeface="Arial" pitchFamily="34" charset="0"/>
                <a:cs typeface="Arial" pitchFamily="34" charset="0"/>
              </a:rPr>
              <a:t>Firstly,  Steinman  pin  is  inserted  in  posterior  inferior  portion of  calcaneus.  Then  in  axial  view  </a:t>
            </a:r>
            <a:r>
              <a:rPr lang="en-US" dirty="0" err="1">
                <a:latin typeface="Arial" pitchFamily="34" charset="0"/>
                <a:cs typeface="Arial" pitchFamily="34" charset="0"/>
              </a:rPr>
              <a:t>varus</a:t>
            </a:r>
            <a:r>
              <a:rPr lang="en-US" dirty="0">
                <a:latin typeface="Arial" pitchFamily="34" charset="0"/>
                <a:cs typeface="Arial" pitchFamily="34" charset="0"/>
              </a:rPr>
              <a:t>,  valgus  angulation  is  corrected  and  provisionally fixed  with  </a:t>
            </a:r>
            <a:r>
              <a:rPr lang="en-US" dirty="0" err="1">
                <a:latin typeface="Arial" pitchFamily="34" charset="0"/>
                <a:cs typeface="Arial" pitchFamily="34" charset="0"/>
              </a:rPr>
              <a:t>kirschner</a:t>
            </a:r>
            <a:r>
              <a:rPr lang="en-US" dirty="0">
                <a:latin typeface="Arial" pitchFamily="34" charset="0"/>
                <a:cs typeface="Arial" pitchFamily="34" charset="0"/>
              </a:rPr>
              <a:t>  wires.  </a:t>
            </a:r>
          </a:p>
          <a:p>
            <a:pPr algn="l"/>
            <a:r>
              <a:rPr lang="en-US" dirty="0">
                <a:latin typeface="Arial" pitchFamily="34" charset="0"/>
                <a:cs typeface="Arial" pitchFamily="34" charset="0"/>
              </a:rPr>
              <a:t>In  lateral  view  joint  depression  is  elevated  using  bone  taps and  fixed  with  </a:t>
            </a:r>
            <a:r>
              <a:rPr lang="en-US" dirty="0" err="1">
                <a:latin typeface="Arial" pitchFamily="34" charset="0"/>
                <a:cs typeface="Arial" pitchFamily="34" charset="0"/>
              </a:rPr>
              <a:t>kirschner</a:t>
            </a:r>
            <a:r>
              <a:rPr lang="en-US" dirty="0">
                <a:latin typeface="Arial" pitchFamily="34" charset="0"/>
                <a:cs typeface="Arial" pitchFamily="34" charset="0"/>
              </a:rPr>
              <a:t>  wires. </a:t>
            </a:r>
          </a:p>
          <a:p>
            <a:pPr algn="l"/>
            <a:r>
              <a:rPr lang="en-US" dirty="0">
                <a:latin typeface="Arial" pitchFamily="34" charset="0"/>
                <a:cs typeface="Arial" pitchFamily="34" charset="0"/>
              </a:rPr>
              <a:t> In  tongue  depression  fractures  </a:t>
            </a:r>
            <a:r>
              <a:rPr lang="en-US" dirty="0" err="1">
                <a:latin typeface="Arial" pitchFamily="34" charset="0"/>
                <a:cs typeface="Arial" pitchFamily="34" charset="0"/>
              </a:rPr>
              <a:t>kirschner</a:t>
            </a:r>
            <a:r>
              <a:rPr lang="en-US" dirty="0">
                <a:latin typeface="Arial" pitchFamily="34" charset="0"/>
                <a:cs typeface="Arial" pitchFamily="34" charset="0"/>
              </a:rPr>
              <a:t>  wire  is  inserted lateral  to  </a:t>
            </a:r>
            <a:r>
              <a:rPr lang="en-US" dirty="0" err="1">
                <a:latin typeface="Arial" pitchFamily="34" charset="0"/>
                <a:cs typeface="Arial" pitchFamily="34" charset="0"/>
              </a:rPr>
              <a:t>achilles</a:t>
            </a:r>
            <a:r>
              <a:rPr lang="en-US" dirty="0">
                <a:latin typeface="Arial" pitchFamily="34" charset="0"/>
                <a:cs typeface="Arial" pitchFamily="34" charset="0"/>
              </a:rPr>
              <a:t>  tendon  and  elevated.  All  provisionally  fixed  </a:t>
            </a:r>
            <a:r>
              <a:rPr lang="en-US" dirty="0" err="1">
                <a:latin typeface="Arial" pitchFamily="34" charset="0"/>
                <a:cs typeface="Arial" pitchFamily="34" charset="0"/>
              </a:rPr>
              <a:t>kirschner</a:t>
            </a:r>
            <a:r>
              <a:rPr lang="en-US" dirty="0">
                <a:latin typeface="Arial" pitchFamily="34" charset="0"/>
                <a:cs typeface="Arial" pitchFamily="34" charset="0"/>
              </a:rPr>
              <a:t>  wires  are  replaced  with  </a:t>
            </a:r>
            <a:r>
              <a:rPr lang="en-US" dirty="0" err="1">
                <a:latin typeface="Arial" pitchFamily="34" charset="0"/>
                <a:cs typeface="Arial" pitchFamily="34" charset="0"/>
              </a:rPr>
              <a:t>cannulated</a:t>
            </a:r>
            <a:r>
              <a:rPr lang="en-US" dirty="0">
                <a:latin typeface="Arial" pitchFamily="34" charset="0"/>
                <a:cs typeface="Arial" pitchFamily="34" charset="0"/>
              </a:rPr>
              <a:t>  </a:t>
            </a:r>
            <a:r>
              <a:rPr lang="en-US" dirty="0" err="1">
                <a:latin typeface="Arial" pitchFamily="34" charset="0"/>
                <a:cs typeface="Arial" pitchFamily="34" charset="0"/>
              </a:rPr>
              <a:t>cancellous</a:t>
            </a:r>
            <a:r>
              <a:rPr lang="en-US" dirty="0">
                <a:latin typeface="Arial" pitchFamily="34" charset="0"/>
                <a:cs typeface="Arial" pitchFamily="34" charset="0"/>
              </a:rPr>
              <a:t>  screws.</a:t>
            </a:r>
          </a:p>
          <a:p>
            <a:endParaRPr lang="en-IN" sz="2800" dirty="0">
              <a:latin typeface="Arial" pitchFamily="34" charset="0"/>
              <a:cs typeface="Arial" pitchFamily="34" charset="0"/>
            </a:endParaRPr>
          </a:p>
        </p:txBody>
      </p:sp>
    </p:spTree>
    <p:extLst>
      <p:ext uri="{BB962C8B-B14F-4D97-AF65-F5344CB8AC3E}">
        <p14:creationId xmlns:p14="http://schemas.microsoft.com/office/powerpoint/2010/main" val="1297699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xmlns="" id="{F7DB08B0-0383-AE4D-B045-0565DAD344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0852" y="1439332"/>
            <a:ext cx="8645371" cy="4879181"/>
          </a:xfrm>
        </p:spPr>
      </p:pic>
    </p:spTree>
    <p:extLst>
      <p:ext uri="{BB962C8B-B14F-4D97-AF65-F5344CB8AC3E}">
        <p14:creationId xmlns:p14="http://schemas.microsoft.com/office/powerpoint/2010/main" val="3933907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334" y="1350964"/>
            <a:ext cx="9144000" cy="926570"/>
          </a:xfrm>
        </p:spPr>
        <p:txBody>
          <a:bodyPr/>
          <a:lstStyle/>
          <a:p>
            <a:pPr algn="l"/>
            <a:r>
              <a:rPr lang="en-US" sz="4400" dirty="0">
                <a:latin typeface="Arial" pitchFamily="34" charset="0"/>
                <a:cs typeface="Arial" pitchFamily="34" charset="0"/>
              </a:rPr>
              <a:t>RESULTS</a:t>
            </a:r>
            <a:endParaRPr lang="en-IN" sz="4400" dirty="0">
              <a:latin typeface="Arial" pitchFamily="34" charset="0"/>
              <a:cs typeface="Arial" pitchFamily="34" charset="0"/>
            </a:endParaRPr>
          </a:p>
        </p:txBody>
      </p:sp>
      <p:sp>
        <p:nvSpPr>
          <p:cNvPr id="3" name="Subtitle 2"/>
          <p:cNvSpPr>
            <a:spLocks noGrp="1"/>
          </p:cNvSpPr>
          <p:nvPr>
            <p:ph type="subTitle" idx="1"/>
          </p:nvPr>
        </p:nvSpPr>
        <p:spPr>
          <a:xfrm>
            <a:off x="0" y="2387748"/>
            <a:ext cx="6888980" cy="1655762"/>
          </a:xfrm>
        </p:spPr>
        <p:txBody>
          <a:bodyPr/>
          <a:lstStyle/>
          <a:p>
            <a:pPr algn="l"/>
            <a:r>
              <a:rPr lang="en-US" dirty="0">
                <a:latin typeface="Arial" pitchFamily="34" charset="0"/>
                <a:cs typeface="Arial" pitchFamily="34" charset="0"/>
              </a:rPr>
              <a:t>A total of 46 adult patients were assessed in our study. Twenty patients did not meet the inclusion criteria and were excluded.</a:t>
            </a:r>
          </a:p>
          <a:p>
            <a:pPr algn="l"/>
            <a:r>
              <a:rPr lang="en-US" dirty="0" smtClean="0">
                <a:latin typeface="Arial" pitchFamily="34" charset="0"/>
                <a:cs typeface="Arial" pitchFamily="34" charset="0"/>
              </a:rPr>
              <a:t>Twelve </a:t>
            </a:r>
            <a:r>
              <a:rPr lang="en-US" dirty="0">
                <a:latin typeface="Arial" pitchFamily="34" charset="0"/>
                <a:cs typeface="Arial" pitchFamily="34" charset="0"/>
              </a:rPr>
              <a:t>patients were excluded due to severe medical ailments (2 patients) and non-adherence to the treatment plan (10 patients).</a:t>
            </a:r>
          </a:p>
          <a:p>
            <a:pPr algn="l"/>
            <a:r>
              <a:rPr lang="en-US" dirty="0">
                <a:latin typeface="Arial" pitchFamily="34" charset="0"/>
                <a:cs typeface="Arial" pitchFamily="34" charset="0"/>
              </a:rPr>
              <a:t> Therefore, 14 patients with an average age of 42.5 years old (range, 20 to 72 years) including 10 men and 4 women participated in the study. </a:t>
            </a:r>
          </a:p>
          <a:p>
            <a:r>
              <a:rPr lang="en-US" dirty="0" smtClean="0"/>
              <a:t> </a:t>
            </a:r>
            <a:endParaRPr lang="en-IN" dirty="0"/>
          </a:p>
        </p:txBody>
      </p:sp>
      <p:pic>
        <p:nvPicPr>
          <p:cNvPr id="4" name="Picture 3">
            <a:extLst>
              <a:ext uri="{FF2B5EF4-FFF2-40B4-BE49-F238E27FC236}">
                <a16:creationId xmlns:a16="http://schemas.microsoft.com/office/drawing/2014/main" xmlns="" id="{C0961380-035E-5A4F-9E10-A321DB6FB8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980" y="1476422"/>
            <a:ext cx="5303020" cy="4494415"/>
          </a:xfrm>
          <a:prstGeom prst="rect">
            <a:avLst/>
          </a:prstGeom>
        </p:spPr>
      </p:pic>
    </p:spTree>
    <p:extLst>
      <p:ext uri="{BB962C8B-B14F-4D97-AF65-F5344CB8AC3E}">
        <p14:creationId xmlns:p14="http://schemas.microsoft.com/office/powerpoint/2010/main" val="2999099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4000" y="1354665"/>
            <a:ext cx="11658600" cy="5435601"/>
          </a:xfrm>
        </p:spPr>
        <p:txBody>
          <a:bodyPr/>
          <a:lstStyle/>
          <a:p>
            <a:pPr algn="l"/>
            <a:r>
              <a:rPr lang="en-US" dirty="0">
                <a:latin typeface="Arial" pitchFamily="34" charset="0"/>
                <a:cs typeface="Arial" pitchFamily="34" charset="0"/>
              </a:rPr>
              <a:t>All patients were followed-up for 6 months averagely (range, 6 to 8  months). Complete articular reduction is achieved in 8 patients, 6 patients had articular depression of posterior facet, 3 patients had heel widening and lateral impingement. </a:t>
            </a:r>
          </a:p>
          <a:p>
            <a:pPr algn="l"/>
            <a:r>
              <a:rPr lang="en-US" dirty="0">
                <a:latin typeface="Arial" pitchFamily="34" charset="0"/>
                <a:cs typeface="Arial" pitchFamily="34" charset="0"/>
              </a:rPr>
              <a:t>There was no wound complications in any of the patients.</a:t>
            </a:r>
          </a:p>
          <a:p>
            <a:pPr algn="l"/>
            <a:r>
              <a:rPr lang="en-US" dirty="0">
                <a:latin typeface="Arial" pitchFamily="34" charset="0"/>
                <a:cs typeface="Arial" pitchFamily="34" charset="0"/>
              </a:rPr>
              <a:t>According  to  the  AOFAS  scoring  10  excellent;  2  as  good;  2  as  fair.  Good to  excellent  rate  of  84.0%.  The  mean  AOFAS  score  was  86.6.  Time  from  surgery  to  partial  weight  bearing  was  6.2  week</a:t>
            </a:r>
            <a:r>
              <a:rPr lang="en-US" dirty="0" smtClean="0">
                <a:latin typeface="Arial" pitchFamily="34" charset="0"/>
                <a:cs typeface="Arial" pitchFamily="34" charset="0"/>
              </a:rPr>
              <a:t>.</a:t>
            </a:r>
          </a:p>
          <a:p>
            <a:pPr algn="l"/>
            <a:endParaRPr lang="en-US" dirty="0" smtClean="0">
              <a:latin typeface="Arial" pitchFamily="34" charset="0"/>
              <a:cs typeface="Arial" pitchFamily="34" charset="0"/>
            </a:endParaRPr>
          </a:p>
          <a:p>
            <a:pPr algn="l"/>
            <a:r>
              <a:rPr lang="en-US" sz="2800" b="1" dirty="0">
                <a:latin typeface="Arial" pitchFamily="34" charset="0"/>
                <a:cs typeface="Arial" pitchFamily="34" charset="0"/>
              </a:rPr>
              <a:t>CONCLUSION</a:t>
            </a:r>
          </a:p>
          <a:p>
            <a:pPr algn="l"/>
            <a:r>
              <a:rPr lang="en-US" dirty="0">
                <a:latin typeface="Arial" pitchFamily="34" charset="0"/>
                <a:cs typeface="Arial" pitchFamily="34" charset="0"/>
              </a:rPr>
              <a:t>Surgical treatment of intra articular calcaneal fractures remains challenging task.</a:t>
            </a:r>
          </a:p>
          <a:p>
            <a:pPr algn="l"/>
            <a:r>
              <a:rPr lang="en-US" dirty="0">
                <a:latin typeface="Arial" pitchFamily="34" charset="0"/>
                <a:cs typeface="Arial" pitchFamily="34" charset="0"/>
              </a:rPr>
              <a:t>Minimally  invasive  reductions  for  intra  articular  calcaneal  fractures with  </a:t>
            </a:r>
            <a:r>
              <a:rPr lang="en-US" dirty="0" err="1">
                <a:latin typeface="Arial" pitchFamily="34" charset="0"/>
                <a:cs typeface="Arial" pitchFamily="34" charset="0"/>
              </a:rPr>
              <a:t>cannulated</a:t>
            </a:r>
            <a:r>
              <a:rPr lang="en-US" dirty="0">
                <a:latin typeface="Arial" pitchFamily="34" charset="0"/>
                <a:cs typeface="Arial" pitchFamily="34" charset="0"/>
              </a:rPr>
              <a:t>  </a:t>
            </a:r>
            <a:r>
              <a:rPr lang="en-US" dirty="0" err="1">
                <a:latin typeface="Arial" pitchFamily="34" charset="0"/>
                <a:cs typeface="Arial" pitchFamily="34" charset="0"/>
              </a:rPr>
              <a:t>cancellous</a:t>
            </a:r>
            <a:r>
              <a:rPr lang="en-US" dirty="0">
                <a:latin typeface="Arial" pitchFamily="34" charset="0"/>
                <a:cs typeface="Arial" pitchFamily="34" charset="0"/>
              </a:rPr>
              <a:t>  screw  fixation  remains  good  option  to  minimize  wound complications.</a:t>
            </a:r>
          </a:p>
          <a:p>
            <a:pPr algn="l"/>
            <a:endParaRPr lang="en-US" dirty="0"/>
          </a:p>
          <a:p>
            <a:endParaRPr lang="en-IN" dirty="0"/>
          </a:p>
        </p:txBody>
      </p:sp>
    </p:spTree>
    <p:extLst>
      <p:ext uri="{BB962C8B-B14F-4D97-AF65-F5344CB8AC3E}">
        <p14:creationId xmlns:p14="http://schemas.microsoft.com/office/powerpoint/2010/main" val="1074593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1200" y="2641600"/>
            <a:ext cx="9965266" cy="3835400"/>
          </a:xfrm>
        </p:spPr>
        <p:txBody>
          <a:bodyPr/>
          <a:lstStyle/>
          <a:p>
            <a:pPr algn="l"/>
            <a:r>
              <a:rPr lang="en-IN" sz="1800" b="1" dirty="0" smtClean="0">
                <a:latin typeface="Arial" pitchFamily="34" charset="0"/>
                <a:cs typeface="Arial" pitchFamily="34" charset="0"/>
              </a:rPr>
              <a:t>1)Yang </a:t>
            </a:r>
            <a:r>
              <a:rPr lang="en-IN" sz="1800" b="1" dirty="0">
                <a:latin typeface="Arial" pitchFamily="34" charset="0"/>
                <a:cs typeface="Arial" pitchFamily="34" charset="0"/>
              </a:rPr>
              <a:t>H, Zhang S, </a:t>
            </a:r>
            <a:r>
              <a:rPr lang="en-IN" sz="1800" b="1" dirty="0" err="1">
                <a:latin typeface="Arial" pitchFamily="34" charset="0"/>
                <a:cs typeface="Arial" pitchFamily="34" charset="0"/>
              </a:rPr>
              <a:t>Zhong</a:t>
            </a:r>
            <a:r>
              <a:rPr lang="en-IN" sz="1800" b="1" dirty="0">
                <a:latin typeface="Arial" pitchFamily="34" charset="0"/>
                <a:cs typeface="Arial" pitchFamily="34" charset="0"/>
              </a:rPr>
              <a:t> Q, et al.</a:t>
            </a:r>
            <a:r>
              <a:rPr lang="en-IN" sz="1800" dirty="0">
                <a:latin typeface="Arial" pitchFamily="34" charset="0"/>
                <a:cs typeface="Arial" pitchFamily="34" charset="0"/>
              </a:rPr>
              <a:t> </a:t>
            </a:r>
            <a:r>
              <a:rPr lang="en-IN" sz="1800" i="1" dirty="0" err="1">
                <a:latin typeface="Arial" pitchFamily="34" charset="0"/>
                <a:cs typeface="Arial" pitchFamily="34" charset="0"/>
              </a:rPr>
              <a:t>Subtalar</a:t>
            </a:r>
            <a:r>
              <a:rPr lang="en-IN" sz="1800" i="1" dirty="0">
                <a:latin typeface="Arial" pitchFamily="34" charset="0"/>
                <a:cs typeface="Arial" pitchFamily="34" charset="0"/>
              </a:rPr>
              <a:t> joint arthroscopic-assisted reduction and </a:t>
            </a:r>
            <a:r>
              <a:rPr lang="en-IN" sz="1800" i="1" dirty="0" err="1">
                <a:latin typeface="Arial" pitchFamily="34" charset="0"/>
                <a:cs typeface="Arial" pitchFamily="34" charset="0"/>
              </a:rPr>
              <a:t>cannulated</a:t>
            </a:r>
            <a:r>
              <a:rPr lang="en-IN" sz="1800" i="1" dirty="0">
                <a:latin typeface="Arial" pitchFamily="34" charset="0"/>
                <a:cs typeface="Arial" pitchFamily="34" charset="0"/>
              </a:rPr>
              <a:t> screw fixation versus open reduction and internal fixation for displaced intra-articular calcaneal fractures.</a:t>
            </a:r>
            <a:r>
              <a:rPr lang="en-IN" sz="1800" dirty="0">
                <a:latin typeface="Arial" pitchFamily="34" charset="0"/>
                <a:cs typeface="Arial" pitchFamily="34" charset="0"/>
              </a:rPr>
              <a:t> </a:t>
            </a:r>
            <a:r>
              <a:rPr lang="en-IN" sz="1800" b="1" dirty="0">
                <a:latin typeface="Arial" pitchFamily="34" charset="0"/>
                <a:cs typeface="Arial" pitchFamily="34" charset="0"/>
              </a:rPr>
              <a:t>Journal of Orthopaedic Surgery and Research.</a:t>
            </a:r>
            <a:r>
              <a:rPr lang="en-IN" sz="1800" dirty="0">
                <a:latin typeface="Arial" pitchFamily="34" charset="0"/>
                <a:cs typeface="Arial" pitchFamily="34" charset="0"/>
              </a:rPr>
              <a:t> 2025;20:270. DOI:10.1186/s13018-025-05666-7. (Comparative study of </a:t>
            </a:r>
            <a:r>
              <a:rPr lang="en-IN" sz="1800" dirty="0" err="1">
                <a:latin typeface="Arial" pitchFamily="34" charset="0"/>
                <a:cs typeface="Arial" pitchFamily="34" charset="0"/>
              </a:rPr>
              <a:t>cannulated</a:t>
            </a:r>
            <a:r>
              <a:rPr lang="en-IN" sz="1800" dirty="0">
                <a:latin typeface="Arial" pitchFamily="34" charset="0"/>
                <a:cs typeface="Arial" pitchFamily="34" charset="0"/>
              </a:rPr>
              <a:t> screws </a:t>
            </a:r>
            <a:r>
              <a:rPr lang="en-IN" sz="1800" dirty="0" err="1">
                <a:latin typeface="Arial" pitchFamily="34" charset="0"/>
                <a:cs typeface="Arial" pitchFamily="34" charset="0"/>
              </a:rPr>
              <a:t>vs</a:t>
            </a:r>
            <a:r>
              <a:rPr lang="en-IN" sz="1800" dirty="0">
                <a:latin typeface="Arial" pitchFamily="34" charset="0"/>
                <a:cs typeface="Arial" pitchFamily="34" charset="0"/>
              </a:rPr>
              <a:t> ORIF with arthroscopic assistance) </a:t>
            </a:r>
            <a:br>
              <a:rPr lang="en-IN" sz="1800" dirty="0">
                <a:latin typeface="Arial" pitchFamily="34" charset="0"/>
                <a:cs typeface="Arial" pitchFamily="34" charset="0"/>
              </a:rPr>
            </a:br>
            <a:r>
              <a:rPr lang="en-IN" sz="1800" dirty="0" smtClean="0">
                <a:latin typeface="Arial" pitchFamily="34" charset="0"/>
                <a:cs typeface="Arial" pitchFamily="34" charset="0"/>
              </a:rPr>
              <a:t>2)</a:t>
            </a:r>
            <a:r>
              <a:rPr lang="en-IN" sz="1800" b="1" dirty="0" err="1" smtClean="0">
                <a:latin typeface="Arial" pitchFamily="34" charset="0"/>
                <a:cs typeface="Arial" pitchFamily="34" charset="0"/>
              </a:rPr>
              <a:t>Bahaeddini</a:t>
            </a:r>
            <a:r>
              <a:rPr lang="en-IN" sz="1800" b="1" dirty="0" smtClean="0">
                <a:latin typeface="Arial" pitchFamily="34" charset="0"/>
                <a:cs typeface="Arial" pitchFamily="34" charset="0"/>
              </a:rPr>
              <a:t> </a:t>
            </a:r>
            <a:r>
              <a:rPr lang="en-IN" sz="1800" b="1" dirty="0">
                <a:latin typeface="Arial" pitchFamily="34" charset="0"/>
                <a:cs typeface="Arial" pitchFamily="34" charset="0"/>
              </a:rPr>
              <a:t>MR, </a:t>
            </a:r>
            <a:r>
              <a:rPr lang="en-IN" sz="1800" b="1" dirty="0" err="1">
                <a:latin typeface="Arial" pitchFamily="34" charset="0"/>
                <a:cs typeface="Arial" pitchFamily="34" charset="0"/>
              </a:rPr>
              <a:t>Konjkav</a:t>
            </a:r>
            <a:r>
              <a:rPr lang="en-IN" sz="1800" b="1" dirty="0">
                <a:latin typeface="Arial" pitchFamily="34" charset="0"/>
                <a:cs typeface="Arial" pitchFamily="34" charset="0"/>
              </a:rPr>
              <a:t> AR, </a:t>
            </a:r>
            <a:r>
              <a:rPr lang="en-IN" sz="1800" b="1" dirty="0" err="1">
                <a:latin typeface="Arial" pitchFamily="34" charset="0"/>
                <a:cs typeface="Arial" pitchFamily="34" charset="0"/>
              </a:rPr>
              <a:t>Aminian</a:t>
            </a:r>
            <a:r>
              <a:rPr lang="en-IN" sz="1800" b="1" dirty="0">
                <a:latin typeface="Arial" pitchFamily="34" charset="0"/>
                <a:cs typeface="Arial" pitchFamily="34" charset="0"/>
              </a:rPr>
              <a:t> A, et al.</a:t>
            </a:r>
            <a:r>
              <a:rPr lang="en-IN" sz="1800" dirty="0">
                <a:latin typeface="Arial" pitchFamily="34" charset="0"/>
                <a:cs typeface="Arial" pitchFamily="34" charset="0"/>
              </a:rPr>
              <a:t> </a:t>
            </a:r>
            <a:r>
              <a:rPr lang="en-IN" sz="1800" i="1" dirty="0">
                <a:latin typeface="Arial" pitchFamily="34" charset="0"/>
                <a:cs typeface="Arial" pitchFamily="34" charset="0"/>
              </a:rPr>
              <a:t>A simple modified technique for screw fixation of displaced intra-articular calcaneus fractures through a sinus tarsi approach: comparison with plate fixation.</a:t>
            </a:r>
            <a:r>
              <a:rPr lang="en-IN" sz="1800" dirty="0">
                <a:latin typeface="Arial" pitchFamily="34" charset="0"/>
                <a:cs typeface="Arial" pitchFamily="34" charset="0"/>
              </a:rPr>
              <a:t> </a:t>
            </a:r>
            <a:r>
              <a:rPr lang="en-IN" sz="1800" b="1" dirty="0">
                <a:latin typeface="Arial" pitchFamily="34" charset="0"/>
                <a:cs typeface="Arial" pitchFamily="34" charset="0"/>
              </a:rPr>
              <a:t>BMC Musculoskeletal Disorders.</a:t>
            </a:r>
            <a:r>
              <a:rPr lang="en-IN" sz="1800" dirty="0">
                <a:latin typeface="Arial" pitchFamily="34" charset="0"/>
                <a:cs typeface="Arial" pitchFamily="34" charset="0"/>
              </a:rPr>
              <a:t> 2024;25:750. DOI:10.1186/s12891-024-07873-5. (Focused on screw fixation in sinus tarsi approach) </a:t>
            </a:r>
            <a:br>
              <a:rPr lang="en-IN" sz="1800" dirty="0">
                <a:latin typeface="Arial" pitchFamily="34" charset="0"/>
                <a:cs typeface="Arial" pitchFamily="34" charset="0"/>
              </a:rPr>
            </a:br>
            <a:r>
              <a:rPr lang="en-IN" sz="1800" dirty="0" smtClean="0">
                <a:latin typeface="Arial" pitchFamily="34" charset="0"/>
                <a:cs typeface="Arial" pitchFamily="34" charset="0"/>
              </a:rPr>
              <a:t>3)</a:t>
            </a:r>
            <a:r>
              <a:rPr lang="en-IN" sz="1800" b="1" dirty="0" err="1" smtClean="0">
                <a:latin typeface="Arial" pitchFamily="34" charset="0"/>
                <a:cs typeface="Arial" pitchFamily="34" charset="0"/>
              </a:rPr>
              <a:t>Kerketta</a:t>
            </a:r>
            <a:r>
              <a:rPr lang="en-IN" sz="1800" b="1" dirty="0" smtClean="0">
                <a:latin typeface="Arial" pitchFamily="34" charset="0"/>
                <a:cs typeface="Arial" pitchFamily="34" charset="0"/>
              </a:rPr>
              <a:t> </a:t>
            </a:r>
            <a:r>
              <a:rPr lang="en-IN" sz="1800" b="1" dirty="0">
                <a:latin typeface="Arial" pitchFamily="34" charset="0"/>
                <a:cs typeface="Arial" pitchFamily="34" charset="0"/>
              </a:rPr>
              <a:t>AH, Mittal S, Rahul K, </a:t>
            </a:r>
            <a:r>
              <a:rPr lang="en-IN" sz="1800" b="1" dirty="0" err="1">
                <a:latin typeface="Arial" pitchFamily="34" charset="0"/>
                <a:cs typeface="Arial" pitchFamily="34" charset="0"/>
              </a:rPr>
              <a:t>Laik</a:t>
            </a:r>
            <a:r>
              <a:rPr lang="en-IN" sz="1800" b="1" dirty="0">
                <a:latin typeface="Arial" pitchFamily="34" charset="0"/>
                <a:cs typeface="Arial" pitchFamily="34" charset="0"/>
              </a:rPr>
              <a:t> JK.</a:t>
            </a:r>
            <a:r>
              <a:rPr lang="en-IN" sz="1800" dirty="0">
                <a:latin typeface="Arial" pitchFamily="34" charset="0"/>
                <a:cs typeface="Arial" pitchFamily="34" charset="0"/>
              </a:rPr>
              <a:t> </a:t>
            </a:r>
            <a:r>
              <a:rPr lang="en-IN" sz="1800" i="1" dirty="0">
                <a:latin typeface="Arial" pitchFamily="34" charset="0"/>
                <a:cs typeface="Arial" pitchFamily="34" charset="0"/>
              </a:rPr>
              <a:t>Radiographic and functional outcome of operated closed intra-articular fractures of </a:t>
            </a:r>
            <a:r>
              <a:rPr lang="en-IN" sz="1800" i="1" dirty="0" err="1">
                <a:latin typeface="Arial" pitchFamily="34" charset="0"/>
                <a:cs typeface="Arial" pitchFamily="34" charset="0"/>
              </a:rPr>
              <a:t>calcaneum</a:t>
            </a:r>
            <a:r>
              <a:rPr lang="en-IN" sz="1800" i="1" dirty="0">
                <a:latin typeface="Arial" pitchFamily="34" charset="0"/>
                <a:cs typeface="Arial" pitchFamily="34" charset="0"/>
              </a:rPr>
              <a:t>: screws </a:t>
            </a:r>
            <a:r>
              <a:rPr lang="en-IN" sz="1800" i="1" dirty="0" err="1">
                <a:latin typeface="Arial" pitchFamily="34" charset="0"/>
                <a:cs typeface="Arial" pitchFamily="34" charset="0"/>
              </a:rPr>
              <a:t>vs</a:t>
            </a:r>
            <a:r>
              <a:rPr lang="en-IN" sz="1800" i="1" dirty="0">
                <a:latin typeface="Arial" pitchFamily="34" charset="0"/>
                <a:cs typeface="Arial" pitchFamily="34" charset="0"/>
              </a:rPr>
              <a:t> plate fixation.</a:t>
            </a:r>
            <a:r>
              <a:rPr lang="en-IN" sz="1800" dirty="0">
                <a:latin typeface="Arial" pitchFamily="34" charset="0"/>
                <a:cs typeface="Arial" pitchFamily="34" charset="0"/>
              </a:rPr>
              <a:t> </a:t>
            </a:r>
            <a:r>
              <a:rPr lang="en-IN" sz="1800" b="1" dirty="0">
                <a:latin typeface="Arial" pitchFamily="34" charset="0"/>
                <a:cs typeface="Arial" pitchFamily="34" charset="0"/>
              </a:rPr>
              <a:t>International Journal of Research in Orthopaedics.</a:t>
            </a:r>
            <a:r>
              <a:rPr lang="en-IN" sz="1800" dirty="0">
                <a:latin typeface="Arial" pitchFamily="34" charset="0"/>
                <a:cs typeface="Arial" pitchFamily="34" charset="0"/>
              </a:rPr>
              <a:t> 2023;9(5):975-981. (Shows </a:t>
            </a:r>
            <a:r>
              <a:rPr lang="en-IN" sz="1800" dirty="0" err="1">
                <a:latin typeface="Arial" pitchFamily="34" charset="0"/>
                <a:cs typeface="Arial" pitchFamily="34" charset="0"/>
              </a:rPr>
              <a:t>cannulated</a:t>
            </a:r>
            <a:r>
              <a:rPr lang="en-IN" sz="1800" dirty="0">
                <a:latin typeface="Arial" pitchFamily="34" charset="0"/>
                <a:cs typeface="Arial" pitchFamily="34" charset="0"/>
              </a:rPr>
              <a:t> screw outcomes </a:t>
            </a:r>
            <a:r>
              <a:rPr lang="en-IN" sz="1800" dirty="0" err="1">
                <a:latin typeface="Arial" pitchFamily="34" charset="0"/>
                <a:cs typeface="Arial" pitchFamily="34" charset="0"/>
              </a:rPr>
              <a:t>vs</a:t>
            </a:r>
            <a:r>
              <a:rPr lang="en-IN" sz="1800" dirty="0">
                <a:latin typeface="Arial" pitchFamily="34" charset="0"/>
                <a:cs typeface="Arial" pitchFamily="34" charset="0"/>
              </a:rPr>
              <a:t> plate) </a:t>
            </a:r>
            <a:br>
              <a:rPr lang="en-IN" sz="1800" dirty="0">
                <a:latin typeface="Arial" pitchFamily="34" charset="0"/>
                <a:cs typeface="Arial" pitchFamily="34" charset="0"/>
              </a:rPr>
            </a:br>
            <a:r>
              <a:rPr lang="en-IN" sz="1800" dirty="0" smtClean="0">
                <a:latin typeface="Arial" pitchFamily="34" charset="0"/>
                <a:cs typeface="Arial" pitchFamily="34" charset="0"/>
              </a:rPr>
              <a:t>4)</a:t>
            </a:r>
            <a:r>
              <a:rPr lang="en-IN" sz="1800" b="1" dirty="0" smtClean="0">
                <a:latin typeface="Arial" pitchFamily="34" charset="0"/>
                <a:cs typeface="Arial" pitchFamily="34" charset="0"/>
              </a:rPr>
              <a:t>PubMed</a:t>
            </a:r>
            <a:r>
              <a:rPr lang="en-IN" sz="1800" b="1" dirty="0">
                <a:latin typeface="Arial" pitchFamily="34" charset="0"/>
                <a:cs typeface="Arial" pitchFamily="34" charset="0"/>
              </a:rPr>
              <a:t>: Prospective comparative study</a:t>
            </a:r>
            <a:r>
              <a:rPr lang="en-IN" sz="1800" dirty="0">
                <a:latin typeface="Arial" pitchFamily="34" charset="0"/>
                <a:cs typeface="Arial" pitchFamily="34" charset="0"/>
              </a:rPr>
              <a:t> – </a:t>
            </a:r>
            <a:r>
              <a:rPr lang="en-IN" sz="1800" i="1" dirty="0">
                <a:latin typeface="Arial" pitchFamily="34" charset="0"/>
                <a:cs typeface="Arial" pitchFamily="34" charset="0"/>
              </a:rPr>
              <a:t>Percutaneous </a:t>
            </a:r>
            <a:r>
              <a:rPr lang="en-IN" sz="1800" i="1" dirty="0" err="1">
                <a:latin typeface="Arial" pitchFamily="34" charset="0"/>
                <a:cs typeface="Arial" pitchFamily="34" charset="0"/>
              </a:rPr>
              <a:t>cannulated</a:t>
            </a:r>
            <a:r>
              <a:rPr lang="en-IN" sz="1800" i="1" dirty="0">
                <a:latin typeface="Arial" pitchFamily="34" charset="0"/>
                <a:cs typeface="Arial" pitchFamily="34" charset="0"/>
              </a:rPr>
              <a:t> screws </a:t>
            </a:r>
            <a:r>
              <a:rPr lang="en-IN" sz="1800" i="1" dirty="0" err="1">
                <a:latin typeface="Arial" pitchFamily="34" charset="0"/>
                <a:cs typeface="Arial" pitchFamily="34" charset="0"/>
              </a:rPr>
              <a:t>vs</a:t>
            </a:r>
            <a:r>
              <a:rPr lang="en-IN" sz="1800" i="1" dirty="0">
                <a:latin typeface="Arial" pitchFamily="34" charset="0"/>
                <a:cs typeface="Arial" pitchFamily="34" charset="0"/>
              </a:rPr>
              <a:t> K-wires for displaced intra-articular calcaneal fractures.</a:t>
            </a:r>
            <a:r>
              <a:rPr lang="en-IN" sz="1800" dirty="0">
                <a:latin typeface="Arial" pitchFamily="34" charset="0"/>
                <a:cs typeface="Arial" pitchFamily="34" charset="0"/>
              </a:rPr>
              <a:t> Prospective study showing better functional &amp; radiologic outcomes with screws. (</a:t>
            </a:r>
            <a:r>
              <a:rPr lang="en-IN" sz="1800" dirty="0" err="1">
                <a:latin typeface="Arial" pitchFamily="34" charset="0"/>
                <a:cs typeface="Arial" pitchFamily="34" charset="0"/>
              </a:rPr>
              <a:t>Sohag</a:t>
            </a:r>
            <a:r>
              <a:rPr lang="en-IN" sz="1800" dirty="0">
                <a:latin typeface="Arial" pitchFamily="34" charset="0"/>
                <a:cs typeface="Arial" pitchFamily="34" charset="0"/>
              </a:rPr>
              <a:t> Univ. Hospital RCT; Sanders II/III) </a:t>
            </a:r>
            <a:r>
              <a:rPr lang="en-IN" sz="1600" dirty="0">
                <a:latin typeface="Arial" pitchFamily="34" charset="0"/>
                <a:cs typeface="Arial" pitchFamily="34" charset="0"/>
              </a:rPr>
              <a:t/>
            </a:r>
            <a:br>
              <a:rPr lang="en-IN" sz="1600" dirty="0">
                <a:latin typeface="Arial" pitchFamily="34" charset="0"/>
                <a:cs typeface="Arial" pitchFamily="34" charset="0"/>
              </a:rPr>
            </a:br>
            <a:r>
              <a:rPr lang="en-IN" sz="2000" dirty="0"/>
              <a:t/>
            </a:r>
            <a:br>
              <a:rPr lang="en-IN" sz="2000" dirty="0"/>
            </a:br>
            <a:endParaRPr lang="en-IN" sz="2000" dirty="0">
              <a:latin typeface="Arial" pitchFamily="34" charset="0"/>
              <a:cs typeface="Arial" pitchFamily="34" charset="0"/>
            </a:endParaRPr>
          </a:p>
        </p:txBody>
      </p:sp>
      <p:sp>
        <p:nvSpPr>
          <p:cNvPr id="3" name="Subtitle 2"/>
          <p:cNvSpPr>
            <a:spLocks noGrp="1"/>
          </p:cNvSpPr>
          <p:nvPr>
            <p:ph type="subTitle" idx="1"/>
          </p:nvPr>
        </p:nvSpPr>
        <p:spPr>
          <a:xfrm>
            <a:off x="0" y="1332970"/>
            <a:ext cx="9144000" cy="724429"/>
          </a:xfrm>
        </p:spPr>
        <p:txBody>
          <a:bodyPr/>
          <a:lstStyle/>
          <a:p>
            <a:pPr algn="l"/>
            <a:r>
              <a:rPr lang="en-US" sz="3200" b="1" dirty="0" smtClean="0">
                <a:latin typeface="Arial" pitchFamily="34" charset="0"/>
                <a:cs typeface="Arial" pitchFamily="34" charset="0"/>
              </a:rPr>
              <a:t>REFERENCES</a:t>
            </a:r>
            <a:endParaRPr lang="en-IN" sz="3200" b="1" dirty="0">
              <a:latin typeface="Arial" pitchFamily="34" charset="0"/>
              <a:cs typeface="Arial" pitchFamily="34" charset="0"/>
            </a:endParaRPr>
          </a:p>
        </p:txBody>
      </p:sp>
    </p:spTree>
    <p:extLst>
      <p:ext uri="{BB962C8B-B14F-4D97-AF65-F5344CB8AC3E}">
        <p14:creationId xmlns:p14="http://schemas.microsoft.com/office/powerpoint/2010/main" val="3109389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383</TotalTime>
  <Words>499</Words>
  <Application>Microsoft Office PowerPoint</Application>
  <PresentationFormat>Custom</PresentationFormat>
  <Paragraphs>33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A  study  of  intra  articular  calcaneal  fracture  treated  with  cannulated  screw  fixation.</vt:lpstr>
      <vt:lpstr>INTRODUCTION</vt:lpstr>
      <vt:lpstr>AIM</vt:lpstr>
      <vt:lpstr>SURGICAL  TECHNIQUE</vt:lpstr>
      <vt:lpstr>PowerPoint Presentation</vt:lpstr>
      <vt:lpstr>RESULTS</vt:lpstr>
      <vt:lpstr>PowerPoint Presentation</vt:lpstr>
      <vt:lpstr>1)Yang H, Zhang S, Zhong Q, et al. Subtalar joint arthroscopic-assisted reduction and cannulated screw fixation versus open reduction and internal fixation for displaced intra-articular calcaneal fractures. Journal of Orthopaedic Surgery and Research. 2025;20:270. DOI:10.1186/s13018-025-05666-7. (Comparative study of cannulated screws vs ORIF with arthroscopic assistance)  2)Bahaeddini MR, Konjkav AR, Aminian A, et al. A simple modified technique for screw fixation of displaced intra-articular calcaneus fractures through a sinus tarsi approach: comparison with plate fixation. BMC Musculoskeletal Disorders. 2024;25:750. DOI:10.1186/s12891-024-07873-5. (Focused on screw fixation in sinus tarsi approach)  3)Kerketta AH, Mittal S, Rahul K, Laik JK. Radiographic and functional outcome of operated closed intra-articular fractures of calcaneum: screws vs plate fixation. International Journal of Research in Orthopaedics. 2023;9(5):975-981. (Shows cannulated screw outcomes vs plate)  4)PubMed: Prospective comparative study – Percutaneous cannulated screws vs K-wires for displaced intra-articular calcaneal fractures. Prospective study showing better functional &amp; radiologic outcomes with screws. (Sohag Univ. Hospital RCT; Sanders II/III)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of  intra  articular  calcaneal  fracture  treated  with  cannulated  screw  fixation.</dc:title>
  <dc:creator>Virinchi Vinay</dc:creator>
  <cp:lastModifiedBy>ACER</cp:lastModifiedBy>
  <cp:revision>22</cp:revision>
  <dcterms:created xsi:type="dcterms:W3CDTF">2026-01-11T06:24:43Z</dcterms:created>
  <dcterms:modified xsi:type="dcterms:W3CDTF">2026-01-31T06:31:58Z</dcterms:modified>
</cp:coreProperties>
</file>