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a:rPr>
              <a:t>55</a:t>
            </a:r>
            <a:r>
              <a:rPr lang="en-US" b="1" baseline="30000" dirty="0">
                <a:solidFill>
                  <a:schemeClr val="bg1"/>
                </a:solidFill>
                <a:latin typeface="Gordita "/>
              </a:rPr>
              <a:t>th</a:t>
            </a:r>
            <a:r>
              <a:rPr lang="en-US" b="1" dirty="0">
                <a:solidFill>
                  <a:schemeClr val="bg1"/>
                </a:solidFill>
                <a:latin typeface="Gordita "/>
              </a:rPr>
              <a:t>   Annual Conference of </a:t>
            </a:r>
            <a:endParaRPr lang="en-US" b="1" dirty="0">
              <a:solidFill>
                <a:schemeClr val="bg1"/>
              </a:solidFill>
              <a:latin typeface="Gordita "/>
            </a:endParaRPr>
          </a:p>
          <a:p>
            <a:r>
              <a:rPr lang="en-US" b="1" dirty="0">
                <a:solidFill>
                  <a:schemeClr val="bg1"/>
                </a:solidFill>
                <a:latin typeface="Gordita "/>
              </a:rPr>
              <a:t>Orthopedic Surgeon Society of Andhra Pradesh</a:t>
            </a:r>
            <a:endParaRPr lang="en-US" b="1" dirty="0">
              <a:solidFill>
                <a:schemeClr val="bg1"/>
              </a:solidFill>
              <a:latin typeface="Gordita "/>
            </a:endParaRPr>
          </a:p>
        </p:txBody>
      </p:sp>
      <p:sp>
        <p:nvSpPr>
          <p:cNvPr id="19"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endParaRPr lang="en-US" sz="1200" b="1" dirty="0">
              <a:solidFill>
                <a:schemeClr val="bg1"/>
              </a:solidFill>
              <a:latin typeface="Gordita "/>
            </a:endParaRPr>
          </a:p>
        </p:txBody>
      </p:sp>
      <p:sp>
        <p:nvSpPr>
          <p:cNvPr id="20"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endParaRPr lang="en-US" sz="1200" b="1" dirty="0">
              <a:solidFill>
                <a:schemeClr val="bg1"/>
              </a:solidFill>
              <a:latin typeface="Gordita "/>
            </a:endParaRPr>
          </a:p>
        </p:txBody>
      </p:sp>
      <p:sp>
        <p:nvSpPr>
          <p:cNvPr id="21"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5"/>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jpeg"/><Relationship Id="rId7" Type="http://schemas.openxmlformats.org/officeDocument/2006/relationships/image" Target="../media/image7.jpeg"/><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p:nvSpPr>
        <p:spPr>
          <a:xfrm>
            <a:off x="2065655" y="27305"/>
            <a:ext cx="7103745" cy="460375"/>
          </a:xfrm>
          <a:prstGeom prst="rect">
            <a:avLst/>
          </a:prstGeom>
          <a:noFill/>
        </p:spPr>
        <p:txBody>
          <a:bodyPr wrap="square" rtlCol="0">
            <a:spAutoFit/>
          </a:bodyPr>
          <a:lstStyle/>
          <a:p>
            <a:pPr algn="l"/>
            <a:r>
              <a:rPr lang="en-US" sz="2400" b="1" dirty="0">
                <a:solidFill>
                  <a:schemeClr val="bg1"/>
                </a:solidFill>
                <a:latin typeface="Calibri" panose="020F0502020204030204" charset="0"/>
                <a:cs typeface="Calibri" panose="020F0502020204030204" charset="0"/>
              </a:rPr>
              <a:t> Role of corrective osteotomy in Bilateral hallux valgus</a:t>
            </a:r>
            <a:endParaRPr lang="en-US" sz="2400" b="1" dirty="0">
              <a:solidFill>
                <a:schemeClr val="bg1"/>
              </a:solidFill>
              <a:latin typeface="Calibri" panose="020F0502020204030204" charset="0"/>
              <a:cs typeface="Calibri" panose="020F0502020204030204" charset="0"/>
            </a:endParaRPr>
          </a:p>
        </p:txBody>
      </p:sp>
      <p:sp>
        <p:nvSpPr>
          <p:cNvPr id="4" name="Freeform 13"/>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4"/>
            <a:stretch>
              <a:fillRect t="-9937" r="-4895" b="-10857"/>
            </a:stretch>
          </a:blipFill>
        </p:spPr>
        <p:txBody>
          <a:bodyPr/>
          <a:lstStyle/>
          <a:p>
            <a:endParaRPr lang="en-US"/>
          </a:p>
        </p:txBody>
      </p:sp>
      <p:sp>
        <p:nvSpPr>
          <p:cNvPr id="5" name="Rectangle 4"/>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p:cNvSpPr/>
          <p:nvPr/>
        </p:nvSpPr>
        <p:spPr>
          <a:xfrm>
            <a:off x="0" y="1296032"/>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endParaRPr lang="en-US" b="1" dirty="0">
              <a:solidFill>
                <a:schemeClr val="tx1"/>
              </a:solidFill>
            </a:endParaRPr>
          </a:p>
        </p:txBody>
      </p:sp>
      <p:sp>
        <p:nvSpPr>
          <p:cNvPr id="11" name="Rectangle 10"/>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endParaRPr lang="en-US" b="1" dirty="0">
              <a:solidFill>
                <a:schemeClr val="tx1">
                  <a:lumMod val="95000"/>
                  <a:lumOff val="5000"/>
                </a:schemeClr>
              </a:solidFill>
            </a:endParaRPr>
          </a:p>
        </p:txBody>
      </p:sp>
      <p:sp>
        <p:nvSpPr>
          <p:cNvPr id="12" name="Rectangle 11"/>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endParaRPr lang="en-US" b="1" dirty="0">
              <a:solidFill>
                <a:schemeClr val="tx1">
                  <a:lumMod val="95000"/>
                  <a:lumOff val="5000"/>
                </a:schemeClr>
              </a:solidFill>
            </a:endParaRPr>
          </a:p>
        </p:txBody>
      </p:sp>
      <p:sp>
        <p:nvSpPr>
          <p:cNvPr id="13" name="Rectangle 12"/>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endParaRPr lang="en-US" b="1" dirty="0">
              <a:solidFill>
                <a:schemeClr val="tx1">
                  <a:lumMod val="95000"/>
                  <a:lumOff val="5000"/>
                </a:schemeClr>
              </a:solidFill>
            </a:endParaRPr>
          </a:p>
        </p:txBody>
      </p:sp>
      <p:sp>
        <p:nvSpPr>
          <p:cNvPr id="22" name="Rectangle 21"/>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endParaRPr lang="en-US" b="1" dirty="0">
              <a:solidFill>
                <a:schemeClr val="tx1">
                  <a:lumMod val="95000"/>
                  <a:lumOff val="5000"/>
                </a:schemeClr>
              </a:solidFill>
            </a:endParaRPr>
          </a:p>
        </p:txBody>
      </p:sp>
      <p:sp>
        <p:nvSpPr>
          <p:cNvPr id="23" name="Text Box 22"/>
          <p:cNvSpPr txBox="1"/>
          <p:nvPr/>
        </p:nvSpPr>
        <p:spPr>
          <a:xfrm>
            <a:off x="43815" y="1697355"/>
            <a:ext cx="3032760" cy="3491865"/>
          </a:xfrm>
          <a:prstGeom prst="rect">
            <a:avLst/>
          </a:prstGeom>
          <a:noFill/>
        </p:spPr>
        <p:txBody>
          <a:bodyPr wrap="square" rtlCol="0">
            <a:spAutoFit/>
          </a:bodyPr>
          <a:p>
            <a:pPr algn="l"/>
            <a:r>
              <a:rPr lang="en-US" sz="1300">
                <a:latin typeface="Arial" panose="020B0604020202020204" pitchFamily="34" charset="0"/>
                <a:cs typeface="Arial" panose="020B0604020202020204" pitchFamily="34" charset="0"/>
              </a:rPr>
              <a:t>Hallux Valgus is not a single disorder but a complex deformity of the first ray that is frequently accompanied by deformity and symptoms in lesser toes. Evidence suggests that hallux valgus maybe familial especially when it occurs in adolescent age group. Preoperative evaluation must include thorough clinical examintaion of foot, radiographs of foot in standard anteroposterior, lateral views and sesamoid views. Treatment focuses on deformity correction, adequate soft tissue release and post operative care to make sure that the deformity doesn’t reccur. </a:t>
            </a:r>
            <a:endParaRPr lang="en-US" sz="1300">
              <a:latin typeface="Arial" panose="020B0604020202020204" pitchFamily="34" charset="0"/>
              <a:cs typeface="Arial" panose="020B0604020202020204" pitchFamily="34" charset="0"/>
            </a:endParaRPr>
          </a:p>
          <a:p>
            <a:pPr algn="l"/>
            <a:endParaRPr lang="en-US" sz="1300">
              <a:latin typeface="Arial" panose="020B0604020202020204" pitchFamily="34" charset="0"/>
              <a:cs typeface="Arial" panose="020B0604020202020204" pitchFamily="34" charset="0"/>
            </a:endParaRPr>
          </a:p>
        </p:txBody>
      </p:sp>
      <p:sp>
        <p:nvSpPr>
          <p:cNvPr id="24" name="Text Box 23"/>
          <p:cNvSpPr txBox="1"/>
          <p:nvPr/>
        </p:nvSpPr>
        <p:spPr>
          <a:xfrm>
            <a:off x="28575" y="5433695"/>
            <a:ext cx="3077210" cy="1330960"/>
          </a:xfrm>
          <a:prstGeom prst="rect">
            <a:avLst/>
          </a:prstGeom>
          <a:noFill/>
        </p:spPr>
        <p:txBody>
          <a:bodyPr wrap="square" rtlCol="0">
            <a:noAutofit/>
          </a:bodyPr>
          <a:p>
            <a:pPr>
              <a:lnSpc>
                <a:spcPct val="125000"/>
              </a:lnSpc>
              <a:spcBef>
                <a:spcPts val="0"/>
              </a:spcBef>
              <a:spcAft>
                <a:spcPts val="0"/>
              </a:spcAft>
            </a:pPr>
            <a:r>
              <a:rPr lang="en-US" sz="1300">
                <a:latin typeface="Arial" panose="020B0604020202020204" pitchFamily="34" charset="0"/>
                <a:cs typeface="Arial" panose="020B0604020202020204" pitchFamily="34" charset="0"/>
              </a:rPr>
              <a:t>A case report of deformity correction in a skeletally mature adolescent female with bilateral hallux valgus, treated with Chevron osteotomy and Herbert screw fixation.</a:t>
            </a:r>
            <a:endParaRPr lang="en-US" sz="1300">
              <a:latin typeface="Arial" panose="020B0604020202020204" pitchFamily="34" charset="0"/>
              <a:cs typeface="Arial" panose="020B0604020202020204" pitchFamily="34" charset="0"/>
            </a:endParaRPr>
          </a:p>
        </p:txBody>
      </p:sp>
      <p:pic>
        <p:nvPicPr>
          <p:cNvPr id="31" name="Picture 30" descr="Intraop1"/>
          <p:cNvPicPr>
            <a:picLocks noChangeAspect="1"/>
          </p:cNvPicPr>
          <p:nvPr/>
        </p:nvPicPr>
        <p:blipFill>
          <a:blip r:embed="rId5"/>
          <a:srcRect l="14722" t="32979" r="15403" b="43188"/>
          <a:stretch>
            <a:fillRect/>
          </a:stretch>
        </p:blipFill>
        <p:spPr>
          <a:xfrm>
            <a:off x="4179570" y="4058285"/>
            <a:ext cx="2136775" cy="1091565"/>
          </a:xfrm>
          <a:prstGeom prst="roundRect">
            <a:avLst>
              <a:gd name="adj" fmla="val 50000"/>
            </a:avLst>
          </a:prstGeom>
        </p:spPr>
      </p:pic>
      <p:sp>
        <p:nvSpPr>
          <p:cNvPr id="34" name="Text Box 33"/>
          <p:cNvSpPr txBox="1"/>
          <p:nvPr/>
        </p:nvSpPr>
        <p:spPr>
          <a:xfrm>
            <a:off x="3124200" y="1697355"/>
            <a:ext cx="3216910" cy="2192020"/>
          </a:xfrm>
          <a:prstGeom prst="rect">
            <a:avLst/>
          </a:prstGeom>
          <a:noFill/>
        </p:spPr>
        <p:txBody>
          <a:bodyPr wrap="square" rtlCol="0">
            <a:noAutofit/>
          </a:bodyPr>
          <a:p>
            <a:r>
              <a:rPr lang="en-US" sz="1300">
                <a:latin typeface="Arial" panose="020B0604020202020204" pitchFamily="34" charset="0"/>
                <a:cs typeface="Arial" panose="020B0604020202020204" pitchFamily="34" charset="0"/>
              </a:rPr>
              <a:t>Intraoperatively, after skin and subcutaneous tissue were incised, longitudinal capsular incision is given in midline over medial eminence. Using saw, Chevron osteotomy was performed in metatarsal head. Capital fragment was shifted laterally and fixed internally with Herbert screw. Later,  capsular release  was performed on lateral side along with adductor hallucis tendon release to aid in deformity correction.</a:t>
            </a:r>
            <a:endParaRPr lang="en-US" sz="1300">
              <a:latin typeface="Arial" panose="020B0604020202020204" pitchFamily="34" charset="0"/>
              <a:cs typeface="Arial" panose="020B0604020202020204" pitchFamily="34" charset="0"/>
            </a:endParaRPr>
          </a:p>
        </p:txBody>
      </p:sp>
      <p:pic>
        <p:nvPicPr>
          <p:cNvPr id="35" name="Picture 34" descr="plan final"/>
          <p:cNvPicPr>
            <a:picLocks noChangeAspect="1"/>
          </p:cNvPicPr>
          <p:nvPr/>
        </p:nvPicPr>
        <p:blipFill>
          <a:blip r:embed="rId6"/>
          <a:srcRect l="47910" t="7861" r="14271" b="13926"/>
          <a:stretch>
            <a:fillRect/>
          </a:stretch>
        </p:blipFill>
        <p:spPr>
          <a:xfrm>
            <a:off x="3340100" y="3918585"/>
            <a:ext cx="833120" cy="1292860"/>
          </a:xfrm>
          <a:prstGeom prst="rect">
            <a:avLst/>
          </a:prstGeom>
        </p:spPr>
      </p:pic>
      <p:pic>
        <p:nvPicPr>
          <p:cNvPr id="2" name="Picture 1" descr="xray 1year "/>
          <p:cNvPicPr>
            <a:picLocks noChangeAspect="1"/>
          </p:cNvPicPr>
          <p:nvPr/>
        </p:nvPicPr>
        <p:blipFill>
          <a:blip r:embed="rId7"/>
          <a:srcRect l="5827" t="14694" r="7444" b="3861"/>
          <a:stretch>
            <a:fillRect/>
          </a:stretch>
        </p:blipFill>
        <p:spPr>
          <a:xfrm>
            <a:off x="3355340" y="5211445"/>
            <a:ext cx="1314450" cy="1646555"/>
          </a:xfrm>
          <a:prstGeom prst="rect">
            <a:avLst/>
          </a:prstGeom>
        </p:spPr>
      </p:pic>
      <p:sp>
        <p:nvSpPr>
          <p:cNvPr id="3" name="Text Box 2"/>
          <p:cNvSpPr txBox="1"/>
          <p:nvPr/>
        </p:nvSpPr>
        <p:spPr>
          <a:xfrm>
            <a:off x="6356350" y="1647825"/>
            <a:ext cx="5846445" cy="3065145"/>
          </a:xfrm>
          <a:prstGeom prst="rect">
            <a:avLst/>
          </a:prstGeom>
          <a:noFill/>
        </p:spPr>
        <p:txBody>
          <a:bodyPr wrap="square" rtlCol="0">
            <a:noAutofit/>
          </a:bodyPr>
          <a:p>
            <a:r>
              <a:rPr lang="en-US" sz="1300">
                <a:latin typeface="Arial" panose="020B0604020202020204" pitchFamily="34" charset="0"/>
                <a:cs typeface="Arial" panose="020B0604020202020204" pitchFamily="34" charset="0"/>
                <a:sym typeface="+mn-ea"/>
              </a:rPr>
              <a:t>In our case, osteotomy and internal fixation with herbert screw was combined with lateral capsule and  adductor hallucis release to help in preventing recurrence of deformity as the patient was a young adolescent female after the procedure. Post operatively, the patient was advised to use toe spacer and immobilisation for a period of 3weeks to aid in soft tissue healing. Immobilisation with below knee slab was continued for a period of 6weeks to allow bony union. 8weeks postop, the patient was allowed weight bearing walking on operated limb and advised to use splint for a further duration of 2months. At 1year follow up, the patient had no major complaints, with occasional pain while walking for prolonged duration and on using narrow footwear. Therefore, Corrective osteotomy and internal fixaxtion is an effective and safe treatment option  for deformity correction in Hallux valgus. When combined with lateral soft tisssue release, the functional outcome had improved and our patient had satisfactory reduction of deformity and significant pain relief at 1 year followup.</a:t>
            </a:r>
            <a:endParaRPr lang="en-US" sz="1300">
              <a:latin typeface="Arial" panose="020B0604020202020204" pitchFamily="34" charset="0"/>
              <a:cs typeface="Arial" panose="020B0604020202020204" pitchFamily="34" charset="0"/>
            </a:endParaRPr>
          </a:p>
        </p:txBody>
      </p:sp>
      <p:pic>
        <p:nvPicPr>
          <p:cNvPr id="21" name="Picture 20" descr="closure hallux"/>
          <p:cNvPicPr>
            <a:picLocks noChangeAspect="1"/>
          </p:cNvPicPr>
          <p:nvPr/>
        </p:nvPicPr>
        <p:blipFill>
          <a:blip r:embed="rId8"/>
          <a:srcRect l="28194" t="8729" r="21486" b="35688"/>
          <a:stretch>
            <a:fillRect/>
          </a:stretch>
        </p:blipFill>
        <p:spPr>
          <a:xfrm>
            <a:off x="4829810" y="5118100"/>
            <a:ext cx="1231265" cy="1732915"/>
          </a:xfrm>
          <a:prstGeom prst="rect">
            <a:avLst/>
          </a:prstGeom>
        </p:spPr>
      </p:pic>
      <p:sp>
        <p:nvSpPr>
          <p:cNvPr id="26" name="Text Box 25"/>
          <p:cNvSpPr txBox="1"/>
          <p:nvPr/>
        </p:nvSpPr>
        <p:spPr>
          <a:xfrm>
            <a:off x="6384925" y="5152390"/>
            <a:ext cx="5763895" cy="1849755"/>
          </a:xfrm>
          <a:prstGeom prst="rect">
            <a:avLst/>
          </a:prstGeom>
          <a:noFill/>
        </p:spPr>
        <p:txBody>
          <a:bodyPr wrap="square" rtlCol="0">
            <a:noAutofit/>
          </a:bodyPr>
          <a:p>
            <a:r>
              <a:rPr lang="en-US" altLang="en-US" sz="1300">
                <a:latin typeface="Arial" panose="020B0604020202020204" pitchFamily="34" charset="0"/>
                <a:cs typeface="Arial" panose="020B0604020202020204" pitchFamily="34" charset="0"/>
              </a:rPr>
              <a:t>Corrective osteotomy is an effective and safe surgical option for hallux valgus, providing reliable deformity correction and improved functional outcomes with minimal postoperative morbidity in a skeletally mature patient.</a:t>
            </a:r>
            <a:endParaRPr lang="en-US" altLang="en-US" sz="1300">
              <a:latin typeface="Arial" panose="020B0604020202020204" pitchFamily="34" charset="0"/>
              <a:cs typeface="Arial" panose="020B0604020202020204" pitchFamily="34" charset="0"/>
            </a:endParaRPr>
          </a:p>
          <a:p>
            <a:r>
              <a:rPr lang="en-US" altLang="en-US" sz="1300" b="1" u="sng">
                <a:latin typeface="Arial" panose="020B0604020202020204" pitchFamily="34" charset="0"/>
                <a:cs typeface="Arial" panose="020B0604020202020204" pitchFamily="34" charset="0"/>
              </a:rPr>
              <a:t>References</a:t>
            </a:r>
            <a:r>
              <a:rPr lang="en-US" altLang="en-US" sz="1300">
                <a:latin typeface="Arial" panose="020B0604020202020204" pitchFamily="34" charset="0"/>
                <a:cs typeface="Arial" panose="020B0604020202020204" pitchFamily="34" charset="0"/>
              </a:rPr>
              <a:t>:</a:t>
            </a:r>
            <a:endParaRPr lang="en-US" altLang="en-US" sz="1300">
              <a:latin typeface="Arial" panose="020B0604020202020204" pitchFamily="34" charset="0"/>
              <a:cs typeface="Arial" panose="020B0604020202020204" pitchFamily="34" charset="0"/>
            </a:endParaRPr>
          </a:p>
          <a:p>
            <a:r>
              <a:rPr lang="en-US" altLang="en-US" sz="1300">
                <a:latin typeface="Arial" panose="020B0604020202020204" pitchFamily="34" charset="0"/>
                <a:cs typeface="Arial" panose="020B0604020202020204" pitchFamily="34" charset="0"/>
              </a:rPr>
              <a:t>1)Trnka HJ. The chevron osteotomy for correction of hallux valgus. J Bone Joint Surg Am. 2000;82(10):1373–1378.</a:t>
            </a:r>
            <a:endParaRPr lang="en-US" altLang="en-US" sz="1300">
              <a:latin typeface="Arial" panose="020B0604020202020204" pitchFamily="34" charset="0"/>
              <a:cs typeface="Arial" panose="020B0604020202020204" pitchFamily="34" charset="0"/>
            </a:endParaRPr>
          </a:p>
          <a:p>
            <a:r>
              <a:rPr lang="en-US" altLang="en-US" sz="1300">
                <a:latin typeface="Arial" panose="020B0604020202020204" pitchFamily="34" charset="0"/>
                <a:cs typeface="Arial" panose="020B0604020202020204" pitchFamily="34" charset="0"/>
              </a:rPr>
              <a:t>2) Trnka HJ. Modified Austin procedure for correction of hallux valgus. Foot Ankle Clin. 2005;10(1):15–23.</a:t>
            </a:r>
            <a:endParaRPr lang="en-US" altLang="en-US" sz="1300">
              <a:latin typeface="Arial" panose="020B0604020202020204" pitchFamily="34" charset="0"/>
              <a:cs typeface="Arial" panose="020B0604020202020204" pitchFamily="34" charset="0"/>
            </a:endParaRPr>
          </a:p>
        </p:txBody>
      </p:sp>
      <p:sp>
        <p:nvSpPr>
          <p:cNvPr id="27" name="TextBox 22"/>
          <p:cNvSpPr txBox="1"/>
          <p:nvPr/>
        </p:nvSpPr>
        <p:spPr>
          <a:xfrm>
            <a:off x="2224800" y="405194"/>
            <a:ext cx="6781774" cy="922020"/>
          </a:xfrm>
          <a:prstGeom prst="rect">
            <a:avLst/>
          </a:prstGeom>
          <a:noFill/>
        </p:spPr>
        <p:txBody>
          <a:bodyPr wrap="square" rtlCol="0">
            <a:spAutoFit/>
          </a:bodyPr>
          <a:lstStyle/>
          <a:p>
            <a:pPr algn="l"/>
            <a:r>
              <a:rPr lang="en-US" dirty="0">
                <a:solidFill>
                  <a:schemeClr val="bg1"/>
                </a:solidFill>
                <a:latin typeface="Arial" panose="020B0604020202020204" pitchFamily="34" charset="0"/>
                <a:cs typeface="Arial" panose="020B0604020202020204" pitchFamily="34" charset="0"/>
              </a:rPr>
              <a:t>[Presenting Author] : Dr. Buddi Manoj Chandra</a:t>
            </a:r>
            <a:endParaRPr lang="en-US" b="1" dirty="0">
              <a:solidFill>
                <a:schemeClr val="bg1"/>
              </a:solidFill>
              <a:latin typeface="Arial" panose="020B0604020202020204" pitchFamily="34" charset="0"/>
              <a:cs typeface="Arial" panose="020B0604020202020204" pitchFamily="34" charset="0"/>
            </a:endParaRPr>
          </a:p>
          <a:p>
            <a:pPr algn="l"/>
            <a:r>
              <a:rPr lang="en-US" dirty="0">
                <a:solidFill>
                  <a:schemeClr val="bg1"/>
                </a:solidFill>
                <a:latin typeface="Arial" panose="020B0604020202020204" pitchFamily="34" charset="0"/>
                <a:cs typeface="Arial" panose="020B0604020202020204" pitchFamily="34" charset="0"/>
              </a:rPr>
              <a:t>[Guide] : Dr. Usman Taufiq (Assistant  Professor)</a:t>
            </a:r>
            <a:endParaRPr lang="en-US" dirty="0">
              <a:solidFill>
                <a:schemeClr val="bg1"/>
              </a:solidFill>
              <a:latin typeface="Arial" panose="020B0604020202020204" pitchFamily="34" charset="0"/>
              <a:cs typeface="Arial" panose="020B0604020202020204" pitchFamily="34" charset="0"/>
            </a:endParaRPr>
          </a:p>
          <a:p>
            <a:pPr algn="l"/>
            <a:r>
              <a:rPr lang="en-US" dirty="0">
                <a:solidFill>
                  <a:schemeClr val="bg1"/>
                </a:solidFill>
                <a:latin typeface="Arial" panose="020B0604020202020204" pitchFamily="34" charset="0"/>
                <a:cs typeface="Arial" panose="020B0604020202020204" pitchFamily="34" charset="0"/>
              </a:rPr>
              <a:t>NRI Medical College and General Hospital, Chinakakani.</a:t>
            </a:r>
            <a:endParaRPr lang="en-US" dirty="0">
              <a:solidFill>
                <a:schemeClr val="bg1"/>
              </a:solidFill>
              <a:latin typeface="Arial" panose="020B0604020202020204" pitchFamily="34" charset="0"/>
              <a:cs typeface="Arial" panose="020B0604020202020204" pitchFamily="34" charset="0"/>
            </a:endParaRPr>
          </a:p>
        </p:txBody>
      </p:sp>
      <p:sp>
        <p:nvSpPr>
          <p:cNvPr id="28" name="Text Box 27"/>
          <p:cNvSpPr txBox="1"/>
          <p:nvPr/>
        </p:nvSpPr>
        <p:spPr>
          <a:xfrm>
            <a:off x="9443720" y="918210"/>
            <a:ext cx="2465705" cy="460375"/>
          </a:xfrm>
          <a:prstGeom prst="rect">
            <a:avLst/>
          </a:prstGeom>
          <a:noFill/>
        </p:spPr>
        <p:txBody>
          <a:bodyPr wrap="square" rtlCol="0">
            <a:spAutoFit/>
          </a:bodyPr>
          <a:p>
            <a:r>
              <a:rPr lang="en-US" sz="2400" b="1">
                <a:solidFill>
                  <a:schemeClr val="bg1"/>
                </a:solidFill>
                <a:latin typeface="Calibri" panose="020F0502020204030204" charset="0"/>
                <a:cs typeface="Calibri" panose="020F0502020204030204" charset="0"/>
              </a:rPr>
              <a:t>ID: OSSAP- 192</a:t>
            </a:r>
            <a:endParaRPr lang="en-US" sz="2400" b="1">
              <a:solidFill>
                <a:schemeClr val="bg1"/>
              </a:solidFill>
              <a:latin typeface="Calibri" panose="020F0502020204030204" charset="0"/>
              <a:cs typeface="Calibri" panose="020F05020202040302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2952</Words>
  <Application>WPS Presentation</Application>
  <PresentationFormat>Widescreen</PresentationFormat>
  <Paragraphs>32</Paragraphs>
  <Slides>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vt:i4>
      </vt:variant>
    </vt:vector>
  </HeadingPairs>
  <TitlesOfParts>
    <vt:vector size="15" baseType="lpstr">
      <vt:lpstr>Arial</vt:lpstr>
      <vt:lpstr>SimSun</vt:lpstr>
      <vt:lpstr>Wingdings</vt:lpstr>
      <vt:lpstr>Gordita</vt:lpstr>
      <vt:lpstr>Segoe Print</vt:lpstr>
      <vt:lpstr>Gordita </vt:lpstr>
      <vt:lpstr>Aptos</vt:lpstr>
      <vt:lpstr>Segoe UI</vt:lpstr>
      <vt:lpstr>Microsoft YaHei</vt:lpstr>
      <vt:lpstr>Arial Unicode MS</vt:lpstr>
      <vt:lpstr>Aptos Display</vt:lpstr>
      <vt:lpstr>Calibri</vt:lpstr>
      <vt:lpstr>Algerian</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Manoj chandra B</cp:lastModifiedBy>
  <cp:revision>10</cp:revision>
  <dcterms:created xsi:type="dcterms:W3CDTF">2026-01-11T06:24:00Z</dcterms:created>
  <dcterms:modified xsi:type="dcterms:W3CDTF">2026-02-11T17:11:11Z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3B645A02939F45A59D19E8A0B48E0D9C_12</vt:lpwstr>
  </property>
  <property fmtid="{D5CDD505-2E9C-101B-9397-08002B2CF9AE}" pid="3" name="KSOProductBuildVer">
    <vt:lpwstr>1033-12.2.0.23196</vt:lpwstr>
  </property>
</Properties>
</file>