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94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yan kambham" userId="70344015eda61225" providerId="LiveId" clId="{1D8F5BE6-8967-40A5-B099-EA81B94D7308}"/>
    <pc:docChg chg="modSld">
      <pc:chgData name="kalyan kambham" userId="70344015eda61225" providerId="LiveId" clId="{1D8F5BE6-8967-40A5-B099-EA81B94D7308}" dt="2026-01-29T06:46:38.861" v="31" actId="20577"/>
      <pc:docMkLst>
        <pc:docMk/>
      </pc:docMkLst>
      <pc:sldChg chg="modSp mod">
        <pc:chgData name="kalyan kambham" userId="70344015eda61225" providerId="LiveId" clId="{1D8F5BE6-8967-40A5-B099-EA81B94D7308}" dt="2026-01-29T06:46:38.861" v="31" actId="20577"/>
        <pc:sldMkLst>
          <pc:docMk/>
          <pc:sldMk cId="3607354635" sldId="256"/>
        </pc:sldMkLst>
        <pc:spChg chg="mod">
          <ac:chgData name="kalyan kambham" userId="70344015eda61225" providerId="LiveId" clId="{1D8F5BE6-8967-40A5-B099-EA81B94D7308}" dt="2026-01-29T06:46:38.861" v="31" actId="20577"/>
          <ac:spMkLst>
            <pc:docMk/>
            <pc:sldMk cId="3607354635" sldId="256"/>
            <ac:spMk id="32" creationId="{87B93D47-B8C1-4064-5C1D-B082C272F8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27CE48-62F3-46EA-BAF5-FAFADF349AD9}"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EDC13-E00D-4926-9D50-B4E9CAA1EBAC}" type="slidenum">
              <a:rPr lang="en-IN" smtClean="0"/>
              <a:t>‹#›</a:t>
            </a:fld>
            <a:endParaRPr lang="en-IN"/>
          </a:p>
        </p:txBody>
      </p:sp>
    </p:spTree>
    <p:extLst>
      <p:ext uri="{BB962C8B-B14F-4D97-AF65-F5344CB8AC3E}">
        <p14:creationId xmlns:p14="http://schemas.microsoft.com/office/powerpoint/2010/main" val="3865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9EDC13-E00D-4926-9D50-B4E9CAA1EBAC}" type="slidenum">
              <a:rPr lang="en-IN" smtClean="0"/>
              <a:t>1</a:t>
            </a:fld>
            <a:endParaRPr lang="en-IN"/>
          </a:p>
        </p:txBody>
      </p:sp>
    </p:spTree>
    <p:extLst>
      <p:ext uri="{BB962C8B-B14F-4D97-AF65-F5344CB8AC3E}">
        <p14:creationId xmlns:p14="http://schemas.microsoft.com/office/powerpoint/2010/main" val="3710607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eg"/><Relationship Id="rId3" Type="http://schemas.openxmlformats.org/officeDocument/2006/relationships/image" Target="../media/image1.png"/><Relationship Id="rId7" Type="http://schemas.openxmlformats.org/officeDocument/2006/relationships/image" Target="../media/image5.jpe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2748" y="-20892"/>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4963" y="71745"/>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7953"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11969" y="172162"/>
            <a:ext cx="785940" cy="785940"/>
          </a:xfrm>
          <a:prstGeom prst="rect">
            <a:avLst/>
          </a:prstGeom>
        </p:spPr>
      </p:pic>
      <p:sp>
        <p:nvSpPr>
          <p:cNvPr id="19" name="TextBox 18">
            <a:extLst>
              <a:ext uri="{FF2B5EF4-FFF2-40B4-BE49-F238E27FC236}">
                <a16:creationId xmlns:a16="http://schemas.microsoft.com/office/drawing/2014/main" id="{CF1F608A-7742-BF27-09EC-3BB7CA324D68}"/>
              </a:ext>
            </a:extLst>
          </p:cNvPr>
          <p:cNvSpPr txBox="1"/>
          <p:nvPr/>
        </p:nvSpPr>
        <p:spPr>
          <a:xfrm>
            <a:off x="1065706" y="832463"/>
            <a:ext cx="8575405" cy="461665"/>
          </a:xfrm>
          <a:prstGeom prst="rect">
            <a:avLst/>
          </a:prstGeom>
          <a:noFill/>
        </p:spPr>
        <p:txBody>
          <a:bodyPr wrap="square" rtlCol="0">
            <a:spAutoFit/>
          </a:bodyPr>
          <a:lstStyle/>
          <a:p>
            <a:pPr algn="ctr"/>
            <a:r>
              <a:rPr lang="en-IN" sz="1200" dirty="0">
                <a:solidFill>
                  <a:schemeClr val="bg1"/>
                </a:solidFill>
              </a:rPr>
              <a:t>Dr. KHAMBHAM KALYAN (3</a:t>
            </a:r>
            <a:r>
              <a:rPr lang="en-IN" sz="1200" baseline="30000" dirty="0">
                <a:solidFill>
                  <a:schemeClr val="bg1"/>
                </a:solidFill>
              </a:rPr>
              <a:t>rd</a:t>
            </a:r>
            <a:r>
              <a:rPr lang="en-IN" sz="1200" dirty="0">
                <a:solidFill>
                  <a:schemeClr val="bg1"/>
                </a:solidFill>
              </a:rPr>
              <a:t>  year PG)MS Orthopaedics</a:t>
            </a:r>
          </a:p>
          <a:p>
            <a:endParaRPr lang="en-US" sz="1200" b="1" dirty="0">
              <a:solidFill>
                <a:schemeClr val="bg1"/>
              </a:solidFill>
              <a:latin typeface="Gordita "/>
            </a:endParaRPr>
          </a:p>
        </p:txBody>
      </p:sp>
      <p:sp>
        <p:nvSpPr>
          <p:cNvPr id="20" name="TextBox 19">
            <a:extLst>
              <a:ext uri="{FF2B5EF4-FFF2-40B4-BE49-F238E27FC236}">
                <a16:creationId xmlns:a16="http://schemas.microsoft.com/office/drawing/2014/main" id="{C0616687-624D-607B-6F85-335EE46873F1}"/>
              </a:ext>
            </a:extLst>
          </p:cNvPr>
          <p:cNvSpPr txBox="1"/>
          <p:nvPr/>
        </p:nvSpPr>
        <p:spPr>
          <a:xfrm>
            <a:off x="1665356" y="1028182"/>
            <a:ext cx="8201135" cy="253916"/>
          </a:xfrm>
          <a:prstGeom prst="rect">
            <a:avLst/>
          </a:prstGeom>
          <a:noFill/>
        </p:spPr>
        <p:txBody>
          <a:bodyPr wrap="square" rtlCol="0">
            <a:spAutoFit/>
          </a:bodyPr>
          <a:lstStyle/>
          <a:p>
            <a:r>
              <a:rPr lang="en-IN" sz="1050" dirty="0">
                <a:solidFill>
                  <a:schemeClr val="bg1"/>
                </a:solidFill>
              </a:rPr>
              <a:t>DEPARTMENT OF ORTHOPAEDICS ,KIMS MEDICAL COLLEGE ,AMALAPURAM ,Dr.B.R.AMBEDKAR KONASEMA DISTRICT, AP</a:t>
            </a:r>
            <a:endParaRPr lang="en-US" sz="105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0" y="-15003"/>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28878" y="1676855"/>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49502" y="1295159"/>
            <a:ext cx="3214347"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8605" y="1270741"/>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24150" y="4706314"/>
            <a:ext cx="3113686"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3" name="TextBox 2">
            <a:extLst>
              <a:ext uri="{FF2B5EF4-FFF2-40B4-BE49-F238E27FC236}">
                <a16:creationId xmlns:a16="http://schemas.microsoft.com/office/drawing/2014/main" id="{D9D01E19-E5DF-F833-7D58-CDB34B04D8FA}"/>
              </a:ext>
            </a:extLst>
          </p:cNvPr>
          <p:cNvSpPr txBox="1"/>
          <p:nvPr/>
        </p:nvSpPr>
        <p:spPr>
          <a:xfrm>
            <a:off x="6323798" y="5202453"/>
            <a:ext cx="5868202" cy="1107996"/>
          </a:xfrm>
          <a:prstGeom prst="rect">
            <a:avLst/>
          </a:prstGeom>
          <a:noFill/>
        </p:spPr>
        <p:txBody>
          <a:bodyPr wrap="square">
            <a:spAutoFit/>
          </a:bodyPr>
          <a:lstStyle/>
          <a:p>
            <a:pPr marL="171450" indent="-171450" algn="just">
              <a:buFont typeface="Arial" panose="020B0604020202020204" pitchFamily="34" charset="0"/>
              <a:buChar char="•"/>
            </a:pPr>
            <a:r>
              <a:rPr lang="en-US" sz="1100" dirty="0">
                <a:latin typeface="Arial" panose="020B0604020202020204" pitchFamily="34" charset="0"/>
                <a:cs typeface="Arial" panose="020B0604020202020204" pitchFamily="34" charset="0"/>
              </a:rPr>
              <a:t>Prompt treatment in the form urgent debridement &lt;6hrs,iv broad spectrum antibiotics on arrival.</a:t>
            </a:r>
          </a:p>
          <a:p>
            <a:pPr marL="171450" indent="-171450" algn="just">
              <a:buFont typeface="Arial" panose="020B0604020202020204" pitchFamily="34" charset="0"/>
              <a:buChar char="•"/>
            </a:pPr>
            <a:r>
              <a:rPr lang="en-US" sz="1100" dirty="0">
                <a:latin typeface="Arial" panose="020B0604020202020204" pitchFamily="34" charset="0"/>
                <a:cs typeface="Arial" panose="020B0604020202020204" pitchFamily="34" charset="0"/>
              </a:rPr>
              <a:t>Minimum but stable fixation and in second stage addressing issues like bone loss with iliac crest bone graft and flap covering can give optimum functional result with pain relief and reduces the chance of amputation in cases like grade 3B compound fractures with severe contamination</a:t>
            </a:r>
            <a:endParaRPr lang="en-IN" sz="11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85B00A99-2066-DBC3-03C2-9966A4E71DE2}"/>
              </a:ext>
            </a:extLst>
          </p:cNvPr>
          <p:cNvSpPr txBox="1"/>
          <p:nvPr/>
        </p:nvSpPr>
        <p:spPr>
          <a:xfrm>
            <a:off x="3079454" y="1614374"/>
            <a:ext cx="3203171" cy="2970044"/>
          </a:xfrm>
          <a:prstGeom prst="rect">
            <a:avLst/>
          </a:prstGeom>
          <a:noFill/>
        </p:spPr>
        <p:txBody>
          <a:bodyPr wrap="square">
            <a:spAutoFit/>
          </a:bodyPr>
          <a:lstStyle/>
          <a:p>
            <a:pPr marL="171450" indent="-171450">
              <a:buFont typeface="Wingdings" panose="05000000000000000000" pitchFamily="2" charset="2"/>
              <a:buChar char="§"/>
            </a:pPr>
            <a:r>
              <a:rPr lang="en-IN" sz="1100" dirty="0">
                <a:latin typeface="Arial" panose="020B0604020202020204" pitchFamily="34" charset="0"/>
                <a:cs typeface="Arial" panose="020B0604020202020204" pitchFamily="34" charset="0"/>
              </a:rPr>
              <a:t>The patient underwent immediate copious saline irrigation, administration of broad-spectrum intravenous antibiotics, and urgent surgical debridement. Initial stabilization was achieved using multiple Kirschner wires. One week later, reconstruction was performed using a </a:t>
            </a:r>
            <a:r>
              <a:rPr lang="en-IN" sz="1100" b="1" dirty="0">
                <a:latin typeface="Arial" panose="020B0604020202020204" pitchFamily="34" charset="0"/>
                <a:cs typeface="Arial" panose="020B0604020202020204" pitchFamily="34" charset="0"/>
              </a:rPr>
              <a:t>tricortical iliac crest bone graft</a:t>
            </a:r>
            <a:r>
              <a:rPr lang="en-IN" sz="1100" dirty="0">
                <a:latin typeface="Arial" panose="020B0604020202020204" pitchFamily="34" charset="0"/>
                <a:cs typeface="Arial" panose="020B0604020202020204" pitchFamily="34" charset="0"/>
              </a:rPr>
              <a:t> to replace the cuneiform defects, secured with K-wires, followed by split-thickness skin grafting due to dorsal foot necrosis.</a:t>
            </a:r>
          </a:p>
          <a:p>
            <a:pPr marL="171450" indent="-171450">
              <a:buFont typeface="Wingdings" panose="05000000000000000000" pitchFamily="2" charset="2"/>
              <a:buChar char="§"/>
            </a:pPr>
            <a:r>
              <a:rPr lang="en-IN" sz="1100" dirty="0">
                <a:latin typeface="Arial" panose="020B0604020202020204" pitchFamily="34" charset="0"/>
                <a:cs typeface="Arial" panose="020B0604020202020204" pitchFamily="34" charset="0"/>
              </a:rPr>
              <a:t>As only 50% graft uptake was observed at two weeks,k wire removal &amp; definitive soft-tissue coverage was achieved with a </a:t>
            </a:r>
            <a:r>
              <a:rPr lang="en-IN" sz="1100" b="1" dirty="0">
                <a:latin typeface="Arial" panose="020B0604020202020204" pitchFamily="34" charset="0"/>
                <a:cs typeface="Arial" panose="020B0604020202020204" pitchFamily="34" charset="0"/>
              </a:rPr>
              <a:t>reverse soleus fasciocutaneous flap(8Weeks in total )</a:t>
            </a:r>
            <a:r>
              <a:rPr lang="en-IN" sz="1100" dirty="0">
                <a:latin typeface="Arial" panose="020B0604020202020204" pitchFamily="34" charset="0"/>
                <a:cs typeface="Arial" panose="020B0604020202020204" pitchFamily="34" charset="0"/>
              </a:rPr>
              <a:t> The extensor digitorum tendon could not be salvaged. The flap healed uneventfully, resulting in satisfactory wound coverage.</a:t>
            </a:r>
          </a:p>
        </p:txBody>
      </p:sp>
      <p:sp>
        <p:nvSpPr>
          <p:cNvPr id="27" name="TextBox 26">
            <a:extLst>
              <a:ext uri="{FF2B5EF4-FFF2-40B4-BE49-F238E27FC236}">
                <a16:creationId xmlns:a16="http://schemas.microsoft.com/office/drawing/2014/main" id="{C051BA3D-E6AB-E063-F4D5-9C545EE4FBE4}"/>
              </a:ext>
            </a:extLst>
          </p:cNvPr>
          <p:cNvSpPr txBox="1"/>
          <p:nvPr/>
        </p:nvSpPr>
        <p:spPr>
          <a:xfrm>
            <a:off x="-66539" y="5048565"/>
            <a:ext cx="3463790" cy="1785104"/>
          </a:xfrm>
          <a:prstGeom prst="rect">
            <a:avLst/>
          </a:prstGeom>
          <a:noFill/>
        </p:spPr>
        <p:txBody>
          <a:bodyPr wrap="square">
            <a:spAutoFit/>
          </a:bodyPr>
          <a:lstStyle/>
          <a:p>
            <a:r>
              <a:rPr lang="en-IN" sz="1100" dirty="0">
                <a:latin typeface="Arial" panose="020B0604020202020204" pitchFamily="34" charset="0"/>
                <a:cs typeface="Arial" panose="020B0604020202020204" pitchFamily="34" charset="0"/>
              </a:rPr>
              <a:t>A 22-years male sustained  injury to the right foot due to RTA.Examination revealed a Gustilo–Anderson grade IIIB open fracture–dislocation involving both the Chopart and Lisfranc joints, associated with fractures of the bases of the 2</a:t>
            </a:r>
            <a:r>
              <a:rPr lang="en-IN" sz="1100" baseline="30000" dirty="0">
                <a:latin typeface="Arial" panose="020B0604020202020204" pitchFamily="34" charset="0"/>
                <a:cs typeface="Arial" panose="020B0604020202020204" pitchFamily="34" charset="0"/>
              </a:rPr>
              <a:t>nd</a:t>
            </a:r>
            <a:r>
              <a:rPr lang="en-IN" sz="1100" dirty="0">
                <a:latin typeface="Arial" panose="020B0604020202020204" pitchFamily="34" charset="0"/>
                <a:cs typeface="Arial" panose="020B0604020202020204" pitchFamily="34" charset="0"/>
              </a:rPr>
              <a:t>,3</a:t>
            </a:r>
            <a:r>
              <a:rPr lang="en-IN" sz="1100" baseline="30000" dirty="0">
                <a:latin typeface="Arial" panose="020B0604020202020204" pitchFamily="34" charset="0"/>
                <a:cs typeface="Arial" panose="020B0604020202020204" pitchFamily="34" charset="0"/>
              </a:rPr>
              <a:t>rd</a:t>
            </a:r>
            <a:r>
              <a:rPr lang="en-IN" sz="1100" dirty="0">
                <a:latin typeface="Arial" panose="020B0604020202020204" pitchFamily="34" charset="0"/>
                <a:cs typeface="Arial" panose="020B0604020202020204" pitchFamily="34" charset="0"/>
              </a:rPr>
              <a:t>,4</a:t>
            </a:r>
            <a:r>
              <a:rPr lang="en-IN" sz="1100" baseline="30000" dirty="0">
                <a:latin typeface="Arial" panose="020B0604020202020204" pitchFamily="34" charset="0"/>
                <a:cs typeface="Arial" panose="020B0604020202020204" pitchFamily="34" charset="0"/>
              </a:rPr>
              <a:t>th</a:t>
            </a:r>
            <a:r>
              <a:rPr lang="en-IN" sz="1100" dirty="0">
                <a:latin typeface="Arial" panose="020B0604020202020204" pitchFamily="34" charset="0"/>
                <a:cs typeface="Arial" panose="020B0604020202020204" pitchFamily="34" charset="0"/>
              </a:rPr>
              <a:t>,5</a:t>
            </a:r>
            <a:r>
              <a:rPr lang="en-IN" sz="1100" baseline="30000" dirty="0">
                <a:latin typeface="Arial" panose="020B0604020202020204" pitchFamily="34" charset="0"/>
                <a:cs typeface="Arial" panose="020B0604020202020204" pitchFamily="34" charset="0"/>
              </a:rPr>
              <a:t>th</a:t>
            </a:r>
            <a:r>
              <a:rPr lang="en-IN" sz="1100" dirty="0">
                <a:latin typeface="Arial" panose="020B0604020202020204" pitchFamily="34" charset="0"/>
                <a:cs typeface="Arial" panose="020B0604020202020204" pitchFamily="34" charset="0"/>
              </a:rPr>
              <a:t>metatarsals, along with a cuboid body fracture.The wound was grossly contaminated with mud, sand, and vegetative debris.There was en masse bone loss of the middle and lateral cuneiforms.Distal neurovascular status was intact.</a:t>
            </a:r>
          </a:p>
        </p:txBody>
      </p:sp>
      <p:pic>
        <p:nvPicPr>
          <p:cNvPr id="2" name="Picture 1">
            <a:extLst>
              <a:ext uri="{FF2B5EF4-FFF2-40B4-BE49-F238E27FC236}">
                <a16:creationId xmlns:a16="http://schemas.microsoft.com/office/drawing/2014/main" id="{2C0635CF-B11E-E1D4-93CE-C8D1A5DF68A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63939" y="4515016"/>
            <a:ext cx="753399" cy="1276370"/>
          </a:xfrm>
          <a:prstGeom prst="rect">
            <a:avLst/>
          </a:prstGeom>
        </p:spPr>
      </p:pic>
      <p:pic>
        <p:nvPicPr>
          <p:cNvPr id="18" name="Picture 17">
            <a:extLst>
              <a:ext uri="{FF2B5EF4-FFF2-40B4-BE49-F238E27FC236}">
                <a16:creationId xmlns:a16="http://schemas.microsoft.com/office/drawing/2014/main" id="{A5232842-902C-F5E4-F860-C685594CEC83}"/>
              </a:ext>
            </a:extLst>
          </p:cNvPr>
          <p:cNvPicPr>
            <a:picLocks noChangeAspect="1"/>
          </p:cNvPicPr>
          <p:nvPr/>
        </p:nvPicPr>
        <p:blipFill>
          <a:blip r:embed="rId8" cstate="print">
            <a:extLst>
              <a:ext uri="{28A0092B-C50C-407E-A947-70E740481C1C}">
                <a14:useLocalDpi xmlns:a14="http://schemas.microsoft.com/office/drawing/2010/main" val="0"/>
              </a:ext>
            </a:extLst>
          </a:blip>
          <a:srcRect l="28117" t="27778" r="36966" b="20843"/>
          <a:stretch>
            <a:fillRect/>
          </a:stretch>
        </p:blipFill>
        <p:spPr>
          <a:xfrm>
            <a:off x="3926931" y="4501749"/>
            <a:ext cx="650195" cy="1271659"/>
          </a:xfrm>
          <a:prstGeom prst="rect">
            <a:avLst/>
          </a:prstGeom>
        </p:spPr>
      </p:pic>
      <p:pic>
        <p:nvPicPr>
          <p:cNvPr id="21" name="Picture 20">
            <a:extLst>
              <a:ext uri="{FF2B5EF4-FFF2-40B4-BE49-F238E27FC236}">
                <a16:creationId xmlns:a16="http://schemas.microsoft.com/office/drawing/2014/main" id="{A21453F0-A408-520A-67BA-15F3C93F83FF}"/>
              </a:ext>
            </a:extLst>
          </p:cNvPr>
          <p:cNvPicPr>
            <a:picLocks noChangeAspect="1"/>
          </p:cNvPicPr>
          <p:nvPr/>
        </p:nvPicPr>
        <p:blipFill>
          <a:blip r:embed="rId9" cstate="print">
            <a:extLst>
              <a:ext uri="{28A0092B-C50C-407E-A947-70E740481C1C}">
                <a14:useLocalDpi xmlns:a14="http://schemas.microsoft.com/office/drawing/2010/main" val="0"/>
              </a:ext>
            </a:extLst>
          </a:blip>
          <a:srcRect l="39793" t="27778" r="25817" b="24444"/>
          <a:stretch>
            <a:fillRect/>
          </a:stretch>
        </p:blipFill>
        <p:spPr>
          <a:xfrm>
            <a:off x="4586719" y="4500060"/>
            <a:ext cx="664261" cy="1271131"/>
          </a:xfrm>
          <a:prstGeom prst="rect">
            <a:avLst/>
          </a:prstGeom>
        </p:spPr>
      </p:pic>
      <p:pic>
        <p:nvPicPr>
          <p:cNvPr id="26" name="Picture 25">
            <a:extLst>
              <a:ext uri="{FF2B5EF4-FFF2-40B4-BE49-F238E27FC236}">
                <a16:creationId xmlns:a16="http://schemas.microsoft.com/office/drawing/2014/main" id="{27EF5DE1-B816-C200-ECF9-DACA80129834}"/>
              </a:ext>
            </a:extLst>
          </p:cNvPr>
          <p:cNvPicPr>
            <a:picLocks noChangeAspect="1"/>
          </p:cNvPicPr>
          <p:nvPr/>
        </p:nvPicPr>
        <p:blipFill>
          <a:blip r:embed="rId10" cstate="print">
            <a:extLst>
              <a:ext uri="{28A0092B-C50C-407E-A947-70E740481C1C}">
                <a14:useLocalDpi xmlns:a14="http://schemas.microsoft.com/office/drawing/2010/main" val="0"/>
              </a:ext>
            </a:extLst>
          </a:blip>
          <a:srcRect l="8359" t="2222" r="8359" b="13205"/>
          <a:stretch>
            <a:fillRect/>
          </a:stretch>
        </p:blipFill>
        <p:spPr>
          <a:xfrm>
            <a:off x="3180298" y="5780709"/>
            <a:ext cx="1257660" cy="1063637"/>
          </a:xfrm>
          <a:prstGeom prst="rect">
            <a:avLst/>
          </a:prstGeom>
        </p:spPr>
      </p:pic>
      <p:pic>
        <p:nvPicPr>
          <p:cNvPr id="28" name="Picture 27">
            <a:extLst>
              <a:ext uri="{FF2B5EF4-FFF2-40B4-BE49-F238E27FC236}">
                <a16:creationId xmlns:a16="http://schemas.microsoft.com/office/drawing/2014/main" id="{F0EA7F3C-F6E8-534A-91EA-4AD9AA7E6D89}"/>
              </a:ext>
            </a:extLst>
          </p:cNvPr>
          <p:cNvPicPr>
            <a:picLocks noChangeAspect="1"/>
          </p:cNvPicPr>
          <p:nvPr/>
        </p:nvPicPr>
        <p:blipFill>
          <a:blip r:embed="rId11" cstate="print">
            <a:extLst>
              <a:ext uri="{28A0092B-C50C-407E-A947-70E740481C1C}">
                <a14:useLocalDpi xmlns:a14="http://schemas.microsoft.com/office/drawing/2010/main" val="0"/>
              </a:ext>
            </a:extLst>
          </a:blip>
          <a:srcRect l="15833" t="11111" r="18572" b="18889"/>
          <a:stretch>
            <a:fillRect/>
          </a:stretch>
        </p:blipFill>
        <p:spPr>
          <a:xfrm>
            <a:off x="4418065" y="5766468"/>
            <a:ext cx="1364527" cy="1092118"/>
          </a:xfrm>
          <a:prstGeom prst="rect">
            <a:avLst/>
          </a:prstGeom>
        </p:spPr>
      </p:pic>
      <p:pic>
        <p:nvPicPr>
          <p:cNvPr id="29" name="Picture 28">
            <a:extLst>
              <a:ext uri="{FF2B5EF4-FFF2-40B4-BE49-F238E27FC236}">
                <a16:creationId xmlns:a16="http://schemas.microsoft.com/office/drawing/2014/main" id="{A553CE16-FD47-B5AB-F147-6BB7D23914F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735490" y="5780884"/>
            <a:ext cx="633087" cy="1092118"/>
          </a:xfrm>
          <a:prstGeom prst="rect">
            <a:avLst/>
          </a:prstGeom>
        </p:spPr>
      </p:pic>
      <p:sp>
        <p:nvSpPr>
          <p:cNvPr id="31" name="TextBox 30">
            <a:extLst>
              <a:ext uri="{FF2B5EF4-FFF2-40B4-BE49-F238E27FC236}">
                <a16:creationId xmlns:a16="http://schemas.microsoft.com/office/drawing/2014/main" id="{203A1009-CDDD-05B1-48FC-E935FF601643}"/>
              </a:ext>
            </a:extLst>
          </p:cNvPr>
          <p:cNvSpPr txBox="1"/>
          <p:nvPr/>
        </p:nvSpPr>
        <p:spPr>
          <a:xfrm>
            <a:off x="1366576" y="65085"/>
            <a:ext cx="8281739" cy="1077218"/>
          </a:xfrm>
          <a:prstGeom prst="rect">
            <a:avLst/>
          </a:prstGeom>
          <a:noFill/>
        </p:spPr>
        <p:txBody>
          <a:bodyPr wrap="square" rtlCol="0">
            <a:spAutoFit/>
          </a:bodyPr>
          <a:lstStyle/>
          <a:p>
            <a:pPr algn="ctr"/>
            <a:endParaRPr lang="en-IN" sz="1200" dirty="0">
              <a:solidFill>
                <a:schemeClr val="bg1"/>
              </a:solidFill>
            </a:endParaRPr>
          </a:p>
          <a:p>
            <a:pPr algn="ctr"/>
            <a:endParaRPr lang="en-IN" sz="1200" dirty="0">
              <a:solidFill>
                <a:srgbClr val="FF0000"/>
              </a:solidFill>
            </a:endParaRPr>
          </a:p>
          <a:p>
            <a:pPr algn="ctr"/>
            <a:r>
              <a:rPr lang="en-IN" sz="1400" b="1" dirty="0">
                <a:solidFill>
                  <a:schemeClr val="bg1"/>
                </a:solidFill>
              </a:rPr>
              <a:t>MANAGEMENT OF COMPOUND FRACTURE DISLOCATION OF MID FOOT(GRADE 3B) WITH BONELOSS TREATED WITH MULTIPLE K-WIRES,TRICORTICAL BONE GRAFT AND FLAP; A CASE REPORT</a:t>
            </a:r>
          </a:p>
          <a:p>
            <a:endParaRPr lang="en-US" sz="1200" b="1" dirty="0">
              <a:solidFill>
                <a:schemeClr val="bg1"/>
              </a:solidFill>
              <a:latin typeface="Gordita "/>
            </a:endParaRPr>
          </a:p>
        </p:txBody>
      </p:sp>
      <p:sp>
        <p:nvSpPr>
          <p:cNvPr id="32" name="TextBox 31">
            <a:extLst>
              <a:ext uri="{FF2B5EF4-FFF2-40B4-BE49-F238E27FC236}">
                <a16:creationId xmlns:a16="http://schemas.microsoft.com/office/drawing/2014/main" id="{87B93D47-B8C1-4064-5C1D-B082C272F887}"/>
              </a:ext>
            </a:extLst>
          </p:cNvPr>
          <p:cNvSpPr txBox="1"/>
          <p:nvPr/>
        </p:nvSpPr>
        <p:spPr>
          <a:xfrm>
            <a:off x="6392725" y="1711803"/>
            <a:ext cx="5762466" cy="2800767"/>
          </a:xfrm>
          <a:prstGeom prst="rect">
            <a:avLst/>
          </a:prstGeom>
          <a:noFill/>
        </p:spPr>
        <p:txBody>
          <a:bodyPr wrap="square">
            <a:spAutoFit/>
          </a:bodyPr>
          <a:lstStyle/>
          <a:p>
            <a:pPr marL="171450" indent="-171450">
              <a:buFont typeface="Wingdings" panose="05000000000000000000" pitchFamily="2" charset="2"/>
              <a:buChar char="§"/>
            </a:pPr>
            <a:r>
              <a:rPr lang="en-US" sz="1100" dirty="0">
                <a:latin typeface="Arial" panose="020B0604020202020204" pitchFamily="34" charset="0"/>
                <a:cs typeface="Arial" panose="020B0604020202020204" pitchFamily="34" charset="0"/>
              </a:rPr>
              <a:t>Complex foot trauma involves combinations of injuries such as pilon, talus, calcaneal, Chopart, and Lisfranc fracture-dislocations and is often complicated by high-energy compound wounds. </a:t>
            </a:r>
          </a:p>
          <a:p>
            <a:pPr marL="171450" indent="-171450">
              <a:buFont typeface="Wingdings" panose="05000000000000000000" pitchFamily="2" charset="2"/>
              <a:buChar char="§"/>
            </a:pPr>
            <a:r>
              <a:rPr lang="en-US" sz="1100" dirty="0">
                <a:latin typeface="Arial" panose="020B0604020202020204" pitchFamily="34" charset="0"/>
                <a:cs typeface="Arial" panose="020B0604020202020204" pitchFamily="34" charset="0"/>
              </a:rPr>
              <a:t>In our case, a road traffic accident resulted in a </a:t>
            </a:r>
            <a:r>
              <a:rPr lang="en-US" sz="1100" b="1" dirty="0">
                <a:latin typeface="Arial" panose="020B0604020202020204" pitchFamily="34" charset="0"/>
                <a:cs typeface="Arial" panose="020B0604020202020204" pitchFamily="34" charset="0"/>
              </a:rPr>
              <a:t>Gustilo–Anderson grade IIIB open foot injury</a:t>
            </a:r>
            <a:r>
              <a:rPr lang="en-US" sz="1100" dirty="0">
                <a:latin typeface="Arial" panose="020B0604020202020204" pitchFamily="34" charset="0"/>
                <a:cs typeface="Arial" panose="020B0604020202020204" pitchFamily="34" charset="0"/>
              </a:rPr>
              <a:t> with </a:t>
            </a:r>
            <a:r>
              <a:rPr lang="en-US" sz="1100" b="1" dirty="0">
                <a:latin typeface="Arial" panose="020B0604020202020204" pitchFamily="34" charset="0"/>
                <a:cs typeface="Arial" panose="020B0604020202020204" pitchFamily="34" charset="0"/>
              </a:rPr>
              <a:t>cuneiform bone loss and severe contamination</a:t>
            </a:r>
            <a:r>
              <a:rPr lang="en-US" sz="1100" dirty="0">
                <a:latin typeface="Arial" panose="020B0604020202020204" pitchFamily="34" charset="0"/>
                <a:cs typeface="Arial" panose="020B0604020202020204" pitchFamily="34" charset="0"/>
              </a:rPr>
              <a:t>. Such injuries carry a high risk of amputation due to infection, delayed intervention, and inadequate soft-tissue coverage. </a:t>
            </a:r>
          </a:p>
          <a:p>
            <a:pPr marL="171450" indent="-171450">
              <a:buFont typeface="Wingdings" panose="05000000000000000000" pitchFamily="2" charset="2"/>
              <a:buChar char="§"/>
            </a:pPr>
            <a:r>
              <a:rPr lang="en-US" sz="1100" dirty="0">
                <a:latin typeface="Arial" panose="020B0604020202020204" pitchFamily="34" charset="0"/>
                <a:cs typeface="Arial" panose="020B0604020202020204" pitchFamily="34" charset="0"/>
              </a:rPr>
              <a:t>Prompt management included </a:t>
            </a:r>
            <a:r>
              <a:rPr lang="en-US" sz="1100" b="1" dirty="0">
                <a:latin typeface="Arial" panose="020B0604020202020204" pitchFamily="34" charset="0"/>
                <a:cs typeface="Arial" panose="020B0604020202020204" pitchFamily="34" charset="0"/>
              </a:rPr>
              <a:t>urgent debridement within six hours</a:t>
            </a:r>
            <a:r>
              <a:rPr lang="en-US" sz="1100" dirty="0">
                <a:latin typeface="Arial" panose="020B0604020202020204" pitchFamily="34" charset="0"/>
                <a:cs typeface="Arial" panose="020B0604020202020204" pitchFamily="34" charset="0"/>
              </a:rPr>
              <a:t>, broad-spectrum intravenous antibiotics, and </a:t>
            </a:r>
            <a:r>
              <a:rPr lang="en-US" sz="1100" b="1" dirty="0">
                <a:latin typeface="Arial" panose="020B0604020202020204" pitchFamily="34" charset="0"/>
                <a:cs typeface="Arial" panose="020B0604020202020204" pitchFamily="34" charset="0"/>
              </a:rPr>
              <a:t>stable fixation using multiple K-wires</a:t>
            </a:r>
            <a:r>
              <a:rPr lang="en-US" sz="1100" dirty="0">
                <a:latin typeface="Arial" panose="020B0604020202020204" pitchFamily="34" charset="0"/>
                <a:cs typeface="Arial" panose="020B0604020202020204" pitchFamily="34" charset="0"/>
              </a:rPr>
              <a:t> to maintain medial and lateral column length, followed by early wound coverage. </a:t>
            </a:r>
          </a:p>
          <a:p>
            <a:pPr marL="171450" indent="-171450">
              <a:buFont typeface="Wingdings" panose="05000000000000000000" pitchFamily="2" charset="2"/>
              <a:buChar char="§"/>
            </a:pPr>
            <a:r>
              <a:rPr lang="en-US" sz="1100" dirty="0">
                <a:latin typeface="Arial" panose="020B0604020202020204" pitchFamily="34" charset="0"/>
                <a:cs typeface="Arial" panose="020B0604020202020204" pitchFamily="34" charset="0"/>
              </a:rPr>
              <a:t>In the second stage, </a:t>
            </a:r>
            <a:r>
              <a:rPr lang="en-US" sz="1100" b="1" dirty="0">
                <a:latin typeface="Arial" panose="020B0604020202020204" pitchFamily="34" charset="0"/>
                <a:cs typeface="Arial" panose="020B0604020202020204" pitchFamily="34" charset="0"/>
              </a:rPr>
              <a:t>iliac crest bone grafting</a:t>
            </a:r>
            <a:r>
              <a:rPr lang="en-US" sz="1100" dirty="0">
                <a:latin typeface="Arial" panose="020B0604020202020204" pitchFamily="34" charset="0"/>
                <a:cs typeface="Arial" panose="020B0604020202020204" pitchFamily="34" charset="0"/>
              </a:rPr>
              <a:t> was used to reconstruct the cuneiform defect, providing mechanical stability and biological support. Soft-tissue coverage was achieved using a </a:t>
            </a:r>
            <a:r>
              <a:rPr lang="en-US" sz="1100" b="1" dirty="0">
                <a:latin typeface="Arial" panose="020B0604020202020204" pitchFamily="34" charset="0"/>
                <a:cs typeface="Arial" panose="020B0604020202020204" pitchFamily="34" charset="0"/>
              </a:rPr>
              <a:t>reverse soleus </a:t>
            </a:r>
            <a:r>
              <a:rPr lang="en-US" sz="1100" b="1" dirty="0" err="1">
                <a:latin typeface="Arial" panose="020B0604020202020204" pitchFamily="34" charset="0"/>
                <a:cs typeface="Arial" panose="020B0604020202020204" pitchFamily="34" charset="0"/>
              </a:rPr>
              <a:t>fasciocutaneous</a:t>
            </a:r>
            <a:r>
              <a:rPr lang="en-US" sz="1100" b="1" dirty="0">
                <a:latin typeface="Arial" panose="020B0604020202020204" pitchFamily="34" charset="0"/>
                <a:cs typeface="Arial" panose="020B0604020202020204" pitchFamily="34" charset="0"/>
              </a:rPr>
              <a:t> flap</a:t>
            </a:r>
            <a:r>
              <a:rPr lang="en-US" sz="1100" dirty="0">
                <a:latin typeface="Arial" panose="020B0604020202020204" pitchFamily="34" charset="0"/>
                <a:cs typeface="Arial" panose="020B0604020202020204" pitchFamily="34" charset="0"/>
              </a:rPr>
              <a:t>.</a:t>
            </a:r>
          </a:p>
          <a:p>
            <a:pPr marL="171450" indent="-171450">
              <a:buFont typeface="Wingdings" panose="05000000000000000000" pitchFamily="2" charset="2"/>
              <a:buChar char="§"/>
            </a:pPr>
            <a:r>
              <a:rPr lang="en-US" sz="1100" dirty="0">
                <a:latin typeface="Arial" panose="020B0604020202020204" pitchFamily="34" charset="0"/>
                <a:cs typeface="Arial" panose="020B0604020202020204" pitchFamily="34" charset="0"/>
              </a:rPr>
              <a:t> At six months, fractures had united with excellent graft incorporation and good functional recovery, highlighting the importance of early intervention, stable fixation, effective bone reconstruction, and timely wound coverage in limb salvage</a:t>
            </a:r>
            <a:r>
              <a:rPr lang="en-US" sz="1100" dirty="0"/>
              <a:t>.</a:t>
            </a:r>
            <a:endParaRPr lang="en-IN" sz="1100" dirty="0"/>
          </a:p>
        </p:txBody>
      </p:sp>
      <p:sp>
        <p:nvSpPr>
          <p:cNvPr id="33" name="Rectangle 1">
            <a:extLst>
              <a:ext uri="{FF2B5EF4-FFF2-40B4-BE49-F238E27FC236}">
                <a16:creationId xmlns:a16="http://schemas.microsoft.com/office/drawing/2014/main" id="{001ED4CA-0460-063C-F9B8-52B41CAF800D}"/>
              </a:ext>
            </a:extLst>
          </p:cNvPr>
          <p:cNvSpPr>
            <a:spLocks noChangeArrowheads="1"/>
          </p:cNvSpPr>
          <p:nvPr/>
        </p:nvSpPr>
        <p:spPr bwMode="auto">
          <a:xfrm>
            <a:off x="-40464" y="1615405"/>
            <a:ext cx="324764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100" dirty="0">
                <a:latin typeface="Arial" panose="020B0604020202020204" pitchFamily="34" charset="0"/>
                <a:cs typeface="Arial" panose="020B0604020202020204" pitchFamily="34" charset="0"/>
              </a:rPr>
              <a:t>Compound fractures of foot are rare</a:t>
            </a:r>
            <a:r>
              <a:rPr lang="en-US" altLang="en-US" sz="1100" b="1" dirty="0">
                <a:latin typeface="Arial" panose="020B0604020202020204" pitchFamily="34" charset="0"/>
                <a:cs typeface="Arial" panose="020B0604020202020204" pitchFamily="34" charset="0"/>
              </a:rPr>
              <a:t>(&lt;5% of foot injuries</a:t>
            </a:r>
            <a:r>
              <a:rPr lang="en-US" altLang="en-US" sz="1100" dirty="0">
                <a:latin typeface="Arial" panose="020B0604020202020204" pitchFamily="34" charset="0"/>
                <a:cs typeface="Arial" panose="020B0604020202020204" pitchFamily="34" charset="0"/>
              </a:rPr>
              <a:t>) and</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carry  </a:t>
            </a:r>
            <a:r>
              <a:rPr kumimoji="0" lang="en-US" altLang="en-US" sz="11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17–30% amputation risk</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without early debridement, stable fixation, and timely soft-tissue coverage.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Lisfranc injuries occur at </a:t>
            </a:r>
            <a:r>
              <a:rPr kumimoji="0" lang="en-US" altLang="en-US" sz="11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9.2/100,000/year</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Chopart injuries are rarer (</a:t>
            </a:r>
            <a:r>
              <a:rPr kumimoji="0" lang="en-US" altLang="en-US" sz="11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2.2/100,000/year</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Combined Chopart–Lisfranc fracture-dislocations account for only </a:t>
            </a:r>
            <a:r>
              <a:rPr kumimoji="0" lang="en-US" altLang="en-US" sz="11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5.9% of cases, Common</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in </a:t>
            </a:r>
            <a:r>
              <a:rPr kumimoji="0" lang="en-US" altLang="en-US" sz="11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young adults</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often due to </a:t>
            </a:r>
            <a:r>
              <a:rPr kumimoji="0" lang="en-US" altLang="en-US" sz="1100" i="0" u="none" strike="noStrike" cap="none" normalizeH="0" baseline="0" dirty="0">
                <a:ln>
                  <a:noFill/>
                </a:ln>
                <a:solidFill>
                  <a:schemeClr val="tx1"/>
                </a:solidFill>
                <a:effectLst/>
                <a:latin typeface="Arial" panose="020B0604020202020204" pitchFamily="34" charset="0"/>
                <a:cs typeface="Arial" panose="020B0604020202020204" pitchFamily="34" charset="0"/>
              </a:rPr>
              <a:t>high-energy two-wheeler accidents</a:t>
            </a:r>
          </a:p>
          <a:p>
            <a:pPr marL="171450" lvl="0" indent="-171450" eaLnBrk="0" fontAlgn="base" hangingPunct="0">
              <a:spcBef>
                <a:spcPct val="0"/>
              </a:spcBef>
              <a:spcAft>
                <a:spcPct val="0"/>
              </a:spcAft>
              <a:buFont typeface="Arial" panose="020B0604020202020204" pitchFamily="34" charset="0"/>
              <a:buChar char="•"/>
            </a:pP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Associated with severe soft-tissue injury and contamination.</a:t>
            </a:r>
            <a:r>
              <a:rPr lang="en-IN" sz="1100" dirty="0">
                <a:latin typeface="Arial" panose="020B0604020202020204" pitchFamily="34" charset="0"/>
                <a:cs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IN" sz="1100" dirty="0">
                <a:latin typeface="Arial" panose="020B0604020202020204" pitchFamily="34" charset="0"/>
                <a:cs typeface="Arial" panose="020B0604020202020204" pitchFamily="34" charset="0"/>
              </a:rPr>
              <a:t>We present a rare case of a 22-year-old male with a </a:t>
            </a:r>
            <a:r>
              <a:rPr lang="en-IN" sz="1100" b="1" dirty="0">
                <a:latin typeface="Arial" panose="020B0604020202020204" pitchFamily="34" charset="0"/>
                <a:cs typeface="Arial" panose="020B0604020202020204" pitchFamily="34" charset="0"/>
              </a:rPr>
              <a:t>Gustilo–Anderson grade IIIB </a:t>
            </a:r>
            <a:r>
              <a:rPr lang="en-IN" sz="1100" dirty="0">
                <a:latin typeface="Arial" panose="020B0604020202020204" pitchFamily="34" charset="0"/>
                <a:cs typeface="Arial" panose="020B0604020202020204" pitchFamily="34" charset="0"/>
              </a:rPr>
              <a:t>open fracture–dislocation involving both the Chopart and Lisfranc joints of the right foot, highlighting the challenges and importance of timely multidisciplinary management in limb salvage.</a:t>
            </a:r>
            <a:endPar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78311EA4-CAC9-AB6D-9D0B-A52DB137FBA0}"/>
              </a:ext>
            </a:extLst>
          </p:cNvPr>
          <p:cNvSpPr txBox="1"/>
          <p:nvPr/>
        </p:nvSpPr>
        <p:spPr>
          <a:xfrm>
            <a:off x="2543685" y="186669"/>
            <a:ext cx="6307494" cy="276999"/>
          </a:xfrm>
          <a:prstGeom prst="rect">
            <a:avLst/>
          </a:prstGeom>
          <a:noFill/>
        </p:spPr>
        <p:txBody>
          <a:bodyPr wrap="square" rtlCol="0">
            <a:spAutoFit/>
          </a:bodyPr>
          <a:lstStyle/>
          <a:p>
            <a:pPr algn="ctr"/>
            <a:r>
              <a:rPr lang="en-US" sz="1200" b="1" dirty="0">
                <a:solidFill>
                  <a:schemeClr val="bg1"/>
                </a:solidFill>
                <a:latin typeface="Gordita "/>
              </a:rPr>
              <a:t>Date 6 – 8 February,2026, Venue : Kurnool Medical College</a:t>
            </a:r>
          </a:p>
        </p:txBody>
      </p:sp>
      <p:sp>
        <p:nvSpPr>
          <p:cNvPr id="35" name="TextBox 34">
            <a:extLst>
              <a:ext uri="{FF2B5EF4-FFF2-40B4-BE49-F238E27FC236}">
                <a16:creationId xmlns:a16="http://schemas.microsoft.com/office/drawing/2014/main" id="{93D9AF62-ACB8-6C21-FCA5-3EA7531B8AE0}"/>
              </a:ext>
            </a:extLst>
          </p:cNvPr>
          <p:cNvSpPr txBox="1"/>
          <p:nvPr/>
        </p:nvSpPr>
        <p:spPr>
          <a:xfrm>
            <a:off x="1090189" y="-47697"/>
            <a:ext cx="9214485" cy="368300"/>
          </a:xfrm>
          <a:prstGeom prst="rect">
            <a:avLst/>
          </a:prstGeom>
          <a:noFill/>
        </p:spPr>
        <p:txBody>
          <a:bodyPr wrap="square" rtlCol="0">
            <a:spAutoFit/>
          </a:bodyPr>
          <a:lstStyle/>
          <a:p>
            <a:pPr algn="ctr"/>
            <a:r>
              <a:rPr lang="en-US" b="1" dirty="0">
                <a:solidFill>
                  <a:schemeClr val="bg1"/>
                </a:solidFill>
                <a:latin typeface="Gordita "/>
              </a:rPr>
              <a:t>55</a:t>
            </a:r>
            <a:r>
              <a:rPr lang="en-US" b="1" baseline="30000" dirty="0">
                <a:solidFill>
                  <a:schemeClr val="bg1"/>
                </a:solidFill>
                <a:latin typeface="Gordita "/>
              </a:rPr>
              <a:t>th</a:t>
            </a:r>
            <a:r>
              <a:rPr lang="en-IN" altLang="en-US" b="1" baseline="30000" dirty="0">
                <a:solidFill>
                  <a:schemeClr val="bg1"/>
                </a:solidFill>
                <a:latin typeface="Gordita "/>
              </a:rPr>
              <a:t> </a:t>
            </a:r>
            <a:r>
              <a:rPr lang="en-US" b="1" dirty="0">
                <a:solidFill>
                  <a:schemeClr val="bg1"/>
                </a:solidFill>
                <a:latin typeface="Gordita "/>
              </a:rPr>
              <a:t>Annual Conference of Orthopedic Surgeon Society of Andhra Pradesh</a:t>
            </a:r>
          </a:p>
        </p:txBody>
      </p:sp>
      <p:pic>
        <p:nvPicPr>
          <p:cNvPr id="36" name="Picture 35">
            <a:extLst>
              <a:ext uri="{FF2B5EF4-FFF2-40B4-BE49-F238E27FC236}">
                <a16:creationId xmlns:a16="http://schemas.microsoft.com/office/drawing/2014/main" id="{F2E39EA6-1BB7-730D-9641-6EF9984AEB4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260573" y="4509752"/>
            <a:ext cx="1103275" cy="1251748"/>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1326</TotalTime>
  <Words>665</Words>
  <Application>Microsoft Office PowerPoint</Application>
  <PresentationFormat>Widescreen</PresentationFormat>
  <Paragraphs>28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Gordita </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kalyan kambham</cp:lastModifiedBy>
  <cp:revision>7</cp:revision>
  <dcterms:created xsi:type="dcterms:W3CDTF">2026-01-11T06:24:43Z</dcterms:created>
  <dcterms:modified xsi:type="dcterms:W3CDTF">2026-01-29T06:47:14Z</dcterms:modified>
</cp:coreProperties>
</file>