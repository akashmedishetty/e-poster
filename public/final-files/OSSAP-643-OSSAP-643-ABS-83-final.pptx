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li74IS7MGAmRtiOY4SatUHp/s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11" Type="http://schemas.openxmlformats.org/officeDocument/2006/relationships/viewProps" Target="viewProps.xml" /><Relationship Id="rId5" Type="http://schemas.openxmlformats.org/officeDocument/2006/relationships/font" Target="fonts/font2.fntdata" /><Relationship Id="rId10" Type="http://schemas.openxmlformats.org/officeDocument/2006/relationships/presProps" Target="presProps.xml" /><Relationship Id="rId4" Type="http://schemas.openxmlformats.org/officeDocument/2006/relationships/font" Target="fonts/font1.fntdata" /><Relationship Id="rId9" Type="http://customschemas.google.com/relationships/presentationmetadata" Target="meta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2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 w="19050" cap="flat" cmpd="sng">
            <a:solidFill>
              <a:srgbClr val="5257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06884" y="74822"/>
            <a:ext cx="1043154" cy="104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47316" y="123390"/>
            <a:ext cx="884047" cy="88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27893" y="192303"/>
            <a:ext cx="785940" cy="7859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r>
              <a:rPr lang="en-US" sz="1800" b="1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Annual Conference of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Orthopedic Surgeon Society of Andhra Pradesh</a:t>
            </a:r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 6 – 8 February,2026, Venue : Kurnool Medical College</a:t>
            </a:r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Organized by : Department of Orthopaedics, Kurnool Medical College Kurnool</a:t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 extrusionOk="0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t="-9936" r="-4894" b="-1085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 /><Relationship Id="rId13" Type="http://schemas.openxmlformats.org/officeDocument/2006/relationships/image" Target="../media/image11.jpg" /><Relationship Id="rId3" Type="http://schemas.openxmlformats.org/officeDocument/2006/relationships/image" Target="../media/image5.jpg" /><Relationship Id="rId7" Type="http://schemas.openxmlformats.org/officeDocument/2006/relationships/image" Target="../media/image4.png" /><Relationship Id="rId12" Type="http://schemas.openxmlformats.org/officeDocument/2006/relationships/image" Target="../media/image10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png" /><Relationship Id="rId11" Type="http://schemas.openxmlformats.org/officeDocument/2006/relationships/image" Target="../media/image9.jpg" /><Relationship Id="rId5" Type="http://schemas.openxmlformats.org/officeDocument/2006/relationships/image" Target="../media/image2.png" /><Relationship Id="rId10" Type="http://schemas.openxmlformats.org/officeDocument/2006/relationships/image" Target="../media/image8.jpg" /><Relationship Id="rId4" Type="http://schemas.openxmlformats.org/officeDocument/2006/relationships/image" Target="../media/image1.png" /><Relationship Id="rId9" Type="http://schemas.openxmlformats.org/officeDocument/2006/relationships/image" Target="../media/image7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425" y="3336575"/>
            <a:ext cx="3225074" cy="17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6370525" y="1687550"/>
            <a:ext cx="5564400" cy="24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Performed under general anesthesia with tourniquet control.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1. Achilles tendon lengthening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– Percutaneous, to correct hindfoot equinus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2. Open reduction of talonavicular joint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– Medial approach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– Release of tight dorsal and medial soft tissues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– Anatomical reduction of talus and navicular bones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3. Soft-tissue releases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– Tibialis anterior lengthening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4. Stabilization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– K-wire fixation across the talonavicular joint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5. Immobilization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– Above-knee cast with foot in plantigrade position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-4" y="0"/>
            <a:ext cx="12217994" cy="1280156"/>
          </a:xfrm>
          <a:prstGeom prst="rect">
            <a:avLst/>
          </a:prstGeom>
          <a:solidFill>
            <a:srgbClr val="01234D"/>
          </a:solidFill>
          <a:ln w="19050" cap="flat" cmpd="sng">
            <a:solidFill>
              <a:srgbClr val="5257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73532" y="88571"/>
            <a:ext cx="1043154" cy="104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5792" y="94196"/>
            <a:ext cx="884047" cy="88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50450" y="133570"/>
            <a:ext cx="785940" cy="7859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/>
        </p:nvSpPr>
        <p:spPr>
          <a:xfrm>
            <a:off x="1986800" y="49250"/>
            <a:ext cx="8082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FFFFFF"/>
                </a:solidFill>
              </a:rPr>
              <a:t>Late-Presenting Bilateral Congenital Vertical Talus: A Case Report</a:t>
            </a:r>
            <a:endParaRPr sz="1900" b="1">
              <a:solidFill>
                <a:srgbClr val="FFFFFF"/>
              </a:solidFill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986800" y="438500"/>
            <a:ext cx="6927000" cy="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Presenter : Dr.</a:t>
            </a:r>
            <a:r>
              <a:rPr lang="en-US" sz="1600" b="1">
                <a:solidFill>
                  <a:schemeClr val="lt1"/>
                </a:solidFill>
              </a:rPr>
              <a:t>Srinivasa Vishnu Vara Prasad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Guide : Dr. S.Sreenivasa Reddy, HOD, Department of Orthopaedics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Institute: Apollo Institute of Medical Sciences and Research</a:t>
            </a: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9493925" y="801050"/>
            <a:ext cx="2346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Registration ID : OSSAP-64</a:t>
            </a:r>
            <a:r>
              <a:rPr lang="en-US" b="1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 extrusionOk="0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9936" r="-4894" b="-1085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674799"/>
            <a:ext cx="3108900" cy="1924500"/>
          </a:xfrm>
          <a:prstGeom prst="rect">
            <a:avLst/>
          </a:prstGeom>
          <a:noFill/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3696575"/>
            <a:ext cx="3108900" cy="3150600"/>
          </a:xfrm>
          <a:prstGeom prst="rect">
            <a:avLst/>
          </a:prstGeom>
          <a:noFill/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This is a 2yr 9 months old  patient presented with deformity in his bilateral foot since birth ,There was no history of trauma, fever, or previous treatment. The child was born at term through a normal vaginal delivery, with no significant antenatal or perinatal complications. Family history was non-contributory.On clinical examination, the affected foot showed a rigid rocker-bottom deformity.Radiographic evaluation with lateral foot radiographs in maximum plantarflexion demonstrated a persistently vertical talus with dorsal dislocation of the talonavicular joint, confirming the diagnosis of congenital vertical talus.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6408625" y="5695150"/>
            <a:ext cx="5801100" cy="1162800"/>
          </a:xfrm>
          <a:prstGeom prst="rect">
            <a:avLst/>
          </a:prstGeom>
          <a:noFill/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 children presenting with bilateral CVT more than 2 years of age, open reduction with soft-tissue release and stabilization remains the treatment of choice for congenital vertical talus, yielding satisfactory functional outcomes when performed early and followed by structured rehabilitation.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6343240" y="1287132"/>
            <a:ext cx="5874751" cy="394637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C0C0C"/>
                </a:solidFill>
              </a:rPr>
              <a:t>PROCEDURE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6391700" y="5323975"/>
            <a:ext cx="5801100" cy="3945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DISCUSSION AND CONCLUSION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0" y="3302063"/>
            <a:ext cx="3108900" cy="3945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CASE REPORT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-59125" y="1651700"/>
            <a:ext cx="31818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Congenital vertical talus (CVT) is a rare but severe rigid flatfoot deformity present at birth with 1 in 10,000 births, characterized by fixed dorsal dislocation of the talonavicular joint resulting in a classic rocker-bottom foot. Early recognition is crucial to prevent long-term disability and pain.</a:t>
            </a:r>
            <a:endParaRPr sz="1200"/>
          </a:p>
        </p:txBody>
      </p:sp>
      <p:sp>
        <p:nvSpPr>
          <p:cNvPr id="110" name="Google Shape;110;p1"/>
          <p:cNvSpPr/>
          <p:nvPr/>
        </p:nvSpPr>
        <p:spPr>
          <a:xfrm>
            <a:off x="3108950" y="1289450"/>
            <a:ext cx="3299700" cy="3945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INVESTIGATIONS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3166700" y="1683850"/>
            <a:ext cx="3225000" cy="5169900"/>
          </a:xfrm>
          <a:prstGeom prst="rect">
            <a:avLst/>
          </a:prstGeom>
          <a:noFill/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8">
            <a:alphaModFix/>
          </a:blip>
          <a:srcRect t="32632" b="32629"/>
          <a:stretch/>
        </p:blipFill>
        <p:spPr>
          <a:xfrm>
            <a:off x="6391701" y="4155950"/>
            <a:ext cx="1469150" cy="116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9">
            <a:alphaModFix/>
          </a:blip>
          <a:srcRect t="26636" b="48260"/>
          <a:stretch/>
        </p:blipFill>
        <p:spPr>
          <a:xfrm>
            <a:off x="7882550" y="4153400"/>
            <a:ext cx="1611374" cy="117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10">
            <a:alphaModFix/>
          </a:blip>
          <a:srcRect l="1503" r="1493"/>
          <a:stretch/>
        </p:blipFill>
        <p:spPr>
          <a:xfrm>
            <a:off x="9493925" y="4155950"/>
            <a:ext cx="1404726" cy="116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11">
            <a:alphaModFix/>
          </a:blip>
          <a:srcRect t="17550" b="17543"/>
          <a:stretch/>
        </p:blipFill>
        <p:spPr>
          <a:xfrm>
            <a:off x="10898650" y="4161875"/>
            <a:ext cx="1293050" cy="116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12">
            <a:alphaModFix/>
          </a:blip>
          <a:srcRect l="55219" t="53871" b="10786"/>
          <a:stretch/>
        </p:blipFill>
        <p:spPr>
          <a:xfrm>
            <a:off x="3137425" y="1673025"/>
            <a:ext cx="1611376" cy="17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/>
          <p:cNvPicPr preferRelativeResize="0"/>
          <p:nvPr/>
        </p:nvPicPr>
        <p:blipFill rotWithShape="1">
          <a:blip r:embed="rId13">
            <a:alphaModFix/>
          </a:blip>
          <a:srcRect l="6767" t="55252" r="57929" b="15128"/>
          <a:stretch/>
        </p:blipFill>
        <p:spPr>
          <a:xfrm>
            <a:off x="4703425" y="1673025"/>
            <a:ext cx="1656750" cy="17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12">
            <a:alphaModFix/>
          </a:blip>
          <a:srcRect l="1837" t="9379" r="63238" b="50690"/>
          <a:stretch/>
        </p:blipFill>
        <p:spPr>
          <a:xfrm>
            <a:off x="3137425" y="4736400"/>
            <a:ext cx="1548976" cy="211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13">
            <a:alphaModFix/>
          </a:blip>
          <a:srcRect l="5921" t="11440" r="52022" b="50001"/>
          <a:stretch/>
        </p:blipFill>
        <p:spPr>
          <a:xfrm>
            <a:off x="4686400" y="4736400"/>
            <a:ext cx="1684126" cy="211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Vasu Vasu</cp:lastModifiedBy>
  <cp:revision>1</cp:revision>
  <dcterms:created xsi:type="dcterms:W3CDTF">2026-01-11T06:24:43Z</dcterms:created>
  <dcterms:modified xsi:type="dcterms:W3CDTF">2026-02-04T16:05:41Z</dcterms:modified>
</cp:coreProperties>
</file>