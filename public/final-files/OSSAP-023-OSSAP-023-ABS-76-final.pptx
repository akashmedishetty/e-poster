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Lst>
  <p:sldSz cy="6858000" cx="12192000"/>
  <p:notesSz cx="6858000" cy="9144000"/>
  <p:embeddedFontLst>
    <p:embeddedFont>
      <p:font typeface="Play"/>
      <p:regular r:id="rId6"/>
      <p:bold r:id="rId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font" Target="fonts/Play-regular.fntdata"/><Relationship Id="rId7" Type="http://schemas.openxmlformats.org/officeDocument/2006/relationships/font" Target="fonts/Pl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Play"/>
              <a:buNone/>
              <a:defRPr b="0" i="0" sz="60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 name="Google Shape;16;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17" name="Google Shape;17;p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 name="Google Shape;18;p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 name="Google Shape;19;p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Play"/>
              <a:buNone/>
              <a:defRPr b="0" i="0" sz="60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 name="Google Shape;28;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575"/>
              </a:buClr>
              <a:buSzPts val="2400"/>
              <a:buFont typeface="Arial"/>
              <a:buNone/>
              <a:defRPr b="0" i="0" sz="2400" u="none" cap="none" strike="noStrike">
                <a:solidFill>
                  <a:srgbClr val="757575"/>
                </a:solidFill>
                <a:latin typeface="Arial"/>
                <a:ea typeface="Arial"/>
                <a:cs typeface="Arial"/>
                <a:sym typeface="Arial"/>
              </a:defRPr>
            </a:lvl1pPr>
            <a:lvl2pPr indent="-228600" lvl="1" marL="914400" marR="0" rtl="0" algn="l">
              <a:lnSpc>
                <a:spcPct val="90000"/>
              </a:lnSpc>
              <a:spcBef>
                <a:spcPts val="500"/>
              </a:spcBef>
              <a:spcAft>
                <a:spcPts val="0"/>
              </a:spcAft>
              <a:buClr>
                <a:srgbClr val="757575"/>
              </a:buClr>
              <a:buSzPts val="2000"/>
              <a:buFont typeface="Arial"/>
              <a:buNone/>
              <a:defRPr b="0" i="0" sz="2000" u="none" cap="none" strike="noStrike">
                <a:solidFill>
                  <a:srgbClr val="757575"/>
                </a:solidFill>
                <a:latin typeface="Arial"/>
                <a:ea typeface="Arial"/>
                <a:cs typeface="Arial"/>
                <a:sym typeface="Arial"/>
              </a:defRPr>
            </a:lvl2pPr>
            <a:lvl3pPr indent="-228600" lvl="2" marL="1371600" marR="0" rtl="0" algn="l">
              <a:lnSpc>
                <a:spcPct val="90000"/>
              </a:lnSpc>
              <a:spcBef>
                <a:spcPts val="50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228600" lvl="3" marL="18288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4pPr>
            <a:lvl5pPr indent="-228600" lvl="4" marL="22860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5pPr>
            <a:lvl6pPr indent="-228600" lvl="5" marL="27432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6pPr>
            <a:lvl7pPr indent="-228600" lvl="6" marL="32004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7pPr>
            <a:lvl8pPr indent="-228600" lvl="7" marL="36576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8pPr>
            <a:lvl9pPr indent="-228600" lvl="8" marL="41148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9pPr>
          </a:lstStyle>
          <a:p/>
        </p:txBody>
      </p:sp>
      <p:sp>
        <p:nvSpPr>
          <p:cNvPr id="29" name="Google Shape;29;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0" name="Google Shape;30;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1" name="Google Shape;31;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5"/>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4" name="Google Shape;34;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5" name="Google Shape;35;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6"/>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2" name="Google Shape;42;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3" name="Google Shape;43;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4" name="Google Shape;44;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6" name="Google Shape;46;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7" name="Google Shape;47;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5" name="Google Shape;55;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6" name="Google Shape;56;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Play"/>
              <a:buNone/>
              <a:defRPr b="0" i="0" sz="32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0" name="Google Shape;60;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p:txBody>
      </p:sp>
      <p:sp>
        <p:nvSpPr>
          <p:cNvPr id="61" name="Google Shape;61;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2" name="Google Shape;62;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3" name="Google Shape;63;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Play"/>
              <a:buNone/>
              <a:defRPr b="0" i="0" sz="32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0"/>
          <p:cNvSpPr/>
          <p:nvPr>
            <p:ph idx="2" type="pic"/>
          </p:nvPr>
        </p:nvSpPr>
        <p:spPr>
          <a:xfrm>
            <a:off x="5183188" y="987425"/>
            <a:ext cx="6172200" cy="4873625"/>
          </a:xfrm>
          <a:prstGeom prst="rect">
            <a:avLst/>
          </a:prstGeom>
          <a:noFill/>
          <a:ln>
            <a:noFill/>
          </a:ln>
        </p:spPr>
      </p:sp>
      <p:sp>
        <p:nvSpPr>
          <p:cNvPr id="67" name="Google Shape;67;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p:txBody>
      </p:sp>
      <p:sp>
        <p:nvSpPr>
          <p:cNvPr id="68" name="Google Shape;68;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9" name="Google Shape;69;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0" name="Google Shape;70;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4" name="Google Shape;74;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5" name="Google Shape;75;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6" name="Google Shape;76;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9" name="Google Shape;79;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0" name="Google Shape;80;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1" name="Google Shape;81;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2" name="Google Shape;82;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6" Type="http://schemas.openxmlformats.org/officeDocument/2006/relationships/theme" Target="../theme/theme1.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0"/>
            <a:ext cx="12191998" cy="1280156"/>
          </a:xfrm>
          <a:prstGeom prst="rect">
            <a:avLst/>
          </a:prstGeom>
          <a:solidFill>
            <a:srgbClr val="01234D"/>
          </a:solidFill>
          <a:ln cap="flat" cmpd="sng" w="19050">
            <a:solidFill>
              <a:srgbClr val="52575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 name="Google Shape;7;p1"/>
          <p:cNvPicPr preferRelativeResize="0"/>
          <p:nvPr/>
        </p:nvPicPr>
        <p:blipFill rotWithShape="1">
          <a:blip r:embed="rId1">
            <a:alphaModFix/>
          </a:blip>
          <a:srcRect b="0" l="0" r="0" t="0"/>
          <a:stretch/>
        </p:blipFill>
        <p:spPr>
          <a:xfrm>
            <a:off x="9006884" y="74822"/>
            <a:ext cx="1043154" cy="1043154"/>
          </a:xfrm>
          <a:prstGeom prst="rect">
            <a:avLst/>
          </a:prstGeom>
          <a:noFill/>
          <a:ln>
            <a:noFill/>
          </a:ln>
        </p:spPr>
      </p:pic>
      <p:pic>
        <p:nvPicPr>
          <p:cNvPr id="8" name="Google Shape;8;p1"/>
          <p:cNvPicPr preferRelativeResize="0"/>
          <p:nvPr/>
        </p:nvPicPr>
        <p:blipFill rotWithShape="1">
          <a:blip r:embed="rId2">
            <a:alphaModFix/>
          </a:blip>
          <a:srcRect b="0" l="0" r="0" t="0"/>
          <a:stretch/>
        </p:blipFill>
        <p:spPr>
          <a:xfrm>
            <a:off x="10947316" y="123390"/>
            <a:ext cx="884047" cy="884047"/>
          </a:xfrm>
          <a:prstGeom prst="rect">
            <a:avLst/>
          </a:prstGeom>
          <a:noFill/>
          <a:ln>
            <a:noFill/>
          </a:ln>
        </p:spPr>
      </p:pic>
      <p:pic>
        <p:nvPicPr>
          <p:cNvPr id="9" name="Google Shape;9;p1"/>
          <p:cNvPicPr preferRelativeResize="0"/>
          <p:nvPr/>
        </p:nvPicPr>
        <p:blipFill rotWithShape="1">
          <a:blip r:embed="rId3">
            <a:alphaModFix/>
          </a:blip>
          <a:srcRect b="0" l="0" r="0" t="0"/>
          <a:stretch/>
        </p:blipFill>
        <p:spPr>
          <a:xfrm>
            <a:off x="10127893" y="192303"/>
            <a:ext cx="785940" cy="785940"/>
          </a:xfrm>
          <a:prstGeom prst="rect">
            <a:avLst/>
          </a:prstGeom>
          <a:noFill/>
          <a:ln>
            <a:noFill/>
          </a:ln>
        </p:spPr>
      </p:pic>
      <p:sp>
        <p:nvSpPr>
          <p:cNvPr id="10" name="Google Shape;10;p1"/>
          <p:cNvSpPr txBox="1"/>
          <p:nvPr/>
        </p:nvSpPr>
        <p:spPr>
          <a:xfrm>
            <a:off x="2575249" y="27424"/>
            <a:ext cx="599834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55</a:t>
            </a:r>
            <a:r>
              <a:rPr b="1" baseline="30000" i="0" lang="en-US" sz="1800" u="none" cap="none" strike="noStrike">
                <a:solidFill>
                  <a:schemeClr val="lt1"/>
                </a:solidFill>
                <a:latin typeface="Arial"/>
                <a:ea typeface="Arial"/>
                <a:cs typeface="Arial"/>
                <a:sym typeface="Arial"/>
              </a:rPr>
              <a:t>th</a:t>
            </a:r>
            <a:r>
              <a:rPr b="1" i="0" lang="en-US" sz="1800" u="none" cap="none" strike="noStrike">
                <a:solidFill>
                  <a:schemeClr val="lt1"/>
                </a:solidFill>
                <a:latin typeface="Arial"/>
                <a:ea typeface="Arial"/>
                <a:cs typeface="Arial"/>
                <a:sym typeface="Arial"/>
              </a:rPr>
              <a:t>   Annual Conference of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Orthopedic Surgeon Society of Andhra Pradesh</a:t>
            </a:r>
            <a:endParaRPr b="0" i="0" sz="1400" u="none" cap="none" strike="noStrike">
              <a:solidFill>
                <a:srgbClr val="000000"/>
              </a:solidFill>
              <a:latin typeface="Arial"/>
              <a:ea typeface="Arial"/>
              <a:cs typeface="Arial"/>
              <a:sym typeface="Arial"/>
            </a:endParaRPr>
          </a:p>
        </p:txBody>
      </p:sp>
      <p:sp>
        <p:nvSpPr>
          <p:cNvPr id="11" name="Google Shape;11;p1"/>
          <p:cNvSpPr txBox="1"/>
          <p:nvPr/>
        </p:nvSpPr>
        <p:spPr>
          <a:xfrm>
            <a:off x="2601218" y="653897"/>
            <a:ext cx="6307494"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Date 6 – 8 February,2026, Venue : Kurnool Medical College</a:t>
            </a:r>
            <a:endParaRPr b="0" i="0" sz="1400" u="none" cap="none" strike="noStrike">
              <a:solidFill>
                <a:srgbClr val="000000"/>
              </a:solidFill>
              <a:latin typeface="Arial"/>
              <a:ea typeface="Arial"/>
              <a:cs typeface="Arial"/>
              <a:sym typeface="Arial"/>
            </a:endParaRPr>
          </a:p>
        </p:txBody>
      </p:sp>
      <p:sp>
        <p:nvSpPr>
          <p:cNvPr id="12" name="Google Shape;12;p1"/>
          <p:cNvSpPr txBox="1"/>
          <p:nvPr/>
        </p:nvSpPr>
        <p:spPr>
          <a:xfrm>
            <a:off x="2575249" y="913340"/>
            <a:ext cx="7114032"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Organized by : Department of Orthopaedics, Kurnool Medical College Kurnool</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a:off x="560814" y="14255"/>
            <a:ext cx="1505561" cy="1280157"/>
          </a:xfrm>
          <a:custGeom>
            <a:rect b="b" l="l" r="r" t="t"/>
            <a:pathLst>
              <a:path extrusionOk="0" h="1957865" w="2254612">
                <a:moveTo>
                  <a:pt x="0" y="0"/>
                </a:moveTo>
                <a:lnTo>
                  <a:pt x="2254612" y="0"/>
                </a:lnTo>
                <a:lnTo>
                  <a:pt x="2254612" y="1957865"/>
                </a:lnTo>
                <a:lnTo>
                  <a:pt x="0" y="1957865"/>
                </a:lnTo>
                <a:lnTo>
                  <a:pt x="0" y="0"/>
                </a:lnTo>
                <a:close/>
              </a:path>
            </a:pathLst>
          </a:custGeom>
          <a:blipFill rotWithShape="1">
            <a:blip r:embed="rId4">
              <a:alphaModFix/>
            </a:blip>
            <a:stretch>
              <a:fillRect b="-10851" l="0" r="-4891" t="-993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5"/>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0" Type="http://schemas.openxmlformats.org/officeDocument/2006/relationships/image" Target="../media/image12.jp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 Id="rId9" Type="http://schemas.openxmlformats.org/officeDocument/2006/relationships/image" Target="../media/image8.jpg"/><Relationship Id="rId5" Type="http://schemas.openxmlformats.org/officeDocument/2006/relationships/image" Target="../media/image10.jpg"/><Relationship Id="rId6" Type="http://schemas.openxmlformats.org/officeDocument/2006/relationships/image" Target="../media/image9.jpg"/><Relationship Id="rId7" Type="http://schemas.openxmlformats.org/officeDocument/2006/relationships/image" Target="../media/image7.jpg"/><Relationship Id="rId8"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p:nvPr/>
        </p:nvSpPr>
        <p:spPr>
          <a:xfrm>
            <a:off x="0" y="0"/>
            <a:ext cx="12192000" cy="1280100"/>
          </a:xfrm>
          <a:prstGeom prst="rect">
            <a:avLst/>
          </a:prstGeom>
          <a:solidFill>
            <a:srgbClr val="01234D"/>
          </a:solidFill>
          <a:ln cap="flat" cmpd="sng" w="19050">
            <a:solidFill>
              <a:srgbClr val="52575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8" name="Google Shape;88;p13"/>
          <p:cNvPicPr preferRelativeResize="0"/>
          <p:nvPr/>
        </p:nvPicPr>
        <p:blipFill rotWithShape="1">
          <a:blip r:embed="rId3">
            <a:alphaModFix/>
          </a:blip>
          <a:srcRect b="0" l="0" r="0" t="0"/>
          <a:stretch/>
        </p:blipFill>
        <p:spPr>
          <a:xfrm>
            <a:off x="10947316" y="123390"/>
            <a:ext cx="884048" cy="884048"/>
          </a:xfrm>
          <a:prstGeom prst="rect">
            <a:avLst/>
          </a:prstGeom>
          <a:noFill/>
          <a:ln>
            <a:noFill/>
          </a:ln>
        </p:spPr>
      </p:pic>
      <p:sp>
        <p:nvSpPr>
          <p:cNvPr id="89" name="Google Shape;89;p13"/>
          <p:cNvSpPr txBox="1"/>
          <p:nvPr/>
        </p:nvSpPr>
        <p:spPr>
          <a:xfrm>
            <a:off x="2281250" y="27425"/>
            <a:ext cx="8319300" cy="118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Arial"/>
              <a:buNone/>
            </a:pPr>
            <a:r>
              <a:rPr b="0" i="0" lang="en-US" sz="2400" u="none" cap="none" strike="noStrike">
                <a:solidFill>
                  <a:schemeClr val="lt1"/>
                </a:solidFill>
                <a:latin typeface="Arial"/>
                <a:ea typeface="Arial"/>
                <a:cs typeface="Arial"/>
                <a:sym typeface="Arial"/>
              </a:rPr>
              <a:t>BEYOND BACTERIA - FUNGAL INVADERS OF SPINE</a:t>
            </a:r>
            <a:endParaRPr b="0" i="0" sz="2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800"/>
              <a:buFont typeface="Arial"/>
              <a:buNone/>
            </a:pPr>
            <a:r>
              <a:t/>
            </a:r>
            <a:endParaRPr b="0" i="0" sz="2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800"/>
              <a:buFont typeface="Arial"/>
              <a:buNone/>
            </a:pPr>
            <a:r>
              <a:t/>
            </a:r>
            <a:endParaRPr b="0" i="0" sz="2400" u="none" cap="none" strike="noStrike">
              <a:solidFill>
                <a:schemeClr val="accent2"/>
              </a:solidFill>
              <a:latin typeface="Arial"/>
              <a:ea typeface="Arial"/>
              <a:cs typeface="Arial"/>
              <a:sym typeface="Arial"/>
            </a:endParaRPr>
          </a:p>
        </p:txBody>
      </p:sp>
      <p:sp>
        <p:nvSpPr>
          <p:cNvPr id="90" name="Google Shape;90;p13"/>
          <p:cNvSpPr txBox="1"/>
          <p:nvPr/>
        </p:nvSpPr>
        <p:spPr>
          <a:xfrm>
            <a:off x="2281250" y="649700"/>
            <a:ext cx="7519200" cy="37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200"/>
              <a:buFont typeface="Arial"/>
              <a:buNone/>
            </a:pPr>
            <a:r>
              <a:rPr b="0" i="0" lang="en-US" sz="1800" u="none" cap="none" strike="noStrike">
                <a:solidFill>
                  <a:schemeClr val="lt1"/>
                </a:solidFill>
                <a:latin typeface="Arial"/>
                <a:ea typeface="Arial"/>
                <a:cs typeface="Arial"/>
                <a:sym typeface="Arial"/>
              </a:rPr>
              <a:t>Presented by - Dr.P.TIRUMALA SRINIVAS 3rd yr postgraduate</a:t>
            </a:r>
            <a:r>
              <a:rPr b="0" i="0" lang="en-US" sz="1800" u="none" cap="none" strike="noStrike">
                <a:solidFill>
                  <a:schemeClr val="accent2"/>
                </a:solidFill>
                <a:latin typeface="Arial"/>
                <a:ea typeface="Arial"/>
                <a:cs typeface="Arial"/>
                <a:sym typeface="Arial"/>
              </a:rPr>
              <a:t> </a:t>
            </a:r>
            <a:endParaRPr b="0" i="0" sz="1800" u="none" cap="none" strike="noStrike">
              <a:solidFill>
                <a:schemeClr val="accent2"/>
              </a:solidFill>
              <a:latin typeface="Arial"/>
              <a:ea typeface="Arial"/>
              <a:cs typeface="Arial"/>
              <a:sym typeface="Arial"/>
            </a:endParaRPr>
          </a:p>
        </p:txBody>
      </p:sp>
      <p:sp>
        <p:nvSpPr>
          <p:cNvPr id="91" name="Google Shape;91;p13"/>
          <p:cNvSpPr txBox="1"/>
          <p:nvPr/>
        </p:nvSpPr>
        <p:spPr>
          <a:xfrm>
            <a:off x="2281250" y="913350"/>
            <a:ext cx="10168800" cy="37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200"/>
              <a:buFont typeface="Arial"/>
              <a:buNone/>
            </a:pPr>
            <a:r>
              <a:rPr b="0" i="0" lang="en-US" sz="1800" u="none" cap="none" strike="noStrike">
                <a:solidFill>
                  <a:schemeClr val="lt1"/>
                </a:solidFill>
                <a:latin typeface="Arial"/>
                <a:ea typeface="Arial"/>
                <a:cs typeface="Arial"/>
                <a:sym typeface="Arial"/>
              </a:rPr>
              <a:t>Guide - Dr.B.B.JOGINATH Asst professor MS Ortho,DNB Ortho,MRCS,Fellow in spine surgery</a:t>
            </a:r>
            <a:r>
              <a:rPr b="0" i="0" lang="en-US" sz="1800" u="none" cap="none" strike="noStrike">
                <a:solidFill>
                  <a:schemeClr val="accent2"/>
                </a:solidFill>
                <a:latin typeface="Arial"/>
                <a:ea typeface="Arial"/>
                <a:cs typeface="Arial"/>
                <a:sym typeface="Arial"/>
              </a:rPr>
              <a:t> </a:t>
            </a:r>
            <a:endParaRPr b="0" i="0" sz="1800" u="none" cap="none" strike="noStrike">
              <a:solidFill>
                <a:schemeClr val="accent2"/>
              </a:solidFill>
              <a:latin typeface="Arial"/>
              <a:ea typeface="Arial"/>
              <a:cs typeface="Arial"/>
              <a:sym typeface="Arial"/>
            </a:endParaRPr>
          </a:p>
        </p:txBody>
      </p:sp>
      <p:sp>
        <p:nvSpPr>
          <p:cNvPr id="92" name="Google Shape;92;p13"/>
          <p:cNvSpPr/>
          <p:nvPr/>
        </p:nvSpPr>
        <p:spPr>
          <a:xfrm>
            <a:off x="378750" y="-2395"/>
            <a:ext cx="1504954" cy="1282402"/>
          </a:xfrm>
          <a:custGeom>
            <a:rect b="b" l="l" r="r" t="t"/>
            <a:pathLst>
              <a:path extrusionOk="0" h="1957865" w="2254612">
                <a:moveTo>
                  <a:pt x="0" y="0"/>
                </a:moveTo>
                <a:lnTo>
                  <a:pt x="2254612" y="0"/>
                </a:lnTo>
                <a:lnTo>
                  <a:pt x="2254612" y="1957865"/>
                </a:lnTo>
                <a:lnTo>
                  <a:pt x="0" y="1957865"/>
                </a:lnTo>
                <a:lnTo>
                  <a:pt x="0" y="0"/>
                </a:lnTo>
                <a:close/>
              </a:path>
            </a:pathLst>
          </a:custGeom>
          <a:blipFill rotWithShape="1">
            <a:blip r:embed="rId4">
              <a:alphaModFix/>
            </a:blip>
            <a:stretch>
              <a:fillRect b="-10826" l="0" r="-4887" t="-993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 name="Google Shape;93;p13"/>
          <p:cNvSpPr/>
          <p:nvPr/>
        </p:nvSpPr>
        <p:spPr>
          <a:xfrm>
            <a:off x="3157075" y="1284750"/>
            <a:ext cx="3186000" cy="1946700"/>
          </a:xfrm>
          <a:prstGeom prst="rect">
            <a:avLst/>
          </a:prstGeom>
          <a:no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Arial"/>
                <a:ea typeface="Arial"/>
                <a:cs typeface="Arial"/>
                <a:sym typeface="Arial"/>
              </a:rPr>
              <a:t>Patient underwent Posterior spinal decompression with instrumental fusion and Transpedicular biopsy at L4- L5.A large infected intervertebral disc material of size 5*2cm was excised</a:t>
            </a:r>
            <a:endParaRPr b="0" i="0" sz="1400" u="none" cap="none" strike="noStrike">
              <a:solidFill>
                <a:schemeClr val="dk1"/>
              </a:solidFill>
              <a:latin typeface="Arial"/>
              <a:ea typeface="Arial"/>
              <a:cs typeface="Arial"/>
              <a:sym typeface="Arial"/>
            </a:endParaRPr>
          </a:p>
        </p:txBody>
      </p:sp>
      <p:sp>
        <p:nvSpPr>
          <p:cNvPr id="94" name="Google Shape;94;p13"/>
          <p:cNvSpPr/>
          <p:nvPr/>
        </p:nvSpPr>
        <p:spPr>
          <a:xfrm>
            <a:off x="6352675" y="5831650"/>
            <a:ext cx="5839200" cy="1026600"/>
          </a:xfrm>
          <a:prstGeom prst="rect">
            <a:avLst/>
          </a:prstGeom>
          <a:no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Arial"/>
                <a:ea typeface="Arial"/>
                <a:cs typeface="Arial"/>
                <a:sym typeface="Arial"/>
              </a:rPr>
              <a:t>Lumbar Aspergillus spondylodiscitis is rare but should be considered in culture-negative or persistent spinal infections. Early imaging, histopathology, targeted antifungal therapy, and timely surgical intervention are essential for successful outcomes. </a:t>
            </a:r>
            <a:endParaRPr b="0" i="0" sz="1400" u="none" cap="none" strike="noStrike">
              <a:solidFill>
                <a:schemeClr val="dk1"/>
              </a:solidFill>
              <a:latin typeface="Arial"/>
              <a:ea typeface="Arial"/>
              <a:cs typeface="Arial"/>
              <a:sym typeface="Arial"/>
            </a:endParaRPr>
          </a:p>
        </p:txBody>
      </p:sp>
      <p:sp>
        <p:nvSpPr>
          <p:cNvPr id="95" name="Google Shape;95;p13"/>
          <p:cNvSpPr/>
          <p:nvPr/>
        </p:nvSpPr>
        <p:spPr>
          <a:xfrm>
            <a:off x="0" y="1280157"/>
            <a:ext cx="3108900" cy="394500"/>
          </a:xfrm>
          <a:prstGeom prst="rect">
            <a:avLst/>
          </a:prstGeom>
          <a:solidFill>
            <a:srgbClr val="A3C5ED"/>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INTRODUCTION </a:t>
            </a:r>
            <a:endParaRPr b="0" i="0" sz="1800" u="none" cap="none" strike="noStrike">
              <a:solidFill>
                <a:schemeClr val="dk1"/>
              </a:solidFill>
              <a:latin typeface="Arial"/>
              <a:ea typeface="Arial"/>
              <a:cs typeface="Arial"/>
              <a:sym typeface="Arial"/>
            </a:endParaRPr>
          </a:p>
        </p:txBody>
      </p:sp>
      <p:sp>
        <p:nvSpPr>
          <p:cNvPr id="96" name="Google Shape;96;p13"/>
          <p:cNvSpPr/>
          <p:nvPr/>
        </p:nvSpPr>
        <p:spPr>
          <a:xfrm>
            <a:off x="3137836" y="1280157"/>
            <a:ext cx="3186000" cy="394500"/>
          </a:xfrm>
          <a:prstGeom prst="rect">
            <a:avLst/>
          </a:prstGeom>
          <a:solidFill>
            <a:srgbClr val="A3C5ED"/>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C0C0C"/>
              </a:buClr>
              <a:buSzPts val="1800"/>
              <a:buFont typeface="Arial"/>
              <a:buNone/>
            </a:pPr>
            <a:r>
              <a:rPr b="1" i="0" lang="en-US" sz="1800" u="none" cap="none" strike="noStrike">
                <a:solidFill>
                  <a:srgbClr val="0C0C0C"/>
                </a:solidFill>
                <a:latin typeface="Arial"/>
                <a:ea typeface="Arial"/>
                <a:cs typeface="Arial"/>
                <a:sym typeface="Arial"/>
              </a:rPr>
              <a:t>OPERATIVE FINDINGS</a:t>
            </a:r>
            <a:endParaRPr b="0" i="0" sz="1800" u="none" cap="none" strike="noStrike">
              <a:solidFill>
                <a:schemeClr val="dk1"/>
              </a:solidFill>
              <a:latin typeface="Arial"/>
              <a:ea typeface="Arial"/>
              <a:cs typeface="Arial"/>
              <a:sym typeface="Arial"/>
            </a:endParaRPr>
          </a:p>
        </p:txBody>
      </p:sp>
      <p:sp>
        <p:nvSpPr>
          <p:cNvPr id="97" name="Google Shape;97;p13"/>
          <p:cNvSpPr/>
          <p:nvPr/>
        </p:nvSpPr>
        <p:spPr>
          <a:xfrm>
            <a:off x="6352675" y="1280095"/>
            <a:ext cx="5839200" cy="396300"/>
          </a:xfrm>
          <a:prstGeom prst="rect">
            <a:avLst/>
          </a:prstGeom>
          <a:solidFill>
            <a:srgbClr val="A3C5ED"/>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C0C0C"/>
              </a:buClr>
              <a:buSzPts val="1800"/>
              <a:buFont typeface="Arial"/>
              <a:buNone/>
            </a:pPr>
            <a:r>
              <a:rPr b="1" i="0" lang="en-US" sz="1800" u="none" cap="none" strike="noStrike">
                <a:solidFill>
                  <a:srgbClr val="0C0C0C"/>
                </a:solidFill>
                <a:latin typeface="Arial"/>
                <a:ea typeface="Arial"/>
                <a:cs typeface="Arial"/>
                <a:sym typeface="Arial"/>
              </a:rPr>
              <a:t>DISCUSSION</a:t>
            </a:r>
            <a:endParaRPr b="0" i="0" sz="1800" u="none" cap="none" strike="noStrike">
              <a:solidFill>
                <a:schemeClr val="dk1"/>
              </a:solidFill>
              <a:latin typeface="Arial"/>
              <a:ea typeface="Arial"/>
              <a:cs typeface="Arial"/>
              <a:sym typeface="Arial"/>
            </a:endParaRPr>
          </a:p>
        </p:txBody>
      </p:sp>
      <p:sp>
        <p:nvSpPr>
          <p:cNvPr id="98" name="Google Shape;98;p13"/>
          <p:cNvSpPr/>
          <p:nvPr/>
        </p:nvSpPr>
        <p:spPr>
          <a:xfrm>
            <a:off x="0" y="5005136"/>
            <a:ext cx="3108900" cy="394500"/>
          </a:xfrm>
          <a:prstGeom prst="rect">
            <a:avLst/>
          </a:prstGeom>
          <a:solidFill>
            <a:srgbClr val="A3C5ED"/>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C0C0C"/>
              </a:buClr>
              <a:buSzPts val="1800"/>
              <a:buFont typeface="Arial"/>
              <a:buNone/>
            </a:pPr>
            <a:r>
              <a:rPr b="1" i="0" lang="en-US" sz="1800" u="none" cap="none" strike="noStrike">
                <a:solidFill>
                  <a:srgbClr val="0C0C0C"/>
                </a:solidFill>
                <a:latin typeface="Arial"/>
                <a:ea typeface="Arial"/>
                <a:cs typeface="Arial"/>
                <a:sym typeface="Arial"/>
              </a:rPr>
              <a:t>CASE REPORT</a:t>
            </a:r>
            <a:endParaRPr b="0" i="0" sz="1800" u="none" cap="none" strike="noStrike">
              <a:solidFill>
                <a:schemeClr val="dk1"/>
              </a:solidFill>
              <a:latin typeface="Arial"/>
              <a:ea typeface="Arial"/>
              <a:cs typeface="Arial"/>
              <a:sym typeface="Arial"/>
            </a:endParaRPr>
          </a:p>
        </p:txBody>
      </p:sp>
      <p:sp>
        <p:nvSpPr>
          <p:cNvPr id="99" name="Google Shape;99;p13"/>
          <p:cNvSpPr/>
          <p:nvPr/>
        </p:nvSpPr>
        <p:spPr>
          <a:xfrm>
            <a:off x="6352675" y="5592100"/>
            <a:ext cx="5839200" cy="239400"/>
          </a:xfrm>
          <a:prstGeom prst="rect">
            <a:avLst/>
          </a:prstGeom>
          <a:solidFill>
            <a:srgbClr val="A3C5ED"/>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C0C0C"/>
              </a:buClr>
              <a:buSzPts val="1800"/>
              <a:buFont typeface="Arial"/>
              <a:buNone/>
            </a:pPr>
            <a:r>
              <a:rPr b="1" i="0" lang="en-US" sz="1800" u="none" cap="none" strike="noStrike">
                <a:solidFill>
                  <a:srgbClr val="0C0C0C"/>
                </a:solidFill>
                <a:latin typeface="Arial"/>
                <a:ea typeface="Arial"/>
                <a:cs typeface="Arial"/>
                <a:sym typeface="Arial"/>
              </a:rPr>
              <a:t>CONCLUSION</a:t>
            </a:r>
            <a:endParaRPr b="0" i="0" sz="1800" u="none" cap="none" strike="noStrike">
              <a:solidFill>
                <a:schemeClr val="dk1"/>
              </a:solidFill>
              <a:latin typeface="Arial"/>
              <a:ea typeface="Arial"/>
              <a:cs typeface="Arial"/>
              <a:sym typeface="Arial"/>
            </a:endParaRPr>
          </a:p>
        </p:txBody>
      </p:sp>
      <p:sp>
        <p:nvSpPr>
          <p:cNvPr id="100" name="Google Shape;100;p13"/>
          <p:cNvSpPr txBox="1"/>
          <p:nvPr/>
        </p:nvSpPr>
        <p:spPr>
          <a:xfrm>
            <a:off x="3215725" y="6564898"/>
            <a:ext cx="8025300" cy="39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 Intraop pics</a:t>
            </a:r>
            <a:endParaRPr b="0" i="0" sz="1400" u="none" cap="none" strike="noStrike">
              <a:solidFill>
                <a:srgbClr val="000000"/>
              </a:solidFill>
              <a:latin typeface="Arial"/>
              <a:ea typeface="Arial"/>
              <a:cs typeface="Arial"/>
              <a:sym typeface="Arial"/>
            </a:endParaRPr>
          </a:p>
        </p:txBody>
      </p:sp>
      <p:sp>
        <p:nvSpPr>
          <p:cNvPr id="101" name="Google Shape;101;p13"/>
          <p:cNvSpPr txBox="1"/>
          <p:nvPr/>
        </p:nvSpPr>
        <p:spPr>
          <a:xfrm>
            <a:off x="-38550" y="1674700"/>
            <a:ext cx="3186000" cy="3917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Aspergillus spondylodiscitis is a rare but serious form of invasive fungal infection, most commonly affecting the spine. It presents withnonspecific symptoms such as persistent back or neck pain and may show vertebral destruction with epidural collections on imaging. Although typically seen in immunocompromised patients, it can also occur in immunocompetent individuals. Early diagnosis using histopathology or culture and prompt antifungal therapy with or without surgery are essential to prevent neurological complications.</a:t>
            </a:r>
            <a:r>
              <a:rPr b="0" i="0" lang="en-US"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2" name="Google Shape;102;p13"/>
          <p:cNvPicPr preferRelativeResize="0"/>
          <p:nvPr/>
        </p:nvPicPr>
        <p:blipFill rotWithShape="1">
          <a:blip r:embed="rId5">
            <a:alphaModFix/>
          </a:blip>
          <a:srcRect b="0" l="0" r="0" t="0"/>
          <a:stretch/>
        </p:blipFill>
        <p:spPr>
          <a:xfrm>
            <a:off x="3137825" y="3193200"/>
            <a:ext cx="1828801" cy="1458601"/>
          </a:xfrm>
          <a:prstGeom prst="rect">
            <a:avLst/>
          </a:prstGeom>
          <a:noFill/>
          <a:ln>
            <a:noFill/>
          </a:ln>
        </p:spPr>
      </p:pic>
      <p:pic>
        <p:nvPicPr>
          <p:cNvPr id="103" name="Google Shape;103;p13"/>
          <p:cNvPicPr preferRelativeResize="0"/>
          <p:nvPr>
            <p:ph idx="1" type="body"/>
          </p:nvPr>
        </p:nvPicPr>
        <p:blipFill rotWithShape="1">
          <a:blip r:embed="rId6">
            <a:alphaModFix/>
          </a:blip>
          <a:srcRect b="0" l="0" r="0" t="0"/>
          <a:stretch/>
        </p:blipFill>
        <p:spPr>
          <a:xfrm>
            <a:off x="4966625" y="3193200"/>
            <a:ext cx="1376400" cy="1458600"/>
          </a:xfrm>
          <a:prstGeom prst="rect">
            <a:avLst/>
          </a:prstGeom>
          <a:noFill/>
          <a:ln>
            <a:noFill/>
          </a:ln>
        </p:spPr>
      </p:pic>
      <p:pic>
        <p:nvPicPr>
          <p:cNvPr id="104" name="Google Shape;104;p13"/>
          <p:cNvPicPr preferRelativeResize="0"/>
          <p:nvPr/>
        </p:nvPicPr>
        <p:blipFill rotWithShape="1">
          <a:blip r:embed="rId7">
            <a:alphaModFix/>
          </a:blip>
          <a:srcRect b="0" l="13023" r="15614" t="0"/>
          <a:stretch/>
        </p:blipFill>
        <p:spPr>
          <a:xfrm>
            <a:off x="3215725" y="5153100"/>
            <a:ext cx="1504950" cy="1458600"/>
          </a:xfrm>
          <a:prstGeom prst="rect">
            <a:avLst/>
          </a:prstGeom>
          <a:noFill/>
          <a:ln>
            <a:noFill/>
          </a:ln>
        </p:spPr>
      </p:pic>
      <p:sp>
        <p:nvSpPr>
          <p:cNvPr id="105" name="Google Shape;105;p13"/>
          <p:cNvSpPr txBox="1"/>
          <p:nvPr/>
        </p:nvSpPr>
        <p:spPr>
          <a:xfrm>
            <a:off x="3215730" y="4662663"/>
            <a:ext cx="8025300" cy="39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 Preop MRI.           b) Postop xray</a:t>
            </a:r>
            <a:endParaRPr b="0" i="0" sz="1400" u="none" cap="none" strike="noStrike">
              <a:solidFill>
                <a:srgbClr val="000000"/>
              </a:solidFill>
              <a:latin typeface="Arial"/>
              <a:ea typeface="Arial"/>
              <a:cs typeface="Arial"/>
              <a:sym typeface="Arial"/>
            </a:endParaRPr>
          </a:p>
        </p:txBody>
      </p:sp>
      <p:sp>
        <p:nvSpPr>
          <p:cNvPr id="106" name="Google Shape;106;p13"/>
          <p:cNvSpPr txBox="1"/>
          <p:nvPr/>
        </p:nvSpPr>
        <p:spPr>
          <a:xfrm>
            <a:off x="6352675" y="5247164"/>
            <a:ext cx="7360500" cy="39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 Histopathology slides</a:t>
            </a:r>
            <a:endParaRPr b="0" i="0" sz="1400" u="none" cap="none" strike="noStrike">
              <a:solidFill>
                <a:srgbClr val="000000"/>
              </a:solidFill>
              <a:latin typeface="Arial"/>
              <a:ea typeface="Arial"/>
              <a:cs typeface="Arial"/>
              <a:sym typeface="Arial"/>
            </a:endParaRPr>
          </a:p>
        </p:txBody>
      </p:sp>
      <p:pic>
        <p:nvPicPr>
          <p:cNvPr id="107" name="Google Shape;107;p13"/>
          <p:cNvPicPr preferRelativeResize="0"/>
          <p:nvPr/>
        </p:nvPicPr>
        <p:blipFill rotWithShape="1">
          <a:blip r:embed="rId8">
            <a:alphaModFix/>
          </a:blip>
          <a:srcRect b="0" l="0" r="0" t="0"/>
          <a:stretch/>
        </p:blipFill>
        <p:spPr>
          <a:xfrm>
            <a:off x="4784200" y="5153075"/>
            <a:ext cx="1504950" cy="1705200"/>
          </a:xfrm>
          <a:prstGeom prst="rect">
            <a:avLst/>
          </a:prstGeom>
          <a:noFill/>
          <a:ln>
            <a:noFill/>
          </a:ln>
        </p:spPr>
      </p:pic>
      <p:sp>
        <p:nvSpPr>
          <p:cNvPr id="108" name="Google Shape;108;p13"/>
          <p:cNvSpPr/>
          <p:nvPr/>
        </p:nvSpPr>
        <p:spPr>
          <a:xfrm>
            <a:off x="0" y="5399675"/>
            <a:ext cx="3108900" cy="1458600"/>
          </a:xfrm>
          <a:prstGeom prst="rect">
            <a:avLst/>
          </a:prstGeom>
          <a:no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Arial"/>
                <a:ea typeface="Arial"/>
                <a:cs typeface="Arial"/>
                <a:sym typeface="Arial"/>
              </a:rPr>
              <a:t>A 44 year-old male patient presented with Lower back ache since 40days and unable to walk since 2 weeks. Laboratory tests showed elevated ESR and CRP with normal WBC count.</a:t>
            </a:r>
            <a:endParaRPr b="0" i="0" sz="1400" u="none" cap="none" strike="noStrike">
              <a:solidFill>
                <a:schemeClr val="dk1"/>
              </a:solidFill>
              <a:latin typeface="Arial"/>
              <a:ea typeface="Arial"/>
              <a:cs typeface="Arial"/>
              <a:sym typeface="Arial"/>
            </a:endParaRPr>
          </a:p>
        </p:txBody>
      </p:sp>
      <p:pic>
        <p:nvPicPr>
          <p:cNvPr id="109" name="Google Shape;109;p13"/>
          <p:cNvPicPr preferRelativeResize="0"/>
          <p:nvPr>
            <p:ph idx="2" type="body"/>
          </p:nvPr>
        </p:nvPicPr>
        <p:blipFill rotWithShape="1">
          <a:blip r:embed="rId9">
            <a:alphaModFix/>
          </a:blip>
          <a:srcRect b="0" l="0" r="0" t="0"/>
          <a:stretch/>
        </p:blipFill>
        <p:spPr>
          <a:xfrm>
            <a:off x="6573025" y="4169300"/>
            <a:ext cx="2850900" cy="1188900"/>
          </a:xfrm>
          <a:prstGeom prst="rect">
            <a:avLst/>
          </a:prstGeom>
          <a:noFill/>
          <a:ln>
            <a:noFill/>
          </a:ln>
        </p:spPr>
      </p:pic>
      <p:pic>
        <p:nvPicPr>
          <p:cNvPr id="110" name="Google Shape;110;p13"/>
          <p:cNvPicPr preferRelativeResize="0"/>
          <p:nvPr>
            <p:ph idx="3" type="body"/>
          </p:nvPr>
        </p:nvPicPr>
        <p:blipFill rotWithShape="1">
          <a:blip r:embed="rId10">
            <a:alphaModFix/>
          </a:blip>
          <a:srcRect b="0" l="0" r="0" t="0"/>
          <a:stretch/>
        </p:blipFill>
        <p:spPr>
          <a:xfrm>
            <a:off x="9603175" y="4089100"/>
            <a:ext cx="2228100" cy="1282500"/>
          </a:xfrm>
          <a:prstGeom prst="rect">
            <a:avLst/>
          </a:prstGeom>
          <a:noFill/>
          <a:ln>
            <a:noFill/>
          </a:ln>
        </p:spPr>
      </p:pic>
      <p:sp>
        <p:nvSpPr>
          <p:cNvPr id="111" name="Google Shape;111;p13"/>
          <p:cNvSpPr txBox="1"/>
          <p:nvPr/>
        </p:nvSpPr>
        <p:spPr>
          <a:xfrm>
            <a:off x="6352675" y="1567550"/>
            <a:ext cx="57267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Blood, urine, and sputum cultures were negative for Aspergillus, Candida, and Mycobacterium tuberculosis. The patient had a history of bilateral ureteroscopic lithotripsy with bilateral DJ stenting, followed by stent removal due to infection. MRI of the lumbar spine revealed chronic spondylodiscitis at the L4–L5 level. Surgical in</a:t>
            </a:r>
            <a:r>
              <a:rPr lang="en-US"/>
              <a:t>tervention </a:t>
            </a:r>
            <a:r>
              <a:rPr lang="en-US"/>
              <a:t>was performed, and the infected disc material was sent for</a:t>
            </a:r>
            <a:r>
              <a:rPr lang="en-US"/>
              <a:t> </a:t>
            </a:r>
            <a:r>
              <a:rPr lang="en-US"/>
              <a:t>histopath and microbiological evaluation i.e</a:t>
            </a:r>
            <a:r>
              <a:rPr b="1" lang="en-US"/>
              <a:t>1)culture and sensitivity2)Gram staining, 3)AFB staining 4)KOH mount 5)biopsy 6)CBNAA</a:t>
            </a:r>
            <a:r>
              <a:rPr b="1" lang="en-US"/>
              <a:t>T</a:t>
            </a:r>
            <a:r>
              <a:rPr lang="en-US"/>
              <a:t>.</a:t>
            </a:r>
            <a:r>
              <a:rPr lang="en-US"/>
              <a:t>Histopath revealed fungal spores and septate hyphae consistent with Aspergillus species with GMS positivity. Postoperatively, antifungal therapy with Amphotericin B (25 mg) and Voriconazole (200 mg) was initiated.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