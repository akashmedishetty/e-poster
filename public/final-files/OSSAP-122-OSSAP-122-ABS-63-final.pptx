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mal ansare" userId="82645666a154b446" providerId="LiveId" clId="{23A37F84-8741-4027-9422-6B00ED7633A2}"/>
    <pc:docChg chg="undo custSel modSld">
      <pc:chgData name="ajmal ansare" userId="82645666a154b446" providerId="LiveId" clId="{23A37F84-8741-4027-9422-6B00ED7633A2}" dt="2026-02-01T17:46:32.496" v="185" actId="1076"/>
      <pc:docMkLst>
        <pc:docMk/>
      </pc:docMkLst>
      <pc:sldChg chg="modSp mod">
        <pc:chgData name="ajmal ansare" userId="82645666a154b446" providerId="LiveId" clId="{23A37F84-8741-4027-9422-6B00ED7633A2}" dt="2026-02-01T17:46:32.496" v="185" actId="1076"/>
        <pc:sldMkLst>
          <pc:docMk/>
          <pc:sldMk cId="0" sldId="256"/>
        </pc:sldMkLst>
        <pc:spChg chg="mod">
          <ac:chgData name="ajmal ansare" userId="82645666a154b446" providerId="LiveId" clId="{23A37F84-8741-4027-9422-6B00ED7633A2}" dt="2026-02-01T17:42:29.287" v="159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ajmal ansare" userId="82645666a154b446" providerId="LiveId" clId="{23A37F84-8741-4027-9422-6B00ED7633A2}" dt="2026-02-01T17:46:32.496" v="185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ajmal ansare" userId="82645666a154b446" providerId="LiveId" clId="{23A37F84-8741-4027-9422-6B00ED7633A2}" dt="2026-02-01T17:42:09.949" v="156" actId="14100"/>
          <ac:spMkLst>
            <pc:docMk/>
            <pc:sldMk cId="0" sldId="256"/>
            <ac:spMk id="35" creationId="{00000000-0000-0000-0000-000000000000}"/>
          </ac:spMkLst>
        </pc:spChg>
        <pc:spChg chg="mod">
          <ac:chgData name="ajmal ansare" userId="82645666a154b446" providerId="LiveId" clId="{23A37F84-8741-4027-9422-6B00ED7633A2}" dt="2026-02-01T17:46:22.206" v="183" actId="107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ajmal ansare" userId="82645666a154b446" providerId="LiveId" clId="{23A37F84-8741-4027-9422-6B00ED7633A2}" dt="2026-02-01T17:40:48.156" v="38" actId="107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ajmal ansare" userId="82645666a154b446" providerId="LiveId" clId="{23A37F84-8741-4027-9422-6B00ED7633A2}" dt="2026-02-01T17:44:13.223" v="167" actId="113"/>
          <ac:spMkLst>
            <pc:docMk/>
            <pc:sldMk cId="0" sldId="256"/>
            <ac:spMk id="38" creationId="{00000000-0000-0000-0000-000000000000}"/>
          </ac:spMkLst>
        </pc:spChg>
        <pc:spChg chg="mod">
          <ac:chgData name="ajmal ansare" userId="82645666a154b446" providerId="LiveId" clId="{23A37F84-8741-4027-9422-6B00ED7633A2}" dt="2026-02-01T17:44:45.483" v="173" actId="20577"/>
          <ac:spMkLst>
            <pc:docMk/>
            <pc:sldMk cId="0" sldId="256"/>
            <ac:spMk id="43" creationId="{00000000-0000-0000-0000-000000000000}"/>
          </ac:spMkLst>
        </pc:spChg>
        <pc:grpChg chg="mod">
          <ac:chgData name="ajmal ansare" userId="82645666a154b446" providerId="LiveId" clId="{23A37F84-8741-4027-9422-6B00ED7633A2}" dt="2026-02-01T17:45:28.728" v="176" actId="1076"/>
          <ac:grpSpMkLst>
            <pc:docMk/>
            <pc:sldMk cId="0" sldId="256"/>
            <ac:grpSpMk id="11" creationId="{00000000-0000-0000-0000-000000000000}"/>
          </ac:grpSpMkLst>
        </pc:grpChg>
        <pc:grpChg chg="mod">
          <ac:chgData name="ajmal ansare" userId="82645666a154b446" providerId="LiveId" clId="{23A37F84-8741-4027-9422-6B00ED7633A2}" dt="2026-02-01T17:46:29.381" v="184" actId="1076"/>
          <ac:grpSpMkLst>
            <pc:docMk/>
            <pc:sldMk cId="0" sldId="256"/>
            <ac:grpSpMk id="27" creationId="{00000000-0000-0000-0000-000000000000}"/>
          </ac:grpSpMkLst>
        </pc:grpChg>
        <pc:grpChg chg="mod">
          <ac:chgData name="ajmal ansare" userId="82645666a154b446" providerId="LiveId" clId="{23A37F84-8741-4027-9422-6B00ED7633A2}" dt="2026-02-01T17:40:44.449" v="27" actId="14100"/>
          <ac:grpSpMkLst>
            <pc:docMk/>
            <pc:sldMk cId="0" sldId="256"/>
            <ac:grpSpMk id="39" creationId="{00000000-0000-0000-0000-000000000000}"/>
          </ac:grpSpMkLst>
        </pc:grpChg>
        <pc:picChg chg="mod">
          <ac:chgData name="ajmal ansare" userId="82645666a154b446" providerId="LiveId" clId="{23A37F84-8741-4027-9422-6B00ED7633A2}" dt="2026-02-01T17:38:51.210" v="0" actId="14100"/>
          <ac:picMkLst>
            <pc:docMk/>
            <pc:sldMk cId="0" sldId="256"/>
            <ac:picMk id="41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280160"/>
          </a:xfrm>
          <a:custGeom>
            <a:avLst/>
            <a:gdLst/>
            <a:ahLst/>
            <a:cxnLst/>
            <a:rect l="l" t="t" r="r" b="b"/>
            <a:pathLst>
              <a:path w="12192000" h="1280160">
                <a:moveTo>
                  <a:pt x="12192000" y="0"/>
                </a:moveTo>
                <a:lnTo>
                  <a:pt x="0" y="0"/>
                </a:lnTo>
                <a:lnTo>
                  <a:pt x="0" y="1280160"/>
                </a:lnTo>
                <a:lnTo>
                  <a:pt x="12192000" y="128016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122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280160"/>
          </a:xfrm>
          <a:custGeom>
            <a:avLst/>
            <a:gdLst/>
            <a:ahLst/>
            <a:cxnLst/>
            <a:rect l="l" t="t" r="r" b="b"/>
            <a:pathLst>
              <a:path w="12192000" h="1280160">
                <a:moveTo>
                  <a:pt x="0" y="0"/>
                </a:moveTo>
                <a:lnTo>
                  <a:pt x="12192000" y="0"/>
                </a:lnTo>
                <a:lnTo>
                  <a:pt x="12192000" y="1280160"/>
                </a:lnTo>
                <a:lnTo>
                  <a:pt x="0" y="1280160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52565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06878" y="74821"/>
            <a:ext cx="1043153" cy="104315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47310" y="123390"/>
            <a:ext cx="884047" cy="884047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127894" y="192302"/>
            <a:ext cx="785939" cy="7859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4299" y="55605"/>
            <a:ext cx="9101455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6695" y="84679"/>
            <a:ext cx="5643880" cy="1056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30"/>
              </a:lnSpc>
              <a:tabLst>
                <a:tab pos="582295" algn="l"/>
              </a:tabLst>
            </a:pP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55</a:t>
            </a:r>
            <a:r>
              <a:rPr sz="1725" b="1" spc="-30" baseline="31400" dirty="0">
                <a:solidFill>
                  <a:srgbClr val="FFFFFF"/>
                </a:solidFill>
                <a:latin typeface="Arial"/>
                <a:cs typeface="Arial"/>
              </a:rPr>
              <a:t>th</a:t>
            </a:r>
            <a:r>
              <a:rPr sz="1725" b="1" baseline="314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Annual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Conference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Orthopedic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Surgeon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Society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Andhra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Pradesh</a:t>
            </a:r>
            <a:endParaRPr sz="1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25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February,2026,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Venue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Organized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Department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Orthopaedics,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r>
              <a:rPr sz="12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College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Kurnool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9525" y="-9525"/>
            <a:ext cx="12211050" cy="1324610"/>
            <a:chOff x="-9525" y="-9525"/>
            <a:chExt cx="12211050" cy="1324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814" y="14254"/>
              <a:ext cx="1505559" cy="12801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2192000" cy="1280160"/>
            </a:xfrm>
            <a:custGeom>
              <a:avLst/>
              <a:gdLst/>
              <a:ahLst/>
              <a:cxnLst/>
              <a:rect l="l" t="t" r="r" b="b"/>
              <a:pathLst>
                <a:path w="12192000" h="1280160">
                  <a:moveTo>
                    <a:pt x="12192000" y="0"/>
                  </a:moveTo>
                  <a:lnTo>
                    <a:pt x="0" y="0"/>
                  </a:lnTo>
                  <a:lnTo>
                    <a:pt x="0" y="1280160"/>
                  </a:lnTo>
                  <a:lnTo>
                    <a:pt x="12192000" y="128016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122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12192000" cy="1280160"/>
            </a:xfrm>
            <a:custGeom>
              <a:avLst/>
              <a:gdLst/>
              <a:ahLst/>
              <a:cxnLst/>
              <a:rect l="l" t="t" r="r" b="b"/>
              <a:pathLst>
                <a:path w="12192000" h="1280160">
                  <a:moveTo>
                    <a:pt x="0" y="0"/>
                  </a:moveTo>
                  <a:lnTo>
                    <a:pt x="12192000" y="0"/>
                  </a:lnTo>
                  <a:lnTo>
                    <a:pt x="1219200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5256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41430" y="33328"/>
              <a:ext cx="850569" cy="128116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84299" y="55605"/>
            <a:ext cx="9101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TITLE</a:t>
            </a:r>
            <a:r>
              <a:rPr spc="-45" dirty="0"/>
              <a:t> </a:t>
            </a:r>
            <a:r>
              <a:rPr dirty="0"/>
              <a:t>:-</a:t>
            </a:r>
            <a:r>
              <a:rPr spc="-45" dirty="0"/>
              <a:t> </a:t>
            </a:r>
            <a:r>
              <a:rPr dirty="0"/>
              <a:t>ULNAR</a:t>
            </a:r>
            <a:r>
              <a:rPr spc="-45" dirty="0"/>
              <a:t> </a:t>
            </a:r>
            <a:r>
              <a:rPr spc="-10" dirty="0"/>
              <a:t>COLLATERAL</a:t>
            </a:r>
            <a:r>
              <a:rPr spc="-45" dirty="0"/>
              <a:t> </a:t>
            </a:r>
            <a:r>
              <a:rPr dirty="0"/>
              <a:t>LIGAMENT</a:t>
            </a:r>
            <a:r>
              <a:rPr spc="-40" dirty="0"/>
              <a:t> </a:t>
            </a:r>
            <a:r>
              <a:rPr dirty="0"/>
              <a:t>RECONSTRUCTION</a:t>
            </a:r>
            <a:r>
              <a:rPr spc="405" dirty="0"/>
              <a:t> </a:t>
            </a:r>
            <a:r>
              <a:rPr dirty="0"/>
              <a:t>VIA</a:t>
            </a:r>
            <a:r>
              <a:rPr spc="-50" dirty="0"/>
              <a:t> </a:t>
            </a:r>
            <a:r>
              <a:rPr dirty="0"/>
              <a:t>TOMMY</a:t>
            </a:r>
            <a:r>
              <a:rPr spc="-40" dirty="0"/>
              <a:t> </a:t>
            </a:r>
            <a:r>
              <a:rPr spc="-10" dirty="0"/>
              <a:t>JOHNS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584299" y="329925"/>
            <a:ext cx="9038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SURGERY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ACUTE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TRAUMATIC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POSTEROMEDIAL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ROTATORY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INSTABILITY</a:t>
            </a:r>
            <a:r>
              <a:rPr sz="1800" b="1" spc="4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ELBOW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8759" y="885983"/>
            <a:ext cx="8723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AUTHOR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Dr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A.S.I.R.AJMAL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ANSARE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POST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GRADUATE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GITAM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INSTITUTE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MEDICAL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RESEARCH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CO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AUTHORS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Dr.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Y.KRISHNA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CHAITANYA-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ASSISTANT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Dr.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A.S.S.PHANI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ESWAR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SENIOR</a:t>
            </a:r>
            <a:r>
              <a:rPr sz="12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RESIDENT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-9525" y="1"/>
            <a:ext cx="12201525" cy="6858000"/>
            <a:chOff x="-9525" y="0"/>
            <a:chExt cx="12211050" cy="686752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505559" cy="128016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1674799"/>
              <a:ext cx="3588385" cy="3006725"/>
            </a:xfrm>
            <a:custGeom>
              <a:avLst/>
              <a:gdLst/>
              <a:ahLst/>
              <a:cxnLst/>
              <a:rect l="l" t="t" r="r" b="b"/>
              <a:pathLst>
                <a:path w="3588385" h="3006725">
                  <a:moveTo>
                    <a:pt x="0" y="0"/>
                  </a:moveTo>
                  <a:lnTo>
                    <a:pt x="3588321" y="0"/>
                  </a:lnTo>
                  <a:lnTo>
                    <a:pt x="3588321" y="3006191"/>
                  </a:lnTo>
                  <a:lnTo>
                    <a:pt x="0" y="3006191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4680991"/>
              <a:ext cx="3579495" cy="2177415"/>
            </a:xfrm>
            <a:custGeom>
              <a:avLst/>
              <a:gdLst/>
              <a:ahLst/>
              <a:cxnLst/>
              <a:rect l="l" t="t" r="r" b="b"/>
              <a:pathLst>
                <a:path w="3579495" h="2177415">
                  <a:moveTo>
                    <a:pt x="0" y="0"/>
                  </a:moveTo>
                  <a:lnTo>
                    <a:pt x="3579304" y="0"/>
                  </a:lnTo>
                  <a:lnTo>
                    <a:pt x="3579304" y="2177008"/>
                  </a:lnTo>
                  <a:lnTo>
                    <a:pt x="0" y="217700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77094" y="1280160"/>
              <a:ext cx="3685540" cy="5577840"/>
            </a:xfrm>
            <a:custGeom>
              <a:avLst/>
              <a:gdLst/>
              <a:ahLst/>
              <a:cxnLst/>
              <a:rect l="l" t="t" r="r" b="b"/>
              <a:pathLst>
                <a:path w="3685540" h="5577840">
                  <a:moveTo>
                    <a:pt x="0" y="0"/>
                  </a:moveTo>
                  <a:lnTo>
                    <a:pt x="3685387" y="0"/>
                  </a:lnTo>
                  <a:lnTo>
                    <a:pt x="3685387" y="5577840"/>
                  </a:lnTo>
                  <a:lnTo>
                    <a:pt x="0" y="557784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91361" y="1477479"/>
              <a:ext cx="4900930" cy="4395470"/>
            </a:xfrm>
            <a:custGeom>
              <a:avLst/>
              <a:gdLst/>
              <a:ahLst/>
              <a:cxnLst/>
              <a:rect l="l" t="t" r="r" b="b"/>
              <a:pathLst>
                <a:path w="4900930" h="4395470">
                  <a:moveTo>
                    <a:pt x="0" y="0"/>
                  </a:moveTo>
                  <a:lnTo>
                    <a:pt x="4900637" y="0"/>
                  </a:lnTo>
                  <a:lnTo>
                    <a:pt x="4900637" y="4394860"/>
                  </a:lnTo>
                  <a:lnTo>
                    <a:pt x="0" y="439486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91361" y="5872340"/>
              <a:ext cx="4900930" cy="986155"/>
            </a:xfrm>
            <a:custGeom>
              <a:avLst/>
              <a:gdLst/>
              <a:ahLst/>
              <a:cxnLst/>
              <a:rect l="l" t="t" r="r" b="b"/>
              <a:pathLst>
                <a:path w="4900930" h="986154">
                  <a:moveTo>
                    <a:pt x="0" y="0"/>
                  </a:moveTo>
                  <a:lnTo>
                    <a:pt x="4900637" y="0"/>
                  </a:lnTo>
                  <a:lnTo>
                    <a:pt x="4900637" y="985659"/>
                  </a:lnTo>
                  <a:lnTo>
                    <a:pt x="0" y="98565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1280160"/>
              <a:ext cx="3578860" cy="394970"/>
            </a:xfrm>
            <a:custGeom>
              <a:avLst/>
              <a:gdLst/>
              <a:ahLst/>
              <a:cxnLst/>
              <a:rect l="l" t="t" r="r" b="b"/>
              <a:pathLst>
                <a:path w="3578860" h="394969">
                  <a:moveTo>
                    <a:pt x="3578847" y="0"/>
                  </a:moveTo>
                  <a:lnTo>
                    <a:pt x="0" y="0"/>
                  </a:lnTo>
                  <a:lnTo>
                    <a:pt x="0" y="394639"/>
                  </a:lnTo>
                  <a:lnTo>
                    <a:pt x="3578847" y="394639"/>
                  </a:lnTo>
                  <a:lnTo>
                    <a:pt x="3578847" y="0"/>
                  </a:lnTo>
                  <a:close/>
                </a:path>
              </a:pathLst>
            </a:custGeom>
            <a:solidFill>
              <a:srgbClr val="A9C8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1280160"/>
              <a:ext cx="3578860" cy="394970"/>
            </a:xfrm>
            <a:custGeom>
              <a:avLst/>
              <a:gdLst/>
              <a:ahLst/>
              <a:cxnLst/>
              <a:rect l="l" t="t" r="r" b="b"/>
              <a:pathLst>
                <a:path w="3578860" h="394969">
                  <a:moveTo>
                    <a:pt x="0" y="0"/>
                  </a:moveTo>
                  <a:lnTo>
                    <a:pt x="3578847" y="0"/>
                  </a:lnTo>
                  <a:lnTo>
                    <a:pt x="3578847" y="394639"/>
                  </a:lnTo>
                  <a:lnTo>
                    <a:pt x="0" y="39463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70465" y="2278252"/>
              <a:ext cx="3716654" cy="425450"/>
            </a:xfrm>
            <a:custGeom>
              <a:avLst/>
              <a:gdLst/>
              <a:ahLst/>
              <a:cxnLst/>
              <a:rect l="l" t="t" r="r" b="b"/>
              <a:pathLst>
                <a:path w="3716654" h="425450">
                  <a:moveTo>
                    <a:pt x="3716477" y="0"/>
                  </a:moveTo>
                  <a:lnTo>
                    <a:pt x="0" y="0"/>
                  </a:lnTo>
                  <a:lnTo>
                    <a:pt x="0" y="424992"/>
                  </a:lnTo>
                  <a:lnTo>
                    <a:pt x="3716477" y="424992"/>
                  </a:lnTo>
                  <a:lnTo>
                    <a:pt x="3716477" y="0"/>
                  </a:lnTo>
                  <a:close/>
                </a:path>
              </a:pathLst>
            </a:custGeom>
            <a:solidFill>
              <a:srgbClr val="A9C8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70465" y="2278252"/>
              <a:ext cx="3716654" cy="425450"/>
            </a:xfrm>
            <a:custGeom>
              <a:avLst/>
              <a:gdLst/>
              <a:ahLst/>
              <a:cxnLst/>
              <a:rect l="l" t="t" r="r" b="b"/>
              <a:pathLst>
                <a:path w="3716654" h="425450">
                  <a:moveTo>
                    <a:pt x="0" y="0"/>
                  </a:moveTo>
                  <a:lnTo>
                    <a:pt x="3716477" y="0"/>
                  </a:lnTo>
                  <a:lnTo>
                    <a:pt x="3716477" y="424992"/>
                  </a:lnTo>
                  <a:lnTo>
                    <a:pt x="0" y="42499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77809" y="2336050"/>
            <a:ext cx="2501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D0D0D"/>
                </a:solidFill>
                <a:latin typeface="Arial"/>
                <a:cs typeface="Arial"/>
              </a:rPr>
              <a:t>OPERATIVE</a:t>
            </a:r>
            <a:r>
              <a:rPr sz="1800" b="1" spc="-5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D0D0D"/>
                </a:solidFill>
                <a:latin typeface="Arial"/>
                <a:cs typeface="Arial"/>
              </a:rPr>
              <a:t>FINDINGS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81836" y="1270635"/>
            <a:ext cx="4919980" cy="349250"/>
            <a:chOff x="7281836" y="1270635"/>
            <a:chExt cx="4919980" cy="349250"/>
          </a:xfrm>
        </p:grpSpPr>
        <p:sp>
          <p:nvSpPr>
            <p:cNvPr id="24" name="object 24"/>
            <p:cNvSpPr/>
            <p:nvPr/>
          </p:nvSpPr>
          <p:spPr>
            <a:xfrm>
              <a:off x="7291361" y="1280160"/>
              <a:ext cx="4900930" cy="330200"/>
            </a:xfrm>
            <a:custGeom>
              <a:avLst/>
              <a:gdLst/>
              <a:ahLst/>
              <a:cxnLst/>
              <a:rect l="l" t="t" r="r" b="b"/>
              <a:pathLst>
                <a:path w="4900930" h="330200">
                  <a:moveTo>
                    <a:pt x="4900637" y="0"/>
                  </a:moveTo>
                  <a:lnTo>
                    <a:pt x="0" y="0"/>
                  </a:lnTo>
                  <a:lnTo>
                    <a:pt x="0" y="329882"/>
                  </a:lnTo>
                  <a:lnTo>
                    <a:pt x="4900637" y="329882"/>
                  </a:lnTo>
                  <a:lnTo>
                    <a:pt x="4900637" y="0"/>
                  </a:lnTo>
                  <a:close/>
                </a:path>
              </a:pathLst>
            </a:custGeom>
            <a:solidFill>
              <a:srgbClr val="A9C8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91361" y="1280160"/>
              <a:ext cx="4900930" cy="330200"/>
            </a:xfrm>
            <a:custGeom>
              <a:avLst/>
              <a:gdLst/>
              <a:ahLst/>
              <a:cxnLst/>
              <a:rect l="l" t="t" r="r" b="b"/>
              <a:pathLst>
                <a:path w="4900930" h="330200">
                  <a:moveTo>
                    <a:pt x="0" y="0"/>
                  </a:moveTo>
                  <a:lnTo>
                    <a:pt x="4900637" y="0"/>
                  </a:lnTo>
                  <a:lnTo>
                    <a:pt x="4900637" y="329882"/>
                  </a:lnTo>
                  <a:lnTo>
                    <a:pt x="0" y="32988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017863" y="1290396"/>
            <a:ext cx="1447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D0D0D"/>
                </a:solidFill>
                <a:latin typeface="Arial"/>
                <a:cs typeface="Arial"/>
              </a:rPr>
              <a:t>DISCUSSION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66" y="4671259"/>
            <a:ext cx="3591361" cy="438148"/>
            <a:chOff x="-2649" y="4704397"/>
            <a:chExt cx="3591361" cy="438148"/>
          </a:xfrm>
        </p:grpSpPr>
        <p:sp>
          <p:nvSpPr>
            <p:cNvPr id="28" name="object 28"/>
            <p:cNvSpPr/>
            <p:nvPr/>
          </p:nvSpPr>
          <p:spPr>
            <a:xfrm>
              <a:off x="-2649" y="4717095"/>
              <a:ext cx="3590925" cy="425450"/>
            </a:xfrm>
            <a:custGeom>
              <a:avLst/>
              <a:gdLst/>
              <a:ahLst/>
              <a:cxnLst/>
              <a:rect l="l" t="t" r="r" b="b"/>
              <a:pathLst>
                <a:path w="3590925" h="425450">
                  <a:moveTo>
                    <a:pt x="3590531" y="0"/>
                  </a:moveTo>
                  <a:lnTo>
                    <a:pt x="0" y="0"/>
                  </a:lnTo>
                  <a:lnTo>
                    <a:pt x="0" y="424992"/>
                  </a:lnTo>
                  <a:lnTo>
                    <a:pt x="3590531" y="424992"/>
                  </a:lnTo>
                  <a:lnTo>
                    <a:pt x="3590531" y="0"/>
                  </a:lnTo>
                  <a:close/>
                </a:path>
              </a:pathLst>
            </a:custGeom>
            <a:solidFill>
              <a:srgbClr val="A9C8E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-2213" y="4704397"/>
              <a:ext cx="3590925" cy="425450"/>
            </a:xfrm>
            <a:custGeom>
              <a:avLst/>
              <a:gdLst/>
              <a:ahLst/>
              <a:cxnLst/>
              <a:rect l="l" t="t" r="r" b="b"/>
              <a:pathLst>
                <a:path w="3590925" h="425450">
                  <a:moveTo>
                    <a:pt x="0" y="0"/>
                  </a:moveTo>
                  <a:lnTo>
                    <a:pt x="3590531" y="0"/>
                  </a:lnTo>
                  <a:lnTo>
                    <a:pt x="3590531" y="424992"/>
                  </a:lnTo>
                  <a:lnTo>
                    <a:pt x="0" y="424992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50145" y="4751831"/>
            <a:ext cx="16757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D0D0D"/>
                </a:solidFill>
                <a:latin typeface="Arial"/>
                <a:cs typeface="Arial"/>
              </a:rPr>
              <a:t>CASE</a:t>
            </a:r>
            <a:r>
              <a:rPr sz="1800" b="1" spc="-10" dirty="0">
                <a:solidFill>
                  <a:srgbClr val="0D0D0D"/>
                </a:solidFill>
                <a:latin typeface="Arial"/>
                <a:cs typeface="Arial"/>
              </a:rPr>
              <a:t> REPORT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315314" y="5872594"/>
            <a:ext cx="4886325" cy="394970"/>
            <a:chOff x="7315314" y="5872594"/>
            <a:chExt cx="4886325" cy="394970"/>
          </a:xfrm>
        </p:grpSpPr>
        <p:sp>
          <p:nvSpPr>
            <p:cNvPr id="32" name="object 32"/>
            <p:cNvSpPr/>
            <p:nvPr/>
          </p:nvSpPr>
          <p:spPr>
            <a:xfrm>
              <a:off x="7324839" y="5882119"/>
              <a:ext cx="4867275" cy="375920"/>
            </a:xfrm>
            <a:custGeom>
              <a:avLst/>
              <a:gdLst/>
              <a:ahLst/>
              <a:cxnLst/>
              <a:rect l="l" t="t" r="r" b="b"/>
              <a:pathLst>
                <a:path w="4867275" h="375920">
                  <a:moveTo>
                    <a:pt x="4867160" y="0"/>
                  </a:moveTo>
                  <a:lnTo>
                    <a:pt x="0" y="0"/>
                  </a:lnTo>
                  <a:lnTo>
                    <a:pt x="0" y="375386"/>
                  </a:lnTo>
                  <a:lnTo>
                    <a:pt x="4867160" y="375386"/>
                  </a:lnTo>
                  <a:lnTo>
                    <a:pt x="4867160" y="0"/>
                  </a:lnTo>
                  <a:close/>
                </a:path>
              </a:pathLst>
            </a:custGeom>
            <a:solidFill>
              <a:srgbClr val="A9C8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24839" y="5882119"/>
              <a:ext cx="4867275" cy="375920"/>
            </a:xfrm>
            <a:custGeom>
              <a:avLst/>
              <a:gdLst/>
              <a:ahLst/>
              <a:cxnLst/>
              <a:rect l="l" t="t" r="r" b="b"/>
              <a:pathLst>
                <a:path w="4867275" h="375920">
                  <a:moveTo>
                    <a:pt x="4867160" y="375386"/>
                  </a:moveTo>
                  <a:lnTo>
                    <a:pt x="0" y="375386"/>
                  </a:lnTo>
                  <a:lnTo>
                    <a:pt x="0" y="0"/>
                  </a:lnTo>
                  <a:lnTo>
                    <a:pt x="4867160" y="0"/>
                  </a:lnTo>
                </a:path>
              </a:pathLst>
            </a:custGeom>
            <a:ln w="19049">
              <a:solidFill>
                <a:srgbClr val="1046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994305" y="5915113"/>
            <a:ext cx="1561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D0D0D"/>
                </a:solidFill>
                <a:latin typeface="Arial"/>
                <a:cs typeface="Arial"/>
              </a:rPr>
              <a:t>CONCLUSION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771" y="1248823"/>
            <a:ext cx="3499596" cy="364202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864235">
              <a:lnSpc>
                <a:spcPct val="100000"/>
              </a:lnSpc>
              <a:spcBef>
                <a:spcPts val="680"/>
              </a:spcBef>
            </a:pPr>
            <a:r>
              <a:rPr sz="1800" b="1" spc="-10" dirty="0">
                <a:latin typeface="Arial"/>
                <a:cs typeface="Arial"/>
              </a:rPr>
              <a:t>INTRODUCTION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942" y="1667777"/>
            <a:ext cx="3587980" cy="29213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1050" spc="-10" dirty="0">
                <a:latin typeface="Arial"/>
                <a:cs typeface="Arial"/>
              </a:rPr>
              <a:t>The ulnar collateral ligament of the elbow is a well </a:t>
            </a:r>
            <a:r>
              <a:rPr sz="1050" spc="-10" dirty="0">
                <a:latin typeface="Arial"/>
                <a:cs typeface="Arial"/>
              </a:rPr>
              <a:t>developed ligament </a:t>
            </a:r>
            <a:r>
              <a:rPr sz="1050" dirty="0">
                <a:latin typeface="Arial"/>
                <a:cs typeface="Arial"/>
              </a:rPr>
              <a:t>that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can</a:t>
            </a:r>
            <a:r>
              <a:rPr sz="1050" spc="-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be</a:t>
            </a:r>
            <a:r>
              <a:rPr sz="1050" spc="-10" dirty="0">
                <a:latin typeface="Arial"/>
                <a:cs typeface="Arial"/>
              </a:rPr>
              <a:t> described </a:t>
            </a:r>
            <a:r>
              <a:rPr sz="1050" dirty="0">
                <a:latin typeface="Arial"/>
                <a:cs typeface="Arial"/>
              </a:rPr>
              <a:t>as</a:t>
            </a:r>
            <a:r>
              <a:rPr sz="1050" spc="-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three</a:t>
            </a:r>
            <a:r>
              <a:rPr sz="1050" spc="50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distinct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portions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ulnar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collateral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ligament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plays</a:t>
            </a:r>
            <a:r>
              <a:rPr sz="1050" spc="-25" dirty="0">
                <a:latin typeface="Arial"/>
                <a:cs typeface="Arial"/>
              </a:rPr>
              <a:t> an </a:t>
            </a:r>
            <a:r>
              <a:rPr sz="1050" spc="-10" dirty="0">
                <a:latin typeface="Arial"/>
                <a:cs typeface="Arial"/>
              </a:rPr>
              <a:t>important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role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valgus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stability.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valgus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stability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is</a:t>
            </a:r>
            <a:r>
              <a:rPr sz="1050" spc="50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divided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equally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among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ulnar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collateral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ligament,</a:t>
            </a:r>
            <a:r>
              <a:rPr sz="1050" spc="-25" dirty="0">
                <a:latin typeface="Arial"/>
                <a:cs typeface="Arial"/>
              </a:rPr>
              <a:t> the </a:t>
            </a:r>
            <a:r>
              <a:rPr sz="1050" dirty="0">
                <a:latin typeface="Arial"/>
                <a:cs typeface="Arial"/>
              </a:rPr>
              <a:t>anterior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capsule,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bony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articulation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with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elbow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full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extension.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At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90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degrees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flexion,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ulnar collateral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ligament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provides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55%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stability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valgus </a:t>
            </a:r>
            <a:r>
              <a:rPr sz="1050" dirty="0">
                <a:latin typeface="Arial"/>
                <a:cs typeface="Arial"/>
              </a:rPr>
              <a:t>stress,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with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anterior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bundle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being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primary</a:t>
            </a:r>
            <a:r>
              <a:rPr sz="1050" dirty="0">
                <a:latin typeface="Arial"/>
                <a:cs typeface="Arial"/>
              </a:rPr>
              <a:t> stabilizer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.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Disruption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anterior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bundle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medial </a:t>
            </a:r>
            <a:r>
              <a:rPr sz="1050" dirty="0">
                <a:latin typeface="Arial"/>
                <a:cs typeface="Arial"/>
              </a:rPr>
              <a:t>ulnar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collateral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ligament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is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by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far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most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common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form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recurrent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elbow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instability.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anterior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bundle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is </a:t>
            </a:r>
            <a:r>
              <a:rPr sz="1050" dirty="0">
                <a:latin typeface="Arial"/>
                <a:cs typeface="Arial"/>
              </a:rPr>
              <a:t>divided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into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two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nonisometric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bands: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anterior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band, </a:t>
            </a:r>
            <a:r>
              <a:rPr sz="1050" dirty="0">
                <a:latin typeface="Arial"/>
                <a:cs typeface="Arial"/>
              </a:rPr>
              <a:t>which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is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taut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at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0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60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degrees,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posterior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band, </a:t>
            </a:r>
            <a:r>
              <a:rPr sz="1050" dirty="0">
                <a:latin typeface="Arial"/>
                <a:cs typeface="Arial"/>
              </a:rPr>
              <a:t>which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is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taut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at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60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120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degrees.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procedure,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first </a:t>
            </a:r>
            <a:r>
              <a:rPr sz="1050" dirty="0">
                <a:latin typeface="Arial"/>
                <a:cs typeface="Arial"/>
              </a:rPr>
              <a:t>done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1974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by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Dr.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Frank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Jobe,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has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become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relatively </a:t>
            </a:r>
            <a:r>
              <a:rPr sz="1050" dirty="0">
                <a:latin typeface="Arial"/>
                <a:cs typeface="Arial"/>
              </a:rPr>
              <a:t>common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operation.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incidence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ulnar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collateral ligament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reconstruction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15-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10" dirty="0">
                <a:latin typeface="Arial"/>
                <a:cs typeface="Arial"/>
              </a:rPr>
              <a:t> 19-</a:t>
            </a:r>
            <a:r>
              <a:rPr sz="1050" dirty="0">
                <a:latin typeface="Arial"/>
                <a:cs typeface="Arial"/>
              </a:rPr>
              <a:t>year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old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players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is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22 </a:t>
            </a:r>
            <a:r>
              <a:rPr sz="1050" dirty="0">
                <a:latin typeface="Arial"/>
                <a:cs typeface="Arial"/>
              </a:rPr>
              <a:t>per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100,000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Pearl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Diver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insurance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database.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031" y="5213399"/>
            <a:ext cx="3510578" cy="14670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305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"/>
                <a:cs typeface="Arial"/>
              </a:rPr>
              <a:t>a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49-</a:t>
            </a:r>
            <a:r>
              <a:rPr sz="1050" spc="-10" dirty="0">
                <a:latin typeface="Arial"/>
                <a:cs typeface="Arial"/>
              </a:rPr>
              <a:t>year-</a:t>
            </a:r>
            <a:r>
              <a:rPr sz="1050" dirty="0">
                <a:latin typeface="Arial"/>
                <a:cs typeface="Arial"/>
              </a:rPr>
              <a:t>old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female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came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emergency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with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50" dirty="0">
                <a:latin typeface="Arial"/>
                <a:cs typeface="Arial"/>
              </a:rPr>
              <a:t>a</a:t>
            </a:r>
            <a:r>
              <a:rPr sz="1050" spc="50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complaint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pain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swelling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over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left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elbow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due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H/O </a:t>
            </a:r>
            <a:r>
              <a:rPr sz="1050" dirty="0">
                <a:latin typeface="Arial"/>
                <a:cs typeface="Arial"/>
              </a:rPr>
              <a:t>fall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from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2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wheeler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over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left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elbow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flexed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position.</a:t>
            </a:r>
            <a:endParaRPr sz="1050" dirty="0">
              <a:latin typeface="Arial"/>
              <a:cs typeface="Arial"/>
            </a:endParaRPr>
          </a:p>
          <a:p>
            <a:pPr marL="12700" marR="381635">
              <a:lnSpc>
                <a:spcPct val="100000"/>
              </a:lnSpc>
            </a:pPr>
            <a:r>
              <a:rPr sz="1050" dirty="0">
                <a:latin typeface="Arial"/>
                <a:cs typeface="Arial"/>
              </a:rPr>
              <a:t>O/E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–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Active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valgus</a:t>
            </a:r>
            <a:r>
              <a:rPr sz="1050" spc="-10" dirty="0">
                <a:latin typeface="Arial"/>
                <a:cs typeface="Arial"/>
              </a:rPr>
              <a:t> extension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overload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test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was </a:t>
            </a:r>
            <a:r>
              <a:rPr sz="1050" dirty="0">
                <a:latin typeface="Arial"/>
                <a:cs typeface="Arial"/>
              </a:rPr>
              <a:t>positive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.and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elbow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instability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at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90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degree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flexion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spc="-50" dirty="0">
                <a:latin typeface="Arial"/>
                <a:cs typeface="Arial"/>
              </a:rPr>
              <a:t>. </a:t>
            </a:r>
            <a:r>
              <a:rPr sz="1050" dirty="0">
                <a:latin typeface="Arial"/>
                <a:cs typeface="Arial"/>
              </a:rPr>
              <a:t>Xray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elbow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showed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posterior</a:t>
            </a:r>
            <a:r>
              <a:rPr sz="1050" spc="24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dislocation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with</a:t>
            </a:r>
            <a:endParaRPr sz="105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050" spc="-10" dirty="0">
                <a:latin typeface="Arial"/>
                <a:cs typeface="Arial"/>
              </a:rPr>
              <a:t>Undisplaced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fracture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radial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head.</a:t>
            </a:r>
            <a:r>
              <a:rPr sz="1050" spc="2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On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MRI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Elbow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there </a:t>
            </a:r>
            <a:r>
              <a:rPr sz="1050" dirty="0">
                <a:latin typeface="Arial"/>
                <a:cs typeface="Arial"/>
              </a:rPr>
              <a:t>was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complete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tear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lateral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collateral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ulnar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collateral ligament.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61548" y="2743580"/>
            <a:ext cx="3588431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50" b="1" dirty="0">
                <a:latin typeface="Arial"/>
                <a:cs typeface="Arial"/>
              </a:rPr>
              <a:t>SURGICAL</a:t>
            </a:r>
            <a:r>
              <a:rPr sz="1050" b="1" spc="-25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TECHNIQUE</a:t>
            </a:r>
            <a:r>
              <a:rPr sz="1050" spc="-10" dirty="0">
                <a:latin typeface="Arial"/>
                <a:cs typeface="Arial"/>
              </a:rPr>
              <a:t>:-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2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cm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skin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incision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given</a:t>
            </a:r>
            <a:r>
              <a:rPr sz="1050" spc="50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over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flexor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carpi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radialis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tendon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near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wrist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flexion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crease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FCR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tendon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graft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was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harvested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graft</a:t>
            </a:r>
            <a:r>
              <a:rPr sz="1050" spc="50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preparation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was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done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10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cm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skin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incision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given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via </a:t>
            </a:r>
            <a:r>
              <a:rPr sz="1050" dirty="0">
                <a:latin typeface="Arial"/>
                <a:cs typeface="Arial"/>
              </a:rPr>
              <a:t>medial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approach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elbow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bone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tunnels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were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made </a:t>
            </a:r>
            <a:r>
              <a:rPr sz="1050" dirty="0">
                <a:latin typeface="Arial"/>
                <a:cs typeface="Arial"/>
              </a:rPr>
              <a:t>over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proximal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ulna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medial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epicondyle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using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3.2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35" dirty="0">
                <a:latin typeface="Arial"/>
                <a:cs typeface="Arial"/>
              </a:rPr>
              <a:t>mm </a:t>
            </a:r>
            <a:r>
              <a:rPr sz="1050" dirty="0">
                <a:latin typeface="Arial"/>
                <a:cs typeface="Arial"/>
              </a:rPr>
              <a:t>drill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bit.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15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cm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long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graft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was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passed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through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bone </a:t>
            </a:r>
            <a:r>
              <a:rPr sz="1050" dirty="0">
                <a:latin typeface="Arial"/>
                <a:cs typeface="Arial"/>
              </a:rPr>
              <a:t>tunnels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figure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8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fashion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sutured.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Tensioning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of </a:t>
            </a:r>
            <a:r>
              <a:rPr sz="1050" dirty="0">
                <a:latin typeface="Arial"/>
                <a:cs typeface="Arial"/>
              </a:rPr>
              <a:t>graft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was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done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neutral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45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degree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flexion..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Post </a:t>
            </a:r>
            <a:r>
              <a:rPr sz="1050" dirty="0">
                <a:latin typeface="Arial"/>
                <a:cs typeface="Arial"/>
              </a:rPr>
              <a:t>operatively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elbow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was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secured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Above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Elbow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POP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cast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20" dirty="0">
                <a:latin typeface="Arial"/>
                <a:cs typeface="Arial"/>
              </a:rPr>
              <a:t> 90-</a:t>
            </a:r>
            <a:r>
              <a:rPr sz="1050" dirty="0">
                <a:latin typeface="Arial"/>
                <a:cs typeface="Arial"/>
              </a:rPr>
              <a:t>degree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flexion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supination.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after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3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weeks</a:t>
            </a:r>
            <a:r>
              <a:rPr sz="1050" spc="-20" dirty="0">
                <a:latin typeface="Arial"/>
                <a:cs typeface="Arial"/>
              </a:rPr>
              <a:t> full </a:t>
            </a:r>
            <a:r>
              <a:rPr sz="1050" dirty="0">
                <a:latin typeface="Arial"/>
                <a:cs typeface="Arial"/>
              </a:rPr>
              <a:t>elbow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extension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with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flexion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110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degree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was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obtained. </a:t>
            </a:r>
            <a:r>
              <a:rPr sz="1050" dirty="0">
                <a:latin typeface="Arial"/>
                <a:cs typeface="Arial"/>
              </a:rPr>
              <a:t>suture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removal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was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done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on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post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op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day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14.</a:t>
            </a:r>
            <a:endParaRPr sz="1050" dirty="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577094" y="1252733"/>
            <a:ext cx="3712058" cy="5577834"/>
            <a:chOff x="3577094" y="1252733"/>
            <a:chExt cx="3712058" cy="5577834"/>
          </a:xfrm>
        </p:grpSpPr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77094" y="1252733"/>
              <a:ext cx="3709847" cy="104822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11029" y="4848523"/>
              <a:ext cx="3678123" cy="198204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7399083" y="6390652"/>
            <a:ext cx="45745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"/>
                <a:cs typeface="Arial"/>
              </a:rPr>
              <a:t>Ulnar</a:t>
            </a:r>
            <a:r>
              <a:rPr sz="1050" spc="-10" dirty="0">
                <a:latin typeface="Arial"/>
                <a:cs typeface="Arial"/>
              </a:rPr>
              <a:t> collateral ligament reconstruction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10" dirty="0">
                <a:latin typeface="Arial"/>
                <a:cs typeface="Arial"/>
              </a:rPr>
              <a:t> posteromedial </a:t>
            </a:r>
            <a:r>
              <a:rPr sz="1050" dirty="0">
                <a:latin typeface="Arial"/>
                <a:cs typeface="Arial"/>
              </a:rPr>
              <a:t>instability</a:t>
            </a:r>
            <a:r>
              <a:rPr sz="1050" spc="-1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via</a:t>
            </a:r>
            <a:r>
              <a:rPr sz="1050" spc="-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tommy </a:t>
            </a:r>
            <a:r>
              <a:rPr sz="1050" dirty="0">
                <a:latin typeface="Arial"/>
                <a:cs typeface="Arial"/>
              </a:rPr>
              <a:t>john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surgery</a:t>
            </a:r>
            <a:r>
              <a:rPr sz="1050" spc="2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has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excellent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outcome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with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return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her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daily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activities.</a:t>
            </a:r>
            <a:endParaRPr sz="10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82344" y="1646656"/>
            <a:ext cx="4780467" cy="2195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" marR="508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"/>
                <a:cs typeface="Arial"/>
              </a:rPr>
              <a:t>UCL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reconstruction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is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indicated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for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acute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complete</a:t>
            </a:r>
            <a:r>
              <a:rPr lang="en-IN" sz="1050" spc="24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rupture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UCL</a:t>
            </a:r>
            <a:r>
              <a:rPr sz="1050" spc="-20" dirty="0">
                <a:latin typeface="Arial"/>
                <a:cs typeface="Arial"/>
              </a:rPr>
              <a:t> with </a:t>
            </a:r>
            <a:r>
              <a:rPr sz="1050" spc="-10" dirty="0">
                <a:latin typeface="Arial"/>
                <a:cs typeface="Arial"/>
              </a:rPr>
              <a:t>posteromedial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instability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do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their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daily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activities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.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Cain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et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al.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evaluated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743 </a:t>
            </a:r>
            <a:r>
              <a:rPr sz="1050" dirty="0">
                <a:latin typeface="Arial"/>
                <a:cs typeface="Arial"/>
              </a:rPr>
              <a:t>athletes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who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had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ulnar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collateral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ligament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reconstruction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with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minimum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50" dirty="0">
                <a:latin typeface="Arial"/>
                <a:cs typeface="Arial"/>
              </a:rPr>
              <a:t>2 </a:t>
            </a:r>
            <a:r>
              <a:rPr sz="1050" dirty="0">
                <a:latin typeface="Arial"/>
                <a:cs typeface="Arial"/>
              </a:rPr>
              <a:t>years’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follow-</a:t>
            </a:r>
            <a:r>
              <a:rPr sz="1050" dirty="0">
                <a:latin typeface="Arial"/>
                <a:cs typeface="Arial"/>
              </a:rPr>
              <a:t>up.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Eighty-</a:t>
            </a:r>
            <a:r>
              <a:rPr sz="1050" dirty="0">
                <a:latin typeface="Arial"/>
                <a:cs typeface="Arial"/>
              </a:rPr>
              <a:t>three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percent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returned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same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level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or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higher</a:t>
            </a:r>
            <a:r>
              <a:rPr sz="1050" spc="50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level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competition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at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less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than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1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year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from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surgical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stabilization.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statistical </a:t>
            </a:r>
            <a:r>
              <a:rPr sz="1050" dirty="0">
                <a:latin typeface="Arial"/>
                <a:cs typeface="Arial"/>
              </a:rPr>
              <a:t>analysis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147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Major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League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Baseball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pitchers,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Makhni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et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al.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found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that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67% </a:t>
            </a:r>
            <a:r>
              <a:rPr sz="1050" dirty="0">
                <a:latin typeface="Arial"/>
                <a:cs typeface="Arial"/>
              </a:rPr>
              <a:t>were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able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return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same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competitive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level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before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their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surgery.</a:t>
            </a:r>
            <a:r>
              <a:rPr sz="1050" spc="-25" dirty="0">
                <a:latin typeface="Arial"/>
                <a:cs typeface="Arial"/>
              </a:rPr>
              <a:t> The </a:t>
            </a:r>
            <a:r>
              <a:rPr sz="1050" spc="-10" dirty="0">
                <a:latin typeface="Arial"/>
                <a:cs typeface="Arial"/>
              </a:rPr>
              <a:t>rehabilitation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protocols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play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essential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role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instability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management: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20" dirty="0">
                <a:latin typeface="Arial"/>
                <a:cs typeface="Arial"/>
              </a:rPr>
              <a:t>they </a:t>
            </a:r>
            <a:r>
              <a:rPr sz="1050" dirty="0">
                <a:latin typeface="Arial"/>
                <a:cs typeface="Arial"/>
              </a:rPr>
              <a:t>should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be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tailored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started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soon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possible,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protecting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healing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of</a:t>
            </a:r>
            <a:r>
              <a:rPr sz="1050" spc="500" dirty="0">
                <a:latin typeface="Arial"/>
                <a:cs typeface="Arial"/>
              </a:rPr>
              <a:t> 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elbow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stabilizers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while,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at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same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time,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avoiding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stiffness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occurrence.</a:t>
            </a:r>
            <a:endParaRPr sz="1050" dirty="0">
              <a:latin typeface="Arial"/>
              <a:cs typeface="Arial"/>
            </a:endParaRPr>
          </a:p>
          <a:p>
            <a:pPr marL="12700" marR="76835">
              <a:lnSpc>
                <a:spcPct val="100000"/>
              </a:lnSpc>
              <a:spcBef>
                <a:spcPts val="705"/>
              </a:spcBef>
            </a:pPr>
            <a:r>
              <a:rPr sz="1050" b="1" dirty="0">
                <a:latin typeface="Arial"/>
                <a:cs typeface="Arial"/>
              </a:rPr>
              <a:t>Results</a:t>
            </a:r>
            <a:r>
              <a:rPr sz="1050" dirty="0">
                <a:latin typeface="Arial"/>
                <a:cs typeface="Arial"/>
              </a:rPr>
              <a:t>:-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results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this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surgery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was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patient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had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posteromedial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rotatory </a:t>
            </a:r>
            <a:r>
              <a:rPr sz="1050" dirty="0">
                <a:latin typeface="Arial"/>
                <a:cs typeface="Arial"/>
              </a:rPr>
              <a:t>instability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ulnar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collateral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ligament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reconstruction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was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done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via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flexor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carpi </a:t>
            </a:r>
            <a:r>
              <a:rPr sz="1050" dirty="0">
                <a:latin typeface="Arial"/>
                <a:cs typeface="Arial"/>
              </a:rPr>
              <a:t>radialis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provided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elbow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stability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at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90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degree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flexion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extension.</a:t>
            </a:r>
            <a:endParaRPr sz="1050" dirty="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9537255" y="696568"/>
            <a:ext cx="2654935" cy="5175885"/>
            <a:chOff x="9537255" y="696568"/>
            <a:chExt cx="2654935" cy="5175885"/>
          </a:xfrm>
        </p:grpSpPr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37255" y="3854983"/>
              <a:ext cx="2654744" cy="201735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08971" y="696568"/>
              <a:ext cx="1106535" cy="564375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409015" y="3882859"/>
            <a:ext cx="201930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Arial"/>
                <a:cs typeface="Arial"/>
              </a:rPr>
              <a:t>Viable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graft</a:t>
            </a:r>
            <a:r>
              <a:rPr sz="1050" spc="-3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choices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include </a:t>
            </a:r>
            <a:r>
              <a:rPr sz="1050" dirty="0">
                <a:latin typeface="Arial"/>
                <a:cs typeface="Arial"/>
              </a:rPr>
              <a:t>palmaris</a:t>
            </a:r>
            <a:r>
              <a:rPr sz="1050" spc="-5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longus,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gracilis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or </a:t>
            </a:r>
            <a:r>
              <a:rPr sz="1050" spc="-10" dirty="0">
                <a:latin typeface="Arial"/>
                <a:cs typeface="Arial"/>
              </a:rPr>
              <a:t>semitendinosus</a:t>
            </a:r>
            <a:r>
              <a:rPr sz="1050" spc="3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autograft.</a:t>
            </a:r>
            <a:r>
              <a:rPr sz="1050" spc="4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Clinical </a:t>
            </a:r>
            <a:r>
              <a:rPr sz="1050" dirty="0">
                <a:latin typeface="Arial"/>
                <a:cs typeface="Arial"/>
              </a:rPr>
              <a:t>studies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report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excellent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outcomes </a:t>
            </a:r>
            <a:r>
              <a:rPr sz="1050" dirty="0">
                <a:latin typeface="Arial"/>
                <a:cs typeface="Arial"/>
              </a:rPr>
              <a:t>of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UCLR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for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both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recreational</a:t>
            </a:r>
            <a:r>
              <a:rPr sz="1050" spc="-15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and </a:t>
            </a:r>
            <a:r>
              <a:rPr sz="1050" dirty="0">
                <a:latin typeface="Arial"/>
                <a:cs typeface="Arial"/>
              </a:rPr>
              <a:t>elite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level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atheletes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with</a:t>
            </a:r>
            <a:r>
              <a:rPr sz="1050" spc="-4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regard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spc="-25" dirty="0">
                <a:latin typeface="Arial"/>
                <a:cs typeface="Arial"/>
              </a:rPr>
              <a:t>to </a:t>
            </a:r>
            <a:r>
              <a:rPr sz="1050" dirty="0">
                <a:latin typeface="Arial"/>
                <a:cs typeface="Arial"/>
              </a:rPr>
              <a:t>return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sports</a:t>
            </a:r>
            <a:r>
              <a:rPr sz="1050" spc="-3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and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postoperative performances.</a:t>
            </a:r>
            <a:endParaRPr sz="1050">
              <a:latin typeface="Arial"/>
              <a:cs typeface="Arial"/>
            </a:endParaRPr>
          </a:p>
          <a:p>
            <a:pPr marL="12700" marR="130810">
              <a:lnSpc>
                <a:spcPct val="100000"/>
              </a:lnSpc>
            </a:pPr>
            <a:r>
              <a:rPr sz="1050" dirty="0">
                <a:latin typeface="Arial"/>
                <a:cs typeface="Arial"/>
              </a:rPr>
              <a:t>There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was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no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injury</a:t>
            </a:r>
            <a:r>
              <a:rPr sz="1050" spc="-2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2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ulnar nerve,elbow</a:t>
            </a:r>
            <a:r>
              <a:rPr sz="1050" dirty="0">
                <a:latin typeface="Arial"/>
                <a:cs typeface="Arial"/>
              </a:rPr>
              <a:t> stiffness </a:t>
            </a:r>
            <a:r>
              <a:rPr sz="1050" spc="-25" dirty="0">
                <a:latin typeface="Arial"/>
                <a:cs typeface="Arial"/>
              </a:rPr>
              <a:t>and </a:t>
            </a:r>
            <a:r>
              <a:rPr sz="1050" dirty="0">
                <a:latin typeface="Arial"/>
                <a:cs typeface="Arial"/>
              </a:rPr>
              <a:t>weakness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leading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to</a:t>
            </a:r>
            <a:r>
              <a:rPr sz="1050" spc="-4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decreased performance</a:t>
            </a:r>
            <a:r>
              <a:rPr sz="1050" dirty="0">
                <a:latin typeface="Arial"/>
                <a:cs typeface="Arial"/>
              </a:rPr>
              <a:t> </a:t>
            </a:r>
            <a:r>
              <a:rPr sz="1050" spc="-50" dirty="0"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752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TITLE :- ULNAR COLLATERAL LIGAMENT RECONSTRUCTION VIA TOMMY JOHNS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ajmal ansare</cp:lastModifiedBy>
  <cp:revision>1</cp:revision>
  <dcterms:created xsi:type="dcterms:W3CDTF">2026-02-01T17:37:59Z</dcterms:created>
  <dcterms:modified xsi:type="dcterms:W3CDTF">2026-02-01T17:46:36Z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2026-02-01T00:00:00Z</vt:filetime>
  </property>
  <property fmtid="{D5CDD505-2E9C-101B-9397-08002B2CF9AE}" pid="3" name="LastSaved">
    <vt:filetime>2026-02-01T00:00:00Z</vt:filetime>
  </property>
  <property fmtid="{D5CDD505-2E9C-101B-9397-08002B2CF9AE}" pid="4" name="Producer">
    <vt:lpwstr>3-Heights(TM) PDF Security Shell 4.8.25.2 (http://www.pdf-tools.com)</vt:lpwstr>
  </property>
</Properties>
</file>