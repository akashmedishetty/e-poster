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8T11:41:48.17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0,'598'0,"-564"2,63 11,-60-7,47 3,412-8,-237-3,196 2,-447 0,1 0,0 1,0 0,9 3,2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8T11:41:48.57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8T11:41:50.2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0,'95'3,"0"4,127 25,178 72,-325-80,98 28,-140-45,0 0,0-3,46 2,-51-6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B324A-A447-45D7-ACB3-12FADC52B878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6B5CE-9129-4DDA-A438-A88B4F92B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733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Acceptable alignments after fracture reduction are  &lt;5 mm translation, &lt;5o–10o angulation, &lt;10o rotational deformity, and &lt;1 cm femoral shortening.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6B5CE-9129-4DDA-A438-A88B4F92BAF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562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18" Type="http://schemas.openxmlformats.org/officeDocument/2006/relationships/image" Target="../media/image14.png"/><Relationship Id="rId3" Type="http://schemas.openxmlformats.org/officeDocument/2006/relationships/image" Target="../media/image1.png"/><Relationship Id="rId21" Type="http://schemas.openxmlformats.org/officeDocument/2006/relationships/image" Target="../media/image13.jpe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customXml" Target="../ink/ink1.xml"/><Relationship Id="rId10" Type="http://schemas.openxmlformats.org/officeDocument/2006/relationships/image" Target="../media/image8.jpeg"/><Relationship Id="rId19" Type="http://schemas.openxmlformats.org/officeDocument/2006/relationships/customXml" Target="../ink/ink3.xml"/><Relationship Id="rId4" Type="http://schemas.openxmlformats.org/officeDocument/2006/relationships/image" Target="../media/image2.png"/><Relationship Id="rId9" Type="http://schemas.openxmlformats.org/officeDocument/2006/relationships/image" Target="../media/image7.jpg"/><Relationship Id="rId14" Type="http://schemas.openxmlformats.org/officeDocument/2006/relationships/image" Target="../media/image12.jpeg"/><Relationship Id="rId22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31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30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35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1794747" y="-24888"/>
            <a:ext cx="747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740229" y="228598"/>
            <a:ext cx="1010194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 CASE  REPORT  ON  MANAGEMENT  OF  </a:t>
            </a:r>
          </a:p>
          <a:p>
            <a:pPr algn="ctr"/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RORABECK  TYPE  III  DISTAL  FEMUR  PERIPROSTHETIC  FRACTURE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PRESENTING AUTHOR: DR. RAVEENDRA GOPI  T</a:t>
            </a:r>
          </a:p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CO-AUTHOR : DR.JAGADESH GUDARU MS.,MCH(ORTHO) ; DR. DEEPAK MS.ORTHO, DR. RAKESH KIRAN Y MS. ORTHO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endParaRPr lang="en-US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-16133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0" y="1674796"/>
            <a:ext cx="3108960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0" y="5080536"/>
            <a:ext cx="3108960" cy="1777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47E9-312C-D04A-D368-EE96CE32C982}"/>
              </a:ext>
            </a:extLst>
          </p:cNvPr>
          <p:cNvSpPr/>
          <p:nvPr/>
        </p:nvSpPr>
        <p:spPr>
          <a:xfrm>
            <a:off x="3137836" y="1280157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874B9-B8E1-A36B-AA38-6FCC7D5D8F32}"/>
              </a:ext>
            </a:extLst>
          </p:cNvPr>
          <p:cNvSpPr/>
          <p:nvPr/>
        </p:nvSpPr>
        <p:spPr>
          <a:xfrm>
            <a:off x="6352674" y="1477475"/>
            <a:ext cx="5839326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6352674" y="5080536"/>
            <a:ext cx="5839326" cy="1777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3137836" y="1280157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6352673" y="1280157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0" y="4928941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33B59-00B8-9FD5-0D31-D1688B16556B}"/>
              </a:ext>
            </a:extLst>
          </p:cNvPr>
          <p:cNvSpPr/>
          <p:nvPr/>
        </p:nvSpPr>
        <p:spPr>
          <a:xfrm>
            <a:off x="6352674" y="4807817"/>
            <a:ext cx="5839324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B470F-190E-8E3F-F7FA-C298FFF5D358}"/>
              </a:ext>
            </a:extLst>
          </p:cNvPr>
          <p:cNvSpPr txBox="1"/>
          <p:nvPr/>
        </p:nvSpPr>
        <p:spPr>
          <a:xfrm>
            <a:off x="0" y="1600191"/>
            <a:ext cx="3108960" cy="33069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Increasing  rates  of  total  knee  arthroplasty  have  led  to  a  rise  in  periprosthetic  distal  femoral  fractures,  particularly  in  elderly  patients.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</a:t>
            </a:r>
            <a:r>
              <a:rPr lang="en-US" sz="12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Rorabeck</a:t>
            </a:r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Tylor type III periprosthetic knee fracture is described as a non-displaced or displaced fracture with the prosthesis loose or failing,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Poor  bone  stock,  preexisting  implant  and  bone  cement  may  impede  fracture  reduction  and  fixation,  predisposing  to  nonunion  or  malunion.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Aim is to achieve a painless and stable knee with the proper alignment restoration, adequate patellofemoral function, maintained prosthesis fixation, and an early range of motion.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A5224F-8852-7F87-95F7-7F6E820EE935}"/>
              </a:ext>
            </a:extLst>
          </p:cNvPr>
          <p:cNvSpPr txBox="1"/>
          <p:nvPr/>
        </p:nvSpPr>
        <p:spPr>
          <a:xfrm>
            <a:off x="0" y="5280033"/>
            <a:ext cx="1724045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Presenting a 58 years old female with injury to right knee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, radiographs revealed 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comminuted  distal  femur  periprosthetic  fracture  (Lewis  and 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Rorabeck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type  III)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80258BC-68BA-01DC-727B-EA632A98F5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45" y="5247376"/>
            <a:ext cx="1413791" cy="163579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D68BB39-E1B5-50C0-0DBE-4A025D50601D}"/>
              </a:ext>
            </a:extLst>
          </p:cNvPr>
          <p:cNvSpPr txBox="1"/>
          <p:nvPr/>
        </p:nvSpPr>
        <p:spPr>
          <a:xfrm>
            <a:off x="3108960" y="1619590"/>
            <a:ext cx="3243711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Patient in supine position, under sterile aseptic conditions double approach was made.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through lateral approach, loose periprosthetic fragments were removed with a curette, and the bone defect was washed thoroughly with normal saline.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Fragments were reduced and fixed with a 13 - hole distal femoral locking compression plate and screws.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through medial approach, fragments were reduced fixed with 7 - hole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Philos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plate and screws.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Bone defect was filled with autologous graft from iliac crest bone.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mediolateral stability of the knee, the implant, and the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femoro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-patellar tracking were checked.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1BD00E0-2DB2-DE7F-9934-298677A7A0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8" t="14634" r="21577"/>
          <a:stretch>
            <a:fillRect/>
          </a:stretch>
        </p:blipFill>
        <p:spPr>
          <a:xfrm>
            <a:off x="4759745" y="4946124"/>
            <a:ext cx="1543716" cy="87536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00507F7-7058-ECA0-4371-BF4283D35F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0" t="5685" r="850" b="28936"/>
          <a:stretch>
            <a:fillRect/>
          </a:stretch>
        </p:blipFill>
        <p:spPr>
          <a:xfrm>
            <a:off x="3166712" y="6008183"/>
            <a:ext cx="1543716" cy="87536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8140BB8-768A-9CB9-DC43-C05F607BB2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8" t="4957" r="21875" b="31915"/>
          <a:stretch>
            <a:fillRect/>
          </a:stretch>
        </p:blipFill>
        <p:spPr>
          <a:xfrm>
            <a:off x="4822363" y="5804876"/>
            <a:ext cx="1273637" cy="104224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C1F522E-4A9F-A2C3-7DF2-3ADE47ADDB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5" t="2070" r="9514" b="20660"/>
          <a:stretch>
            <a:fillRect/>
          </a:stretch>
        </p:blipFill>
        <p:spPr>
          <a:xfrm>
            <a:off x="3166712" y="4946130"/>
            <a:ext cx="1543716" cy="103727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288B546-8D5C-D80B-16F2-6E625A47A08A}"/>
              </a:ext>
            </a:extLst>
          </p:cNvPr>
          <p:cNvSpPr txBox="1"/>
          <p:nvPr/>
        </p:nvSpPr>
        <p:spPr>
          <a:xfrm>
            <a:off x="6359774" y="1656158"/>
            <a:ext cx="5839324" cy="17728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Post operative period was uneventful, with  progressive  weight  bearing  on  regular  follow-up   radiographs  showed  fracture  union,  stable  femoral  component. Patient  showed  no  pain, knee ROM 0-90 degree and  an  unchanged  Barthel  Index.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 treatment  of  this  fracture  is  affected  by  many  factors,  including  fracture  type,  prosthesis  stability,  patient  age  and  comorbidities.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Satisfactory  clinical  outcomes  can  be  obtained  with  proper  selection  of  fixation  devices  and  surgical  techniques.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6AC0B6-3967-3FA0-5D87-C2C7B85288E9}"/>
              </a:ext>
            </a:extLst>
          </p:cNvPr>
          <p:cNvSpPr txBox="1"/>
          <p:nvPr/>
        </p:nvSpPr>
        <p:spPr>
          <a:xfrm>
            <a:off x="6332337" y="5238410"/>
            <a:ext cx="36819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Dual locking  plate  fixation  is  an effective  and  reliable  surgical  option in 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Rorabeck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type  III  fractures.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avoids the need to do revision arthroplasty.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B6A7F5D-E6E3-6599-24A0-827F6584093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201" y="3198271"/>
            <a:ext cx="1803097" cy="157370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C505FBD-7D7C-F75B-BADD-0924E3853A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364" y="3171780"/>
            <a:ext cx="2452290" cy="167199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B7DF89B-1045-E194-4BA8-37363060629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378" y="3027907"/>
            <a:ext cx="1361899" cy="18158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1C29178-C793-26C1-6EC0-882D0F46AC60}"/>
                  </a:ext>
                </a:extLst>
              </p14:cNvPr>
              <p14:cNvContentPartPr/>
              <p14:nvPr/>
            </p14:nvContentPartPr>
            <p14:xfrm>
              <a:off x="6280783" y="1219457"/>
              <a:ext cx="768240" cy="151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1C29178-C793-26C1-6EC0-882D0F46AC6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90783" y="1039457"/>
                <a:ext cx="94788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CC8D1C2-CDFF-8713-E506-B9A6674FD8D3}"/>
                  </a:ext>
                </a:extLst>
              </p14:cNvPr>
              <p14:cNvContentPartPr/>
              <p14:nvPr/>
            </p14:nvContentPartPr>
            <p14:xfrm>
              <a:off x="7054063" y="1241057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CC8D1C2-CDFF-8713-E506-B9A6674FD8D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964063" y="1061057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D324266-1E32-2A55-A925-286F4F0F9FF6}"/>
                  </a:ext>
                </a:extLst>
              </p14:cNvPr>
              <p14:cNvContentPartPr/>
              <p14:nvPr/>
            </p14:nvContentPartPr>
            <p14:xfrm>
              <a:off x="6574903" y="1251497"/>
              <a:ext cx="456120" cy="889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D324266-1E32-2A55-A925-286F4F0F9FF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85263" y="1071497"/>
                <a:ext cx="635760" cy="448560"/>
              </a:xfrm>
              <a:prstGeom prst="rect">
                <a:avLst/>
              </a:prstGeom>
            </p:spPr>
          </p:pic>
        </mc:Fallback>
      </mc:AlternateContent>
      <p:pic>
        <p:nvPicPr>
          <p:cNvPr id="61" name="Picture 60">
            <a:extLst>
              <a:ext uri="{FF2B5EF4-FFF2-40B4-BE49-F238E27FC236}">
                <a16:creationId xmlns:a16="http://schemas.microsoft.com/office/drawing/2014/main" id="{2F593418-4B9A-3242-68F2-EB0F4F7223B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981" y="5236168"/>
            <a:ext cx="967259" cy="1621832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FA23F6AC-6803-D2E4-E6BD-1553DAED078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3655" y="5236167"/>
            <a:ext cx="819492" cy="157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428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Gordita 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R GOPI T</cp:lastModifiedBy>
  <cp:revision>11</cp:revision>
  <dcterms:created xsi:type="dcterms:W3CDTF">2026-01-11T06:24:43Z</dcterms:created>
  <dcterms:modified xsi:type="dcterms:W3CDTF">2026-01-30T06:59:28Z</dcterms:modified>
</cp:coreProperties>
</file>