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-744" y="-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DE82E09-9CEE-8584-D464-24E0EC391B80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F2BE4274-EF19-EE7E-5761-D489EED61B8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A91A2BA2-F38B-80BA-A985-5949FC76FEA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04524FB-BCF4-1B74-A89E-4EDE8596787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F2F88F76-11B2-42F9-7CED-3DAC2835AF8A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65ADD6F6-E35D-B7F8-9AC5-43234D897C09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C146DFFE-ACF0-208A-4880-3B35F597866F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xmlns="" id="{FD934B23-4A0F-DA26-1C91-6993B84BADB9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 cstate="print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E872BCCA-09F4-9D91-AE26-B5E437D7714E}"/>
              </a:ext>
            </a:extLst>
          </p:cNvPr>
          <p:cNvSpPr/>
          <p:nvPr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D4B9414-324A-B4ED-525E-CF04D2394B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6B23EAFB-E583-3DAF-08B5-661672CE88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3C21D24D-75B4-7ADE-170F-FE845B818D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EA6BB7B0-D981-FEB6-4479-7A49704B2B87}"/>
              </a:ext>
            </a:extLst>
          </p:cNvPr>
          <p:cNvSpPr txBox="1"/>
          <p:nvPr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CF1F608A-7742-BF27-09EC-3BB7CA324D68}"/>
              </a:ext>
            </a:extLst>
          </p:cNvPr>
          <p:cNvSpPr txBox="1"/>
          <p:nvPr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C0616687-624D-607B-6F85-335EE46873F1}"/>
              </a:ext>
            </a:extLst>
          </p:cNvPr>
          <p:cNvSpPr txBox="1"/>
          <p:nvPr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xmlns="" id="{0F401C6F-33A3-A415-AD1A-709059E901BF}"/>
              </a:ext>
            </a:extLst>
          </p:cNvPr>
          <p:cNvSpPr/>
          <p:nvPr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D4F9D5A-1DDA-4BC3-63F3-F36226B86C87}"/>
              </a:ext>
            </a:extLst>
          </p:cNvPr>
          <p:cNvSpPr/>
          <p:nvPr/>
        </p:nvSpPr>
        <p:spPr>
          <a:xfrm>
            <a:off x="0" y="1674796"/>
            <a:ext cx="3108960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C094F03-F93B-9B6D-7C11-87F9C75E6ABB}"/>
              </a:ext>
            </a:extLst>
          </p:cNvPr>
          <p:cNvSpPr/>
          <p:nvPr/>
        </p:nvSpPr>
        <p:spPr>
          <a:xfrm>
            <a:off x="0" y="5080536"/>
            <a:ext cx="3108960" cy="1777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D1A47E9-312C-D04A-D368-EE96CE32C982}"/>
              </a:ext>
            </a:extLst>
          </p:cNvPr>
          <p:cNvSpPr/>
          <p:nvPr/>
        </p:nvSpPr>
        <p:spPr>
          <a:xfrm>
            <a:off x="3137836" y="1280157"/>
            <a:ext cx="3185962" cy="5577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3A874B9-B8E1-A36B-AA38-6FCC7D5D8F32}"/>
              </a:ext>
            </a:extLst>
          </p:cNvPr>
          <p:cNvSpPr/>
          <p:nvPr/>
        </p:nvSpPr>
        <p:spPr>
          <a:xfrm>
            <a:off x="6352674" y="1477475"/>
            <a:ext cx="5839326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0EFC2BB9-1938-0DF3-F424-CAC28C6D9880}"/>
              </a:ext>
            </a:extLst>
          </p:cNvPr>
          <p:cNvSpPr/>
          <p:nvPr/>
        </p:nvSpPr>
        <p:spPr>
          <a:xfrm>
            <a:off x="6352674" y="5080536"/>
            <a:ext cx="5839326" cy="1777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B0C050E-DD7C-3885-8EBF-D74C223C0531}"/>
              </a:ext>
            </a:extLst>
          </p:cNvPr>
          <p:cNvSpPr/>
          <p:nvPr/>
        </p:nvSpPr>
        <p:spPr>
          <a:xfrm>
            <a:off x="0" y="1280157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493EBCB5-BB50-7945-E88B-86122853702B}"/>
              </a:ext>
            </a:extLst>
          </p:cNvPr>
          <p:cNvSpPr/>
          <p:nvPr/>
        </p:nvSpPr>
        <p:spPr>
          <a:xfrm>
            <a:off x="3137836" y="1280157"/>
            <a:ext cx="3185962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79DCDE1-7E85-0646-3543-9C1638CEB9CA}"/>
              </a:ext>
            </a:extLst>
          </p:cNvPr>
          <p:cNvSpPr/>
          <p:nvPr/>
        </p:nvSpPr>
        <p:spPr>
          <a:xfrm>
            <a:off x="6352673" y="1280157"/>
            <a:ext cx="5839325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A130820-FF42-EA8A-339B-145E1FC668F5}"/>
              </a:ext>
            </a:extLst>
          </p:cNvPr>
          <p:cNvSpPr/>
          <p:nvPr/>
        </p:nvSpPr>
        <p:spPr>
          <a:xfrm>
            <a:off x="0" y="5005136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99633B59-00B8-9FD5-0D31-D1688B16556B}"/>
              </a:ext>
            </a:extLst>
          </p:cNvPr>
          <p:cNvSpPr/>
          <p:nvPr/>
        </p:nvSpPr>
        <p:spPr>
          <a:xfrm>
            <a:off x="6352674" y="4807817"/>
            <a:ext cx="5839324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1676400"/>
            <a:ext cx="30861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 A benign </a:t>
            </a:r>
            <a:r>
              <a:rPr lang="en-US" sz="1500" b="1" dirty="0" err="1" smtClean="0">
                <a:latin typeface="Arial" pitchFamily="34" charset="0"/>
                <a:cs typeface="Arial" pitchFamily="34" charset="0"/>
              </a:rPr>
              <a:t>osteoma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is a non-</a:t>
            </a:r>
          </a:p>
          <a:p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  cancerous bone </a:t>
            </a:r>
            <a:r>
              <a:rPr lang="en-US" sz="1500" b="1" dirty="0" err="1" smtClean="0">
                <a:latin typeface="Arial" pitchFamily="34" charset="0"/>
                <a:cs typeface="Arial" pitchFamily="34" charset="0"/>
              </a:rPr>
              <a:t>tumour</a:t>
            </a:r>
            <a:endParaRPr lang="en-US" sz="15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  characterized by the</a:t>
            </a:r>
          </a:p>
          <a:p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  overgrowth of normal bone</a:t>
            </a:r>
          </a:p>
          <a:p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  tissue.</a:t>
            </a:r>
          </a:p>
          <a:p>
            <a:pPr>
              <a:buFont typeface="Arial" pitchFamily="34" charset="0"/>
              <a:buChar char="•"/>
            </a:pP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Typically 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slow-growing and</a:t>
            </a:r>
          </a:p>
          <a:p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  asymptomatic, these</a:t>
            </a:r>
          </a:p>
          <a:p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  </a:t>
            </a:r>
            <a:r>
              <a:rPr lang="en-US" sz="1500" b="1" dirty="0" err="1" smtClean="0">
                <a:latin typeface="Arial" pitchFamily="34" charset="0"/>
                <a:cs typeface="Arial" pitchFamily="34" charset="0"/>
              </a:rPr>
              <a:t>tumours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are often</a:t>
            </a:r>
          </a:p>
          <a:p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  discovered incidentally.</a:t>
            </a:r>
          </a:p>
          <a:p>
            <a:pPr>
              <a:buFont typeface="Arial" pitchFamily="34" charset="0"/>
              <a:buChar char="•"/>
            </a:pP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Though 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generally harmless, </a:t>
            </a:r>
          </a:p>
          <a:p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  they may require treatment</a:t>
            </a:r>
          </a:p>
          <a:p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  if they cause discomfort or</a:t>
            </a:r>
          </a:p>
          <a:p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  affect surrounding</a:t>
            </a:r>
          </a:p>
          <a:p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  structures.</a:t>
            </a:r>
            <a:endParaRPr lang="en-US" sz="15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0" y="5422900"/>
            <a:ext cx="30734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 Benign </a:t>
            </a:r>
            <a:r>
              <a:rPr lang="en-US" sz="1500" b="1" dirty="0" err="1" smtClean="0">
                <a:latin typeface="Arial" pitchFamily="34" charset="0"/>
                <a:cs typeface="Arial" pitchFamily="34" charset="0"/>
              </a:rPr>
              <a:t>osteoma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of middle</a:t>
            </a:r>
          </a:p>
          <a:p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  1/3rd 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of right 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ulna after en 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</a:t>
            </a:r>
          </a:p>
          <a:p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bloc excision 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and internal</a:t>
            </a:r>
          </a:p>
          <a:p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  fixation with </a:t>
            </a:r>
            <a:r>
              <a:rPr lang="en-US" sz="1500" b="1" dirty="0" err="1" smtClean="0">
                <a:latin typeface="Arial" pitchFamily="34" charset="0"/>
                <a:cs typeface="Arial" pitchFamily="34" charset="0"/>
              </a:rPr>
              <a:t>autologous</a:t>
            </a:r>
            <a:endParaRPr lang="en-US" sz="15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  </a:t>
            </a:r>
            <a:r>
              <a:rPr lang="en-US" sz="1500" b="1" dirty="0" err="1" smtClean="0">
                <a:latin typeface="Arial" pitchFamily="34" charset="0"/>
                <a:cs typeface="Arial" pitchFamily="34" charset="0"/>
              </a:rPr>
              <a:t>ipsilateral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fibular </a:t>
            </a:r>
            <a:r>
              <a:rPr lang="en-US" sz="1500" b="1" dirty="0" err="1" smtClean="0">
                <a:latin typeface="Arial" pitchFamily="34" charset="0"/>
                <a:cs typeface="Arial" pitchFamily="34" charset="0"/>
              </a:rPr>
              <a:t>autograft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15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49600" y="3364736"/>
            <a:ext cx="31496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300" b="1" dirty="0" smtClean="0">
                <a:latin typeface="Arial" pitchFamily="34" charset="0"/>
                <a:cs typeface="Arial" pitchFamily="34" charset="0"/>
              </a:rPr>
              <a:t> Through a standard dorsal  </a:t>
            </a:r>
          </a:p>
          <a:p>
            <a:r>
              <a:rPr lang="en-US" sz="1300" b="1" dirty="0" smtClean="0">
                <a:latin typeface="Arial" pitchFamily="34" charset="0"/>
                <a:cs typeface="Arial" pitchFamily="34" charset="0"/>
              </a:rPr>
              <a:t>  approach to the ulna, a well-defined,  </a:t>
            </a:r>
          </a:p>
          <a:p>
            <a:r>
              <a:rPr lang="en-US" sz="1300" b="1" dirty="0" smtClean="0">
                <a:latin typeface="Arial" pitchFamily="34" charset="0"/>
                <a:cs typeface="Arial" pitchFamily="34" charset="0"/>
              </a:rPr>
              <a:t>  hard, ivory-white bony mass was  </a:t>
            </a:r>
          </a:p>
          <a:p>
            <a:r>
              <a:rPr lang="en-US" sz="1300" b="1" dirty="0" smtClean="0">
                <a:latin typeface="Arial" pitchFamily="34" charset="0"/>
                <a:cs typeface="Arial" pitchFamily="34" charset="0"/>
              </a:rPr>
              <a:t>  identified involving the middle one- </a:t>
            </a:r>
          </a:p>
          <a:p>
            <a:r>
              <a:rPr lang="en-US" sz="1300" b="1" dirty="0" smtClean="0">
                <a:latin typeface="Arial" pitchFamily="34" charset="0"/>
                <a:cs typeface="Arial" pitchFamily="34" charset="0"/>
              </a:rPr>
              <a:t>  third of the ulna.</a:t>
            </a:r>
          </a:p>
          <a:p>
            <a:pPr>
              <a:buFont typeface="Arial" pitchFamily="34" charset="0"/>
              <a:buChar char="•"/>
            </a:pPr>
            <a:endParaRPr lang="en-US" sz="1300" b="1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endParaRPr lang="en-US" sz="1300" b="1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endParaRPr lang="en-US" sz="1300" b="1" dirty="0" smtClean="0">
              <a:latin typeface="Arial" pitchFamily="34" charset="0"/>
              <a:cs typeface="Arial" pitchFamily="34" charset="0"/>
            </a:endParaRPr>
          </a:p>
          <a:p>
            <a:endParaRPr lang="en-US" sz="1300" b="1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300" b="1" dirty="0" smtClean="0">
                <a:latin typeface="Arial" pitchFamily="34" charset="0"/>
                <a:cs typeface="Arial" pitchFamily="34" charset="0"/>
              </a:rPr>
              <a:t> En bloc excision of the tumor was  </a:t>
            </a:r>
          </a:p>
          <a:p>
            <a:r>
              <a:rPr lang="en-US" sz="1300" b="1" dirty="0" smtClean="0">
                <a:latin typeface="Arial" pitchFamily="34" charset="0"/>
                <a:cs typeface="Arial" pitchFamily="34" charset="0"/>
              </a:rPr>
              <a:t>  performed, resulting in a segmental  </a:t>
            </a:r>
          </a:p>
          <a:p>
            <a:r>
              <a:rPr lang="en-US" sz="1300" b="1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US" sz="1300" b="1" dirty="0" err="1" smtClean="0">
                <a:latin typeface="Arial" pitchFamily="34" charset="0"/>
                <a:cs typeface="Arial" pitchFamily="34" charset="0"/>
              </a:rPr>
              <a:t>diaphyseal</a:t>
            </a:r>
            <a:r>
              <a:rPr lang="en-US" sz="1300" b="1" dirty="0" smtClean="0">
                <a:latin typeface="Arial" pitchFamily="34" charset="0"/>
                <a:cs typeface="Arial" pitchFamily="34" charset="0"/>
              </a:rPr>
              <a:t> defect of the ulna.</a:t>
            </a:r>
          </a:p>
          <a:p>
            <a:pPr>
              <a:buFont typeface="Arial" pitchFamily="34" charset="0"/>
              <a:buChar char="•"/>
            </a:pPr>
            <a:r>
              <a:rPr lang="en-US" sz="1300" b="1" dirty="0" smtClean="0">
                <a:latin typeface="Arial" pitchFamily="34" charset="0"/>
                <a:cs typeface="Arial" pitchFamily="34" charset="0"/>
              </a:rPr>
              <a:t> Reconstruction was done using an  </a:t>
            </a:r>
          </a:p>
          <a:p>
            <a:r>
              <a:rPr lang="en-US" sz="1300" b="1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US" sz="1300" b="1" dirty="0" err="1" smtClean="0">
                <a:latin typeface="Arial" pitchFamily="34" charset="0"/>
                <a:cs typeface="Arial" pitchFamily="34" charset="0"/>
              </a:rPr>
              <a:t>autologous</a:t>
            </a:r>
            <a:r>
              <a:rPr lang="en-US" sz="13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300" b="1" dirty="0" err="1" smtClean="0">
                <a:latin typeface="Arial" pitchFamily="34" charset="0"/>
                <a:cs typeface="Arial" pitchFamily="34" charset="0"/>
              </a:rPr>
              <a:t>ipsilateral</a:t>
            </a:r>
            <a:r>
              <a:rPr lang="en-US" sz="1300" b="1" dirty="0" smtClean="0">
                <a:latin typeface="Arial" pitchFamily="34" charset="0"/>
                <a:cs typeface="Arial" pitchFamily="34" charset="0"/>
              </a:rPr>
              <a:t> fibular graft,  </a:t>
            </a:r>
          </a:p>
          <a:p>
            <a:r>
              <a:rPr lang="en-US" sz="1300" b="1" dirty="0" smtClean="0">
                <a:latin typeface="Arial" pitchFamily="34" charset="0"/>
                <a:cs typeface="Arial" pitchFamily="34" charset="0"/>
              </a:rPr>
              <a:t>  fixed with internal fixation Rush nail  </a:t>
            </a:r>
          </a:p>
          <a:p>
            <a:r>
              <a:rPr lang="en-US" sz="1300" b="1" dirty="0" smtClean="0">
                <a:latin typeface="Arial" pitchFamily="34" charset="0"/>
                <a:cs typeface="Arial" pitchFamily="34" charset="0"/>
              </a:rPr>
              <a:t>  achieving stable alignment</a:t>
            </a:r>
            <a:r>
              <a:rPr lang="en-US" sz="13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0" y="1689100"/>
            <a:ext cx="584200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u="sng" dirty="0" smtClean="0">
                <a:latin typeface="Arial" pitchFamily="34" charset="0"/>
                <a:cs typeface="Arial" pitchFamily="34" charset="0"/>
              </a:rPr>
              <a:t>HPE REPORT:-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500" dirty="0" smtClean="0">
                <a:latin typeface="Arial" pitchFamily="34" charset="0"/>
                <a:cs typeface="Arial" pitchFamily="34" charset="0"/>
              </a:rPr>
              <a:t>BENIGN OSTEOMA(no evidence of malignancy)</a:t>
            </a:r>
          </a:p>
          <a:p>
            <a:r>
              <a:rPr lang="en-US" sz="1500" b="1" u="sng" dirty="0" smtClean="0">
                <a:latin typeface="Arial" pitchFamily="34" charset="0"/>
                <a:cs typeface="Arial" pitchFamily="34" charset="0"/>
              </a:rPr>
              <a:t>FOLLOW UP:-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500" dirty="0" smtClean="0">
                <a:latin typeface="Arial" pitchFamily="34" charset="0"/>
                <a:cs typeface="Arial" pitchFamily="34" charset="0"/>
              </a:rPr>
              <a:t>After surgery patient was first followed up within 2weeks of surgery and serial follow up at 1, 3, 6 and 12 months.</a:t>
            </a:r>
          </a:p>
          <a:p>
            <a:r>
              <a:rPr lang="en-US" sz="1500" b="1" u="sng" dirty="0" smtClean="0">
                <a:latin typeface="Arial" pitchFamily="34" charset="0"/>
                <a:cs typeface="Arial" pitchFamily="34" charset="0"/>
              </a:rPr>
              <a:t>RESULTS:-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500" dirty="0" smtClean="0">
                <a:latin typeface="Arial" pitchFamily="34" charset="0"/>
                <a:cs typeface="Arial" pitchFamily="34" charset="0"/>
              </a:rPr>
              <a:t>After successful en bloc excision and internal fixation</a:t>
            </a:r>
          </a:p>
          <a:p>
            <a:r>
              <a:rPr lang="en-US" sz="1500" dirty="0" smtClean="0">
                <a:latin typeface="Arial" pitchFamily="34" charset="0"/>
                <a:cs typeface="Arial" pitchFamily="34" charset="0"/>
              </a:rPr>
              <a:t>patient was able to return her daily activities within 3 months with relief of pre operative symptoms and there is no recurrence.</a:t>
            </a:r>
          </a:p>
          <a:p>
            <a:r>
              <a:rPr lang="en-US" sz="1500" b="1" u="sng" dirty="0" smtClean="0">
                <a:latin typeface="Arial" pitchFamily="34" charset="0"/>
                <a:cs typeface="Arial" pitchFamily="34" charset="0"/>
              </a:rPr>
              <a:t>DISCUSSION:-</a:t>
            </a:r>
            <a:r>
              <a:rPr lang="en-US" sz="1500" dirty="0" smtClean="0">
                <a:latin typeface="Arial" pitchFamily="34" charset="0"/>
                <a:cs typeface="Arial" pitchFamily="34" charset="0"/>
              </a:rPr>
              <a:t> Benign </a:t>
            </a:r>
            <a:r>
              <a:rPr lang="en-US" sz="1500" dirty="0" err="1" smtClean="0">
                <a:latin typeface="Arial" pitchFamily="34" charset="0"/>
                <a:cs typeface="Arial" pitchFamily="34" charset="0"/>
              </a:rPr>
              <a:t>osteoma</a:t>
            </a:r>
            <a:r>
              <a:rPr lang="en-US" sz="1500" dirty="0" smtClean="0">
                <a:latin typeface="Arial" pitchFamily="34" charset="0"/>
                <a:cs typeface="Arial" pitchFamily="34" charset="0"/>
              </a:rPr>
              <a:t> of middle </a:t>
            </a:r>
            <a:r>
              <a:rPr lang="en-US" sz="1500" dirty="0" smtClean="0">
                <a:latin typeface="Arial" pitchFamily="34" charset="0"/>
                <a:cs typeface="Arial" pitchFamily="34" charset="0"/>
              </a:rPr>
              <a:t>1/3rd </a:t>
            </a:r>
            <a:r>
              <a:rPr lang="en-US" sz="1500" smtClean="0">
                <a:latin typeface="Arial" pitchFamily="34" charset="0"/>
                <a:cs typeface="Arial" pitchFamily="34" charset="0"/>
              </a:rPr>
              <a:t>of ulna.Generally</a:t>
            </a:r>
            <a:r>
              <a:rPr lang="en-US" sz="15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5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sz="1500" dirty="0" err="1" smtClean="0">
                <a:latin typeface="Arial" pitchFamily="34" charset="0"/>
                <a:cs typeface="Arial" pitchFamily="34" charset="0"/>
              </a:rPr>
              <a:t>tumour</a:t>
            </a:r>
            <a:r>
              <a:rPr lang="en-US" sz="1500" dirty="0" smtClean="0">
                <a:latin typeface="Arial" pitchFamily="34" charset="0"/>
                <a:cs typeface="Arial" pitchFamily="34" charset="0"/>
              </a:rPr>
              <a:t> is of no clinical significance except, it may produce visible swelling.</a:t>
            </a:r>
            <a:endParaRPr lang="en-US" sz="15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62700" y="5219701"/>
            <a:ext cx="58293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u="sng" dirty="0" smtClean="0">
                <a:latin typeface="Arial" pitchFamily="34" charset="0"/>
                <a:cs typeface="Arial" pitchFamily="34" charset="0"/>
              </a:rPr>
              <a:t>CONCLUSION:</a:t>
            </a:r>
          </a:p>
          <a:p>
            <a:pPr>
              <a:buFont typeface="Arial" pitchFamily="34" charset="0"/>
              <a:buChar char="•"/>
            </a:pP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Benign </a:t>
            </a:r>
            <a:r>
              <a:rPr lang="en-US" sz="1500" b="1" dirty="0" err="1" smtClean="0">
                <a:latin typeface="Arial" pitchFamily="34" charset="0"/>
                <a:cs typeface="Arial" pitchFamily="34" charset="0"/>
              </a:rPr>
              <a:t>osteoma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usually arises in </a:t>
            </a:r>
            <a:r>
              <a:rPr lang="en-US" sz="1500" b="1" dirty="0" err="1" smtClean="0">
                <a:latin typeface="Arial" pitchFamily="34" charset="0"/>
                <a:cs typeface="Arial" pitchFamily="34" charset="0"/>
              </a:rPr>
              <a:t>paranasal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sinuses and   </a:t>
            </a:r>
          </a:p>
          <a:p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US" sz="1500" b="1" dirty="0" err="1" smtClean="0">
                <a:latin typeface="Arial" pitchFamily="34" charset="0"/>
                <a:cs typeface="Arial" pitchFamily="34" charset="0"/>
              </a:rPr>
              <a:t>calvaria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and is uncommon in long bones.</a:t>
            </a:r>
          </a:p>
          <a:p>
            <a:pPr>
              <a:buFont typeface="Arial" pitchFamily="34" charset="0"/>
              <a:buChar char="•"/>
            </a:pP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Furthermore, En Bloc excision with internal fixation with  </a:t>
            </a:r>
          </a:p>
          <a:p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US" sz="1500" b="1" dirty="0" err="1" smtClean="0">
                <a:latin typeface="Arial" pitchFamily="34" charset="0"/>
                <a:cs typeface="Arial" pitchFamily="34" charset="0"/>
              </a:rPr>
              <a:t>autologous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500" b="1" dirty="0" err="1" smtClean="0">
                <a:latin typeface="Arial" pitchFamily="34" charset="0"/>
                <a:cs typeface="Arial" pitchFamily="34" charset="0"/>
              </a:rPr>
              <a:t>ipsilateral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fibular </a:t>
            </a:r>
            <a:r>
              <a:rPr lang="en-US" sz="1500" b="1" dirty="0" err="1" smtClean="0">
                <a:latin typeface="Arial" pitchFamily="34" charset="0"/>
                <a:cs typeface="Arial" pitchFamily="34" charset="0"/>
              </a:rPr>
              <a:t>autograft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of the lesion gave  </a:t>
            </a:r>
          </a:p>
          <a:p>
            <a:r>
              <a:rPr lang="en-US" sz="1500" b="1" dirty="0" smtClean="0">
                <a:latin typeface="Arial" pitchFamily="34" charset="0"/>
                <a:cs typeface="Arial" pitchFamily="34" charset="0"/>
              </a:rPr>
              <a:t>  excellent results with functional ROM in our </a:t>
            </a:r>
            <a:r>
              <a:rPr lang="en-US" sz="1500" b="1" dirty="0" smtClean="0">
                <a:latin typeface="Arial" pitchFamily="34" charset="0"/>
                <a:cs typeface="Arial" pitchFamily="34" charset="0"/>
              </a:rPr>
              <a:t>patient.</a:t>
            </a:r>
            <a:endParaRPr lang="en-US" sz="15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8" name="Picture 2" descr="C:\Users\akhil\Downloads\WhatsApp Image 2024-01-13 at 11.07.10 AM.jpe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6505"/>
          <a:stretch/>
        </p:blipFill>
        <p:spPr bwMode="auto">
          <a:xfrm>
            <a:off x="3184506" y="2451100"/>
            <a:ext cx="1053664" cy="965199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C:\Users\akhil\Downloads\WhatsApp Image 2024-01-17 at 5.03.29 PM.jpe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68559" y="4396439"/>
            <a:ext cx="1127611" cy="744514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xmlns="" id="{7650DAC0-40D0-113A-AC1D-7380DD1A664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47782" y="4381499"/>
            <a:ext cx="1108517" cy="724937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1727200" y="1638300"/>
            <a:ext cx="48641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3" defTabSz="640080">
              <a:buFont typeface="Arial" pitchFamily="34" charset="0"/>
              <a:buChar char="•"/>
            </a:pPr>
            <a:r>
              <a:rPr lang="en-US" sz="13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X-ray shows bony swelling with   </a:t>
            </a:r>
          </a:p>
          <a:p>
            <a:pPr lvl="3" defTabSz="640080"/>
            <a:r>
              <a:rPr lang="en-US" sz="13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sclerotic borders with  </a:t>
            </a:r>
          </a:p>
          <a:p>
            <a:pPr lvl="3" defTabSz="640080"/>
            <a:r>
              <a:rPr lang="en-US" sz="13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extension into soft tissue and  </a:t>
            </a:r>
          </a:p>
          <a:p>
            <a:pPr lvl="3" defTabSz="640080"/>
            <a:r>
              <a:rPr lang="en-US" sz="13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300" b="1" dirty="0" err="1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medullary</a:t>
            </a:r>
            <a:r>
              <a:rPr lang="en-US" sz="13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cavity with breach in cortex</a:t>
            </a:r>
            <a:endParaRPr lang="en-US" sz="13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78300" y="2540000"/>
            <a:ext cx="23241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300" b="1" dirty="0" smtClean="0">
                <a:latin typeface="Arial" pitchFamily="34" charset="0"/>
                <a:cs typeface="Arial" pitchFamily="34" charset="0"/>
              </a:rPr>
              <a:t>MRI right forearm shows   </a:t>
            </a:r>
          </a:p>
          <a:p>
            <a:r>
              <a:rPr lang="en-US" sz="1300" b="1" dirty="0" smtClean="0">
                <a:latin typeface="Arial" pitchFamily="34" charset="0"/>
                <a:cs typeface="Arial" pitchFamily="34" charset="0"/>
              </a:rPr>
              <a:t>  likely ossifying </a:t>
            </a:r>
            <a:r>
              <a:rPr lang="en-US" sz="1300" b="1" dirty="0" err="1" smtClean="0">
                <a:latin typeface="Arial" pitchFamily="34" charset="0"/>
                <a:cs typeface="Arial" pitchFamily="34" charset="0"/>
              </a:rPr>
              <a:t>fibroma</a:t>
            </a:r>
            <a:endParaRPr lang="en-US" sz="13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 descr="C:\Users\itsyo\Downloads\WhatsApp Image 2026-02-02 at 23.11.52 (1).jpe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0756901" y="3633107"/>
            <a:ext cx="914399" cy="1110341"/>
          </a:xfrm>
          <a:prstGeom prst="rect">
            <a:avLst/>
          </a:prstGeom>
          <a:noFill/>
        </p:spPr>
      </p:pic>
      <p:pic>
        <p:nvPicPr>
          <p:cNvPr id="1027" name="Picture 3" descr="C:\Users\itsyo\Downloads\WhatsApp Image 2026-02-02 at 23.11.52.jpe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823200" y="3606799"/>
            <a:ext cx="903252" cy="1162049"/>
          </a:xfrm>
          <a:prstGeom prst="rect">
            <a:avLst/>
          </a:prstGeom>
          <a:noFill/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xmlns="" id="{09C5F6CF-6C3E-761B-DA73-04CBA1E1C81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50084" y="3748891"/>
            <a:ext cx="1306881" cy="86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073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379</Words>
  <Application>Microsoft Office PowerPoint</Application>
  <PresentationFormat>Custom</PresentationFormat>
  <Paragraphs>61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Virinchi Vinay</dc:creator>
  <cp:lastModifiedBy>SHAIK FAHEEM AKRAM</cp:lastModifiedBy>
  <cp:revision>17</cp:revision>
  <dcterms:created xsi:type="dcterms:W3CDTF">2026-01-11T06:24:43Z</dcterms:created>
  <dcterms:modified xsi:type="dcterms:W3CDTF">2026-02-02T17:57:27Z</dcterms:modified>
</cp:coreProperties>
</file>