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12192000" y="0"/>
                </a:moveTo>
                <a:lnTo>
                  <a:pt x="0" y="0"/>
                </a:lnTo>
                <a:lnTo>
                  <a:pt x="0" y="1280160"/>
                </a:lnTo>
                <a:lnTo>
                  <a:pt x="12192000" y="12801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22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0" y="0"/>
                </a:moveTo>
                <a:lnTo>
                  <a:pt x="12192000" y="0"/>
                </a:lnTo>
                <a:lnTo>
                  <a:pt x="121920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2565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06878" y="74821"/>
            <a:ext cx="1043153" cy="10431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47310" y="123390"/>
            <a:ext cx="884047" cy="88404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27894" y="192302"/>
            <a:ext cx="785939" cy="7859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6695" y="84679"/>
            <a:ext cx="5643880" cy="1056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30"/>
              </a:lnSpc>
              <a:tabLst>
                <a:tab pos="582295" algn="l"/>
              </a:tabLst>
            </a:pP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baseline="31400" sz="1725" spc="-3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dirty="0" baseline="31400" sz="172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-9525" y="-9525"/>
            <a:ext cx="12211050" cy="1304290"/>
            <a:chOff x="-9525" y="-9525"/>
            <a:chExt cx="12211050" cy="13042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814" y="14254"/>
              <a:ext cx="1505559" cy="128016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1280160"/>
            </a:xfrm>
            <a:custGeom>
              <a:avLst/>
              <a:gdLst/>
              <a:ahLst/>
              <a:cxnLst/>
              <a:rect l="l" t="t" r="r" b="b"/>
              <a:pathLst>
                <a:path w="12192000" h="1280160">
                  <a:moveTo>
                    <a:pt x="12192000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12192000" y="128016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122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0"/>
              <a:ext cx="12192000" cy="1280160"/>
            </a:xfrm>
            <a:custGeom>
              <a:avLst/>
              <a:gdLst/>
              <a:ahLst/>
              <a:cxnLst/>
              <a:rect l="l" t="t" r="r" b="b"/>
              <a:pathLst>
                <a:path w="12192000" h="1280160">
                  <a:moveTo>
                    <a:pt x="0" y="0"/>
                  </a:moveTo>
                  <a:lnTo>
                    <a:pt x="12192000" y="0"/>
                  </a:lnTo>
                  <a:lnTo>
                    <a:pt x="1219200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256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6878" y="74821"/>
              <a:ext cx="1043153" cy="104315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7310" y="123390"/>
              <a:ext cx="884047" cy="88404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27894" y="192302"/>
              <a:ext cx="785939" cy="78593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628595" y="-24404"/>
            <a:ext cx="46863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/>
              <a:t>55</a:t>
            </a:r>
            <a:r>
              <a:rPr dirty="0" sz="1150" spc="-20"/>
              <a:t>th</a:t>
            </a:r>
            <a:endParaRPr sz="1150"/>
          </a:p>
        </p:txBody>
      </p:sp>
      <p:sp>
        <p:nvSpPr>
          <p:cNvPr id="11" name="object 11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-9525" y="14254"/>
            <a:ext cx="12211050" cy="6853555"/>
            <a:chOff x="-9525" y="14254"/>
            <a:chExt cx="12211050" cy="6853555"/>
          </a:xfrm>
        </p:grpSpPr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814" y="14254"/>
              <a:ext cx="1505559" cy="128016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0" y="1674799"/>
              <a:ext cx="3108960" cy="3330575"/>
            </a:xfrm>
            <a:custGeom>
              <a:avLst/>
              <a:gdLst/>
              <a:ahLst/>
              <a:cxnLst/>
              <a:rect l="l" t="t" r="r" b="b"/>
              <a:pathLst>
                <a:path w="3108960" h="3330575">
                  <a:moveTo>
                    <a:pt x="0" y="0"/>
                  </a:moveTo>
                  <a:lnTo>
                    <a:pt x="3108960" y="0"/>
                  </a:lnTo>
                  <a:lnTo>
                    <a:pt x="3108960" y="3330346"/>
                  </a:lnTo>
                  <a:lnTo>
                    <a:pt x="0" y="3330346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0" y="5080533"/>
              <a:ext cx="3108960" cy="1778000"/>
            </a:xfrm>
            <a:custGeom>
              <a:avLst/>
              <a:gdLst/>
              <a:ahLst/>
              <a:cxnLst/>
              <a:rect l="l" t="t" r="r" b="b"/>
              <a:pathLst>
                <a:path w="3108960" h="1778000">
                  <a:moveTo>
                    <a:pt x="0" y="0"/>
                  </a:moveTo>
                  <a:lnTo>
                    <a:pt x="3108960" y="0"/>
                  </a:lnTo>
                  <a:lnTo>
                    <a:pt x="3108960" y="1777466"/>
                  </a:lnTo>
                  <a:lnTo>
                    <a:pt x="0" y="1777466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37535" y="1280159"/>
              <a:ext cx="4358005" cy="5577840"/>
            </a:xfrm>
            <a:custGeom>
              <a:avLst/>
              <a:gdLst/>
              <a:ahLst/>
              <a:cxnLst/>
              <a:rect l="l" t="t" r="r" b="b"/>
              <a:pathLst>
                <a:path w="4358005" h="5577840">
                  <a:moveTo>
                    <a:pt x="0" y="0"/>
                  </a:moveTo>
                  <a:lnTo>
                    <a:pt x="4358005" y="0"/>
                  </a:lnTo>
                  <a:lnTo>
                    <a:pt x="4358005" y="5577840"/>
                  </a:lnTo>
                  <a:lnTo>
                    <a:pt x="0" y="557784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513319" y="1303019"/>
              <a:ext cx="4678680" cy="2694305"/>
            </a:xfrm>
            <a:custGeom>
              <a:avLst/>
              <a:gdLst/>
              <a:ahLst/>
              <a:cxnLst/>
              <a:rect l="l" t="t" r="r" b="b"/>
              <a:pathLst>
                <a:path w="4678680" h="2694304">
                  <a:moveTo>
                    <a:pt x="0" y="0"/>
                  </a:moveTo>
                  <a:lnTo>
                    <a:pt x="4678680" y="0"/>
                  </a:lnTo>
                  <a:lnTo>
                    <a:pt x="4678680" y="2694304"/>
                  </a:lnTo>
                  <a:lnTo>
                    <a:pt x="0" y="269430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513319" y="4000499"/>
              <a:ext cx="4678680" cy="2857500"/>
            </a:xfrm>
            <a:custGeom>
              <a:avLst/>
              <a:gdLst/>
              <a:ahLst/>
              <a:cxnLst/>
              <a:rect l="l" t="t" r="r" b="b"/>
              <a:pathLst>
                <a:path w="4678680" h="2857500">
                  <a:moveTo>
                    <a:pt x="0" y="0"/>
                  </a:moveTo>
                  <a:lnTo>
                    <a:pt x="4678680" y="0"/>
                  </a:lnTo>
                  <a:lnTo>
                    <a:pt x="4678680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0" y="1280159"/>
              <a:ext cx="3108960" cy="394970"/>
            </a:xfrm>
            <a:custGeom>
              <a:avLst/>
              <a:gdLst/>
              <a:ahLst/>
              <a:cxnLst/>
              <a:rect l="l" t="t" r="r" b="b"/>
              <a:pathLst>
                <a:path w="3108960" h="394969">
                  <a:moveTo>
                    <a:pt x="3108960" y="0"/>
                  </a:moveTo>
                  <a:lnTo>
                    <a:pt x="0" y="0"/>
                  </a:lnTo>
                  <a:lnTo>
                    <a:pt x="0" y="394639"/>
                  </a:lnTo>
                  <a:lnTo>
                    <a:pt x="3108960" y="394639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0" y="1280159"/>
              <a:ext cx="3108960" cy="394970"/>
            </a:xfrm>
            <a:custGeom>
              <a:avLst/>
              <a:gdLst/>
              <a:ahLst/>
              <a:cxnLst/>
              <a:rect l="l" t="t" r="r" b="b"/>
              <a:pathLst>
                <a:path w="3108960" h="394969">
                  <a:moveTo>
                    <a:pt x="0" y="0"/>
                  </a:moveTo>
                  <a:lnTo>
                    <a:pt x="3108960" y="0"/>
                  </a:lnTo>
                  <a:lnTo>
                    <a:pt x="3108960" y="394639"/>
                  </a:lnTo>
                  <a:lnTo>
                    <a:pt x="0" y="39463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65739" y="1322781"/>
            <a:ext cx="17773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INTRODUCTION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126739" y="4734559"/>
            <a:ext cx="4368165" cy="413384"/>
            <a:chOff x="3126739" y="4734559"/>
            <a:chExt cx="4368165" cy="413384"/>
          </a:xfrm>
        </p:grpSpPr>
        <p:sp>
          <p:nvSpPr>
            <p:cNvPr id="24" name="object 24" descr=""/>
            <p:cNvSpPr/>
            <p:nvPr/>
          </p:nvSpPr>
          <p:spPr>
            <a:xfrm>
              <a:off x="3136264" y="4744084"/>
              <a:ext cx="4349115" cy="394335"/>
            </a:xfrm>
            <a:custGeom>
              <a:avLst/>
              <a:gdLst/>
              <a:ahLst/>
              <a:cxnLst/>
              <a:rect l="l" t="t" r="r" b="b"/>
              <a:pathLst>
                <a:path w="4349115" h="394335">
                  <a:moveTo>
                    <a:pt x="4349115" y="0"/>
                  </a:moveTo>
                  <a:lnTo>
                    <a:pt x="0" y="0"/>
                  </a:lnTo>
                  <a:lnTo>
                    <a:pt x="0" y="394335"/>
                  </a:lnTo>
                  <a:lnTo>
                    <a:pt x="4349115" y="394335"/>
                  </a:lnTo>
                  <a:lnTo>
                    <a:pt x="4349115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136264" y="4744084"/>
              <a:ext cx="4349115" cy="394335"/>
            </a:xfrm>
            <a:custGeom>
              <a:avLst/>
              <a:gdLst/>
              <a:ahLst/>
              <a:cxnLst/>
              <a:rect l="l" t="t" r="r" b="b"/>
              <a:pathLst>
                <a:path w="4349115" h="394335">
                  <a:moveTo>
                    <a:pt x="0" y="0"/>
                  </a:moveTo>
                  <a:lnTo>
                    <a:pt x="4349115" y="0"/>
                  </a:lnTo>
                  <a:lnTo>
                    <a:pt x="4349115" y="394335"/>
                  </a:lnTo>
                  <a:lnTo>
                    <a:pt x="0" y="39433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059930" y="4786553"/>
            <a:ext cx="2501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0D0D"/>
                </a:solidFill>
                <a:latin typeface="Arial"/>
                <a:cs typeface="Arial"/>
              </a:rPr>
              <a:t>OPERATIVE</a:t>
            </a:r>
            <a:r>
              <a:rPr dirty="0" sz="1800" spc="-5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D0D0D"/>
                </a:solidFill>
                <a:latin typeface="Arial"/>
                <a:cs typeface="Arial"/>
              </a:rPr>
              <a:t>FINDINGS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3145789" y="1273175"/>
            <a:ext cx="4330065" cy="413384"/>
            <a:chOff x="3145789" y="1273175"/>
            <a:chExt cx="4330065" cy="413384"/>
          </a:xfrm>
        </p:grpSpPr>
        <p:sp>
          <p:nvSpPr>
            <p:cNvPr id="28" name="object 28" descr=""/>
            <p:cNvSpPr/>
            <p:nvPr/>
          </p:nvSpPr>
          <p:spPr>
            <a:xfrm>
              <a:off x="3155314" y="1282700"/>
              <a:ext cx="4311015" cy="394335"/>
            </a:xfrm>
            <a:custGeom>
              <a:avLst/>
              <a:gdLst/>
              <a:ahLst/>
              <a:cxnLst/>
              <a:rect l="l" t="t" r="r" b="b"/>
              <a:pathLst>
                <a:path w="4311015" h="394335">
                  <a:moveTo>
                    <a:pt x="4311015" y="0"/>
                  </a:moveTo>
                  <a:lnTo>
                    <a:pt x="0" y="0"/>
                  </a:lnTo>
                  <a:lnTo>
                    <a:pt x="0" y="394335"/>
                  </a:lnTo>
                  <a:lnTo>
                    <a:pt x="4311015" y="394335"/>
                  </a:lnTo>
                  <a:lnTo>
                    <a:pt x="4311015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155314" y="1282700"/>
              <a:ext cx="4311015" cy="394335"/>
            </a:xfrm>
            <a:custGeom>
              <a:avLst/>
              <a:gdLst/>
              <a:ahLst/>
              <a:cxnLst/>
              <a:rect l="l" t="t" r="r" b="b"/>
              <a:pathLst>
                <a:path w="4311015" h="394335">
                  <a:moveTo>
                    <a:pt x="0" y="0"/>
                  </a:moveTo>
                  <a:lnTo>
                    <a:pt x="4311015" y="0"/>
                  </a:lnTo>
                  <a:lnTo>
                    <a:pt x="4311015" y="394335"/>
                  </a:lnTo>
                  <a:lnTo>
                    <a:pt x="0" y="39433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472702" y="1325168"/>
            <a:ext cx="16757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0D0D"/>
                </a:solidFill>
                <a:latin typeface="Arial"/>
                <a:cs typeface="Arial"/>
              </a:rPr>
              <a:t>CASE</a:t>
            </a:r>
            <a:r>
              <a:rPr dirty="0" sz="1800" spc="-10" b="1">
                <a:solidFill>
                  <a:srgbClr val="0D0D0D"/>
                </a:solidFill>
                <a:latin typeface="Arial"/>
                <a:cs typeface="Arial"/>
              </a:rPr>
              <a:t> REPORT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514590" y="3990975"/>
            <a:ext cx="4686935" cy="413384"/>
            <a:chOff x="7514590" y="3990975"/>
            <a:chExt cx="4686935" cy="413384"/>
          </a:xfrm>
        </p:grpSpPr>
        <p:sp>
          <p:nvSpPr>
            <p:cNvPr id="32" name="object 32" descr=""/>
            <p:cNvSpPr/>
            <p:nvPr/>
          </p:nvSpPr>
          <p:spPr>
            <a:xfrm>
              <a:off x="7524115" y="4000500"/>
              <a:ext cx="4667885" cy="394335"/>
            </a:xfrm>
            <a:custGeom>
              <a:avLst/>
              <a:gdLst/>
              <a:ahLst/>
              <a:cxnLst/>
              <a:rect l="l" t="t" r="r" b="b"/>
              <a:pathLst>
                <a:path w="4667884" h="394335">
                  <a:moveTo>
                    <a:pt x="4667884" y="0"/>
                  </a:moveTo>
                  <a:lnTo>
                    <a:pt x="0" y="0"/>
                  </a:lnTo>
                  <a:lnTo>
                    <a:pt x="0" y="394335"/>
                  </a:lnTo>
                  <a:lnTo>
                    <a:pt x="4667884" y="394335"/>
                  </a:lnTo>
                  <a:lnTo>
                    <a:pt x="4667884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524115" y="4000500"/>
              <a:ext cx="4667885" cy="394335"/>
            </a:xfrm>
            <a:custGeom>
              <a:avLst/>
              <a:gdLst/>
              <a:ahLst/>
              <a:cxnLst/>
              <a:rect l="l" t="t" r="r" b="b"/>
              <a:pathLst>
                <a:path w="4667884" h="394335">
                  <a:moveTo>
                    <a:pt x="4667884" y="394335"/>
                  </a:moveTo>
                  <a:lnTo>
                    <a:pt x="0" y="394335"/>
                  </a:lnTo>
                  <a:lnTo>
                    <a:pt x="0" y="0"/>
                  </a:lnTo>
                  <a:lnTo>
                    <a:pt x="4667884" y="0"/>
                  </a:lnTo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8060151" y="4042968"/>
            <a:ext cx="36055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0D0D"/>
                </a:solidFill>
                <a:latin typeface="Arial"/>
                <a:cs typeface="Arial"/>
              </a:rPr>
              <a:t>DISCUSSION</a:t>
            </a:r>
            <a:r>
              <a:rPr dirty="0" sz="1800" spc="-4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D0D0D"/>
                </a:solidFill>
                <a:latin typeface="Arial"/>
                <a:cs typeface="Arial"/>
              </a:rPr>
              <a:t>AND</a:t>
            </a:r>
            <a:r>
              <a:rPr dirty="0" sz="1800" spc="-4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D0D0D"/>
                </a:solidFill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8739" y="1725167"/>
            <a:ext cx="2947035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Distal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humeral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physeal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separation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is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01224D"/>
                </a:solidFill>
                <a:latin typeface="Calibri"/>
                <a:cs typeface="Calibri"/>
              </a:rPr>
              <a:t>a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rare</a:t>
            </a:r>
            <a:r>
              <a:rPr dirty="0" sz="1500" spc="-5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injury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in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infants,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accounting</a:t>
            </a:r>
            <a:r>
              <a:rPr dirty="0" sz="1500" spc="-4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for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approximately</a:t>
            </a:r>
            <a:r>
              <a:rPr dirty="0" sz="1500" spc="-4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1.6%</a:t>
            </a:r>
            <a:r>
              <a:rPr dirty="0" sz="1500" spc="-4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of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distal</a:t>
            </a:r>
            <a:r>
              <a:rPr dirty="0" sz="1500" spc="-4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humeral fractures.</a:t>
            </a:r>
            <a:r>
              <a:rPr dirty="0" sz="1500" spc="-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It occurs</a:t>
            </a:r>
            <a:r>
              <a:rPr dirty="0" sz="1500" spc="-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predominantly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in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children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younger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than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2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years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and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should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raise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a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high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index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of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suspicion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for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non-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accidental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trauma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(NAT).</a:t>
            </a:r>
            <a:endParaRPr sz="1500">
              <a:latin typeface="Calibri"/>
              <a:cs typeface="Calibri"/>
            </a:endParaRPr>
          </a:p>
          <a:p>
            <a:pPr marL="12700" marR="41910">
              <a:lnSpc>
                <a:spcPct val="100000"/>
              </a:lnSpc>
            </a:pP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Rotational</a:t>
            </a:r>
            <a:r>
              <a:rPr dirty="0" sz="1500" spc="-5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shear</a:t>
            </a:r>
            <a:r>
              <a:rPr dirty="0" sz="1500" spc="-5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forces,</a:t>
            </a:r>
            <a:r>
              <a:rPr dirty="0" sz="1500" spc="-5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either</a:t>
            </a:r>
            <a:r>
              <a:rPr dirty="0" sz="1500" spc="-5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during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birth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or</a:t>
            </a:r>
            <a:r>
              <a:rPr dirty="0" sz="1500" spc="-2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due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to</a:t>
            </a:r>
            <a:r>
              <a:rPr dirty="0" sz="1500" spc="-2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child</a:t>
            </a:r>
            <a:r>
              <a:rPr dirty="0" sz="1500" spc="-2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abuse,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are</a:t>
            </a:r>
            <a:r>
              <a:rPr dirty="0" sz="1500" spc="-2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the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usual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mechanisms.</a:t>
            </a:r>
            <a:endParaRPr sz="1500">
              <a:latin typeface="Calibri"/>
              <a:cs typeface="Calibri"/>
            </a:endParaRPr>
          </a:p>
          <a:p>
            <a:pPr marL="12700" marR="159385">
              <a:lnSpc>
                <a:spcPct val="100000"/>
              </a:lnSpc>
            </a:pP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Owing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to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incomplete</a:t>
            </a:r>
            <a:r>
              <a:rPr dirty="0" sz="1500" spc="-3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ossification,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these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injuries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are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frequently</a:t>
            </a:r>
            <a:r>
              <a:rPr dirty="0" sz="1500" spc="-3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missed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or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misdiagnosed</a:t>
            </a:r>
            <a:r>
              <a:rPr dirty="0" sz="1500" spc="-20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as</a:t>
            </a:r>
            <a:r>
              <a:rPr dirty="0" sz="1500" spc="-2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elbow dislocations</a:t>
            </a:r>
            <a:r>
              <a:rPr dirty="0" sz="1500">
                <a:solidFill>
                  <a:srgbClr val="01224D"/>
                </a:solidFill>
                <a:latin typeface="Calibri"/>
                <a:cs typeface="Calibri"/>
              </a:rPr>
              <a:t> or</a:t>
            </a:r>
            <a:r>
              <a:rPr dirty="0" sz="1500" spc="5">
                <a:solidFill>
                  <a:srgbClr val="01224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1224D"/>
                </a:solidFill>
                <a:latin typeface="Calibri"/>
                <a:cs typeface="Calibri"/>
              </a:rPr>
              <a:t>infections.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0" y="3018154"/>
            <a:ext cx="7499350" cy="3708400"/>
            <a:chOff x="0" y="3018154"/>
            <a:chExt cx="7499350" cy="3708400"/>
          </a:xfrm>
        </p:grpSpPr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280659"/>
              <a:ext cx="1438275" cy="144589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137535" y="3027679"/>
              <a:ext cx="4352290" cy="394335"/>
            </a:xfrm>
            <a:custGeom>
              <a:avLst/>
              <a:gdLst/>
              <a:ahLst/>
              <a:cxnLst/>
              <a:rect l="l" t="t" r="r" b="b"/>
              <a:pathLst>
                <a:path w="4352290" h="394335">
                  <a:moveTo>
                    <a:pt x="4352290" y="0"/>
                  </a:moveTo>
                  <a:lnTo>
                    <a:pt x="0" y="0"/>
                  </a:lnTo>
                  <a:lnTo>
                    <a:pt x="0" y="394335"/>
                  </a:lnTo>
                  <a:lnTo>
                    <a:pt x="4352290" y="394335"/>
                  </a:lnTo>
                  <a:lnTo>
                    <a:pt x="4352290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137535" y="3027679"/>
              <a:ext cx="4352290" cy="394335"/>
            </a:xfrm>
            <a:custGeom>
              <a:avLst/>
              <a:gdLst/>
              <a:ahLst/>
              <a:cxnLst/>
              <a:rect l="l" t="t" r="r" b="b"/>
              <a:pathLst>
                <a:path w="4352290" h="394335">
                  <a:moveTo>
                    <a:pt x="0" y="0"/>
                  </a:moveTo>
                  <a:lnTo>
                    <a:pt x="4352290" y="0"/>
                  </a:lnTo>
                  <a:lnTo>
                    <a:pt x="4352290" y="394335"/>
                  </a:lnTo>
                  <a:lnTo>
                    <a:pt x="0" y="39433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3255009" y="1765617"/>
            <a:ext cx="4105910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"/>
                <a:cs typeface="Arial"/>
              </a:rPr>
              <a:t>A</a:t>
            </a:r>
            <a:r>
              <a:rPr dirty="0" sz="1300" spc="-20">
                <a:latin typeface="Arial"/>
                <a:cs typeface="Arial"/>
              </a:rPr>
              <a:t> 6-month-</a:t>
            </a:r>
            <a:r>
              <a:rPr dirty="0" sz="1300">
                <a:latin typeface="Arial"/>
                <a:cs typeface="Arial"/>
              </a:rPr>
              <a:t>old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infant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presented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with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right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elbow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swelling </a:t>
            </a:r>
            <a:r>
              <a:rPr dirty="0" sz="1300">
                <a:latin typeface="Arial"/>
                <a:cs typeface="Arial"/>
              </a:rPr>
              <a:t>and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deformity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6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days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after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an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alleged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fall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from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bed,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with </a:t>
            </a:r>
            <a:r>
              <a:rPr dirty="0" sz="1300">
                <a:latin typeface="Arial"/>
                <a:cs typeface="Arial"/>
              </a:rPr>
              <a:t>history</a:t>
            </a:r>
            <a:r>
              <a:rPr dirty="0" sz="1300" spc="-6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of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massage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following</a:t>
            </a:r>
            <a:r>
              <a:rPr dirty="0" sz="1300" spc="-6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trauma.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Examination </a:t>
            </a:r>
            <a:r>
              <a:rPr dirty="0" sz="1300">
                <a:latin typeface="Arial"/>
                <a:cs typeface="Arial"/>
              </a:rPr>
              <a:t>revealed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painful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restriction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of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movement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with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multiple </a:t>
            </a:r>
            <a:r>
              <a:rPr dirty="0" sz="1300">
                <a:latin typeface="Arial"/>
                <a:cs typeface="Arial"/>
              </a:rPr>
              <a:t>healing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abrasions,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raising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high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index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of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suspicion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for </a:t>
            </a:r>
            <a:r>
              <a:rPr dirty="0" sz="1300" spc="-20">
                <a:latin typeface="Arial"/>
                <a:cs typeface="Arial"/>
              </a:rPr>
              <a:t>non-</a:t>
            </a:r>
            <a:r>
              <a:rPr dirty="0" sz="1300" spc="-10">
                <a:latin typeface="Arial"/>
                <a:cs typeface="Arial"/>
              </a:rPr>
              <a:t>accidental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trauma.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840717" y="3070148"/>
            <a:ext cx="2945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0D0D"/>
                </a:solidFill>
                <a:latin typeface="Arial"/>
                <a:cs typeface="Arial"/>
              </a:rPr>
              <a:t>RADIOLOGICAL</a:t>
            </a:r>
            <a:r>
              <a:rPr dirty="0" sz="1800" spc="-1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D0D0D"/>
                </a:solidFill>
                <a:latin typeface="Arial"/>
                <a:cs typeface="Arial"/>
              </a:rPr>
              <a:t>FINDINGS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242945" y="3451542"/>
            <a:ext cx="4116070" cy="1412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"/>
                <a:cs typeface="Arial"/>
              </a:rPr>
              <a:t>Plain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radiographs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revealed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postero-</a:t>
            </a:r>
            <a:r>
              <a:rPr dirty="0" sz="1300" spc="-10">
                <a:latin typeface="Arial"/>
                <a:cs typeface="Arial"/>
              </a:rPr>
              <a:t>medial</a:t>
            </a:r>
            <a:r>
              <a:rPr dirty="0" sz="1300" spc="50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displacement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of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the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forearm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axis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relative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to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the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distal </a:t>
            </a:r>
            <a:r>
              <a:rPr dirty="0" sz="1300">
                <a:latin typeface="Arial"/>
                <a:cs typeface="Arial"/>
              </a:rPr>
              <a:t>humerus,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pathognomonic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sign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of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distal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humeral </a:t>
            </a:r>
            <a:r>
              <a:rPr dirty="0" sz="1300">
                <a:latin typeface="Arial"/>
                <a:cs typeface="Arial"/>
              </a:rPr>
              <a:t>physeal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separation.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Periosteal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reaction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was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noted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in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the </a:t>
            </a:r>
            <a:r>
              <a:rPr dirty="0" sz="1300" spc="-10">
                <a:latin typeface="Arial"/>
                <a:cs typeface="Arial"/>
              </a:rPr>
              <a:t>ipsilateral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proximal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humerus.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injury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was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classified</a:t>
            </a:r>
            <a:r>
              <a:rPr dirty="0" sz="1300" spc="50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as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DeLee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Group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transphyseal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distal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humeral separation.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3265804" y="5222557"/>
            <a:ext cx="2355215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"/>
                <a:cs typeface="Arial"/>
              </a:rPr>
              <a:t>Due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to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suspected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NAT,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delayed presentation,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and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significant </a:t>
            </a:r>
            <a:r>
              <a:rPr dirty="0" sz="1300">
                <a:latin typeface="Arial"/>
                <a:cs typeface="Arial"/>
              </a:rPr>
              <a:t>swelling,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the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patient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underwent </a:t>
            </a:r>
            <a:r>
              <a:rPr dirty="0" sz="1300">
                <a:latin typeface="Arial"/>
                <a:cs typeface="Arial"/>
              </a:rPr>
              <a:t>operative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management.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Under anesthesia,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instability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at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the </a:t>
            </a:r>
            <a:r>
              <a:rPr dirty="0" sz="1300">
                <a:latin typeface="Arial"/>
                <a:cs typeface="Arial"/>
              </a:rPr>
              <a:t>distal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humeral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physis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was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265804" y="6411277"/>
            <a:ext cx="7950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Arial"/>
                <a:cs typeface="Arial"/>
              </a:rPr>
              <a:t>confirmed.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653019" y="1340802"/>
            <a:ext cx="45097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Arial"/>
                <a:cs typeface="Arial"/>
              </a:rPr>
              <a:t>percutaneous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K-</a:t>
            </a:r>
            <a:r>
              <a:rPr dirty="0" sz="1300">
                <a:latin typeface="Arial"/>
                <a:cs typeface="Arial"/>
              </a:rPr>
              <a:t>wire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fixation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to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maintain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stable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alignment.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No </a:t>
            </a:r>
            <a:r>
              <a:rPr dirty="0" sz="1300" spc="-10">
                <a:latin typeface="Arial"/>
                <a:cs typeface="Arial"/>
              </a:rPr>
              <a:t>intra-</a:t>
            </a:r>
            <a:r>
              <a:rPr dirty="0" sz="1300">
                <a:latin typeface="Arial"/>
                <a:cs typeface="Arial"/>
              </a:rPr>
              <a:t>operative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neurovascular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compromise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was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noted.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1517650" y="5169534"/>
            <a:ext cx="5949315" cy="1468755"/>
            <a:chOff x="1517650" y="5169534"/>
            <a:chExt cx="5949315" cy="1468755"/>
          </a:xfrm>
        </p:grpSpPr>
        <p:pic>
          <p:nvPicPr>
            <p:cNvPr id="47" name="object 4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7650" y="5288914"/>
              <a:ext cx="1541145" cy="1349375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000" y="5169534"/>
              <a:ext cx="1878965" cy="1261110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7613650" y="4398695"/>
            <a:ext cx="4431030" cy="237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382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Distal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humeral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physeal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separation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infants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rare</a:t>
            </a:r>
            <a:r>
              <a:rPr dirty="0" sz="1400" spc="-25">
                <a:latin typeface="Arial"/>
                <a:cs typeface="Arial"/>
              </a:rPr>
              <a:t> and </a:t>
            </a:r>
            <a:r>
              <a:rPr dirty="0" sz="1400">
                <a:latin typeface="Arial"/>
                <a:cs typeface="Arial"/>
              </a:rPr>
              <a:t>often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missed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due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incomplete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ossification.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Posteromedial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displacement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forearm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axis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key </a:t>
            </a:r>
            <a:r>
              <a:rPr dirty="0" sz="1400">
                <a:latin typeface="Arial"/>
                <a:cs typeface="Arial"/>
              </a:rPr>
              <a:t>diagnostic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clue.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Delayed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presentation,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inconsistent </a:t>
            </a:r>
            <a:r>
              <a:rPr dirty="0" sz="1400">
                <a:latin typeface="Arial"/>
                <a:cs typeface="Arial"/>
              </a:rPr>
              <a:t>history,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associated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injuries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should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raise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suspicion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non-</a:t>
            </a:r>
            <a:r>
              <a:rPr dirty="0" sz="1400">
                <a:latin typeface="Arial"/>
                <a:cs typeface="Arial"/>
              </a:rPr>
              <a:t>accidental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trauma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(NAT).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Closed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reduction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>
                <a:latin typeface="Arial"/>
                <a:cs typeface="Arial"/>
              </a:rPr>
              <a:t>percutaneous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pinning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remain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treatment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choice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in </a:t>
            </a:r>
            <a:r>
              <a:rPr dirty="0" sz="1400">
                <a:latin typeface="Arial"/>
                <a:cs typeface="Arial"/>
              </a:rPr>
              <a:t>acute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cases.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Myositis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ossificans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should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managed </a:t>
            </a:r>
            <a:r>
              <a:rPr dirty="0" sz="1400">
                <a:latin typeface="Arial"/>
                <a:cs typeface="Arial"/>
              </a:rPr>
              <a:t>conservatively,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early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excision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carries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high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risk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of </a:t>
            </a:r>
            <a:r>
              <a:rPr dirty="0" sz="1400">
                <a:latin typeface="Arial"/>
                <a:cs typeface="Arial"/>
              </a:rPr>
              <a:t>recurrence.</a:t>
            </a:r>
            <a:r>
              <a:rPr dirty="0" sz="1400" spc="-10">
                <a:latin typeface="Arial"/>
                <a:cs typeface="Arial"/>
              </a:rPr>
              <a:t> Long-</a:t>
            </a:r>
            <a:r>
              <a:rPr dirty="0" sz="1400">
                <a:latin typeface="Arial"/>
                <a:cs typeface="Arial"/>
              </a:rPr>
              <a:t>term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follow-</a:t>
            </a:r>
            <a:r>
              <a:rPr dirty="0" sz="1400">
                <a:latin typeface="Arial"/>
                <a:cs typeface="Arial"/>
              </a:rPr>
              <a:t>up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essential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0">
                <a:latin typeface="Arial"/>
                <a:cs typeface="Arial"/>
              </a:rPr>
              <a:t> detect </a:t>
            </a:r>
            <a:r>
              <a:rPr dirty="0" sz="1400">
                <a:latin typeface="Arial"/>
                <a:cs typeface="Arial"/>
              </a:rPr>
              <a:t>growth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disturbances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cubitus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varus</a:t>
            </a:r>
            <a:r>
              <a:rPr dirty="0" sz="1400" spc="-10">
                <a:latin typeface="Arial"/>
                <a:cs typeface="Arial"/>
              </a:rPr>
              <a:t> deformity.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4150359" y="6435407"/>
            <a:ext cx="30060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"/>
                <a:cs typeface="Arial"/>
              </a:rPr>
              <a:t>Closed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reduction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was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achieved,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followed </a:t>
            </a:r>
            <a:r>
              <a:rPr dirty="0" sz="1300" spc="-25">
                <a:latin typeface="Arial"/>
                <a:cs typeface="Arial"/>
              </a:rPr>
              <a:t>by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7514590" y="1797050"/>
            <a:ext cx="4686935" cy="413384"/>
            <a:chOff x="7514590" y="1797050"/>
            <a:chExt cx="4686935" cy="413384"/>
          </a:xfrm>
        </p:grpSpPr>
        <p:sp>
          <p:nvSpPr>
            <p:cNvPr id="52" name="object 52" descr=""/>
            <p:cNvSpPr/>
            <p:nvPr/>
          </p:nvSpPr>
          <p:spPr>
            <a:xfrm>
              <a:off x="7524115" y="1806575"/>
              <a:ext cx="4667885" cy="394335"/>
            </a:xfrm>
            <a:custGeom>
              <a:avLst/>
              <a:gdLst/>
              <a:ahLst/>
              <a:cxnLst/>
              <a:rect l="l" t="t" r="r" b="b"/>
              <a:pathLst>
                <a:path w="4667884" h="394335">
                  <a:moveTo>
                    <a:pt x="4667884" y="0"/>
                  </a:moveTo>
                  <a:lnTo>
                    <a:pt x="0" y="0"/>
                  </a:lnTo>
                  <a:lnTo>
                    <a:pt x="0" y="394335"/>
                  </a:lnTo>
                  <a:lnTo>
                    <a:pt x="4667884" y="394335"/>
                  </a:lnTo>
                  <a:lnTo>
                    <a:pt x="4667884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524115" y="1806575"/>
              <a:ext cx="4667885" cy="394335"/>
            </a:xfrm>
            <a:custGeom>
              <a:avLst/>
              <a:gdLst/>
              <a:ahLst/>
              <a:cxnLst/>
              <a:rect l="l" t="t" r="r" b="b"/>
              <a:pathLst>
                <a:path w="4667884" h="394335">
                  <a:moveTo>
                    <a:pt x="4667884" y="394335"/>
                  </a:moveTo>
                  <a:lnTo>
                    <a:pt x="0" y="394335"/>
                  </a:lnTo>
                  <a:lnTo>
                    <a:pt x="0" y="0"/>
                  </a:lnTo>
                  <a:lnTo>
                    <a:pt x="4667884" y="0"/>
                  </a:lnTo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7602855" y="1790469"/>
            <a:ext cx="2959100" cy="5988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574800">
              <a:lnSpc>
                <a:spcPct val="100000"/>
              </a:lnSpc>
              <a:spcBef>
                <a:spcPts val="560"/>
              </a:spcBef>
            </a:pPr>
            <a:r>
              <a:rPr dirty="0" sz="1800" b="1">
                <a:solidFill>
                  <a:srgbClr val="0D0D0D"/>
                </a:solidFill>
                <a:latin typeface="Arial"/>
                <a:cs typeface="Arial"/>
              </a:rPr>
              <a:t>FOLLOW</a:t>
            </a:r>
            <a:r>
              <a:rPr dirty="0" sz="1800" spc="-5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D0D0D"/>
                </a:solidFill>
                <a:latin typeface="Arial"/>
                <a:cs typeface="Arial"/>
              </a:rPr>
              <a:t>UP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300">
                <a:latin typeface="Arial"/>
                <a:cs typeface="Arial"/>
              </a:rPr>
              <a:t>At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3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weeks,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radiographs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showed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callus</a:t>
            </a:r>
            <a:endParaRPr sz="130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7602855" y="2363787"/>
            <a:ext cx="2926080" cy="161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7314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"/>
                <a:cs typeface="Arial"/>
              </a:rPr>
              <a:t>formation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with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myositis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ossificans, </a:t>
            </a:r>
            <a:r>
              <a:rPr dirty="0" sz="1300">
                <a:latin typeface="Arial"/>
                <a:cs typeface="Arial"/>
              </a:rPr>
              <a:t>following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which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K-</a:t>
            </a:r>
            <a:r>
              <a:rPr dirty="0" sz="1300">
                <a:latin typeface="Arial"/>
                <a:cs typeface="Arial"/>
              </a:rPr>
              <a:t>wires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were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removed </a:t>
            </a:r>
            <a:r>
              <a:rPr dirty="0" sz="1300">
                <a:latin typeface="Arial"/>
                <a:cs typeface="Arial"/>
              </a:rPr>
              <a:t>and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elbow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mobilization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was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initiated.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300">
                <a:latin typeface="Arial"/>
                <a:cs typeface="Arial"/>
              </a:rPr>
              <a:t>At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3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months,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the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child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was</a:t>
            </a:r>
            <a:r>
              <a:rPr dirty="0" sz="1300" spc="-20">
                <a:latin typeface="Arial"/>
                <a:cs typeface="Arial"/>
              </a:rPr>
              <a:t> pain-free </a:t>
            </a:r>
            <a:r>
              <a:rPr dirty="0" sz="1300">
                <a:latin typeface="Arial"/>
                <a:cs typeface="Arial"/>
              </a:rPr>
              <a:t>with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elbow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range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of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motion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0–140°,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and </a:t>
            </a:r>
            <a:r>
              <a:rPr dirty="0" sz="1300">
                <a:latin typeface="Arial"/>
                <a:cs typeface="Arial"/>
              </a:rPr>
              <a:t>radiographs</a:t>
            </a:r>
            <a:r>
              <a:rPr dirty="0" sz="1300" spc="-7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showed</a:t>
            </a:r>
            <a:r>
              <a:rPr dirty="0" sz="1300" spc="-6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mature</a:t>
            </a:r>
            <a:r>
              <a:rPr dirty="0" sz="1300" spc="-6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myositis ossificans,</a:t>
            </a:r>
            <a:r>
              <a:rPr dirty="0" sz="130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warranting</a:t>
            </a:r>
            <a:r>
              <a:rPr dirty="0" sz="130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continued</a:t>
            </a:r>
            <a:r>
              <a:rPr dirty="0" sz="130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follow- </a:t>
            </a:r>
            <a:r>
              <a:rPr dirty="0" sz="1300">
                <a:latin typeface="Arial"/>
                <a:cs typeface="Arial"/>
              </a:rPr>
              <a:t>up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for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deformity.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569575" y="2203450"/>
            <a:ext cx="1621790" cy="1772285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8497569" y="866724"/>
            <a:ext cx="1456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Dr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SethuRam 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PG3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8497569" y="1049604"/>
            <a:ext cx="1337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GANDHI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8497569" y="1232484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COLLEGE,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924550" y="27546"/>
            <a:ext cx="5066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Distal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humerus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physeal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separation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2026-01-30T18:25:17Z</dcterms:created>
  <dcterms:modified xsi:type="dcterms:W3CDTF">2026-01-30T18:25:17Z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LastSaved">
    <vt:filetime>2026-01-30T00:00:00Z</vt:filetime>
  </property>
  <property fmtid="{D5CDD505-2E9C-101B-9397-08002B2CF9AE}" pid="4" name="Producer">
    <vt:lpwstr>3-Heights(TM) PDF Security Shell 4.8.25.2 (http://www.pdf-tools.com)</vt:lpwstr>
  </property>
</Properties>
</file>