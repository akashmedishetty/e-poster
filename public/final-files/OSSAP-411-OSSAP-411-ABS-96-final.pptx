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120"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B97FF-FC91-47F9-AB94-6646DA911DDE}"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93B00A-2243-44C2-A180-41D8F0AE08E7}" type="slidenum">
              <a:rPr lang="en-IN" smtClean="0"/>
              <a:t>‹#›</a:t>
            </a:fld>
            <a:endParaRPr lang="en-IN"/>
          </a:p>
        </p:txBody>
      </p:sp>
    </p:spTree>
    <p:extLst>
      <p:ext uri="{BB962C8B-B14F-4D97-AF65-F5344CB8AC3E}">
        <p14:creationId xmlns:p14="http://schemas.microsoft.com/office/powerpoint/2010/main" val="2179315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93B00A-2243-44C2-A180-41D8F0AE08E7}" type="slidenum">
              <a:rPr lang="en-IN" smtClean="0"/>
              <a:t>1</a:t>
            </a:fld>
            <a:endParaRPr lang="en-IN"/>
          </a:p>
        </p:txBody>
      </p:sp>
    </p:spTree>
    <p:extLst>
      <p:ext uri="{BB962C8B-B14F-4D97-AF65-F5344CB8AC3E}">
        <p14:creationId xmlns:p14="http://schemas.microsoft.com/office/powerpoint/2010/main" val="91178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1998" cy="1258567"/>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a:p>
            <a:pPr algn="ctr"/>
            <a:endParaRPr lang="en-IN" altLang="en-US" sz="1400" dirty="0">
              <a:latin typeface="Arial" panose="020B0604020202020204" pitchFamily="34" charset="0"/>
              <a:cs typeface="Arial" panose="020B0604020202020204" pitchFamily="34" charset="0"/>
            </a:endParaRPr>
          </a:p>
          <a:p>
            <a:pPr algn="ctr"/>
            <a:endParaRPr lang="en-IN" altLang="en-US" sz="1400" dirty="0">
              <a:latin typeface="Arial" panose="020B0604020202020204" pitchFamily="34" charset="0"/>
              <a:cs typeface="Arial" panose="020B0604020202020204" pitchFamily="34" charset="0"/>
            </a:endParaRPr>
          </a:p>
          <a:p>
            <a:pPr algn="ctr"/>
            <a:endParaRPr lang="en-IN" altLang="en-US" sz="1400" dirty="0">
              <a:latin typeface="Arial" panose="020B0604020202020204" pitchFamily="34" charset="0"/>
              <a:cs typeface="Arial" panose="020B0604020202020204" pitchFamily="34" charset="0"/>
            </a:endParaRPr>
          </a:p>
          <a:p>
            <a:pPr algn="ctr"/>
            <a:r>
              <a:rPr lang="en-IN" altLang="en-US" sz="1600" b="1" dirty="0">
                <a:latin typeface="Arial" panose="020B0604020202020204" pitchFamily="34" charset="0"/>
                <a:cs typeface="Arial" panose="020B0604020202020204" pitchFamily="34" charset="0"/>
              </a:rPr>
              <a:t>ISOLATED NEUROFIBROMA OF PALMAR HAND:A RARE CASE REPORT</a:t>
            </a:r>
          </a:p>
          <a:p>
            <a:pPr algn="ctr"/>
            <a:r>
              <a:rPr lang="en-IN" altLang="en-US" sz="1200" b="1" dirty="0">
                <a:latin typeface="Arial" panose="020B0604020202020204" pitchFamily="34" charset="0"/>
                <a:cs typeface="Arial" panose="020B0604020202020204" pitchFamily="34" charset="0"/>
              </a:rPr>
              <a:t>Dr RACHAKONDU GURU KEERTHI PRIYA, 3rd YEAR PG (MS ORTHOPAEDICS)</a:t>
            </a:r>
          </a:p>
          <a:p>
            <a:pPr algn="ctr"/>
            <a:r>
              <a:rPr lang="en-US" sz="1200" b="1" dirty="0">
                <a:solidFill>
                  <a:schemeClr val="bg1"/>
                </a:solidFill>
                <a:latin typeface="Arial" panose="020B0604020202020204" pitchFamily="34" charset="0"/>
                <a:cs typeface="Arial" panose="020B0604020202020204" pitchFamily="34" charset="0"/>
                <a:sym typeface="+mn-ea"/>
              </a:rPr>
              <a:t>KIMS MEDICAL COLLEGE,AMALAPURAM, Dr. B.R. AMBEDKAR KONASEEMA DISTRICT.</a:t>
            </a:r>
            <a:endParaRPr lang="en-US" sz="1200" b="1" dirty="0">
              <a:solidFill>
                <a:schemeClr val="bg1"/>
              </a:solidFill>
              <a:latin typeface="Arial" panose="020B0604020202020204" pitchFamily="34" charset="0"/>
              <a:cs typeface="Arial" panose="020B0604020202020204" pitchFamily="34" charset="0"/>
            </a:endParaRPr>
          </a:p>
          <a:p>
            <a:pPr algn="ctr"/>
            <a:endParaRPr lang="en-IN" altLang="en-US" sz="1200" dirty="0">
              <a:latin typeface="Arial" panose="020B0604020202020204" pitchFamily="34" charset="0"/>
              <a:cs typeface="Arial" panose="020B0604020202020204" pitchFamily="34" charset="0"/>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54540" y="74930"/>
            <a:ext cx="976630" cy="819150"/>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10620" y="74930"/>
            <a:ext cx="883920" cy="744220"/>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30535" y="74930"/>
            <a:ext cx="756285" cy="744220"/>
          </a:xfrm>
          <a:prstGeom prst="rect">
            <a:avLst/>
          </a:prstGeom>
        </p:spPr>
      </p:pic>
      <p:sp>
        <p:nvSpPr>
          <p:cNvPr id="18" name="TextBox 17"/>
          <p:cNvSpPr txBox="1"/>
          <p:nvPr/>
        </p:nvSpPr>
        <p:spPr>
          <a:xfrm>
            <a:off x="1317625" y="10160"/>
            <a:ext cx="9214485" cy="368300"/>
          </a:xfrm>
          <a:prstGeom prst="rect">
            <a:avLst/>
          </a:prstGeom>
          <a:noFill/>
        </p:spPr>
        <p:txBody>
          <a:bodyPr wrap="square" rtlCol="0">
            <a:spAutoFit/>
          </a:bodyPr>
          <a:lstStyle/>
          <a:p>
            <a:pPr algn="ctr"/>
            <a:r>
              <a:rPr lang="en-US" b="1" dirty="0">
                <a:solidFill>
                  <a:schemeClr val="bg1"/>
                </a:solidFill>
                <a:latin typeface="Gordita "/>
              </a:rPr>
              <a:t>55</a:t>
            </a:r>
            <a:r>
              <a:rPr lang="en-US" b="1" baseline="30000" dirty="0">
                <a:solidFill>
                  <a:schemeClr val="bg1"/>
                </a:solidFill>
                <a:latin typeface="Gordita "/>
              </a:rPr>
              <a:t>th</a:t>
            </a:r>
            <a:r>
              <a:rPr lang="en-IN" altLang="en-US" b="1" baseline="30000" dirty="0">
                <a:solidFill>
                  <a:schemeClr val="bg1"/>
                </a:solidFill>
                <a:latin typeface="Gordita "/>
              </a:rPr>
              <a:t> </a:t>
            </a:r>
            <a:r>
              <a:rPr lang="en-US" b="1" dirty="0">
                <a:solidFill>
                  <a:schemeClr val="bg1"/>
                </a:solidFill>
                <a:latin typeface="Gordita "/>
              </a:rPr>
              <a:t>Annual Conference of Orthopedic Surgeon Society of Andhra Pradesh</a:t>
            </a:r>
          </a:p>
        </p:txBody>
      </p:sp>
      <p:sp>
        <p:nvSpPr>
          <p:cNvPr id="19" name="TextBox 18"/>
          <p:cNvSpPr txBox="1"/>
          <p:nvPr/>
        </p:nvSpPr>
        <p:spPr>
          <a:xfrm>
            <a:off x="2601218" y="319252"/>
            <a:ext cx="6307494" cy="276999"/>
          </a:xfrm>
          <a:prstGeom prst="rect">
            <a:avLst/>
          </a:prstGeom>
          <a:noFill/>
        </p:spPr>
        <p:txBody>
          <a:bodyPr wrap="square" rtlCol="0">
            <a:spAutoFit/>
          </a:bodyPr>
          <a:lstStyle/>
          <a:p>
            <a:pPr algn="ctr"/>
            <a:r>
              <a:rPr lang="en-US" sz="1200" b="1" dirty="0">
                <a:solidFill>
                  <a:schemeClr val="bg1"/>
                </a:solidFill>
                <a:latin typeface="Gordita "/>
              </a:rPr>
              <a:t>Date 6 – 8 February,2026, Venue : Kurnool Medical College</a:t>
            </a:r>
          </a:p>
        </p:txBody>
      </p:sp>
      <p:sp>
        <p:nvSpPr>
          <p:cNvPr id="4" name="Freeform 13"/>
          <p:cNvSpPr/>
          <p:nvPr/>
        </p:nvSpPr>
        <p:spPr>
          <a:xfrm>
            <a:off x="635" y="12065"/>
            <a:ext cx="1376045" cy="1285240"/>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p:cNvSpPr/>
          <p:nvPr/>
        </p:nvSpPr>
        <p:spPr>
          <a:xfrm>
            <a:off x="-1286" y="4709148"/>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 name="Text Box 1"/>
          <p:cNvSpPr txBox="1"/>
          <p:nvPr/>
        </p:nvSpPr>
        <p:spPr>
          <a:xfrm>
            <a:off x="0" y="1696720"/>
            <a:ext cx="3108960" cy="2984500"/>
          </a:xfrm>
          <a:prstGeom prst="rect">
            <a:avLst/>
          </a:prstGeom>
          <a:noFill/>
        </p:spPr>
        <p:txBody>
          <a:bodyPr wrap="square" rtlCol="0">
            <a:noAutofit/>
          </a:bodyPr>
          <a:lstStyle/>
          <a:p>
            <a:endParaRPr lang="en-IN" altLang="en-US" sz="1200" dirty="0">
              <a:latin typeface="Arial" panose="020B0604020202020204" pitchFamily="34" charset="0"/>
              <a:cs typeface="Arial" panose="020B0604020202020204" pitchFamily="34" charset="0"/>
            </a:endParaRPr>
          </a:p>
        </p:txBody>
      </p:sp>
      <p:sp>
        <p:nvSpPr>
          <p:cNvPr id="3" name="Text Box 2"/>
          <p:cNvSpPr txBox="1"/>
          <p:nvPr/>
        </p:nvSpPr>
        <p:spPr>
          <a:xfrm>
            <a:off x="43347" y="5150527"/>
            <a:ext cx="3110230" cy="1865109"/>
          </a:xfrm>
          <a:prstGeom prst="rect">
            <a:avLst/>
          </a:prstGeom>
          <a:noFill/>
        </p:spPr>
        <p:txBody>
          <a:bodyPr wrap="square" rtlCol="0">
            <a:noAutofit/>
          </a:bodyPr>
          <a:lstStyle/>
          <a:p>
            <a:pPr marL="171450" indent="-171450">
              <a:buFont typeface="Arial" panose="020B0604020202020204" pitchFamily="34" charset="0"/>
              <a:buChar char="•"/>
            </a:pPr>
            <a:r>
              <a:rPr lang="en-IN" sz="1200" dirty="0"/>
              <a:t>A 50-year-old female presented with a slow-growing, painless palmar hand swelling of two years duration,  mild discomfort during gripping.</a:t>
            </a:r>
          </a:p>
          <a:p>
            <a:pPr marL="171450" indent="-171450">
              <a:buFont typeface="Arial" panose="020B0604020202020204" pitchFamily="34" charset="0"/>
              <a:buChar char="•"/>
            </a:pPr>
            <a:r>
              <a:rPr lang="en-IN" sz="1200" dirty="0"/>
              <a:t> Clinical examination, radiographs, and MRI were performed.</a:t>
            </a:r>
          </a:p>
          <a:p>
            <a:pPr marL="171450" indent="-171450">
              <a:buFont typeface="Arial" panose="020B0604020202020204" pitchFamily="34" charset="0"/>
              <a:buChar char="•"/>
            </a:pPr>
            <a:r>
              <a:rPr lang="en-IN" sz="1200" dirty="0"/>
              <a:t> Diagnosis was confirmed by histopathological examination. </a:t>
            </a:r>
          </a:p>
        </p:txBody>
      </p:sp>
      <p:sp>
        <p:nvSpPr>
          <p:cNvPr id="21" name="Text Box 20"/>
          <p:cNvSpPr txBox="1"/>
          <p:nvPr/>
        </p:nvSpPr>
        <p:spPr>
          <a:xfrm>
            <a:off x="3154045" y="1675130"/>
            <a:ext cx="3169920" cy="5176520"/>
          </a:xfrm>
          <a:prstGeom prst="rect">
            <a:avLst/>
          </a:prstGeom>
          <a:noFill/>
        </p:spPr>
        <p:txBody>
          <a:bodyPr wrap="square" rtlCol="0">
            <a:no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Under Wrist block , a longitudinal palmar incision made over the swelling. Intraoperatively, a well-defined, encapsulated, firm nodular mass measuring approximately 4 × 4 </a:t>
            </a:r>
            <a:r>
              <a:rPr lang="en-US" sz="1200">
                <a:latin typeface="Arial" panose="020B0604020202020204" pitchFamily="34" charset="0"/>
                <a:cs typeface="Arial" panose="020B0604020202020204" pitchFamily="34" charset="0"/>
              </a:rPr>
              <a:t>cm is </a:t>
            </a:r>
            <a:r>
              <a:rPr lang="en-US" sz="1200" dirty="0">
                <a:latin typeface="Arial" panose="020B0604020202020204" pitchFamily="34" charset="0"/>
                <a:cs typeface="Arial" panose="020B0604020202020204" pitchFamily="34" charset="0"/>
              </a:rPr>
              <a:t>identified in the palmar soft tissue. The lesion was found to be arising from a digital ulnar nerve sheath and was closely adherent to the surrounding neurovascular structures. There was no invasion of adjacent tendons, muscles, or bone. Careful microsurgical dissection allowed complete excision of the tumor while preserving the continuity of the nerve. Hemostasis was achieved, and the wound was closed </a:t>
            </a:r>
          </a:p>
        </p:txBody>
      </p:sp>
      <p:sp>
        <p:nvSpPr>
          <p:cNvPr id="23" name="Text Box 22"/>
          <p:cNvSpPr txBox="1"/>
          <p:nvPr/>
        </p:nvSpPr>
        <p:spPr>
          <a:xfrm>
            <a:off x="6369050" y="1655546"/>
            <a:ext cx="5846445" cy="3131084"/>
          </a:xfrm>
          <a:prstGeom prst="rect">
            <a:avLst/>
          </a:prstGeom>
          <a:noFill/>
        </p:spPr>
        <p:txBody>
          <a:bodyPr wrap="square" rtlCol="0">
            <a:no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Palmar involvement is rare</a:t>
            </a:r>
            <a:r>
              <a:rPr lang="en-US" sz="1200" dirty="0">
                <a:latin typeface="Arial" panose="020B0604020202020204" pitchFamily="34" charset="0"/>
                <a:cs typeface="Arial" panose="020B0604020202020204" pitchFamily="34" charset="0"/>
              </a:rPr>
              <a:t>, likely due to the dense fibrofatty tissue and compact neurovascular anatomy of the palm.</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 Clinically, these tumors present as </a:t>
            </a:r>
            <a:r>
              <a:rPr lang="en-US" sz="1200" b="1" dirty="0">
                <a:latin typeface="Arial" panose="020B0604020202020204" pitchFamily="34" charset="0"/>
                <a:cs typeface="Arial" panose="020B0604020202020204" pitchFamily="34" charset="0"/>
              </a:rPr>
              <a:t>slow-growing, painless nodules</a:t>
            </a:r>
            <a:r>
              <a:rPr lang="en-US" sz="1200" dirty="0">
                <a:latin typeface="Arial" panose="020B0604020202020204" pitchFamily="34" charset="0"/>
                <a:cs typeface="Arial" panose="020B0604020202020204" pitchFamily="34" charset="0"/>
              </a:rPr>
              <a:t>, although pain, paresthesia, or functional impairment may occur if adjacent nerve fibers are compressed.</a:t>
            </a:r>
            <a:endParaRPr lang="en-IN"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Surgical excision with nerve preservation was undertaken, and the diagnosis was confirmed by histopathological examination.</a:t>
            </a:r>
          </a:p>
          <a:p>
            <a:pPr marL="171450" indent="-171450">
              <a:buFont typeface="Arial" panose="020B0604020202020204" pitchFamily="34" charset="0"/>
              <a:buChar char="•"/>
            </a:pPr>
            <a:r>
              <a:rPr lang="en-IN" sz="1200" dirty="0" err="1">
                <a:latin typeface="Arial" panose="020B0604020202020204" pitchFamily="34" charset="0"/>
                <a:cs typeface="Arial" panose="020B0604020202020204" pitchFamily="34" charset="0"/>
              </a:rPr>
              <a:t>Mri</a:t>
            </a:r>
            <a:r>
              <a:rPr lang="en-IN" sz="1200" dirty="0">
                <a:latin typeface="Arial" panose="020B0604020202020204" pitchFamily="34" charset="0"/>
                <a:cs typeface="Arial" panose="020B0604020202020204" pitchFamily="34" charset="0"/>
              </a:rPr>
              <a:t> showed a well defined lobulated soft tissue intensity lesion with central cystic component involving volar aspect of hand at hypothenar eminence between flexor tendons anteriorly,3</a:t>
            </a:r>
            <a:r>
              <a:rPr lang="en-IN" sz="1200" baseline="30000" dirty="0">
                <a:latin typeface="Arial" panose="020B0604020202020204" pitchFamily="34" charset="0"/>
                <a:cs typeface="Arial" panose="020B0604020202020204" pitchFamily="34" charset="0"/>
              </a:rPr>
              <a:t>rd</a:t>
            </a:r>
            <a:r>
              <a:rPr lang="en-IN" sz="1200" dirty="0">
                <a:latin typeface="Arial" panose="020B0604020202020204" pitchFamily="34" charset="0"/>
                <a:cs typeface="Arial" panose="020B0604020202020204" pitchFamily="34" charset="0"/>
              </a:rPr>
              <a:t> and 4</a:t>
            </a:r>
            <a:r>
              <a:rPr lang="en-IN" sz="1200" baseline="30000" dirty="0">
                <a:latin typeface="Arial" panose="020B0604020202020204" pitchFamily="34" charset="0"/>
                <a:cs typeface="Arial" panose="020B0604020202020204" pitchFamily="34" charset="0"/>
              </a:rPr>
              <a:t>th</a:t>
            </a:r>
            <a:r>
              <a:rPr lang="en-IN" sz="1200" dirty="0">
                <a:latin typeface="Arial" panose="020B0604020202020204" pitchFamily="34" charset="0"/>
                <a:cs typeface="Arial" panose="020B0604020202020204" pitchFamily="34" charset="0"/>
              </a:rPr>
              <a:t> metacarpal bones posteriorly with minimal </a:t>
            </a:r>
            <a:r>
              <a:rPr lang="en-IN" sz="1200" dirty="0" err="1">
                <a:latin typeface="Arial" panose="020B0604020202020204" pitchFamily="34" charset="0"/>
                <a:cs typeface="Arial" panose="020B0604020202020204" pitchFamily="34" charset="0"/>
              </a:rPr>
              <a:t>mass,biopsy</a:t>
            </a:r>
            <a:r>
              <a:rPr lang="en-IN" sz="1200" dirty="0">
                <a:latin typeface="Arial" panose="020B0604020202020204" pitchFamily="34" charset="0"/>
                <a:cs typeface="Arial" panose="020B0604020202020204" pitchFamily="34" charset="0"/>
              </a:rPr>
              <a:t> confirmed as Neurofibroma </a:t>
            </a:r>
          </a:p>
          <a:p>
            <a:pPr marL="17145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 Postoperative follow-up assessed neurological status, recurrence, and functional recovery.</a:t>
            </a:r>
          </a:p>
        </p:txBody>
      </p:sp>
      <p:sp>
        <p:nvSpPr>
          <p:cNvPr id="25" name="Text Box 24"/>
          <p:cNvSpPr txBox="1"/>
          <p:nvPr/>
        </p:nvSpPr>
        <p:spPr>
          <a:xfrm>
            <a:off x="6369050" y="5209540"/>
            <a:ext cx="5806440" cy="1610995"/>
          </a:xfrm>
          <a:prstGeom prst="rect">
            <a:avLst/>
          </a:prstGeom>
          <a:noFill/>
        </p:spPr>
        <p:txBody>
          <a:bodyPr wrap="square" rtlCol="0">
            <a:noAutofit/>
          </a:bodyPr>
          <a:lstStyle/>
          <a:p>
            <a:pPr marL="17145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Isolated neurofibroma of the palmar hand is a rare benign peripheral nerve sheath </a:t>
            </a:r>
            <a:r>
              <a:rPr lang="en-IN" sz="1200" dirty="0" err="1">
                <a:latin typeface="Arial" panose="020B0604020202020204" pitchFamily="34" charset="0"/>
                <a:cs typeface="Arial" panose="020B0604020202020204" pitchFamily="34" charset="0"/>
              </a:rPr>
              <a:t>tumor</a:t>
            </a:r>
            <a:r>
              <a:rPr lang="en-IN" sz="12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 Accurate diagnosis relies on histopathological evaluation, as clinical presentation often mimics other palmar soft tissue lesions. </a:t>
            </a:r>
          </a:p>
          <a:p>
            <a:pPr marL="171450" indent="-171450">
              <a:buFont typeface="Arial" panose="020B0604020202020204" pitchFamily="34" charset="0"/>
              <a:buChar char="•"/>
            </a:pPr>
            <a:r>
              <a:rPr lang="en-IN" sz="1200" dirty="0">
                <a:latin typeface="Arial" panose="020B0604020202020204" pitchFamily="34" charset="0"/>
                <a:cs typeface="Arial" panose="020B0604020202020204" pitchFamily="34" charset="0"/>
              </a:rPr>
              <a:t>Complete surgical excision with careful nerve preservation provides excellent functional outcome, with minimal risk of recurrence or malignant transformation in isolated cases.</a:t>
            </a:r>
          </a:p>
        </p:txBody>
      </p:sp>
      <p:sp>
        <p:nvSpPr>
          <p:cNvPr id="29" name="Text Box 1">
            <a:extLst>
              <a:ext uri="{FF2B5EF4-FFF2-40B4-BE49-F238E27FC236}">
                <a16:creationId xmlns:a16="http://schemas.microsoft.com/office/drawing/2014/main" id="{B96A0D3C-0084-5B4D-94C6-D686AC14F1E8}"/>
              </a:ext>
            </a:extLst>
          </p:cNvPr>
          <p:cNvSpPr txBox="1"/>
          <p:nvPr/>
        </p:nvSpPr>
        <p:spPr>
          <a:xfrm>
            <a:off x="-17479" y="1632163"/>
            <a:ext cx="3108960" cy="2592495"/>
          </a:xfrm>
          <a:prstGeom prst="rect">
            <a:avLst/>
          </a:prstGeom>
          <a:noFill/>
        </p:spPr>
        <p:txBody>
          <a:bodyPr wrap="square" rtlCol="0">
            <a:noAutofit/>
          </a:bodyPr>
          <a:lstStyle/>
          <a:p>
            <a:pPr marL="171450" indent="-171450">
              <a:buFont typeface="Arial" panose="020B0604020202020204" pitchFamily="34" charset="0"/>
              <a:buChar char="•"/>
            </a:pPr>
            <a:r>
              <a:rPr lang="en-US" altLang="en-US" sz="1200" dirty="0">
                <a:latin typeface="Arial" panose="020B0604020202020204" pitchFamily="34" charset="0"/>
                <a:cs typeface="Arial" panose="020B0604020202020204" pitchFamily="34" charset="0"/>
              </a:rPr>
              <a:t>Neurofibroma is a benign peripheral nerve sheath tumor that commonly occurs in association with Neurofibromatosis type 1.</a:t>
            </a:r>
          </a:p>
          <a:p>
            <a:pPr marL="171450" indent="-171450">
              <a:buFont typeface="Arial" panose="020B0604020202020204" pitchFamily="34" charset="0"/>
              <a:buChar char="•"/>
            </a:pPr>
            <a:r>
              <a:rPr lang="en-US" altLang="en-US" sz="1200" dirty="0">
                <a:latin typeface="Arial" panose="020B0604020202020204" pitchFamily="34" charset="0"/>
                <a:cs typeface="Arial" panose="020B0604020202020204" pitchFamily="34" charset="0"/>
              </a:rPr>
              <a:t> Solitary or isolated neurofibromas, however, are uncommon and are rarely encountered in the hand</a:t>
            </a:r>
          </a:p>
          <a:p>
            <a:pPr marL="171450" indent="-171450">
              <a:buFont typeface="Arial" panose="020B0604020202020204" pitchFamily="34" charset="0"/>
              <a:buChar char="•"/>
            </a:pPr>
            <a:r>
              <a:rPr lang="en-US" altLang="en-US" sz="1200" dirty="0">
                <a:latin typeface="Arial" panose="020B0604020202020204" pitchFamily="34" charset="0"/>
                <a:cs typeface="Arial" panose="020B0604020202020204" pitchFamily="34" charset="0"/>
              </a:rPr>
              <a:t>Involvement of the palmar aspect of the hand is particularly rare due to the complex anatomy and dense neurovascular structures present in this region</a:t>
            </a:r>
          </a:p>
          <a:p>
            <a:pPr marL="171450" indent="-171450">
              <a:buFont typeface="Arial" panose="020B0604020202020204" pitchFamily="34" charset="0"/>
              <a:buChar char="•"/>
            </a:pPr>
            <a:r>
              <a:rPr lang="en-US" altLang="en-US" sz="1200" dirty="0">
                <a:latin typeface="Arial" panose="020B0604020202020204" pitchFamily="34" charset="0"/>
                <a:cs typeface="Arial" panose="020B0604020202020204" pitchFamily="34" charset="0"/>
              </a:rPr>
              <a:t>We present a rare case of an isolated neurofibroma of the palmar hand, its clinical presentation, diagnostic approach and management.</a:t>
            </a:r>
            <a:endParaRPr lang="en-IN" altLang="en-US" sz="1200" dirty="0">
              <a:latin typeface="Arial" panose="020B0604020202020204" pitchFamily="34" charset="0"/>
              <a:cs typeface="Arial" panose="020B0604020202020204" pitchFamily="34" charset="0"/>
            </a:endParaRPr>
          </a:p>
        </p:txBody>
      </p:sp>
      <p:pic>
        <p:nvPicPr>
          <p:cNvPr id="33" name="Picture 32">
            <a:extLst>
              <a:ext uri="{FF2B5EF4-FFF2-40B4-BE49-F238E27FC236}">
                <a16:creationId xmlns:a16="http://schemas.microsoft.com/office/drawing/2014/main" id="{613A6BE5-01B5-B798-C3B8-5B8F318D0739}"/>
              </a:ext>
            </a:extLst>
          </p:cNvPr>
          <p:cNvPicPr>
            <a:picLocks noChangeAspect="1"/>
          </p:cNvPicPr>
          <p:nvPr/>
        </p:nvPicPr>
        <p:blipFill>
          <a:blip r:embed="rId7"/>
          <a:stretch>
            <a:fillRect/>
          </a:stretch>
        </p:blipFill>
        <p:spPr>
          <a:xfrm>
            <a:off x="3169786" y="4651715"/>
            <a:ext cx="1734686" cy="997623"/>
          </a:xfrm>
          <a:prstGeom prst="rect">
            <a:avLst/>
          </a:prstGeom>
        </p:spPr>
      </p:pic>
      <p:pic>
        <p:nvPicPr>
          <p:cNvPr id="34" name="Picture 33">
            <a:extLst>
              <a:ext uri="{FF2B5EF4-FFF2-40B4-BE49-F238E27FC236}">
                <a16:creationId xmlns:a16="http://schemas.microsoft.com/office/drawing/2014/main" id="{555F8769-E71B-BA25-E51B-3EB18C4964C6}"/>
              </a:ext>
            </a:extLst>
          </p:cNvPr>
          <p:cNvPicPr>
            <a:picLocks noChangeAspect="1"/>
          </p:cNvPicPr>
          <p:nvPr/>
        </p:nvPicPr>
        <p:blipFill>
          <a:blip r:embed="rId8"/>
          <a:stretch>
            <a:fillRect/>
          </a:stretch>
        </p:blipFill>
        <p:spPr>
          <a:xfrm>
            <a:off x="4920213" y="4614252"/>
            <a:ext cx="1254809" cy="963592"/>
          </a:xfrm>
          <a:prstGeom prst="rect">
            <a:avLst/>
          </a:prstGeom>
        </p:spPr>
      </p:pic>
      <p:pic>
        <p:nvPicPr>
          <p:cNvPr id="35" name="Picture 34">
            <a:extLst>
              <a:ext uri="{FF2B5EF4-FFF2-40B4-BE49-F238E27FC236}">
                <a16:creationId xmlns:a16="http://schemas.microsoft.com/office/drawing/2014/main" id="{17E6B094-89DC-2868-F40F-882413D8F3EC}"/>
              </a:ext>
            </a:extLst>
          </p:cNvPr>
          <p:cNvPicPr>
            <a:picLocks noChangeAspect="1"/>
          </p:cNvPicPr>
          <p:nvPr/>
        </p:nvPicPr>
        <p:blipFill>
          <a:blip r:embed="rId9"/>
          <a:stretch>
            <a:fillRect/>
          </a:stretch>
        </p:blipFill>
        <p:spPr>
          <a:xfrm>
            <a:off x="3169786" y="5641806"/>
            <a:ext cx="1560258" cy="1178729"/>
          </a:xfrm>
          <a:prstGeom prst="rect">
            <a:avLst/>
          </a:prstGeom>
        </p:spPr>
      </p:pic>
      <p:pic>
        <p:nvPicPr>
          <p:cNvPr id="36" name="Picture 35">
            <a:extLst>
              <a:ext uri="{FF2B5EF4-FFF2-40B4-BE49-F238E27FC236}">
                <a16:creationId xmlns:a16="http://schemas.microsoft.com/office/drawing/2014/main" id="{D0A0BF0B-9AF7-56A0-073C-E1EEAFF881FB}"/>
              </a:ext>
            </a:extLst>
          </p:cNvPr>
          <p:cNvPicPr>
            <a:picLocks noChangeAspect="1"/>
          </p:cNvPicPr>
          <p:nvPr/>
        </p:nvPicPr>
        <p:blipFill>
          <a:blip r:embed="rId10"/>
          <a:stretch>
            <a:fillRect/>
          </a:stretch>
        </p:blipFill>
        <p:spPr>
          <a:xfrm>
            <a:off x="4730044" y="5577843"/>
            <a:ext cx="1588965" cy="1242691"/>
          </a:xfrm>
          <a:prstGeom prst="rect">
            <a:avLst/>
          </a:prstGeom>
        </p:spPr>
      </p:pic>
      <p:pic>
        <p:nvPicPr>
          <p:cNvPr id="37" name="Picture 36">
            <a:extLst>
              <a:ext uri="{FF2B5EF4-FFF2-40B4-BE49-F238E27FC236}">
                <a16:creationId xmlns:a16="http://schemas.microsoft.com/office/drawing/2014/main" id="{23FFA94B-C924-2933-64AD-006E261F7B45}"/>
              </a:ext>
            </a:extLst>
          </p:cNvPr>
          <p:cNvPicPr>
            <a:picLocks noChangeAspect="1"/>
          </p:cNvPicPr>
          <p:nvPr/>
        </p:nvPicPr>
        <p:blipFill>
          <a:blip r:embed="rId11"/>
          <a:stretch>
            <a:fillRect/>
          </a:stretch>
        </p:blipFill>
        <p:spPr>
          <a:xfrm>
            <a:off x="8272772" y="3922635"/>
            <a:ext cx="1613549" cy="863995"/>
          </a:xfrm>
          <a:prstGeom prst="rect">
            <a:avLst/>
          </a:prstGeom>
        </p:spPr>
      </p:pic>
      <p:pic>
        <p:nvPicPr>
          <p:cNvPr id="38" name="Picture 37">
            <a:extLst>
              <a:ext uri="{FF2B5EF4-FFF2-40B4-BE49-F238E27FC236}">
                <a16:creationId xmlns:a16="http://schemas.microsoft.com/office/drawing/2014/main" id="{06DC6168-8E68-2279-61A1-48AD55A864CD}"/>
              </a:ext>
            </a:extLst>
          </p:cNvPr>
          <p:cNvPicPr>
            <a:picLocks noChangeAspect="1"/>
          </p:cNvPicPr>
          <p:nvPr/>
        </p:nvPicPr>
        <p:blipFill>
          <a:blip r:embed="rId12"/>
          <a:stretch>
            <a:fillRect/>
          </a:stretch>
        </p:blipFill>
        <p:spPr>
          <a:xfrm>
            <a:off x="9886322" y="3906359"/>
            <a:ext cx="2244710" cy="863994"/>
          </a:xfrm>
          <a:prstGeom prst="rect">
            <a:avLst/>
          </a:prstGeom>
        </p:spPr>
      </p:pic>
      <p:pic>
        <p:nvPicPr>
          <p:cNvPr id="40" name="Picture 39">
            <a:extLst>
              <a:ext uri="{FF2B5EF4-FFF2-40B4-BE49-F238E27FC236}">
                <a16:creationId xmlns:a16="http://schemas.microsoft.com/office/drawing/2014/main" id="{4CF99378-924C-EFF2-17DF-F9D041839843}"/>
              </a:ext>
            </a:extLst>
          </p:cNvPr>
          <p:cNvPicPr>
            <a:picLocks noChangeAspect="1"/>
          </p:cNvPicPr>
          <p:nvPr/>
        </p:nvPicPr>
        <p:blipFill>
          <a:blip r:embed="rId13"/>
          <a:stretch>
            <a:fillRect/>
          </a:stretch>
        </p:blipFill>
        <p:spPr>
          <a:xfrm>
            <a:off x="6369049" y="4097639"/>
            <a:ext cx="1858471" cy="6727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471</Words>
  <Application>Microsoft Office PowerPoint</Application>
  <PresentationFormat>Widescreen</PresentationFormat>
  <Paragraphs>31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Gordita</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KIMS</cp:lastModifiedBy>
  <cp:revision>59</cp:revision>
  <dcterms:created xsi:type="dcterms:W3CDTF">2026-01-11T06:24:00Z</dcterms:created>
  <dcterms:modified xsi:type="dcterms:W3CDTF">2026-01-28T11:26:07Z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717F83709F98404495F3FAFAF442DCBD_13</vt:lpwstr>
  </property>
  <property fmtid="{D5CDD505-2E9C-101B-9397-08002B2CF9AE}" pid="3" name="KSOProductBuildVer">
    <vt:lpwstr>1033-12.2.0.23196</vt:lpwstr>
  </property>
</Properties>
</file>