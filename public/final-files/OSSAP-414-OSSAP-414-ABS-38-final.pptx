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 xmlns:r="http://schemas.openxmlformats.org/officeDocument/2006/relationships" xmlns:a="http://schemas.openxmlformats.org/drawingml/2006/main">
  <p:cmAuthor id="1" name="Keyur Desai" initials="Dr" lastIdx="1" clrIdx="0"/>
</p:cmAuthorLst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8548" autoAdjust="0"/>
    <p:restoredTop sz="95208" autoAdjust="0"/>
  </p:normalViewPr>
  <p:slideViewPr>
    <p:cSldViewPr snapToGrid="0">
      <p:cViewPr varScale="1">
        <p:scale>
          <a:sx n="78" d="100"/>
          <a:sy n="78" d="100"/>
        </p:scale>
        <p:origin x="715" y="7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tableStyles" Target="tableStyle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commentAuthors" Target="commentAuthor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8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/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2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/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/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4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4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4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09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4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4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1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2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3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8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861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0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2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2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/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1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/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p>
            <a:fld id="{63A1C593-65D0-4073-BCC9-577B9352EA97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10486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p>
            <a:endParaRPr lang="en-US"/>
          </a:p>
        </p:txBody>
      </p:sp>
      <p:sp>
        <p:nvSpPr>
          <p:cNvPr id="10486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Relationship Id="rId15" Type="http://schemas.openxmlformats.org/officeDocument/2006/relationships/image" Target="../media/image4.png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1"/>
          <p:cNvSpPr/>
          <p:nvPr/>
        </p:nvSpPr>
        <p:spPr>
          <a:xfrm>
            <a:off x="0" y="0"/>
            <a:ext cx="12191998" cy="1280156"/>
          </a:xfrm>
          <a:prstGeom prst="rect"/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/>
          </a:p>
        </p:txBody>
      </p:sp>
      <p:pic>
        <p:nvPicPr>
          <p:cNvPr id="2097152" name="Picture 14"/>
          <p:cNvPicPr>
            <a:picLocks noChangeAspect="1"/>
          </p:cNvPicPr>
          <p:nvPr/>
        </p:nvPicPr>
        <p:blipFill>
          <a:blip xmlns:r="http://schemas.openxmlformats.org/officeDocument/2006/relationships" r:embed="rId12" cstate="print"/>
          <a:stretch>
            <a:fillRect/>
          </a:stretch>
        </p:blipFill>
        <p:spPr>
          <a:xfrm>
            <a:off x="9006884" y="74822"/>
            <a:ext cx="1043154" cy="1043154"/>
          </a:xfrm>
          <a:prstGeom prst="rect"/>
        </p:spPr>
      </p:pic>
      <p:pic>
        <p:nvPicPr>
          <p:cNvPr id="2097153" name="Picture 15"/>
          <p:cNvPicPr>
            <a:picLocks noChangeAspect="1"/>
          </p:cNvPicPr>
          <p:nvPr/>
        </p:nvPicPr>
        <p:blipFill>
          <a:blip xmlns:r="http://schemas.openxmlformats.org/officeDocument/2006/relationships" r:embed="rId13" cstate="print"/>
          <a:stretch>
            <a:fillRect/>
          </a:stretch>
        </p:blipFill>
        <p:spPr>
          <a:xfrm>
            <a:off x="10947316" y="123390"/>
            <a:ext cx="884047" cy="884047"/>
          </a:xfrm>
          <a:prstGeom prst="rect"/>
        </p:spPr>
      </p:pic>
      <p:pic>
        <p:nvPicPr>
          <p:cNvPr id="2097154" name="Picture 16"/>
          <p:cNvPicPr>
            <a:picLocks noChangeAspect="1"/>
          </p:cNvPicPr>
          <p:nvPr/>
        </p:nvPicPr>
        <p:blipFill>
          <a:blip xmlns:r="http://schemas.openxmlformats.org/officeDocument/2006/relationships" r:embed="rId14" cstate="print"/>
          <a:stretch>
            <a:fillRect/>
          </a:stretch>
        </p:blipFill>
        <p:spPr>
          <a:xfrm>
            <a:off x="10127893" y="192303"/>
            <a:ext cx="785940" cy="785940"/>
          </a:xfrm>
          <a:prstGeom prst="rect"/>
        </p:spPr>
      </p:pic>
      <p:sp>
        <p:nvSpPr>
          <p:cNvPr id="1048577" name="TextBox 17"/>
          <p:cNvSpPr txBox="1"/>
          <p:nvPr/>
        </p:nvSpPr>
        <p:spPr>
          <a:xfrm>
            <a:off x="2575249" y="27424"/>
            <a:ext cx="5998348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US">
                <a:solidFill>
                  <a:schemeClr val="bg1"/>
                </a:solidFill>
                <a:latin typeface="Gordita "/>
              </a:rPr>
              <a:t>55</a:t>
            </a:r>
            <a:r>
              <a:rPr baseline="30000" b="1" dirty="0" lang="en-US">
                <a:solidFill>
                  <a:schemeClr val="bg1"/>
                </a:solidFill>
                <a:latin typeface="Gordita "/>
              </a:rPr>
              <a:t>th</a:t>
            </a:r>
            <a:r>
              <a:rPr b="1" dirty="0" lang="en-US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b="1" dirty="0" lang="en-US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048578" name="TextBox 18"/>
          <p:cNvSpPr txBox="1"/>
          <p:nvPr/>
        </p:nvSpPr>
        <p:spPr>
          <a:xfrm>
            <a:off x="2601218" y="653897"/>
            <a:ext cx="6307494" cy="27699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200" lang="en-US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1048579" name="TextBox 19"/>
          <p:cNvSpPr txBox="1"/>
          <p:nvPr/>
        </p:nvSpPr>
        <p:spPr>
          <a:xfrm>
            <a:off x="2575249" y="913340"/>
            <a:ext cx="7114032" cy="276999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200" lang="en-US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b="1" dirty="0" sz="1200" lang="en-US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b="1" dirty="0" sz="1200" lang="en-US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1048580" name="Freeform 13"/>
          <p:cNvSpPr/>
          <p:nvPr/>
        </p:nvSpPr>
        <p:spPr>
          <a:xfrm>
            <a:off x="560814" y="14255"/>
            <a:ext cx="1505561" cy="1280157"/>
          </a:xfrm>
          <a:custGeom>
            <a:avLst/>
            <a:ah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xmlns:r="http://schemas.openxmlformats.org/officeDocument/2006/relationships" r:embed="rId15"/>
            <a:stretch>
              <a:fillRect t="-9937" r="-4895" b="-10857"/>
            </a:stretch>
          </a:blipFill>
        </p:spPr>
        <p:txBody>
          <a:bodyPr/>
          <a:p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1327355" y="1396180"/>
            <a:ext cx="9340645" cy="3726426"/>
          </a:xfrm>
        </p:spPr>
        <p:txBody>
          <a:bodyPr>
            <a:normAutofit fontScale="91667"/>
          </a:bodyPr>
          <a:p>
            <a:r>
              <a:rPr dirty="0" lang="en-US">
                <a:latin typeface="Times New Roman Regular" panose="02020503050405090304" charset="0"/>
                <a:ea typeface="Arial Unicode MS" panose="020B0604020202020204" charset="-122"/>
                <a:cs typeface="Times New Roman Regular" panose="02020503050405090304" charset="0"/>
              </a:rPr>
              <a:t> </a:t>
            </a:r>
            <a:br>
              <a:rPr dirty="0" lang="en-US">
                <a:latin typeface="Times New Roman Regular" panose="02020503050405090304" charset="0"/>
                <a:ea typeface="Arial Unicode MS" panose="020B0604020202020204" charset="-122"/>
                <a:cs typeface="Times New Roman Regular" panose="02020503050405090304" charset="0"/>
              </a:rPr>
            </a:br>
            <a:r>
              <a:rPr dirty="0" lang="en-US"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</a:rPr>
              <a:t>Hip fracture surgery in Elderly-An analysis of Early and Late Postoperative outcomes </a:t>
            </a:r>
            <a:br>
              <a:rPr dirty="0" lang="en-US"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</a:rPr>
            </a:br>
            <a:endParaRPr dirty="0" lang="en-US">
              <a:latin typeface="Arial" panose="020B0604020202020204" pitchFamily="34" charset="0"/>
              <a:ea typeface="Arial Unicode MS" panose="020B0604020202020204" charset="-122"/>
              <a:cs typeface="Arial" panose="020B0604020202020204" pitchFamily="34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1524000" y="4866968"/>
            <a:ext cx="9144000" cy="1641986"/>
          </a:xfrm>
        </p:spPr>
        <p:txBody>
          <a:bodyPr>
            <a:normAutofit/>
          </a:bodyPr>
          <a:p>
            <a:r>
              <a:rPr dirty="0" lang="en-IN"/>
              <a:t>Presented by: Dr. KISHANTH </a:t>
            </a:r>
          </a:p>
          <a:p>
            <a:r>
              <a:rPr dirty="0" lang="en-IN"/>
              <a:t>2</a:t>
            </a:r>
            <a:r>
              <a:rPr baseline="30000" dirty="0" lang="en-IN"/>
              <a:t>nd</a:t>
            </a:r>
            <a:r>
              <a:rPr dirty="0" lang="en-IN"/>
              <a:t> year postgraduate </a:t>
            </a:r>
          </a:p>
          <a:p>
            <a:r>
              <a:rPr altLang="en-GB" dirty="0" lang="en-US"/>
              <a:t>K</a:t>
            </a:r>
            <a:r>
              <a:rPr altLang="en-GB" dirty="0" lang="en-US"/>
              <a:t>I</a:t>
            </a:r>
            <a:r>
              <a:rPr altLang="en-GB" dirty="0" lang="en-US"/>
              <a:t>M</a:t>
            </a:r>
            <a:r>
              <a:rPr altLang="en-GB" dirty="0" lang="en-US"/>
              <a:t>S</a:t>
            </a:r>
            <a:r>
              <a:rPr altLang="en-GB" dirty="0" lang="en-US"/>
              <a:t>&amp;</a:t>
            </a:r>
            <a:r>
              <a:rPr altLang="en-GB" dirty="0" lang="en-US"/>
              <a:t>R</a:t>
            </a:r>
            <a:r>
              <a:rPr altLang="en-GB" dirty="0" lang="en-US"/>
              <a:t>F</a:t>
            </a:r>
            <a:r>
              <a:rPr altLang="en-GB" dirty="0" lang="en-US"/>
              <a:t>,</a:t>
            </a:r>
            <a:r>
              <a:rPr altLang="en-GB" dirty="0" lang="en-US"/>
              <a:t>A</a:t>
            </a:r>
            <a:r>
              <a:rPr altLang="en-GB" dirty="0" lang="en-US"/>
              <a:t>m</a:t>
            </a:r>
            <a:r>
              <a:rPr altLang="en-GB" dirty="0" lang="en-US"/>
              <a:t>a</a:t>
            </a:r>
            <a:r>
              <a:rPr altLang="en-GB" dirty="0" lang="en-US"/>
              <a:t>l</a:t>
            </a:r>
            <a:r>
              <a:rPr altLang="en-GB" dirty="0" lang="en-US"/>
              <a:t>a</a:t>
            </a:r>
            <a:r>
              <a:rPr altLang="en-GB" dirty="0" lang="en-US"/>
              <a:t>p</a:t>
            </a:r>
            <a:r>
              <a:rPr altLang="en-GB" dirty="0" lang="en-US"/>
              <a:t>u</a:t>
            </a:r>
            <a:r>
              <a:rPr altLang="en-GB" dirty="0" lang="en-US"/>
              <a:t>r</a:t>
            </a:r>
            <a:r>
              <a:rPr altLang="en-GB" dirty="0" lang="en-US"/>
              <a:t>a</a:t>
            </a:r>
            <a:r>
              <a:rPr altLang="en-GB" dirty="0" lang="en-US"/>
              <a:t>m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>
          <a:xfrm>
            <a:off x="838200" y="1317523"/>
            <a:ext cx="10515600" cy="1150374"/>
          </a:xfrm>
        </p:spPr>
        <p:txBody>
          <a:bodyPr/>
          <a:p>
            <a:r>
              <a:rPr dirty="0" lang="en-US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Introduction</a:t>
            </a:r>
            <a:br>
              <a:rPr dirty="0" lang="en-US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</a:br>
            <a:endParaRPr dirty="0" lang="en-US">
              <a:solidFill>
                <a:srgbClr val="FF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838200" y="2025445"/>
            <a:ext cx="10515600" cy="4434349"/>
          </a:xfrm>
        </p:spPr>
        <p:txBody>
          <a:bodyPr>
            <a:normAutofit fontScale="95833"/>
          </a:bodyPr>
          <a:p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In geriatric age group, hip fractures tend to become a major public health hazard.</a:t>
            </a:r>
          </a:p>
          <a:p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The number of patients with hip fractures are known to vary by age and gender and are found more frequently in older people</a:t>
            </a:r>
            <a:r>
              <a:rPr altLang="en-US" baseline="30000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altLang="en-US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altLang="en-US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Osteoporosis </a:t>
            </a:r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stands as most important independent cause of fractures in elderly especially in India</a:t>
            </a:r>
            <a:r>
              <a:rPr altLang="en-US" baseline="30000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altLang="en-US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mortality rates </a:t>
            </a:r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for patients with hip fractures are considerably high, ranging from </a:t>
            </a:r>
            <a:r>
              <a:rPr altLang="en-US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15% to 36% </a:t>
            </a:r>
            <a:r>
              <a:rPr altLang="en-US" baseline="30000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altLang="en-US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r>
              <a:rPr altLang="en-US" dirty="0" sz="2400" lang="en-US" err="1">
                <a:latin typeface="Arial" panose="020B0604020202020204" pitchFamily="34" charset="0"/>
                <a:cs typeface="Arial" panose="020B0604020202020204" pitchFamily="34" charset="0"/>
              </a:rPr>
              <a:t>Dubljanin-Raspopovic</a:t>
            </a:r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et al. reported the death rate among the elderly patients with hip fractures was </a:t>
            </a:r>
            <a:r>
              <a:rPr altLang="en-US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4 times </a:t>
            </a:r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as compared to general population</a:t>
            </a:r>
            <a:r>
              <a:rPr altLang="en-US" baseline="30000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Although </a:t>
            </a:r>
            <a:r>
              <a:rPr altLang="en-US"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early surgery </a:t>
            </a:r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has lead to a significant 19% reduction in mortality rates, it is still considerably high in comparison to other fractures</a:t>
            </a:r>
            <a:r>
              <a:rPr altLang="en-US" baseline="30000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3,4</a:t>
            </a:r>
            <a:r>
              <a:rPr altLang="en-US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altLang="en-US" baseline="30000" dirty="0" sz="240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1993776" y="1759974"/>
            <a:ext cx="8229600" cy="786581"/>
          </a:xfrm>
        </p:spPr>
        <p:txBody>
          <a:bodyPr>
            <a:normAutofit/>
          </a:bodyPr>
          <a:p>
            <a:r>
              <a:rPr dirty="0" sz="3600" lang="en-US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Aim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>
          <a:xfrm>
            <a:off x="1981200" y="2762865"/>
            <a:ext cx="8229600" cy="3463906"/>
          </a:xfrm>
        </p:spPr>
        <p:txBody>
          <a:bodyPr>
            <a:normAutofit/>
          </a:bodyPr>
          <a:p>
            <a:pPr indent="0" marL="0">
              <a:buNone/>
            </a:pP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To evaluate:</a:t>
            </a:r>
            <a:endParaRPr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marL="0">
              <a:buNone/>
            </a:pP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1) Functional outcomes of patients operated for inter trochanteric fractures in the age group of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above 70 years </a:t>
            </a: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in comparison to patients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less than 70 years</a:t>
            </a: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marL="0">
              <a:buNone/>
            </a:pP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2) All causes of readmissions and complications</a:t>
            </a:r>
            <a:endParaRPr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marL="0">
              <a:buNone/>
            </a:pP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3) Mortality rates: 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30-day mortality</a:t>
            </a: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1-year mortality rates.</a:t>
            </a:r>
            <a:endParaRPr b="1"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838200" y="1573161"/>
            <a:ext cx="10515600" cy="1415845"/>
          </a:xfrm>
        </p:spPr>
        <p:txBody>
          <a:bodyPr>
            <a:normAutofit/>
          </a:bodyPr>
          <a:p>
            <a:r>
              <a:rPr dirty="0" sz="3600" lang="en-US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Methodology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off x="1081548" y="2054942"/>
            <a:ext cx="9129252" cy="4315846"/>
          </a:xfrm>
        </p:spPr>
        <p:txBody>
          <a:bodyPr>
            <a:normAutofit/>
          </a:bodyPr>
          <a:p>
            <a:pPr indent="0" marL="0">
              <a:buNone/>
            </a:pPr>
            <a:endParaRPr dirty="0" sz="2400" lang="en-IN"/>
          </a:p>
          <a:p>
            <a:pPr indent="0" lvl="0" marL="0">
              <a:buNone/>
            </a:pP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TYPE OF STUDY- </a:t>
            </a:r>
            <a:r>
              <a:rPr b="1" dirty="0" sz="2400" lang="en-IN">
                <a:latin typeface="Arial" panose="020B0604020202020204" pitchFamily="34" charset="0"/>
                <a:cs typeface="Arial" panose="020B0604020202020204" pitchFamily="34" charset="0"/>
              </a:rPr>
              <a:t>Retrospective observational study.</a:t>
            </a:r>
          </a:p>
          <a:p>
            <a:pPr indent="0" lvl="0" marL="0">
              <a:buNone/>
            </a:pP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SAMPLE SIZE- </a:t>
            </a:r>
            <a:endParaRPr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indent="-457200" marL="457200">
              <a:buFont typeface="Arial" panose="020B0604020202090204" pitchFamily="34" charset="0"/>
              <a:buChar char="•"/>
            </a:pP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 Cohort 1: Patients </a:t>
            </a:r>
            <a:r>
              <a:rPr altLang="en-IN" dirty="0" sz="240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operated for inter trochanteric fractures</a:t>
            </a: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above the age of 70 years </a:t>
            </a:r>
            <a:r>
              <a:rPr altLang="en-IN" dirty="0" sz="240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with minimum one year follow up operated from 2022 to 2024</a:t>
            </a:r>
          </a:p>
          <a:p>
            <a:pPr algn="l" indent="-457200" marL="457200">
              <a:buFont typeface="Arial" panose="020B0604020202090204" pitchFamily="34" charset="0"/>
              <a:buChar char="•"/>
            </a:pPr>
            <a:endParaRPr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indent="-457200" marL="457200">
              <a:buFont typeface="Arial" panose="020B0604020202090204" pitchFamily="34" charset="0"/>
              <a:buChar char="•"/>
            </a:pP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Cohort 2: </a:t>
            </a:r>
            <a:r>
              <a:rPr altLang="en-IN" dirty="0" sz="240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Equal number of p</a:t>
            </a: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atients </a:t>
            </a:r>
            <a:r>
              <a:rPr altLang="en-IN" dirty="0" sz="240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operated for inter trochanteric fractures</a:t>
            </a:r>
            <a:r>
              <a:rPr dirty="0" sz="240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below the age of 70 years</a:t>
            </a:r>
            <a:endParaRPr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dirty="0" sz="2400"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lvl="0" marL="0">
              <a:buNone/>
            </a:pPr>
            <a:endParaRPr b="1" dirty="0" sz="2400" lang="en-IN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3"/>
          <p:cNvSpPr txBox="1"/>
          <p:nvPr/>
        </p:nvSpPr>
        <p:spPr>
          <a:xfrm>
            <a:off x="1209367" y="1288027"/>
            <a:ext cx="9553575" cy="599767"/>
          </a:xfrm>
          <a:prstGeom prst="rect"/>
          <a:noFill/>
        </p:spPr>
        <p:txBody>
          <a:bodyPr anchor="b" bIns="45720" lIns="91440" rIns="91440" rtlCol="0" tIns="45720" vert="horz">
            <a:noAutofit/>
          </a:bodyPr>
          <a:lstStyle>
            <a:lvl1pPr algn="ctr" defTabSz="914400" eaLnBrk="1" hangingPunct="1" latinLnBrk="0" rtl="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dirty="0" sz="4800" lang="en-US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</a:br>
            <a:r>
              <a:rPr dirty="0" sz="4400" lang="en-US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Methodology – </a:t>
            </a:r>
            <a:r>
              <a:rPr dirty="0" sz="4400" lang="en-IN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Participants</a:t>
            </a:r>
            <a:r>
              <a:rPr altLang="en-IN" dirty="0" sz="4400" lang="en-US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-Recruitment </a:t>
            </a:r>
          </a:p>
        </p:txBody>
      </p:sp>
      <p:sp>
        <p:nvSpPr>
          <p:cNvPr id="1048600" name="Subtitle 5"/>
          <p:cNvSpPr>
            <a:spLocks noGrp="1"/>
          </p:cNvSpPr>
          <p:nvPr>
            <p:ph type="subTitle" idx="1"/>
          </p:nvPr>
        </p:nvSpPr>
        <p:spPr>
          <a:xfrm>
            <a:off x="475615" y="1750143"/>
            <a:ext cx="11588566" cy="4994786"/>
          </a:xfrm>
        </p:spPr>
        <p:txBody>
          <a:bodyPr>
            <a:normAutofit fontScale="95833" lnSpcReduction="10000"/>
          </a:bodyPr>
          <a:p>
            <a:pPr algn="l" lvl="0"/>
            <a:r>
              <a:rPr dirty="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Data of all the patients operated at </a:t>
            </a:r>
            <a:r>
              <a:rPr altLang="en-IN" b="1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KIMS hospital orthopaedic department</a:t>
            </a:r>
            <a:r>
              <a:rPr b="1" dirty="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between 20</a:t>
            </a:r>
            <a:r>
              <a:rPr altLang="en-IN" b="1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22 </a:t>
            </a:r>
            <a:r>
              <a:rPr b="1" dirty="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 20</a:t>
            </a:r>
            <a:r>
              <a:rPr altLang="en-IN" b="1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24</a:t>
            </a:r>
            <a:r>
              <a:rPr dirty="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altLang="en-IN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with minimum follow up of 1 year will</a:t>
            </a:r>
            <a:r>
              <a:rPr dirty="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be retrieved from the </a:t>
            </a:r>
            <a:r>
              <a:rPr altLang="en-IN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case sheets </a:t>
            </a:r>
            <a:endParaRPr dirty="0" lang="en-IN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l" lvl="0"/>
            <a:r>
              <a:rPr altLang="en-IN" dirty="0"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Inclusion criteria-</a:t>
            </a:r>
          </a:p>
          <a:p>
            <a:pPr algn="l" indent="-342900" lvl="0" marL="342900">
              <a:buFont typeface="Arial" panose="020B0604020202090204" pitchFamily="34" charset="0"/>
              <a:buChar char="•"/>
            </a:pPr>
            <a:r>
              <a:rPr dirty="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dirty="0" lang="en-GB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ll</a:t>
            </a:r>
            <a:r>
              <a:rPr dirty="0"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patients who have undergone </a:t>
            </a:r>
            <a:r>
              <a:rPr altLang="en-GB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surgery for trochanteric fractures(PFN,DHS),</a:t>
            </a:r>
            <a:r>
              <a:rPr dirty="0"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with a minimum follow-up of 1 year.</a:t>
            </a:r>
            <a:endParaRPr dirty="0" lang="en-GB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indent="-342900" lvl="0" marL="342900">
              <a:buFont typeface="Arial" panose="020B0604020202090204" pitchFamily="34" charset="0"/>
              <a:buChar char="•"/>
            </a:pPr>
            <a:r>
              <a:rPr dirty="0" lang="en-I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Availability of documentation of preoperative anaesthesia evaluation with details on ASA, CCI</a:t>
            </a:r>
            <a:r>
              <a:rPr altLang="en-IN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score</a:t>
            </a:r>
          </a:p>
          <a:p>
            <a:pPr algn="l" lvl="0"/>
            <a:r>
              <a:rPr altLang="en-IN" dirty="0" 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Exclusion criteria</a:t>
            </a:r>
          </a:p>
          <a:p>
            <a:pPr algn="l" indent="-457200" lvl="0" marL="457200">
              <a:buAutoNum type="arabicPeriod"/>
            </a:pPr>
            <a:r>
              <a:rPr altLang="en-GB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Pathological fractures</a:t>
            </a:r>
          </a:p>
          <a:p>
            <a:pPr algn="l" indent="-457200" lvl="0" marL="457200">
              <a:buAutoNum type="arabicPeriod"/>
            </a:pPr>
            <a:r>
              <a:rPr dirty="0"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Previous </a:t>
            </a:r>
            <a:r>
              <a:rPr altLang="en-GB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hip surgery</a:t>
            </a:r>
            <a:r>
              <a:rPr dirty="0"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</a:p>
          <a:p>
            <a:pPr algn="l" indent="-457200" lvl="0" marL="457200">
              <a:buAutoNum type="arabicPeriod"/>
            </a:pPr>
            <a:r>
              <a:rPr dirty="0"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Revision </a:t>
            </a:r>
            <a:r>
              <a:rPr altLang="en-GB" dirty="0"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hip</a:t>
            </a:r>
            <a:r>
              <a:rPr dirty="0"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procedures </a:t>
            </a:r>
          </a:p>
          <a:p>
            <a:pPr algn="l" indent="-457200" lvl="0" marL="457200">
              <a:buAutoNum type="arabicPeriod"/>
            </a:pPr>
            <a:r>
              <a:rPr dirty="0" lang="en-GB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Loss to follow up</a:t>
            </a:r>
            <a:endParaRPr altLang="en-IN" dirty="0"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indent="-342900" lvl="0" marL="342900">
              <a:buFont typeface="Arial" panose="020B0604020202090204" pitchFamily="34" charset="0"/>
              <a:buChar char="•"/>
            </a:pPr>
            <a:endParaRPr dirty="0" lang="en-IN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algn="l" indent="-342900" lvl="0" marL="342900">
              <a:buFont typeface="Arial" panose="020B0604020202090204" pitchFamily="34" charset="0"/>
              <a:buChar char="•"/>
            </a:pPr>
            <a:endParaRPr dirty="0" sz="3200" lang="en-IN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 lvl="0"/>
            <a:endParaRPr dirty="0" lang="en-I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l" indent="-342900" lvl="0" marL="342900">
              <a:buFont typeface="Arial" panose="020B0604020202090204" pitchFamily="34" charset="0"/>
              <a:buChar char="•"/>
            </a:pPr>
            <a:endParaRPr dirty="0" lang="en-IN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 indent="-342900" lvl="0" marL="342900">
              <a:buFont typeface="Arial" panose="020B0604020202090204" pitchFamily="34" charset="0"/>
              <a:buChar char="•"/>
            </a:pPr>
            <a:endParaRPr dirty="0" lang="en-IN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algn="l" indent="-342900" lvl="0" marL="342900">
              <a:buFont typeface="Arial" panose="020B0604020202090204" pitchFamily="34" charset="0"/>
              <a:buChar char="•"/>
            </a:pPr>
            <a:endParaRPr dirty="0" lang="en-I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-342900" lvl="0" marL="342900"/>
            <a:endParaRPr dirty="0" lang="en-IN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dirty="0"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838200" y="1160205"/>
            <a:ext cx="10515600" cy="1297859"/>
          </a:xfrm>
        </p:spPr>
        <p:txBody>
          <a:bodyPr/>
          <a:p>
            <a:r>
              <a:rPr dirty="0" lang="en-US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Results-Patient recruitment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838200" y="1691148"/>
            <a:ext cx="10744200" cy="5166851"/>
          </a:xfrm>
        </p:spPr>
        <p:txBody>
          <a:bodyPr/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Total trochanteric fractures operated from 2022-2024 are 334(PFN/DHS for IT fractures)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20 patients lost to follow up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10 patients excluded due to insufficient preoperative data</a:t>
            </a:r>
          </a:p>
          <a:p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137 patients </a:t>
            </a: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of age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more than 70years </a:t>
            </a: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compared with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equal number</a:t>
            </a: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of patients </a:t>
            </a:r>
            <a:r>
              <a:rPr b="1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in less than 70years </a:t>
            </a: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age group matched in terms of gender, side operated, implant used and minimum follow up period.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A total of 274 patients (137 in each age group) were included. The mean pre-fracture EQ-5D index was similar between the groups (&lt;70 y: 0.64 ± 0.12; ≥70 y: 0.61 ± 0.14; p = 0.08). 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At 6 months, both groups showed significant declines compared with baseline, with partial recovery by 12 months.</a:t>
            </a:r>
          </a:p>
          <a:p>
            <a:pPr indent="0" marL="0">
              <a:buNone/>
            </a:pPr>
            <a:endParaRPr dirty="0" lang="en-US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658761" y="1317524"/>
            <a:ext cx="10695039" cy="5447070"/>
          </a:xfrm>
        </p:spPr>
        <p:txBody>
          <a:bodyPr/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First, we found that mortality within one month of surgery was notably higher in the ≥70 years group compared to the &lt;70 years group. 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The most common cause of death in our cohort was myocardial infarction (MI), which aligns with previous reports emphasizing the high cardiovascular risk in elderly fracture patients</a:t>
            </a:r>
            <a:r>
              <a:rPr baseline="30000"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5,6,7</a:t>
            </a:r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Similarly, readmission rates within one month were higher in the elderly group, with chronic kidney disease (CKD) emerging as the most frequent cause. This finding highlights the role of pre-existing renal dysfunction in influencing postoperative recovery and complications.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Comparing our findings with prior studies, the overall mortality and readmission rates are in line with international data, though the predominance of CKD as a readmission cause appears more pronounced in our cohort. 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838200" y="1229032"/>
            <a:ext cx="10515600" cy="1061884"/>
          </a:xfrm>
        </p:spPr>
        <p:txBody>
          <a:bodyPr/>
          <a:p>
            <a:r>
              <a:rPr b="1" dirty="0" lang="en-IN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838200" y="2290915"/>
            <a:ext cx="10515600" cy="3886047"/>
          </a:xfrm>
        </p:spPr>
        <p:txBody>
          <a:bodyPr/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Finally, our study emphasizes the need for a multidisciplinary approach involving orthopedics, cardiology, nephrology, and geriatric medicine to reduce the burden of postoperative complications in intertrochanteric fractures.</a:t>
            </a:r>
          </a:p>
          <a:p>
            <a:r>
              <a:rPr dirty="0" sz="2400" lang="en-US">
                <a:latin typeface="Arial" panose="020B0604020202020204" pitchFamily="34" charset="0"/>
                <a:cs typeface="Arial" panose="020B0604020202020204" pitchFamily="34" charset="0"/>
              </a:rPr>
              <a:t> Preventive strategies, including cardiac risk assessment, renal optimization, and structured follow-up, may improve long-term outcomes.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838200" y="1268361"/>
            <a:ext cx="10515600" cy="1337187"/>
          </a:xfrm>
        </p:spPr>
        <p:txBody>
          <a:bodyPr/>
          <a:p>
            <a:r>
              <a:rPr b="1" dirty="0" lang="en-IN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710381" y="2074606"/>
            <a:ext cx="10515600" cy="4783393"/>
          </a:xfrm>
        </p:spPr>
        <p:txBody>
          <a:bodyPr>
            <a:normAutofit/>
          </a:bodyPr>
          <a:p>
            <a:pPr indent="0" marL="0">
              <a:buNone/>
            </a:pPr>
            <a:r>
              <a:rPr dirty="0" sz="1400" lang="en-IN">
                <a:latin typeface="Arial" panose="020B0604020202020204" pitchFamily="34" charset="0"/>
                <a:cs typeface="Arial" panose="020B0604020202020204" pitchFamily="34" charset="0"/>
              </a:rPr>
              <a:t>1) Hao Y, Wang R, Chen Z, Zhou F, Ji H, Tian Y, Zhang Z, Guo Y, </a:t>
            </a:r>
            <a:r>
              <a:rPr dirty="0" sz="1400" lang="en-IN" err="1">
                <a:latin typeface="Arial" panose="020B0604020202020204" pitchFamily="34" charset="0"/>
                <a:cs typeface="Arial" panose="020B0604020202020204" pitchFamily="34" charset="0"/>
              </a:rPr>
              <a:t>Lv</a:t>
            </a:r>
            <a:r>
              <a:rPr dirty="0" sz="1400" lang="en-IN">
                <a:latin typeface="Arial" panose="020B0604020202020204" pitchFamily="34" charset="0"/>
                <a:cs typeface="Arial" panose="020B0604020202020204" pitchFamily="34" charset="0"/>
              </a:rPr>
              <a:t> Y, Yang Z, Hou G. One-year mortality risk in older individuals with femoral intertrochanteric fracture: a tertiary centre in China. BMC geriatrics. 2024 Jun 22;24(1):544.</a:t>
            </a:r>
          </a:p>
          <a:p>
            <a:pPr indent="0" marL="0">
              <a:buNone/>
            </a:pPr>
            <a:r>
              <a:rPr dirty="0" sz="1400" lang="en-IN"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dirty="0" sz="1400" lang="en-IN" err="1">
                <a:latin typeface="Arial" panose="020B0604020202020204" pitchFamily="34" charset="0"/>
                <a:cs typeface="Arial" panose="020B0604020202020204" pitchFamily="34" charset="0"/>
              </a:rPr>
              <a:t>Dubljanin-Raspopovic</a:t>
            </a:r>
            <a:r>
              <a:rPr dirty="0" sz="1400" lang="en-IN">
                <a:latin typeface="Arial" panose="020B0604020202020204" pitchFamily="34" charset="0"/>
                <a:cs typeface="Arial" panose="020B0604020202020204" pitchFamily="34" charset="0"/>
              </a:rPr>
              <a:t> E, Markovic-Denic L, Marinkovic J, Nedeljkovic U,  </a:t>
            </a:r>
            <a:r>
              <a:rPr dirty="0" sz="1400" lang="en-IN" err="1">
                <a:latin typeface="Arial" panose="020B0604020202020204" pitchFamily="34" charset="0"/>
                <a:cs typeface="Arial" panose="020B0604020202020204" pitchFamily="34" charset="0"/>
              </a:rPr>
              <a:t>Bumbaširevic</a:t>
            </a:r>
            <a:r>
              <a:rPr dirty="0" sz="1400" lang="en-IN">
                <a:latin typeface="Arial" panose="020B0604020202020204" pitchFamily="34" charset="0"/>
                <a:cs typeface="Arial" panose="020B0604020202020204" pitchFamily="34" charset="0"/>
              </a:rPr>
              <a:t> M. Does early functional outcome predict 1-year mortality in elderly patients with hip fracture?. Clinical Orthopaedics and Related Research®. 2013 Aug 1;471(8):2703-10.</a:t>
            </a:r>
          </a:p>
          <a:p>
            <a:pPr indent="0" marL="0">
              <a:buNone/>
            </a:pPr>
            <a:r>
              <a:rPr dirty="0" sz="1400" lang="en-IN">
                <a:latin typeface="Arial" panose="020B0604020202020204" pitchFamily="34" charset="0"/>
                <a:cs typeface="Arial" panose="020B0604020202020204" pitchFamily="34" charset="0"/>
              </a:rPr>
              <a:t>3) Zhao F, Wang X, Dou Y, Wang H, Zhang Y. Analysis of risk factors for perioperative mortality in elderly patients with intertrochanteric fracture. European Journal of Orthopaedic Surgery &amp; Traumatology. 2019 Jan 8;29(1):59-63.</a:t>
            </a:r>
          </a:p>
          <a:p>
            <a:pPr indent="0" marL="0">
              <a:buNone/>
            </a:pPr>
            <a:r>
              <a:rPr dirty="0" sz="1400" lang="en-IN">
                <a:latin typeface="Arial" panose="020B0604020202020204" pitchFamily="34" charset="0"/>
                <a:cs typeface="Arial" panose="020B0604020202020204" pitchFamily="34" charset="0"/>
              </a:rPr>
              <a:t>4)</a:t>
            </a:r>
            <a:r>
              <a:rPr dirty="0" sz="1400" lang="en-US">
                <a:latin typeface="Arial" panose="020B0604020202020204" pitchFamily="34" charset="0"/>
                <a:cs typeface="Arial" panose="020B0604020202020204" pitchFamily="34" charset="0"/>
              </a:rPr>
              <a:t> Yang L, Yang H, Chen Q, Shen H, Wang Z. Analysis of risk factors for 90-day mortality after surgery in elderly patients with intertrochanteric fractures and a history of cardiovascular disease. Annals of Palliative Medicine. 2022 Jan;11(1):15562-162.</a:t>
            </a:r>
          </a:p>
          <a:p>
            <a:pPr indent="0" marL="0">
              <a:buNone/>
            </a:pPr>
            <a:r>
              <a:rPr dirty="0" sz="16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5) Lin JC, Liang WM. Mortality, readmission, and reoperation after hip fracture in nonagenarians. BMC Musculoskeletal Disorders. 2017 Apr 4;18(1):144.</a:t>
            </a:r>
          </a:p>
          <a:p>
            <a:pPr indent="0" marL="0">
              <a:buNone/>
            </a:pPr>
            <a:r>
              <a:rPr dirty="0" sz="16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dirty="0" sz="1600" lang="en-IN"/>
              <a:t> </a:t>
            </a:r>
            <a:r>
              <a:rPr dirty="0" sz="160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Jianda</a:t>
            </a:r>
            <a:r>
              <a:rPr dirty="0" sz="16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X, Homma Y, Jinnai Y, Baba T, Zhuang X, Watari T, Banno S, Kaneko K. Relationship between Charlson comorbidity index, early recovery and 2-year mortality in elderly patients undergoing surgical treatment of inter-trochanteric fractures: a retrospective analysis. Scientific Reports. 2021 Aug 25;11(1):17195</a:t>
            </a:r>
            <a:r>
              <a:rPr dirty="0" sz="1600" lang="en-IN"/>
              <a:t>.</a:t>
            </a:r>
          </a:p>
          <a:p>
            <a:pPr indent="0" marL="0">
              <a:buNone/>
            </a:pPr>
            <a:r>
              <a:rPr dirty="0" sz="16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dirty="0" sz="1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Ju JB, Zhang PX, Jiang BG. Risk factors for functional outcomes of the elderly with intertrochanteric fracture: a retrospective cohort study. </a:t>
            </a:r>
            <a:r>
              <a:rPr dirty="0" sz="160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Orthopaedic</a:t>
            </a:r>
            <a:r>
              <a:rPr dirty="0" sz="1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Surgery. 2019 Aug;11(4):643-52</a:t>
            </a:r>
            <a:r>
              <a:rPr dirty="0" sz="1600" lang="en-US"/>
              <a:t>.</a:t>
            </a:r>
            <a:endParaRPr dirty="0" sz="1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0">
              <a:buNone/>
            </a:pPr>
            <a:endParaRPr dirty="0"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r Template-Ossapcon 2026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Mortality,Readmission and Reoperation after hip fracture in septagenarians</dc:title>
  <dc:creator>manohar</dc:creator>
  <cp:lastModifiedBy>kotireddy m</cp:lastModifiedBy>
  <dcterms:created xsi:type="dcterms:W3CDTF">2025-09-09T03:31:54Z</dcterms:created>
  <dcterms:modified xsi:type="dcterms:W3CDTF">2026-02-02T16:48:39Z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bb00cdc1e33b47deb511ffed5e6377aa</vt:lpwstr>
  </property>
  <property fmtid="{D5CDD505-2E9C-101B-9397-08002B2CF9AE}" pid="3" name="KSOProductBuildVer">
    <vt:lpwstr>1033-6.13.1.8710</vt:lpwstr>
  </property>
</Properties>
</file>