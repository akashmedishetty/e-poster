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1" r:id="rId6"/>
    <p:sldId id="260" r:id="rId7"/>
    <p:sldId id="265"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911BA8-5A13-4270-AA89-6B4FED5C0BA7}" type="datetimeFigureOut">
              <a:rPr lang="en-IN" smtClean="0"/>
              <a:t>24-01-2026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ADFACD-F9B3-4320-AB18-4E896A94D94C}" type="slidenum">
              <a:rPr lang="en-IN" smtClean="0"/>
              <a:t>‹#›</a:t>
            </a:fld>
            <a:endParaRPr lang="en-IN"/>
          </a:p>
        </p:txBody>
      </p:sp>
    </p:spTree>
    <p:extLst>
      <p:ext uri="{BB962C8B-B14F-4D97-AF65-F5344CB8AC3E}">
        <p14:creationId xmlns:p14="http://schemas.microsoft.com/office/powerpoint/2010/main" val="1378886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FADFACD-F9B3-4320-AB18-4E896A94D94C}" type="slidenum">
              <a:rPr lang="en-IN" smtClean="0"/>
              <a:t>2</a:t>
            </a:fld>
            <a:endParaRPr lang="en-IN"/>
          </a:p>
        </p:txBody>
      </p:sp>
    </p:spTree>
    <p:extLst>
      <p:ext uri="{BB962C8B-B14F-4D97-AF65-F5344CB8AC3E}">
        <p14:creationId xmlns:p14="http://schemas.microsoft.com/office/powerpoint/2010/main" val="3581712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1/24/2026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1/24/2026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1/24/2026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1/24/2026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1/24/2026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1/24/2026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1/24/2026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1/24/2026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1/24/2026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1/24/2026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1/24/2026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422EEB-C18E-401D-4D14-F61D82881EC6}"/>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5A44D43F-1B53-AAA9-B551-4D46D6B6290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9F3FAB85-38C0-CBC3-894D-F14B0983660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AAAF0D4-F34A-1980-C65B-0B0205913902}"/>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94EFB44A-ED67-5BFE-548D-FCB7384C661F}"/>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BA2ED9E8-378E-74DB-69F2-37A19A83672D}"/>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E2363BD-0C06-5137-F50F-3CB1079D47C5}"/>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A034863C-B4F3-2506-7721-DA2D88319DB1}"/>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DB3DF3-38CC-F3D5-E691-7BEC7B482DB8}"/>
              </a:ext>
            </a:extLst>
          </p:cNvPr>
          <p:cNvSpPr txBox="1"/>
          <p:nvPr/>
        </p:nvSpPr>
        <p:spPr>
          <a:xfrm>
            <a:off x="816429" y="2024743"/>
            <a:ext cx="10744200" cy="830997"/>
          </a:xfrm>
          <a:prstGeom prst="rect">
            <a:avLst/>
          </a:prstGeom>
          <a:noFill/>
        </p:spPr>
        <p:txBody>
          <a:bodyPr wrap="square">
            <a:spAutoFit/>
          </a:bodyPr>
          <a:lstStyle/>
          <a:p>
            <a:r>
              <a:rPr lang="en-US" b="1">
                <a:latin typeface="Times New Roman" panose="02020603050405020304" pitchFamily="18" charset="0"/>
                <a:ea typeface="Calibri" panose="020F0502020204030204" pitchFamily="34" charset="0"/>
                <a:cs typeface="Arial" panose="020B0604020202020204" pitchFamily="34" charset="0"/>
              </a:rPr>
              <a:t>“</a:t>
            </a:r>
            <a:r>
              <a:rPr lang="en-US" sz="2400" b="1">
                <a:effectLst/>
                <a:latin typeface="Arial" panose="020B0604020202020204" pitchFamily="34" charset="0"/>
                <a:ea typeface="Calibri" panose="020F0502020204030204" pitchFamily="34" charset="0"/>
                <a:cs typeface="Arial" panose="020B0604020202020204" pitchFamily="34" charset="0"/>
              </a:rPr>
              <a:t>EVALUATION </a:t>
            </a:r>
            <a:r>
              <a:rPr lang="en-US" sz="2400" b="1" dirty="0">
                <a:effectLst/>
                <a:latin typeface="Arial" panose="020B0604020202020204" pitchFamily="34" charset="0"/>
                <a:ea typeface="Calibri" panose="020F0502020204030204" pitchFamily="34" charset="0"/>
                <a:cs typeface="Arial" panose="020B0604020202020204" pitchFamily="34" charset="0"/>
              </a:rPr>
              <a:t>OF RESULTS IN LAMINECTOMY AND DISCECTOMY FOR SYMPTOMATIC LUMBAR INTERVERTEBRAL </a:t>
            </a:r>
            <a:r>
              <a:rPr lang="en-US" sz="2400" b="1">
                <a:effectLst/>
                <a:latin typeface="Arial" panose="020B0604020202020204" pitchFamily="34" charset="0"/>
                <a:ea typeface="Calibri" panose="020F0502020204030204" pitchFamily="34" charset="0"/>
                <a:cs typeface="Arial" panose="020B0604020202020204" pitchFamily="34" charset="0"/>
              </a:rPr>
              <a:t>DISC PROLAPSE”</a:t>
            </a:r>
            <a:endParaRPr lang="en-IN" sz="2400"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5AC12D-D492-1245-5D55-D33B7843CFFF}"/>
              </a:ext>
            </a:extLst>
          </p:cNvPr>
          <p:cNvSpPr txBox="1"/>
          <p:nvPr/>
        </p:nvSpPr>
        <p:spPr>
          <a:xfrm>
            <a:off x="1752599" y="3429000"/>
            <a:ext cx="8485414" cy="2230419"/>
          </a:xfrm>
          <a:prstGeom prst="rect">
            <a:avLst/>
          </a:prstGeom>
          <a:noFill/>
        </p:spPr>
        <p:txBody>
          <a:bodyPr wrap="square">
            <a:spAutoFit/>
          </a:bodyPr>
          <a:lstStyle/>
          <a:p>
            <a:pPr marL="0" marR="0" lvl="0" indent="0" algn="ctr" defTabSz="914400" rtl="0" eaLnBrk="1" fontAlgn="auto" latinLnBrk="0" hangingPunct="1">
              <a:lnSpc>
                <a:spcPct val="88000"/>
              </a:lnSpc>
              <a:spcBef>
                <a:spcPts val="1000"/>
              </a:spcBef>
              <a:spcAft>
                <a:spcPts val="0"/>
              </a:spcAft>
              <a:buClrTx/>
              <a:buSzTx/>
              <a:buFont typeface="Arial" panose="020B0604020202020204" pitchFamily="34" charset="0"/>
              <a:buNone/>
              <a:tabLst/>
              <a:defRPr sz="1700" b="1">
                <a:solidFill>
                  <a:srgbClr val="000000"/>
                </a:solidFill>
                <a:latin typeface="Times New Roman"/>
                <a:ea typeface="Times New Roman"/>
                <a:cs typeface="Times New Roman"/>
                <a:sym typeface="Times New Roman"/>
              </a:defRPr>
            </a:pPr>
            <a:r>
              <a:rPr kumimoji="0" lang="en-IN" sz="24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Times New Roman"/>
              </a:rPr>
              <a:t>PRESENTER:</a:t>
            </a:r>
            <a:r>
              <a:rPr kumimoji="0" lang="en-US" sz="24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Times New Roman"/>
              </a:rPr>
              <a:t> Dr. </a:t>
            </a:r>
            <a:r>
              <a:rPr lang="en-US" sz="2400" dirty="0">
                <a:solidFill>
                  <a:srgbClr val="000000"/>
                </a:solidFill>
                <a:latin typeface="Arial" panose="020B0604020202020204" pitchFamily="34" charset="0"/>
                <a:cs typeface="Arial" panose="020B0604020202020204" pitchFamily="34" charset="0"/>
                <a:sym typeface="Times New Roman"/>
              </a:rPr>
              <a:t>P SAI KIRANMAI</a:t>
            </a:r>
          </a:p>
          <a:p>
            <a:pPr marL="0" marR="0" lvl="0" indent="0" algn="ctr" defTabSz="914400" rtl="0" eaLnBrk="1" fontAlgn="auto" latinLnBrk="0" hangingPunct="1">
              <a:lnSpc>
                <a:spcPct val="88000"/>
              </a:lnSpc>
              <a:spcBef>
                <a:spcPts val="1000"/>
              </a:spcBef>
              <a:spcAft>
                <a:spcPts val="0"/>
              </a:spcAft>
              <a:buClrTx/>
              <a:buSzTx/>
              <a:buFont typeface="Arial" panose="020B0604020202020204" pitchFamily="34" charset="0"/>
              <a:buNone/>
              <a:tabLst/>
              <a:defRPr sz="1700" b="1">
                <a:solidFill>
                  <a:srgbClr val="000000"/>
                </a:solidFill>
                <a:latin typeface="Times New Roman"/>
                <a:ea typeface="Times New Roman"/>
                <a:cs typeface="Times New Roman"/>
                <a:sym typeface="Times New Roman"/>
              </a:defRPr>
            </a:pPr>
            <a:r>
              <a:rPr kumimoji="0" lang="en-IN" sz="24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Times New Roman"/>
              </a:rPr>
              <a:t>(FINAL YEAR POSTGRADUATE )</a:t>
            </a:r>
          </a:p>
          <a:p>
            <a:pPr marL="0" marR="0" lvl="0" indent="0" algn="ctr" defTabSz="914400" rtl="0" eaLnBrk="1" fontAlgn="auto" latinLnBrk="0" hangingPunct="1">
              <a:lnSpc>
                <a:spcPct val="88000"/>
              </a:lnSpc>
              <a:spcBef>
                <a:spcPts val="1000"/>
              </a:spcBef>
              <a:spcAft>
                <a:spcPts val="0"/>
              </a:spcAft>
              <a:buClrTx/>
              <a:buSzTx/>
              <a:buFont typeface="Arial" panose="020B0604020202020204" pitchFamily="34" charset="0"/>
              <a:buNone/>
              <a:tabLst/>
              <a:defRPr sz="1700" b="1">
                <a:solidFill>
                  <a:srgbClr val="000000"/>
                </a:solidFill>
                <a:latin typeface="Times New Roman"/>
                <a:ea typeface="Times New Roman"/>
                <a:cs typeface="Times New Roman"/>
                <a:sym typeface="Times New Roman"/>
              </a:defRPr>
            </a:pPr>
            <a:r>
              <a:rPr kumimoji="0" lang="en-IN" sz="24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Times New Roman"/>
              </a:rPr>
              <a:t>GUIDE :Dr. </a:t>
            </a:r>
            <a:r>
              <a:rPr lang="en-IN" sz="2400" dirty="0">
                <a:solidFill>
                  <a:srgbClr val="000000"/>
                </a:solidFill>
                <a:latin typeface="Arial" panose="020B0604020202020204" pitchFamily="34" charset="0"/>
                <a:cs typeface="Arial" panose="020B0604020202020204" pitchFamily="34" charset="0"/>
                <a:sym typeface="Times New Roman"/>
              </a:rPr>
              <a:t>CHINTAPETA RAVI</a:t>
            </a:r>
            <a:endParaRPr kumimoji="0" lang="en-IN" sz="24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Times New Roman"/>
            </a:endParaRPr>
          </a:p>
          <a:p>
            <a:pPr marL="0" marR="0" lvl="0" indent="0" algn="ctr" defTabSz="914400" rtl="0" eaLnBrk="1" fontAlgn="auto" latinLnBrk="0" hangingPunct="1">
              <a:lnSpc>
                <a:spcPct val="88000"/>
              </a:lnSpc>
              <a:spcBef>
                <a:spcPts val="1000"/>
              </a:spcBef>
              <a:spcAft>
                <a:spcPts val="0"/>
              </a:spcAft>
              <a:buClrTx/>
              <a:buSzTx/>
              <a:buFont typeface="Arial" panose="020B0604020202020204" pitchFamily="34" charset="0"/>
              <a:buNone/>
              <a:tabLst/>
              <a:defRPr sz="1700">
                <a:solidFill>
                  <a:srgbClr val="000000"/>
                </a:solidFill>
                <a:latin typeface="Times New Roman"/>
                <a:ea typeface="Times New Roman"/>
                <a:cs typeface="Times New Roman"/>
                <a:sym typeface="Times New Roman"/>
              </a:defRPr>
            </a:pPr>
            <a:r>
              <a:rPr kumimoji="0" lang="en-IN" sz="24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Times New Roman"/>
              </a:rPr>
              <a:t>PROFESSOR &amp; HOD ,DEPARTMENT OF ORTHOPAEDICS</a:t>
            </a:r>
          </a:p>
          <a:p>
            <a:pPr marL="0" marR="0" lvl="0" indent="0" algn="ctr" defTabSz="914400" rtl="0" eaLnBrk="1" fontAlgn="auto" latinLnBrk="0" hangingPunct="1">
              <a:lnSpc>
                <a:spcPct val="88000"/>
              </a:lnSpc>
              <a:spcBef>
                <a:spcPts val="1000"/>
              </a:spcBef>
              <a:spcAft>
                <a:spcPts val="0"/>
              </a:spcAft>
              <a:buClrTx/>
              <a:buSzTx/>
              <a:buFont typeface="Arial" panose="020B0604020202020204" pitchFamily="34" charset="0"/>
              <a:buNone/>
              <a:tabLst/>
              <a:defRPr sz="1700">
                <a:solidFill>
                  <a:srgbClr val="000000"/>
                </a:solidFill>
                <a:latin typeface="Times New Roman"/>
                <a:ea typeface="Times New Roman"/>
                <a:cs typeface="Times New Roman"/>
                <a:sym typeface="Times New Roman"/>
              </a:defRPr>
            </a:pPr>
            <a:r>
              <a:rPr lang="en-IN" sz="2400" b="1" dirty="0">
                <a:solidFill>
                  <a:srgbClr val="000000"/>
                </a:solidFill>
                <a:latin typeface="Arial" panose="020B0604020202020204" pitchFamily="34" charset="0"/>
                <a:cs typeface="Arial" panose="020B0604020202020204" pitchFamily="34" charset="0"/>
                <a:sym typeface="Times New Roman"/>
              </a:rPr>
              <a:t>MAHAVIR INSTITUTE OF MEDICAL SCIENCES</a:t>
            </a:r>
            <a:endParaRPr kumimoji="0" lang="en-IN" sz="2400" b="1"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Times New Roman"/>
            </a:endParaRPr>
          </a:p>
        </p:txBody>
      </p:sp>
    </p:spTree>
    <p:extLst>
      <p:ext uri="{BB962C8B-B14F-4D97-AF65-F5344CB8AC3E}">
        <p14:creationId xmlns:p14="http://schemas.microsoft.com/office/powerpoint/2010/main" val="3607354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AE2FA-F882-85FA-FCBE-C3A7EABA2650}"/>
              </a:ext>
            </a:extLst>
          </p:cNvPr>
          <p:cNvSpPr>
            <a:spLocks noGrp="1"/>
          </p:cNvSpPr>
          <p:nvPr>
            <p:ph type="title"/>
          </p:nvPr>
        </p:nvSpPr>
        <p:spPr>
          <a:xfrm>
            <a:off x="827314" y="1491343"/>
            <a:ext cx="10526486" cy="776288"/>
          </a:xfrm>
        </p:spPr>
        <p:txBody>
          <a:bodyPr/>
          <a:lstStyle/>
          <a:p>
            <a:br>
              <a:rPr lang="en-IN" sz="2400" dirty="0">
                <a:latin typeface="Arial" panose="020B0604020202020204" pitchFamily="34" charset="0"/>
                <a:cs typeface="Arial" panose="020B0604020202020204" pitchFamily="34" charset="0"/>
              </a:rPr>
            </a:br>
            <a:r>
              <a:rPr lang="en-IN" sz="2400" dirty="0">
                <a:latin typeface="Arial" panose="020B0604020202020204" pitchFamily="34" charset="0"/>
                <a:cs typeface="Arial" panose="020B0604020202020204" pitchFamily="34" charset="0"/>
              </a:rPr>
              <a:t>INTRODUCTION:</a:t>
            </a:r>
          </a:p>
        </p:txBody>
      </p:sp>
      <p:sp>
        <p:nvSpPr>
          <p:cNvPr id="3" name="Content Placeholder 2">
            <a:extLst>
              <a:ext uri="{FF2B5EF4-FFF2-40B4-BE49-F238E27FC236}">
                <a16:creationId xmlns:a16="http://schemas.microsoft.com/office/drawing/2014/main" id="{06DFECEB-4BF8-65B5-988E-A0A6F1FF7DEA}"/>
              </a:ext>
            </a:extLst>
          </p:cNvPr>
          <p:cNvSpPr>
            <a:spLocks noGrp="1"/>
          </p:cNvSpPr>
          <p:nvPr>
            <p:ph idx="1"/>
          </p:nvPr>
        </p:nvSpPr>
        <p:spPr>
          <a:xfrm>
            <a:off x="827314" y="2267631"/>
            <a:ext cx="10515600" cy="4783592"/>
          </a:xfrm>
        </p:spPr>
        <p:txBody>
          <a:bodyPr/>
          <a:lstStyle/>
          <a:p>
            <a:pPr marL="0" indent="0">
              <a:buNone/>
            </a:pPr>
            <a:r>
              <a:rPr lang="en-US" sz="2400" dirty="0">
                <a:latin typeface="Arial" panose="020B0604020202020204" pitchFamily="34" charset="0"/>
                <a:cs typeface="Arial" panose="020B0604020202020204" pitchFamily="34" charset="0"/>
              </a:rPr>
              <a:t>Approximate 2% of the general population present with low back pain as a presenting complaint. It is estimated that up to 70% of the population will experience back pain sometime in their life. </a:t>
            </a:r>
          </a:p>
          <a:p>
            <a:pPr marL="0" indent="0">
              <a:buNone/>
            </a:pPr>
            <a:r>
              <a:rPr lang="en-US" sz="2400" dirty="0">
                <a:latin typeface="Arial" panose="020B0604020202020204" pitchFamily="34" charset="0"/>
                <a:cs typeface="Arial" panose="020B0604020202020204" pitchFamily="34" charset="0"/>
              </a:rPr>
              <a:t>However, clinically significant sciatica due to lumbar disc prolapse occurs in 4-6% of the population. The people affected are most commonly below 40 years who are in economically productive age group.</a:t>
            </a:r>
          </a:p>
          <a:p>
            <a:pPr marL="0" indent="0">
              <a:buNone/>
            </a:pPr>
            <a:r>
              <a:rPr lang="en-US" sz="2400" dirty="0">
                <a:latin typeface="Arial" panose="020B0604020202020204" pitchFamily="34" charset="0"/>
                <a:cs typeface="Arial" panose="020B0604020202020204" pitchFamily="34" charset="0"/>
              </a:rPr>
              <a:t>The lumbar disc prolapse occurs after degeneration of intervertebral disc and it is remaining </a:t>
            </a:r>
            <a:r>
              <a:rPr lang="en-US" sz="2400" dirty="0" err="1">
                <a:latin typeface="Arial" panose="020B0604020202020204" pitchFamily="34" charset="0"/>
                <a:cs typeface="Arial" panose="020B0604020202020204" pitchFamily="34" charset="0"/>
              </a:rPr>
              <a:t>herniations.The</a:t>
            </a:r>
            <a:r>
              <a:rPr lang="en-US" sz="2400" dirty="0">
                <a:latin typeface="Arial" panose="020B0604020202020204" pitchFamily="34" charset="0"/>
                <a:cs typeface="Arial" panose="020B0604020202020204" pitchFamily="34" charset="0"/>
              </a:rPr>
              <a:t> presence of radicular pain and other symptoms depend on the site and degree of herniation. </a:t>
            </a:r>
          </a:p>
          <a:p>
            <a:pPr marL="0" indent="0">
              <a:buNone/>
            </a:pPr>
            <a:endParaRPr lang="en-US" sz="2400" dirty="0">
              <a:latin typeface="Arial" panose="020B0604020202020204" pitchFamily="34" charset="0"/>
              <a:cs typeface="Arial" panose="020B0604020202020204" pitchFamily="34" charset="0"/>
            </a:endParaRPr>
          </a:p>
          <a:p>
            <a:pPr marL="0" indent="0">
              <a:buNone/>
            </a:pPr>
            <a:endParaRPr lang="en-IN" dirty="0"/>
          </a:p>
        </p:txBody>
      </p:sp>
    </p:spTree>
    <p:extLst>
      <p:ext uri="{BB962C8B-B14F-4D97-AF65-F5344CB8AC3E}">
        <p14:creationId xmlns:p14="http://schemas.microsoft.com/office/powerpoint/2010/main" val="3856409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2D537-71C2-7DC0-8FD6-9F7CB1047E9D}"/>
              </a:ext>
            </a:extLst>
          </p:cNvPr>
          <p:cNvSpPr>
            <a:spLocks noGrp="1"/>
          </p:cNvSpPr>
          <p:nvPr>
            <p:ph type="title"/>
          </p:nvPr>
        </p:nvSpPr>
        <p:spPr>
          <a:xfrm>
            <a:off x="718457" y="1393371"/>
            <a:ext cx="10635343" cy="674915"/>
          </a:xfrm>
        </p:spPr>
        <p:txBody>
          <a:bodyPr/>
          <a:lstStyle/>
          <a:p>
            <a:r>
              <a:rPr lang="en-IN" sz="2400" dirty="0">
                <a:latin typeface="Arial" panose="020B0604020202020204" pitchFamily="34" charset="0"/>
                <a:cs typeface="Arial" panose="020B0604020202020204" pitchFamily="34" charset="0"/>
              </a:rPr>
              <a:t>     </a:t>
            </a:r>
            <a:br>
              <a:rPr lang="en-IN" sz="2400" dirty="0">
                <a:latin typeface="Arial" panose="020B0604020202020204" pitchFamily="34" charset="0"/>
                <a:cs typeface="Arial" panose="020B0604020202020204" pitchFamily="34" charset="0"/>
              </a:rPr>
            </a:br>
            <a:r>
              <a:rPr lang="en-IN" sz="2400" dirty="0">
                <a:latin typeface="Arial" panose="020B0604020202020204" pitchFamily="34" charset="0"/>
                <a:cs typeface="Arial" panose="020B0604020202020204" pitchFamily="34" charset="0"/>
              </a:rPr>
              <a:t>  </a:t>
            </a:r>
            <a:br>
              <a:rPr lang="en-IN" sz="2400" dirty="0">
                <a:latin typeface="Arial" panose="020B0604020202020204" pitchFamily="34" charset="0"/>
                <a:cs typeface="Arial" panose="020B0604020202020204" pitchFamily="34" charset="0"/>
              </a:rPr>
            </a:br>
            <a:r>
              <a:rPr lang="en-IN" sz="2400" dirty="0">
                <a:latin typeface="Arial" panose="020B0604020202020204" pitchFamily="34" charset="0"/>
                <a:cs typeface="Arial" panose="020B0604020202020204" pitchFamily="34" charset="0"/>
              </a:rPr>
              <a:t>    AIM:</a:t>
            </a:r>
          </a:p>
        </p:txBody>
      </p:sp>
      <p:sp>
        <p:nvSpPr>
          <p:cNvPr id="3" name="Content Placeholder 2">
            <a:extLst>
              <a:ext uri="{FF2B5EF4-FFF2-40B4-BE49-F238E27FC236}">
                <a16:creationId xmlns:a16="http://schemas.microsoft.com/office/drawing/2014/main" id="{3ABFFCCB-D45E-B998-1961-F40134FE39DD}"/>
              </a:ext>
            </a:extLst>
          </p:cNvPr>
          <p:cNvSpPr>
            <a:spLocks noGrp="1"/>
          </p:cNvSpPr>
          <p:nvPr>
            <p:ph idx="1"/>
          </p:nvPr>
        </p:nvSpPr>
        <p:spPr>
          <a:xfrm>
            <a:off x="1045028" y="2340429"/>
            <a:ext cx="10308771" cy="3836534"/>
          </a:xfrm>
        </p:spPr>
        <p:txBody>
          <a:bodyPr/>
          <a:lstStyle/>
          <a:p>
            <a:pPr marL="0" indent="0">
              <a:buNone/>
            </a:pPr>
            <a:endParaRPr lang="en-US" dirty="0"/>
          </a:p>
          <a:p>
            <a:pPr marL="0" indent="0">
              <a:buNone/>
            </a:pPr>
            <a:r>
              <a:rPr lang="en-US" dirty="0"/>
              <a:t>To study the clinical presentation of patients with lumbar intervertebral disc prolapse.</a:t>
            </a:r>
          </a:p>
          <a:p>
            <a:pPr marL="0" indent="0">
              <a:buNone/>
            </a:pPr>
            <a:endParaRPr lang="en-US" dirty="0"/>
          </a:p>
          <a:p>
            <a:pPr marL="0" indent="0">
              <a:buNone/>
            </a:pPr>
            <a:r>
              <a:rPr lang="en-US" dirty="0"/>
              <a:t>To evaluate and the clinical outcome of surgical treatment of lumbar disc prolapse by laminectomy and discectomy.</a:t>
            </a:r>
          </a:p>
          <a:p>
            <a:pPr marL="0" indent="0">
              <a:buNone/>
            </a:pPr>
            <a:endParaRPr lang="en-IN" dirty="0"/>
          </a:p>
        </p:txBody>
      </p:sp>
    </p:spTree>
    <p:extLst>
      <p:ext uri="{BB962C8B-B14F-4D97-AF65-F5344CB8AC3E}">
        <p14:creationId xmlns:p14="http://schemas.microsoft.com/office/powerpoint/2010/main" val="2118407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FEF8E-43E4-4FF5-FA9C-4B5CDBE9C8F7}"/>
              </a:ext>
            </a:extLst>
          </p:cNvPr>
          <p:cNvSpPr>
            <a:spLocks noGrp="1"/>
          </p:cNvSpPr>
          <p:nvPr>
            <p:ph type="title"/>
          </p:nvPr>
        </p:nvSpPr>
        <p:spPr>
          <a:xfrm>
            <a:off x="838200" y="1317171"/>
            <a:ext cx="10515600" cy="373517"/>
          </a:xfrm>
        </p:spPr>
        <p:txBody>
          <a:bodyPr/>
          <a:lstStyle/>
          <a:p>
            <a:br>
              <a:rPr lang="en-IN" sz="2400" dirty="0">
                <a:latin typeface="Arial" panose="020B0604020202020204" pitchFamily="34" charset="0"/>
                <a:cs typeface="Arial" panose="020B0604020202020204" pitchFamily="34" charset="0"/>
              </a:rPr>
            </a:br>
            <a:r>
              <a:rPr lang="en-IN" sz="2400" dirty="0">
                <a:latin typeface="Arial" panose="020B0604020202020204" pitchFamily="34" charset="0"/>
                <a:cs typeface="Arial" panose="020B0604020202020204" pitchFamily="34" charset="0"/>
              </a:rPr>
              <a:t>METHODS:</a:t>
            </a:r>
          </a:p>
        </p:txBody>
      </p:sp>
      <p:sp>
        <p:nvSpPr>
          <p:cNvPr id="3" name="Content Placeholder 2">
            <a:extLst>
              <a:ext uri="{FF2B5EF4-FFF2-40B4-BE49-F238E27FC236}">
                <a16:creationId xmlns:a16="http://schemas.microsoft.com/office/drawing/2014/main" id="{5EF8EC2A-4AF8-8D04-0B19-B4E6C5912AB5}"/>
              </a:ext>
            </a:extLst>
          </p:cNvPr>
          <p:cNvSpPr>
            <a:spLocks noGrp="1"/>
          </p:cNvSpPr>
          <p:nvPr>
            <p:ph idx="1"/>
          </p:nvPr>
        </p:nvSpPr>
        <p:spPr>
          <a:xfrm>
            <a:off x="838200" y="1690688"/>
            <a:ext cx="10515600" cy="4486275"/>
          </a:xfrm>
        </p:spPr>
        <p:txBody>
          <a:bodyPr/>
          <a:lstStyle/>
          <a:p>
            <a:pPr>
              <a:lnSpc>
                <a:spcPts val="1000"/>
              </a:lnSpc>
              <a:buNone/>
            </a:pPr>
            <a:r>
              <a:rPr lang="en-US" sz="1600" dirty="0">
                <a:effectLst/>
                <a:latin typeface="Times New Roman" panose="02020603050405020304" pitchFamily="18" charset="0"/>
                <a:ea typeface="Times New Roman" panose="02020603050405020304" pitchFamily="18" charset="0"/>
                <a:cs typeface="Arial" panose="020B0604020202020204" pitchFamily="34" charset="0"/>
              </a:rPr>
              <a:t> </a:t>
            </a:r>
            <a:endParaRPr lang="en-IN" sz="16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sz="2400" dirty="0">
              <a:effectLst/>
              <a:latin typeface="Arial" panose="020B0604020202020204" pitchFamily="34" charset="0"/>
              <a:ea typeface="Arial" panose="020B0604020202020204" pitchFamily="34" charset="0"/>
              <a:cs typeface="Arial" panose="020B0604020202020204" pitchFamily="34" charset="0"/>
            </a:endParaRPr>
          </a:p>
          <a:p>
            <a:pPr marL="0" indent="0">
              <a:buNone/>
            </a:pPr>
            <a:r>
              <a:rPr lang="en-US" sz="2400" dirty="0">
                <a:effectLst/>
                <a:latin typeface="Arial" panose="020B0604020202020204" pitchFamily="34" charset="0"/>
                <a:ea typeface="Arial" panose="020B0604020202020204" pitchFamily="34" charset="0"/>
                <a:cs typeface="Arial" panose="020B0604020202020204" pitchFamily="34" charset="0"/>
              </a:rPr>
              <a:t>Under general </a:t>
            </a:r>
            <a:r>
              <a:rPr lang="en-US" sz="2400" dirty="0" err="1">
                <a:effectLst/>
                <a:latin typeface="Arial" panose="020B0604020202020204" pitchFamily="34" charset="0"/>
                <a:ea typeface="Arial" panose="020B0604020202020204" pitchFamily="34" charset="0"/>
                <a:cs typeface="Arial" panose="020B0604020202020204" pitchFamily="34" charset="0"/>
              </a:rPr>
              <a:t>anaesthesia</a:t>
            </a:r>
            <a:r>
              <a:rPr lang="en-US" sz="2400" dirty="0">
                <a:effectLst/>
                <a:latin typeface="Arial" panose="020B0604020202020204" pitchFamily="34" charset="0"/>
                <a:ea typeface="Arial" panose="020B0604020202020204" pitchFamily="34" charset="0"/>
                <a:cs typeface="Arial" panose="020B0604020202020204" pitchFamily="34" charset="0"/>
              </a:rPr>
              <a:t> the patient is positioned in a  prone position.</a:t>
            </a:r>
          </a:p>
          <a:p>
            <a:pPr marL="0" indent="0">
              <a:buNone/>
            </a:pPr>
            <a:r>
              <a:rPr lang="en-US" sz="2400" dirty="0">
                <a:effectLst/>
                <a:latin typeface="Arial" panose="020B0604020202020204" pitchFamily="34" charset="0"/>
                <a:ea typeface="Arial" panose="020B0604020202020204" pitchFamily="34" charset="0"/>
                <a:cs typeface="Arial" panose="020B0604020202020204" pitchFamily="34" charset="0"/>
              </a:rPr>
              <a:t>A mid line skin incision is made centering over the spinous process as per the preoperative location of the level, soft tissues are elevated subperiosteally from the spinous process and lamina. </a:t>
            </a:r>
          </a:p>
          <a:p>
            <a:pPr marL="0" indent="0">
              <a:buNone/>
            </a:pPr>
            <a:r>
              <a:rPr lang="en-US" sz="2400" dirty="0">
                <a:effectLst/>
                <a:latin typeface="Arial" panose="020B0604020202020204" pitchFamily="34" charset="0"/>
                <a:ea typeface="Arial" panose="020B0604020202020204" pitchFamily="34" charset="0"/>
                <a:cs typeface="Arial" panose="020B0604020202020204" pitchFamily="34" charset="0"/>
              </a:rPr>
              <a:t>A window is made by incising the ligamentum flavum and nibbling the inferior margin of the lamina. </a:t>
            </a:r>
          </a:p>
          <a:p>
            <a:pPr marL="0" indent="0">
              <a:buNone/>
            </a:pPr>
            <a:r>
              <a:rPr lang="en-US" sz="2400" dirty="0">
                <a:effectLst/>
                <a:latin typeface="Arial" panose="020B0604020202020204" pitchFamily="34" charset="0"/>
                <a:ea typeface="Arial" panose="020B0604020202020204" pitchFamily="34" charset="0"/>
                <a:cs typeface="Arial" panose="020B0604020202020204" pitchFamily="34" charset="0"/>
              </a:rPr>
              <a:t>The dura and the nerve root are retracted to identify the disc pathology. The disc is removed </a:t>
            </a:r>
            <a:r>
              <a:rPr lang="en-US" sz="2400" dirty="0" err="1">
                <a:effectLst/>
                <a:latin typeface="Arial" panose="020B0604020202020204" pitchFamily="34" charset="0"/>
                <a:ea typeface="Arial" panose="020B0604020202020204" pitchFamily="34" charset="0"/>
                <a:cs typeface="Arial" panose="020B0604020202020204" pitchFamily="34" charset="0"/>
              </a:rPr>
              <a:t>extradurally</a:t>
            </a:r>
            <a:r>
              <a:rPr lang="en-US" sz="2400" dirty="0">
                <a:effectLst/>
                <a:latin typeface="Arial" panose="020B0604020202020204" pitchFamily="34" charset="0"/>
                <a:ea typeface="Arial" panose="020B0604020202020204" pitchFamily="34" charset="0"/>
                <a:cs typeface="Arial" panose="020B0604020202020204" pitchFamily="34" charset="0"/>
              </a:rPr>
              <a:t>. </a:t>
            </a:r>
          </a:p>
          <a:p>
            <a:pPr marL="0" indent="0">
              <a:buNone/>
            </a:pPr>
            <a:r>
              <a:rPr lang="en-US" sz="2400" dirty="0" err="1">
                <a:effectLst/>
                <a:latin typeface="Arial" panose="020B0604020202020204" pitchFamily="34" charset="0"/>
                <a:ea typeface="Arial" panose="020B0604020202020204" pitchFamily="34" charset="0"/>
                <a:cs typeface="Arial" panose="020B0604020202020204" pitchFamily="34" charset="0"/>
              </a:rPr>
              <a:t>Haemostasis</a:t>
            </a:r>
            <a:r>
              <a:rPr lang="en-US" sz="2400" dirty="0">
                <a:effectLst/>
                <a:latin typeface="Arial" panose="020B0604020202020204" pitchFamily="34" charset="0"/>
                <a:ea typeface="Arial" panose="020B0604020202020204" pitchFamily="34" charset="0"/>
                <a:cs typeface="Arial" panose="020B0604020202020204" pitchFamily="34" charset="0"/>
              </a:rPr>
              <a:t> is achieved and the wound is closed in layers </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051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92002431-CADE-D4AD-6D63-09E2353E9945}"/>
              </a:ext>
            </a:extLst>
          </p:cNvPr>
          <p:cNvPicPr>
            <a:picLocks noGrp="1" noChangeAspect="1"/>
          </p:cNvPicPr>
          <p:nvPr>
            <p:ph sz="half" idx="1"/>
          </p:nvPr>
        </p:nvPicPr>
        <p:blipFill>
          <a:blip r:embed="rId2"/>
          <a:stretch>
            <a:fillRect/>
          </a:stretch>
        </p:blipFill>
        <p:spPr>
          <a:xfrm>
            <a:off x="352474" y="1379311"/>
            <a:ext cx="4882760" cy="1727746"/>
          </a:xfrm>
          <a:prstGeom prst="rect">
            <a:avLst/>
          </a:prstGeom>
        </p:spPr>
      </p:pic>
      <p:pic>
        <p:nvPicPr>
          <p:cNvPr id="18" name="Content Placeholder 17">
            <a:extLst>
              <a:ext uri="{FF2B5EF4-FFF2-40B4-BE49-F238E27FC236}">
                <a16:creationId xmlns:a16="http://schemas.microsoft.com/office/drawing/2014/main" id="{8DC0996A-0C4A-AA25-C2DD-1B4139F13613}"/>
              </a:ext>
            </a:extLst>
          </p:cNvPr>
          <p:cNvPicPr>
            <a:picLocks noGrp="1" noChangeAspect="1"/>
          </p:cNvPicPr>
          <p:nvPr>
            <p:ph sz="half" idx="2"/>
          </p:nvPr>
        </p:nvPicPr>
        <p:blipFill>
          <a:blip r:embed="rId3"/>
          <a:stretch>
            <a:fillRect/>
          </a:stretch>
        </p:blipFill>
        <p:spPr>
          <a:xfrm>
            <a:off x="6328836" y="1379311"/>
            <a:ext cx="2761727" cy="2085013"/>
          </a:xfrm>
          <a:prstGeom prst="rect">
            <a:avLst/>
          </a:prstGeom>
        </p:spPr>
      </p:pic>
      <p:sp>
        <p:nvSpPr>
          <p:cNvPr id="12" name="TextBox 11">
            <a:extLst>
              <a:ext uri="{FF2B5EF4-FFF2-40B4-BE49-F238E27FC236}">
                <a16:creationId xmlns:a16="http://schemas.microsoft.com/office/drawing/2014/main" id="{2F5CF39A-AA8E-EB0D-0276-C9BEC582C5A7}"/>
              </a:ext>
            </a:extLst>
          </p:cNvPr>
          <p:cNvSpPr txBox="1"/>
          <p:nvPr/>
        </p:nvSpPr>
        <p:spPr>
          <a:xfrm>
            <a:off x="-232799" y="3110941"/>
            <a:ext cx="2902702" cy="1279581"/>
          </a:xfrm>
          <a:prstGeom prst="rect">
            <a:avLst/>
          </a:prstGeom>
          <a:noFill/>
        </p:spPr>
        <p:txBody>
          <a:bodyPr wrap="square">
            <a:spAutoFit/>
          </a:bodyPr>
          <a:lstStyle/>
          <a:p>
            <a:pPr marL="457200" marR="38100">
              <a:lnSpc>
                <a:spcPct val="110000"/>
              </a:lnSpc>
              <a:buNone/>
            </a:pPr>
            <a:r>
              <a:rPr lang="en-US" sz="2400" b="1" dirty="0">
                <a:effectLst/>
                <a:latin typeface="Arial" panose="020B0604020202020204" pitchFamily="34" charset="0"/>
                <a:ea typeface="Times New Roman" panose="02020603050405020304" pitchFamily="18" charset="0"/>
                <a:cs typeface="Arial" panose="020B0604020202020204" pitchFamily="34" charset="0"/>
              </a:rPr>
              <a:t> </a:t>
            </a:r>
            <a:r>
              <a:rPr lang="en-US" sz="2400" dirty="0">
                <a:effectLst/>
                <a:latin typeface="Arial" panose="020B0604020202020204" pitchFamily="34" charset="0"/>
                <a:ea typeface="Times New Roman" panose="02020603050405020304" pitchFamily="18" charset="0"/>
                <a:cs typeface="Arial" panose="020B0604020202020204" pitchFamily="34" charset="0"/>
              </a:rPr>
              <a:t>Local infiltration with epinephrine  solution</a:t>
            </a:r>
            <a:endParaRPr lang="en-IN" sz="2400" dirty="0">
              <a:effectLst/>
              <a:latin typeface="Arial" panose="020B0604020202020204" pitchFamily="34" charset="0"/>
              <a:ea typeface="Calibri" panose="020F050202020403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8247383B-CBA2-FBD5-D892-64109C6CFC5E}"/>
              </a:ext>
            </a:extLst>
          </p:cNvPr>
          <p:cNvSpPr txBox="1"/>
          <p:nvPr/>
        </p:nvSpPr>
        <p:spPr>
          <a:xfrm>
            <a:off x="2993851" y="3110941"/>
            <a:ext cx="3003404" cy="1279581"/>
          </a:xfrm>
          <a:prstGeom prst="rect">
            <a:avLst/>
          </a:prstGeom>
          <a:noFill/>
        </p:spPr>
        <p:txBody>
          <a:bodyPr wrap="square">
            <a:spAutoFit/>
          </a:bodyPr>
          <a:lstStyle/>
          <a:p>
            <a:pPr marR="346710" indent="1270">
              <a:lnSpc>
                <a:spcPct val="110000"/>
              </a:lnSpc>
              <a:buNone/>
            </a:pPr>
            <a:r>
              <a:rPr lang="en-US" sz="2400" dirty="0">
                <a:latin typeface="Arial" panose="020B0604020202020204" pitchFamily="34" charset="0"/>
                <a:ea typeface="Times New Roman" panose="02020603050405020304" pitchFamily="18" charset="0"/>
                <a:cs typeface="Arial" panose="020B0604020202020204" pitchFamily="34" charset="0"/>
              </a:rPr>
              <a:t>M</a:t>
            </a:r>
            <a:r>
              <a:rPr lang="en-US" sz="2400" dirty="0">
                <a:effectLst/>
                <a:latin typeface="Arial" panose="020B0604020202020204" pitchFamily="34" charset="0"/>
                <a:ea typeface="Times New Roman" panose="02020603050405020304" pitchFamily="18" charset="0"/>
                <a:cs typeface="Arial" panose="020B0604020202020204" pitchFamily="34" charset="0"/>
              </a:rPr>
              <a:t>idline skin incision over the lumbar spine</a:t>
            </a:r>
            <a:endParaRPr lang="en-IN" sz="2400" dirty="0">
              <a:effectLst/>
              <a:latin typeface="Arial" panose="020B0604020202020204" pitchFamily="34" charset="0"/>
              <a:ea typeface="Calibri" panose="020F0502020204030204" pitchFamily="34" charset="0"/>
              <a:cs typeface="Arial" panose="020B0604020202020204" pitchFamily="34" charset="0"/>
            </a:endParaRPr>
          </a:p>
        </p:txBody>
      </p:sp>
      <p:pic>
        <p:nvPicPr>
          <p:cNvPr id="15" name="Picture 14">
            <a:extLst>
              <a:ext uri="{FF2B5EF4-FFF2-40B4-BE49-F238E27FC236}">
                <a16:creationId xmlns:a16="http://schemas.microsoft.com/office/drawing/2014/main" id="{9076941C-B04A-97B5-606C-25B8E4EDC6B5}"/>
              </a:ext>
            </a:extLst>
          </p:cNvPr>
          <p:cNvPicPr>
            <a:picLocks noChangeAspect="1"/>
          </p:cNvPicPr>
          <p:nvPr/>
        </p:nvPicPr>
        <p:blipFill>
          <a:blip r:embed="rId4"/>
          <a:stretch>
            <a:fillRect/>
          </a:stretch>
        </p:blipFill>
        <p:spPr>
          <a:xfrm>
            <a:off x="352474" y="4794255"/>
            <a:ext cx="2280102" cy="1792379"/>
          </a:xfrm>
          <a:prstGeom prst="rect">
            <a:avLst/>
          </a:prstGeom>
        </p:spPr>
      </p:pic>
      <p:sp>
        <p:nvSpPr>
          <p:cNvPr id="17" name="TextBox 16">
            <a:extLst>
              <a:ext uri="{FF2B5EF4-FFF2-40B4-BE49-F238E27FC236}">
                <a16:creationId xmlns:a16="http://schemas.microsoft.com/office/drawing/2014/main" id="{78E1399D-93BE-83AE-3B8B-808FDF538860}"/>
              </a:ext>
            </a:extLst>
          </p:cNvPr>
          <p:cNvSpPr txBox="1"/>
          <p:nvPr/>
        </p:nvSpPr>
        <p:spPr>
          <a:xfrm>
            <a:off x="2119595" y="5177668"/>
            <a:ext cx="4466262" cy="866840"/>
          </a:xfrm>
          <a:prstGeom prst="rect">
            <a:avLst/>
          </a:prstGeom>
          <a:noFill/>
        </p:spPr>
        <p:txBody>
          <a:bodyPr wrap="square">
            <a:spAutoFit/>
          </a:bodyPr>
          <a:lstStyle/>
          <a:p>
            <a:pPr marL="584200" marR="533400">
              <a:lnSpc>
                <a:spcPct val="109000"/>
              </a:lnSpc>
              <a:buNone/>
            </a:pPr>
            <a:r>
              <a:rPr lang="en-US" sz="2400" dirty="0">
                <a:latin typeface="Arial" panose="020B0604020202020204" pitchFamily="34" charset="0"/>
                <a:ea typeface="Times New Roman" panose="02020603050405020304" pitchFamily="18" charset="0"/>
                <a:cs typeface="Arial" panose="020B0604020202020204" pitchFamily="34" charset="0"/>
              </a:rPr>
              <a:t>L</a:t>
            </a:r>
            <a:r>
              <a:rPr lang="en-US" sz="2400" dirty="0">
                <a:effectLst/>
                <a:latin typeface="Arial" panose="020B0604020202020204" pitchFamily="34" charset="0"/>
                <a:ea typeface="Times New Roman" panose="02020603050405020304" pitchFamily="18" charset="0"/>
                <a:cs typeface="Arial" panose="020B0604020202020204" pitchFamily="34" charset="0"/>
              </a:rPr>
              <a:t>igamentum flavum identified and incised</a:t>
            </a:r>
            <a:endParaRPr lang="en-IN" sz="2400" dirty="0">
              <a:effectLst/>
              <a:latin typeface="Arial" panose="020B0604020202020204" pitchFamily="34" charset="0"/>
              <a:ea typeface="Calibri" panose="020F050202020403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B878911B-3282-29AE-950E-898436898F34}"/>
              </a:ext>
            </a:extLst>
          </p:cNvPr>
          <p:cNvSpPr txBox="1"/>
          <p:nvPr/>
        </p:nvSpPr>
        <p:spPr>
          <a:xfrm>
            <a:off x="9066177" y="904580"/>
            <a:ext cx="2914650" cy="2277611"/>
          </a:xfrm>
          <a:prstGeom prst="rect">
            <a:avLst/>
          </a:prstGeom>
          <a:noFill/>
        </p:spPr>
        <p:txBody>
          <a:bodyPr wrap="square">
            <a:spAutoFit/>
          </a:bodyPr>
          <a:lstStyle/>
          <a:p>
            <a:pPr algn="ctr">
              <a:buNone/>
            </a:pPr>
            <a:r>
              <a:rPr lang="en-US" sz="1100" dirty="0">
                <a:effectLst/>
                <a:latin typeface="Calibri" panose="020F0502020204030204" pitchFamily="34" charset="0"/>
                <a:ea typeface="Calibri" panose="020F0502020204030204" pitchFamily="34" charset="0"/>
                <a:cs typeface="Arial" panose="020B0604020202020204" pitchFamily="34" charset="0"/>
              </a:rPr>
              <a:t>38</a:t>
            </a:r>
            <a:endParaRPr lang="en-IN" sz="1000" dirty="0">
              <a:effectLst/>
              <a:latin typeface="Calibri" panose="020F0502020204030204" pitchFamily="34" charset="0"/>
              <a:ea typeface="Calibri" panose="020F0502020204030204" pitchFamily="34" charset="0"/>
              <a:cs typeface="Arial" panose="020B0604020202020204" pitchFamily="34" charset="0"/>
            </a:endParaRPr>
          </a:p>
          <a:p>
            <a:pPr>
              <a:buNone/>
            </a:pPr>
            <a:br>
              <a:rPr lang="en-US" sz="1100" dirty="0">
                <a:effectLst/>
                <a:latin typeface="Calibri" panose="020F0502020204030204" pitchFamily="34" charset="0"/>
                <a:ea typeface="Calibri" panose="020F0502020204030204" pitchFamily="34" charset="0"/>
                <a:cs typeface="Arial" panose="020B0604020202020204" pitchFamily="34" charset="0"/>
              </a:rPr>
            </a:br>
            <a:endParaRPr lang="en-IN" sz="2400" dirty="0">
              <a:effectLst/>
              <a:latin typeface="Arial" panose="020B0604020202020204" pitchFamily="34" charset="0"/>
              <a:cs typeface="Arial" panose="020B0604020202020204" pitchFamily="34" charset="0"/>
            </a:endParaRPr>
          </a:p>
          <a:p>
            <a:pPr>
              <a:lnSpc>
                <a:spcPts val="45"/>
              </a:lnSpc>
              <a:buNone/>
            </a:pPr>
            <a:r>
              <a:rPr lang="en-US" sz="2400" dirty="0">
                <a:effectLst/>
                <a:latin typeface="Arial" panose="020B0604020202020204" pitchFamily="34" charset="0"/>
                <a:ea typeface="Times New Roman" panose="02020603050405020304" pitchFamily="18" charset="0"/>
                <a:cs typeface="Arial" panose="020B0604020202020204" pitchFamily="34" charset="0"/>
              </a:rPr>
              <a:t> </a:t>
            </a:r>
            <a:endParaRPr lang="en-IN" sz="2400" dirty="0">
              <a:effectLst/>
              <a:latin typeface="Arial" panose="020B0604020202020204" pitchFamily="34" charset="0"/>
              <a:ea typeface="Calibri" panose="020F0502020204030204" pitchFamily="34" charset="0"/>
              <a:cs typeface="Arial" panose="020B0604020202020204" pitchFamily="34" charset="0"/>
            </a:endParaRPr>
          </a:p>
          <a:p>
            <a:pPr marR="3810" algn="ctr">
              <a:buNone/>
            </a:pPr>
            <a:r>
              <a:rPr lang="en-US" sz="2400" dirty="0">
                <a:effectLst/>
                <a:latin typeface="Arial" panose="020B0604020202020204" pitchFamily="34" charset="0"/>
                <a:ea typeface="Times New Roman" panose="02020603050405020304" pitchFamily="18" charset="0"/>
                <a:cs typeface="Arial" panose="020B0604020202020204" pitchFamily="34" charset="0"/>
              </a:rPr>
              <a:t>Thecal sac retracted to show the compressed root</a:t>
            </a:r>
            <a:endParaRPr lang="en-IN" sz="2400" dirty="0">
              <a:effectLst/>
              <a:latin typeface="Arial" panose="020B0604020202020204" pitchFamily="34" charset="0"/>
              <a:ea typeface="Calibri" panose="020F0502020204030204" pitchFamily="34" charset="0"/>
              <a:cs typeface="Arial" panose="020B0604020202020204" pitchFamily="34" charset="0"/>
            </a:endParaRPr>
          </a:p>
        </p:txBody>
      </p:sp>
      <p:pic>
        <p:nvPicPr>
          <p:cNvPr id="23" name="Picture 22">
            <a:extLst>
              <a:ext uri="{FF2B5EF4-FFF2-40B4-BE49-F238E27FC236}">
                <a16:creationId xmlns:a16="http://schemas.microsoft.com/office/drawing/2014/main" id="{9BF0F9C1-4F68-8E3B-89E3-1D774F00B9CA}"/>
              </a:ext>
            </a:extLst>
          </p:cNvPr>
          <p:cNvPicPr>
            <a:picLocks noChangeAspect="1"/>
          </p:cNvPicPr>
          <p:nvPr/>
        </p:nvPicPr>
        <p:blipFill>
          <a:blip r:embed="rId5"/>
          <a:stretch>
            <a:fillRect/>
          </a:stretch>
        </p:blipFill>
        <p:spPr>
          <a:xfrm>
            <a:off x="6304450" y="4135161"/>
            <a:ext cx="2786113" cy="2085013"/>
          </a:xfrm>
          <a:prstGeom prst="rect">
            <a:avLst/>
          </a:prstGeom>
        </p:spPr>
      </p:pic>
      <p:sp>
        <p:nvSpPr>
          <p:cNvPr id="25" name="TextBox 24">
            <a:extLst>
              <a:ext uri="{FF2B5EF4-FFF2-40B4-BE49-F238E27FC236}">
                <a16:creationId xmlns:a16="http://schemas.microsoft.com/office/drawing/2014/main" id="{AA907D95-0C30-70FC-603C-1FA1BF8D34E1}"/>
              </a:ext>
            </a:extLst>
          </p:cNvPr>
          <p:cNvSpPr txBox="1"/>
          <p:nvPr/>
        </p:nvSpPr>
        <p:spPr>
          <a:xfrm>
            <a:off x="9066177" y="4574912"/>
            <a:ext cx="3208565" cy="830997"/>
          </a:xfrm>
          <a:prstGeom prst="rect">
            <a:avLst/>
          </a:prstGeom>
          <a:noFill/>
        </p:spPr>
        <p:txBody>
          <a:bodyPr wrap="square">
            <a:spAutoFit/>
          </a:bodyPr>
          <a:lstStyle/>
          <a:p>
            <a:pPr marR="3810" algn="ctr">
              <a:buNone/>
            </a:pPr>
            <a:r>
              <a:rPr lang="en-US" sz="2400" dirty="0">
                <a:effectLst/>
                <a:latin typeface="Arial" panose="020B0604020202020204" pitchFamily="34" charset="0"/>
                <a:ea typeface="Times New Roman" panose="02020603050405020304" pitchFamily="18" charset="0"/>
                <a:cs typeface="Arial" panose="020B0604020202020204" pitchFamily="34" charset="0"/>
              </a:rPr>
              <a:t>Root lying free after disc removal</a:t>
            </a:r>
            <a:endParaRPr lang="en-IN" sz="24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199081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C6260-7B49-19CB-0C32-C329D8B8B99D}"/>
              </a:ext>
            </a:extLst>
          </p:cNvPr>
          <p:cNvSpPr>
            <a:spLocks noGrp="1"/>
          </p:cNvSpPr>
          <p:nvPr>
            <p:ph type="title"/>
          </p:nvPr>
        </p:nvSpPr>
        <p:spPr>
          <a:xfrm>
            <a:off x="838200" y="1371600"/>
            <a:ext cx="10515600" cy="319088"/>
          </a:xfrm>
        </p:spPr>
        <p:txBody>
          <a:bodyPr/>
          <a:lstStyle/>
          <a:p>
            <a:br>
              <a:rPr lang="en-IN" sz="2400" dirty="0">
                <a:latin typeface="Arial" panose="020B0604020202020204" pitchFamily="34" charset="0"/>
                <a:cs typeface="Arial" panose="020B0604020202020204" pitchFamily="34" charset="0"/>
              </a:rPr>
            </a:br>
            <a:r>
              <a:rPr lang="en-IN" sz="2400" dirty="0">
                <a:latin typeface="Arial" panose="020B0604020202020204" pitchFamily="34" charset="0"/>
                <a:cs typeface="Arial" panose="020B0604020202020204" pitchFamily="34" charset="0"/>
              </a:rPr>
              <a:t>RESULTS:</a:t>
            </a:r>
          </a:p>
        </p:txBody>
      </p:sp>
      <p:sp>
        <p:nvSpPr>
          <p:cNvPr id="3" name="Content Placeholder 2">
            <a:extLst>
              <a:ext uri="{FF2B5EF4-FFF2-40B4-BE49-F238E27FC236}">
                <a16:creationId xmlns:a16="http://schemas.microsoft.com/office/drawing/2014/main" id="{88EB6E6D-6188-D2C8-C92A-C79F50EA21B0}"/>
              </a:ext>
            </a:extLst>
          </p:cNvPr>
          <p:cNvSpPr>
            <a:spLocks noGrp="1"/>
          </p:cNvSpPr>
          <p:nvPr>
            <p:ph idx="1"/>
          </p:nvPr>
        </p:nvSpPr>
        <p:spPr>
          <a:xfrm>
            <a:off x="838200" y="1825624"/>
            <a:ext cx="10515600" cy="4869089"/>
          </a:xfrm>
        </p:spPr>
        <p:txBody>
          <a:bodyPr/>
          <a:lstStyle/>
          <a:p>
            <a:pPr marL="0" indent="0">
              <a:buNone/>
            </a:pPr>
            <a:endParaRPr lang="en-US" sz="2400" dirty="0">
              <a:latin typeface="Arial" panose="020B0604020202020204" pitchFamily="34" charset="0"/>
              <a:cs typeface="Arial" panose="020B0604020202020204" pitchFamily="34" charset="0"/>
            </a:endParaRPr>
          </a:p>
          <a:p>
            <a:pPr marL="0" indent="0">
              <a:buNone/>
            </a:pPr>
            <a:r>
              <a:rPr lang="en-US" sz="2400" dirty="0">
                <a:latin typeface="Arial" panose="020B0604020202020204" pitchFamily="34" charset="0"/>
                <a:cs typeface="Arial" panose="020B0604020202020204" pitchFamily="34" charset="0"/>
              </a:rPr>
              <a:t>The study includes 25 patients operated for lumbar intervertebral disc prolapse underwent routine laminectomy and discectomy. All patients were available for follow up for this prospective analysis. The minimum follow up duration was 6 months.</a:t>
            </a:r>
          </a:p>
          <a:p>
            <a:pPr marL="0" indent="0">
              <a:buNone/>
            </a:pPr>
            <a:r>
              <a:rPr lang="en-US" sz="2400" dirty="0">
                <a:latin typeface="Arial" panose="020B0604020202020204" pitchFamily="34" charset="0"/>
                <a:cs typeface="Arial" panose="020B0604020202020204" pitchFamily="34" charset="0"/>
              </a:rPr>
              <a:t>Pre-op SLRT:           Post-op SLRT:</a:t>
            </a:r>
          </a:p>
          <a:p>
            <a:pPr marL="0" indent="0">
              <a:buNone/>
            </a:pPr>
            <a:endParaRPr lang="en-US" sz="2400" dirty="0">
              <a:latin typeface="Arial" panose="020B0604020202020204" pitchFamily="34" charset="0"/>
              <a:cs typeface="Arial" panose="020B0604020202020204" pitchFamily="34" charset="0"/>
            </a:endParaRPr>
          </a:p>
          <a:p>
            <a:pPr marL="0" indent="0">
              <a:buNone/>
            </a:pPr>
            <a:endParaRPr lang="en-IN" dirty="0"/>
          </a:p>
        </p:txBody>
      </p:sp>
      <p:pic>
        <p:nvPicPr>
          <p:cNvPr id="5" name="Picture 4">
            <a:extLst>
              <a:ext uri="{FF2B5EF4-FFF2-40B4-BE49-F238E27FC236}">
                <a16:creationId xmlns:a16="http://schemas.microsoft.com/office/drawing/2014/main" id="{523EBA46-75E2-8C4F-C9DD-30ABAF2A0C71}"/>
              </a:ext>
            </a:extLst>
          </p:cNvPr>
          <p:cNvPicPr>
            <a:picLocks noChangeAspect="1"/>
          </p:cNvPicPr>
          <p:nvPr/>
        </p:nvPicPr>
        <p:blipFill>
          <a:blip r:embed="rId2"/>
          <a:srcRect r="59319"/>
          <a:stretch>
            <a:fillRect/>
          </a:stretch>
        </p:blipFill>
        <p:spPr>
          <a:xfrm>
            <a:off x="838200" y="4354914"/>
            <a:ext cx="2375951" cy="1956986"/>
          </a:xfrm>
          <a:prstGeom prst="rect">
            <a:avLst/>
          </a:prstGeom>
        </p:spPr>
      </p:pic>
      <p:pic>
        <p:nvPicPr>
          <p:cNvPr id="6" name="Picture 5">
            <a:extLst>
              <a:ext uri="{FF2B5EF4-FFF2-40B4-BE49-F238E27FC236}">
                <a16:creationId xmlns:a16="http://schemas.microsoft.com/office/drawing/2014/main" id="{75888667-5D4E-F994-1FF4-80120353B575}"/>
              </a:ext>
            </a:extLst>
          </p:cNvPr>
          <p:cNvPicPr>
            <a:picLocks noChangeAspect="1"/>
          </p:cNvPicPr>
          <p:nvPr/>
        </p:nvPicPr>
        <p:blipFill>
          <a:blip r:embed="rId3"/>
          <a:srcRect l="53047" t="6414" r="2616"/>
          <a:stretch>
            <a:fillRect/>
          </a:stretch>
        </p:blipFill>
        <p:spPr>
          <a:xfrm>
            <a:off x="3720049" y="4354914"/>
            <a:ext cx="2375951" cy="1956986"/>
          </a:xfrm>
          <a:prstGeom prst="rect">
            <a:avLst/>
          </a:prstGeom>
        </p:spPr>
      </p:pic>
      <p:pic>
        <p:nvPicPr>
          <p:cNvPr id="7" name="Picture 6">
            <a:extLst>
              <a:ext uri="{FF2B5EF4-FFF2-40B4-BE49-F238E27FC236}">
                <a16:creationId xmlns:a16="http://schemas.microsoft.com/office/drawing/2014/main" id="{DA46E9C5-4FB1-3695-FA55-FEC355D073FC}"/>
              </a:ext>
            </a:extLst>
          </p:cNvPr>
          <p:cNvPicPr>
            <a:picLocks noChangeAspect="1"/>
          </p:cNvPicPr>
          <p:nvPr/>
        </p:nvPicPr>
        <p:blipFill>
          <a:blip r:embed="rId4"/>
          <a:stretch>
            <a:fillRect/>
          </a:stretch>
        </p:blipFill>
        <p:spPr>
          <a:xfrm>
            <a:off x="6942024" y="3698338"/>
            <a:ext cx="3565751" cy="2613562"/>
          </a:xfrm>
          <a:prstGeom prst="rect">
            <a:avLst/>
          </a:prstGeom>
        </p:spPr>
      </p:pic>
      <p:pic>
        <p:nvPicPr>
          <p:cNvPr id="8" name="Picture 7">
            <a:extLst>
              <a:ext uri="{FF2B5EF4-FFF2-40B4-BE49-F238E27FC236}">
                <a16:creationId xmlns:a16="http://schemas.microsoft.com/office/drawing/2014/main" id="{153E9FA8-35A2-A2D6-9B32-73286C6731F1}"/>
              </a:ext>
            </a:extLst>
          </p:cNvPr>
          <p:cNvPicPr>
            <a:picLocks noChangeAspect="1"/>
          </p:cNvPicPr>
          <p:nvPr/>
        </p:nvPicPr>
        <p:blipFill>
          <a:blip r:embed="rId5"/>
          <a:stretch>
            <a:fillRect/>
          </a:stretch>
        </p:blipFill>
        <p:spPr>
          <a:xfrm>
            <a:off x="7242735" y="4103972"/>
            <a:ext cx="1814179" cy="1548041"/>
          </a:xfrm>
          <a:prstGeom prst="rect">
            <a:avLst/>
          </a:prstGeom>
        </p:spPr>
      </p:pic>
    </p:spTree>
    <p:extLst>
      <p:ext uri="{BB962C8B-B14F-4D97-AF65-F5344CB8AC3E}">
        <p14:creationId xmlns:p14="http://schemas.microsoft.com/office/powerpoint/2010/main" val="3696451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8AD67-6FEC-9EC9-9419-C7219F958B7B}"/>
              </a:ext>
            </a:extLst>
          </p:cNvPr>
          <p:cNvSpPr>
            <a:spLocks noGrp="1"/>
          </p:cNvSpPr>
          <p:nvPr>
            <p:ph type="title"/>
          </p:nvPr>
        </p:nvSpPr>
        <p:spPr>
          <a:xfrm>
            <a:off x="304799" y="1382486"/>
            <a:ext cx="10199914" cy="351745"/>
          </a:xfrm>
        </p:spPr>
        <p:txBody>
          <a:bodyPr/>
          <a:lstStyle/>
          <a:p>
            <a:br>
              <a:rPr lang="en-IN" sz="2400" dirty="0">
                <a:latin typeface="Arial" panose="020B0604020202020204" pitchFamily="34" charset="0"/>
                <a:cs typeface="Arial" panose="020B0604020202020204" pitchFamily="34" charset="0"/>
              </a:rPr>
            </a:br>
            <a:r>
              <a:rPr lang="en-IN" sz="2400" dirty="0">
                <a:latin typeface="Arial" panose="020B0604020202020204" pitchFamily="34" charset="0"/>
                <a:cs typeface="Arial" panose="020B0604020202020204" pitchFamily="34" charset="0"/>
              </a:rPr>
              <a:t>CONCLUSION:</a:t>
            </a:r>
          </a:p>
        </p:txBody>
      </p:sp>
      <p:sp>
        <p:nvSpPr>
          <p:cNvPr id="3" name="Content Placeholder 2">
            <a:extLst>
              <a:ext uri="{FF2B5EF4-FFF2-40B4-BE49-F238E27FC236}">
                <a16:creationId xmlns:a16="http://schemas.microsoft.com/office/drawing/2014/main" id="{49EEC793-F324-858B-0A64-AC2E7E534461}"/>
              </a:ext>
            </a:extLst>
          </p:cNvPr>
          <p:cNvSpPr>
            <a:spLocks noGrp="1"/>
          </p:cNvSpPr>
          <p:nvPr>
            <p:ph idx="1"/>
          </p:nvPr>
        </p:nvSpPr>
        <p:spPr>
          <a:xfrm>
            <a:off x="304799" y="2261054"/>
            <a:ext cx="11473543" cy="4351338"/>
          </a:xfrm>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There have been a lot of improvements in the surgical management of lumbar disc prolapse cases due to improvement in instrumentation, optics and techniques. This led to the transition from old technique for larger incision, wide exposure for laminectomy and discectomy to the less invasive micro lumbar discectomy to the minimally invasive micro endoscopic discectomy.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Lumbar laminectomy and discectomy still has a place for cases of lumbar disc prolapse with associated primary bony lumbar canal stenosis or secondary lumbar canal stenosis due to thickened ligamentum flavum hypertrophy.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our study we achieved results comparable to that achieved with microdiscectomy</a:t>
            </a:r>
          </a:p>
          <a:p>
            <a:pPr marL="0" indent="0">
              <a:buNone/>
            </a:pPr>
            <a:endParaRPr lang="en-IN" dirty="0"/>
          </a:p>
        </p:txBody>
      </p:sp>
    </p:spTree>
    <p:extLst>
      <p:ext uri="{BB962C8B-B14F-4D97-AF65-F5344CB8AC3E}">
        <p14:creationId xmlns:p14="http://schemas.microsoft.com/office/powerpoint/2010/main" val="2622927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02027-DBEE-B253-6320-9AC6164EA8C7}"/>
              </a:ext>
            </a:extLst>
          </p:cNvPr>
          <p:cNvSpPr>
            <a:spLocks noGrp="1"/>
          </p:cNvSpPr>
          <p:nvPr>
            <p:ph type="title"/>
          </p:nvPr>
        </p:nvSpPr>
        <p:spPr>
          <a:xfrm>
            <a:off x="435429" y="1524001"/>
            <a:ext cx="10439400" cy="493259"/>
          </a:xfrm>
        </p:spPr>
        <p:txBody>
          <a:bodyPr/>
          <a:lstStyle/>
          <a:p>
            <a:r>
              <a:rPr lang="en-IN" sz="2400" dirty="0">
                <a:latin typeface="Arial" panose="020B0604020202020204" pitchFamily="34" charset="0"/>
                <a:cs typeface="Arial" panose="020B0604020202020204" pitchFamily="34" charset="0"/>
              </a:rPr>
              <a:t>REFERENCES:</a:t>
            </a:r>
          </a:p>
        </p:txBody>
      </p:sp>
      <p:sp>
        <p:nvSpPr>
          <p:cNvPr id="3" name="Content Placeholder 2">
            <a:extLst>
              <a:ext uri="{FF2B5EF4-FFF2-40B4-BE49-F238E27FC236}">
                <a16:creationId xmlns:a16="http://schemas.microsoft.com/office/drawing/2014/main" id="{CE008453-CF6B-2E1C-144D-E394459D1367}"/>
              </a:ext>
            </a:extLst>
          </p:cNvPr>
          <p:cNvSpPr>
            <a:spLocks noGrp="1"/>
          </p:cNvSpPr>
          <p:nvPr>
            <p:ph idx="1"/>
          </p:nvPr>
        </p:nvSpPr>
        <p:spPr>
          <a:xfrm>
            <a:off x="435429" y="2141537"/>
            <a:ext cx="10918371" cy="4351338"/>
          </a:xfrm>
        </p:spPr>
        <p:txBody>
          <a:bodyPr/>
          <a:lstStyle/>
          <a:p>
            <a:pPr marL="0" indent="0">
              <a:buNone/>
            </a:pPr>
            <a:r>
              <a:rPr lang="en-IN" sz="2400" dirty="0">
                <a:latin typeface="Arial" panose="020B0604020202020204" pitchFamily="34" charset="0"/>
                <a:cs typeface="Arial" panose="020B0604020202020204" pitchFamily="34" charset="0"/>
              </a:rPr>
              <a:t>1. Campbell Operative </a:t>
            </a:r>
            <a:r>
              <a:rPr lang="en-IN" sz="2400" dirty="0" err="1">
                <a:latin typeface="Arial" panose="020B0604020202020204" pitchFamily="34" charset="0"/>
                <a:cs typeface="Arial" panose="020B0604020202020204" pitchFamily="34" charset="0"/>
              </a:rPr>
              <a:t>orthopedics</a:t>
            </a:r>
            <a:r>
              <a:rPr lang="en-IN" sz="2400" dirty="0">
                <a:latin typeface="Arial" panose="020B0604020202020204" pitchFamily="34" charset="0"/>
                <a:cs typeface="Arial" panose="020B0604020202020204" pitchFamily="34" charset="0"/>
              </a:rPr>
              <a:t> 11th ed, Vol. 2, chapter 34-41, page 1729-2328.</a:t>
            </a:r>
          </a:p>
          <a:p>
            <a:pPr marL="0" indent="0">
              <a:buNone/>
            </a:pPr>
            <a:r>
              <a:rPr lang="en-IN" sz="2400" dirty="0">
                <a:latin typeface="Arial" panose="020B0604020202020204" pitchFamily="34" charset="0"/>
                <a:cs typeface="Arial" panose="020B0604020202020204" pitchFamily="34" charset="0"/>
              </a:rPr>
              <a:t>2.Abramovitz </a:t>
            </a:r>
            <a:r>
              <a:rPr lang="en-IN" sz="2400" dirty="0" err="1">
                <a:latin typeface="Arial" panose="020B0604020202020204" pitchFamily="34" charset="0"/>
                <a:cs typeface="Arial" panose="020B0604020202020204" pitchFamily="34" charset="0"/>
              </a:rPr>
              <a:t>ZN,Neff</a:t>
            </a:r>
            <a:r>
              <a:rPr lang="en-IN" sz="2400" dirty="0">
                <a:latin typeface="Arial" panose="020B0604020202020204" pitchFamily="34" charset="0"/>
                <a:cs typeface="Arial" panose="020B0604020202020204" pitchFamily="34" charset="0"/>
              </a:rPr>
              <a:t> </a:t>
            </a:r>
            <a:r>
              <a:rPr lang="en-IN" sz="2400" dirty="0" err="1">
                <a:latin typeface="Arial" panose="020B0604020202020204" pitchFamily="34" charset="0"/>
                <a:cs typeface="Arial" panose="020B0604020202020204" pitchFamily="34" charset="0"/>
              </a:rPr>
              <a:t>S.Lumbar</a:t>
            </a:r>
            <a:r>
              <a:rPr lang="en-IN" sz="2400" dirty="0">
                <a:latin typeface="Arial" panose="020B0604020202020204" pitchFamily="34" charset="0"/>
                <a:cs typeface="Arial" panose="020B0604020202020204" pitchFamily="34" charset="0"/>
              </a:rPr>
              <a:t> Disc Surgery: Results of prospective lumbar discectomy study of joint section on disorders of spine of peripheral nerves of American Association of Neurological surgeons and Congress of neurological surgeons. Neurosurgery 29: 301 – 308, 1991.</a:t>
            </a:r>
          </a:p>
          <a:p>
            <a:pPr marL="0" indent="0">
              <a:buNone/>
            </a:pPr>
            <a:r>
              <a:rPr lang="en-IN" sz="2400" dirty="0">
                <a:latin typeface="Arial" panose="020B0604020202020204" pitchFamily="34" charset="0"/>
                <a:cs typeface="Arial" panose="020B0604020202020204" pitchFamily="34" charset="0"/>
              </a:rPr>
              <a:t>3.Finesson BE. Lumbar disc excision – </a:t>
            </a:r>
            <a:r>
              <a:rPr lang="en-IN" sz="2400" dirty="0" err="1">
                <a:latin typeface="Arial" panose="020B0604020202020204" pitchFamily="34" charset="0"/>
                <a:cs typeface="Arial" panose="020B0604020202020204" pitchFamily="34" charset="0"/>
              </a:rPr>
              <a:t>Schidesk</a:t>
            </a:r>
            <a:r>
              <a:rPr lang="en-IN" sz="2400" dirty="0">
                <a:latin typeface="Arial" panose="020B0604020202020204" pitchFamily="34" charset="0"/>
                <a:cs typeface="Arial" panose="020B0604020202020204" pitchFamily="34" charset="0"/>
              </a:rPr>
              <a:t> H.K., Sweet W.H. (eds). Operative Neurosurgical Technique, 3rd Ed., 1905 – 1924, 1995.</a:t>
            </a:r>
          </a:p>
          <a:p>
            <a:pPr marL="0" indent="0">
              <a:buNone/>
            </a:pPr>
            <a:r>
              <a:rPr lang="en-IN" sz="2400" dirty="0">
                <a:latin typeface="Arial" panose="020B0604020202020204" pitchFamily="34" charset="0"/>
                <a:cs typeface="Arial" panose="020B0604020202020204" pitchFamily="34" charset="0"/>
              </a:rPr>
              <a:t>4.Rothman RH, Simeone FA. The Spine, 2nd  ed. Philadelphia: Saunders, 1982.</a:t>
            </a:r>
          </a:p>
          <a:p>
            <a:pPr marL="0" indent="0">
              <a:buNone/>
            </a:pPr>
            <a:r>
              <a:rPr lang="en-IN" sz="2400" dirty="0">
                <a:latin typeface="Arial" panose="020B0604020202020204" pitchFamily="34" charset="0"/>
                <a:cs typeface="Arial" panose="020B0604020202020204" pitchFamily="34" charset="0"/>
              </a:rPr>
              <a:t>5.Spangfort EV. The Lumbar disc herniation – a computer aided analysis of 2504 operation. Acta </a:t>
            </a:r>
            <a:r>
              <a:rPr lang="en-IN" sz="2400" dirty="0" err="1">
                <a:latin typeface="Arial" panose="020B0604020202020204" pitchFamily="34" charset="0"/>
                <a:cs typeface="Arial" panose="020B0604020202020204" pitchFamily="34" charset="0"/>
              </a:rPr>
              <a:t>Orthop</a:t>
            </a:r>
            <a:r>
              <a:rPr lang="en-IN" sz="2400" dirty="0">
                <a:latin typeface="Arial" panose="020B0604020202020204" pitchFamily="34" charset="0"/>
                <a:cs typeface="Arial" panose="020B0604020202020204" pitchFamily="34" charset="0"/>
              </a:rPr>
              <a:t>. Scand </a:t>
            </a:r>
            <a:r>
              <a:rPr lang="en-IN" sz="2400" dirty="0" err="1">
                <a:latin typeface="Arial" panose="020B0604020202020204" pitchFamily="34" charset="0"/>
                <a:cs typeface="Arial" panose="020B0604020202020204" pitchFamily="34" charset="0"/>
              </a:rPr>
              <a:t>suppl</a:t>
            </a:r>
            <a:r>
              <a:rPr lang="en-IN" sz="2400" dirty="0">
                <a:latin typeface="Arial" panose="020B0604020202020204" pitchFamily="34" charset="0"/>
                <a:cs typeface="Arial" panose="020B0604020202020204" pitchFamily="34" charset="0"/>
              </a:rPr>
              <a:t> 142:3-95, 1972</a:t>
            </a:r>
          </a:p>
          <a:p>
            <a:pPr marL="0" indent="0">
              <a:buNone/>
            </a:pPr>
            <a:endParaRPr lang="en-IN" dirty="0"/>
          </a:p>
        </p:txBody>
      </p:sp>
    </p:spTree>
    <p:extLst>
      <p:ext uri="{BB962C8B-B14F-4D97-AF65-F5344CB8AC3E}">
        <p14:creationId xmlns:p14="http://schemas.microsoft.com/office/powerpoint/2010/main" val="3462213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4306</TotalTime>
  <Words>628</Words>
  <Application>Microsoft Office PowerPoint</Application>
  <PresentationFormat>Widescreen</PresentationFormat>
  <Paragraphs>48</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Calibri</vt:lpstr>
      <vt:lpstr>Gordita </vt:lpstr>
      <vt:lpstr>Times New Roman</vt:lpstr>
      <vt:lpstr>Office Theme</vt:lpstr>
      <vt:lpstr>PowerPoint Presentation</vt:lpstr>
      <vt:lpstr> INTRODUCTION:</vt:lpstr>
      <vt:lpstr>             AIM:</vt:lpstr>
      <vt:lpstr> METHODS:</vt:lpstr>
      <vt:lpstr>PowerPoint Presentation</vt:lpstr>
      <vt:lpstr> RESULTS:</vt:lpstr>
      <vt:lpstr> 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atulpratap tomar</cp:lastModifiedBy>
  <cp:revision>7</cp:revision>
  <dcterms:created xsi:type="dcterms:W3CDTF">2026-01-11T06:24:43Z</dcterms:created>
  <dcterms:modified xsi:type="dcterms:W3CDTF">2026-01-27T05:00:39Z</dcterms:modified>
</cp:coreProperties>
</file>