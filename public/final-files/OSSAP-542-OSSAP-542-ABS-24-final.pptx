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 cap="flat" cmpd="sng" w="19050">
            <a:solidFill>
              <a:srgbClr val="5257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06884" y="74822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7316" y="123390"/>
            <a:ext cx="884047" cy="88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893" y="192303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b="1" baseline="3000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Annual Conference of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Orthopedic Surgeon Society of Andhra Pradesh</a:t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 6 – 8 February,2026, Venue : Kurnool Medical College</a:t>
            </a:r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Organized by : Department of Orthopaedics, Kurnool Medical College Kurnool</a:t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60814" y="14255"/>
            <a:ext cx="1505561" cy="1280157"/>
          </a:xfrm>
          <a:custGeom>
            <a:rect b="b" l="l" r="r" t="t"/>
            <a:pathLst>
              <a:path extrusionOk="0" h="1957865" w="2254612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55" l="0" r="-4894" t="-99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jpg"/><Relationship Id="rId10" Type="http://schemas.openxmlformats.org/officeDocument/2006/relationships/image" Target="../media/image10.jpg"/><Relationship Id="rId13" Type="http://schemas.openxmlformats.org/officeDocument/2006/relationships/image" Target="../media/image4.jpg"/><Relationship Id="rId1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7.jpg"/><Relationship Id="rId15" Type="http://schemas.openxmlformats.org/officeDocument/2006/relationships/image" Target="../media/image16.jpg"/><Relationship Id="rId14" Type="http://schemas.openxmlformats.org/officeDocument/2006/relationships/image" Target="../media/image15.jpg"/><Relationship Id="rId17" Type="http://schemas.openxmlformats.org/officeDocument/2006/relationships/image" Target="../media/image14.jpg"/><Relationship Id="rId16" Type="http://schemas.openxmlformats.org/officeDocument/2006/relationships/image" Target="../media/image11.jp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18" Type="http://schemas.openxmlformats.org/officeDocument/2006/relationships/image" Target="../media/image9.jpg"/><Relationship Id="rId7" Type="http://schemas.openxmlformats.org/officeDocument/2006/relationships/image" Target="../media/image2.jpg"/><Relationship Id="rId8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150" y="-119625"/>
            <a:ext cx="12192000" cy="1399800"/>
          </a:xfrm>
          <a:prstGeom prst="rect">
            <a:avLst/>
          </a:prstGeom>
          <a:solidFill>
            <a:srgbClr val="01234D"/>
          </a:solidFill>
          <a:ln cap="flat" cmpd="sng" w="19050">
            <a:solidFill>
              <a:srgbClr val="5257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6884" y="74822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7316" y="123390"/>
            <a:ext cx="884047" cy="88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7893" y="192303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604875" y="42925"/>
            <a:ext cx="563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PERI-IMPLANT DISTAL FEMUR FRACTURE WITH IPSILATERAL NON-UNION OF MIDDLE THIRD SHAFT OF FEMUR</a:t>
            </a:r>
            <a:endParaRPr sz="1000"/>
          </a:p>
        </p:txBody>
      </p:sp>
      <p:sp>
        <p:nvSpPr>
          <p:cNvPr id="92" name="Google Shape;92;p13"/>
          <p:cNvSpPr txBox="1"/>
          <p:nvPr/>
        </p:nvSpPr>
        <p:spPr>
          <a:xfrm>
            <a:off x="9110804" y="934150"/>
            <a:ext cx="2835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</a:rPr>
              <a:t>REGISTRATION ID- OSSAP-542</a:t>
            </a:r>
            <a:endParaRPr sz="1200"/>
          </a:p>
        </p:txBody>
      </p:sp>
      <p:sp>
        <p:nvSpPr>
          <p:cNvPr id="93" name="Google Shape;93;p13"/>
          <p:cNvSpPr txBox="1"/>
          <p:nvPr/>
        </p:nvSpPr>
        <p:spPr>
          <a:xfrm>
            <a:off x="2604880" y="970586"/>
            <a:ext cx="711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</a:rPr>
              <a:t>MALLA REDDY INSTITUTE OF MEDICAL SCIENCES</a:t>
            </a:r>
            <a:endParaRPr sz="1200"/>
          </a:p>
        </p:txBody>
      </p:sp>
      <p:sp>
        <p:nvSpPr>
          <p:cNvPr id="94" name="Google Shape;94;p13"/>
          <p:cNvSpPr/>
          <p:nvPr/>
        </p:nvSpPr>
        <p:spPr>
          <a:xfrm>
            <a:off x="560814" y="14255"/>
            <a:ext cx="1505561" cy="1280157"/>
          </a:xfrm>
          <a:custGeom>
            <a:rect b="b" l="l" r="r" t="t"/>
            <a:pathLst>
              <a:path extrusionOk="0" h="1957865" w="2254612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0855" l="0" r="-4894" t="-99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0" y="1674800"/>
            <a:ext cx="4247400" cy="2503800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4178600"/>
            <a:ext cx="4247400" cy="2679300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356300" y="5080525"/>
            <a:ext cx="4835700" cy="1777500"/>
          </a:xfrm>
          <a:prstGeom prst="rect">
            <a:avLst/>
          </a:prstGeom>
          <a:noFill/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0" y="1280150"/>
            <a:ext cx="4247400" cy="394800"/>
          </a:xfrm>
          <a:prstGeom prst="rect">
            <a:avLst/>
          </a:prstGeom>
          <a:solidFill>
            <a:srgbClr val="A3C5ED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249837" y="1280150"/>
            <a:ext cx="3108900" cy="394800"/>
          </a:xfrm>
          <a:prstGeom prst="rect">
            <a:avLst/>
          </a:prstGeom>
          <a:solidFill>
            <a:srgbClr val="A3C5ED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OPERATIVE FINDINGS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356300" y="1280150"/>
            <a:ext cx="4835700" cy="394800"/>
          </a:xfrm>
          <a:prstGeom prst="rect">
            <a:avLst/>
          </a:prstGeom>
          <a:solidFill>
            <a:srgbClr val="A3C5ED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-25" y="3767975"/>
            <a:ext cx="4247400" cy="394500"/>
          </a:xfrm>
          <a:prstGeom prst="rect">
            <a:avLst/>
          </a:prstGeom>
          <a:solidFill>
            <a:srgbClr val="A3C5ED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CASE REPORT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7356300" y="4807825"/>
            <a:ext cx="4835700" cy="394500"/>
          </a:xfrm>
          <a:prstGeom prst="rect">
            <a:avLst/>
          </a:prstGeom>
          <a:solidFill>
            <a:srgbClr val="A3C5ED"/>
          </a:solidFill>
          <a:ln cap="flat" cmpd="sng" w="1905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0" y="2015525"/>
            <a:ext cx="4166700" cy="1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peri-implant fracture of distal femur are uncommon and challenging injuries.</a:t>
            </a:r>
            <a:endParaRPr b="1" sz="1100"/>
          </a:p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They occur due to altered biomechanics,stress risers and poor bone quality.</a:t>
            </a:r>
            <a:endParaRPr b="1" sz="1100"/>
          </a:p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management is complex because of existing hardware and non-union risk.</a:t>
            </a:r>
            <a:endParaRPr b="1" sz="1100"/>
          </a:p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careful planning and appropriate fixation strategy are essential for good outcomes.</a:t>
            </a:r>
            <a:endParaRPr b="1" sz="1100"/>
          </a:p>
        </p:txBody>
      </p:sp>
      <p:sp>
        <p:nvSpPr>
          <p:cNvPr id="104" name="Google Shape;104;p13"/>
          <p:cNvSpPr txBox="1"/>
          <p:nvPr/>
        </p:nvSpPr>
        <p:spPr>
          <a:xfrm>
            <a:off x="-25" y="4178598"/>
            <a:ext cx="416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A 25 year old male presented with pain and deformity around the left knee following a road traffic accident.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History of middle third femur shaft fracture previously treated with intramedullary nailing.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Radiographs showed peri-implant distal femur fracture with non-union of middle third shaft of femur</a:t>
            </a:r>
            <a:endParaRPr b="1" sz="1000"/>
          </a:p>
        </p:txBody>
      </p:sp>
      <p:sp>
        <p:nvSpPr>
          <p:cNvPr id="105" name="Google Shape;105;p13"/>
          <p:cNvSpPr txBox="1"/>
          <p:nvPr/>
        </p:nvSpPr>
        <p:spPr>
          <a:xfrm>
            <a:off x="4304875" y="1639946"/>
            <a:ext cx="30513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b="1" lang="en-US" sz="1000"/>
              <a:t>Intraoperatively the intramedullary interlocking nail was found to be intact with clear </a:t>
            </a:r>
            <a:r>
              <a:rPr b="1" lang="en-US" sz="1000"/>
              <a:t>evidence of fibrous non-union at the femur shaft fracture site.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The nail was removed and thorough debridement of the non-union site was done.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Open reduction of the distal femur fracture was done  using 16 holed distal femoral locking compression plate with iliac crest bone grafting.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Adequate alignment,length and rotation was restored.</a:t>
            </a:r>
            <a:endParaRPr b="1" sz="1000"/>
          </a:p>
        </p:txBody>
      </p:sp>
      <p:sp>
        <p:nvSpPr>
          <p:cNvPr id="106" name="Google Shape;106;p13"/>
          <p:cNvSpPr txBox="1"/>
          <p:nvPr/>
        </p:nvSpPr>
        <p:spPr>
          <a:xfrm>
            <a:off x="7361175" y="1621325"/>
            <a:ext cx="47709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Peri-implant distal femur fractures with associated non-union are uncommon and pose significant surgical challenges due to altered anatomy,poor bone stock and existing hardware.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Management depends on fracture location,implant type,bone quality and biological status of non-union.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Implant removal followed by stable fixation using a distal femoral locking compression plate allows restoration of alignment,compression at non-union site and early mobilization.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/>
              <a:t>Adequate debridement,preservation of biology and rigid fixation are key factors influencing union and functional outcome.</a:t>
            </a:r>
            <a:endParaRPr b="1" sz="1000"/>
          </a:p>
        </p:txBody>
      </p:sp>
      <p:cxnSp>
        <p:nvCxnSpPr>
          <p:cNvPr id="107" name="Google Shape;107;p13"/>
          <p:cNvCxnSpPr/>
          <p:nvPr/>
        </p:nvCxnSpPr>
        <p:spPr>
          <a:xfrm>
            <a:off x="7342539" y="1695875"/>
            <a:ext cx="0" cy="314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3"/>
          <p:cNvCxnSpPr/>
          <p:nvPr/>
        </p:nvCxnSpPr>
        <p:spPr>
          <a:xfrm>
            <a:off x="4267625" y="6839375"/>
            <a:ext cx="3093600" cy="1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3"/>
          <p:cNvSpPr txBox="1"/>
          <p:nvPr/>
        </p:nvSpPr>
        <p:spPr>
          <a:xfrm>
            <a:off x="7379800" y="5236731"/>
            <a:ext cx="4845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Careful planning is essential in peri-implant distal femur fractures.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Implant removal and locking plate fixation provides stable fixation and promotes union.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Mechanical stability and biology factors is essential for successful outcomes.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Appropriate surgical management can result in Good union and good functional recovery can be achieved. </a:t>
            </a:r>
            <a:endParaRPr b="1" sz="1100"/>
          </a:p>
        </p:txBody>
      </p:sp>
      <p:cxnSp>
        <p:nvCxnSpPr>
          <p:cNvPr id="110" name="Google Shape;110;p13"/>
          <p:cNvCxnSpPr/>
          <p:nvPr/>
        </p:nvCxnSpPr>
        <p:spPr>
          <a:xfrm>
            <a:off x="12187864" y="1695875"/>
            <a:ext cx="18600" cy="311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" name="Google Shape;111;p13" title="WhatsApp Image 2026-01-26 at 9.21.39 P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075" y="5286800"/>
            <a:ext cx="1596676" cy="149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 title="WhatsApp Image 2026-01-26 at 9.22.07 PM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7625" y="5236726"/>
            <a:ext cx="1725798" cy="15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 title="WhatsApp Image 2026-01-26 at 9.14.10 PM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7975" y="4245600"/>
            <a:ext cx="941750" cy="117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 title="WhatsApp Image 2026-01-26 at 9.14.00 PM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07750" y="4245575"/>
            <a:ext cx="884050" cy="117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 title="WhatsApp Image 2026-01-26 at 9.14.22 PM.jpe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20150" y="4245575"/>
            <a:ext cx="827225" cy="117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title="WhatsApp Image 2026-01-26 at 9.14.44 PM.jpe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35488" y="5503249"/>
            <a:ext cx="960113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 title="WhatsApp Image 2026-01-26 at 9.17.12 PM.jpe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06200" y="5500875"/>
            <a:ext cx="827224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 title="WhatsApp Image 2026-01-26 at 9.20.38 PM (3).jpe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556231" y="3550200"/>
            <a:ext cx="884045" cy="117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 title="WhatsApp Image 2026-01-26 at 9.20.38 PM (2).jpe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315525" y="5503250"/>
            <a:ext cx="8840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title="WhatsApp Image 2026-01-26 at 9.20.37 PM (3).jpe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379500" y="3476325"/>
            <a:ext cx="1043174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title="WhatsApp Image 2026-01-26 at 9.24.00 PM.jpe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567243" y="3521076"/>
            <a:ext cx="931931" cy="117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title="WhatsApp Image 2026-01-26 at 9.24.52 PM.jpe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642725" y="3532200"/>
            <a:ext cx="1188651" cy="117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/>
        </p:nvSpPr>
        <p:spPr>
          <a:xfrm>
            <a:off x="2604874" y="477881"/>
            <a:ext cx="71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Presenter - Dr. Aachi Venkata Sai Anirudh 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Guide - Dr. Azeemuddin (Professor of Orthopedics) 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2026-01-11T06:24:43Z</dcterms:created>
  <dc:creator>Virinchi Vinay</dc:creator>
</cp:coreProperties>
</file>