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25755"/>
    <a:srgbClr val="01234D"/>
    <a:srgbClr val="D9F2D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90" d="100"/>
          <a:sy n="90" d="100"/>
        </p:scale>
        <p:origin x="398" y="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928CF7-C54C-3253-7CB3-4CB60C4B9648}"/>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863E176-0152-1EB9-B130-312E601D10AB}"/>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9FFAE6B-127E-B337-0AD1-96BED4F091EF}"/>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2/12/2026</a:t>
            </a:fld>
            <a:endParaRPr lang="en-US"/>
          </a:p>
        </p:txBody>
      </p:sp>
      <p:sp>
        <p:nvSpPr>
          <p:cNvPr id="5" name="Footer Placeholder 4">
            <a:extLst>
              <a:ext uri="{FF2B5EF4-FFF2-40B4-BE49-F238E27FC236}">
                <a16:creationId xmlns:a16="http://schemas.microsoft.com/office/drawing/2014/main" id="{40D5E608-905C-2142-2365-F68EB7F95FE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DFF68622-57FF-B5F0-4011-D23C810B459F}"/>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9448645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54781-A465-F143-A98C-94FD82413F7A}"/>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E1D11094-0A62-2805-2C56-EAB66E3F8FE2}"/>
              </a:ext>
            </a:extLst>
          </p:cNvPr>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25DF6B2-DE75-AA42-1BA3-56A152E3254C}"/>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2/12/2026</a:t>
            </a:fld>
            <a:endParaRPr lang="en-US"/>
          </a:p>
        </p:txBody>
      </p:sp>
      <p:sp>
        <p:nvSpPr>
          <p:cNvPr id="5" name="Footer Placeholder 4">
            <a:extLst>
              <a:ext uri="{FF2B5EF4-FFF2-40B4-BE49-F238E27FC236}">
                <a16:creationId xmlns:a16="http://schemas.microsoft.com/office/drawing/2014/main" id="{E1B95C1A-D479-0105-5ABD-2C9F2D4ED038}"/>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264AE42D-29E2-AB5A-9D0B-9821D21D8E26}"/>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25577859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D0A9C5-0C47-1DBF-A9F1-8826C36002C6}"/>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11B4216-49BB-98ED-9B94-654F199388F7}"/>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6747736-AC8A-3EB8-57D1-2A9C7AAC8FCF}"/>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2/12/2026</a:t>
            </a:fld>
            <a:endParaRPr lang="en-US"/>
          </a:p>
        </p:txBody>
      </p:sp>
      <p:sp>
        <p:nvSpPr>
          <p:cNvPr id="5" name="Footer Placeholder 4">
            <a:extLst>
              <a:ext uri="{FF2B5EF4-FFF2-40B4-BE49-F238E27FC236}">
                <a16:creationId xmlns:a16="http://schemas.microsoft.com/office/drawing/2014/main" id="{86E5BB55-6273-FBEF-64A3-8CF306288B94}"/>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0659087E-17BE-555C-DF0C-0F4361521714}"/>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22799950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411663-53A1-9E1F-5617-88CF82EC9BD9}"/>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C471D5E3-ECCA-B4D2-2633-7957691A3305}"/>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ECF5196-CC99-5011-B2D0-B4E6A682F565}"/>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8A8BA26-119C-CCCD-E391-AEF50B6FD708}"/>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2/12/2026</a:t>
            </a:fld>
            <a:endParaRPr lang="en-US"/>
          </a:p>
        </p:txBody>
      </p:sp>
      <p:sp>
        <p:nvSpPr>
          <p:cNvPr id="6" name="Footer Placeholder 5">
            <a:extLst>
              <a:ext uri="{FF2B5EF4-FFF2-40B4-BE49-F238E27FC236}">
                <a16:creationId xmlns:a16="http://schemas.microsoft.com/office/drawing/2014/main" id="{EBA14F4A-53BC-F382-885A-E89A766323AF}"/>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BC250453-2D7E-EDE2-4C30-876DA9F06F47}"/>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28642390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1C1600-9375-445B-F52D-49C2D79AB77A}"/>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890504FE-0E7A-7AAD-AA62-68B5061F0448}"/>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BEC0743-5AE4-C8DB-E431-9BF89F98CB7D}"/>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9F135F8-5672-C883-5700-82CCEB25C800}"/>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D143E3C-1062-3C3B-33DC-9DE5999687B6}"/>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144B81D-1D0D-2B34-ACE9-647404B6726C}"/>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2/12/2026</a:t>
            </a:fld>
            <a:endParaRPr lang="en-US"/>
          </a:p>
        </p:txBody>
      </p:sp>
      <p:sp>
        <p:nvSpPr>
          <p:cNvPr id="8" name="Footer Placeholder 7">
            <a:extLst>
              <a:ext uri="{FF2B5EF4-FFF2-40B4-BE49-F238E27FC236}">
                <a16:creationId xmlns:a16="http://schemas.microsoft.com/office/drawing/2014/main" id="{FA2B9CA9-FB5C-6A3F-A8C9-5A2303657F7B}"/>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04F8827A-8D6A-6027-36D4-A09116C39B05}"/>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15207137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9B2320-BF86-B4C0-4C77-57A8A14FAB1C}"/>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6DBF2AEC-90F1-FF9D-116C-F8E796EDE9FD}"/>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2/12/2026</a:t>
            </a:fld>
            <a:endParaRPr lang="en-US"/>
          </a:p>
        </p:txBody>
      </p:sp>
      <p:sp>
        <p:nvSpPr>
          <p:cNvPr id="4" name="Footer Placeholder 3">
            <a:extLst>
              <a:ext uri="{FF2B5EF4-FFF2-40B4-BE49-F238E27FC236}">
                <a16:creationId xmlns:a16="http://schemas.microsoft.com/office/drawing/2014/main" id="{8930F28E-A8F5-AFB5-B659-0E7A774C7AC7}"/>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A30AFD6F-07FF-B36A-B355-6F54892182D4}"/>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9587359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62561D-609B-41C4-03F7-C9EB1C339CA0}"/>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2/12/2026</a:t>
            </a:fld>
            <a:endParaRPr lang="en-US"/>
          </a:p>
        </p:txBody>
      </p:sp>
      <p:sp>
        <p:nvSpPr>
          <p:cNvPr id="3" name="Footer Placeholder 2">
            <a:extLst>
              <a:ext uri="{FF2B5EF4-FFF2-40B4-BE49-F238E27FC236}">
                <a16:creationId xmlns:a16="http://schemas.microsoft.com/office/drawing/2014/main" id="{C177B401-DFF1-9E83-1AFF-E5EC0ACD16EA}"/>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7A27D21B-F5D7-5E07-AD0D-285590E6DEA5}"/>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3898427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DF68E2-3E1C-4942-B972-676EF99620F3}"/>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AB3E5FE-9809-AA0D-0068-8D2879739446}"/>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45EC551-67C4-F4E7-1910-F519BF9045D8}"/>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86D973-5346-1585-DF1D-4A6D81AE612A}"/>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2/12/2026</a:t>
            </a:fld>
            <a:endParaRPr lang="en-US"/>
          </a:p>
        </p:txBody>
      </p:sp>
      <p:sp>
        <p:nvSpPr>
          <p:cNvPr id="6" name="Footer Placeholder 5">
            <a:extLst>
              <a:ext uri="{FF2B5EF4-FFF2-40B4-BE49-F238E27FC236}">
                <a16:creationId xmlns:a16="http://schemas.microsoft.com/office/drawing/2014/main" id="{F86FF201-46FF-F9B5-9CC0-41835305C68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35ECBF98-FECD-2939-6FDA-1F24F227DA04}"/>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38615285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4BCDCE-1DF9-541C-B7E9-6622BFED4115}"/>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45BBD72-9B7D-1B6B-5935-44F06A9178E8}"/>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746A0AE-8309-E148-1D29-29503949BDE0}"/>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96C41A5-6FCA-36FF-6CFA-7C0597A212FA}"/>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2/12/2026</a:t>
            </a:fld>
            <a:endParaRPr lang="en-US"/>
          </a:p>
        </p:txBody>
      </p:sp>
      <p:sp>
        <p:nvSpPr>
          <p:cNvPr id="6" name="Footer Placeholder 5">
            <a:extLst>
              <a:ext uri="{FF2B5EF4-FFF2-40B4-BE49-F238E27FC236}">
                <a16:creationId xmlns:a16="http://schemas.microsoft.com/office/drawing/2014/main" id="{A8DB2AD8-5418-91E2-23C4-D519A6265F26}"/>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E9F095D8-FC0F-CA9B-A1E7-AA64CF34EB67}"/>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40816603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56F263-9A0A-3394-3F1F-6C5F8D328ACA}"/>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E5FFEF5-760B-0BB1-28DC-68D43894F17E}"/>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F4F539A-7EBC-768A-374D-3E568BE3277A}"/>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2/12/2026</a:t>
            </a:fld>
            <a:endParaRPr lang="en-US"/>
          </a:p>
        </p:txBody>
      </p:sp>
      <p:sp>
        <p:nvSpPr>
          <p:cNvPr id="5" name="Footer Placeholder 4">
            <a:extLst>
              <a:ext uri="{FF2B5EF4-FFF2-40B4-BE49-F238E27FC236}">
                <a16:creationId xmlns:a16="http://schemas.microsoft.com/office/drawing/2014/main" id="{052D2046-7AA0-ACCC-813F-F0045C6B0ECA}"/>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1E743A9D-CF35-58E9-CEF7-84CD752F4941}"/>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21074731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E6EEB20-7BAE-8163-AF11-357FD764FC54}"/>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0D173BD-0918-77CD-3BC5-870F618AF1FF}"/>
              </a:ext>
            </a:extLst>
          </p:cNvPr>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48AB18A-E29B-AB92-E36C-D19006B4B100}"/>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2/12/2026</a:t>
            </a:fld>
            <a:endParaRPr lang="en-US"/>
          </a:p>
        </p:txBody>
      </p:sp>
      <p:sp>
        <p:nvSpPr>
          <p:cNvPr id="5" name="Footer Placeholder 4">
            <a:extLst>
              <a:ext uri="{FF2B5EF4-FFF2-40B4-BE49-F238E27FC236}">
                <a16:creationId xmlns:a16="http://schemas.microsoft.com/office/drawing/2014/main" id="{DD0034D9-0416-B27F-B018-5988B84EC8E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95D91FF6-4797-6F7F-6750-554277416B03}"/>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20606621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DE82E09-9CEE-8584-D464-24E0EC391B80}"/>
              </a:ext>
            </a:extLst>
          </p:cNvPr>
          <p:cNvSpPr/>
          <p:nvPr userDrawn="1"/>
        </p:nvSpPr>
        <p:spPr>
          <a:xfrm>
            <a:off x="0" y="0"/>
            <a:ext cx="12191998" cy="1280156"/>
          </a:xfrm>
          <a:prstGeom prst="rect">
            <a:avLst/>
          </a:prstGeom>
          <a:solidFill>
            <a:srgbClr val="01234D"/>
          </a:solidFill>
          <a:ln>
            <a:solidFill>
              <a:srgbClr val="5257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14">
            <a:extLst>
              <a:ext uri="{FF2B5EF4-FFF2-40B4-BE49-F238E27FC236}">
                <a16:creationId xmlns:a16="http://schemas.microsoft.com/office/drawing/2014/main" id="{F2BE4274-EF19-EE7E-5761-D489EED61B88}"/>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9006884" y="74822"/>
            <a:ext cx="1043154" cy="1043154"/>
          </a:xfrm>
          <a:prstGeom prst="rect">
            <a:avLst/>
          </a:prstGeom>
        </p:spPr>
      </p:pic>
      <p:pic>
        <p:nvPicPr>
          <p:cNvPr id="16" name="Picture 15">
            <a:extLst>
              <a:ext uri="{FF2B5EF4-FFF2-40B4-BE49-F238E27FC236}">
                <a16:creationId xmlns:a16="http://schemas.microsoft.com/office/drawing/2014/main" id="{A91A2BA2-F38B-80BA-A985-5949FC76FEA7}"/>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10947316" y="123390"/>
            <a:ext cx="884047" cy="884047"/>
          </a:xfrm>
          <a:prstGeom prst="rect">
            <a:avLst/>
          </a:prstGeom>
        </p:spPr>
      </p:pic>
      <p:pic>
        <p:nvPicPr>
          <p:cNvPr id="17" name="Picture 16">
            <a:extLst>
              <a:ext uri="{FF2B5EF4-FFF2-40B4-BE49-F238E27FC236}">
                <a16:creationId xmlns:a16="http://schemas.microsoft.com/office/drawing/2014/main" id="{604524FB-BCF4-1B74-A89E-4EDE85967878}"/>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10127893" y="192303"/>
            <a:ext cx="785940" cy="785940"/>
          </a:xfrm>
          <a:prstGeom prst="rect">
            <a:avLst/>
          </a:prstGeom>
        </p:spPr>
      </p:pic>
      <p:sp>
        <p:nvSpPr>
          <p:cNvPr id="18" name="TextBox 17">
            <a:extLst>
              <a:ext uri="{FF2B5EF4-FFF2-40B4-BE49-F238E27FC236}">
                <a16:creationId xmlns:a16="http://schemas.microsoft.com/office/drawing/2014/main" id="{F2F88F76-11B2-42F9-7CED-3DAC2835AF8A}"/>
              </a:ext>
            </a:extLst>
          </p:cNvPr>
          <p:cNvSpPr txBox="1"/>
          <p:nvPr userDrawn="1"/>
        </p:nvSpPr>
        <p:spPr>
          <a:xfrm>
            <a:off x="2575249" y="27424"/>
            <a:ext cx="5998348" cy="646331"/>
          </a:xfrm>
          <a:prstGeom prst="rect">
            <a:avLst/>
          </a:prstGeom>
          <a:noFill/>
        </p:spPr>
        <p:txBody>
          <a:bodyPr wrap="square" rtlCol="0">
            <a:spAutoFit/>
          </a:bodyPr>
          <a:lstStyle/>
          <a:p>
            <a:r>
              <a:rPr lang="en-US" b="1" dirty="0">
                <a:solidFill>
                  <a:schemeClr val="bg1"/>
                </a:solidFill>
                <a:latin typeface="Gordita "/>
              </a:rPr>
              <a:t>55</a:t>
            </a:r>
            <a:r>
              <a:rPr lang="en-US" b="1" baseline="30000" dirty="0">
                <a:solidFill>
                  <a:schemeClr val="bg1"/>
                </a:solidFill>
                <a:latin typeface="Gordita "/>
              </a:rPr>
              <a:t>th</a:t>
            </a:r>
            <a:r>
              <a:rPr lang="en-US" b="1" dirty="0">
                <a:solidFill>
                  <a:schemeClr val="bg1"/>
                </a:solidFill>
                <a:latin typeface="Gordita "/>
              </a:rPr>
              <a:t>   Annual Conference of </a:t>
            </a:r>
          </a:p>
          <a:p>
            <a:r>
              <a:rPr lang="en-US" b="1" dirty="0">
                <a:solidFill>
                  <a:schemeClr val="bg1"/>
                </a:solidFill>
                <a:latin typeface="Gordita "/>
              </a:rPr>
              <a:t>Orthopedic Surgeon Society of Andhra Pradesh</a:t>
            </a:r>
          </a:p>
        </p:txBody>
      </p:sp>
      <p:sp>
        <p:nvSpPr>
          <p:cNvPr id="19" name="TextBox 18">
            <a:extLst>
              <a:ext uri="{FF2B5EF4-FFF2-40B4-BE49-F238E27FC236}">
                <a16:creationId xmlns:a16="http://schemas.microsoft.com/office/drawing/2014/main" id="{65ADD6F6-E35D-B7F8-9AC5-43234D897C09}"/>
              </a:ext>
            </a:extLst>
          </p:cNvPr>
          <p:cNvSpPr txBox="1"/>
          <p:nvPr userDrawn="1"/>
        </p:nvSpPr>
        <p:spPr>
          <a:xfrm>
            <a:off x="2601218" y="653897"/>
            <a:ext cx="6307494" cy="276999"/>
          </a:xfrm>
          <a:prstGeom prst="rect">
            <a:avLst/>
          </a:prstGeom>
          <a:noFill/>
        </p:spPr>
        <p:txBody>
          <a:bodyPr wrap="square" rtlCol="0">
            <a:spAutoFit/>
          </a:bodyPr>
          <a:lstStyle/>
          <a:p>
            <a:r>
              <a:rPr lang="en-US" sz="1200" b="1" dirty="0">
                <a:solidFill>
                  <a:schemeClr val="bg1"/>
                </a:solidFill>
                <a:latin typeface="Gordita "/>
              </a:rPr>
              <a:t>Date 6 – 8 February,2026, Venue : Kurnool Medical College</a:t>
            </a:r>
          </a:p>
        </p:txBody>
      </p:sp>
      <p:sp>
        <p:nvSpPr>
          <p:cNvPr id="20" name="TextBox 19">
            <a:extLst>
              <a:ext uri="{FF2B5EF4-FFF2-40B4-BE49-F238E27FC236}">
                <a16:creationId xmlns:a16="http://schemas.microsoft.com/office/drawing/2014/main" id="{C146DFFE-ACF0-208A-4880-3B35F597866F}"/>
              </a:ext>
            </a:extLst>
          </p:cNvPr>
          <p:cNvSpPr txBox="1"/>
          <p:nvPr userDrawn="1"/>
        </p:nvSpPr>
        <p:spPr>
          <a:xfrm>
            <a:off x="2575249" y="913340"/>
            <a:ext cx="7114032" cy="276999"/>
          </a:xfrm>
          <a:prstGeom prst="rect">
            <a:avLst/>
          </a:prstGeom>
          <a:noFill/>
        </p:spPr>
        <p:txBody>
          <a:bodyPr wrap="square" rtlCol="0">
            <a:spAutoFit/>
          </a:bodyPr>
          <a:lstStyle/>
          <a:p>
            <a:r>
              <a:rPr lang="en-US" sz="1200" b="1" dirty="0">
                <a:solidFill>
                  <a:schemeClr val="bg1"/>
                </a:solidFill>
                <a:latin typeface="Gordita "/>
              </a:rPr>
              <a:t>Organized by : Department of </a:t>
            </a:r>
            <a:r>
              <a:rPr lang="en-US" sz="1200" b="1" dirty="0" err="1">
                <a:solidFill>
                  <a:schemeClr val="bg1"/>
                </a:solidFill>
                <a:latin typeface="Gordita "/>
              </a:rPr>
              <a:t>Orthopaedics</a:t>
            </a:r>
            <a:r>
              <a:rPr lang="en-US" sz="1200" b="1" dirty="0">
                <a:solidFill>
                  <a:schemeClr val="bg1"/>
                </a:solidFill>
                <a:latin typeface="Gordita "/>
              </a:rPr>
              <a:t>, Kurnool Medical College Kurnool</a:t>
            </a:r>
          </a:p>
        </p:txBody>
      </p:sp>
      <p:sp>
        <p:nvSpPr>
          <p:cNvPr id="21" name="Freeform 13">
            <a:extLst>
              <a:ext uri="{FF2B5EF4-FFF2-40B4-BE49-F238E27FC236}">
                <a16:creationId xmlns:a16="http://schemas.microsoft.com/office/drawing/2014/main" id="{FD934B23-4A0F-DA26-1C91-6993B84BADB9}"/>
              </a:ext>
            </a:extLst>
          </p:cNvPr>
          <p:cNvSpPr/>
          <p:nvPr userDrawn="1"/>
        </p:nvSpPr>
        <p:spPr>
          <a:xfrm>
            <a:off x="560814" y="14255"/>
            <a:ext cx="1505561" cy="1280157"/>
          </a:xfrm>
          <a:custGeom>
            <a:avLst/>
            <a:gdLst/>
            <a:ahLst/>
            <a:cxnLst/>
            <a:rect l="l" t="t" r="r" b="b"/>
            <a:pathLst>
              <a:path w="2254612" h="1957865">
                <a:moveTo>
                  <a:pt x="0" y="0"/>
                </a:moveTo>
                <a:lnTo>
                  <a:pt x="2254612" y="0"/>
                </a:lnTo>
                <a:lnTo>
                  <a:pt x="2254612" y="1957865"/>
                </a:lnTo>
                <a:lnTo>
                  <a:pt x="0" y="1957865"/>
                </a:lnTo>
                <a:lnTo>
                  <a:pt x="0" y="0"/>
                </a:lnTo>
                <a:close/>
              </a:path>
            </a:pathLst>
          </a:custGeom>
          <a:blipFill>
            <a:blip r:embed="rId16"/>
            <a:stretch>
              <a:fillRect t="-9937" r="-4895" b="-10857"/>
            </a:stretch>
          </a:blipFill>
        </p:spPr>
        <p:txBody>
          <a:bodyPr/>
          <a:lstStyle/>
          <a:p>
            <a:endParaRPr lang="en-US"/>
          </a:p>
        </p:txBody>
      </p:sp>
    </p:spTree>
    <p:extLst>
      <p:ext uri="{BB962C8B-B14F-4D97-AF65-F5344CB8AC3E}">
        <p14:creationId xmlns:p14="http://schemas.microsoft.com/office/powerpoint/2010/main" val="10701551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E872BCCA-09F4-9D91-AE26-B5E437D7714E}"/>
              </a:ext>
            </a:extLst>
          </p:cNvPr>
          <p:cNvSpPr/>
          <p:nvPr/>
        </p:nvSpPr>
        <p:spPr>
          <a:xfrm>
            <a:off x="0" y="0"/>
            <a:ext cx="12191998" cy="1280156"/>
          </a:xfrm>
          <a:prstGeom prst="rect">
            <a:avLst/>
          </a:prstGeom>
          <a:solidFill>
            <a:srgbClr val="01234D"/>
          </a:solidFill>
          <a:ln>
            <a:solidFill>
              <a:srgbClr val="5257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EA6BB7B0-D981-FEB6-4479-7A49704B2B87}"/>
              </a:ext>
            </a:extLst>
          </p:cNvPr>
          <p:cNvSpPr txBox="1"/>
          <p:nvPr/>
        </p:nvSpPr>
        <p:spPr>
          <a:xfrm>
            <a:off x="2575249" y="27424"/>
            <a:ext cx="5998348" cy="923330"/>
          </a:xfrm>
          <a:prstGeom prst="rect">
            <a:avLst/>
          </a:prstGeom>
          <a:noFill/>
        </p:spPr>
        <p:txBody>
          <a:bodyPr wrap="square" rtlCol="0">
            <a:spAutoFit/>
          </a:bodyPr>
          <a:lstStyle/>
          <a:p>
            <a:pPr algn="ctr"/>
            <a:r>
              <a:rPr lang="en-US" sz="1800" b="1" cap="none" spc="0" dirty="0">
                <a:ln w="0"/>
                <a:solidFill>
                  <a:schemeClr val="bg1"/>
                </a:solidFill>
                <a:effectLst>
                  <a:outerShdw blurRad="38100" dist="19050" dir="2700000" algn="tl" rotWithShape="0">
                    <a:schemeClr val="dk1">
                      <a:alpha val="40000"/>
                    </a:schemeClr>
                  </a:outerShdw>
                </a:effectLst>
              </a:rPr>
              <a:t>DORSAL BRIDGE PLATING IN MANAGEMENT </a:t>
            </a:r>
          </a:p>
          <a:p>
            <a:pPr algn="ctr"/>
            <a:r>
              <a:rPr lang="en-US" sz="1800" b="1" dirty="0">
                <a:ln w="0"/>
                <a:solidFill>
                  <a:schemeClr val="bg1"/>
                </a:solidFill>
                <a:effectLst>
                  <a:outerShdw blurRad="38100" dist="19050" dir="2700000" algn="tl" rotWithShape="0">
                    <a:schemeClr val="dk1">
                      <a:alpha val="40000"/>
                    </a:schemeClr>
                  </a:outerShdw>
                </a:effectLst>
              </a:rPr>
              <a:t>OF NON-UNION OF DISTAL RADIUS FRACTURE</a:t>
            </a:r>
            <a:endParaRPr lang="en-US" sz="1800" b="1" cap="none" spc="0" dirty="0">
              <a:ln w="0"/>
              <a:solidFill>
                <a:schemeClr val="bg1"/>
              </a:solidFill>
              <a:effectLst>
                <a:outerShdw blurRad="38100" dist="19050" dir="2700000" algn="tl" rotWithShape="0">
                  <a:schemeClr val="dk1">
                    <a:alpha val="40000"/>
                  </a:schemeClr>
                </a:outerShdw>
              </a:effectLst>
            </a:endParaRPr>
          </a:p>
          <a:p>
            <a:endParaRPr lang="en-US" b="1" dirty="0">
              <a:solidFill>
                <a:schemeClr val="bg1"/>
              </a:solidFill>
              <a:latin typeface="Gordita "/>
            </a:endParaRPr>
          </a:p>
        </p:txBody>
      </p:sp>
      <p:sp>
        <p:nvSpPr>
          <p:cNvPr id="20" name="TextBox 19">
            <a:extLst>
              <a:ext uri="{FF2B5EF4-FFF2-40B4-BE49-F238E27FC236}">
                <a16:creationId xmlns:a16="http://schemas.microsoft.com/office/drawing/2014/main" id="{C0616687-624D-607B-6F85-335EE46873F1}"/>
              </a:ext>
            </a:extLst>
          </p:cNvPr>
          <p:cNvSpPr txBox="1"/>
          <p:nvPr/>
        </p:nvSpPr>
        <p:spPr>
          <a:xfrm>
            <a:off x="2766782" y="608778"/>
            <a:ext cx="7114032" cy="830997"/>
          </a:xfrm>
          <a:prstGeom prst="rect">
            <a:avLst/>
          </a:prstGeom>
          <a:noFill/>
        </p:spPr>
        <p:txBody>
          <a:bodyPr wrap="square" rtlCol="0">
            <a:spAutoFit/>
          </a:bodyPr>
          <a:lstStyle/>
          <a:p>
            <a:r>
              <a:rPr lang="en-IN" sz="1200" b="1" dirty="0">
                <a:solidFill>
                  <a:schemeClr val="bg1"/>
                </a:solidFill>
              </a:rPr>
              <a:t>AUTHOR:</a:t>
            </a:r>
            <a:r>
              <a:rPr lang="en-IN" sz="1200" dirty="0">
                <a:solidFill>
                  <a:schemeClr val="bg1"/>
                </a:solidFill>
              </a:rPr>
              <a:t>        </a:t>
            </a:r>
            <a:r>
              <a:rPr lang="en-IN" sz="1200" dirty="0" err="1">
                <a:solidFill>
                  <a:schemeClr val="bg1"/>
                </a:solidFill>
              </a:rPr>
              <a:t>Dr.</a:t>
            </a:r>
            <a:r>
              <a:rPr lang="en-IN" sz="1200" dirty="0">
                <a:solidFill>
                  <a:schemeClr val="bg1"/>
                </a:solidFill>
              </a:rPr>
              <a:t> KANALA MABU HUSSAIN</a:t>
            </a:r>
          </a:p>
          <a:p>
            <a:r>
              <a:rPr lang="en-IN" sz="1200" b="1" dirty="0">
                <a:solidFill>
                  <a:schemeClr val="bg1"/>
                </a:solidFill>
              </a:rPr>
              <a:t>C0-AUTHOR</a:t>
            </a:r>
            <a:r>
              <a:rPr lang="en-IN" sz="1200" dirty="0">
                <a:solidFill>
                  <a:schemeClr val="bg1"/>
                </a:solidFill>
              </a:rPr>
              <a:t>:   </a:t>
            </a:r>
            <a:r>
              <a:rPr lang="en-IN" sz="1200" dirty="0" err="1">
                <a:solidFill>
                  <a:schemeClr val="bg1"/>
                </a:solidFill>
              </a:rPr>
              <a:t>Dr.</a:t>
            </a:r>
            <a:r>
              <a:rPr lang="en-IN" sz="1200" dirty="0">
                <a:solidFill>
                  <a:schemeClr val="bg1"/>
                </a:solidFill>
              </a:rPr>
              <a:t> M SAI KRISHNA ( ASSISTANT PROFESSOR)  DEPARTMENT OF ORTHOPAEDICS </a:t>
            </a:r>
          </a:p>
          <a:p>
            <a:r>
              <a:rPr lang="en-IN" sz="1200" dirty="0">
                <a:solidFill>
                  <a:schemeClr val="bg1"/>
                </a:solidFill>
              </a:rPr>
              <a:t>GITAM INSTITUTE OF MEDICAL SCIENCE AND RESEARCH</a:t>
            </a:r>
          </a:p>
          <a:p>
            <a:endParaRPr lang="en-US" sz="1200" b="1" dirty="0">
              <a:solidFill>
                <a:schemeClr val="bg1"/>
              </a:solidFill>
              <a:latin typeface="Gordita "/>
            </a:endParaRPr>
          </a:p>
        </p:txBody>
      </p:sp>
      <p:sp>
        <p:nvSpPr>
          <p:cNvPr id="4" name="Freeform 13">
            <a:extLst>
              <a:ext uri="{FF2B5EF4-FFF2-40B4-BE49-F238E27FC236}">
                <a16:creationId xmlns:a16="http://schemas.microsoft.com/office/drawing/2014/main" id="{0F401C6F-33A3-A415-AD1A-709059E901BF}"/>
              </a:ext>
            </a:extLst>
          </p:cNvPr>
          <p:cNvSpPr/>
          <p:nvPr/>
        </p:nvSpPr>
        <p:spPr>
          <a:xfrm>
            <a:off x="560814" y="14255"/>
            <a:ext cx="1505561" cy="1280157"/>
          </a:xfrm>
          <a:custGeom>
            <a:avLst/>
            <a:gdLst/>
            <a:ahLst/>
            <a:cxnLst/>
            <a:rect l="l" t="t" r="r" b="b"/>
            <a:pathLst>
              <a:path w="2254612" h="1957865">
                <a:moveTo>
                  <a:pt x="0" y="0"/>
                </a:moveTo>
                <a:lnTo>
                  <a:pt x="2254612" y="0"/>
                </a:lnTo>
                <a:lnTo>
                  <a:pt x="2254612" y="1957865"/>
                </a:lnTo>
                <a:lnTo>
                  <a:pt x="0" y="1957865"/>
                </a:lnTo>
                <a:lnTo>
                  <a:pt x="0" y="0"/>
                </a:lnTo>
                <a:close/>
              </a:path>
            </a:pathLst>
          </a:custGeom>
          <a:blipFill>
            <a:blip r:embed="rId2"/>
            <a:stretch>
              <a:fillRect t="-9937" r="-4895" b="-10857"/>
            </a:stretch>
          </a:blipFill>
        </p:spPr>
        <p:txBody>
          <a:bodyPr/>
          <a:lstStyle/>
          <a:p>
            <a:endParaRPr lang="en-US"/>
          </a:p>
        </p:txBody>
      </p:sp>
      <p:sp>
        <p:nvSpPr>
          <p:cNvPr id="5" name="Rectangle 4">
            <a:extLst>
              <a:ext uri="{FF2B5EF4-FFF2-40B4-BE49-F238E27FC236}">
                <a16:creationId xmlns:a16="http://schemas.microsoft.com/office/drawing/2014/main" id="{1D4F9D5A-1DDA-4BC3-63F3-F36226B86C87}"/>
              </a:ext>
            </a:extLst>
          </p:cNvPr>
          <p:cNvSpPr/>
          <p:nvPr/>
        </p:nvSpPr>
        <p:spPr>
          <a:xfrm>
            <a:off x="0" y="1674796"/>
            <a:ext cx="3108960" cy="33303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6" name="Rectangle 5">
            <a:extLst>
              <a:ext uri="{FF2B5EF4-FFF2-40B4-BE49-F238E27FC236}">
                <a16:creationId xmlns:a16="http://schemas.microsoft.com/office/drawing/2014/main" id="{EC094F03-F93B-9B6D-7C11-87F9C75E6ABB}"/>
              </a:ext>
            </a:extLst>
          </p:cNvPr>
          <p:cNvSpPr/>
          <p:nvPr/>
        </p:nvSpPr>
        <p:spPr>
          <a:xfrm>
            <a:off x="0" y="5080536"/>
            <a:ext cx="3108960" cy="177746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7" name="Rectangle 6">
            <a:extLst>
              <a:ext uri="{FF2B5EF4-FFF2-40B4-BE49-F238E27FC236}">
                <a16:creationId xmlns:a16="http://schemas.microsoft.com/office/drawing/2014/main" id="{6D1A47E9-312C-D04A-D368-EE96CE32C982}"/>
              </a:ext>
            </a:extLst>
          </p:cNvPr>
          <p:cNvSpPr/>
          <p:nvPr/>
        </p:nvSpPr>
        <p:spPr>
          <a:xfrm>
            <a:off x="3137836" y="1280157"/>
            <a:ext cx="3185962" cy="557784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 name="Rectangle 7">
            <a:extLst>
              <a:ext uri="{FF2B5EF4-FFF2-40B4-BE49-F238E27FC236}">
                <a16:creationId xmlns:a16="http://schemas.microsoft.com/office/drawing/2014/main" id="{63A874B9-B8E1-A36B-AA38-6FCC7D5D8F32}"/>
              </a:ext>
            </a:extLst>
          </p:cNvPr>
          <p:cNvSpPr/>
          <p:nvPr/>
        </p:nvSpPr>
        <p:spPr>
          <a:xfrm>
            <a:off x="6352674" y="1477475"/>
            <a:ext cx="5839326" cy="33303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9" name="Rectangle 8">
            <a:extLst>
              <a:ext uri="{FF2B5EF4-FFF2-40B4-BE49-F238E27FC236}">
                <a16:creationId xmlns:a16="http://schemas.microsoft.com/office/drawing/2014/main" id="{0EFC2BB9-1938-0DF3-F424-CAC28C6D9880}"/>
              </a:ext>
            </a:extLst>
          </p:cNvPr>
          <p:cNvSpPr/>
          <p:nvPr/>
        </p:nvSpPr>
        <p:spPr>
          <a:xfrm>
            <a:off x="6352674" y="5080536"/>
            <a:ext cx="5839326" cy="177746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0" name="Rectangle 9">
            <a:extLst>
              <a:ext uri="{FF2B5EF4-FFF2-40B4-BE49-F238E27FC236}">
                <a16:creationId xmlns:a16="http://schemas.microsoft.com/office/drawing/2014/main" id="{6B0C050E-DD7C-3885-8EBF-D74C223C0531}"/>
              </a:ext>
            </a:extLst>
          </p:cNvPr>
          <p:cNvSpPr/>
          <p:nvPr/>
        </p:nvSpPr>
        <p:spPr>
          <a:xfrm>
            <a:off x="0" y="1280157"/>
            <a:ext cx="3108960" cy="394637"/>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INTRODUCTION </a:t>
            </a:r>
          </a:p>
        </p:txBody>
      </p:sp>
      <p:sp>
        <p:nvSpPr>
          <p:cNvPr id="11" name="Rectangle 10">
            <a:extLst>
              <a:ext uri="{FF2B5EF4-FFF2-40B4-BE49-F238E27FC236}">
                <a16:creationId xmlns:a16="http://schemas.microsoft.com/office/drawing/2014/main" id="{493EBCB5-BB50-7945-E88B-86122853702B}"/>
              </a:ext>
            </a:extLst>
          </p:cNvPr>
          <p:cNvSpPr/>
          <p:nvPr/>
        </p:nvSpPr>
        <p:spPr>
          <a:xfrm>
            <a:off x="3137836" y="1280157"/>
            <a:ext cx="3185962" cy="394637"/>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lumMod val="95000"/>
                    <a:lumOff val="5000"/>
                  </a:schemeClr>
                </a:solidFill>
              </a:rPr>
              <a:t>OPERATIVE FINDINGS</a:t>
            </a:r>
          </a:p>
        </p:txBody>
      </p:sp>
      <p:sp>
        <p:nvSpPr>
          <p:cNvPr id="12" name="Rectangle 11">
            <a:extLst>
              <a:ext uri="{FF2B5EF4-FFF2-40B4-BE49-F238E27FC236}">
                <a16:creationId xmlns:a16="http://schemas.microsoft.com/office/drawing/2014/main" id="{779DCDE1-7E85-0646-3543-9C1638CEB9CA}"/>
              </a:ext>
            </a:extLst>
          </p:cNvPr>
          <p:cNvSpPr/>
          <p:nvPr/>
        </p:nvSpPr>
        <p:spPr>
          <a:xfrm>
            <a:off x="6352673" y="1280157"/>
            <a:ext cx="5839325" cy="394637"/>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lumMod val="95000"/>
                    <a:lumOff val="5000"/>
                  </a:schemeClr>
                </a:solidFill>
              </a:rPr>
              <a:t>DISCUSSION</a:t>
            </a:r>
          </a:p>
        </p:txBody>
      </p:sp>
      <p:sp>
        <p:nvSpPr>
          <p:cNvPr id="13" name="Rectangle 12">
            <a:extLst>
              <a:ext uri="{FF2B5EF4-FFF2-40B4-BE49-F238E27FC236}">
                <a16:creationId xmlns:a16="http://schemas.microsoft.com/office/drawing/2014/main" id="{9A130820-FF42-EA8A-339B-145E1FC668F5}"/>
              </a:ext>
            </a:extLst>
          </p:cNvPr>
          <p:cNvSpPr/>
          <p:nvPr/>
        </p:nvSpPr>
        <p:spPr>
          <a:xfrm>
            <a:off x="0" y="5005136"/>
            <a:ext cx="3108960" cy="394637"/>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lumMod val="95000"/>
                    <a:lumOff val="5000"/>
                  </a:schemeClr>
                </a:solidFill>
              </a:rPr>
              <a:t>CASE REPORT</a:t>
            </a:r>
          </a:p>
        </p:txBody>
      </p:sp>
      <p:sp>
        <p:nvSpPr>
          <p:cNvPr id="22" name="Rectangle 21">
            <a:extLst>
              <a:ext uri="{FF2B5EF4-FFF2-40B4-BE49-F238E27FC236}">
                <a16:creationId xmlns:a16="http://schemas.microsoft.com/office/drawing/2014/main" id="{99633B59-00B8-9FD5-0D31-D1688B16556B}"/>
              </a:ext>
            </a:extLst>
          </p:cNvPr>
          <p:cNvSpPr/>
          <p:nvPr/>
        </p:nvSpPr>
        <p:spPr>
          <a:xfrm>
            <a:off x="6352674" y="4807817"/>
            <a:ext cx="5839324" cy="394637"/>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lumMod val="95000"/>
                    <a:lumOff val="5000"/>
                  </a:schemeClr>
                </a:solidFill>
              </a:rPr>
              <a:t>CONCLUSION</a:t>
            </a:r>
          </a:p>
        </p:txBody>
      </p:sp>
      <p:sp>
        <p:nvSpPr>
          <p:cNvPr id="21" name="TextBox 20">
            <a:extLst>
              <a:ext uri="{FF2B5EF4-FFF2-40B4-BE49-F238E27FC236}">
                <a16:creationId xmlns:a16="http://schemas.microsoft.com/office/drawing/2014/main" id="{E34D53BD-CB00-7F63-846C-3CC8A350D166}"/>
              </a:ext>
            </a:extLst>
          </p:cNvPr>
          <p:cNvSpPr txBox="1"/>
          <p:nvPr/>
        </p:nvSpPr>
        <p:spPr>
          <a:xfrm>
            <a:off x="-28113" y="1771509"/>
            <a:ext cx="3108960" cy="2800767"/>
          </a:xfrm>
          <a:prstGeom prst="rect">
            <a:avLst/>
          </a:prstGeom>
          <a:noFill/>
        </p:spPr>
        <p:txBody>
          <a:bodyPr wrap="square">
            <a:spAutoFit/>
          </a:bodyPr>
          <a:lstStyle/>
          <a:p>
            <a:r>
              <a:rPr lang="en-US" sz="1600" dirty="0"/>
              <a:t>The Dorsal bridge plating include restoring congruity of the radiocarpal and distal radioulnar joint (DRUJ) surfaces and maintaining radial length. We used 14 hole 3.5-mm dynamic compression plate (DCP) in the floor of the fourth dorsal extensor compartment to span from the intact radius diaphysis to the third metacarpal. </a:t>
            </a:r>
          </a:p>
        </p:txBody>
      </p:sp>
      <p:sp>
        <p:nvSpPr>
          <p:cNvPr id="24" name="TextBox 23">
            <a:extLst>
              <a:ext uri="{FF2B5EF4-FFF2-40B4-BE49-F238E27FC236}">
                <a16:creationId xmlns:a16="http://schemas.microsoft.com/office/drawing/2014/main" id="{282C1DBD-8992-1BDC-F355-ECFEC303CF71}"/>
              </a:ext>
            </a:extLst>
          </p:cNvPr>
          <p:cNvSpPr txBox="1"/>
          <p:nvPr/>
        </p:nvSpPr>
        <p:spPr>
          <a:xfrm>
            <a:off x="14435" y="5341281"/>
            <a:ext cx="3108960" cy="1815882"/>
          </a:xfrm>
          <a:prstGeom prst="rect">
            <a:avLst/>
          </a:prstGeom>
          <a:noFill/>
        </p:spPr>
        <p:txBody>
          <a:bodyPr wrap="square">
            <a:spAutoFit/>
          </a:bodyPr>
          <a:lstStyle/>
          <a:p>
            <a:r>
              <a:rPr lang="en-US" sz="1600" dirty="0"/>
              <a:t>32 years male with non-union of left distal radius fracture with previous failed fixation and did not recover functional arc of motion underwent dorsal bridge plating for distal radius. </a:t>
            </a:r>
            <a:endParaRPr lang="en-IN" sz="1600" kern="100" dirty="0">
              <a:latin typeface="Calibri" panose="020F0502020204030204" pitchFamily="34" charset="0"/>
              <a:ea typeface="Calibri" panose="020F0502020204030204" pitchFamily="34" charset="0"/>
              <a:cs typeface="Gautami" panose="020B0502040204020203" pitchFamily="34" charset="0"/>
            </a:endParaRPr>
          </a:p>
          <a:p>
            <a:endParaRPr lang="en-IN" sz="1600" kern="100" dirty="0">
              <a:effectLst/>
              <a:latin typeface="Calibri" panose="020F0502020204030204" pitchFamily="34" charset="0"/>
              <a:ea typeface="Calibri" panose="020F0502020204030204" pitchFamily="34" charset="0"/>
              <a:cs typeface="Gautami" panose="020B0502040204020203" pitchFamily="34" charset="0"/>
            </a:endParaRPr>
          </a:p>
        </p:txBody>
      </p:sp>
      <p:sp>
        <p:nvSpPr>
          <p:cNvPr id="26" name="TextBox 25">
            <a:extLst>
              <a:ext uri="{FF2B5EF4-FFF2-40B4-BE49-F238E27FC236}">
                <a16:creationId xmlns:a16="http://schemas.microsoft.com/office/drawing/2014/main" id="{C225154E-25D6-6440-7072-41CE83A697A2}"/>
              </a:ext>
            </a:extLst>
          </p:cNvPr>
          <p:cNvSpPr txBox="1"/>
          <p:nvPr/>
        </p:nvSpPr>
        <p:spPr>
          <a:xfrm>
            <a:off x="6323798" y="5202454"/>
            <a:ext cx="3285869" cy="1569660"/>
          </a:xfrm>
          <a:prstGeom prst="rect">
            <a:avLst/>
          </a:prstGeom>
          <a:noFill/>
        </p:spPr>
        <p:txBody>
          <a:bodyPr wrap="square">
            <a:spAutoFit/>
          </a:bodyPr>
          <a:lstStyle/>
          <a:p>
            <a:r>
              <a:rPr lang="en-US" sz="1600" dirty="0"/>
              <a:t>This plate provides excellent screw purchase in </a:t>
            </a:r>
            <a:r>
              <a:rPr lang="en-US" sz="1600" dirty="0" err="1"/>
              <a:t>osteopenic</a:t>
            </a:r>
            <a:r>
              <a:rPr lang="en-US" sz="1600" dirty="0"/>
              <a:t> bone because the device is secured to the cortical bone of the long metacarpal &amp; the radius and reduce risk of recurrence</a:t>
            </a:r>
            <a:endParaRPr lang="en-IN" sz="1600" dirty="0"/>
          </a:p>
        </p:txBody>
      </p:sp>
      <p:pic>
        <p:nvPicPr>
          <p:cNvPr id="27" name="Picture 26">
            <a:extLst>
              <a:ext uri="{FF2B5EF4-FFF2-40B4-BE49-F238E27FC236}">
                <a16:creationId xmlns:a16="http://schemas.microsoft.com/office/drawing/2014/main" id="{15ABF849-0E62-CAE8-9600-C9E4EAA64AA9}"/>
              </a:ext>
            </a:extLst>
          </p:cNvPr>
          <p:cNvPicPr>
            <a:picLocks noChangeAspect="1"/>
          </p:cNvPicPr>
          <p:nvPr/>
        </p:nvPicPr>
        <p:blipFill>
          <a:blip r:embed="rId3"/>
          <a:stretch>
            <a:fillRect/>
          </a:stretch>
        </p:blipFill>
        <p:spPr>
          <a:xfrm>
            <a:off x="9609667" y="5235916"/>
            <a:ext cx="2511378" cy="1502736"/>
          </a:xfrm>
          <a:prstGeom prst="rect">
            <a:avLst/>
          </a:prstGeom>
        </p:spPr>
      </p:pic>
      <p:sp>
        <p:nvSpPr>
          <p:cNvPr id="29" name="TextBox 28">
            <a:extLst>
              <a:ext uri="{FF2B5EF4-FFF2-40B4-BE49-F238E27FC236}">
                <a16:creationId xmlns:a16="http://schemas.microsoft.com/office/drawing/2014/main" id="{35FA3264-C2E6-202C-050C-74830FAFA784}"/>
              </a:ext>
            </a:extLst>
          </p:cNvPr>
          <p:cNvSpPr txBox="1"/>
          <p:nvPr/>
        </p:nvSpPr>
        <p:spPr>
          <a:xfrm>
            <a:off x="6352671" y="1663311"/>
            <a:ext cx="5768374" cy="1569660"/>
          </a:xfrm>
          <a:prstGeom prst="rect">
            <a:avLst/>
          </a:prstGeom>
          <a:noFill/>
        </p:spPr>
        <p:txBody>
          <a:bodyPr wrap="square">
            <a:spAutoFit/>
          </a:bodyPr>
          <a:lstStyle/>
          <a:p>
            <a:r>
              <a:rPr lang="en-US" sz="1600" dirty="0"/>
              <a:t>In Intra articular comminuted DER fractures where plating and external fixation is not possible because of pin-track infection or loosening leading to loss of reduction, stiffness the use of the dorsal bridge plate permitted the soft-tissue envelope to mature while maintaining radial length, allowing retaining congruity of the radiocarpal and radio-ulnar joints. </a:t>
            </a:r>
            <a:endParaRPr lang="en-IN" sz="1600" dirty="0"/>
          </a:p>
        </p:txBody>
      </p:sp>
      <p:sp>
        <p:nvSpPr>
          <p:cNvPr id="32" name="TextBox 31">
            <a:extLst>
              <a:ext uri="{FF2B5EF4-FFF2-40B4-BE49-F238E27FC236}">
                <a16:creationId xmlns:a16="http://schemas.microsoft.com/office/drawing/2014/main" id="{BB1ED042-707C-4229-7EA9-D1906C589CD7}"/>
              </a:ext>
            </a:extLst>
          </p:cNvPr>
          <p:cNvSpPr txBox="1"/>
          <p:nvPr/>
        </p:nvSpPr>
        <p:spPr>
          <a:xfrm>
            <a:off x="3137833" y="1677647"/>
            <a:ext cx="3285872" cy="5016758"/>
          </a:xfrm>
          <a:prstGeom prst="rect">
            <a:avLst/>
          </a:prstGeom>
          <a:noFill/>
        </p:spPr>
        <p:txBody>
          <a:bodyPr wrap="square">
            <a:spAutoFit/>
          </a:bodyPr>
          <a:lstStyle/>
          <a:p>
            <a:r>
              <a:rPr lang="en-IN" sz="1600" kern="100" dirty="0">
                <a:effectLst/>
                <a:latin typeface="Calibri" panose="020F0502020204030204" pitchFamily="34" charset="0"/>
                <a:ea typeface="Calibri" panose="020F0502020204030204" pitchFamily="34" charset="0"/>
                <a:cs typeface="Gautami" panose="020B0502040204020203" pitchFamily="34" charset="0"/>
              </a:rPr>
              <a:t>SURGICAL APPROACH: </a:t>
            </a:r>
            <a:r>
              <a:rPr lang="en-US" sz="1600" dirty="0"/>
              <a:t>We made a longitudinal incision over the dorsum of the wrist and distal forearm. After achieving proper reduction with external fixation and then we used a long dorsal bridge plate that typically spans from the distal third of the metacarpals to the diaphysis of the radius, bypassing the zone of comminution.</a:t>
            </a:r>
          </a:p>
          <a:p>
            <a:r>
              <a:rPr lang="en-US" sz="1600" dirty="0"/>
              <a:t>Result: </a:t>
            </a:r>
            <a:r>
              <a:rPr lang="en-IN" sz="1600" dirty="0"/>
              <a:t>Patient had good functional outcome with finger movements. Post operative rehabilitation helped patient to improved quality of life due to pain relief. Patient has not reported with tendon irritation, Neuropraxia, Stiffness of wrist and inter-phalangeal joints, Non union and Malunion. </a:t>
            </a:r>
          </a:p>
        </p:txBody>
      </p:sp>
      <p:pic>
        <p:nvPicPr>
          <p:cNvPr id="33" name="Picture 32">
            <a:extLst>
              <a:ext uri="{FF2B5EF4-FFF2-40B4-BE49-F238E27FC236}">
                <a16:creationId xmlns:a16="http://schemas.microsoft.com/office/drawing/2014/main" id="{08E543AF-05F3-EBA8-0E75-8F99AAB89624}"/>
              </a:ext>
            </a:extLst>
          </p:cNvPr>
          <p:cNvPicPr>
            <a:picLocks noChangeAspect="1"/>
          </p:cNvPicPr>
          <p:nvPr/>
        </p:nvPicPr>
        <p:blipFill>
          <a:blip r:embed="rId4"/>
          <a:stretch>
            <a:fillRect/>
          </a:stretch>
        </p:blipFill>
        <p:spPr>
          <a:xfrm>
            <a:off x="6676621" y="3253957"/>
            <a:ext cx="1324380" cy="1526789"/>
          </a:xfrm>
          <a:prstGeom prst="rect">
            <a:avLst/>
          </a:prstGeom>
        </p:spPr>
      </p:pic>
      <p:pic>
        <p:nvPicPr>
          <p:cNvPr id="36" name="Picture 35">
            <a:extLst>
              <a:ext uri="{FF2B5EF4-FFF2-40B4-BE49-F238E27FC236}">
                <a16:creationId xmlns:a16="http://schemas.microsoft.com/office/drawing/2014/main" id="{F63956A1-F865-7C1B-273C-089B31C8065F}"/>
              </a:ext>
            </a:extLst>
          </p:cNvPr>
          <p:cNvPicPr>
            <a:picLocks noChangeAspect="1"/>
          </p:cNvPicPr>
          <p:nvPr/>
        </p:nvPicPr>
        <p:blipFill>
          <a:blip r:embed="rId5"/>
          <a:stretch>
            <a:fillRect/>
          </a:stretch>
        </p:blipFill>
        <p:spPr>
          <a:xfrm>
            <a:off x="10127977" y="102590"/>
            <a:ext cx="1609483" cy="963251"/>
          </a:xfrm>
          <a:prstGeom prst="rect">
            <a:avLst/>
          </a:prstGeom>
        </p:spPr>
      </p:pic>
      <p:pic>
        <p:nvPicPr>
          <p:cNvPr id="37" name="Picture 36">
            <a:extLst>
              <a:ext uri="{FF2B5EF4-FFF2-40B4-BE49-F238E27FC236}">
                <a16:creationId xmlns:a16="http://schemas.microsoft.com/office/drawing/2014/main" id="{41C3E8C0-C356-02C6-FBDE-2AB6F27354C1}"/>
              </a:ext>
            </a:extLst>
          </p:cNvPr>
          <p:cNvPicPr>
            <a:picLocks noChangeAspect="1"/>
          </p:cNvPicPr>
          <p:nvPr/>
        </p:nvPicPr>
        <p:blipFill>
          <a:blip r:embed="rId6"/>
          <a:stretch>
            <a:fillRect/>
          </a:stretch>
        </p:blipFill>
        <p:spPr>
          <a:xfrm>
            <a:off x="9868490" y="3021933"/>
            <a:ext cx="2048657" cy="1666537"/>
          </a:xfrm>
          <a:prstGeom prst="rect">
            <a:avLst/>
          </a:prstGeom>
        </p:spPr>
      </p:pic>
    </p:spTree>
    <p:extLst>
      <p:ext uri="{BB962C8B-B14F-4D97-AF65-F5344CB8AC3E}">
        <p14:creationId xmlns:p14="http://schemas.microsoft.com/office/powerpoint/2010/main" val="36073546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138</TotalTime>
  <Words>321</Words>
  <Application>Microsoft Office PowerPoint</Application>
  <PresentationFormat>Widescreen</PresentationFormat>
  <Paragraphs>16</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Aptos</vt:lpstr>
      <vt:lpstr>Arial</vt:lpstr>
      <vt:lpstr>Calibri</vt:lpstr>
      <vt:lpstr>Gordita </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Virinchi Vinay</dc:creator>
  <cp:lastModifiedBy>vinny dach</cp:lastModifiedBy>
  <cp:revision>8</cp:revision>
  <dcterms:created xsi:type="dcterms:W3CDTF">2026-01-11T06:24:43Z</dcterms:created>
  <dcterms:modified xsi:type="dcterms:W3CDTF">2026-02-12T17:47:55Z</dcterms:modified>
</cp:coreProperties>
</file>