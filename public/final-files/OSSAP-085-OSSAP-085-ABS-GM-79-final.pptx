
<file path=[Content_Types].xml><?xml version="1.0" encoding="utf-8"?>
<Types xmlns="http://schemas.openxmlformats.org/package/2006/content-types">
  <Default Extension="xml" ContentType="application/vnd.openxmlformats-officedocument.extended-properties+xml"/>
  <Default Extension="png" ContentType="image/png"/>
  <Default Extension="jpeg" ContentType="image/jpeg"/>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7.xml" ContentType="application/vnd.openxmlformats-officedocument.presentationml.slide+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slideLayouts/slideLayout4.xml" ContentType="application/vnd.openxmlformats-officedocument.presentationml.slideLayout+xml"/>
  <Override PartName="/ppt/slides/slide12.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slides/slide6.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slides/slide5.xml" ContentType="application/vnd.openxmlformats-officedocument.presentationml.slide+xml"/>
  <Override PartName="/ppt/slides/slide10.xml" ContentType="application/vnd.openxmlformats-officedocument.presentationml.slide+xml"/>
  <Override PartName="/ppt/changesInfos/changesInfo1.xml" ContentType="application/vnd.ms-powerpoint.changesinfo+xml"/>
  <Override PartName="/ppt/slides/slide4.xml" ContentType="application/vnd.openxmlformats-officedocument.presentationml.slide+xml"/>
  <Override PartName="/ppt/notesSlides/notesSlide2.xml" ContentType="application/vnd.openxmlformats-officedocument.presentationml.notesSlide+xml"/>
  <Override PartName="/ppt/slides/slide14.xml" ContentType="application/vnd.openxmlformats-officedocument.presentationml.slide+xml"/>
  <Override PartName="/ppt/tableStyles.xml" ContentType="application/vnd.openxmlformats-officedocument.presentationml.tableStyles+xml"/>
  <Override PartName="/ppt/slides/slide9.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74" r:id="rId6"/>
    <p:sldId id="273" r:id="rId7"/>
    <p:sldId id="260" r:id="rId8"/>
    <p:sldId id="261" r:id="rId9"/>
    <p:sldId id="262" r:id="rId10"/>
    <p:sldId id="263" r:id="rId11"/>
    <p:sldId id="264" r:id="rId12"/>
    <p:sldId id="267" r:id="rId13"/>
    <p:sldId id="268" r:id="rId14"/>
    <p:sldId id="269" r:id="rId15"/>
    <p:sldId id="270" r:id="rId16"/>
    <p:sldId id="271" r:id="rId17"/>
    <p:sldId id="272" r:id="rId1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CD924-E70A-4FF7-BDA2-2C74046EA237}" v="1" dt="2026-02-15T16:46:27.50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1000"/>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slide" Target="/ppt/slides/slide2.xml" Id="rId3" /><Relationship Type="http://schemas.openxmlformats.org/officeDocument/2006/relationships/viewProps" Target="/ppt/viewProps.xml" Id="rId21" /><Relationship Type="http://schemas.openxmlformats.org/officeDocument/2006/relationships/slide" Target="/ppt/slides/slide6.xml" Id="rId7" /><Relationship Type="http://schemas.openxmlformats.org/officeDocument/2006/relationships/slide" Target="/ppt/slides/slide11.xml" Id="rId12" /><Relationship Type="http://schemas.openxmlformats.org/officeDocument/2006/relationships/slide" Target="/ppt/slides/slide16.xml" Id="rId17" /><Relationship Type="http://schemas.microsoft.com/office/2015/10/relationships/revisionInfo" Target="/ppt/revisionInfo.xml" Id="rId25" /><Relationship Type="http://schemas.openxmlformats.org/officeDocument/2006/relationships/slide" Target="/ppt/slides/slide1.xml" Id="rId2" /><Relationship Type="http://schemas.openxmlformats.org/officeDocument/2006/relationships/slide" Target="/ppt/slides/slide15.xml" Id="rId16" /><Relationship Type="http://schemas.openxmlformats.org/officeDocument/2006/relationships/presProps" Target="/ppt/presProps.xml" Id="rId20"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microsoft.com/office/2016/11/relationships/changesInfo" Target="/ppt/changesInfos/changesInfo1.xml" Id="rId24" /><Relationship Type="http://schemas.openxmlformats.org/officeDocument/2006/relationships/slide" Target="/ppt/slides/slide4.xml" Id="rId5" /><Relationship Type="http://schemas.openxmlformats.org/officeDocument/2006/relationships/slide" Target="/ppt/slides/slide14.xml" Id="rId15" /><Relationship Type="http://schemas.openxmlformats.org/officeDocument/2006/relationships/tableStyles" Target="/ppt/tableStyles.xml" Id="rId23" /><Relationship Type="http://schemas.openxmlformats.org/officeDocument/2006/relationships/slide" Target="/ppt/slides/slide9.xml" Id="rId10" /><Relationship Type="http://schemas.openxmlformats.org/officeDocument/2006/relationships/notesMaster" Target="/ppt/notesMasters/notesMaster1.xml" Id="rId19"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slide" Target="/ppt/slides/slide13.xml" Id="rId14" /><Relationship Type="http://schemas.openxmlformats.org/officeDocument/2006/relationships/theme" Target="/ppt/theme/theme1.xml" Id="rId22"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 Gajulapalli" userId="1ff98df2478cc17c" providerId="LiveId" clId="{B71BC402-0861-4086-A4CB-1446DC7995B7}"/>
    <pc:docChg chg="custSel addSld modSld">
      <pc:chgData name="Harshith Gajulapalli" userId="1ff98df2478cc17c" providerId="LiveId" clId="{B71BC402-0861-4086-A4CB-1446DC7995B7}" dt="2026-02-15T16:46:43.450" v="88" actId="14100"/>
      <pc:docMkLst>
        <pc:docMk/>
      </pc:docMkLst>
      <pc:sldChg chg="addSp delSp modSp new mod">
        <pc:chgData name="Harshith Gajulapalli" userId="1ff98df2478cc17c" providerId="LiveId" clId="{B71BC402-0861-4086-A4CB-1446DC7995B7}" dt="2026-02-15T16:46:43.450" v="88" actId="14100"/>
        <pc:sldMkLst>
          <pc:docMk/>
          <pc:sldMk cId="2872937432" sldId="274"/>
        </pc:sldMkLst>
        <pc:spChg chg="mod">
          <ac:chgData name="Harshith Gajulapalli" userId="1ff98df2478cc17c" providerId="LiveId" clId="{B71BC402-0861-4086-A4CB-1446DC7995B7}" dt="2026-02-15T16:46:43.450" v="88" actId="14100"/>
          <ac:spMkLst>
            <pc:docMk/>
            <pc:sldMk cId="2872937432" sldId="274"/>
            <ac:spMk id="2" creationId="{160AAB03-24C7-0471-FE20-751E201DC8F0}"/>
          </ac:spMkLst>
        </pc:spChg>
        <pc:spChg chg="del mod">
          <ac:chgData name="Harshith Gajulapalli" userId="1ff98df2478cc17c" providerId="LiveId" clId="{B71BC402-0861-4086-A4CB-1446DC7995B7}" dt="2026-02-15T16:44:17.881" v="11" actId="21"/>
          <ac:spMkLst>
            <pc:docMk/>
            <pc:sldMk cId="2872937432" sldId="274"/>
            <ac:spMk id="3" creationId="{FA0633F0-295D-4064-2401-D5FD972450AF}"/>
          </ac:spMkLst>
        </pc:spChg>
        <pc:graphicFrameChg chg="add del mod modGraphic">
          <ac:chgData name="Harshith Gajulapalli" userId="1ff98df2478cc17c" providerId="LiveId" clId="{B71BC402-0861-4086-A4CB-1446DC7995B7}" dt="2026-02-15T16:46:21.436" v="83" actId="21"/>
          <ac:graphicFrameMkLst>
            <pc:docMk/>
            <pc:sldMk cId="2872937432" sldId="274"/>
            <ac:graphicFrameMk id="4" creationId="{DB36F1D2-4CB7-5D08-ACFF-F9E4B1C1C66C}"/>
          </ac:graphicFrameMkLst>
        </pc:graphicFrameChg>
        <pc:picChg chg="add mod">
          <ac:chgData name="Harshith Gajulapalli" userId="1ff98df2478cc17c" providerId="LiveId" clId="{B71BC402-0861-4086-A4CB-1446DC7995B7}" dt="2026-02-15T16:46:33.153" v="86" actId="14100"/>
          <ac:picMkLst>
            <pc:docMk/>
            <pc:sldMk cId="2872937432" sldId="274"/>
            <ac:picMk id="5" creationId="{7DB92E10-8D98-1122-D2D2-BDD34611FE25}"/>
          </ac:picMkLst>
        </pc:picChg>
      </pc:sldChg>
    </pc:docChg>
  </pc:docChgLst>
</pc:chgInfo>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1" name="Shape 131"/>
          <p:cNvSpPr>
            <a:spLocks noGrp="1" noRot="1" noChangeAspect="1"/>
          </p:cNvSpPr>
          <p:nvPr>
            <p:ph type="sldImg"/>
          </p:nvPr>
        </p:nvSpPr>
        <p:spPr>
          <a:xfrm>
            <a:off x="1143000" y="685800"/>
            <a:ext cx="4572000" cy="3429000"/>
          </a:xfrm>
          <a:prstGeom prst="rect">
            <a:avLst/>
          </a:prstGeom>
        </p:spPr>
        <p:txBody>
          <a:bodyPr/>
          <a:lstStyle/>
          <a:p>
            <a:endParaRPr/>
          </a:p>
        </p:txBody>
      </p:sp>
      <p:sp>
        <p:nvSpPr>
          <p:cNvPr id="132" name="Shape 13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Importance of maintenance of upright posture with minimal physical effort .</a:t>
            </a:r>
          </a:p>
          <a:p>
            <a:r>
              <a:rPr lang="en-US" dirty="0"/>
              <a:t>Beyond this zone , energy expenditure rapidly increases and eventually spinal misalignment results and  external support may be necessary </a:t>
            </a:r>
          </a:p>
          <a:p>
            <a:endParaRPr lang="en-IN" dirty="0"/>
          </a:p>
        </p:txBody>
      </p:sp>
    </p:spTree>
    <p:extLst>
      <p:ext uri="{BB962C8B-B14F-4D97-AF65-F5344CB8AC3E}">
        <p14:creationId xmlns:p14="http://schemas.microsoft.com/office/powerpoint/2010/main" val="1987173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Other classifications are: Wiltse classification </a:t>
            </a:r>
          </a:p>
          <a:p>
            <a:r>
              <a:rPr lang="en-US" dirty="0"/>
              <a:t>Marchetti &amp; Bartolozzi classification.</a:t>
            </a:r>
          </a:p>
          <a:p>
            <a:r>
              <a:rPr lang="en-US" dirty="0"/>
              <a:t>SDSG – Type 1 - &lt;50% slip and low &lt;45 deg PI</a:t>
            </a:r>
          </a:p>
          <a:p>
            <a:r>
              <a:rPr lang="en-US" dirty="0"/>
              <a:t>2 - &lt;50% slip &amp; Normal 45-60 deg PI</a:t>
            </a:r>
          </a:p>
          <a:p>
            <a:r>
              <a:rPr lang="en-US" dirty="0"/>
              <a:t>3 - &lt;50% slip &amp; high PI &gt;60 deg</a:t>
            </a:r>
          </a:p>
          <a:p>
            <a:r>
              <a:rPr lang="en-US" dirty="0"/>
              <a:t>4- &gt; 50% slip Balanced pelvis (High SS/low PT)</a:t>
            </a:r>
          </a:p>
          <a:p>
            <a:r>
              <a:rPr lang="en-US" dirty="0"/>
              <a:t>5- &gt;50% slip Retroverted pelvis (Low SS/high PT) &amp; Balanced spine</a:t>
            </a:r>
          </a:p>
          <a:p>
            <a:r>
              <a:rPr lang="en-US" dirty="0"/>
              <a:t>6 - &gt;50% slip Retroverted pelvis &amp; unbalanced spine</a:t>
            </a:r>
            <a:endParaRPr lang="en-IN" dirty="0"/>
          </a:p>
        </p:txBody>
      </p:sp>
    </p:spTree>
    <p:extLst>
      <p:ext uri="{BB962C8B-B14F-4D97-AF65-F5344CB8AC3E}">
        <p14:creationId xmlns:p14="http://schemas.microsoft.com/office/powerpoint/2010/main" val="2487197781"/>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9"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20"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54" name="Title Text"/>
          <p:cNvSpPr txBox="1">
            <a:spLocks noGrp="1"/>
          </p:cNvSpPr>
          <p:nvPr>
            <p:ph type="title"/>
          </p:nvPr>
        </p:nvSpPr>
        <p:spPr>
          <a:prstGeom prst="rect">
            <a:avLst/>
          </a:prstGeom>
        </p:spPr>
        <p:txBody>
          <a:bodyPr/>
          <a:lstStyle/>
          <a:p>
            <a:r>
              <a:t>Title Text</a:t>
            </a:r>
          </a:p>
        </p:txBody>
      </p:sp>
      <p:sp>
        <p:nvSpPr>
          <p:cNvPr id="55"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63"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64"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65"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3" name="Title Text"/>
          <p:cNvSpPr txBox="1">
            <a:spLocks noGrp="1"/>
          </p:cNvSpPr>
          <p:nvPr>
            <p:ph type="title"/>
          </p:nvPr>
        </p:nvSpPr>
        <p:spPr>
          <a:prstGeom prst="rect">
            <a:avLst/>
          </a:prstGeom>
        </p:spPr>
        <p:txBody>
          <a:bodyPr/>
          <a:lstStyle/>
          <a:p>
            <a:r>
              <a:t>Title Text</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&#65279;<?xml version="1.0" encoding="utf-8"?><Relationships xmlns="http://schemas.openxmlformats.org/package/2006/relationships"><Relationship Type="http://schemas.openxmlformats.org/officeDocument/2006/relationships/image" Target="/ppt/media/image3.png" Id="rId13" /><Relationship Type="http://schemas.openxmlformats.org/officeDocument/2006/relationships/image" Target="/ppt/media/image2.png" Id="rId12"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image" Target="/ppt/media/image1.png" Id="rId11" /><Relationship Type="http://schemas.openxmlformats.org/officeDocument/2006/relationships/slideLayout" Target="/ppt/slideLayouts/slideLayout5.xml" Id="rId5" /><Relationship Type="http://schemas.openxmlformats.org/officeDocument/2006/relationships/theme" Target="/ppt/theme/theme1.xml" Id="rId10" /><Relationship Type="http://schemas.openxmlformats.org/officeDocument/2006/relationships/slideLayout" Target="/ppt/slideLayouts/slideLayout4.xml" Id="rId4" /><Relationship Type="http://schemas.openxmlformats.org/officeDocument/2006/relationships/image" Target="/ppt/media/image4.png" Id="rId14" /></Relationships>
</file>

<file path=ppt/slideMasters/slideMaster1.xml><?xml version="1.0" encoding="utf-8"?>
<p:sldMaster xmlns:m="http://schemas.openxmlformats.org/officeDocument/2006/math" xmlns:a14="http://schemas.microsoft.com/office/drawing/2010/main" xmlns:ma14="http://schemas.microsoft.com/office/mac/drawingml/2011/main"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 y="-1"/>
            <a:ext cx="12192000" cy="1280158"/>
          </a:xfrm>
          <a:prstGeom prst="rect">
            <a:avLst/>
          </a:prstGeom>
          <a:solidFill>
            <a:srgbClr val="01234D"/>
          </a:solidFill>
          <a:ln w="19050">
            <a:solidFill>
              <a:srgbClr val="525755"/>
            </a:solidFill>
            <a:miter/>
          </a:ln>
        </p:spPr>
        <p:txBody>
          <a:bodyPr lIns="45719" rIns="45719" anchor="ctr"/>
          <a:lstStyle/>
          <a:p>
            <a:pPr algn="ctr">
              <a:defRPr>
                <a:solidFill>
                  <a:srgbClr val="FFFFFF"/>
                </a:solidFill>
              </a:defRPr>
            </a:pPr>
            <a:endParaRPr/>
          </a:p>
        </p:txBody>
      </p:sp>
      <p:pic>
        <p:nvPicPr>
          <p:cNvPr id="3" name="Picture 14" descr="Picture 14"/>
          <p:cNvPicPr>
            <a:picLocks noChangeAspect="1"/>
          </p:cNvPicPr>
          <p:nvPr/>
        </p:nvPicPr>
        <p:blipFill>
          <a:blip r:embed="rId11"/>
          <a:stretch>
            <a:fillRect/>
          </a:stretch>
        </p:blipFill>
        <p:spPr>
          <a:xfrm>
            <a:off x="9006884" y="74822"/>
            <a:ext cx="1043155" cy="1043154"/>
          </a:xfrm>
          <a:prstGeom prst="rect">
            <a:avLst/>
          </a:prstGeom>
          <a:ln w="12700">
            <a:miter lim="400000"/>
          </a:ln>
        </p:spPr>
      </p:pic>
      <p:pic>
        <p:nvPicPr>
          <p:cNvPr id="4" name="Picture 15" descr="Picture 15"/>
          <p:cNvPicPr>
            <a:picLocks noChangeAspect="1"/>
          </p:cNvPicPr>
          <p:nvPr/>
        </p:nvPicPr>
        <p:blipFill>
          <a:blip r:embed="rId12"/>
          <a:stretch>
            <a:fillRect/>
          </a:stretch>
        </p:blipFill>
        <p:spPr>
          <a:xfrm>
            <a:off x="10947316" y="123389"/>
            <a:ext cx="884048" cy="884049"/>
          </a:xfrm>
          <a:prstGeom prst="rect">
            <a:avLst/>
          </a:prstGeom>
          <a:ln w="12700">
            <a:miter lim="400000"/>
          </a:ln>
        </p:spPr>
      </p:pic>
      <p:pic>
        <p:nvPicPr>
          <p:cNvPr id="5" name="Picture 16" descr="Picture 16"/>
          <p:cNvPicPr>
            <a:picLocks noChangeAspect="1"/>
          </p:cNvPicPr>
          <p:nvPr/>
        </p:nvPicPr>
        <p:blipFill>
          <a:blip r:embed="rId13"/>
          <a:stretch>
            <a:fillRect/>
          </a:stretch>
        </p:blipFill>
        <p:spPr>
          <a:xfrm>
            <a:off x="10127892" y="192303"/>
            <a:ext cx="785941" cy="785941"/>
          </a:xfrm>
          <a:prstGeom prst="rect">
            <a:avLst/>
          </a:prstGeom>
          <a:ln w="12700">
            <a:miter lim="400000"/>
          </a:ln>
        </p:spPr>
      </p:pic>
      <p:sp>
        <p:nvSpPr>
          <p:cNvPr id="6" name="TextBox 17"/>
          <p:cNvSpPr txBox="1"/>
          <p:nvPr/>
        </p:nvSpPr>
        <p:spPr>
          <a:xfrm>
            <a:off x="2620968" y="27424"/>
            <a:ext cx="5906909" cy="6502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val="1"/>
            </a:ext>
          </a:extLst>
        </p:spPr>
        <p:txBody>
          <a:bodyPr lIns="45719" rIns="45719">
            <a:spAutoFit/>
          </a:bodyPr>
          <a:lstStyle/>
          <a:p>
            <a:pPr>
              <a:defRPr b="1">
                <a:solidFill>
                  <a:srgbClr val="FFFFFF"/>
                </a:solidFill>
                <a:latin typeface="Gordita "/>
                <a:ea typeface="Gordita "/>
                <a:cs typeface="Gordita "/>
                <a:sym typeface="Gordita "/>
              </a:defRPr>
            </a:pPr>
            <a:r>
              <a:t>55</a:t>
            </a:r>
            <a:r>
              <a:rPr baseline="30000"/>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7" name="TextBox 18"/>
          <p:cNvSpPr txBox="1"/>
          <p:nvPr/>
        </p:nvSpPr>
        <p:spPr>
          <a:xfrm>
            <a:off x="2646937" y="653897"/>
            <a:ext cx="6216055" cy="2692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b="1">
                <a:solidFill>
                  <a:srgbClr val="FFFFFF"/>
                </a:solidFill>
                <a:latin typeface="Gordita "/>
                <a:ea typeface="Gordita "/>
                <a:cs typeface="Gordita "/>
                <a:sym typeface="Gordita "/>
              </a:defRPr>
            </a:lvl1pPr>
          </a:lstStyle>
          <a:p>
            <a:r>
              <a:t>Date 6 – 8 February,2026, Venue : Kurnool Medical College</a:t>
            </a:r>
          </a:p>
        </p:txBody>
      </p:sp>
      <p:sp>
        <p:nvSpPr>
          <p:cNvPr id="8" name="TextBox 19"/>
          <p:cNvSpPr txBox="1"/>
          <p:nvPr/>
        </p:nvSpPr>
        <p:spPr>
          <a:xfrm>
            <a:off x="2620969" y="913339"/>
            <a:ext cx="7022591" cy="26924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val="1"/>
            </a:ext>
          </a:extLst>
        </p:spPr>
        <p:txBody>
          <a:bodyPr lIns="45719" rIns="45719">
            <a:spAutoFit/>
          </a:bodyPr>
          <a:lstStyle>
            <a:lvl1pPr>
              <a:defRPr sz="1200" b="1">
                <a:solidFill>
                  <a:srgbClr val="FFFFFF"/>
                </a:solidFill>
                <a:latin typeface="Gordita "/>
                <a:ea typeface="Gordita "/>
                <a:cs typeface="Gordita "/>
                <a:sym typeface="Gordita "/>
              </a:defRPr>
            </a:lvl1pPr>
          </a:lstStyle>
          <a:p>
            <a:r>
              <a:t>Organized by : Department of Orthopaedics, Kurnool Medical College Kurnool</a:t>
            </a:r>
          </a:p>
        </p:txBody>
      </p:sp>
      <p:sp>
        <p:nvSpPr>
          <p:cNvPr id="9" name="Freeform 13"/>
          <p:cNvSpPr/>
          <p:nvPr/>
        </p:nvSpPr>
        <p:spPr>
          <a:xfrm>
            <a:off x="560813" y="14254"/>
            <a:ext cx="1505562" cy="1280159"/>
          </a:xfrm>
          <a:prstGeom prst="rect">
            <a:avLst/>
          </a:prstGeom>
          <a:blipFill>
            <a:blip r:embed="rId14"/>
            <a:stretch>
              <a:fillRect/>
            </a:stretch>
          </a:blipFill>
          <a:ln w="12700">
            <a:miter lim="400000"/>
          </a:ln>
        </p:spPr>
        <p:txBody>
          <a:bodyPr lIns="45719" rIns="45719"/>
          <a:lstStyle/>
          <a:p>
            <a:endParaRPr/>
          </a:p>
        </p:txBody>
      </p:sp>
      <p:sp>
        <p:nvSpPr>
          <p:cNvPr id="10"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val="1"/>
            </a:ext>
          </a:extLst>
        </p:spPr>
        <p:txBody>
          <a:bodyPr lIns="45719" rIns="45719">
            <a:normAutofit/>
          </a:bodyPr>
          <a:lstStyle/>
          <a:p>
            <a:r>
              <a:t>Title Text</a:t>
            </a:r>
          </a:p>
        </p:txBody>
      </p:sp>
      <p:sp>
        <p:nvSpPr>
          <p:cNvPr id="11"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2" name="Slide Number"/>
          <p:cNvSpPr txBox="1">
            <a:spLocks noGrp="1"/>
          </p:cNvSpPr>
          <p:nvPr>
            <p:ph type="sldNum" sz="quarter" idx="2"/>
          </p:nvPr>
        </p:nvSpPr>
        <p:spPr>
          <a:xfrm>
            <a:off x="8610600" y="6356350"/>
            <a:ext cx="358413" cy="370840"/>
          </a:xfrm>
          <a:prstGeom prst="rect">
            <a:avLst/>
          </a:prstGeom>
          <a:ln w="12700">
            <a:miter lim="400000"/>
          </a:ln>
        </p:spPr>
        <p:txBody>
          <a:bodyPr wrap="none" lIns="45719" rIns="45719">
            <a:spAutoFit/>
          </a:body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4"/>
    <p:sldLayoutId id="2147483653" r:id="rId5"/>
    <p:sldLayoutId id="2147483654" r:id="rId6"/>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9pPr>
    </p:bodyStyle>
    <p:otherStyle>
      <a:lvl1pPr marL="0" marR="0" indent="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1pPr>
      <a:lvl2pPr marL="0" marR="0" indent="4572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2pPr>
      <a:lvl3pPr marL="0" marR="0" indent="9144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3pPr>
      <a:lvl4pPr marL="0" marR="0" indent="13716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4pPr>
      <a:lvl5pPr marL="0" marR="0" indent="18288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5pPr>
      <a:lvl6pPr marL="0" marR="0" indent="22860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6pPr>
      <a:lvl7pPr marL="0" marR="0" indent="27432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7pPr>
      <a:lvl8pPr marL="0" marR="0" indent="32004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8pPr>
      <a:lvl9pPr marL="0" marR="0" indent="3657600" algn="l"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ptos"/>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image" Target="/ppt/media/image5.png" Id="rId3" /><Relationship Type="http://schemas.openxmlformats.org/officeDocument/2006/relationships/notesSlide" Target="/ppt/notesSlides/notesSlide1.xml" Id="rId2" /><Relationship Type="http://schemas.openxmlformats.org/officeDocument/2006/relationships/slideLayout" Target="/ppt/slideLayouts/slideLayout2.xml" Id="rId1" /><Relationship Type="http://schemas.openxmlformats.org/officeDocument/2006/relationships/image" Target="/ppt/media/image6.png" Id="rId4" /></Relationships>
</file>

<file path=ppt/slides/_rels/slide3.xml.rels>&#65279;<?xml version="1.0" encoding="utf-8"?><Relationships xmlns="http://schemas.openxmlformats.org/package/2006/relationships"><Relationship Type="http://schemas.openxmlformats.org/officeDocument/2006/relationships/image" Target="/ppt/media/image7.png" Id="rId2" /><Relationship Type="http://schemas.openxmlformats.org/officeDocument/2006/relationships/slideLayout" Target="/ppt/slideLayouts/slideLayout4.xml" Id="rId1" /></Relationships>
</file>

<file path=ppt/slides/_rels/slide4.xml.rels>&#65279;<?xml version="1.0" encoding="utf-8"?><Relationships xmlns="http://schemas.openxmlformats.org/package/2006/relationships"><Relationship Type="http://schemas.openxmlformats.org/officeDocument/2006/relationships/image" Target="/ppt/media/image8.png" Id="rId3" /><Relationship Type="http://schemas.openxmlformats.org/officeDocument/2006/relationships/notesSlide" Target="/ppt/notesSlides/notesSlide2.xml" Id="rId2" /><Relationship Type="http://schemas.openxmlformats.org/officeDocument/2006/relationships/slideLayout" Target="/ppt/slideLayouts/slideLayout5.xml" Id="rId1" /></Relationships>
</file>

<file path=ppt/slides/_rels/slide5.xml.rels>&#65279;<?xml version="1.0" encoding="utf-8"?><Relationships xmlns="http://schemas.openxmlformats.org/package/2006/relationships"><Relationship Type="http://schemas.openxmlformats.org/officeDocument/2006/relationships/image" Target="/ppt/media/image9.png" Id="rId2" /><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I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I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I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1.xml.rels>&#65279;<?xml version="1.0" encoding="utf-8"?><Relationships xmlns="http://schemas.openxmlformats.org/package/2006/relationships"><Relationship Type="http://schemas.openxmlformats.org/officeDocument/2006/relationships/image" Target="/ppt/media/image11.png" Id="rId3" /><Relationship Type="http://schemas.openxmlformats.org/officeDocument/2006/relationships/image" Target="/ppt/media/image10.jpeg" Id="rId2" /><Relationship Type="http://schemas.openxmlformats.org/officeDocument/2006/relationships/slideLayout" Target="/ppt/slideLayouts/slideLayout2.xml" Id="rI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itle 1"/>
          <p:cNvSpPr txBox="1">
            <a:spLocks noGrp="1"/>
          </p:cNvSpPr>
          <p:nvPr>
            <p:ph type="ctrTitle"/>
          </p:nvPr>
        </p:nvSpPr>
        <p:spPr>
          <a:xfrm>
            <a:off x="493485" y="1618342"/>
            <a:ext cx="11234057" cy="2893107"/>
          </a:xfrm>
          <a:prstGeom prst="rect">
            <a:avLst/>
          </a:prstGeom>
        </p:spPr>
        <p:txBody>
          <a:bodyPr/>
          <a:lstStyle/>
          <a:p>
            <a:pPr>
              <a:defRPr sz="3600" b="1" u="sng" cap="all">
                <a:latin typeface="Posterama"/>
                <a:ea typeface="Posterama"/>
                <a:cs typeface="Posterama"/>
                <a:sym typeface="Posterama"/>
              </a:defRPr>
            </a:pPr>
            <a:r>
              <a:rPr dirty="0">
                <a:latin typeface="Arial" panose="020B0604020202020204" pitchFamily="34" charset="0"/>
                <a:cs typeface="Arial" panose="020B0604020202020204" pitchFamily="34" charset="0"/>
              </a:rPr>
              <a:t>From </a:t>
            </a:r>
            <a:r>
              <a:rPr dirty="0" err="1">
                <a:latin typeface="Arial" panose="020B0604020202020204" pitchFamily="34" charset="0"/>
                <a:cs typeface="Arial" panose="020B0604020202020204" pitchFamily="34" charset="0"/>
              </a:rPr>
              <a:t>Listhesis</a:t>
            </a:r>
            <a:r>
              <a:rPr dirty="0">
                <a:latin typeface="Arial" panose="020B0604020202020204" pitchFamily="34" charset="0"/>
                <a:cs typeface="Arial" panose="020B0604020202020204" pitchFamily="34" charset="0"/>
              </a:rPr>
              <a:t> to balance</a:t>
            </a:r>
          </a:p>
          <a:p>
            <a:pPr>
              <a:defRPr sz="3600" cap="all">
                <a:latin typeface="Posterama"/>
                <a:ea typeface="Posterama"/>
                <a:cs typeface="Posterama"/>
                <a:sym typeface="Posterama"/>
              </a:defRPr>
            </a:pPr>
            <a:endParaRPr dirty="0">
              <a:latin typeface="Arial" panose="020B0604020202020204" pitchFamily="34" charset="0"/>
              <a:cs typeface="Arial" panose="020B0604020202020204" pitchFamily="34" charset="0"/>
            </a:endParaRPr>
          </a:p>
          <a:p>
            <a:pPr>
              <a:defRPr sz="3600" cap="all">
                <a:latin typeface="Posterama"/>
                <a:ea typeface="Posterama"/>
                <a:cs typeface="Posterama"/>
                <a:sym typeface="Posterama"/>
              </a:defRPr>
            </a:pPr>
            <a:r>
              <a:rPr dirty="0">
                <a:latin typeface="Arial" panose="020B0604020202020204" pitchFamily="34" charset="0"/>
                <a:cs typeface="Arial" panose="020B0604020202020204" pitchFamily="34" charset="0"/>
              </a:rPr>
              <a:t>Surgical restoration of spinopelvic alignment in adult Lumbosacral Spondylolisthesis </a:t>
            </a:r>
          </a:p>
        </p:txBody>
      </p:sp>
      <p:sp>
        <p:nvSpPr>
          <p:cNvPr id="135" name="Subtitle 2"/>
          <p:cNvSpPr txBox="1">
            <a:spLocks noGrp="1"/>
          </p:cNvSpPr>
          <p:nvPr>
            <p:ph type="subTitle" sz="quarter" idx="1"/>
          </p:nvPr>
        </p:nvSpPr>
        <p:spPr>
          <a:xfrm>
            <a:off x="863600" y="5017180"/>
            <a:ext cx="5133439" cy="1655762"/>
          </a:xfrm>
          <a:prstGeom prst="rect">
            <a:avLst/>
          </a:prstGeom>
        </p:spPr>
        <p:txBody>
          <a:bodyPr>
            <a:normAutofit/>
          </a:bodyPr>
          <a:lstStyle/>
          <a:p>
            <a:pPr defTabSz="822959">
              <a:spcBef>
                <a:spcPts val="900"/>
              </a:spcBef>
              <a:defRPr sz="2159"/>
            </a:pPr>
            <a:r>
              <a:rPr dirty="0">
                <a:latin typeface="Arial" panose="020B0604020202020204" pitchFamily="34" charset="0"/>
                <a:cs typeface="Arial" panose="020B0604020202020204" pitchFamily="34" charset="0"/>
              </a:rPr>
              <a:t>PRESENTER : </a:t>
            </a:r>
          </a:p>
          <a:p>
            <a:pPr defTabSz="822959">
              <a:spcBef>
                <a:spcPts val="900"/>
              </a:spcBef>
              <a:defRPr sz="2159"/>
            </a:pPr>
            <a:r>
              <a:rPr dirty="0">
                <a:latin typeface="Arial" panose="020B0604020202020204" pitchFamily="34" charset="0"/>
                <a:cs typeface="Arial" panose="020B0604020202020204" pitchFamily="34" charset="0"/>
              </a:rPr>
              <a:t>DR.HARSHITH GAJULAPALLI           </a:t>
            </a:r>
          </a:p>
          <a:p>
            <a:pPr defTabSz="822959">
              <a:spcBef>
                <a:spcPts val="900"/>
              </a:spcBef>
              <a:defRPr sz="2159"/>
            </a:pPr>
            <a:r>
              <a:rPr dirty="0">
                <a:latin typeface="Arial" panose="020B0604020202020204" pitchFamily="34" charset="0"/>
                <a:cs typeface="Arial" panose="020B0604020202020204" pitchFamily="34" charset="0"/>
              </a:rPr>
              <a:t>3</a:t>
            </a:r>
            <a:r>
              <a:rPr baseline="29777" dirty="0">
                <a:latin typeface="Arial" panose="020B0604020202020204" pitchFamily="34" charset="0"/>
                <a:cs typeface="Arial" panose="020B0604020202020204" pitchFamily="34" charset="0"/>
              </a:rPr>
              <a:t>rd</a:t>
            </a:r>
            <a:r>
              <a:rPr dirty="0">
                <a:latin typeface="Arial" panose="020B0604020202020204" pitchFamily="34" charset="0"/>
                <a:cs typeface="Arial" panose="020B0604020202020204" pitchFamily="34" charset="0"/>
              </a:rPr>
              <a:t> YEAR POST GRADUATE</a:t>
            </a:r>
          </a:p>
          <a:p>
            <a:pPr defTabSz="822959">
              <a:spcBef>
                <a:spcPts val="900"/>
              </a:spcBef>
              <a:defRPr sz="2159"/>
            </a:pPr>
            <a:r>
              <a:rPr dirty="0">
                <a:latin typeface="Arial" panose="020B0604020202020204" pitchFamily="34" charset="0"/>
                <a:cs typeface="Arial" panose="020B0604020202020204" pitchFamily="34" charset="0"/>
              </a:rPr>
              <a:t>DR.PSIMS &amp; R</a:t>
            </a:r>
            <a:r>
              <a:rPr lang="en-US" dirty="0">
                <a:latin typeface="Arial" panose="020B0604020202020204" pitchFamily="34" charset="0"/>
                <a:cs typeface="Arial" panose="020B0604020202020204" pitchFamily="34" charset="0"/>
              </a:rPr>
              <a:t>F</a:t>
            </a:r>
            <a:endParaRPr dirty="0">
              <a:latin typeface="Arial" panose="020B0604020202020204" pitchFamily="34" charset="0"/>
              <a:cs typeface="Arial" panose="020B0604020202020204" pitchFamily="34" charset="0"/>
            </a:endParaRPr>
          </a:p>
        </p:txBody>
      </p:sp>
      <p:sp>
        <p:nvSpPr>
          <p:cNvPr id="136" name="Subtitle 2"/>
          <p:cNvSpPr txBox="1"/>
          <p:nvPr/>
        </p:nvSpPr>
        <p:spPr>
          <a:xfrm>
            <a:off x="6240683" y="5017180"/>
            <a:ext cx="4381599" cy="18351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lnSpc>
                <a:spcPct val="90000"/>
              </a:lnSpc>
              <a:spcBef>
                <a:spcPts val="1000"/>
              </a:spcBef>
              <a:defRPr sz="2400"/>
            </a:pPr>
            <a:r>
              <a:rPr dirty="0">
                <a:latin typeface="Arial" panose="020B0604020202020204" pitchFamily="34" charset="0"/>
                <a:cs typeface="Arial" panose="020B0604020202020204" pitchFamily="34" charset="0"/>
              </a:rPr>
              <a:t>GUIDE : </a:t>
            </a:r>
          </a:p>
          <a:p>
            <a:pPr algn="ctr">
              <a:lnSpc>
                <a:spcPct val="90000"/>
              </a:lnSpc>
              <a:spcBef>
                <a:spcPts val="1000"/>
              </a:spcBef>
              <a:defRPr sz="2400"/>
            </a:pPr>
            <a:r>
              <a:rPr dirty="0">
                <a:latin typeface="Arial" panose="020B0604020202020204" pitchFamily="34" charset="0"/>
                <a:cs typeface="Arial" panose="020B0604020202020204" pitchFamily="34" charset="0"/>
              </a:rPr>
              <a:t>DR.B.B.JOGINATH        </a:t>
            </a:r>
          </a:p>
          <a:p>
            <a:pPr algn="ctr">
              <a:lnSpc>
                <a:spcPct val="90000"/>
              </a:lnSpc>
              <a:spcBef>
                <a:spcPts val="1000"/>
              </a:spcBef>
              <a:defRPr sz="2400"/>
            </a:pPr>
            <a:r>
              <a:rPr dirty="0">
                <a:latin typeface="Arial" panose="020B0604020202020204" pitchFamily="34" charset="0"/>
                <a:cs typeface="Arial" panose="020B0604020202020204" pitchFamily="34" charset="0"/>
              </a:rPr>
              <a:t>ASSISTANT PROFESSOR</a:t>
            </a:r>
          </a:p>
          <a:p>
            <a:pPr algn="ctr">
              <a:lnSpc>
                <a:spcPct val="90000"/>
              </a:lnSpc>
              <a:spcBef>
                <a:spcPts val="1000"/>
              </a:spcBef>
              <a:defRPr sz="2400"/>
            </a:pPr>
            <a:r>
              <a:rPr dirty="0">
                <a:latin typeface="Arial" panose="020B0604020202020204" pitchFamily="34" charset="0"/>
                <a:cs typeface="Arial" panose="020B0604020202020204" pitchFamily="34" charset="0"/>
              </a:rPr>
              <a:t>DR.PSIMS &amp; RF</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itle 1"/>
          <p:cNvSpPr txBox="1">
            <a:spLocks noGrp="1"/>
          </p:cNvSpPr>
          <p:nvPr>
            <p:ph type="title"/>
          </p:nvPr>
        </p:nvSpPr>
        <p:spPr>
          <a:xfrm>
            <a:off x="95000" y="1338902"/>
            <a:ext cx="3548085" cy="555212"/>
          </a:xfrm>
          <a:prstGeom prst="rect">
            <a:avLst/>
          </a:prstGeom>
        </p:spPr>
        <p:txBody>
          <a:bodyPr>
            <a:normAutofit/>
          </a:bodyPr>
          <a:lstStyle>
            <a:lvl1pPr defTabSz="777240">
              <a:defRPr sz="2380" b="1"/>
            </a:lvl1pPr>
          </a:lstStyle>
          <a:p>
            <a:r>
              <a:rPr sz="3200" dirty="0">
                <a:latin typeface="Arial" panose="020B0604020202020204" pitchFamily="34" charset="0"/>
                <a:cs typeface="Arial" panose="020B0604020202020204" pitchFamily="34" charset="0"/>
              </a:rPr>
              <a:t>INTRODUCTION:</a:t>
            </a:r>
          </a:p>
        </p:txBody>
      </p:sp>
      <p:sp>
        <p:nvSpPr>
          <p:cNvPr id="139" name="Content Placeholder 2"/>
          <p:cNvSpPr txBox="1">
            <a:spLocks noGrp="1"/>
          </p:cNvSpPr>
          <p:nvPr>
            <p:ph type="body" idx="1"/>
          </p:nvPr>
        </p:nvSpPr>
        <p:spPr>
          <a:xfrm>
            <a:off x="95001" y="1894114"/>
            <a:ext cx="8354588" cy="2155372"/>
          </a:xfrm>
          <a:prstGeom prst="rect">
            <a:avLst/>
          </a:prstGeom>
        </p:spPr>
        <p:txBody>
          <a:bodyPr/>
          <a:lstStyle/>
          <a:p>
            <a:pPr>
              <a:defRPr sz="2400">
                <a:latin typeface="Arial"/>
                <a:ea typeface="Arial"/>
                <a:cs typeface="Arial"/>
                <a:sym typeface="Arial"/>
              </a:defRPr>
            </a:pPr>
            <a:r>
              <a:rPr dirty="0"/>
              <a:t>Spino-pelvis alignment maintains upright posture </a:t>
            </a:r>
          </a:p>
          <a:p>
            <a:pPr>
              <a:defRPr sz="2400">
                <a:latin typeface="Arial"/>
                <a:ea typeface="Arial"/>
                <a:cs typeface="Arial"/>
                <a:sym typeface="Arial"/>
              </a:defRPr>
            </a:pPr>
            <a:r>
              <a:rPr dirty="0"/>
              <a:t>Energy-efficient standing requires harmony - “Cone Of Economy”</a:t>
            </a:r>
          </a:p>
          <a:p>
            <a:pPr>
              <a:defRPr sz="2400">
                <a:latin typeface="Arial"/>
                <a:ea typeface="Arial"/>
                <a:cs typeface="Arial"/>
                <a:sym typeface="Arial"/>
              </a:defRPr>
            </a:pPr>
            <a:r>
              <a:rPr dirty="0"/>
              <a:t>Measured via PI, PT, SS, LL, SVA</a:t>
            </a:r>
          </a:p>
          <a:p>
            <a:pPr>
              <a:defRPr sz="2400">
                <a:latin typeface="Arial"/>
                <a:ea typeface="Arial"/>
                <a:cs typeface="Arial"/>
                <a:sym typeface="Arial"/>
              </a:defRPr>
            </a:pPr>
            <a:r>
              <a:rPr dirty="0"/>
              <a:t>PI = SS + PT</a:t>
            </a:r>
          </a:p>
        </p:txBody>
      </p:sp>
      <p:pic>
        <p:nvPicPr>
          <p:cNvPr id="140" name="Content Placeholder 4" descr="Content Placeholder 4"/>
          <p:cNvPicPr>
            <a:picLocks noChangeAspect="1"/>
          </p:cNvPicPr>
          <p:nvPr/>
        </p:nvPicPr>
        <p:blipFill>
          <a:blip r:embed="rId3"/>
          <a:srcRect b="4847"/>
          <a:stretch>
            <a:fillRect/>
          </a:stretch>
        </p:blipFill>
        <p:spPr>
          <a:xfrm>
            <a:off x="8409456" y="1418255"/>
            <a:ext cx="3619523" cy="5057282"/>
          </a:xfrm>
          <a:prstGeom prst="rect">
            <a:avLst/>
          </a:prstGeom>
          <a:ln w="12700">
            <a:miter lim="400000"/>
          </a:ln>
        </p:spPr>
      </p:pic>
      <p:pic>
        <p:nvPicPr>
          <p:cNvPr id="2" name="Picture 1">
            <a:extLst>
              <a:ext uri="{FF2B5EF4-FFF2-40B4-BE49-F238E27FC236}">
                <a16:creationId xmlns:a16="http://schemas.microsoft.com/office/drawing/2014/main" id="{D74DAE4A-EBF6-4FE7-AC57-9008AAE40869}"/>
              </a:ext>
            </a:extLst>
          </p:cNvPr>
          <p:cNvPicPr>
            <a:picLocks noChangeAspect="1"/>
          </p:cNvPicPr>
          <p:nvPr/>
        </p:nvPicPr>
        <p:blipFill>
          <a:blip r:embed="rId4"/>
          <a:stretch>
            <a:fillRect/>
          </a:stretch>
        </p:blipFill>
        <p:spPr>
          <a:xfrm>
            <a:off x="2859315" y="3752592"/>
            <a:ext cx="5550141" cy="3019840"/>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p:cNvSpPr txBox="1">
            <a:spLocks noGrp="1"/>
          </p:cNvSpPr>
          <p:nvPr>
            <p:ph type="title"/>
          </p:nvPr>
        </p:nvSpPr>
        <p:spPr>
          <a:xfrm>
            <a:off x="232557" y="1386114"/>
            <a:ext cx="5921500" cy="551544"/>
          </a:xfrm>
          <a:prstGeom prst="rect">
            <a:avLst/>
          </a:prstGeom>
        </p:spPr>
        <p:txBody>
          <a:bodyPr>
            <a:noAutofit/>
          </a:bodyPr>
          <a:lstStyle>
            <a:lvl1pPr algn="ctr">
              <a:defRPr sz="2800" b="1">
                <a:latin typeface="Arial"/>
                <a:ea typeface="Arial"/>
                <a:cs typeface="Arial"/>
                <a:sym typeface="Arial"/>
              </a:defRPr>
            </a:lvl1pPr>
          </a:lstStyle>
          <a:p>
            <a:r>
              <a:rPr sz="3200" dirty="0"/>
              <a:t>SPINOPELVIC PARAMETERS:</a:t>
            </a:r>
          </a:p>
        </p:txBody>
      </p:sp>
      <p:sp>
        <p:nvSpPr>
          <p:cNvPr id="143" name="Content Placeholder 2"/>
          <p:cNvSpPr txBox="1">
            <a:spLocks noGrp="1"/>
          </p:cNvSpPr>
          <p:nvPr>
            <p:ph type="body" sz="half" idx="1"/>
          </p:nvPr>
        </p:nvSpPr>
        <p:spPr>
          <a:xfrm>
            <a:off x="138215" y="1937658"/>
            <a:ext cx="6714508" cy="4351338"/>
          </a:xfrm>
          <a:prstGeom prst="rect">
            <a:avLst/>
          </a:prstGeom>
        </p:spPr>
        <p:txBody>
          <a:bodyPr/>
          <a:lstStyle/>
          <a:p>
            <a:pPr>
              <a:defRPr sz="2400">
                <a:latin typeface="Arial"/>
                <a:ea typeface="Arial"/>
                <a:cs typeface="Arial"/>
                <a:sym typeface="Arial"/>
              </a:defRPr>
            </a:pPr>
            <a:r>
              <a:rPr dirty="0"/>
              <a:t>Sagittal Vertical Axis : </a:t>
            </a:r>
          </a:p>
          <a:p>
            <a:pPr>
              <a:defRPr sz="2400">
                <a:latin typeface="Arial"/>
                <a:ea typeface="Arial"/>
                <a:cs typeface="Arial"/>
                <a:sym typeface="Arial"/>
              </a:defRPr>
            </a:pPr>
            <a:r>
              <a:rPr dirty="0"/>
              <a:t>A plumb line is drawn vertically from the inferior endplate C7 to S1, and the distance is measured between the plumb line and the posterosuperior corner of S1</a:t>
            </a:r>
          </a:p>
        </p:txBody>
      </p:sp>
      <p:pic>
        <p:nvPicPr>
          <p:cNvPr id="144" name="Content Placeholder 7" descr="Content Placeholder 7"/>
          <p:cNvPicPr>
            <a:picLocks noChangeAspect="1"/>
          </p:cNvPicPr>
          <p:nvPr/>
        </p:nvPicPr>
        <p:blipFill>
          <a:blip r:embed="rId2"/>
          <a:srcRect l="9713" r="8548"/>
          <a:stretch>
            <a:fillRect/>
          </a:stretch>
        </p:blipFill>
        <p:spPr>
          <a:xfrm>
            <a:off x="6852722" y="1691719"/>
            <a:ext cx="5106720" cy="4597277"/>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Placeholder 6"/>
          <p:cNvSpPr txBox="1">
            <a:spLocks noGrp="1"/>
          </p:cNvSpPr>
          <p:nvPr>
            <p:ph type="body" sz="quarter" idx="1"/>
          </p:nvPr>
        </p:nvSpPr>
        <p:spPr>
          <a:xfrm>
            <a:off x="135927" y="4992071"/>
            <a:ext cx="5627200" cy="525009"/>
          </a:xfrm>
          <a:prstGeom prst="rect">
            <a:avLst/>
          </a:prstGeom>
        </p:spPr>
        <p:txBody>
          <a:bodyPr>
            <a:normAutofit/>
          </a:bodyPr>
          <a:lstStyle>
            <a:lvl1pPr>
              <a:defRPr sz="2800">
                <a:latin typeface="Arial"/>
                <a:ea typeface="Arial"/>
                <a:cs typeface="Arial"/>
                <a:sym typeface="Arial"/>
              </a:defRPr>
            </a:lvl1pPr>
          </a:lstStyle>
          <a:p>
            <a:r>
              <a:rPr dirty="0"/>
              <a:t>MEYERDING CLASSIFICATION</a:t>
            </a:r>
          </a:p>
        </p:txBody>
      </p:sp>
      <p:sp>
        <p:nvSpPr>
          <p:cNvPr id="147" name="Text Placeholder 8"/>
          <p:cNvSpPr>
            <a:spLocks noGrp="1"/>
          </p:cNvSpPr>
          <p:nvPr>
            <p:ph type="body" idx="21"/>
          </p:nvPr>
        </p:nvSpPr>
        <p:spPr>
          <a:xfrm>
            <a:off x="135926" y="4338081"/>
            <a:ext cx="5470790" cy="5250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lvl1pPr marL="0" indent="0">
              <a:buSzTx/>
              <a:buFontTx/>
              <a:buNone/>
              <a:defRPr b="1">
                <a:latin typeface="Arial"/>
                <a:ea typeface="Arial"/>
                <a:cs typeface="Arial"/>
                <a:sym typeface="Arial"/>
              </a:defRPr>
            </a:lvl1pPr>
          </a:lstStyle>
          <a:p>
            <a:r>
              <a:rPr dirty="0"/>
              <a:t>SDSG CLASSIFICATION</a:t>
            </a:r>
          </a:p>
        </p:txBody>
      </p:sp>
      <p:sp>
        <p:nvSpPr>
          <p:cNvPr id="148" name="Pathomechanism of Spondylolisthesis :"/>
          <p:cNvSpPr txBox="1">
            <a:spLocks noGrp="1"/>
          </p:cNvSpPr>
          <p:nvPr>
            <p:ph type="title"/>
          </p:nvPr>
        </p:nvSpPr>
        <p:spPr>
          <a:xfrm>
            <a:off x="135926" y="1340921"/>
            <a:ext cx="8113157" cy="621622"/>
          </a:xfrm>
          <a:prstGeom prst="rect">
            <a:avLst/>
          </a:prstGeom>
        </p:spPr>
        <p:txBody>
          <a:bodyPr>
            <a:normAutofit/>
          </a:bodyPr>
          <a:lstStyle>
            <a:lvl1pPr algn="ctr">
              <a:defRPr sz="2800" b="1">
                <a:latin typeface="Arial"/>
                <a:ea typeface="Arial"/>
                <a:cs typeface="Arial"/>
                <a:sym typeface="Arial"/>
              </a:defRPr>
            </a:lvl1pPr>
          </a:lstStyle>
          <a:p>
            <a:r>
              <a:rPr sz="3200" dirty="0"/>
              <a:t>Patho mechanism of Spondylolisthesis :</a:t>
            </a:r>
          </a:p>
        </p:txBody>
      </p:sp>
      <p:sp>
        <p:nvSpPr>
          <p:cNvPr id="149" name="Content Placeholder 2"/>
          <p:cNvSpPr txBox="1"/>
          <p:nvPr/>
        </p:nvSpPr>
        <p:spPr>
          <a:xfrm>
            <a:off x="104103" y="1962544"/>
            <a:ext cx="8354587" cy="49764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228600" indent="-228600">
              <a:lnSpc>
                <a:spcPct val="90000"/>
              </a:lnSpc>
              <a:spcBef>
                <a:spcPts val="1000"/>
              </a:spcBef>
              <a:buSzPct val="100000"/>
              <a:buFont typeface="Arial"/>
              <a:buChar char="•"/>
              <a:defRPr sz="2400">
                <a:latin typeface="Arial"/>
                <a:ea typeface="Arial"/>
                <a:cs typeface="Arial"/>
                <a:sym typeface="Arial"/>
              </a:defRPr>
            </a:pPr>
            <a:r>
              <a:rPr dirty="0"/>
              <a:t>Anterior slip disrupt Sagittal balance</a:t>
            </a:r>
          </a:p>
          <a:p>
            <a:pPr marL="228600" indent="-228600">
              <a:lnSpc>
                <a:spcPct val="90000"/>
              </a:lnSpc>
              <a:spcBef>
                <a:spcPts val="1000"/>
              </a:spcBef>
              <a:buSzPct val="100000"/>
              <a:buFont typeface="Arial"/>
              <a:buChar char="•"/>
              <a:defRPr sz="2400">
                <a:latin typeface="Arial"/>
                <a:ea typeface="Arial"/>
                <a:cs typeface="Arial"/>
                <a:sym typeface="Arial"/>
              </a:defRPr>
            </a:pPr>
            <a:r>
              <a:rPr dirty="0"/>
              <a:t>Pelvic Retroversion develops </a:t>
            </a:r>
          </a:p>
          <a:p>
            <a:pPr marL="228600" indent="-228600">
              <a:lnSpc>
                <a:spcPct val="90000"/>
              </a:lnSpc>
              <a:spcBef>
                <a:spcPts val="1000"/>
              </a:spcBef>
              <a:buSzPct val="100000"/>
              <a:buFont typeface="Arial"/>
              <a:buChar char="•"/>
              <a:defRPr sz="2400">
                <a:latin typeface="Arial"/>
                <a:ea typeface="Arial"/>
                <a:cs typeface="Arial"/>
                <a:sym typeface="Arial"/>
              </a:defRPr>
            </a:pPr>
            <a:r>
              <a:rPr dirty="0"/>
              <a:t>Lumbar lordosis </a:t>
            </a:r>
          </a:p>
        </p:txBody>
      </p:sp>
      <p:pic>
        <p:nvPicPr>
          <p:cNvPr id="2" name="Picture 1">
            <a:extLst>
              <a:ext uri="{FF2B5EF4-FFF2-40B4-BE49-F238E27FC236}">
                <a16:creationId xmlns:a16="http://schemas.microsoft.com/office/drawing/2014/main" id="{6F4CB521-C07D-BDF6-DA56-18BEB8FF2640}"/>
              </a:ext>
            </a:extLst>
          </p:cNvPr>
          <p:cNvPicPr>
            <a:picLocks noChangeAspect="1"/>
          </p:cNvPicPr>
          <p:nvPr/>
        </p:nvPicPr>
        <p:blipFill>
          <a:blip r:embed="rId3"/>
          <a:stretch>
            <a:fillRect/>
          </a:stretch>
        </p:blipFill>
        <p:spPr>
          <a:xfrm>
            <a:off x="6161397" y="1962543"/>
            <a:ext cx="5894677" cy="4751077"/>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AB03-24C7-0471-FE20-751E201DC8F0}"/>
              </a:ext>
            </a:extLst>
          </p:cNvPr>
          <p:cNvSpPr>
            <a:spLocks noGrp="1"/>
          </p:cNvSpPr>
          <p:nvPr>
            <p:ph type="title"/>
          </p:nvPr>
        </p:nvSpPr>
        <p:spPr>
          <a:xfrm>
            <a:off x="460829" y="1352677"/>
            <a:ext cx="10515600" cy="608071"/>
          </a:xfrm>
        </p:spPr>
        <p:txBody>
          <a:bodyPr>
            <a:normAutofit fontScale="90000"/>
          </a:bodyPr>
          <a:lstStyle/>
          <a:p>
            <a:pPr marL="228600" marR="0" lvl="0" indent="-228600" algn="ctr" defTabSz="914400" rtl="0" eaLnBrk="1" fontAlgn="auto" latinLnBrk="0" hangingPunct="1">
              <a:lnSpc>
                <a:spcPct val="90000"/>
              </a:lnSpc>
              <a:spcBef>
                <a:spcPts val="1000"/>
              </a:spcBef>
              <a:spcAft>
                <a:spcPts val="0"/>
              </a:spcAft>
              <a:tabLst/>
              <a:defRPr/>
            </a:pPr>
            <a:r>
              <a:rPr kumimoji="0" lang="en-IN" sz="36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ptos"/>
              </a:rPr>
              <a:t>SDSG CLASSIFICATION</a:t>
            </a:r>
            <a:br>
              <a:rPr kumimoji="0" lang="en-IN" sz="2800" b="0" i="0" u="none" strike="noStrike" kern="0" cap="none" spc="0" normalizeH="0" baseline="0" noProof="0" dirty="0">
                <a:ln>
                  <a:noFill/>
                </a:ln>
                <a:solidFill>
                  <a:srgbClr val="000000"/>
                </a:solidFill>
                <a:effectLst/>
                <a:uLnTx/>
                <a:uFillTx/>
                <a:latin typeface="Aptos"/>
                <a:sym typeface="Aptos"/>
              </a:rPr>
            </a:br>
            <a:endParaRPr lang="en-IN" dirty="0"/>
          </a:p>
        </p:txBody>
      </p:sp>
      <p:pic>
        <p:nvPicPr>
          <p:cNvPr id="5" name="Picture 4">
            <a:extLst>
              <a:ext uri="{FF2B5EF4-FFF2-40B4-BE49-F238E27FC236}">
                <a16:creationId xmlns:a16="http://schemas.microsoft.com/office/drawing/2014/main" id="{7DB92E10-8D98-1122-D2D2-BDD34611FE25}"/>
              </a:ext>
            </a:extLst>
          </p:cNvPr>
          <p:cNvPicPr>
            <a:picLocks noChangeAspect="1"/>
          </p:cNvPicPr>
          <p:nvPr/>
        </p:nvPicPr>
        <p:blipFill>
          <a:blip r:embed="rId2"/>
          <a:stretch>
            <a:fillRect/>
          </a:stretch>
        </p:blipFill>
        <p:spPr>
          <a:xfrm>
            <a:off x="0" y="1960748"/>
            <a:ext cx="12192000" cy="4776936"/>
          </a:xfrm>
          <a:prstGeom prst="rect">
            <a:avLst/>
          </a:prstGeom>
        </p:spPr>
      </p:pic>
    </p:spTree>
    <p:extLst>
      <p:ext uri="{BB962C8B-B14F-4D97-AF65-F5344CB8AC3E}">
        <p14:creationId xmlns:p14="http://schemas.microsoft.com/office/powerpoint/2010/main" val="287293743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2DEF9-19FA-6A77-FB23-EA8B7343487A}"/>
              </a:ext>
            </a:extLst>
          </p:cNvPr>
          <p:cNvSpPr>
            <a:spLocks noGrp="1"/>
          </p:cNvSpPr>
          <p:nvPr>
            <p:ph type="title"/>
          </p:nvPr>
        </p:nvSpPr>
        <p:spPr>
          <a:xfrm>
            <a:off x="549443" y="1371599"/>
            <a:ext cx="10515600" cy="643941"/>
          </a:xfrm>
        </p:spPr>
        <p:txBody>
          <a:bodyPr>
            <a:normAutofit/>
          </a:bodyPr>
          <a:lstStyle/>
          <a:p>
            <a:pPr algn="ctr"/>
            <a:r>
              <a:rPr lang="en-US" sz="3200" b="1" dirty="0">
                <a:latin typeface="Arial" panose="020B0604020202020204" pitchFamily="34" charset="0"/>
                <a:cs typeface="Arial" panose="020B0604020202020204" pitchFamily="34" charset="0"/>
              </a:rPr>
              <a:t>Concept of Balanced vs Unbalanced Pelvis </a:t>
            </a:r>
            <a:endParaRPr lang="en-IN" sz="3200" b="1" dirty="0">
              <a:latin typeface="Arial" panose="020B0604020202020204" pitchFamily="34" charset="0"/>
              <a:cs typeface="Arial" panose="020B0604020202020204" pitchFamily="34" charset="0"/>
            </a:endParaRPr>
          </a:p>
        </p:txBody>
      </p:sp>
      <p:sp>
        <p:nvSpPr>
          <p:cNvPr id="5" name="Balanced pelvis…">
            <a:extLst>
              <a:ext uri="{FF2B5EF4-FFF2-40B4-BE49-F238E27FC236}">
                <a16:creationId xmlns:a16="http://schemas.microsoft.com/office/drawing/2014/main" id="{8BEB113D-EDC0-CF29-3CD8-A14DFC21096E}"/>
              </a:ext>
            </a:extLst>
          </p:cNvPr>
          <p:cNvSpPr txBox="1">
            <a:spLocks/>
          </p:cNvSpPr>
          <p:nvPr/>
        </p:nvSpPr>
        <p:spPr>
          <a:xfrm>
            <a:off x="549443" y="2113384"/>
            <a:ext cx="5458995" cy="409232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Aptos"/>
              </a:defRPr>
            </a:lvl9pPr>
          </a:lstStyle>
          <a:p>
            <a:pPr hangingPunct="1"/>
            <a:r>
              <a:rPr lang="en-US" sz="2400" dirty="0">
                <a:latin typeface="Arial" panose="020B0604020202020204" pitchFamily="34" charset="0"/>
                <a:cs typeface="Arial" panose="020B0604020202020204" pitchFamily="34" charset="0"/>
              </a:rPr>
              <a:t>Balanced pelvis </a:t>
            </a:r>
          </a:p>
          <a:p>
            <a:pPr hangingPunct="1"/>
            <a:endParaRPr lang="en-US" sz="2400" dirty="0">
              <a:latin typeface="Arial" panose="020B0604020202020204" pitchFamily="34" charset="0"/>
              <a:cs typeface="Arial" panose="020B0604020202020204" pitchFamily="34" charset="0"/>
            </a:endParaRPr>
          </a:p>
          <a:p>
            <a:pPr hangingPunct="1"/>
            <a:endParaRPr lang="en-US" sz="2400" dirty="0">
              <a:latin typeface="Arial" panose="020B0604020202020204" pitchFamily="34" charset="0"/>
              <a:cs typeface="Arial" panose="020B0604020202020204" pitchFamily="34" charset="0"/>
            </a:endParaRPr>
          </a:p>
          <a:p>
            <a:pPr hangingPunct="1"/>
            <a:r>
              <a:rPr lang="en-US" sz="2400" dirty="0">
                <a:latin typeface="Arial" panose="020B0604020202020204" pitchFamily="34" charset="0"/>
                <a:cs typeface="Arial" panose="020B0604020202020204" pitchFamily="34" charset="0"/>
              </a:rPr>
              <a:t>Compensatory increase lumbar lordosis and decrease thoracic kyphosis of the spine adequate to maintain normal sagittal balance </a:t>
            </a:r>
          </a:p>
        </p:txBody>
      </p:sp>
      <p:sp>
        <p:nvSpPr>
          <p:cNvPr id="6" name="Unbalanced Pelvis /Retroverted pelvis…">
            <a:extLst>
              <a:ext uri="{FF2B5EF4-FFF2-40B4-BE49-F238E27FC236}">
                <a16:creationId xmlns:a16="http://schemas.microsoft.com/office/drawing/2014/main" id="{B34651D4-ED41-5814-0AE8-BCFDCADEECBE}"/>
              </a:ext>
            </a:extLst>
          </p:cNvPr>
          <p:cNvSpPr txBox="1"/>
          <p:nvPr/>
        </p:nvSpPr>
        <p:spPr>
          <a:xfrm>
            <a:off x="6273224" y="2113384"/>
            <a:ext cx="5369333" cy="419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marL="342900" indent="-342900">
              <a:spcBef>
                <a:spcPts val="4500"/>
              </a:spcBef>
              <a:buSzPct val="123000"/>
              <a:buFont typeface="Arial" panose="020B0604020202020204" pitchFamily="34" charset="0"/>
              <a:buChar char="•"/>
              <a:defRPr sz="4800">
                <a:solidFill>
                  <a:srgbClr val="000000"/>
                </a:solidFill>
              </a:defRPr>
            </a:pPr>
            <a:r>
              <a:rPr sz="2400" dirty="0">
                <a:latin typeface="Arial" panose="020B0604020202020204" pitchFamily="34" charset="0"/>
                <a:cs typeface="Arial" panose="020B0604020202020204" pitchFamily="34" charset="0"/>
              </a:rPr>
              <a:t>Unbalanced Pelvis /Retroverted pelvis</a:t>
            </a:r>
            <a:endParaRPr lang="en-US" sz="2400" dirty="0">
              <a:latin typeface="Arial" panose="020B0604020202020204" pitchFamily="34" charset="0"/>
              <a:cs typeface="Arial" panose="020B0604020202020204" pitchFamily="34" charset="0"/>
            </a:endParaRPr>
          </a:p>
          <a:p>
            <a:pPr marL="342900" indent="-342900">
              <a:spcBef>
                <a:spcPts val="4500"/>
              </a:spcBef>
              <a:buSzPct val="123000"/>
              <a:buFont typeface="Arial" panose="020B0604020202020204" pitchFamily="34" charset="0"/>
              <a:buChar char="•"/>
              <a:defRPr sz="4800">
                <a:solidFill>
                  <a:srgbClr val="000000"/>
                </a:solidFill>
              </a:defRPr>
            </a:pPr>
            <a:r>
              <a:rPr sz="2400" dirty="0">
                <a:latin typeface="Arial" panose="020B0604020202020204" pitchFamily="34" charset="0"/>
                <a:cs typeface="Arial" panose="020B0604020202020204" pitchFamily="34" charset="0"/>
              </a:rPr>
              <a:t>Because of increased pelvic tilt that spine cannot accommodate the associated high L5 incidence angle , leading to positive forward balance.</a:t>
            </a:r>
          </a:p>
        </p:txBody>
      </p:sp>
    </p:spTree>
    <p:extLst>
      <p:ext uri="{BB962C8B-B14F-4D97-AF65-F5344CB8AC3E}">
        <p14:creationId xmlns:p14="http://schemas.microsoft.com/office/powerpoint/2010/main" val="265399820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rinciples of Spondylolisthesis Surgery :"/>
          <p:cNvSpPr txBox="1">
            <a:spLocks noGrp="1"/>
          </p:cNvSpPr>
          <p:nvPr>
            <p:ph type="title"/>
          </p:nvPr>
        </p:nvSpPr>
        <p:spPr>
          <a:xfrm>
            <a:off x="232557" y="1445782"/>
            <a:ext cx="8385423" cy="783977"/>
          </a:xfrm>
          <a:prstGeom prst="rect">
            <a:avLst/>
          </a:prstGeom>
        </p:spPr>
        <p:txBody>
          <a:bodyPr>
            <a:normAutofit/>
          </a:bodyPr>
          <a:lstStyle>
            <a:lvl1pPr algn="ctr">
              <a:defRPr sz="2800" b="1">
                <a:latin typeface="Arial"/>
                <a:ea typeface="Arial"/>
                <a:cs typeface="Arial"/>
                <a:sym typeface="Arial"/>
              </a:defRPr>
            </a:lvl1pPr>
          </a:lstStyle>
          <a:p>
            <a:r>
              <a:rPr sz="3200" dirty="0"/>
              <a:t>Principles of Spondylolisthesis Surgery :</a:t>
            </a:r>
          </a:p>
        </p:txBody>
      </p:sp>
      <p:sp>
        <p:nvSpPr>
          <p:cNvPr id="152" name="Content Placeholder 2"/>
          <p:cNvSpPr txBox="1"/>
          <p:nvPr/>
        </p:nvSpPr>
        <p:spPr>
          <a:xfrm>
            <a:off x="232557" y="2229759"/>
            <a:ext cx="10449222" cy="40130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228600" indent="-228600">
              <a:lnSpc>
                <a:spcPct val="90000"/>
              </a:lnSpc>
              <a:spcBef>
                <a:spcPts val="1000"/>
              </a:spcBef>
              <a:buSzPct val="100000"/>
              <a:buFont typeface="Arial"/>
              <a:buChar char="•"/>
              <a:defRPr sz="2400">
                <a:latin typeface="Arial"/>
                <a:ea typeface="Arial"/>
                <a:cs typeface="Arial"/>
                <a:sym typeface="Arial"/>
              </a:defRPr>
            </a:pPr>
            <a:r>
              <a:rPr dirty="0"/>
              <a:t>PT reduction : reversal of pelvic retroversion </a:t>
            </a:r>
          </a:p>
          <a:p>
            <a:pPr marL="228600" indent="-228600">
              <a:lnSpc>
                <a:spcPct val="90000"/>
              </a:lnSpc>
              <a:spcBef>
                <a:spcPts val="1000"/>
              </a:spcBef>
              <a:buSzPct val="100000"/>
              <a:buFont typeface="Arial"/>
              <a:buChar char="•"/>
              <a:defRPr sz="2400">
                <a:latin typeface="Arial"/>
                <a:ea typeface="Arial"/>
                <a:cs typeface="Arial"/>
                <a:sym typeface="Arial"/>
              </a:defRPr>
            </a:pPr>
            <a:r>
              <a:rPr dirty="0"/>
              <a:t>SS increase : Sacral Horizontalization</a:t>
            </a:r>
          </a:p>
          <a:p>
            <a:pPr marL="228600" indent="-228600">
              <a:lnSpc>
                <a:spcPct val="90000"/>
              </a:lnSpc>
              <a:spcBef>
                <a:spcPts val="1000"/>
              </a:spcBef>
              <a:buSzPct val="100000"/>
              <a:buFont typeface="Arial"/>
              <a:buChar char="•"/>
              <a:defRPr sz="2400">
                <a:latin typeface="Arial"/>
                <a:ea typeface="Arial"/>
                <a:cs typeface="Arial"/>
                <a:sym typeface="Arial"/>
              </a:defRPr>
            </a:pPr>
            <a:r>
              <a:rPr dirty="0"/>
              <a:t>LL restoration : Lumbar Alignment Correction </a:t>
            </a:r>
          </a:p>
          <a:p>
            <a:pPr marL="228600" indent="-228600">
              <a:lnSpc>
                <a:spcPct val="90000"/>
              </a:lnSpc>
              <a:spcBef>
                <a:spcPts val="1000"/>
              </a:spcBef>
              <a:buSzPct val="100000"/>
              <a:buFont typeface="Arial"/>
              <a:buChar char="•"/>
              <a:defRPr sz="2400">
                <a:latin typeface="Arial"/>
                <a:ea typeface="Arial"/>
                <a:cs typeface="Arial"/>
                <a:sym typeface="Arial"/>
              </a:defRPr>
            </a:pPr>
            <a:r>
              <a:rPr dirty="0"/>
              <a:t>PI constant : Confirms measurement reliability </a:t>
            </a:r>
          </a:p>
          <a:p>
            <a:pPr marL="228600" indent="-228600">
              <a:lnSpc>
                <a:spcPct val="90000"/>
              </a:lnSpc>
              <a:spcBef>
                <a:spcPts val="1000"/>
              </a:spcBef>
              <a:buSzPct val="100000"/>
              <a:buFont typeface="Arial"/>
              <a:buChar char="•"/>
              <a:defRPr sz="2400">
                <a:latin typeface="Arial"/>
                <a:ea typeface="Arial"/>
                <a:cs typeface="Arial"/>
                <a:sym typeface="Arial"/>
              </a:defRPr>
            </a:pPr>
            <a:r>
              <a:rPr dirty="0"/>
              <a:t>PI-LL normalization : Biomechanical Harmony </a:t>
            </a:r>
          </a:p>
          <a:p>
            <a:pPr>
              <a:lnSpc>
                <a:spcPct val="90000"/>
              </a:lnSpc>
              <a:spcBef>
                <a:spcPts val="1000"/>
              </a:spcBef>
              <a:defRPr sz="2400">
                <a:latin typeface="Arial"/>
                <a:ea typeface="Arial"/>
                <a:cs typeface="Arial"/>
                <a:sym typeface="Arial"/>
              </a:defRPr>
            </a:pPr>
            <a:endParaRPr dirty="0"/>
          </a:p>
          <a:p>
            <a:pPr>
              <a:lnSpc>
                <a:spcPct val="90000"/>
              </a:lnSpc>
              <a:spcBef>
                <a:spcPts val="1000"/>
              </a:spcBef>
              <a:defRPr sz="2400">
                <a:latin typeface="Arial"/>
                <a:ea typeface="Arial"/>
                <a:cs typeface="Arial"/>
                <a:sym typeface="Arial"/>
              </a:defRPr>
            </a:pPr>
            <a:r>
              <a:rPr dirty="0"/>
              <a:t>Reduction restores Global alignment - Not Just Slip Correction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itle 1"/>
          <p:cNvSpPr txBox="1">
            <a:spLocks noGrp="1"/>
          </p:cNvSpPr>
          <p:nvPr>
            <p:ph type="title"/>
          </p:nvPr>
        </p:nvSpPr>
        <p:spPr>
          <a:xfrm>
            <a:off x="279398" y="1393827"/>
            <a:ext cx="11579860" cy="464745"/>
          </a:xfrm>
          <a:prstGeom prst="rect">
            <a:avLst/>
          </a:prstGeom>
        </p:spPr>
        <p:txBody>
          <a:bodyPr>
            <a:noAutofit/>
          </a:bodyPr>
          <a:lstStyle>
            <a:lvl1pPr defTabSz="877823">
              <a:defRPr sz="2688" b="1">
                <a:latin typeface="Arial"/>
                <a:ea typeface="Arial"/>
                <a:cs typeface="Arial"/>
                <a:sym typeface="Arial"/>
              </a:defRPr>
            </a:lvl1pPr>
          </a:lstStyle>
          <a:p>
            <a:r>
              <a:rPr sz="3200" dirty="0"/>
              <a:t>AIMS &amp; OBJECTIVES:</a:t>
            </a:r>
          </a:p>
        </p:txBody>
      </p:sp>
      <p:sp>
        <p:nvSpPr>
          <p:cNvPr id="155" name="Content Placeholder 2"/>
          <p:cNvSpPr txBox="1">
            <a:spLocks noGrp="1"/>
          </p:cNvSpPr>
          <p:nvPr>
            <p:ph type="body" sz="quarter" idx="1"/>
          </p:nvPr>
        </p:nvSpPr>
        <p:spPr>
          <a:xfrm>
            <a:off x="287020" y="1858572"/>
            <a:ext cx="11671300" cy="843148"/>
          </a:xfrm>
          <a:prstGeom prst="rect">
            <a:avLst/>
          </a:prstGeom>
        </p:spPr>
        <p:txBody>
          <a:bodyPr/>
          <a:lstStyle>
            <a:lvl1pPr>
              <a:defRPr sz="2400">
                <a:latin typeface="Arial"/>
                <a:ea typeface="Arial"/>
                <a:cs typeface="Arial"/>
                <a:sym typeface="Arial"/>
              </a:defRPr>
            </a:lvl1pPr>
          </a:lstStyle>
          <a:p>
            <a:r>
              <a:rPr dirty="0"/>
              <a:t>To study effectiveness of instrumentation, reduction and fusion by assessing radiological spinal sagittal parameters.</a:t>
            </a:r>
          </a:p>
        </p:txBody>
      </p:sp>
      <p:sp>
        <p:nvSpPr>
          <p:cNvPr id="156" name="Title 1"/>
          <p:cNvSpPr txBox="1"/>
          <p:nvPr/>
        </p:nvSpPr>
        <p:spPr>
          <a:xfrm>
            <a:off x="287020" y="2762538"/>
            <a:ext cx="11572238"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latin typeface="Arial"/>
                <a:ea typeface="Arial"/>
                <a:cs typeface="Arial"/>
                <a:sym typeface="Arial"/>
              </a:defRPr>
            </a:lvl1pPr>
          </a:lstStyle>
          <a:p>
            <a:r>
              <a:rPr sz="3200" dirty="0"/>
              <a:t>MATERIALS &amp; METHODS:</a:t>
            </a:r>
          </a:p>
        </p:txBody>
      </p:sp>
      <p:sp>
        <p:nvSpPr>
          <p:cNvPr id="157" name="TextBox 5"/>
          <p:cNvSpPr txBox="1"/>
          <p:nvPr/>
        </p:nvSpPr>
        <p:spPr>
          <a:xfrm>
            <a:off x="279398" y="3279156"/>
            <a:ext cx="11579860" cy="26776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indent="-342900">
              <a:buSzPct val="100000"/>
              <a:buFont typeface="Arial"/>
              <a:buChar char="•"/>
              <a:defRPr sz="2400">
                <a:latin typeface="Arial"/>
                <a:ea typeface="Arial"/>
                <a:cs typeface="Arial"/>
                <a:sym typeface="Arial"/>
              </a:defRPr>
            </a:pPr>
            <a:r>
              <a:rPr dirty="0"/>
              <a:t>Study Place : Dr. PSIMS &amp; RF, Vijayawada. </a:t>
            </a:r>
          </a:p>
          <a:p>
            <a:pPr marL="342900" indent="-342900">
              <a:buSzPct val="100000"/>
              <a:buFont typeface="Arial"/>
              <a:buChar char="•"/>
              <a:defRPr sz="2400">
                <a:latin typeface="Arial"/>
                <a:ea typeface="Arial"/>
                <a:cs typeface="Arial"/>
                <a:sym typeface="Arial"/>
              </a:defRPr>
            </a:pPr>
            <a:r>
              <a:rPr dirty="0"/>
              <a:t>Type of Study : Prospective Observational Cohort </a:t>
            </a:r>
          </a:p>
          <a:p>
            <a:pPr marL="342900" indent="-342900">
              <a:buSzPct val="100000"/>
              <a:buFont typeface="Arial"/>
              <a:buChar char="•"/>
              <a:defRPr sz="2400">
                <a:latin typeface="Arial"/>
                <a:ea typeface="Arial"/>
                <a:cs typeface="Arial"/>
                <a:sym typeface="Arial"/>
              </a:defRPr>
            </a:pPr>
            <a:r>
              <a:rPr dirty="0"/>
              <a:t>30 patients who underwent instrument fixation and fusion procedure after diagnosis of spondylolisthesis. </a:t>
            </a:r>
          </a:p>
          <a:p>
            <a:pPr marL="342900" indent="-342900">
              <a:buSzPct val="100000"/>
              <a:buFont typeface="Arial"/>
              <a:buChar char="•"/>
              <a:defRPr sz="2400">
                <a:latin typeface="Arial"/>
                <a:ea typeface="Arial"/>
                <a:cs typeface="Arial"/>
                <a:sym typeface="Arial"/>
              </a:defRPr>
            </a:pPr>
            <a:r>
              <a:rPr dirty="0"/>
              <a:t>Assessment by calculating sagittal vertical axis (SVA), lumbar lordosis (LL), pelvic incidence (PI), pelvic tilt (PT), sacral slope (SS), preoperatively and post operatively during follow up at 1,12 and 24 months.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ext Placeholder 4"/>
          <p:cNvSpPr txBox="1">
            <a:spLocks noGrp="1"/>
          </p:cNvSpPr>
          <p:nvPr>
            <p:ph type="body" sz="quarter" idx="1"/>
          </p:nvPr>
        </p:nvSpPr>
        <p:spPr>
          <a:xfrm>
            <a:off x="141287" y="1385094"/>
            <a:ext cx="5434014" cy="545307"/>
          </a:xfrm>
          <a:prstGeom prst="rect">
            <a:avLst/>
          </a:prstGeom>
        </p:spPr>
        <p:txBody>
          <a:bodyPr/>
          <a:lstStyle>
            <a:lvl1pPr algn="ctr">
              <a:defRPr sz="2800">
                <a:latin typeface="Arial"/>
                <a:ea typeface="Arial"/>
                <a:cs typeface="Arial"/>
                <a:sym typeface="Arial"/>
              </a:defRPr>
            </a:lvl1pPr>
          </a:lstStyle>
          <a:p>
            <a:r>
              <a:rPr dirty="0"/>
              <a:t>INCLUSION CRITERIA</a:t>
            </a:r>
          </a:p>
        </p:txBody>
      </p:sp>
      <p:sp>
        <p:nvSpPr>
          <p:cNvPr id="160" name="Content Placeholder 5"/>
          <p:cNvSpPr txBox="1"/>
          <p:nvPr/>
        </p:nvSpPr>
        <p:spPr>
          <a:xfrm>
            <a:off x="161605" y="1930400"/>
            <a:ext cx="5367975" cy="44823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514350" indent="-514350">
              <a:lnSpc>
                <a:spcPct val="90000"/>
              </a:lnSpc>
              <a:spcBef>
                <a:spcPts val="1000"/>
              </a:spcBef>
              <a:buSzPct val="100000"/>
              <a:buAutoNum type="arabicPeriod"/>
              <a:defRPr sz="2400">
                <a:latin typeface="Arial"/>
                <a:ea typeface="Arial"/>
                <a:cs typeface="Arial"/>
                <a:sym typeface="Arial"/>
              </a:defRPr>
            </a:pPr>
            <a:r>
              <a:rPr dirty="0"/>
              <a:t>Patients aged 25-60 years.</a:t>
            </a:r>
            <a:endParaRPr sz="2800" dirty="0"/>
          </a:p>
          <a:p>
            <a:pPr marL="514350" indent="-514350">
              <a:lnSpc>
                <a:spcPct val="90000"/>
              </a:lnSpc>
              <a:spcBef>
                <a:spcPts val="1000"/>
              </a:spcBef>
              <a:buSzPct val="100000"/>
              <a:buAutoNum type="arabicPeriod"/>
              <a:defRPr sz="2400">
                <a:latin typeface="Arial"/>
                <a:ea typeface="Arial"/>
                <a:cs typeface="Arial"/>
                <a:sym typeface="Arial"/>
              </a:defRPr>
            </a:pPr>
            <a:r>
              <a:rPr dirty="0"/>
              <a:t>Individuals with lumbar spondylolisthesis SDSG grade 2</a:t>
            </a:r>
            <a:r>
              <a:rPr lang="en-US" dirty="0"/>
              <a:t>-5</a:t>
            </a:r>
            <a:r>
              <a:rPr dirty="0"/>
              <a:t> confirmed via X-ray.</a:t>
            </a:r>
            <a:endParaRPr sz="2800" dirty="0"/>
          </a:p>
          <a:p>
            <a:pPr marL="514350" indent="-514350">
              <a:lnSpc>
                <a:spcPct val="90000"/>
              </a:lnSpc>
              <a:spcBef>
                <a:spcPts val="1000"/>
              </a:spcBef>
              <a:buSzPct val="100000"/>
              <a:buAutoNum type="arabicPeriod"/>
              <a:defRPr sz="2400">
                <a:latin typeface="Arial"/>
                <a:ea typeface="Arial"/>
                <a:cs typeface="Arial"/>
                <a:sym typeface="Arial"/>
              </a:defRPr>
            </a:pPr>
            <a:r>
              <a:rPr dirty="0"/>
              <a:t>Individuals with spondylolisthesis </a:t>
            </a:r>
            <a:r>
              <a:rPr dirty="0" err="1"/>
              <a:t>Meyerding</a:t>
            </a:r>
            <a:r>
              <a:rPr dirty="0"/>
              <a:t> grade 2 &amp; 3.</a:t>
            </a:r>
            <a:endParaRPr sz="2800" dirty="0"/>
          </a:p>
          <a:p>
            <a:pPr marL="514350" indent="-514350">
              <a:lnSpc>
                <a:spcPct val="90000"/>
              </a:lnSpc>
              <a:spcBef>
                <a:spcPts val="1000"/>
              </a:spcBef>
              <a:buSzPct val="100000"/>
              <a:buAutoNum type="arabicPeriod"/>
              <a:defRPr sz="2400">
                <a:latin typeface="Arial"/>
                <a:ea typeface="Arial"/>
                <a:cs typeface="Arial"/>
                <a:sym typeface="Arial"/>
              </a:defRPr>
            </a:pPr>
            <a:r>
              <a:rPr dirty="0"/>
              <a:t>Patients scheduled for surgical intervention.</a:t>
            </a:r>
          </a:p>
        </p:txBody>
      </p:sp>
      <p:sp>
        <p:nvSpPr>
          <p:cNvPr id="161" name="Text Placeholder 6"/>
          <p:cNvSpPr>
            <a:spLocks noGrp="1"/>
          </p:cNvSpPr>
          <p:nvPr>
            <p:ph type="body" idx="21"/>
          </p:nvPr>
        </p:nvSpPr>
        <p:spPr>
          <a:xfrm>
            <a:off x="5702300" y="1385094"/>
            <a:ext cx="6196016" cy="54530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0" indent="0" algn="ctr">
              <a:buSzTx/>
              <a:buFontTx/>
              <a:buNone/>
              <a:defRPr b="1">
                <a:latin typeface="Arial"/>
                <a:ea typeface="Arial"/>
                <a:cs typeface="Arial"/>
                <a:sym typeface="Arial"/>
              </a:defRPr>
            </a:lvl1pPr>
          </a:lstStyle>
          <a:p>
            <a:r>
              <a:t>EXCLUSION CRITERIA</a:t>
            </a:r>
          </a:p>
        </p:txBody>
      </p:sp>
      <p:sp>
        <p:nvSpPr>
          <p:cNvPr id="162" name="Content Placeholder 7"/>
          <p:cNvSpPr txBox="1"/>
          <p:nvPr/>
        </p:nvSpPr>
        <p:spPr>
          <a:xfrm>
            <a:off x="5748020" y="1930400"/>
            <a:ext cx="6282376" cy="4648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pPr marL="509206" indent="-509206" defTabSz="905255">
              <a:lnSpc>
                <a:spcPct val="90000"/>
              </a:lnSpc>
              <a:spcBef>
                <a:spcPts val="900"/>
              </a:spcBef>
              <a:buSzPct val="100000"/>
              <a:buAutoNum type="arabicPeriod"/>
              <a:defRPr sz="2376">
                <a:latin typeface="Arial"/>
                <a:ea typeface="Arial"/>
                <a:cs typeface="Arial"/>
                <a:sym typeface="Arial"/>
              </a:defRPr>
            </a:pPr>
            <a:r>
              <a:t>Subjects with spinal deformities or trauma.</a:t>
            </a:r>
            <a:endParaRPr sz="2772"/>
          </a:p>
          <a:p>
            <a:pPr marL="509206" indent="-509206" defTabSz="905255">
              <a:lnSpc>
                <a:spcPct val="90000"/>
              </a:lnSpc>
              <a:spcBef>
                <a:spcPts val="900"/>
              </a:spcBef>
              <a:buSzPct val="100000"/>
              <a:buAutoNum type="arabicPeriod"/>
              <a:defRPr sz="2376">
                <a:latin typeface="Arial"/>
                <a:ea typeface="Arial"/>
                <a:cs typeface="Arial"/>
                <a:sym typeface="Arial"/>
              </a:defRPr>
            </a:pPr>
            <a:r>
              <a:t>Patients with high grade spondylolisthesis SDSG type 6</a:t>
            </a:r>
            <a:endParaRPr sz="2772"/>
          </a:p>
          <a:p>
            <a:pPr marL="509206" indent="-509206" defTabSz="905255">
              <a:lnSpc>
                <a:spcPct val="90000"/>
              </a:lnSpc>
              <a:spcBef>
                <a:spcPts val="900"/>
              </a:spcBef>
              <a:buSzPct val="100000"/>
              <a:buAutoNum type="arabicPeriod"/>
              <a:defRPr sz="2376">
                <a:latin typeface="Arial"/>
                <a:ea typeface="Arial"/>
                <a:cs typeface="Arial"/>
                <a:sym typeface="Arial"/>
              </a:defRPr>
            </a:pPr>
            <a:r>
              <a:t>Patients with high grade spondylolisthesis Meyerding grade 4 &amp; 5.</a:t>
            </a:r>
            <a:endParaRPr sz="2772"/>
          </a:p>
          <a:p>
            <a:pPr marL="509206" indent="-509206" defTabSz="905255">
              <a:lnSpc>
                <a:spcPct val="90000"/>
              </a:lnSpc>
              <a:spcBef>
                <a:spcPts val="900"/>
              </a:spcBef>
              <a:buSzPct val="100000"/>
              <a:buAutoNum type="arabicPeriod"/>
              <a:defRPr sz="2376">
                <a:latin typeface="Arial"/>
                <a:ea typeface="Arial"/>
                <a:cs typeface="Arial"/>
                <a:sym typeface="Arial"/>
              </a:defRPr>
            </a:pPr>
            <a:r>
              <a:t>Pregnant individuals.</a:t>
            </a:r>
            <a:endParaRPr sz="2772"/>
          </a:p>
          <a:p>
            <a:pPr marL="509206" indent="-509206" defTabSz="905255">
              <a:lnSpc>
                <a:spcPct val="90000"/>
              </a:lnSpc>
              <a:spcBef>
                <a:spcPts val="900"/>
              </a:spcBef>
              <a:buSzPct val="100000"/>
              <a:buAutoNum type="arabicPeriod"/>
              <a:defRPr sz="2376">
                <a:latin typeface="Arial"/>
                <a:ea typeface="Arial"/>
                <a:cs typeface="Arial"/>
                <a:sym typeface="Arial"/>
              </a:defRPr>
            </a:pPr>
            <a:r>
              <a:t>Subjects with scoliotic deviations.</a:t>
            </a:r>
            <a:endParaRPr sz="2772"/>
          </a:p>
          <a:p>
            <a:pPr marL="509206" indent="-509206" defTabSz="905255">
              <a:lnSpc>
                <a:spcPct val="90000"/>
              </a:lnSpc>
              <a:spcBef>
                <a:spcPts val="900"/>
              </a:spcBef>
              <a:buSzPct val="100000"/>
              <a:buAutoNum type="arabicPeriod"/>
              <a:defRPr sz="2376">
                <a:latin typeface="Arial"/>
                <a:ea typeface="Arial"/>
                <a:cs typeface="Arial"/>
                <a:sym typeface="Arial"/>
              </a:defRPr>
            </a:pPr>
            <a:r>
              <a:t>Subjects with congenital anomalies or post-polio residual paralysis.</a:t>
            </a:r>
            <a:endParaRPr sz="2772"/>
          </a:p>
          <a:p>
            <a:pPr marL="509206" indent="-509206" defTabSz="905255">
              <a:lnSpc>
                <a:spcPct val="90000"/>
              </a:lnSpc>
              <a:spcBef>
                <a:spcPts val="900"/>
              </a:spcBef>
              <a:buSzPct val="100000"/>
              <a:buAutoNum type="arabicPeriod"/>
              <a:defRPr sz="2376">
                <a:latin typeface="Arial"/>
                <a:ea typeface="Arial"/>
                <a:cs typeface="Arial"/>
                <a:sym typeface="Arial"/>
              </a:defRPr>
            </a:pPr>
            <a:r>
              <a:t>Patients undergoing conservative treatment.</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itle 1"/>
          <p:cNvSpPr txBox="1">
            <a:spLocks noGrp="1"/>
          </p:cNvSpPr>
          <p:nvPr>
            <p:ph type="title"/>
          </p:nvPr>
        </p:nvSpPr>
        <p:spPr>
          <a:xfrm>
            <a:off x="95165" y="1332799"/>
            <a:ext cx="12001670" cy="532096"/>
          </a:xfrm>
          <a:prstGeom prst="rect">
            <a:avLst/>
          </a:prstGeom>
        </p:spPr>
        <p:txBody>
          <a:bodyPr>
            <a:normAutofit/>
          </a:bodyPr>
          <a:lstStyle>
            <a:lvl1pPr defTabSz="768095">
              <a:defRPr sz="2351" b="1">
                <a:latin typeface="Arial"/>
                <a:ea typeface="Arial"/>
                <a:cs typeface="Arial"/>
                <a:sym typeface="Arial"/>
              </a:defRPr>
            </a:lvl1pPr>
          </a:lstStyle>
          <a:p>
            <a:r>
              <a:rPr sz="3200" dirty="0"/>
              <a:t>Statistical analysis:</a:t>
            </a:r>
          </a:p>
        </p:txBody>
      </p:sp>
      <p:sp>
        <p:nvSpPr>
          <p:cNvPr id="165" name="Content Placeholder 2"/>
          <p:cNvSpPr txBox="1">
            <a:spLocks noGrp="1"/>
          </p:cNvSpPr>
          <p:nvPr>
            <p:ph type="body" idx="1"/>
          </p:nvPr>
        </p:nvSpPr>
        <p:spPr>
          <a:xfrm>
            <a:off x="95165" y="1864895"/>
            <a:ext cx="11544301" cy="4190444"/>
          </a:xfrm>
          <a:prstGeom prst="rect">
            <a:avLst/>
          </a:prstGeom>
        </p:spPr>
        <p:txBody>
          <a:bodyPr/>
          <a:lstStyle/>
          <a:p>
            <a:pPr>
              <a:defRPr sz="2400">
                <a:latin typeface="Arial"/>
                <a:ea typeface="Arial"/>
                <a:cs typeface="Arial"/>
                <a:sym typeface="Arial"/>
              </a:defRPr>
            </a:pPr>
            <a:r>
              <a:rPr dirty="0"/>
              <a:t>The normality of the data was assessed using the Kolmogorov–Smirnov test. </a:t>
            </a:r>
          </a:p>
          <a:p>
            <a:pPr>
              <a:defRPr sz="2400">
                <a:latin typeface="Arial"/>
                <a:ea typeface="Arial"/>
                <a:cs typeface="Arial"/>
                <a:sym typeface="Arial"/>
              </a:defRPr>
            </a:pPr>
            <a:r>
              <a:rPr dirty="0"/>
              <a:t>Quantitative variables were compared using paired t-tests for normally distributed data, while the Wilcoxon test was employed for nonnormally distributed data. </a:t>
            </a:r>
          </a:p>
          <a:p>
            <a:pPr>
              <a:defRPr sz="2400">
                <a:latin typeface="Arial"/>
                <a:ea typeface="Arial"/>
                <a:cs typeface="Arial"/>
                <a:sym typeface="Arial"/>
              </a:defRPr>
            </a:pPr>
            <a:r>
              <a:rPr dirty="0"/>
              <a:t>A P-value of &lt; 0.05 was considered statistically significant.</a:t>
            </a:r>
          </a:p>
          <a:p>
            <a:pPr>
              <a:defRPr sz="2400">
                <a:latin typeface="Arial"/>
                <a:ea typeface="Arial"/>
                <a:cs typeface="Arial"/>
                <a:sym typeface="Arial"/>
              </a:defRPr>
            </a:pPr>
            <a:r>
              <a:rPr dirty="0"/>
              <a:t>Data entry and analysis were conducted using Microsoft Excel and Statistical Package for the Social Sciences software version 21.0.</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itle 1"/>
          <p:cNvSpPr txBox="1">
            <a:spLocks noGrp="1"/>
          </p:cNvSpPr>
          <p:nvPr>
            <p:ph type="title"/>
          </p:nvPr>
        </p:nvSpPr>
        <p:spPr>
          <a:xfrm>
            <a:off x="8372102" y="1293525"/>
            <a:ext cx="3819897" cy="1105291"/>
          </a:xfrm>
          <a:prstGeom prst="rect">
            <a:avLst/>
          </a:prstGeom>
        </p:spPr>
        <p:txBody>
          <a:bodyPr>
            <a:normAutofit/>
          </a:bodyPr>
          <a:lstStyle>
            <a:lvl1pPr algn="ctr">
              <a:defRPr sz="2800" b="1" cap="all">
                <a:latin typeface="Arial"/>
                <a:ea typeface="Arial"/>
                <a:cs typeface="Arial"/>
                <a:sym typeface="Arial"/>
              </a:defRPr>
            </a:lvl1pPr>
          </a:lstStyle>
          <a:p>
            <a:r>
              <a:rPr sz="3200" dirty="0"/>
              <a:t>SPINOPELVIC PARAMETERS</a:t>
            </a:r>
          </a:p>
        </p:txBody>
      </p:sp>
      <p:pic>
        <p:nvPicPr>
          <p:cNvPr id="168" name="Content Placeholder 3"/>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293525"/>
            <a:ext cx="4103827" cy="5564475"/>
          </a:xfrm>
          <a:prstGeom prst="rect">
            <a:avLst/>
          </a:prstGeom>
          <a:ln w="12700">
            <a:miter lim="400000"/>
          </a:ln>
        </p:spPr>
      </p:pic>
      <p:sp>
        <p:nvSpPr>
          <p:cNvPr id="169" name="TextBox 4"/>
          <p:cNvSpPr txBox="1"/>
          <p:nvPr/>
        </p:nvSpPr>
        <p:spPr>
          <a:xfrm>
            <a:off x="8675827" y="2756572"/>
            <a:ext cx="3355658" cy="20394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107000"/>
              </a:lnSpc>
              <a:spcBef>
                <a:spcPts val="800"/>
              </a:spcBef>
              <a:tabLst>
                <a:tab pos="1397000" algn="l"/>
              </a:tabLst>
              <a:defRPr sz="2400" b="1">
                <a:latin typeface="Arial"/>
                <a:ea typeface="Arial"/>
                <a:cs typeface="Arial"/>
                <a:sym typeface="Arial"/>
              </a:defRPr>
            </a:lvl1pPr>
          </a:lstStyle>
          <a:p>
            <a:r>
              <a:rPr dirty="0"/>
              <a:t>Picture : Pre- and Post-operative assessment of PT, SS</a:t>
            </a:r>
            <a:r>
              <a:rPr lang="en-US" dirty="0"/>
              <a:t>,LL,</a:t>
            </a:r>
            <a:r>
              <a:rPr dirty="0"/>
              <a:t>PI</a:t>
            </a:r>
            <a:r>
              <a:rPr lang="en-US" dirty="0"/>
              <a:t> and SVA</a:t>
            </a:r>
            <a:r>
              <a:rPr dirty="0"/>
              <a:t> of</a:t>
            </a:r>
            <a:r>
              <a:rPr lang="en-US" dirty="0"/>
              <a:t> a</a:t>
            </a:r>
            <a:r>
              <a:rPr dirty="0"/>
              <a:t> Case.</a:t>
            </a:r>
          </a:p>
        </p:txBody>
      </p:sp>
      <p:pic>
        <p:nvPicPr>
          <p:cNvPr id="2" name="Picture 1">
            <a:extLst>
              <a:ext uri="{FF2B5EF4-FFF2-40B4-BE49-F238E27FC236}">
                <a16:creationId xmlns:a16="http://schemas.microsoft.com/office/drawing/2014/main" id="{9077AA43-A57A-597B-B2C6-6C7633CC3A3C}"/>
              </a:ext>
            </a:extLst>
          </p:cNvPr>
          <p:cNvPicPr>
            <a:picLocks noChangeAspect="1"/>
          </p:cNvPicPr>
          <p:nvPr/>
        </p:nvPicPr>
        <p:blipFill>
          <a:blip r:embed="rId3"/>
          <a:stretch>
            <a:fillRect/>
          </a:stretch>
        </p:blipFill>
        <p:spPr>
          <a:xfrm>
            <a:off x="4103828" y="1293525"/>
            <a:ext cx="4572000" cy="5564475"/>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itle 1"/>
          <p:cNvSpPr txBox="1">
            <a:spLocks noGrp="1"/>
          </p:cNvSpPr>
          <p:nvPr>
            <p:ph type="title"/>
          </p:nvPr>
        </p:nvSpPr>
        <p:spPr>
          <a:xfrm>
            <a:off x="177799" y="1348798"/>
            <a:ext cx="11916230" cy="563130"/>
          </a:xfrm>
          <a:prstGeom prst="rect">
            <a:avLst/>
          </a:prstGeom>
        </p:spPr>
        <p:txBody>
          <a:bodyPr>
            <a:normAutofit/>
          </a:bodyPr>
          <a:lstStyle>
            <a:lvl1pPr algn="ctr" defTabSz="768095">
              <a:defRPr sz="3359" cap="all">
                <a:latin typeface="Arial"/>
                <a:ea typeface="Arial"/>
                <a:cs typeface="Arial"/>
                <a:sym typeface="Arial"/>
              </a:defRPr>
            </a:lvl1pPr>
          </a:lstStyle>
          <a:p>
            <a:r>
              <a:rPr sz="3200" b="1" dirty="0"/>
              <a:t>RESULTS</a:t>
            </a:r>
          </a:p>
        </p:txBody>
      </p:sp>
      <p:sp>
        <p:nvSpPr>
          <p:cNvPr id="180" name="Content Placeholder 2"/>
          <p:cNvSpPr txBox="1">
            <a:spLocks noGrp="1"/>
          </p:cNvSpPr>
          <p:nvPr>
            <p:ph type="body" idx="1"/>
          </p:nvPr>
        </p:nvSpPr>
        <p:spPr>
          <a:xfrm>
            <a:off x="97971" y="1817585"/>
            <a:ext cx="11760200" cy="4946073"/>
          </a:xfrm>
          <a:prstGeom prst="rect">
            <a:avLst/>
          </a:prstGeom>
        </p:spPr>
        <p:txBody>
          <a:bodyPr/>
          <a:lstStyle/>
          <a:p>
            <a:pPr>
              <a:defRPr sz="2400">
                <a:latin typeface="Arial"/>
                <a:ea typeface="Arial"/>
                <a:cs typeface="Arial"/>
                <a:sym typeface="Arial"/>
              </a:defRPr>
            </a:pPr>
            <a:r>
              <a:rPr dirty="0"/>
              <a:t>30 study participants, 9 male &amp; 21 female.</a:t>
            </a:r>
          </a:p>
          <a:p>
            <a:pPr>
              <a:defRPr sz="2400">
                <a:latin typeface="Arial"/>
                <a:ea typeface="Arial"/>
                <a:cs typeface="Arial"/>
                <a:sym typeface="Arial"/>
              </a:defRPr>
            </a:pPr>
            <a:r>
              <a:rPr dirty="0"/>
              <a:t>Mean age – 44.10 ± 9.20 years.</a:t>
            </a:r>
          </a:p>
          <a:p>
            <a:pPr>
              <a:defRPr sz="2400">
                <a:latin typeface="Arial"/>
                <a:ea typeface="Arial"/>
                <a:cs typeface="Arial"/>
                <a:sym typeface="Arial"/>
              </a:defRPr>
            </a:pPr>
            <a:r>
              <a:rPr dirty="0"/>
              <a:t>PI showed a minimal reduction following surgery &amp; this change is not statistically significant (p=0.28).</a:t>
            </a:r>
          </a:p>
          <a:p>
            <a:pPr>
              <a:defRPr sz="2400">
                <a:latin typeface="Arial"/>
                <a:ea typeface="Arial"/>
                <a:cs typeface="Arial"/>
                <a:sym typeface="Arial"/>
              </a:defRPr>
            </a:pPr>
            <a:r>
              <a:rPr dirty="0"/>
              <a:t>PT has significant reduction (p&lt;0.001), </a:t>
            </a:r>
          </a:p>
          <a:p>
            <a:pPr>
              <a:defRPr sz="2400">
                <a:latin typeface="Arial"/>
                <a:ea typeface="Arial"/>
                <a:cs typeface="Arial"/>
                <a:sym typeface="Arial"/>
              </a:defRPr>
            </a:pPr>
            <a:r>
              <a:rPr dirty="0"/>
              <a:t>SS &amp; LL has significant increase of p&lt;0.01 &amp; p&lt;0.001 respectively post surgery. </a:t>
            </a:r>
          </a:p>
          <a:p>
            <a:pPr>
              <a:defRPr sz="2400">
                <a:latin typeface="Arial"/>
                <a:ea typeface="Arial"/>
                <a:cs typeface="Arial"/>
                <a:sym typeface="Arial"/>
              </a:defRPr>
            </a:pPr>
            <a:r>
              <a:rPr dirty="0"/>
              <a:t>PI showed a minimal mean change of 1.30 ± 6.50, with a median change of zero, indicating relative stability. </a:t>
            </a:r>
          </a:p>
          <a:p>
            <a:pPr>
              <a:defRPr sz="2400">
                <a:latin typeface="Arial"/>
                <a:ea typeface="Arial"/>
                <a:cs typeface="Arial"/>
                <a:sym typeface="Arial"/>
              </a:defRPr>
            </a:pPr>
            <a:r>
              <a:rPr dirty="0"/>
              <a:t>PT demonstrated a mean reduction of 4.60 ± 5.20, with a median change of 4.0. SS showed a mean increase of 3.40 ± 5.60, with a median change of 4.0.</a:t>
            </a:r>
          </a:p>
          <a:p>
            <a:pPr>
              <a:defRPr sz="2400">
                <a:latin typeface="Arial"/>
                <a:ea typeface="Arial"/>
                <a:cs typeface="Arial"/>
                <a:sym typeface="Arial"/>
              </a:defRPr>
            </a:pPr>
            <a:r>
              <a:rPr dirty="0"/>
              <a:t>LL improved with a mean change of 4.80 ± 5.70 and a median change of 4.0, reflecting measurable post-operative alteration in spinal alignment parameters.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itle 1"/>
          <p:cNvSpPr txBox="1">
            <a:spLocks noGrp="1"/>
          </p:cNvSpPr>
          <p:nvPr>
            <p:ph type="title"/>
          </p:nvPr>
        </p:nvSpPr>
        <p:spPr>
          <a:xfrm>
            <a:off x="0" y="1319729"/>
            <a:ext cx="12096997" cy="583085"/>
          </a:xfrm>
          <a:prstGeom prst="rect">
            <a:avLst/>
          </a:prstGeom>
        </p:spPr>
        <p:txBody>
          <a:bodyPr>
            <a:normAutofit/>
          </a:bodyPr>
          <a:lstStyle>
            <a:lvl1pPr algn="ctr">
              <a:defRPr sz="4000" cap="all">
                <a:latin typeface="Arial"/>
                <a:ea typeface="Arial"/>
                <a:cs typeface="Arial"/>
                <a:sym typeface="Arial"/>
              </a:defRPr>
            </a:lvl1pPr>
          </a:lstStyle>
          <a:p>
            <a:r>
              <a:rPr sz="3200" b="1" dirty="0"/>
              <a:t>CONCLUSION</a:t>
            </a:r>
          </a:p>
        </p:txBody>
      </p:sp>
      <p:sp>
        <p:nvSpPr>
          <p:cNvPr id="183" name="Content Placeholder 2"/>
          <p:cNvSpPr txBox="1">
            <a:spLocks noGrp="1"/>
          </p:cNvSpPr>
          <p:nvPr>
            <p:ph type="body" idx="1"/>
          </p:nvPr>
        </p:nvSpPr>
        <p:spPr>
          <a:xfrm>
            <a:off x="-2" y="1902815"/>
            <a:ext cx="12096999" cy="3776089"/>
          </a:xfrm>
          <a:prstGeom prst="rect">
            <a:avLst/>
          </a:prstGeom>
        </p:spPr>
        <p:txBody>
          <a:bodyPr/>
          <a:lstStyle/>
          <a:p>
            <a:pPr>
              <a:defRPr sz="2400">
                <a:latin typeface="Arial"/>
                <a:ea typeface="Arial"/>
                <a:cs typeface="Arial"/>
                <a:sym typeface="Arial"/>
              </a:defRPr>
            </a:pPr>
            <a:r>
              <a:rPr dirty="0"/>
              <a:t>Surgical instrumentation, reduction, and fusion for lumbosacral spondylolisthesis (</a:t>
            </a:r>
            <a:r>
              <a:rPr lang="en-US" dirty="0"/>
              <a:t>SDSG </a:t>
            </a:r>
            <a:r>
              <a:rPr dirty="0"/>
              <a:t>Grades 2-5) are highly effective in reversing sagittal malalignment. </a:t>
            </a:r>
            <a:endParaRPr lang="en-US" dirty="0"/>
          </a:p>
          <a:p>
            <a:pPr>
              <a:defRPr sz="2400">
                <a:latin typeface="Arial"/>
                <a:ea typeface="Arial"/>
                <a:cs typeface="Arial"/>
                <a:sym typeface="Arial"/>
              </a:defRPr>
            </a:pPr>
            <a:endParaRPr dirty="0"/>
          </a:p>
          <a:p>
            <a:pPr>
              <a:defRPr sz="2400">
                <a:latin typeface="Arial"/>
                <a:ea typeface="Arial"/>
                <a:cs typeface="Arial"/>
                <a:sym typeface="Arial"/>
              </a:defRPr>
            </a:pPr>
            <a:r>
              <a:rPr dirty="0"/>
              <a:t>Profound statistical improvement in LL and a significant normalization of PT, effectively unloading compensatory pelvic mechanisms.</a:t>
            </a:r>
            <a:endParaRPr lang="en-US" dirty="0"/>
          </a:p>
          <a:p>
            <a:pPr>
              <a:defRPr sz="2400">
                <a:latin typeface="Arial"/>
                <a:ea typeface="Arial"/>
                <a:cs typeface="Arial"/>
                <a:sym typeface="Arial"/>
              </a:defRPr>
            </a:pPr>
            <a:endParaRPr dirty="0"/>
          </a:p>
          <a:p>
            <a:pPr>
              <a:defRPr sz="2400">
                <a:latin typeface="Arial"/>
                <a:ea typeface="Arial"/>
                <a:cs typeface="Arial"/>
                <a:sym typeface="Arial"/>
              </a:defRPr>
            </a:pPr>
            <a:r>
              <a:rPr dirty="0"/>
              <a:t>Most notably, the achievement of a physiologic PI-LL mismatch (reduced to 8.00 ± 11.97 p &lt; 0.05) across all grades including </a:t>
            </a:r>
            <a:r>
              <a:rPr lang="en-US" dirty="0"/>
              <a:t>SDSG Grade 4 &amp; 5</a:t>
            </a:r>
            <a:r>
              <a:rPr dirty="0"/>
              <a:t> validates that anatomical reduction is both achievable and superior for restoring global harmony. </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itle 1"/>
          <p:cNvSpPr txBox="1">
            <a:spLocks noGrp="1"/>
          </p:cNvSpPr>
          <p:nvPr>
            <p:ph type="title"/>
          </p:nvPr>
        </p:nvSpPr>
        <p:spPr>
          <a:xfrm>
            <a:off x="-1" y="1247158"/>
            <a:ext cx="4826001" cy="530842"/>
          </a:xfrm>
          <a:prstGeom prst="rect">
            <a:avLst/>
          </a:prstGeom>
        </p:spPr>
        <p:txBody>
          <a:bodyPr>
            <a:normAutofit/>
          </a:bodyPr>
          <a:lstStyle>
            <a:lvl1pPr algn="ctr">
              <a:defRPr sz="4000" cap="all">
                <a:latin typeface="Arial"/>
                <a:ea typeface="Arial"/>
                <a:cs typeface="Arial"/>
                <a:sym typeface="Arial"/>
              </a:defRPr>
            </a:lvl1pPr>
          </a:lstStyle>
          <a:p>
            <a:r>
              <a:rPr sz="3200" b="1" dirty="0"/>
              <a:t>Take home message </a:t>
            </a:r>
          </a:p>
        </p:txBody>
      </p:sp>
      <p:sp>
        <p:nvSpPr>
          <p:cNvPr id="186" name="Content Placeholder 2"/>
          <p:cNvSpPr txBox="1">
            <a:spLocks noGrp="1"/>
          </p:cNvSpPr>
          <p:nvPr>
            <p:ph type="body" idx="1"/>
          </p:nvPr>
        </p:nvSpPr>
        <p:spPr>
          <a:xfrm>
            <a:off x="-2" y="1902815"/>
            <a:ext cx="12096999" cy="4957949"/>
          </a:xfrm>
          <a:prstGeom prst="rect">
            <a:avLst/>
          </a:prstGeom>
        </p:spPr>
        <p:txBody>
          <a:bodyPr/>
          <a:lstStyle/>
          <a:p>
            <a:pPr>
              <a:defRPr sz="2400">
                <a:latin typeface="Arial"/>
                <a:ea typeface="Arial"/>
                <a:cs typeface="Arial"/>
                <a:sym typeface="Arial"/>
              </a:defRPr>
            </a:pPr>
            <a:endParaRPr dirty="0"/>
          </a:p>
          <a:p>
            <a:pPr>
              <a:defRPr sz="2400">
                <a:latin typeface="Arial"/>
                <a:ea typeface="Arial"/>
                <a:cs typeface="Arial"/>
                <a:sym typeface="Arial"/>
              </a:defRPr>
            </a:pPr>
            <a:r>
              <a:rPr dirty="0"/>
              <a:t>These results argue strongly against the 'fusion-in-situ' approach, asserting instead that active restoration of spinopelvic parameters is essential to optimize the biomechanical longevity of the spine and improve patient-reported outcomes. </a:t>
            </a:r>
            <a:endParaRPr lang="en-US" dirty="0"/>
          </a:p>
          <a:p>
            <a:pPr>
              <a:defRPr sz="2400">
                <a:latin typeface="Arial"/>
                <a:ea typeface="Arial"/>
                <a:cs typeface="Arial"/>
                <a:sym typeface="Arial"/>
              </a:defRPr>
            </a:pPr>
            <a:endParaRPr dirty="0"/>
          </a:p>
          <a:p>
            <a:pPr>
              <a:defRPr sz="2400">
                <a:latin typeface="Arial"/>
                <a:ea typeface="Arial"/>
                <a:cs typeface="Arial"/>
                <a:sym typeface="Arial"/>
              </a:defRPr>
            </a:pPr>
            <a:r>
              <a:rPr dirty="0"/>
              <a:t>We advocate for the mandatory integration of spinopelvic parameter analysis into the preoperative planning for all patients undergoing lumbosacral stabilization.</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itle 1"/>
          <p:cNvSpPr txBox="1">
            <a:spLocks noGrp="1"/>
          </p:cNvSpPr>
          <p:nvPr>
            <p:ph type="title"/>
          </p:nvPr>
        </p:nvSpPr>
        <p:spPr>
          <a:xfrm>
            <a:off x="254000" y="1381125"/>
            <a:ext cx="11747500" cy="563789"/>
          </a:xfrm>
          <a:prstGeom prst="rect">
            <a:avLst/>
          </a:prstGeom>
        </p:spPr>
        <p:txBody>
          <a:bodyPr>
            <a:normAutofit/>
          </a:bodyPr>
          <a:lstStyle>
            <a:lvl1pPr algn="ctr">
              <a:defRPr sz="4000" cap="all">
                <a:latin typeface="Arial"/>
                <a:ea typeface="Arial"/>
                <a:cs typeface="Arial"/>
                <a:sym typeface="Arial"/>
              </a:defRPr>
            </a:lvl1pPr>
          </a:lstStyle>
          <a:p>
            <a:r>
              <a:rPr sz="3200" b="1" dirty="0"/>
              <a:t>REFERENCES</a:t>
            </a:r>
          </a:p>
        </p:txBody>
      </p:sp>
      <p:sp>
        <p:nvSpPr>
          <p:cNvPr id="189" name="Content Placeholder 2"/>
          <p:cNvSpPr txBox="1">
            <a:spLocks noGrp="1"/>
          </p:cNvSpPr>
          <p:nvPr>
            <p:ph type="body" idx="1"/>
          </p:nvPr>
        </p:nvSpPr>
        <p:spPr>
          <a:xfrm>
            <a:off x="254000" y="2030682"/>
            <a:ext cx="11747500" cy="4692382"/>
          </a:xfrm>
          <a:prstGeom prst="rect">
            <a:avLst/>
          </a:prstGeom>
        </p:spPr>
        <p:txBody>
          <a:bodyPr/>
          <a:lstStyle/>
          <a:p>
            <a:pPr marL="457200" indent="-457200" algn="just">
              <a:lnSpc>
                <a:spcPct val="100000"/>
              </a:lnSpc>
              <a:buSzPts val="2400"/>
              <a:buFontTx/>
              <a:buAutoNum type="arabicPeriod"/>
              <a:defRPr sz="2400">
                <a:solidFill>
                  <a:srgbClr val="222222"/>
                </a:solidFill>
                <a:latin typeface="Arial"/>
                <a:ea typeface="Arial"/>
                <a:cs typeface="Arial"/>
                <a:sym typeface="Arial"/>
              </a:defRPr>
            </a:pPr>
            <a:r>
              <a:rPr dirty="0" err="1"/>
              <a:t>Roussouly</a:t>
            </a:r>
            <a:r>
              <a:rPr dirty="0"/>
              <a:t> P, Pinheiro-Franco JL. Biomechanical analysis of the </a:t>
            </a:r>
            <a:r>
              <a:rPr dirty="0" err="1"/>
              <a:t>spino</a:t>
            </a:r>
            <a:r>
              <a:rPr dirty="0"/>
              <a:t>-pelvic organization and adaptation in pathology. European Spine Journal. 2011 Sep;20(Suppl 5):609.</a:t>
            </a:r>
          </a:p>
          <a:p>
            <a:pPr marL="457200" indent="-457200" algn="just">
              <a:lnSpc>
                <a:spcPct val="100000"/>
              </a:lnSpc>
              <a:buSzPts val="2400"/>
              <a:buFontTx/>
              <a:buAutoNum type="arabicPeriod"/>
              <a:defRPr sz="2400">
                <a:solidFill>
                  <a:srgbClr val="222222"/>
                </a:solidFill>
                <a:latin typeface="Arial"/>
                <a:ea typeface="Arial"/>
                <a:cs typeface="Arial"/>
                <a:sym typeface="Arial"/>
              </a:defRPr>
            </a:pPr>
            <a:r>
              <a:rPr dirty="0"/>
              <a:t>During J, </a:t>
            </a:r>
            <a:r>
              <a:rPr dirty="0" err="1"/>
              <a:t>Goudfrooij</a:t>
            </a:r>
            <a:r>
              <a:rPr dirty="0"/>
              <a:t> H, </a:t>
            </a:r>
            <a:r>
              <a:rPr dirty="0" err="1"/>
              <a:t>Keessen</a:t>
            </a:r>
            <a:r>
              <a:rPr dirty="0"/>
              <a:t> W, Beeker TW, Crowe A. Toward standards for posture: postural characteristics of the lower back system in normal and pathologic conditions. Spine. 1985 Jan 1;10(1):83-7.</a:t>
            </a:r>
          </a:p>
          <a:p>
            <a:pPr marL="457200" indent="-457200" algn="just">
              <a:lnSpc>
                <a:spcPct val="100000"/>
              </a:lnSpc>
              <a:buSzPts val="2400"/>
              <a:buFontTx/>
              <a:buAutoNum type="arabicPeriod"/>
              <a:defRPr sz="2400">
                <a:solidFill>
                  <a:srgbClr val="222222"/>
                </a:solidFill>
                <a:latin typeface="Arial"/>
                <a:ea typeface="Arial"/>
                <a:cs typeface="Arial"/>
                <a:sym typeface="Arial"/>
              </a:defRPr>
            </a:pPr>
            <a:r>
              <a:rPr dirty="0"/>
              <a:t>Abdu WA, Sacks OA, </a:t>
            </a:r>
            <a:r>
              <a:rPr dirty="0" err="1"/>
              <a:t>Tosteson</a:t>
            </a:r>
            <a:r>
              <a:rPr dirty="0"/>
              <a:t> AN, Zhao W, </a:t>
            </a:r>
            <a:r>
              <a:rPr dirty="0" err="1"/>
              <a:t>Tosteson</a:t>
            </a:r>
            <a:r>
              <a:rPr dirty="0"/>
              <a:t> TD, Morgan TS, Pearson A, Weinstein JN, Lurie JD. Long-term results of surgery compared with nonoperative treatment for lumbar degenerative spondylolisthesis in the Spine Patient Outcomes Research Trial (SPORT).</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Content Placeholder 2"/>
          <p:cNvSpPr txBox="1">
            <a:spLocks noGrp="1"/>
          </p:cNvSpPr>
          <p:nvPr>
            <p:ph type="body" idx="1"/>
          </p:nvPr>
        </p:nvSpPr>
        <p:spPr>
          <a:xfrm>
            <a:off x="113805" y="1425038"/>
            <a:ext cx="11749646" cy="5308270"/>
          </a:xfrm>
          <a:prstGeom prst="rect">
            <a:avLst/>
          </a:prstGeom>
        </p:spPr>
        <p:txBody>
          <a:bodyPr/>
          <a:lstStyle/>
          <a:p>
            <a:pPr marL="457200" indent="-457200" algn="just">
              <a:lnSpc>
                <a:spcPct val="100000"/>
              </a:lnSpc>
              <a:buSzPts val="2400"/>
              <a:buFontTx/>
              <a:buAutoNum type="arabicPeriod" startAt="4"/>
              <a:defRPr sz="2400">
                <a:solidFill>
                  <a:srgbClr val="222222"/>
                </a:solidFill>
                <a:latin typeface="Arial"/>
                <a:ea typeface="Arial"/>
                <a:cs typeface="Arial"/>
                <a:sym typeface="Arial"/>
              </a:defRPr>
            </a:pPr>
            <a:r>
              <a:t>Diebo BG, Ferrero E, Lafage R, Challier V, Liabaud B, Liu S, Vital JM, Errico TJ, Schwab FJ, Lafage V. Recruitment of compensatory mechanisms in sagittal spinal malalignment is age and regional deformity dependent: a full-standing axis analysis of key radiographical parameters. Spine. 2015 May 1;40(9):642-9.</a:t>
            </a:r>
          </a:p>
          <a:p>
            <a:pPr marL="457200" indent="-457200" algn="just">
              <a:lnSpc>
                <a:spcPct val="100000"/>
              </a:lnSpc>
              <a:buSzPts val="2400"/>
              <a:buFontTx/>
              <a:buAutoNum type="arabicPeriod" startAt="4"/>
              <a:defRPr sz="2400">
                <a:solidFill>
                  <a:srgbClr val="222222"/>
                </a:solidFill>
                <a:latin typeface="Arial"/>
                <a:ea typeface="Arial"/>
                <a:cs typeface="Arial"/>
                <a:sym typeface="Arial"/>
              </a:defRPr>
            </a:pPr>
            <a:r>
              <a:t>Park SJ, Lee CS, Chung SS, Kang KC, Shin SK. Postoperative changes in pelvic parameters and sagittal balance in adult isthmic spondylolisthesis. Operative Neurosurgery. 2011 Jun 1;68:ons355-63.</a:t>
            </a:r>
          </a:p>
          <a:p>
            <a:pPr marL="457200" indent="-457200" algn="just">
              <a:lnSpc>
                <a:spcPct val="100000"/>
              </a:lnSpc>
              <a:buSzPts val="2400"/>
              <a:buFontTx/>
              <a:buAutoNum type="arabicPeriod" startAt="4"/>
              <a:defRPr sz="2400">
                <a:solidFill>
                  <a:srgbClr val="222222"/>
                </a:solidFill>
                <a:latin typeface="Arial"/>
                <a:ea typeface="Arial"/>
                <a:cs typeface="Arial"/>
                <a:sym typeface="Arial"/>
              </a:defRPr>
            </a:pPr>
            <a:r>
              <a:t>Mehta VA, Amin A, Omeis I, Gokaslan ZL, Gottfried ON. Implications of spinopelvic alignment for the spine surgeon. Neurosurgery. 2015 Mar 1;76(suppl_1):S42-56.</a:t>
            </a:r>
          </a:p>
          <a:p>
            <a:pPr marL="457200" indent="-457200" algn="just">
              <a:lnSpc>
                <a:spcPct val="100000"/>
              </a:lnSpc>
              <a:buSzPts val="2400"/>
              <a:buFontTx/>
              <a:buAutoNum type="arabicPeriod" startAt="4"/>
              <a:defRPr sz="2400">
                <a:solidFill>
                  <a:srgbClr val="222222"/>
                </a:solidFill>
                <a:latin typeface="Arial"/>
                <a:ea typeface="Arial"/>
                <a:cs typeface="Arial"/>
                <a:sym typeface="Arial"/>
              </a:defRPr>
            </a:pPr>
            <a:r>
              <a:t>Bydon M, Alvi MA, Goyal A. Degenerative lumbar spondylolisthesis: definition, natural history, conservative management, and surgical treatment. Neurosurgery Clinics. 2019 Jul 1;30(3):299-304.</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itle 3"/>
          <p:cNvSpPr txBox="1">
            <a:spLocks noGrp="1"/>
          </p:cNvSpPr>
          <p:nvPr>
            <p:ph type="title"/>
          </p:nvPr>
        </p:nvSpPr>
        <p:spPr>
          <a:xfrm>
            <a:off x="927100" y="3095625"/>
            <a:ext cx="10515600" cy="1325563"/>
          </a:xfrm>
          <a:prstGeom prst="rect">
            <a:avLst/>
          </a:prstGeom>
        </p:spPr>
        <p:txBody>
          <a:bodyPr/>
          <a:lstStyle>
            <a:lvl1pPr algn="ctr">
              <a:defRPr sz="6000" cap="all">
                <a:latin typeface="Posterama"/>
                <a:ea typeface="Posterama"/>
                <a:cs typeface="Posterama"/>
                <a:sym typeface="Posterama"/>
              </a:defRPr>
            </a:lvl1pPr>
          </a:lstStyle>
          <a:p>
            <a:r>
              <a:t>THANK you</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13</TotalTime>
  <Words>1208</Words>
  <Application>Microsoft Office PowerPoint</Application>
  <PresentationFormat>Widescreen</PresentationFormat>
  <Paragraphs>107</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Gordita </vt:lpstr>
      <vt:lpstr>Office Theme</vt:lpstr>
      <vt:lpstr>From Listhesis to balance  Surgical restoration of spinopelvic alignment in adult Lumbosacral Spondylolisthesis </vt:lpstr>
      <vt:lpstr>INTRODUCTION:</vt:lpstr>
      <vt:lpstr>SPINOPELVIC PARAMETERS:</vt:lpstr>
      <vt:lpstr>Patho mechanism of Spondylolisthesis :</vt:lpstr>
      <vt:lpstr>SDSG CLASSIFICATION </vt:lpstr>
      <vt:lpstr>Concept of Balanced vs Unbalanced Pelvis </vt:lpstr>
      <vt:lpstr>Principles of Spondylolisthesis Surgery :</vt:lpstr>
      <vt:lpstr>AIMS &amp; OBJECTIVES:</vt:lpstr>
      <vt:lpstr>PowerPoint Presentation</vt:lpstr>
      <vt:lpstr>Statistical analysis:</vt:lpstr>
      <vt:lpstr>SPINOPELVIC PARAMETERS</vt:lpstr>
      <vt:lpstr>RESULTS</vt:lpstr>
      <vt:lpstr>CONCLUSION</vt:lpstr>
      <vt:lpstr>Take home message </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Harshith Gajulapalli</dc:creator>
  <cp:lastModifiedBy>Harshith Gajulapalli</cp:lastModifiedBy>
  <cp:revision>2</cp:revision>
  <dcterms:modified xsi:type="dcterms:W3CDTF">2026-02-15T16:46:49Z</dcterms:modified>
</cp:coreProperties>
</file>