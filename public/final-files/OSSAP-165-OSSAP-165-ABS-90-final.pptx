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
  </p:notesMasterIdLst>
  <p:sldIdLst>
    <p:sldId id="256" r:id="rId2"/>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67" autoAdjust="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40B1A4-E4A3-4363-9D81-D9B231932F67}" type="datetimeFigureOut">
              <a:rPr lang="en-IN" smtClean="0"/>
              <a:t>25-01-2026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53FBB1-8A1E-4BCF-8C93-2C5886CD3D80}" type="slidenum">
              <a:rPr lang="en-IN" smtClean="0"/>
              <a:t>‹#›</a:t>
            </a:fld>
            <a:endParaRPr lang="en-IN"/>
          </a:p>
        </p:txBody>
      </p:sp>
    </p:spTree>
    <p:extLst>
      <p:ext uri="{BB962C8B-B14F-4D97-AF65-F5344CB8AC3E}">
        <p14:creationId xmlns:p14="http://schemas.microsoft.com/office/powerpoint/2010/main" val="529153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753FBB1-8A1E-4BCF-8C93-2C5886CD3D80}" type="slidenum">
              <a:rPr lang="en-IN" smtClean="0"/>
              <a:t>1</a:t>
            </a:fld>
            <a:endParaRPr lang="en-IN"/>
          </a:p>
        </p:txBody>
      </p:sp>
    </p:spTree>
    <p:extLst>
      <p:ext uri="{BB962C8B-B14F-4D97-AF65-F5344CB8AC3E}">
        <p14:creationId xmlns:p14="http://schemas.microsoft.com/office/powerpoint/2010/main" val="776209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28CF7-C54C-3253-7CB3-4CB60C4B9648}"/>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863E176-0152-1EB9-B130-312E601D10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9FFAE6B-127E-B337-0AD1-96BED4F091E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5" name="Footer Placeholder 4">
            <a:extLst>
              <a:ext uri="{FF2B5EF4-FFF2-40B4-BE49-F238E27FC236}">
                <a16:creationId xmlns:a16="http://schemas.microsoft.com/office/drawing/2014/main" id="{40D5E608-905C-2142-2365-F68EB7F95FE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DFF68622-57FF-B5F0-4011-D23C810B459F}"/>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44864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4781-A465-F143-A98C-94FD82413F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E1D11094-0A62-2805-2C56-EAB66E3F8FE2}"/>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5DF6B2-DE75-AA42-1BA3-56A152E3254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5" name="Footer Placeholder 4">
            <a:extLst>
              <a:ext uri="{FF2B5EF4-FFF2-40B4-BE49-F238E27FC236}">
                <a16:creationId xmlns:a16="http://schemas.microsoft.com/office/drawing/2014/main" id="{E1B95C1A-D479-0105-5ABD-2C9F2D4ED03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264AE42D-29E2-AB5A-9D0B-9821D21D8E26}"/>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557785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0A9C5-0C47-1DBF-A9F1-8826C36002C6}"/>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11B4216-49BB-98ED-9B94-654F199388F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747736-AC8A-3EB8-57D1-2A9C7AAC8FCF}"/>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5" name="Footer Placeholder 4">
            <a:extLst>
              <a:ext uri="{FF2B5EF4-FFF2-40B4-BE49-F238E27FC236}">
                <a16:creationId xmlns:a16="http://schemas.microsoft.com/office/drawing/2014/main" id="{86E5BB55-6273-FBEF-64A3-8CF306288B9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659087E-17BE-555C-DF0C-0F436152171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2799950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11663-53A1-9E1F-5617-88CF82EC9BD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C471D5E3-ECCA-B4D2-2633-7957691A3305}"/>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ECF5196-CC99-5011-B2D0-B4E6A682F565}"/>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A8BA26-119C-CCCD-E391-AEF50B6FD708}"/>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6" name="Footer Placeholder 5">
            <a:extLst>
              <a:ext uri="{FF2B5EF4-FFF2-40B4-BE49-F238E27FC236}">
                <a16:creationId xmlns:a16="http://schemas.microsoft.com/office/drawing/2014/main" id="{EBA14F4A-53BC-F382-885A-E89A766323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BC250453-2D7E-EDE2-4C30-876DA9F06F4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864239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1C1600-9375-445B-F52D-49C2D79AB77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890504FE-0E7A-7AAD-AA62-68B5061F0448}"/>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EC0743-5AE4-C8DB-E431-9BF89F98CB7D}"/>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F135F8-5672-C883-5700-82CCEB25C800}"/>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43E3C-1062-3C3B-33DC-9DE5999687B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144B81D-1D0D-2B34-ACE9-647404B6726C}"/>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8" name="Footer Placeholder 7">
            <a:extLst>
              <a:ext uri="{FF2B5EF4-FFF2-40B4-BE49-F238E27FC236}">
                <a16:creationId xmlns:a16="http://schemas.microsoft.com/office/drawing/2014/main" id="{FA2B9CA9-FB5C-6A3F-A8C9-5A2303657F7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04F8827A-8D6A-6027-36D4-A09116C39B0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1520713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B2320-BF86-B4C0-4C77-57A8A14FAB1C}"/>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DBF2AEC-90F1-FF9D-116C-F8E796EDE9FD}"/>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4" name="Footer Placeholder 3">
            <a:extLst>
              <a:ext uri="{FF2B5EF4-FFF2-40B4-BE49-F238E27FC236}">
                <a16:creationId xmlns:a16="http://schemas.microsoft.com/office/drawing/2014/main" id="{8930F28E-A8F5-AFB5-B659-0E7A774C7AC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A30AFD6F-07FF-B36A-B355-6F54892182D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95873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62561D-609B-41C4-03F7-C9EB1C339CA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3" name="Footer Placeholder 2">
            <a:extLst>
              <a:ext uri="{FF2B5EF4-FFF2-40B4-BE49-F238E27FC236}">
                <a16:creationId xmlns:a16="http://schemas.microsoft.com/office/drawing/2014/main" id="{C177B401-DFF1-9E83-1AFF-E5EC0ACD16E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A27D21B-F5D7-5E07-AD0D-285590E6DEA5}"/>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98427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F68E2-3E1C-4942-B972-676EF99620F3}"/>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B3E5FE-9809-AA0D-0068-8D2879739446}"/>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5EC551-67C4-F4E7-1910-F519BF9045D8}"/>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86D973-5346-1585-DF1D-4A6D81AE612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6" name="Footer Placeholder 5">
            <a:extLst>
              <a:ext uri="{FF2B5EF4-FFF2-40B4-BE49-F238E27FC236}">
                <a16:creationId xmlns:a16="http://schemas.microsoft.com/office/drawing/2014/main" id="{F86FF201-46FF-F9B5-9CC0-41835305C6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5ECBF98-FECD-2939-6FDA-1F24F227DA04}"/>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3861528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BCDCE-1DF9-541C-B7E9-6622BFED4115}"/>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5BBD72-9B7D-1B6B-5935-44F06A9178E8}"/>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746A0AE-8309-E148-1D29-29503949BDE0}"/>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6C41A5-6FCA-36FF-6CFA-7C0597A212F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6" name="Footer Placeholder 5">
            <a:extLst>
              <a:ext uri="{FF2B5EF4-FFF2-40B4-BE49-F238E27FC236}">
                <a16:creationId xmlns:a16="http://schemas.microsoft.com/office/drawing/2014/main" id="{A8DB2AD8-5418-91E2-23C4-D519A6265F26}"/>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9F095D8-FC0F-CA9B-A1E7-AA64CF34EB67}"/>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4081660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6F263-9A0A-3394-3F1F-6C5F8D328AC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5FFEF5-760B-0BB1-28DC-68D43894F17E}"/>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F539A-7EBC-768A-374D-3E568BE3277A}"/>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5" name="Footer Placeholder 4">
            <a:extLst>
              <a:ext uri="{FF2B5EF4-FFF2-40B4-BE49-F238E27FC236}">
                <a16:creationId xmlns:a16="http://schemas.microsoft.com/office/drawing/2014/main" id="{052D2046-7AA0-ACCC-813F-F0045C6B0ECA}"/>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E743A9D-CF35-58E9-CEF7-84CD752F4941}"/>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107473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E6EEB20-7BAE-8163-AF11-357FD764FC54}"/>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0D173BD-0918-77CD-3BC5-870F618AF1FF}"/>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48AB18A-E29B-AB92-E36C-D19006B4B100}"/>
              </a:ext>
            </a:extLst>
          </p:cNvPr>
          <p:cNvSpPr>
            <a:spLocks noGrp="1"/>
          </p:cNvSpPr>
          <p:nvPr>
            <p:ph type="dt" sz="half" idx="10"/>
          </p:nvPr>
        </p:nvSpPr>
        <p:spPr>
          <a:xfrm>
            <a:off x="838200" y="6356350"/>
            <a:ext cx="2743200" cy="365125"/>
          </a:xfrm>
          <a:prstGeom prst="rect">
            <a:avLst/>
          </a:prstGeom>
        </p:spPr>
        <p:txBody>
          <a:bodyPr/>
          <a:lstStyle/>
          <a:p>
            <a:fld id="{FD73274A-A2CD-4D7F-B977-66E290A1AB78}" type="datetimeFigureOut">
              <a:rPr lang="en-US" smtClean="0"/>
              <a:t>1/25/2026</a:t>
            </a:fld>
            <a:endParaRPr lang="en-US"/>
          </a:p>
        </p:txBody>
      </p:sp>
      <p:sp>
        <p:nvSpPr>
          <p:cNvPr id="5" name="Footer Placeholder 4">
            <a:extLst>
              <a:ext uri="{FF2B5EF4-FFF2-40B4-BE49-F238E27FC236}">
                <a16:creationId xmlns:a16="http://schemas.microsoft.com/office/drawing/2014/main" id="{DD0034D9-0416-B27F-B018-5988B84EC8E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5D91FF6-4797-6F7F-6750-554277416B03}"/>
              </a:ext>
            </a:extLst>
          </p:cNvPr>
          <p:cNvSpPr>
            <a:spLocks noGrp="1"/>
          </p:cNvSpPr>
          <p:nvPr>
            <p:ph type="sldNum" sz="quarter" idx="12"/>
          </p:nvPr>
        </p:nvSpPr>
        <p:spPr>
          <a:xfrm>
            <a:off x="8610600" y="6356350"/>
            <a:ext cx="2743200" cy="365125"/>
          </a:xfrm>
          <a:prstGeom prst="rect">
            <a:avLst/>
          </a:prstGeom>
        </p:spPr>
        <p:txBody>
          <a:bodyPr/>
          <a:lstStyle/>
          <a:p>
            <a:fld id="{32FB2461-14E4-41EF-9449-AE0E6559CB66}" type="slidenum">
              <a:rPr lang="en-US" smtClean="0"/>
              <a:t>‹#›</a:t>
            </a:fld>
            <a:endParaRPr lang="en-US"/>
          </a:p>
        </p:txBody>
      </p:sp>
    </p:spTree>
    <p:extLst>
      <p:ext uri="{BB962C8B-B14F-4D97-AF65-F5344CB8AC3E}">
        <p14:creationId xmlns:p14="http://schemas.microsoft.com/office/powerpoint/2010/main" val="2060662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DE82E09-9CEE-8584-D464-24E0EC391B80}"/>
              </a:ext>
            </a:extLst>
          </p:cNvPr>
          <p:cNvSpPr/>
          <p:nvPr userDrawn="1"/>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F2BE4274-EF19-EE7E-5761-D489EED61B8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9006884" y="74822"/>
            <a:ext cx="1043154" cy="1043154"/>
          </a:xfrm>
          <a:prstGeom prst="rect">
            <a:avLst/>
          </a:prstGeom>
        </p:spPr>
      </p:pic>
      <p:pic>
        <p:nvPicPr>
          <p:cNvPr id="16" name="Picture 15">
            <a:extLst>
              <a:ext uri="{FF2B5EF4-FFF2-40B4-BE49-F238E27FC236}">
                <a16:creationId xmlns:a16="http://schemas.microsoft.com/office/drawing/2014/main" id="{A91A2BA2-F38B-80BA-A985-5949FC76FEA7}"/>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947316" y="123390"/>
            <a:ext cx="884047" cy="884047"/>
          </a:xfrm>
          <a:prstGeom prst="rect">
            <a:avLst/>
          </a:prstGeom>
        </p:spPr>
      </p:pic>
      <p:pic>
        <p:nvPicPr>
          <p:cNvPr id="17" name="Picture 16">
            <a:extLst>
              <a:ext uri="{FF2B5EF4-FFF2-40B4-BE49-F238E27FC236}">
                <a16:creationId xmlns:a16="http://schemas.microsoft.com/office/drawing/2014/main" id="{604524FB-BCF4-1B74-A89E-4EDE8596787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0127893" y="192303"/>
            <a:ext cx="785940" cy="785940"/>
          </a:xfrm>
          <a:prstGeom prst="rect">
            <a:avLst/>
          </a:prstGeom>
        </p:spPr>
      </p:pic>
      <p:sp>
        <p:nvSpPr>
          <p:cNvPr id="18" name="TextBox 17">
            <a:extLst>
              <a:ext uri="{FF2B5EF4-FFF2-40B4-BE49-F238E27FC236}">
                <a16:creationId xmlns:a16="http://schemas.microsoft.com/office/drawing/2014/main" id="{F2F88F76-11B2-42F9-7CED-3DAC2835AF8A}"/>
              </a:ext>
            </a:extLst>
          </p:cNvPr>
          <p:cNvSpPr txBox="1"/>
          <p:nvPr userDrawn="1"/>
        </p:nvSpPr>
        <p:spPr>
          <a:xfrm>
            <a:off x="2575249" y="27424"/>
            <a:ext cx="5998348" cy="646331"/>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a:t>
            </a:r>
          </a:p>
          <a:p>
            <a:r>
              <a:rPr lang="en-US" b="1" dirty="0">
                <a:solidFill>
                  <a:schemeClr val="bg1"/>
                </a:solidFill>
                <a:latin typeface="Gordita "/>
              </a:rPr>
              <a:t>Orthopedic Surgeon Society of Andhra Pradesh</a:t>
            </a:r>
          </a:p>
        </p:txBody>
      </p:sp>
      <p:sp>
        <p:nvSpPr>
          <p:cNvPr id="19" name="TextBox 18">
            <a:extLst>
              <a:ext uri="{FF2B5EF4-FFF2-40B4-BE49-F238E27FC236}">
                <a16:creationId xmlns:a16="http://schemas.microsoft.com/office/drawing/2014/main" id="{65ADD6F6-E35D-B7F8-9AC5-43234D897C09}"/>
              </a:ext>
            </a:extLst>
          </p:cNvPr>
          <p:cNvSpPr txBox="1"/>
          <p:nvPr userDrawn="1"/>
        </p:nvSpPr>
        <p:spPr>
          <a:xfrm>
            <a:off x="2601218" y="653897"/>
            <a:ext cx="6307494" cy="276999"/>
          </a:xfrm>
          <a:prstGeom prst="rect">
            <a:avLst/>
          </a:prstGeom>
          <a:noFill/>
        </p:spPr>
        <p:txBody>
          <a:bodyPr wrap="square" rtlCol="0">
            <a:spAutoFit/>
          </a:bodyPr>
          <a:lstStyle/>
          <a:p>
            <a:r>
              <a:rPr lang="en-US" sz="1200" b="1" dirty="0">
                <a:solidFill>
                  <a:schemeClr val="bg1"/>
                </a:solidFill>
                <a:latin typeface="Gordita "/>
              </a:rPr>
              <a:t>Date 6 – 8 February,2026, Venue : Kurnool Medical College</a:t>
            </a:r>
          </a:p>
        </p:txBody>
      </p:sp>
      <p:sp>
        <p:nvSpPr>
          <p:cNvPr id="20" name="TextBox 19">
            <a:extLst>
              <a:ext uri="{FF2B5EF4-FFF2-40B4-BE49-F238E27FC236}">
                <a16:creationId xmlns:a16="http://schemas.microsoft.com/office/drawing/2014/main" id="{C146DFFE-ACF0-208A-4880-3B35F597866F}"/>
              </a:ext>
            </a:extLst>
          </p:cNvPr>
          <p:cNvSpPr txBox="1"/>
          <p:nvPr userDrawn="1"/>
        </p:nvSpPr>
        <p:spPr>
          <a:xfrm>
            <a:off x="2575249" y="913340"/>
            <a:ext cx="7114032" cy="276999"/>
          </a:xfrm>
          <a:prstGeom prst="rect">
            <a:avLst/>
          </a:prstGeom>
          <a:noFill/>
        </p:spPr>
        <p:txBody>
          <a:bodyPr wrap="square" rtlCol="0">
            <a:spAutoFit/>
          </a:bodyPr>
          <a:lstStyle/>
          <a:p>
            <a:r>
              <a:rPr lang="en-US" sz="1200" b="1" dirty="0">
                <a:solidFill>
                  <a:schemeClr val="bg1"/>
                </a:solidFill>
                <a:latin typeface="Gordita "/>
              </a:rPr>
              <a:t>Organized by : Department of </a:t>
            </a:r>
            <a:r>
              <a:rPr lang="en-US" sz="1200" b="1" dirty="0" err="1">
                <a:solidFill>
                  <a:schemeClr val="bg1"/>
                </a:solidFill>
                <a:latin typeface="Gordita "/>
              </a:rPr>
              <a:t>Orthopaedics</a:t>
            </a:r>
            <a:r>
              <a:rPr lang="en-US" sz="1200" b="1" dirty="0">
                <a:solidFill>
                  <a:schemeClr val="bg1"/>
                </a:solidFill>
                <a:latin typeface="Gordita "/>
              </a:rPr>
              <a:t>, Kurnool Medical College Kurnool</a:t>
            </a:r>
          </a:p>
        </p:txBody>
      </p:sp>
      <p:sp>
        <p:nvSpPr>
          <p:cNvPr id="21" name="Freeform 13">
            <a:extLst>
              <a:ext uri="{FF2B5EF4-FFF2-40B4-BE49-F238E27FC236}">
                <a16:creationId xmlns:a16="http://schemas.microsoft.com/office/drawing/2014/main" id="{FD934B23-4A0F-DA26-1C91-6993B84BADB9}"/>
              </a:ext>
            </a:extLst>
          </p:cNvPr>
          <p:cNvSpPr/>
          <p:nvPr userDrawn="1"/>
        </p:nvSpPr>
        <p:spPr>
          <a:xfrm>
            <a:off x="560814" y="14255"/>
            <a:ext cx="1505561"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16"/>
            <a:stretch>
              <a:fillRect t="-9937" r="-4895" b="-10857"/>
            </a:stretch>
          </a:blipFill>
        </p:spPr>
        <p:txBody>
          <a:bodyPr/>
          <a:lstStyle/>
          <a:p>
            <a:endParaRPr lang="en-US"/>
          </a:p>
        </p:txBody>
      </p:sp>
    </p:spTree>
    <p:extLst>
      <p:ext uri="{BB962C8B-B14F-4D97-AF65-F5344CB8AC3E}">
        <p14:creationId xmlns:p14="http://schemas.microsoft.com/office/powerpoint/2010/main" val="10701551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1.jpeg"/><Relationship Id="rId3" Type="http://schemas.openxmlformats.org/officeDocument/2006/relationships/image" Target="../media/image1.png"/><Relationship Id="rId7" Type="http://schemas.openxmlformats.org/officeDocument/2006/relationships/image" Target="../media/image5.jpeg"/><Relationship Id="rId12" Type="http://schemas.openxmlformats.org/officeDocument/2006/relationships/image" Target="../media/image10.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pn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872BCCA-09F4-9D91-AE26-B5E437D7714E}"/>
              </a:ext>
            </a:extLst>
          </p:cNvPr>
          <p:cNvSpPr/>
          <p:nvPr/>
        </p:nvSpPr>
        <p:spPr>
          <a:xfrm>
            <a:off x="0" y="0"/>
            <a:ext cx="12191998" cy="1280156"/>
          </a:xfrm>
          <a:prstGeom prst="rect">
            <a:avLst/>
          </a:prstGeom>
          <a:solidFill>
            <a:srgbClr val="01234D"/>
          </a:solidFill>
          <a:ln>
            <a:solidFill>
              <a:srgbClr val="5257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Picture 14">
            <a:extLst>
              <a:ext uri="{FF2B5EF4-FFF2-40B4-BE49-F238E27FC236}">
                <a16:creationId xmlns:a16="http://schemas.microsoft.com/office/drawing/2014/main" id="{4D4B9414-324A-B4ED-525E-CF04D2394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1260" y="301456"/>
            <a:ext cx="1043154" cy="1043154"/>
          </a:xfrm>
          <a:prstGeom prst="rect">
            <a:avLst/>
          </a:prstGeom>
        </p:spPr>
      </p:pic>
      <p:pic>
        <p:nvPicPr>
          <p:cNvPr id="16" name="Picture 15">
            <a:extLst>
              <a:ext uri="{FF2B5EF4-FFF2-40B4-BE49-F238E27FC236}">
                <a16:creationId xmlns:a16="http://schemas.microsoft.com/office/drawing/2014/main" id="{6B23EAFB-E583-3DAF-08B5-661672CE88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99799" y="279795"/>
            <a:ext cx="884047" cy="884047"/>
          </a:xfrm>
          <a:prstGeom prst="rect">
            <a:avLst/>
          </a:prstGeom>
        </p:spPr>
      </p:pic>
      <p:pic>
        <p:nvPicPr>
          <p:cNvPr id="17" name="Picture 16">
            <a:extLst>
              <a:ext uri="{FF2B5EF4-FFF2-40B4-BE49-F238E27FC236}">
                <a16:creationId xmlns:a16="http://schemas.microsoft.com/office/drawing/2014/main" id="{3C21D24D-75B4-7ADE-170F-FE845B818D4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81948" y="397775"/>
            <a:ext cx="785940" cy="785940"/>
          </a:xfrm>
          <a:prstGeom prst="rect">
            <a:avLst/>
          </a:prstGeom>
        </p:spPr>
      </p:pic>
      <p:sp>
        <p:nvSpPr>
          <p:cNvPr id="18" name="TextBox 17">
            <a:extLst>
              <a:ext uri="{FF2B5EF4-FFF2-40B4-BE49-F238E27FC236}">
                <a16:creationId xmlns:a16="http://schemas.microsoft.com/office/drawing/2014/main" id="{EA6BB7B0-D981-FEB6-4479-7A49704B2B87}"/>
              </a:ext>
            </a:extLst>
          </p:cNvPr>
          <p:cNvSpPr txBox="1"/>
          <p:nvPr/>
        </p:nvSpPr>
        <p:spPr>
          <a:xfrm>
            <a:off x="1695299" y="-2781"/>
            <a:ext cx="7423212" cy="369332"/>
          </a:xfrm>
          <a:prstGeom prst="rect">
            <a:avLst/>
          </a:prstGeom>
          <a:noFill/>
        </p:spPr>
        <p:txBody>
          <a:bodyPr wrap="square" rtlCol="0">
            <a:spAutoFit/>
          </a:bodyPr>
          <a:lstStyle/>
          <a:p>
            <a:r>
              <a:rPr lang="en-US" b="1" dirty="0">
                <a:solidFill>
                  <a:schemeClr val="bg1"/>
                </a:solidFill>
                <a:latin typeface="Gordita "/>
              </a:rPr>
              <a:t>55</a:t>
            </a:r>
            <a:r>
              <a:rPr lang="en-US" b="1" baseline="30000" dirty="0">
                <a:solidFill>
                  <a:schemeClr val="bg1"/>
                </a:solidFill>
                <a:latin typeface="Gordita "/>
              </a:rPr>
              <a:t>th</a:t>
            </a:r>
            <a:r>
              <a:rPr lang="en-US" b="1" dirty="0">
                <a:solidFill>
                  <a:schemeClr val="bg1"/>
                </a:solidFill>
                <a:latin typeface="Gordita "/>
              </a:rPr>
              <a:t>   Annual Conference of  Orthopedic Surgeon Society of Andhra Pradesh</a:t>
            </a:r>
          </a:p>
        </p:txBody>
      </p:sp>
      <p:sp>
        <p:nvSpPr>
          <p:cNvPr id="4" name="Freeform 13">
            <a:extLst>
              <a:ext uri="{FF2B5EF4-FFF2-40B4-BE49-F238E27FC236}">
                <a16:creationId xmlns:a16="http://schemas.microsoft.com/office/drawing/2014/main" id="{0F401C6F-33A3-A415-AD1A-709059E901BF}"/>
              </a:ext>
            </a:extLst>
          </p:cNvPr>
          <p:cNvSpPr/>
          <p:nvPr/>
        </p:nvSpPr>
        <p:spPr>
          <a:xfrm>
            <a:off x="30238" y="31879"/>
            <a:ext cx="1521252" cy="1280157"/>
          </a:xfrm>
          <a:custGeom>
            <a:avLst/>
            <a:gdLst/>
            <a:ahLst/>
            <a:cxnLst/>
            <a:rect l="l" t="t" r="r" b="b"/>
            <a:pathLst>
              <a:path w="2254612" h="1957865">
                <a:moveTo>
                  <a:pt x="0" y="0"/>
                </a:moveTo>
                <a:lnTo>
                  <a:pt x="2254612" y="0"/>
                </a:lnTo>
                <a:lnTo>
                  <a:pt x="2254612" y="1957865"/>
                </a:lnTo>
                <a:lnTo>
                  <a:pt x="0" y="1957865"/>
                </a:lnTo>
                <a:lnTo>
                  <a:pt x="0" y="0"/>
                </a:lnTo>
                <a:close/>
              </a:path>
            </a:pathLst>
          </a:custGeom>
          <a:blipFill>
            <a:blip r:embed="rId6"/>
            <a:stretch>
              <a:fillRect t="-9937" r="-4895" b="-10857"/>
            </a:stretch>
          </a:blipFill>
        </p:spPr>
        <p:txBody>
          <a:bodyPr/>
          <a:lstStyle/>
          <a:p>
            <a:endParaRPr lang="en-US"/>
          </a:p>
        </p:txBody>
      </p:sp>
      <p:sp>
        <p:nvSpPr>
          <p:cNvPr id="5" name="Rectangle 4">
            <a:extLst>
              <a:ext uri="{FF2B5EF4-FFF2-40B4-BE49-F238E27FC236}">
                <a16:creationId xmlns:a16="http://schemas.microsoft.com/office/drawing/2014/main" id="{1D4F9D5A-1DDA-4BC3-63F3-F36226B86C87}"/>
              </a:ext>
            </a:extLst>
          </p:cNvPr>
          <p:cNvSpPr/>
          <p:nvPr/>
        </p:nvSpPr>
        <p:spPr>
          <a:xfrm>
            <a:off x="-3" y="1321836"/>
            <a:ext cx="2997201" cy="26063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EC094F03-F93B-9B6D-7C11-87F9C75E6ABB}"/>
              </a:ext>
            </a:extLst>
          </p:cNvPr>
          <p:cNvSpPr/>
          <p:nvPr/>
        </p:nvSpPr>
        <p:spPr>
          <a:xfrm>
            <a:off x="28878" y="4288468"/>
            <a:ext cx="2968320" cy="25552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6D1A47E9-312C-D04A-D368-EE96CE32C982}"/>
              </a:ext>
            </a:extLst>
          </p:cNvPr>
          <p:cNvSpPr/>
          <p:nvPr/>
        </p:nvSpPr>
        <p:spPr>
          <a:xfrm>
            <a:off x="3026073" y="1286578"/>
            <a:ext cx="5411704" cy="55714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63A874B9-B8E1-A36B-AA38-6FCC7D5D8F32}"/>
              </a:ext>
            </a:extLst>
          </p:cNvPr>
          <p:cNvSpPr/>
          <p:nvPr/>
        </p:nvSpPr>
        <p:spPr>
          <a:xfrm>
            <a:off x="8466656" y="1674794"/>
            <a:ext cx="3725344" cy="313302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 name="Rectangle 8">
            <a:extLst>
              <a:ext uri="{FF2B5EF4-FFF2-40B4-BE49-F238E27FC236}">
                <a16:creationId xmlns:a16="http://schemas.microsoft.com/office/drawing/2014/main" id="{0EFC2BB9-1938-0DF3-F424-CAC28C6D9880}"/>
              </a:ext>
            </a:extLst>
          </p:cNvPr>
          <p:cNvSpPr/>
          <p:nvPr/>
        </p:nvSpPr>
        <p:spPr>
          <a:xfrm>
            <a:off x="8466655" y="5103674"/>
            <a:ext cx="3725344" cy="17543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6B0C050E-DD7C-3885-8EBF-D74C223C0531}"/>
              </a:ext>
            </a:extLst>
          </p:cNvPr>
          <p:cNvSpPr/>
          <p:nvPr/>
        </p:nvSpPr>
        <p:spPr>
          <a:xfrm>
            <a:off x="0" y="1287361"/>
            <a:ext cx="2997200" cy="352278"/>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INTRODUCTION </a:t>
            </a:r>
          </a:p>
        </p:txBody>
      </p:sp>
      <p:sp>
        <p:nvSpPr>
          <p:cNvPr id="11" name="Rectangle 10">
            <a:extLst>
              <a:ext uri="{FF2B5EF4-FFF2-40B4-BE49-F238E27FC236}">
                <a16:creationId xmlns:a16="http://schemas.microsoft.com/office/drawing/2014/main" id="{493EBCB5-BB50-7945-E88B-86122853702B}"/>
              </a:ext>
            </a:extLst>
          </p:cNvPr>
          <p:cNvSpPr/>
          <p:nvPr/>
        </p:nvSpPr>
        <p:spPr>
          <a:xfrm>
            <a:off x="2997199" y="1286578"/>
            <a:ext cx="5440592" cy="353844"/>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OPERATIVE FINDINGS</a:t>
            </a:r>
          </a:p>
        </p:txBody>
      </p:sp>
      <p:sp>
        <p:nvSpPr>
          <p:cNvPr id="12" name="Rectangle 11">
            <a:extLst>
              <a:ext uri="{FF2B5EF4-FFF2-40B4-BE49-F238E27FC236}">
                <a16:creationId xmlns:a16="http://schemas.microsoft.com/office/drawing/2014/main" id="{779DCDE1-7E85-0646-3543-9C1638CEB9CA}"/>
              </a:ext>
            </a:extLst>
          </p:cNvPr>
          <p:cNvSpPr/>
          <p:nvPr/>
        </p:nvSpPr>
        <p:spPr>
          <a:xfrm>
            <a:off x="8466666" y="1287361"/>
            <a:ext cx="3725331" cy="387433"/>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DISCUSSION</a:t>
            </a:r>
          </a:p>
        </p:txBody>
      </p:sp>
      <p:sp>
        <p:nvSpPr>
          <p:cNvPr id="13" name="Rectangle 12">
            <a:extLst>
              <a:ext uri="{FF2B5EF4-FFF2-40B4-BE49-F238E27FC236}">
                <a16:creationId xmlns:a16="http://schemas.microsoft.com/office/drawing/2014/main" id="{9A130820-FF42-EA8A-339B-145E1FC668F5}"/>
              </a:ext>
            </a:extLst>
          </p:cNvPr>
          <p:cNvSpPr/>
          <p:nvPr/>
        </p:nvSpPr>
        <p:spPr>
          <a:xfrm>
            <a:off x="12614" y="3933813"/>
            <a:ext cx="2982762" cy="346032"/>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CASE REPORT</a:t>
            </a:r>
          </a:p>
        </p:txBody>
      </p:sp>
      <p:sp>
        <p:nvSpPr>
          <p:cNvPr id="22" name="Rectangle 21">
            <a:extLst>
              <a:ext uri="{FF2B5EF4-FFF2-40B4-BE49-F238E27FC236}">
                <a16:creationId xmlns:a16="http://schemas.microsoft.com/office/drawing/2014/main" id="{99633B59-00B8-9FD5-0D31-D1688B16556B}"/>
              </a:ext>
            </a:extLst>
          </p:cNvPr>
          <p:cNvSpPr/>
          <p:nvPr/>
        </p:nvSpPr>
        <p:spPr>
          <a:xfrm>
            <a:off x="8466666" y="4807816"/>
            <a:ext cx="3725332" cy="272720"/>
          </a:xfrm>
          <a:prstGeom prst="rect">
            <a:avLst/>
          </a:prstGeom>
          <a:solidFill>
            <a:schemeClr val="tx2">
              <a:lumMod val="25000"/>
              <a:lumOff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95000"/>
                    <a:lumOff val="5000"/>
                  </a:schemeClr>
                </a:solidFill>
              </a:rPr>
              <a:t>CONCLUSION</a:t>
            </a:r>
          </a:p>
        </p:txBody>
      </p:sp>
      <p:sp>
        <p:nvSpPr>
          <p:cNvPr id="3" name="TextBox 2">
            <a:extLst>
              <a:ext uri="{FF2B5EF4-FFF2-40B4-BE49-F238E27FC236}">
                <a16:creationId xmlns:a16="http://schemas.microsoft.com/office/drawing/2014/main" id="{8305D08F-6ADA-07F8-881A-CD4B32B6884F}"/>
              </a:ext>
            </a:extLst>
          </p:cNvPr>
          <p:cNvSpPr txBox="1"/>
          <p:nvPr/>
        </p:nvSpPr>
        <p:spPr>
          <a:xfrm>
            <a:off x="-1906" y="4234316"/>
            <a:ext cx="2968319" cy="2660097"/>
          </a:xfrm>
          <a:prstGeom prst="rect">
            <a:avLst/>
          </a:prstGeom>
          <a:noFill/>
        </p:spPr>
        <p:txBody>
          <a:bodyPr wrap="square">
            <a:spAutoFit/>
          </a:bodyPr>
          <a:lstStyle/>
          <a:p>
            <a:pPr algn="just"/>
            <a:r>
              <a:rPr lang="en-US" sz="1400" b="0" i="0" dirty="0">
                <a:solidFill>
                  <a:srgbClr val="374151"/>
                </a:solidFill>
                <a:effectLst/>
                <a:latin typeface="__Inter_f367f3"/>
              </a:rPr>
              <a:t>A 53-year-old male presented with swelling of the right knee for 2 years and pain for 6 months. He had a past history of tuberculosis of the knee, treated with anti-tubercular therapy for one year. The patient also underwent surgical repair for bilateral Achilles tendon ruptures in 2014 and 2015. Clinical and intraoperative findings were suggestive of ochronotic arthropathy, leading to the diagnosis of alkaptonuria. </a:t>
            </a:r>
            <a:endParaRPr lang="en-IN" sz="1400" dirty="0"/>
          </a:p>
        </p:txBody>
      </p:sp>
      <p:sp>
        <p:nvSpPr>
          <p:cNvPr id="23" name="TextBox 22">
            <a:extLst>
              <a:ext uri="{FF2B5EF4-FFF2-40B4-BE49-F238E27FC236}">
                <a16:creationId xmlns:a16="http://schemas.microsoft.com/office/drawing/2014/main" id="{1BEA8F6C-5840-7E1F-01DB-7A132A09BF34}"/>
              </a:ext>
            </a:extLst>
          </p:cNvPr>
          <p:cNvSpPr txBox="1"/>
          <p:nvPr/>
        </p:nvSpPr>
        <p:spPr>
          <a:xfrm>
            <a:off x="8437778" y="1769415"/>
            <a:ext cx="3725344" cy="2909454"/>
          </a:xfrm>
          <a:prstGeom prst="rect">
            <a:avLst/>
          </a:prstGeom>
          <a:noFill/>
        </p:spPr>
        <p:txBody>
          <a:bodyPr wrap="square">
            <a:spAutoFit/>
          </a:bodyPr>
          <a:lstStyle/>
          <a:p>
            <a:pPr algn="just"/>
            <a:r>
              <a:rPr lang="en-US" sz="1400" dirty="0"/>
              <a:t>Alkaptonuria, an autosomal recessive disorder, In Alkaptonuria due to absence of homogentisate1,2dioxygenase, homogentisic acid produced in excess</a:t>
            </a:r>
            <a:r>
              <a:rPr lang="te-IN" sz="1400" dirty="0"/>
              <a:t>.</a:t>
            </a:r>
            <a:r>
              <a:rPr lang="en-US" sz="1400" dirty="0"/>
              <a:t> </a:t>
            </a:r>
            <a:r>
              <a:rPr lang="en-US" sz="1400" dirty="0" err="1"/>
              <a:t>Accumulationof</a:t>
            </a:r>
            <a:r>
              <a:rPr lang="en-US" sz="1400" dirty="0"/>
              <a:t> this pigment in various tissues leads to systemic disease. This process is called ochronosis2. As homogentisic acid is oxidized to benzoquinone acetate, which polymerizes to form melanin-like polymers, resulting in widespread deposition in fibrous tissue and cartilage. </a:t>
            </a:r>
            <a:r>
              <a:rPr lang="en-US" sz="1400" dirty="0" err="1"/>
              <a:t>Ochronosis</a:t>
            </a:r>
            <a:r>
              <a:rPr lang="en-US" sz="1400" dirty="0"/>
              <a:t>, homogentisic aciduria, and ochronotic osteoarthropathy are the triad of alkaptonuria.</a:t>
            </a:r>
            <a:endParaRPr lang="en-IN" sz="1400" dirty="0"/>
          </a:p>
        </p:txBody>
      </p:sp>
      <p:sp>
        <p:nvSpPr>
          <p:cNvPr id="25" name="TextBox 24">
            <a:extLst>
              <a:ext uri="{FF2B5EF4-FFF2-40B4-BE49-F238E27FC236}">
                <a16:creationId xmlns:a16="http://schemas.microsoft.com/office/drawing/2014/main" id="{7A8F42DD-0EBA-AA71-ACDE-E3CECC20BEE1}"/>
              </a:ext>
            </a:extLst>
          </p:cNvPr>
          <p:cNvSpPr txBox="1"/>
          <p:nvPr/>
        </p:nvSpPr>
        <p:spPr>
          <a:xfrm>
            <a:off x="8466655" y="5103674"/>
            <a:ext cx="3696466" cy="1384995"/>
          </a:xfrm>
          <a:prstGeom prst="rect">
            <a:avLst/>
          </a:prstGeom>
          <a:noFill/>
        </p:spPr>
        <p:txBody>
          <a:bodyPr wrap="square">
            <a:spAutoFit/>
          </a:bodyPr>
          <a:lstStyle/>
          <a:p>
            <a:pPr algn="just"/>
            <a:r>
              <a:rPr lang="en-US" sz="1400" dirty="0" err="1"/>
              <a:t>Alkaptonuric</a:t>
            </a:r>
            <a:r>
              <a:rPr lang="en-US" sz="1400" dirty="0"/>
              <a:t> patients may be treated </a:t>
            </a:r>
            <a:r>
              <a:rPr lang="en-US" sz="1400" dirty="0" err="1"/>
              <a:t>supportively.A</a:t>
            </a:r>
            <a:r>
              <a:rPr lang="en-US" sz="1400" dirty="0"/>
              <a:t> low tyrosine and phenylalanine diet, vitamin C or</a:t>
            </a:r>
            <a:r>
              <a:rPr lang="te-IN" sz="1400" dirty="0"/>
              <a:t> </a:t>
            </a:r>
            <a:r>
              <a:rPr lang="en-US" sz="1400" dirty="0"/>
              <a:t>antioxidants, and </a:t>
            </a:r>
            <a:r>
              <a:rPr lang="en-US" sz="1400" dirty="0" err="1"/>
              <a:t>nitisinone</a:t>
            </a:r>
            <a:r>
              <a:rPr lang="en-US" sz="1400" dirty="0"/>
              <a:t> may slow the progression. Joint replacement has excellent outcomes in a patient with significant degenerative arthropathy .</a:t>
            </a:r>
          </a:p>
        </p:txBody>
      </p:sp>
      <p:sp>
        <p:nvSpPr>
          <p:cNvPr id="27" name="TextBox 26">
            <a:extLst>
              <a:ext uri="{FF2B5EF4-FFF2-40B4-BE49-F238E27FC236}">
                <a16:creationId xmlns:a16="http://schemas.microsoft.com/office/drawing/2014/main" id="{D8BA7722-9496-B771-8F19-5351FF78D055}"/>
              </a:ext>
            </a:extLst>
          </p:cNvPr>
          <p:cNvSpPr txBox="1"/>
          <p:nvPr/>
        </p:nvSpPr>
        <p:spPr>
          <a:xfrm>
            <a:off x="-47844" y="1593476"/>
            <a:ext cx="3069765" cy="2462213"/>
          </a:xfrm>
          <a:prstGeom prst="rect">
            <a:avLst/>
          </a:prstGeom>
          <a:noFill/>
        </p:spPr>
        <p:txBody>
          <a:bodyPr wrap="square">
            <a:spAutoFit/>
          </a:bodyPr>
          <a:lstStyle/>
          <a:p>
            <a:pPr algn="just"/>
            <a:r>
              <a:rPr lang="en-IN" sz="1400" b="0" i="0" dirty="0">
                <a:solidFill>
                  <a:srgbClr val="374151"/>
                </a:solidFill>
                <a:effectLst/>
                <a:latin typeface="__Inter_f367f3"/>
              </a:rPr>
              <a:t>Alkaptonuria is a rare autosomal recessive metabolic disorder caused by deficiency of </a:t>
            </a:r>
            <a:r>
              <a:rPr lang="en-IN" sz="1400" b="0" i="0" dirty="0" err="1">
                <a:solidFill>
                  <a:srgbClr val="374151"/>
                </a:solidFill>
                <a:effectLst/>
                <a:latin typeface="__Inter_f367f3"/>
              </a:rPr>
              <a:t>homogentisate</a:t>
            </a:r>
            <a:r>
              <a:rPr lang="en-IN" sz="1400" b="0" i="0" dirty="0">
                <a:solidFill>
                  <a:srgbClr val="374151"/>
                </a:solidFill>
                <a:effectLst/>
                <a:latin typeface="__Inter_f367f3"/>
              </a:rPr>
              <a:t> 1,2-dioxygenase, an enzyme involved in tyrosine metabolism. Deficiency leads to accumulation of homogentisic acid (HGA), which oxidizes and polymerizes to form ochronotic pigment. Deposition of this pigment in connective tissues results in </a:t>
            </a:r>
            <a:r>
              <a:rPr lang="en-IN" sz="1400" b="0" i="0" dirty="0" err="1">
                <a:solidFill>
                  <a:srgbClr val="374151"/>
                </a:solidFill>
                <a:effectLst/>
                <a:latin typeface="__Inter_f367f3"/>
              </a:rPr>
              <a:t>ochronosis</a:t>
            </a:r>
            <a:r>
              <a:rPr lang="en-IN" sz="1400" b="0" i="0" dirty="0">
                <a:solidFill>
                  <a:srgbClr val="374151"/>
                </a:solidFill>
                <a:effectLst/>
                <a:latin typeface="__Inter_f367f3"/>
              </a:rPr>
              <a:t>, causing progressive degenerative arthropathy. </a:t>
            </a:r>
            <a:endParaRPr lang="en-IN" sz="1400" dirty="0"/>
          </a:p>
        </p:txBody>
      </p:sp>
      <p:sp>
        <p:nvSpPr>
          <p:cNvPr id="31" name="TextBox 30">
            <a:extLst>
              <a:ext uri="{FF2B5EF4-FFF2-40B4-BE49-F238E27FC236}">
                <a16:creationId xmlns:a16="http://schemas.microsoft.com/office/drawing/2014/main" id="{CDDD2D36-04A9-001C-10D1-A8960979F13E}"/>
              </a:ext>
            </a:extLst>
          </p:cNvPr>
          <p:cNvSpPr txBox="1"/>
          <p:nvPr/>
        </p:nvSpPr>
        <p:spPr>
          <a:xfrm>
            <a:off x="2968323" y="1575917"/>
            <a:ext cx="1855347" cy="1200329"/>
          </a:xfrm>
          <a:prstGeom prst="rect">
            <a:avLst/>
          </a:prstGeom>
          <a:noFill/>
        </p:spPr>
        <p:txBody>
          <a:bodyPr wrap="square">
            <a:spAutoFit/>
          </a:bodyPr>
          <a:lstStyle/>
          <a:p>
            <a:r>
              <a:rPr lang="te-IN" sz="1200" b="1" dirty="0"/>
              <a:t>Clinical </a:t>
            </a:r>
            <a:r>
              <a:rPr lang="en-US" sz="1200" b="1" dirty="0"/>
              <a:t>findings </a:t>
            </a:r>
            <a:r>
              <a:rPr lang="en-US" sz="1200" dirty="0"/>
              <a:t>– Black pigmentation is  over eyes and ears since many years. Swelling of right Knee is tender, no local rise of temperature</a:t>
            </a:r>
          </a:p>
        </p:txBody>
      </p:sp>
      <p:pic>
        <p:nvPicPr>
          <p:cNvPr id="32" name="Picture 18">
            <a:extLst>
              <a:ext uri="{FF2B5EF4-FFF2-40B4-BE49-F238E27FC236}">
                <a16:creationId xmlns:a16="http://schemas.microsoft.com/office/drawing/2014/main" id="{BD1D1D72-B871-1F0E-CBB8-7C7EA1E84BC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745635" y="1672216"/>
            <a:ext cx="891652" cy="1060090"/>
          </a:xfrm>
          <a:prstGeom prst="rect">
            <a:avLst/>
          </a:prstGeom>
        </p:spPr>
      </p:pic>
      <p:sp>
        <p:nvSpPr>
          <p:cNvPr id="34" name="TextBox 33">
            <a:extLst>
              <a:ext uri="{FF2B5EF4-FFF2-40B4-BE49-F238E27FC236}">
                <a16:creationId xmlns:a16="http://schemas.microsoft.com/office/drawing/2014/main" id="{0E3ACD8E-A216-1862-4E8E-BB7B9A22566B}"/>
              </a:ext>
            </a:extLst>
          </p:cNvPr>
          <p:cNvSpPr txBox="1"/>
          <p:nvPr/>
        </p:nvSpPr>
        <p:spPr>
          <a:xfrm>
            <a:off x="2985291" y="2701255"/>
            <a:ext cx="2623123" cy="3046988"/>
          </a:xfrm>
          <a:prstGeom prst="rect">
            <a:avLst/>
          </a:prstGeom>
          <a:noFill/>
        </p:spPr>
        <p:txBody>
          <a:bodyPr wrap="square">
            <a:spAutoFit/>
          </a:bodyPr>
          <a:lstStyle/>
          <a:p>
            <a:r>
              <a:rPr lang="en-US" sz="1200" dirty="0"/>
              <a:t>Movements-fixed flexion Deformity 20deg.</a:t>
            </a:r>
          </a:p>
          <a:p>
            <a:r>
              <a:rPr lang="en-US" sz="1200" dirty="0"/>
              <a:t>ROM: 20 -90 deg active </a:t>
            </a:r>
            <a:endParaRPr lang="te-IN" sz="1200" dirty="0"/>
          </a:p>
          <a:p>
            <a:r>
              <a:rPr lang="en-US" sz="1200" b="1" dirty="0"/>
              <a:t>RADIOLOGICAL FINDINGS</a:t>
            </a:r>
          </a:p>
          <a:p>
            <a:r>
              <a:rPr lang="en-GB" sz="1200" dirty="0"/>
              <a:t>X- ray shows arthritis changes.</a:t>
            </a:r>
            <a:endParaRPr lang="en-US" sz="1200" dirty="0"/>
          </a:p>
          <a:p>
            <a:r>
              <a:rPr lang="en-US" sz="1200" b="1" dirty="0"/>
              <a:t>MRI right knee </a:t>
            </a:r>
            <a:r>
              <a:rPr lang="en-US" sz="1200" dirty="0"/>
              <a:t>– </a:t>
            </a:r>
          </a:p>
          <a:p>
            <a:r>
              <a:rPr lang="en-US" sz="1200" dirty="0"/>
              <a:t>shows Grade IV articular cartilage injury </a:t>
            </a:r>
            <a:r>
              <a:rPr lang="en-US" sz="1200" dirty="0" err="1"/>
              <a:t>invoving</a:t>
            </a:r>
            <a:r>
              <a:rPr lang="en-US" sz="1200" dirty="0"/>
              <a:t> lateral compartment  of knee joint with involvement of medial femoral condyle with joint effusion and fat deposition. </a:t>
            </a:r>
          </a:p>
          <a:p>
            <a:r>
              <a:rPr lang="en-US" sz="1200" b="1" dirty="0"/>
              <a:t>LABORATORY FINDINGS: </a:t>
            </a:r>
            <a:r>
              <a:rPr lang="en-US" sz="1200" dirty="0"/>
              <a:t>Urine turned black on exposure to air. Urine gas chromatography shows homogentisic acid. Catecholamines- Elevated</a:t>
            </a:r>
            <a:endParaRPr lang="te-IN" sz="1200" dirty="0"/>
          </a:p>
        </p:txBody>
      </p:sp>
      <p:pic>
        <p:nvPicPr>
          <p:cNvPr id="35" name="Picture 34" descr="IMG-20210331-WA0012.jpg">
            <a:extLst>
              <a:ext uri="{FF2B5EF4-FFF2-40B4-BE49-F238E27FC236}">
                <a16:creationId xmlns:a16="http://schemas.microsoft.com/office/drawing/2014/main" id="{B744DD69-7A19-9AB3-EB24-90757D13FAA3}"/>
              </a:ext>
            </a:extLst>
          </p:cNvPr>
          <p:cNvPicPr>
            <a:picLocks noChangeAspect="1"/>
          </p:cNvPicPr>
          <p:nvPr/>
        </p:nvPicPr>
        <p:blipFill>
          <a:blip r:embed="rId8" cstate="print"/>
          <a:stretch>
            <a:fillRect/>
          </a:stretch>
        </p:blipFill>
        <p:spPr>
          <a:xfrm>
            <a:off x="3035128" y="5641918"/>
            <a:ext cx="1058700" cy="1194173"/>
          </a:xfrm>
          <a:prstGeom prst="rect">
            <a:avLst/>
          </a:prstGeom>
        </p:spPr>
      </p:pic>
      <p:pic>
        <p:nvPicPr>
          <p:cNvPr id="36" name="Picture 35" descr="IMG-20210331-WA0008.jpg">
            <a:extLst>
              <a:ext uri="{FF2B5EF4-FFF2-40B4-BE49-F238E27FC236}">
                <a16:creationId xmlns:a16="http://schemas.microsoft.com/office/drawing/2014/main" id="{F680CFA3-3EFE-45A6-2473-23E40331E98D}"/>
              </a:ext>
            </a:extLst>
          </p:cNvPr>
          <p:cNvPicPr>
            <a:picLocks noChangeAspect="1"/>
          </p:cNvPicPr>
          <p:nvPr/>
        </p:nvPicPr>
        <p:blipFill>
          <a:blip r:embed="rId9" cstate="print"/>
          <a:stretch>
            <a:fillRect/>
          </a:stretch>
        </p:blipFill>
        <p:spPr>
          <a:xfrm>
            <a:off x="4245216" y="5486329"/>
            <a:ext cx="1283135" cy="1344247"/>
          </a:xfrm>
          <a:prstGeom prst="rect">
            <a:avLst/>
          </a:prstGeom>
        </p:spPr>
      </p:pic>
      <p:pic>
        <p:nvPicPr>
          <p:cNvPr id="37" name="Picture 17">
            <a:extLst>
              <a:ext uri="{FF2B5EF4-FFF2-40B4-BE49-F238E27FC236}">
                <a16:creationId xmlns:a16="http://schemas.microsoft.com/office/drawing/2014/main" id="{1B7B447A-42F0-0803-8813-A47BB982DCC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805183" y="1714666"/>
            <a:ext cx="2561268" cy="837593"/>
          </a:xfrm>
          <a:prstGeom prst="rect">
            <a:avLst/>
          </a:prstGeom>
        </p:spPr>
      </p:pic>
      <p:sp>
        <p:nvSpPr>
          <p:cNvPr id="39" name="TextBox 38">
            <a:extLst>
              <a:ext uri="{FF2B5EF4-FFF2-40B4-BE49-F238E27FC236}">
                <a16:creationId xmlns:a16="http://schemas.microsoft.com/office/drawing/2014/main" id="{32CCF7CF-59D2-3F99-C750-4696A700CAB2}"/>
              </a:ext>
            </a:extLst>
          </p:cNvPr>
          <p:cNvSpPr txBox="1"/>
          <p:nvPr/>
        </p:nvSpPr>
        <p:spPr>
          <a:xfrm>
            <a:off x="5714009" y="2505573"/>
            <a:ext cx="2829363" cy="1231910"/>
          </a:xfrm>
          <a:prstGeom prst="rect">
            <a:avLst/>
          </a:prstGeom>
          <a:noFill/>
        </p:spPr>
        <p:txBody>
          <a:bodyPr wrap="square">
            <a:spAutoFit/>
          </a:bodyPr>
          <a:lstStyle/>
          <a:p>
            <a:r>
              <a:rPr lang="en-GB" sz="1200" dirty="0"/>
              <a:t>Patient is planned for </a:t>
            </a:r>
            <a:r>
              <a:rPr lang="en-GB" sz="1200" b="1" dirty="0"/>
              <a:t>Total Knee replacement.</a:t>
            </a:r>
            <a:endParaRPr lang="en-US" sz="1200" b="1" dirty="0"/>
          </a:p>
          <a:p>
            <a:r>
              <a:rPr lang="en-US" sz="1200" b="1" dirty="0"/>
              <a:t>INTRA OPERATIVE FINDINGS</a:t>
            </a:r>
          </a:p>
          <a:p>
            <a:r>
              <a:rPr lang="en-US" sz="1200" dirty="0"/>
              <a:t>Synovectomy of right knee done –Black </a:t>
            </a:r>
            <a:r>
              <a:rPr lang="en-US" sz="1200" dirty="0" err="1"/>
              <a:t>coloured</a:t>
            </a:r>
            <a:r>
              <a:rPr lang="en-US" sz="1200" dirty="0"/>
              <a:t> tissue identified, removed and </a:t>
            </a:r>
            <a:endParaRPr lang="te-IN" sz="1200" dirty="0"/>
          </a:p>
          <a:p>
            <a:r>
              <a:rPr lang="en-US" sz="1200" dirty="0"/>
              <a:t>sent for histopathological examination</a:t>
            </a:r>
            <a:endParaRPr lang="en-IN" sz="1200" dirty="0"/>
          </a:p>
        </p:txBody>
      </p:sp>
      <p:pic>
        <p:nvPicPr>
          <p:cNvPr id="40" name="Picture 23">
            <a:extLst>
              <a:ext uri="{FF2B5EF4-FFF2-40B4-BE49-F238E27FC236}">
                <a16:creationId xmlns:a16="http://schemas.microsoft.com/office/drawing/2014/main" id="{E2B3A6AD-9318-861A-B28A-537231AC27AB}"/>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5717495" y="3697660"/>
            <a:ext cx="1180041" cy="1347940"/>
          </a:xfrm>
          <a:prstGeom prst="rect">
            <a:avLst/>
          </a:prstGeom>
        </p:spPr>
      </p:pic>
      <p:pic>
        <p:nvPicPr>
          <p:cNvPr id="41" name="Content Placeholder 3">
            <a:extLst>
              <a:ext uri="{FF2B5EF4-FFF2-40B4-BE49-F238E27FC236}">
                <a16:creationId xmlns:a16="http://schemas.microsoft.com/office/drawing/2014/main" id="{075983E8-069E-A51B-654C-D938C1CF3AA7}"/>
              </a:ext>
            </a:extLst>
          </p:cNvPr>
          <p:cNvPicPr>
            <a:picLocks noChangeAspect="1" noChangeArrowheads="1"/>
          </p:cNvPicPr>
          <p:nvPr/>
        </p:nvPicPr>
        <p:blipFill>
          <a:blip r:embed="rId12" cstate="print"/>
          <a:srcRect l="27188" t="20813" r="18643" b="14409"/>
          <a:stretch>
            <a:fillRect/>
          </a:stretch>
        </p:blipFill>
        <p:spPr bwMode="auto">
          <a:xfrm rot="5400000">
            <a:off x="7048731" y="3802340"/>
            <a:ext cx="1338627" cy="1129268"/>
          </a:xfrm>
          <a:prstGeom prst="rect">
            <a:avLst/>
          </a:prstGeom>
          <a:noFill/>
          <a:ln w="9525">
            <a:noFill/>
            <a:miter lim="800000"/>
            <a:headEnd/>
            <a:tailEnd/>
          </a:ln>
          <a:effectLst/>
        </p:spPr>
      </p:pic>
      <p:sp>
        <p:nvSpPr>
          <p:cNvPr id="43" name="TextBox 42">
            <a:extLst>
              <a:ext uri="{FF2B5EF4-FFF2-40B4-BE49-F238E27FC236}">
                <a16:creationId xmlns:a16="http://schemas.microsoft.com/office/drawing/2014/main" id="{54FAED7B-27D6-312F-231F-3994CF8AA3D8}"/>
              </a:ext>
            </a:extLst>
          </p:cNvPr>
          <p:cNvSpPr txBox="1"/>
          <p:nvPr/>
        </p:nvSpPr>
        <p:spPr>
          <a:xfrm>
            <a:off x="5679740" y="5036287"/>
            <a:ext cx="2762189" cy="800219"/>
          </a:xfrm>
          <a:prstGeom prst="rect">
            <a:avLst/>
          </a:prstGeom>
          <a:noFill/>
        </p:spPr>
        <p:txBody>
          <a:bodyPr wrap="square">
            <a:spAutoFit/>
          </a:bodyPr>
          <a:lstStyle/>
          <a:p>
            <a:r>
              <a:rPr lang="te-IN" sz="1400" dirty="0"/>
              <a:t>H</a:t>
            </a:r>
            <a:r>
              <a:rPr lang="en-US" sz="1400" dirty="0" err="1"/>
              <a:t>istopathological</a:t>
            </a:r>
            <a:r>
              <a:rPr lang="en-US" sz="1400" dirty="0"/>
              <a:t> reported as polypoidal synovial </a:t>
            </a:r>
            <a:r>
              <a:rPr lang="en-US" sz="1400" dirty="0" err="1"/>
              <a:t>Ochronosis</a:t>
            </a:r>
            <a:endParaRPr lang="en-US" sz="1400" dirty="0"/>
          </a:p>
          <a:p>
            <a:r>
              <a:rPr lang="en-US" sz="1400" b="1" dirty="0"/>
              <a:t>Final diagnosis –Alkaptonuria</a:t>
            </a:r>
            <a:r>
              <a:rPr lang="en-US" sz="1800" b="1" dirty="0"/>
              <a:t>. </a:t>
            </a:r>
            <a:endParaRPr lang="te-IN" sz="1800" b="1" dirty="0"/>
          </a:p>
        </p:txBody>
      </p:sp>
      <p:pic>
        <p:nvPicPr>
          <p:cNvPr id="44" name="Picture 27">
            <a:extLst>
              <a:ext uri="{FF2B5EF4-FFF2-40B4-BE49-F238E27FC236}">
                <a16:creationId xmlns:a16="http://schemas.microsoft.com/office/drawing/2014/main" id="{1A23EB22-F4F1-D73D-0F3D-EF566DD7559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5754965" y="5798417"/>
            <a:ext cx="2561268" cy="1032159"/>
          </a:xfrm>
          <a:prstGeom prst="rect">
            <a:avLst/>
          </a:prstGeom>
        </p:spPr>
      </p:pic>
      <p:sp>
        <p:nvSpPr>
          <p:cNvPr id="2" name="TextBox 1">
            <a:extLst>
              <a:ext uri="{FF2B5EF4-FFF2-40B4-BE49-F238E27FC236}">
                <a16:creationId xmlns:a16="http://schemas.microsoft.com/office/drawing/2014/main" id="{27659B53-B3D8-F48E-F597-D58BF526B6C7}"/>
              </a:ext>
            </a:extLst>
          </p:cNvPr>
          <p:cNvSpPr txBox="1"/>
          <p:nvPr/>
        </p:nvSpPr>
        <p:spPr>
          <a:xfrm>
            <a:off x="1551490" y="413861"/>
            <a:ext cx="6154057" cy="830997"/>
          </a:xfrm>
          <a:prstGeom prst="rect">
            <a:avLst/>
          </a:prstGeom>
          <a:noFill/>
        </p:spPr>
        <p:txBody>
          <a:bodyPr wrap="square" rtlCol="0">
            <a:spAutoFit/>
          </a:bodyPr>
          <a:lstStyle/>
          <a:p>
            <a:pPr algn="ctr"/>
            <a:r>
              <a:rPr lang="te-IN" sz="1600" b="1" dirty="0">
                <a:solidFill>
                  <a:schemeClr val="bg1"/>
                </a:solidFill>
                <a:latin typeface="Arial Narrow" panose="020B0606020202030204" pitchFamily="34" charset="0"/>
              </a:rPr>
              <a:t>ALKAPTONURIA  - A  CASE REPORT</a:t>
            </a:r>
          </a:p>
          <a:p>
            <a:pPr algn="ctr"/>
            <a:r>
              <a:rPr lang="te-IN" sz="1600" b="1" dirty="0">
                <a:solidFill>
                  <a:schemeClr val="bg1"/>
                </a:solidFill>
                <a:latin typeface="Arial Narrow" panose="020B0606020202030204" pitchFamily="34" charset="0"/>
              </a:rPr>
              <a:t>Dr. </a:t>
            </a:r>
            <a:r>
              <a:rPr lang="en-US" sz="1600" b="1" dirty="0">
                <a:solidFill>
                  <a:schemeClr val="bg1"/>
                </a:solidFill>
                <a:latin typeface="Arial Narrow" panose="020B0606020202030204" pitchFamily="34" charset="0"/>
              </a:rPr>
              <a:t>D VENKATESH</a:t>
            </a:r>
            <a:r>
              <a:rPr lang="en-US" sz="900" b="1" dirty="0">
                <a:solidFill>
                  <a:schemeClr val="bg1"/>
                </a:solidFill>
                <a:latin typeface="Arial Narrow" panose="020B0606020202030204" pitchFamily="34" charset="0"/>
              </a:rPr>
              <a:t>(PG)</a:t>
            </a:r>
            <a:endParaRPr lang="te-IN" sz="1600" b="1" dirty="0">
              <a:solidFill>
                <a:schemeClr val="bg1"/>
              </a:solidFill>
              <a:latin typeface="Arial Narrow" panose="020B0606020202030204" pitchFamily="34" charset="0"/>
            </a:endParaRPr>
          </a:p>
          <a:p>
            <a:pPr algn="ctr"/>
            <a:r>
              <a:rPr lang="te-IN" sz="1600" b="1" dirty="0">
                <a:solidFill>
                  <a:schemeClr val="bg1"/>
                </a:solidFill>
                <a:latin typeface="Arial Narrow" panose="020B0606020202030204" pitchFamily="34" charset="0"/>
              </a:rPr>
              <a:t>Dr. </a:t>
            </a:r>
            <a:r>
              <a:rPr lang="en-US" sz="1600" b="1" dirty="0">
                <a:solidFill>
                  <a:schemeClr val="bg1"/>
                </a:solidFill>
                <a:latin typeface="Arial Narrow" panose="020B0606020202030204" pitchFamily="34" charset="0"/>
              </a:rPr>
              <a:t>P ANIL BABU</a:t>
            </a:r>
            <a:r>
              <a:rPr lang="en-US" sz="900" b="1" dirty="0">
                <a:solidFill>
                  <a:schemeClr val="bg1"/>
                </a:solidFill>
                <a:latin typeface="Arial Narrow" panose="020B0606020202030204" pitchFamily="34" charset="0"/>
              </a:rPr>
              <a:t>(MS ORTHO)</a:t>
            </a:r>
            <a:r>
              <a:rPr lang="en-US" sz="1600" b="1" dirty="0">
                <a:solidFill>
                  <a:schemeClr val="bg1"/>
                </a:solidFill>
                <a:latin typeface="Arial Narrow" panose="020B0606020202030204" pitchFamily="34" charset="0"/>
              </a:rPr>
              <a:t> </a:t>
            </a:r>
            <a:r>
              <a:rPr lang="te-IN" sz="1600" b="1" dirty="0">
                <a:solidFill>
                  <a:schemeClr val="bg1"/>
                </a:solidFill>
                <a:latin typeface="Arial Narrow" panose="020B0606020202030204" pitchFamily="34" charset="0"/>
              </a:rPr>
              <a:t>, Dr. </a:t>
            </a:r>
            <a:r>
              <a:rPr lang="en-GB" sz="1600" b="1" dirty="0">
                <a:solidFill>
                  <a:schemeClr val="bg1"/>
                </a:solidFill>
                <a:latin typeface="Arial Narrow" panose="020B0606020202030204" pitchFamily="34" charset="0"/>
              </a:rPr>
              <a:t>HEMA DURGA</a:t>
            </a:r>
            <a:r>
              <a:rPr lang="en-US" sz="1600" b="1" dirty="0">
                <a:solidFill>
                  <a:schemeClr val="bg1"/>
                </a:solidFill>
                <a:latin typeface="Arial Narrow" panose="020B0606020202030204" pitchFamily="34" charset="0"/>
              </a:rPr>
              <a:t> </a:t>
            </a:r>
            <a:r>
              <a:rPr lang="en-US" sz="900" b="1" dirty="0">
                <a:solidFill>
                  <a:schemeClr val="bg1"/>
                </a:solidFill>
                <a:latin typeface="Arial Narrow" panose="020B0606020202030204" pitchFamily="34" charset="0"/>
              </a:rPr>
              <a:t>(MS ORTHO)</a:t>
            </a:r>
            <a:endParaRPr lang="te-IN" sz="1600" b="1" dirty="0">
              <a:solidFill>
                <a:schemeClr val="bg1"/>
              </a:solidFill>
              <a:latin typeface="Arial Narrow" panose="020B0606020202030204" pitchFamily="34" charset="0"/>
            </a:endParaRPr>
          </a:p>
        </p:txBody>
      </p:sp>
    </p:spTree>
    <p:extLst>
      <p:ext uri="{BB962C8B-B14F-4D97-AF65-F5344CB8AC3E}">
        <p14:creationId xmlns:p14="http://schemas.microsoft.com/office/powerpoint/2010/main" val="36073546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428</Words>
  <Application>Microsoft Office PowerPoint</Application>
  <PresentationFormat>Widescreen</PresentationFormat>
  <Paragraphs>28</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__Inter_f367f3</vt:lpstr>
      <vt:lpstr>Aptos</vt:lpstr>
      <vt:lpstr>Arial</vt:lpstr>
      <vt:lpstr>Arial Narrow</vt:lpstr>
      <vt:lpstr>Calibri</vt:lpstr>
      <vt:lpstr>Gordita </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VENKATESH DANDUPROLU</dc:creator>
  <cp:lastModifiedBy>VENKATESH DANDUPROLU</cp:lastModifiedBy>
  <cp:revision>3</cp:revision>
  <dcterms:modified xsi:type="dcterms:W3CDTF">2026-01-25T10:10:23Z</dcterms:modified>
</cp:coreProperties>
</file>