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75" r:id="rId5"/>
    <p:sldId id="276" r:id="rId6"/>
    <p:sldId id="262" r:id="rId7"/>
    <p:sldId id="264" r:id="rId8"/>
    <p:sldId id="265" r:id="rId9"/>
    <p:sldId id="27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6B0C7-7512-419F-A769-5C257CE68472}" v="2" dt="2026-02-15T20:58:48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2" autoAdjust="0"/>
    <p:restoredTop sz="94650"/>
  </p:normalViewPr>
  <p:slideViewPr>
    <p:cSldViewPr snapToGrid="0">
      <p:cViewPr varScale="1">
        <p:scale>
          <a:sx n="59" d="100"/>
          <a:sy n="59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alika Ronanki" userId="978eba4705b4f6b5" providerId="LiveId" clId="{3065B8F5-C3E6-42DA-B224-02154BCE977B}"/>
    <pc:docChg chg="custSel addSld delSld modSld sldOrd">
      <pc:chgData name="Pravalika Ronanki" userId="978eba4705b4f6b5" providerId="LiveId" clId="{3065B8F5-C3E6-42DA-B224-02154BCE977B}" dt="2026-02-15T21:02:56.188" v="400" actId="113"/>
      <pc:docMkLst>
        <pc:docMk/>
      </pc:docMkLst>
      <pc:sldChg chg="modSp mod">
        <pc:chgData name="Pravalika Ronanki" userId="978eba4705b4f6b5" providerId="LiveId" clId="{3065B8F5-C3E6-42DA-B224-02154BCE977B}" dt="2026-02-15T21:02:56.188" v="400" actId="113"/>
        <pc:sldMkLst>
          <pc:docMk/>
          <pc:sldMk cId="3542167359" sldId="257"/>
        </pc:sldMkLst>
        <pc:spChg chg="mod">
          <ac:chgData name="Pravalika Ronanki" userId="978eba4705b4f6b5" providerId="LiveId" clId="{3065B8F5-C3E6-42DA-B224-02154BCE977B}" dt="2026-02-15T21:02:56.188" v="400" actId="113"/>
          <ac:spMkLst>
            <pc:docMk/>
            <pc:sldMk cId="3542167359" sldId="257"/>
            <ac:spMk id="2" creationId="{F8F7318A-CF8B-8C34-7299-FEE2B156E47F}"/>
          </ac:spMkLst>
        </pc:spChg>
        <pc:spChg chg="mod">
          <ac:chgData name="Pravalika Ronanki" userId="978eba4705b4f6b5" providerId="LiveId" clId="{3065B8F5-C3E6-42DA-B224-02154BCE977B}" dt="2026-02-15T21:01:42.548" v="395" actId="14100"/>
          <ac:spMkLst>
            <pc:docMk/>
            <pc:sldMk cId="3542167359" sldId="257"/>
            <ac:spMk id="3" creationId="{73093C8C-5E89-F3B7-72D6-3E608040B384}"/>
          </ac:spMkLst>
        </pc:spChg>
      </pc:sldChg>
      <pc:sldChg chg="del">
        <pc:chgData name="Pravalika Ronanki" userId="978eba4705b4f6b5" providerId="LiveId" clId="{3065B8F5-C3E6-42DA-B224-02154BCE977B}" dt="2026-02-15T20:43:38.177" v="3" actId="2696"/>
        <pc:sldMkLst>
          <pc:docMk/>
          <pc:sldMk cId="172866099" sldId="261"/>
        </pc:sldMkLst>
      </pc:sldChg>
      <pc:sldChg chg="addSp delSp modSp mod">
        <pc:chgData name="Pravalika Ronanki" userId="978eba4705b4f6b5" providerId="LiveId" clId="{3065B8F5-C3E6-42DA-B224-02154BCE977B}" dt="2026-02-15T20:54:05.721" v="19" actId="1076"/>
        <pc:sldMkLst>
          <pc:docMk/>
          <pc:sldMk cId="416851038" sldId="262"/>
        </pc:sldMkLst>
        <pc:spChg chg="add del mod">
          <ac:chgData name="Pravalika Ronanki" userId="978eba4705b4f6b5" providerId="LiveId" clId="{3065B8F5-C3E6-42DA-B224-02154BCE977B}" dt="2026-02-15T20:53:31.290" v="15" actId="931"/>
          <ac:spMkLst>
            <pc:docMk/>
            <pc:sldMk cId="416851038" sldId="262"/>
            <ac:spMk id="3" creationId="{F37DBA84-7F8B-ABDC-A427-07AA3ACDDFD1}"/>
          </ac:spMkLst>
        </pc:spChg>
        <pc:picChg chg="del mod">
          <ac:chgData name="Pravalika Ronanki" userId="978eba4705b4f6b5" providerId="LiveId" clId="{3065B8F5-C3E6-42DA-B224-02154BCE977B}" dt="2026-02-15T20:49:23.970" v="14" actId="21"/>
          <ac:picMkLst>
            <pc:docMk/>
            <pc:sldMk cId="416851038" sldId="262"/>
            <ac:picMk id="4" creationId="{C1008E7F-A77D-4AE8-B1D8-BB6B374716C1}"/>
          </ac:picMkLst>
        </pc:picChg>
        <pc:picChg chg="del mod">
          <ac:chgData name="Pravalika Ronanki" userId="978eba4705b4f6b5" providerId="LiveId" clId="{3065B8F5-C3E6-42DA-B224-02154BCE977B}" dt="2026-02-15T20:49:19.587" v="13" actId="21"/>
          <ac:picMkLst>
            <pc:docMk/>
            <pc:sldMk cId="416851038" sldId="262"/>
            <ac:picMk id="6" creationId="{0E3321E1-5AE0-1670-AEC0-165A07F97CE6}"/>
          </ac:picMkLst>
        </pc:picChg>
        <pc:picChg chg="add mod ord">
          <ac:chgData name="Pravalika Ronanki" userId="978eba4705b4f6b5" providerId="LiveId" clId="{3065B8F5-C3E6-42DA-B224-02154BCE977B}" dt="2026-02-15T20:53:35.175" v="16" actId="1076"/>
          <ac:picMkLst>
            <pc:docMk/>
            <pc:sldMk cId="416851038" sldId="262"/>
            <ac:picMk id="7" creationId="{CBB32DCA-B613-CF95-92BC-078E32E34D9A}"/>
          </ac:picMkLst>
        </pc:picChg>
        <pc:picChg chg="add mod">
          <ac:chgData name="Pravalika Ronanki" userId="978eba4705b4f6b5" providerId="LiveId" clId="{3065B8F5-C3E6-42DA-B224-02154BCE977B}" dt="2026-02-15T20:54:05.721" v="19" actId="1076"/>
          <ac:picMkLst>
            <pc:docMk/>
            <pc:sldMk cId="416851038" sldId="262"/>
            <ac:picMk id="9" creationId="{0FD005FF-E07E-C11E-868F-26A5DB3573B5}"/>
          </ac:picMkLst>
        </pc:picChg>
      </pc:sldChg>
      <pc:sldChg chg="modSp mod">
        <pc:chgData name="Pravalika Ronanki" userId="978eba4705b4f6b5" providerId="LiveId" clId="{3065B8F5-C3E6-42DA-B224-02154BCE977B}" dt="2026-02-15T21:02:23.549" v="398" actId="113"/>
        <pc:sldMkLst>
          <pc:docMk/>
          <pc:sldMk cId="2256746373" sldId="266"/>
        </pc:sldMkLst>
        <pc:spChg chg="mod">
          <ac:chgData name="Pravalika Ronanki" userId="978eba4705b4f6b5" providerId="LiveId" clId="{3065B8F5-C3E6-42DA-B224-02154BCE977B}" dt="2026-02-15T21:02:23.549" v="398" actId="113"/>
          <ac:spMkLst>
            <pc:docMk/>
            <pc:sldMk cId="2256746373" sldId="266"/>
            <ac:spMk id="2" creationId="{03E8F242-D3F8-8567-07E0-98E0413E28A1}"/>
          </ac:spMkLst>
        </pc:spChg>
      </pc:sldChg>
      <pc:sldChg chg="addSp modSp mod modClrScheme chgLayout">
        <pc:chgData name="Pravalika Ronanki" userId="978eba4705b4f6b5" providerId="LiveId" clId="{3065B8F5-C3E6-42DA-B224-02154BCE977B}" dt="2026-02-15T21:00:50.056" v="393" actId="1036"/>
        <pc:sldMkLst>
          <pc:docMk/>
          <pc:sldMk cId="1889467505" sldId="271"/>
        </pc:sldMkLst>
        <pc:spChg chg="add mod ord">
          <ac:chgData name="Pravalika Ronanki" userId="978eba4705b4f6b5" providerId="LiveId" clId="{3065B8F5-C3E6-42DA-B224-02154BCE977B}" dt="2026-02-15T21:00:45.850" v="391" actId="14100"/>
          <ac:spMkLst>
            <pc:docMk/>
            <pc:sldMk cId="1889467505" sldId="271"/>
            <ac:spMk id="2" creationId="{0A79EFAE-C85B-3C69-76E2-88A75576DA15}"/>
          </ac:spMkLst>
        </pc:spChg>
        <pc:spChg chg="mod ord">
          <ac:chgData name="Pravalika Ronanki" userId="978eba4705b4f6b5" providerId="LiveId" clId="{3065B8F5-C3E6-42DA-B224-02154BCE977B}" dt="2026-02-15T21:00:50.056" v="393" actId="1036"/>
          <ac:spMkLst>
            <pc:docMk/>
            <pc:sldMk cId="1889467505" sldId="271"/>
            <ac:spMk id="3" creationId="{740CC0C1-AE3B-FC4E-FDD3-074B4C434E5C}"/>
          </ac:spMkLst>
        </pc:spChg>
      </pc:sldChg>
      <pc:sldChg chg="del ord">
        <pc:chgData name="Pravalika Ronanki" userId="978eba4705b4f6b5" providerId="LiveId" clId="{3065B8F5-C3E6-42DA-B224-02154BCE977B}" dt="2026-02-15T20:42:08.649" v="2" actId="2696"/>
        <pc:sldMkLst>
          <pc:docMk/>
          <pc:sldMk cId="3795411253" sldId="273"/>
        </pc:sldMkLst>
      </pc:sldChg>
      <pc:sldChg chg="modSp mod">
        <pc:chgData name="Pravalika Ronanki" userId="978eba4705b4f6b5" providerId="LiveId" clId="{3065B8F5-C3E6-42DA-B224-02154BCE977B}" dt="2026-02-15T20:44:39.744" v="7" actId="14100"/>
        <pc:sldMkLst>
          <pc:docMk/>
          <pc:sldMk cId="1968715129" sldId="274"/>
        </pc:sldMkLst>
        <pc:spChg chg="mod">
          <ac:chgData name="Pravalika Ronanki" userId="978eba4705b4f6b5" providerId="LiveId" clId="{3065B8F5-C3E6-42DA-B224-02154BCE977B}" dt="2026-02-15T20:44:39.744" v="7" actId="14100"/>
          <ac:spMkLst>
            <pc:docMk/>
            <pc:sldMk cId="1968715129" sldId="274"/>
            <ac:spMk id="3" creationId="{023B88EC-5575-21C7-10CB-A588ACA801AC}"/>
          </ac:spMkLst>
        </pc:spChg>
      </pc:sldChg>
      <pc:sldChg chg="modSp new mod">
        <pc:chgData name="Pravalika Ronanki" userId="978eba4705b4f6b5" providerId="LiveId" clId="{3065B8F5-C3E6-42DA-B224-02154BCE977B}" dt="2026-02-15T21:02:42.718" v="399" actId="255"/>
        <pc:sldMkLst>
          <pc:docMk/>
          <pc:sldMk cId="3031843314" sldId="275"/>
        </pc:sldMkLst>
        <pc:spChg chg="mod">
          <ac:chgData name="Pravalika Ronanki" userId="978eba4705b4f6b5" providerId="LiveId" clId="{3065B8F5-C3E6-42DA-B224-02154BCE977B}" dt="2026-02-15T21:02:42.718" v="399" actId="255"/>
          <ac:spMkLst>
            <pc:docMk/>
            <pc:sldMk cId="3031843314" sldId="275"/>
            <ac:spMk id="2" creationId="{6C894417-C8E5-80E4-5E6E-F1DB7AE3F3E5}"/>
          </ac:spMkLst>
        </pc:spChg>
        <pc:spChg chg="mod">
          <ac:chgData name="Pravalika Ronanki" userId="978eba4705b4f6b5" providerId="LiveId" clId="{3065B8F5-C3E6-42DA-B224-02154BCE977B}" dt="2026-02-15T20:57:43.325" v="233" actId="20577"/>
          <ac:spMkLst>
            <pc:docMk/>
            <pc:sldMk cId="3031843314" sldId="275"/>
            <ac:spMk id="3" creationId="{B3A5A472-748D-EBB9-E5D4-5983349768EB}"/>
          </ac:spMkLst>
        </pc:spChg>
      </pc:sldChg>
      <pc:sldChg chg="delSp modSp new mod">
        <pc:chgData name="Pravalika Ronanki" userId="978eba4705b4f6b5" providerId="LiveId" clId="{3065B8F5-C3E6-42DA-B224-02154BCE977B}" dt="2026-02-15T20:59:19.947" v="372" actId="20577"/>
        <pc:sldMkLst>
          <pc:docMk/>
          <pc:sldMk cId="3717674719" sldId="276"/>
        </pc:sldMkLst>
        <pc:spChg chg="del mod">
          <ac:chgData name="Pravalika Ronanki" userId="978eba4705b4f6b5" providerId="LiveId" clId="{3065B8F5-C3E6-42DA-B224-02154BCE977B}" dt="2026-02-15T20:59:04.134" v="238" actId="21"/>
          <ac:spMkLst>
            <pc:docMk/>
            <pc:sldMk cId="3717674719" sldId="276"/>
            <ac:spMk id="2" creationId="{D681D1E7-31C4-3AF1-7100-20DEB9578A13}"/>
          </ac:spMkLst>
        </pc:spChg>
        <pc:spChg chg="mod">
          <ac:chgData name="Pravalika Ronanki" userId="978eba4705b4f6b5" providerId="LiveId" clId="{3065B8F5-C3E6-42DA-B224-02154BCE977B}" dt="2026-02-15T20:59:19.947" v="372" actId="20577"/>
          <ac:spMkLst>
            <pc:docMk/>
            <pc:sldMk cId="3717674719" sldId="276"/>
            <ac:spMk id="3" creationId="{928F1994-7447-A76C-F8FE-F2B28170FA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CF00-C8F8-0CA3-2B98-B37702290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51113"/>
            <a:ext cx="9144000" cy="2286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OF LISFRANC INJURY BY OPEN REDUCTION AND INTERNAL FIXATION WITH CC SCREWS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49EE3-7FA0-55E7-8DD8-73A0F39C0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4556"/>
            <a:ext cx="9144000" cy="1808922"/>
          </a:xfrm>
        </p:spPr>
        <p:txBody>
          <a:bodyPr/>
          <a:lstStyle/>
          <a:p>
            <a:r>
              <a:rPr lang="en-US" dirty="0"/>
              <a:t>PRESENTER:-</a:t>
            </a:r>
            <a:r>
              <a:rPr lang="en-US" dirty="0" err="1"/>
              <a:t>Dr.R.PRAVALIKA</a:t>
            </a:r>
            <a:endParaRPr lang="en-US" dirty="0"/>
          </a:p>
          <a:p>
            <a:r>
              <a:rPr lang="en-US" dirty="0"/>
              <a:t>MODERATOR:-</a:t>
            </a:r>
            <a:r>
              <a:rPr lang="en-US" dirty="0" err="1"/>
              <a:t>Dr.B.JOSEPH</a:t>
            </a:r>
            <a:r>
              <a:rPr lang="en-US" dirty="0"/>
              <a:t> KARTHEEK</a:t>
            </a:r>
          </a:p>
        </p:txBody>
      </p:sp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318A-CF8B-8C34-7299-FEE2B156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599"/>
            <a:ext cx="10515600" cy="75491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3C8C-5E89-F3B7-72D6-3E608040B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511"/>
            <a:ext cx="10515600" cy="4415803"/>
          </a:xfrm>
        </p:spPr>
        <p:txBody>
          <a:bodyPr/>
          <a:lstStyle/>
          <a:p>
            <a:r>
              <a:rPr lang="en-US" sz="2400" dirty="0"/>
              <a:t>Tarsometatarsal (TMT) joint complex injuries are rare, accounting 0,2% to 0,8% of all fractures.</a:t>
            </a:r>
          </a:p>
          <a:p>
            <a:r>
              <a:rPr lang="en-US" sz="2400" dirty="0"/>
              <a:t>Up to 20% of these injuries are missed on the initial examination.</a:t>
            </a:r>
          </a:p>
          <a:p>
            <a:r>
              <a:rPr lang="en-US" sz="2400" dirty="0"/>
              <a:t>Mechanism of injury can be either direct (high energy blunt trauma), or indirect by an axial or rotational force applied to a plantar flexed foot.</a:t>
            </a:r>
          </a:p>
          <a:p>
            <a:r>
              <a:rPr lang="en-US" sz="2400" dirty="0"/>
              <a:t>The medial column contains the first metatarsal and medial cuneiform. </a:t>
            </a:r>
          </a:p>
          <a:p>
            <a:r>
              <a:rPr lang="en-US" sz="2400" dirty="0"/>
              <a:t>The middle column contains the second, third metatarsal and middle and lateral cuneiform and the lateral one contains the fourth and fifth metatarsal with the cuboid.</a:t>
            </a:r>
          </a:p>
          <a:p>
            <a:r>
              <a:rPr lang="en-US" sz="2400" dirty="0"/>
              <a:t>Lisfranc ligament is an interosseous ligament between the medial cuneiform and the base of the 2nd metatarsal. </a:t>
            </a:r>
            <a:endParaRPr lang="en-IN" sz="2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4216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B88EC-5575-21C7-10CB-A588ACA8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3599"/>
            <a:ext cx="10515600" cy="3559629"/>
          </a:xfrm>
        </p:spPr>
        <p:txBody>
          <a:bodyPr/>
          <a:lstStyle/>
          <a:p>
            <a:r>
              <a:rPr lang="en-US" sz="2400" dirty="0"/>
              <a:t>As toe extensors and dorsal ligaments are weak (compared to strong plantar ligaments and fascia), most dislocations are dorsal and secondary to plantar flexion injuries.</a:t>
            </a:r>
          </a:p>
          <a:p>
            <a:r>
              <a:rPr lang="en-US" sz="2400" dirty="0"/>
              <a:t>When dislocation occurs, the position and shape of tarsometatarsal joints tend to compress the foot in a longitudinal axis, bowing the foot dorsally at the tarsometatarsal joints and displacing the metatarsals </a:t>
            </a:r>
            <a:r>
              <a:rPr lang="en-US" sz="2400" dirty="0" err="1"/>
              <a:t>dorsolaterally</a:t>
            </a:r>
            <a:r>
              <a:rPr lang="en-US" sz="2400" dirty="0"/>
              <a:t>.</a:t>
            </a:r>
          </a:p>
          <a:p>
            <a:r>
              <a:rPr lang="en-US" sz="2400" dirty="0"/>
              <a:t>plantar ecchymosis sign and the fleck sign at the base of the second metatarsal are </a:t>
            </a:r>
            <a:r>
              <a:rPr lang="en-US" sz="2400" dirty="0" err="1"/>
              <a:t>pathognomic</a:t>
            </a:r>
            <a:r>
              <a:rPr lang="en-US" sz="2400" dirty="0"/>
              <a:t> of </a:t>
            </a:r>
            <a:r>
              <a:rPr lang="en-US" sz="2400" dirty="0" err="1"/>
              <a:t>TMTdisruption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715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4417-C8E5-80E4-5E6E-F1DB7AE3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5513"/>
            <a:ext cx="10515600" cy="968829"/>
          </a:xfrm>
        </p:spPr>
        <p:txBody>
          <a:bodyPr/>
          <a:lstStyle/>
          <a:p>
            <a:r>
              <a:rPr lang="en-IN" dirty="0"/>
              <a:t>SURGICAL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5A472-748D-EBB9-E5D4-598334976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9286"/>
            <a:ext cx="10515600" cy="3727677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 </a:t>
            </a:r>
          </a:p>
          <a:p>
            <a:r>
              <a:rPr lang="en-US" sz="2400" dirty="0"/>
              <a:t>The medial column was reduced through the dorsal approach. </a:t>
            </a:r>
          </a:p>
          <a:p>
            <a:r>
              <a:rPr lang="en-US" sz="2400" dirty="0"/>
              <a:t>A longitudinal incision lateral to the extensor hallucis longus tendon between the base of first and second metatarsals was made dorsally. </a:t>
            </a:r>
          </a:p>
          <a:p>
            <a:r>
              <a:rPr lang="en-US" sz="2400" dirty="0"/>
              <a:t>The dorsalis pedis artery and the deep peroneal nerve were isolated with a loop and retracted medially or laterally to </a:t>
            </a:r>
            <a:r>
              <a:rPr lang="en-US" sz="2400" dirty="0" err="1"/>
              <a:t>visualise</a:t>
            </a:r>
            <a:r>
              <a:rPr lang="en-US" sz="2400" dirty="0"/>
              <a:t> the Lisfranc joint. </a:t>
            </a:r>
          </a:p>
          <a:p>
            <a:r>
              <a:rPr lang="en-US" sz="2400" dirty="0"/>
              <a:t>Reduction of the second metatarsal cuneiform joint done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184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1994-7447-A76C-F8FE-F2B28170F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dirty="0" err="1"/>
              <a:t>intercuneiform</a:t>
            </a:r>
            <a:r>
              <a:rPr lang="en-US" sz="2400" dirty="0"/>
              <a:t> screw was inserted from the medial to lateral direction from the medial </a:t>
            </a:r>
            <a:r>
              <a:rPr lang="en-US" sz="2400" dirty="0" err="1"/>
              <a:t>cunieform</a:t>
            </a:r>
            <a:r>
              <a:rPr lang="en-US" sz="2400" dirty="0"/>
              <a:t>. </a:t>
            </a:r>
          </a:p>
          <a:p>
            <a:r>
              <a:rPr lang="en-US" sz="2400" dirty="0"/>
              <a:t>The first and third metatarsal cuneiform joints were then reduced and fixed in a similar manner. </a:t>
            </a:r>
          </a:p>
          <a:p>
            <a:r>
              <a:rPr lang="en-US" sz="2400" dirty="0"/>
              <a:t>Stability of the fourth and fifth tarsometatarsal joints was assessed for spontaneous reduction. </a:t>
            </a:r>
          </a:p>
          <a:p>
            <a:r>
              <a:rPr lang="en-US" sz="2400" dirty="0"/>
              <a:t>If they remained unstable, they were fixed with Kirschner wires through a second dorsal incision parallel to the first incision </a:t>
            </a:r>
            <a:r>
              <a:rPr lang="en-US" sz="2400" dirty="0" err="1"/>
              <a:t>dorsolaterally</a:t>
            </a:r>
            <a:r>
              <a:rPr lang="en-US" sz="2400" dirty="0"/>
              <a:t> over the fourth intermetatarsal web space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1767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B32DCA-B613-CF95-92BC-078E32E34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91" y="1919402"/>
            <a:ext cx="7686675" cy="422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D005FF-E07E-C11E-868F-26A5DB357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966" y="2396219"/>
            <a:ext cx="33337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F495D8-51BF-202B-0BD1-F3D14F2787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095"/>
          <a:stretch/>
        </p:blipFill>
        <p:spPr>
          <a:xfrm>
            <a:off x="1113255" y="1341136"/>
            <a:ext cx="4424783" cy="53203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2952C4-5235-5D79-7796-40EADBE8B0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026"/>
          <a:stretch/>
        </p:blipFill>
        <p:spPr>
          <a:xfrm>
            <a:off x="5614699" y="1341136"/>
            <a:ext cx="5070642" cy="53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54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E9F1B049-306C-0FD6-273D-0BFCDFEC9A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02" b="17376"/>
          <a:stretch/>
        </p:blipFill>
        <p:spPr>
          <a:xfrm>
            <a:off x="1491607" y="1294673"/>
            <a:ext cx="4446792" cy="54132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B36517-C772-5767-D390-1F91987C57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907" b="19194"/>
          <a:stretch/>
        </p:blipFill>
        <p:spPr>
          <a:xfrm>
            <a:off x="5938399" y="1294673"/>
            <a:ext cx="4484571" cy="541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88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EFAE-C85B-3C69-76E2-88A75576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1404256"/>
            <a:ext cx="10983686" cy="642257"/>
          </a:xfrm>
        </p:spPr>
        <p:txBody>
          <a:bodyPr/>
          <a:lstStyle/>
          <a:p>
            <a:r>
              <a:rPr lang="en-IN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CC0C1-AE3B-FC4E-FDD3-074B4C434E5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70114" y="2329542"/>
            <a:ext cx="11288486" cy="4386943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There are few debates in the literature regarding the most appropriate method of treatment.</a:t>
            </a:r>
          </a:p>
          <a:p>
            <a:r>
              <a:rPr lang="en-US" sz="2400" dirty="0"/>
              <a:t>Open reduction and internal fixation (ORIF) is the mainstay of treatment for displaced Lisfranc injuries, using either </a:t>
            </a:r>
            <a:r>
              <a:rPr lang="en-US" sz="2400" dirty="0" err="1"/>
              <a:t>transarticular</a:t>
            </a:r>
            <a:r>
              <a:rPr lang="en-US" sz="2400" dirty="0"/>
              <a:t> screws or dorsal bridge plating, which avoids cartilage violation. </a:t>
            </a:r>
          </a:p>
          <a:p>
            <a:r>
              <a:rPr lang="en-US" sz="2400" dirty="0"/>
              <a:t>Several authors reported better functional and radiological outcomes with </a:t>
            </a:r>
            <a:r>
              <a:rPr lang="en-US" sz="2400" dirty="0" err="1"/>
              <a:t>transarticular</a:t>
            </a:r>
            <a:r>
              <a:rPr lang="en-US" sz="2400" dirty="0"/>
              <a:t> screws, highlighting the importance of reduction as opposed to the used technique.</a:t>
            </a:r>
          </a:p>
          <a:p>
            <a:r>
              <a:rPr lang="en-US" sz="2400" dirty="0"/>
              <a:t>Primary partial arthrodesis (PPA) has also been proposed to treat Lisfranc dislocations. where PPA was found to be superior to ORIF only in terms of hardware removal.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89467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F242-D3F8-8567-07E0-98E0413E2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113"/>
            <a:ext cx="10515600" cy="72934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3508E-8374-45C0-D957-ED11268A9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399"/>
            <a:ext cx="10515600" cy="3738563"/>
          </a:xfrm>
        </p:spPr>
        <p:txBody>
          <a:bodyPr/>
          <a:lstStyle/>
          <a:p>
            <a:r>
              <a:rPr lang="en-US" sz="2400" dirty="0"/>
              <a:t>Patients were followed up for 12 months</a:t>
            </a:r>
          </a:p>
          <a:p>
            <a:r>
              <a:rPr lang="en-US" sz="2400" dirty="0"/>
              <a:t>Maximum cases were fixed with screws alone, few with Kirschner wires and screws both. </a:t>
            </a:r>
          </a:p>
          <a:p>
            <a:r>
              <a:rPr lang="en-US" sz="2400" dirty="0"/>
              <a:t>Two patients developed post-traumatic arthritis.</a:t>
            </a:r>
          </a:p>
          <a:p>
            <a:r>
              <a:rPr lang="en-US" sz="2400" dirty="0"/>
              <a:t>No patients had deep venous thrombosis, painful neuroma, vascular insufficiency, or reflex sympathetic dystrophy. </a:t>
            </a:r>
          </a:p>
          <a:p>
            <a:endParaRPr lang="en-US" sz="2400" dirty="0"/>
          </a:p>
          <a:p>
            <a:pPr marL="0" indent="0">
              <a:buNone/>
            </a:pPr>
            <a:endParaRPr lang="en-IN" sz="24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6746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523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Gordita </vt:lpstr>
      <vt:lpstr>Office Theme</vt:lpstr>
      <vt:lpstr>MANAGEMENT OF LISFRANC INJURY BY OPEN REDUCTION AND INTERNAL FIXATION WITH CC SCREWS</vt:lpstr>
      <vt:lpstr>INTRODUCTION</vt:lpstr>
      <vt:lpstr>PowerPoint Presentation</vt:lpstr>
      <vt:lpstr>SURGICAL TECHNIQUE</vt:lpstr>
      <vt:lpstr>PowerPoint Presentation</vt:lpstr>
      <vt:lpstr>PowerPoint Presentation</vt:lpstr>
      <vt:lpstr>PowerPoint Presentation</vt:lpstr>
      <vt:lpstr>PowerPoint Presentation</vt:lpstr>
      <vt:lpstr>DISCUSSION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Pravalika Ronanki</cp:lastModifiedBy>
  <cp:revision>5</cp:revision>
  <dcterms:created xsi:type="dcterms:W3CDTF">2026-01-11T06:24:43Z</dcterms:created>
  <dcterms:modified xsi:type="dcterms:W3CDTF">2026-02-15T21:03:01Z</dcterms:modified>
</cp:coreProperties>
</file>