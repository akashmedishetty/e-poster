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1.png" Id="rId13" /><Relationship Type="http://schemas.openxmlformats.org/officeDocument/2006/relationships/theme" Target="/ppt/theme/theme1.xml" Id="rId12" /><Relationship Type="http://schemas.openxmlformats.org/officeDocument/2006/relationships/image" Target="/ppt/media/image4.png" Id="rId16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3.png" Id="rId15" /><Relationship Type="http://schemas.openxmlformats.org/officeDocument/2006/relationships/image" Target="/ppt/media/image2.png" Id="rId14" /></Relationships>
</file>

<file path=ppt/slideMasters/slideMaster1.xml><?xml version="1.0" encoding="utf-8"?>
<p:sldMaster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0.jpg" Id="rId8" /><Relationship Type="http://schemas.openxmlformats.org/officeDocument/2006/relationships/image" Target="/ppt/media/image6.png" Id="rId3" /><Relationship Type="http://schemas.openxmlformats.org/officeDocument/2006/relationships/image" Target="/ppt/media/image9.jpeg" Id="rId7" /><Relationship Type="http://schemas.openxmlformats.org/officeDocument/2006/relationships/image" Target="/ppt/media/image5.png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8.jpg" Id="rId6" /><Relationship Type="http://schemas.openxmlformats.org/officeDocument/2006/relationships/image" Target="/ppt/media/image13.jpeg" Id="rId11" /><Relationship Type="http://schemas.openxmlformats.org/officeDocument/2006/relationships/image" Target="/ppt/media/image4.png" Id="rId5" /><Relationship Type="http://schemas.openxmlformats.org/officeDocument/2006/relationships/image" Target="/ppt/media/image12.jpeg" Id="rId10" /><Relationship Type="http://schemas.openxmlformats.org/officeDocument/2006/relationships/image" Target="/ppt/media/image7.png" Id="rId4" /><Relationship Type="http://schemas.openxmlformats.org/officeDocument/2006/relationships/image" Target="/ppt/media/image11.jpeg" Id="rId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45083" y="-37698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alt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BILATERAL CALCINOSIS CUTIS : A RARE CASE REPORT</a:t>
            </a:r>
            <a:endParaRPr lang="en-I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PRESENTER : Dr. G JAYENDRA REDDY, POST GRADUATE </a:t>
            </a:r>
          </a:p>
          <a:p>
            <a:pPr algn="ctr"/>
            <a:r>
              <a:rPr lang="en-IN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 GUIDE : Dr. CHANDRA SEKHAR MS ORTHO, ASST PROFESSOR     </a:t>
            </a:r>
          </a:p>
          <a:p>
            <a:pPr algn="ctr"/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                                                      KURNOOL MEDICAL COLLEGE,</a:t>
            </a:r>
            <a:r>
              <a:rPr lang="en-IN" alt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KURNOOL </a:t>
            </a: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DISTRICT.</a:t>
            </a:r>
            <a:r>
              <a:rPr lang="en-IN" alt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                     ID :  </a:t>
            </a: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OSSAP-068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951" y="268706"/>
            <a:ext cx="1130088" cy="8089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333" y="149433"/>
            <a:ext cx="829840" cy="7442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790" y="181938"/>
            <a:ext cx="756285" cy="744220"/>
          </a:xfrm>
          <a:prstGeom prst="rect">
            <a:avLst/>
          </a:prstGeom>
        </p:spPr>
      </p:pic>
      <p:sp>
        <p:nvSpPr>
          <p:cNvPr id="4" name="Freeform 13"/>
          <p:cNvSpPr/>
          <p:nvPr/>
        </p:nvSpPr>
        <p:spPr>
          <a:xfrm>
            <a:off x="635" y="12065"/>
            <a:ext cx="1722326" cy="1239969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98" y="1632114"/>
            <a:ext cx="4148418" cy="2583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" y="4215293"/>
            <a:ext cx="4165904" cy="2642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72637" y="1280157"/>
            <a:ext cx="3136594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01007" y="1684372"/>
            <a:ext cx="4890992" cy="36862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24735" y="5387857"/>
            <a:ext cx="4867265" cy="14701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" y="1280157"/>
            <a:ext cx="4157133" cy="38800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57133" y="1280157"/>
            <a:ext cx="313761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9232" y="1280157"/>
            <a:ext cx="4882766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4101167"/>
            <a:ext cx="4156117" cy="32383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494" y="5398718"/>
            <a:ext cx="4876504" cy="3352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429" y="1788920"/>
            <a:ext cx="4118906" cy="23026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Calcinosis cutis is a rare disorder characterized by deposition of insoluble calcium salts in the skin and subcutaneous tissues.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It is classified into dystrophic, metastatic, idiopathic, iatrogenic calcification, and calciphylaxis.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Dystrophic calcinosis cutis is the most common type and occurs in areas of tissue damage despite normal serum calcium and phosphate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Common sites include fingers, forearms, and periarticular regions.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Bilateral gluteal involvement is extremely rare, prompting this report.</a:t>
            </a:r>
            <a:endParaRPr lang="en-I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636" y="4434577"/>
            <a:ext cx="4149788" cy="24234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62-year-old female presented with painless swellings over the bilateral lateral gluteal region for 10 years, gradually progressive, associated with pain for last 1yr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O/E : Bilateral, firm, mobile swellings with slip sign +</a:t>
            </a:r>
            <a:r>
              <a:rPr lang="en-IN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endParaRPr lang="en-I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Investigations :Serum calcium, phosphate &amp;  Renal parameters – Normal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X-ray pelvis: lobulated soft-tissue calcifications over bilateral iliac region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MRI: well-defined subcutaneous lobulated calcified lesions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diagnosis of bilateral dystrophic calcinosis cutis was made</a:t>
            </a:r>
            <a:endParaRPr lang="en-I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171619" y="1674795"/>
            <a:ext cx="3121101" cy="5145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Bilateral excision of calcinosis cutis was performed under spinal anesthesia.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Intraoperatively, chalky white, lobulated calcified masses were found in the subcutaneous plane, not adherent to underlying muscle or bone.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Complete excision was achieved.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Post-operative recovery was uneventful with significant pain relief.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Post-operative radiographs confirmed complete removal.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7315494" y="1712494"/>
            <a:ext cx="4831421" cy="197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Calcinosis cutis results from deposition of calcium phosphate crystals in soft tissues.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Dystrophic calcification occurs in damaged tissues with normal biochemical parameters.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gluteal region is an uncommon site, and bilateral presentation is rare.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Differential diagnoses include myositis ossificans, tumoral calcinosis, calcified hematoma, and soft tissue tumors.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Surgical excision is indicated in symptomatic cases and shows excellent outcomes..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7356764" y="5751267"/>
            <a:ext cx="4818725" cy="10692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Bilateral calcinosis cutis of the gluteal region is a rare 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Accurate diagnosis requires correlation of clinical, radiological, and biochemical findings.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Complete surgical excision offers effective symptomatic relief and good functional outcome.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69698A-37FC-9A49-8859-98971DFAED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64" y="3951401"/>
            <a:ext cx="2522485" cy="1362372"/>
          </a:xfrm>
          <a:prstGeom prst="rect">
            <a:avLst/>
          </a:prstGeom>
        </p:spPr>
      </p:pic>
      <p:pic>
        <p:nvPicPr>
          <p:cNvPr id="19" name="Google Shape;93;p1">
            <a:extLst>
              <a:ext uri="{FF2B5EF4-FFF2-40B4-BE49-F238E27FC236}">
                <a16:creationId xmlns:a16="http://schemas.microsoft.com/office/drawing/2014/main" id="{CDC03AB6-C4EE-A457-D0A4-8684862324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1188" y="5345765"/>
            <a:ext cx="1496191" cy="150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9BD59A-99A3-64CE-7767-BF31ACD607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3994" y="3951401"/>
            <a:ext cx="2242921" cy="1362372"/>
          </a:xfrm>
          <a:prstGeom prst="rect">
            <a:avLst/>
          </a:prstGeom>
        </p:spPr>
      </p:pic>
      <p:pic>
        <p:nvPicPr>
          <p:cNvPr id="29" name="Google Shape;92;p1">
            <a:extLst>
              <a:ext uri="{FF2B5EF4-FFF2-40B4-BE49-F238E27FC236}">
                <a16:creationId xmlns:a16="http://schemas.microsoft.com/office/drawing/2014/main" id="{41F2D172-35F1-467F-4A8E-A15D86256CC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33863" y="5370596"/>
            <a:ext cx="1560881" cy="148740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97;p1">
            <a:extLst>
              <a:ext uri="{FF2B5EF4-FFF2-40B4-BE49-F238E27FC236}">
                <a16:creationId xmlns:a16="http://schemas.microsoft.com/office/drawing/2014/main" id="{3C9AA9CF-26ED-410C-09E3-3C0EC209041E}"/>
              </a:ext>
            </a:extLst>
          </p:cNvPr>
          <p:cNvSpPr/>
          <p:nvPr/>
        </p:nvSpPr>
        <p:spPr>
          <a:xfrm>
            <a:off x="7356763" y="3695023"/>
            <a:ext cx="2547231" cy="239116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          </a:t>
            </a:r>
            <a:r>
              <a:rPr lang="en-US" sz="1400" b="1" dirty="0">
                <a:solidFill>
                  <a:srgbClr val="FFFFFF"/>
                </a:solidFill>
              </a:rPr>
              <a:t>Pre op X ray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5" name="Google Shape;98;p1">
            <a:extLst>
              <a:ext uri="{FF2B5EF4-FFF2-40B4-BE49-F238E27FC236}">
                <a16:creationId xmlns:a16="http://schemas.microsoft.com/office/drawing/2014/main" id="{66D46A89-A19F-EAD3-26BE-3C7AB4BDE527}"/>
              </a:ext>
            </a:extLst>
          </p:cNvPr>
          <p:cNvSpPr/>
          <p:nvPr/>
        </p:nvSpPr>
        <p:spPr>
          <a:xfrm>
            <a:off x="9908744" y="3702706"/>
            <a:ext cx="2238171" cy="239116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       Post op x ray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1189" y="3843631"/>
            <a:ext cx="1492170" cy="1487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91;p1">
            <a:extLst>
              <a:ext uri="{FF2B5EF4-FFF2-40B4-BE49-F238E27FC236}">
                <a16:creationId xmlns:a16="http://schemas.microsoft.com/office/drawing/2014/main" id="{D135817B-77ED-F9B6-7D52-9B10A3F47D6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25638" y="3843631"/>
            <a:ext cx="1560881" cy="148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374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Gordita</vt:lpstr>
      <vt:lpstr>Gordita 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jayendra reddy</cp:lastModifiedBy>
  <cp:revision>67</cp:revision>
  <dcterms:created xsi:type="dcterms:W3CDTF">2026-01-11T06:24:00Z</dcterms:created>
  <dcterms:modified xsi:type="dcterms:W3CDTF">2026-02-04T19:11:56Z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717F83709F98404495F3FAFAF442DCBD_13</vt:lpwstr>
  </property>
  <property fmtid="{D5CDD505-2E9C-101B-9397-08002B2CF9AE}" pid="3" name="KSOProductBuildVer">
    <vt:lpwstr>1033-12.2.0.23196</vt:lpwstr>
  </property>
</Properties>
</file>