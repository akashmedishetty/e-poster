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AD876C-50AE-4623-B20C-58ADA8A29EB8}" v="8" dt="2026-01-25T17:20:58.0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hosh rajasekaran" userId="bb150037fc24acb8" providerId="LiveId" clId="{3C32385C-4E14-41AA-B586-4E2BF9DEE4CB}"/>
    <pc:docChg chg="undo custSel addSld delSld modSld">
      <pc:chgData name="santhosh rajasekaran" userId="bb150037fc24acb8" providerId="LiveId" clId="{3C32385C-4E14-41AA-B586-4E2BF9DEE4CB}" dt="2026-01-27T15:31:06.616" v="1277" actId="20577"/>
      <pc:docMkLst>
        <pc:docMk/>
      </pc:docMkLst>
      <pc:sldChg chg="addSp delSp modSp mod">
        <pc:chgData name="santhosh rajasekaran" userId="bb150037fc24acb8" providerId="LiveId" clId="{3C32385C-4E14-41AA-B586-4E2BF9DEE4CB}" dt="2026-01-27T15:31:06.616" v="1277" actId="20577"/>
        <pc:sldMkLst>
          <pc:docMk/>
          <pc:sldMk cId="3607354635" sldId="256"/>
        </pc:sldMkLst>
        <pc:spChg chg="add mod">
          <ac:chgData name="santhosh rajasekaran" userId="bb150037fc24acb8" providerId="LiveId" clId="{3C32385C-4E14-41AA-B586-4E2BF9DEE4CB}" dt="2026-01-25T17:38:54.528" v="1159" actId="1037"/>
          <ac:spMkLst>
            <pc:docMk/>
            <pc:sldMk cId="3607354635" sldId="256"/>
            <ac:spMk id="3" creationId="{2EFFB3EA-29A2-B827-ADF0-E5DB0383547D}"/>
          </ac:spMkLst>
        </pc:spChg>
        <pc:spChg chg="mod">
          <ac:chgData name="santhosh rajasekaran" userId="bb150037fc24acb8" providerId="LiveId" clId="{3C32385C-4E14-41AA-B586-4E2BF9DEE4CB}" dt="2026-01-25T16:25:18.952" v="516" actId="14100"/>
          <ac:spMkLst>
            <pc:docMk/>
            <pc:sldMk cId="3607354635" sldId="256"/>
            <ac:spMk id="5" creationId="{1D4F9D5A-1DDA-4BC3-63F3-F36226B86C87}"/>
          </ac:spMkLst>
        </pc:spChg>
        <pc:spChg chg="mod">
          <ac:chgData name="santhosh rajasekaran" userId="bb150037fc24acb8" providerId="LiveId" clId="{3C32385C-4E14-41AA-B586-4E2BF9DEE4CB}" dt="2026-01-25T16:18:07.720" v="500" actId="14100"/>
          <ac:spMkLst>
            <pc:docMk/>
            <pc:sldMk cId="3607354635" sldId="256"/>
            <ac:spMk id="6" creationId="{EC094F03-F93B-9B6D-7C11-87F9C75E6ABB}"/>
          </ac:spMkLst>
        </pc:spChg>
        <pc:spChg chg="mod">
          <ac:chgData name="santhosh rajasekaran" userId="bb150037fc24acb8" providerId="LiveId" clId="{3C32385C-4E14-41AA-B586-4E2BF9DEE4CB}" dt="2026-01-25T18:14:21.286" v="1235" actId="1076"/>
          <ac:spMkLst>
            <pc:docMk/>
            <pc:sldMk cId="3607354635" sldId="256"/>
            <ac:spMk id="14" creationId="{E872BCCA-09F4-9D91-AE26-B5E437D7714E}"/>
          </ac:spMkLst>
        </pc:spChg>
        <pc:spChg chg="mod">
          <ac:chgData name="santhosh rajasekaran" userId="bb150037fc24acb8" providerId="LiveId" clId="{3C32385C-4E14-41AA-B586-4E2BF9DEE4CB}" dt="2026-01-25T18:02:52.870" v="1210" actId="404"/>
          <ac:spMkLst>
            <pc:docMk/>
            <pc:sldMk cId="3607354635" sldId="256"/>
            <ac:spMk id="18" creationId="{EA6BB7B0-D981-FEB6-4479-7A49704B2B87}"/>
          </ac:spMkLst>
        </pc:spChg>
        <pc:spChg chg="mod">
          <ac:chgData name="santhosh rajasekaran" userId="bb150037fc24acb8" providerId="LiveId" clId="{3C32385C-4E14-41AA-B586-4E2BF9DEE4CB}" dt="2026-01-25T16:15:33.995" v="218" actId="20577"/>
          <ac:spMkLst>
            <pc:docMk/>
            <pc:sldMk cId="3607354635" sldId="256"/>
            <ac:spMk id="19" creationId="{CF1F608A-7742-BF27-09EC-3BB7CA324D68}"/>
          </ac:spMkLst>
        </pc:spChg>
        <pc:spChg chg="add del mod">
          <ac:chgData name="santhosh rajasekaran" userId="bb150037fc24acb8" providerId="LiveId" clId="{3C32385C-4E14-41AA-B586-4E2BF9DEE4CB}" dt="2026-01-25T16:18:20.687" v="512" actId="20577"/>
          <ac:spMkLst>
            <pc:docMk/>
            <pc:sldMk cId="3607354635" sldId="256"/>
            <ac:spMk id="20" creationId="{C0616687-624D-607B-6F85-335EE46873F1}"/>
          </ac:spMkLst>
        </pc:spChg>
        <pc:spChg chg="add mod">
          <ac:chgData name="santhosh rajasekaran" userId="bb150037fc24acb8" providerId="LiveId" clId="{3C32385C-4E14-41AA-B586-4E2BF9DEE4CB}" dt="2026-01-25T18:01:33.801" v="1196" actId="20577"/>
          <ac:spMkLst>
            <pc:docMk/>
            <pc:sldMk cId="3607354635" sldId="256"/>
            <ac:spMk id="25" creationId="{D37AC4AB-DD75-2A61-380C-B2924F6AF51D}"/>
          </ac:spMkLst>
        </pc:spChg>
        <pc:spChg chg="add mod">
          <ac:chgData name="santhosh rajasekaran" userId="bb150037fc24acb8" providerId="LiveId" clId="{3C32385C-4E14-41AA-B586-4E2BF9DEE4CB}" dt="2026-01-25T18:15:20.558" v="1245" actId="114"/>
          <ac:spMkLst>
            <pc:docMk/>
            <pc:sldMk cId="3607354635" sldId="256"/>
            <ac:spMk id="29" creationId="{65AB5B67-1C96-D30F-3228-761DEDB259D8}"/>
          </ac:spMkLst>
        </pc:spChg>
        <pc:spChg chg="add mod">
          <ac:chgData name="santhosh rajasekaran" userId="bb150037fc24acb8" providerId="LiveId" clId="{3C32385C-4E14-41AA-B586-4E2BF9DEE4CB}" dt="2026-01-27T15:31:06.616" v="1277" actId="20577"/>
          <ac:spMkLst>
            <pc:docMk/>
            <pc:sldMk cId="3607354635" sldId="256"/>
            <ac:spMk id="31" creationId="{27F4F4BC-DBC1-3385-3BE1-E959549CC0CF}"/>
          </ac:spMkLst>
        </pc:spChg>
        <pc:picChg chg="add mod">
          <ac:chgData name="santhosh rajasekaran" userId="bb150037fc24acb8" providerId="LiveId" clId="{3C32385C-4E14-41AA-B586-4E2BF9DEE4CB}" dt="2026-01-25T17:32:09.810" v="1125" actId="14100"/>
          <ac:picMkLst>
            <pc:docMk/>
            <pc:sldMk cId="3607354635" sldId="256"/>
            <ac:picMk id="59" creationId="{A3CFB05F-5404-9610-8999-2789DEA0EE6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C41F12-1FB9-4966-9B5C-32CC9266BFEB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2A2AA-3DC0-4A72-8499-22EF69BF91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203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2A2AA-3DC0-4A72-8499-22EF69BF912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438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72BCCA-09F4-9D91-AE26-B5E437D7714E}"/>
              </a:ext>
            </a:extLst>
          </p:cNvPr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6BB7B0-D981-FEB6-4479-7A49704B2B87}"/>
              </a:ext>
            </a:extLst>
          </p:cNvPr>
          <p:cNvSpPr txBox="1"/>
          <p:nvPr/>
        </p:nvSpPr>
        <p:spPr>
          <a:xfrm>
            <a:off x="2575249" y="27424"/>
            <a:ext cx="639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Gordita "/>
              </a:rPr>
              <a:t>CHRONIC FUNGAL OSTEOMYELITIS OF 4th , 5</a:t>
            </a:r>
            <a:r>
              <a:rPr lang="en-US" sz="1600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sz="1600" b="1" dirty="0">
                <a:solidFill>
                  <a:schemeClr val="bg1"/>
                </a:solidFill>
                <a:latin typeface="Gordita "/>
              </a:rPr>
              <a:t> METATARSAL DUE TO ASPERGILUS SPECIES IN AN INMMUNOCOMPROMISED PATIENT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1F608A-7742-BF27-09EC-3BB7CA324D68}"/>
              </a:ext>
            </a:extLst>
          </p:cNvPr>
          <p:cNvSpPr txBox="1"/>
          <p:nvPr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PRESENTING AUTHOR:DR.R.SANTHOSH 3</a:t>
            </a:r>
            <a:r>
              <a:rPr lang="en-US" sz="1200" b="1" baseline="30000" dirty="0">
                <a:solidFill>
                  <a:schemeClr val="bg1"/>
                </a:solidFill>
                <a:latin typeface="Gordita "/>
              </a:rPr>
              <a:t>RD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 YR POSTGRADUATE,RMC,KAKINADA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616687-624D-607B-6F85-335EE46873F1}"/>
              </a:ext>
            </a:extLst>
          </p:cNvPr>
          <p:cNvSpPr txBox="1"/>
          <p:nvPr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UNDER THE GUIDANCE OF DR.SIVANANDA(HOD),DR.R.G.MADHU(ASSO PROF),DR.RAJA KISHORE(ASST PROF)</a:t>
            </a: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F401C6F-33A3-A415-AD1A-709059E901BF}"/>
              </a:ext>
            </a:extLst>
          </p:cNvPr>
          <p:cNvSpPr/>
          <p:nvPr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F9D5A-1DDA-4BC3-63F3-F36226B86C87}"/>
              </a:ext>
            </a:extLst>
          </p:cNvPr>
          <p:cNvSpPr/>
          <p:nvPr/>
        </p:nvSpPr>
        <p:spPr>
          <a:xfrm>
            <a:off x="0" y="1674796"/>
            <a:ext cx="3108960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94F03-F93B-9B6D-7C11-87F9C75E6ABB}"/>
              </a:ext>
            </a:extLst>
          </p:cNvPr>
          <p:cNvSpPr/>
          <p:nvPr/>
        </p:nvSpPr>
        <p:spPr>
          <a:xfrm>
            <a:off x="0" y="5080536"/>
            <a:ext cx="3108960" cy="1777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47E9-312C-D04A-D368-EE96CE32C982}"/>
              </a:ext>
            </a:extLst>
          </p:cNvPr>
          <p:cNvSpPr/>
          <p:nvPr/>
        </p:nvSpPr>
        <p:spPr>
          <a:xfrm>
            <a:off x="3137836" y="1280157"/>
            <a:ext cx="3185962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874B9-B8E1-A36B-AA38-6FCC7D5D8F32}"/>
              </a:ext>
            </a:extLst>
          </p:cNvPr>
          <p:cNvSpPr/>
          <p:nvPr/>
        </p:nvSpPr>
        <p:spPr>
          <a:xfrm>
            <a:off x="6352674" y="1477475"/>
            <a:ext cx="5839326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FC2BB9-1938-0DF3-F424-CAC28C6D9880}"/>
              </a:ext>
            </a:extLst>
          </p:cNvPr>
          <p:cNvSpPr/>
          <p:nvPr/>
        </p:nvSpPr>
        <p:spPr>
          <a:xfrm>
            <a:off x="6352674" y="5080536"/>
            <a:ext cx="5839326" cy="1777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C050E-DD7C-3885-8EBF-D74C223C0531}"/>
              </a:ext>
            </a:extLst>
          </p:cNvPr>
          <p:cNvSpPr/>
          <p:nvPr/>
        </p:nvSpPr>
        <p:spPr>
          <a:xfrm>
            <a:off x="0" y="1280157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BCB5-BB50-7945-E88B-86122853702B}"/>
              </a:ext>
            </a:extLst>
          </p:cNvPr>
          <p:cNvSpPr/>
          <p:nvPr/>
        </p:nvSpPr>
        <p:spPr>
          <a:xfrm>
            <a:off x="3137836" y="1280157"/>
            <a:ext cx="318596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DCDE1-7E85-0646-3543-9C1638CEB9CA}"/>
              </a:ext>
            </a:extLst>
          </p:cNvPr>
          <p:cNvSpPr/>
          <p:nvPr/>
        </p:nvSpPr>
        <p:spPr>
          <a:xfrm>
            <a:off x="6352673" y="1280157"/>
            <a:ext cx="5839325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30820-FF42-EA8A-339B-145E1FC668F5}"/>
              </a:ext>
            </a:extLst>
          </p:cNvPr>
          <p:cNvSpPr/>
          <p:nvPr/>
        </p:nvSpPr>
        <p:spPr>
          <a:xfrm>
            <a:off x="0" y="5005136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633B59-00B8-9FD5-0D31-D1688B16556B}"/>
              </a:ext>
            </a:extLst>
          </p:cNvPr>
          <p:cNvSpPr/>
          <p:nvPr/>
        </p:nvSpPr>
        <p:spPr>
          <a:xfrm>
            <a:off x="6352674" y="4807817"/>
            <a:ext cx="5839324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FFB3EA-29A2-B827-ADF0-E5DB0383547D}"/>
              </a:ext>
            </a:extLst>
          </p:cNvPr>
          <p:cNvSpPr txBox="1"/>
          <p:nvPr/>
        </p:nvSpPr>
        <p:spPr>
          <a:xfrm>
            <a:off x="74596" y="1736824"/>
            <a:ext cx="295308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Fungal infections are usually indolent in immunocompetent individuals but may rapidly disseminate and become fatal in immunocompromised hosts.</a:t>
            </a:r>
          </a:p>
          <a:p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Chronic fungal osteomyelitis is a rare, slowly progressive bone infection that can lead to extensive bone destruction if untreated.</a:t>
            </a:r>
          </a:p>
          <a:p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Infection may occur through direct inoculation following trauma, open wounds or surgery, hematogenous spread, or contiguous extension from adjacent sites.</a:t>
            </a:r>
            <a:endParaRPr lang="en-IN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7AC4AB-DD75-2A61-380C-B2924F6AF51D}"/>
              </a:ext>
            </a:extLst>
          </p:cNvPr>
          <p:cNvSpPr txBox="1"/>
          <p:nvPr/>
        </p:nvSpPr>
        <p:spPr>
          <a:xfrm>
            <a:off x="-71120" y="5348973"/>
            <a:ext cx="320895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A 55Y/M k/c/o Diabetes with a remote thorn prick injury presented with multiple draining sinuses of the rt foot, and imaging confirmed chronic osteomyelitis  managed by surgical debridement and tigecycline-loaded  pellets followed by antifungals.</a:t>
            </a:r>
            <a:endParaRPr lang="en-IN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AB5B67-1C96-D30F-3228-761DEDB259D8}"/>
              </a:ext>
            </a:extLst>
          </p:cNvPr>
          <p:cNvSpPr txBox="1"/>
          <p:nvPr/>
        </p:nvSpPr>
        <p:spPr>
          <a:xfrm>
            <a:off x="6352672" y="1674794"/>
            <a:ext cx="561369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A 55-year-old diabetic male presented with multiple draining sinuses of the right foot for one month, with a remote history of thorn prick injury 15 years back and recurrent self-healing sinuses.</a:t>
            </a:r>
          </a:p>
          <a:p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Examination showed three sinuses over the midfoot and hindfoot with preserved neurovascular status; XRAY and 	MRI revealed chronic osteomyelitis of the 4th  &amp; 5th metatarsal with deep soft-tissue infection.</a:t>
            </a:r>
          </a:p>
          <a:p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The patient underwent surgical debridement and curettage with </a:t>
            </a:r>
            <a:r>
              <a:rPr lang="en-US" sz="1400" i="1" dirty="0"/>
              <a:t>tigecycline(sensitive)-loaded calcium sulphate pellets</a:t>
            </a:r>
            <a:r>
              <a:rPr lang="en-US" sz="1400" dirty="0"/>
              <a:t>, and intraoperative samples were sent for microbiology and histopathology.</a:t>
            </a:r>
          </a:p>
          <a:p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Sample reports came as CHRONIC GRANULOMATOUS PIGMENTED FUNGAL OSTEOMYELITIS.</a:t>
            </a:r>
          </a:p>
          <a:p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Postoperatively, he received IV and oral antifungals then advised non–weight bearing  for 4 weeks. 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F4F4BC-DBC1-3385-3BE1-E959549CC0CF}"/>
              </a:ext>
            </a:extLst>
          </p:cNvPr>
          <p:cNvSpPr txBox="1"/>
          <p:nvPr/>
        </p:nvSpPr>
        <p:spPr>
          <a:xfrm>
            <a:off x="6381198" y="5292826"/>
            <a:ext cx="583932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ym typeface="Wingdings" panose="05000000000000000000" pitchFamily="2" charset="2"/>
              </a:rPr>
              <a:t> </a:t>
            </a:r>
            <a:r>
              <a:rPr lang="en-US" sz="1400" dirty="0"/>
              <a:t>Aspergillus chronic fungal osteomyelitis is a debilitating infection  affecting both immunocompromised and immunocompetent patients.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400" dirty="0"/>
              <a:t>Thus, management optimally includes antifungal therapy and individualized surgery based upon site and local complications to achieve a </a:t>
            </a:r>
            <a:r>
              <a:rPr lang="en-US" sz="1400" dirty="0" err="1"/>
              <a:t>favourable</a:t>
            </a:r>
            <a:r>
              <a:rPr lang="en-US" sz="1400" dirty="0"/>
              <a:t> outcome.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400" i="1" dirty="0"/>
              <a:t>Reference</a:t>
            </a:r>
            <a:r>
              <a:rPr lang="en-US" sz="1400" dirty="0"/>
              <a:t>:Fungal Osteomyelitis: A Systematic Review of Reported Cases - https://pmc.ncbi.nlm.nih.gov/articles/PMC10383745/</a:t>
            </a:r>
            <a:endParaRPr lang="en-IN" sz="14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A3CFB05F-5404-9610-8999-2789DEA0EE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1243" y="1674794"/>
            <a:ext cx="3139147" cy="515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369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Gordita 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santhosh rajasekaran</cp:lastModifiedBy>
  <cp:revision>3</cp:revision>
  <dcterms:created xsi:type="dcterms:W3CDTF">2026-01-11T06:24:43Z</dcterms:created>
  <dcterms:modified xsi:type="dcterms:W3CDTF">2026-01-27T15:31:08Z</dcterms:modified>
</cp:coreProperties>
</file>