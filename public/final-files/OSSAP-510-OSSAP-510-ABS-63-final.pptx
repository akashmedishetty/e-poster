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-1" y="1"/>
            <a:ext cx="12192001" cy="1357344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3" y="74821"/>
            <a:ext cx="1436117" cy="14361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1217074" cy="12170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2" y="192302"/>
            <a:ext cx="1082009" cy="10820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1230586" y="0"/>
            <a:ext cx="10325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sz="1600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sz="1600" b="1" dirty="0">
                <a:solidFill>
                  <a:schemeClr val="bg1"/>
                </a:solidFill>
                <a:latin typeface="Gordita "/>
              </a:rPr>
              <a:t>   Annual Conference of 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1230586" y="288644"/>
            <a:ext cx="1015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0" u="none" strike="noStrike" dirty="0">
                <a:solidFill>
                  <a:schemeClr val="bg1"/>
                </a:solidFill>
                <a:effectLst/>
                <a:latin typeface="-webkit-standard"/>
              </a:rPr>
              <a:t>TITLE: </a:t>
            </a:r>
            <a:r>
              <a:rPr lang="en-US" sz="1400" b="1" i="0" u="none" strike="noStrike" dirty="0" err="1">
                <a:solidFill>
                  <a:schemeClr val="bg1"/>
                </a:solidFill>
                <a:effectLst/>
                <a:latin typeface="-webkit-standard"/>
              </a:rPr>
              <a:t>CAMPANACCI</a:t>
            </a:r>
            <a:r>
              <a:rPr lang="en-US" sz="1400" b="1" i="0" u="none" strike="noStrike" dirty="0">
                <a:solidFill>
                  <a:schemeClr val="bg1"/>
                </a:solidFill>
                <a:effectLst/>
                <a:latin typeface="-webkit-standard"/>
              </a:rPr>
              <a:t> GRADE III GIANT CELL TUMOR OF THE DISTAL RADIUS MANAGED BY EN BLOC RESECTION AND </a:t>
            </a:r>
            <a:r>
              <a:rPr lang="en-US" sz="1400" b="1" i="0" u="none" strike="noStrike" dirty="0" err="1">
                <a:solidFill>
                  <a:schemeClr val="bg1"/>
                </a:solidFill>
                <a:effectLst/>
                <a:latin typeface="-webkit-standard"/>
              </a:rPr>
              <a:t>NON-VASCULARISED</a:t>
            </a:r>
            <a:r>
              <a:rPr lang="en-US" sz="1400" b="1" i="0" u="none" strike="noStrike" dirty="0">
                <a:solidFill>
                  <a:schemeClr val="bg1"/>
                </a:solidFill>
                <a:effectLst/>
                <a:latin typeface="-webkit-standard"/>
              </a:rPr>
              <a:t> FIBULAR AUTOGRAFT RECONSTRUCTION: A CASE REPORT</a:t>
            </a:r>
            <a:endParaRPr lang="en-US" sz="13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1230586" y="714477"/>
            <a:ext cx="10423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r>
              <a:rPr lang="en-IN" sz="1200" b="1" dirty="0">
                <a:solidFill>
                  <a:schemeClr val="bg1"/>
                </a:solidFill>
                <a:latin typeface="Gordita "/>
              </a:rPr>
              <a:t>      </a:t>
            </a:r>
          </a:p>
          <a:p>
            <a:r>
              <a:rPr lang="en-IN" sz="1200" b="1" dirty="0" err="1">
                <a:solidFill>
                  <a:schemeClr val="bg1"/>
                </a:solidFill>
                <a:latin typeface="Gordita "/>
              </a:rPr>
              <a:t>Organized</a:t>
            </a:r>
            <a:r>
              <a:rPr lang="en-IN" sz="1200" b="1" dirty="0">
                <a:solidFill>
                  <a:schemeClr val="bg1"/>
                </a:solidFill>
                <a:latin typeface="Gordita "/>
              </a:rPr>
              <a:t> by : Department of Orthopaedics, Kurnool Medical College Kurnool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-190577" y="95893"/>
            <a:ext cx="1645585" cy="1121956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-1" y="1674797"/>
            <a:ext cx="4280127" cy="1806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-1" y="3908933"/>
            <a:ext cx="4280127" cy="30378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4265749" y="1357345"/>
            <a:ext cx="3401160" cy="55893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7694519" y="1477476"/>
            <a:ext cx="4497481" cy="29369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7694519" y="4796680"/>
            <a:ext cx="4469871" cy="21153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-1" y="1353733"/>
            <a:ext cx="4280127" cy="38039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4258165" y="1383583"/>
            <a:ext cx="3470477" cy="34559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7686936" y="1384829"/>
            <a:ext cx="4505064" cy="3419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-21961" y="3468217"/>
            <a:ext cx="4280127" cy="41795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7652532" y="4414450"/>
            <a:ext cx="4569055" cy="5189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C0E30-A723-6FA0-ABD0-B8E3080A4D2E}"/>
              </a:ext>
            </a:extLst>
          </p:cNvPr>
          <p:cNvSpPr txBox="1"/>
          <p:nvPr/>
        </p:nvSpPr>
        <p:spPr>
          <a:xfrm>
            <a:off x="0" y="1738905"/>
            <a:ext cx="39695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•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Giant cell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</a:rPr>
              <a:t>tumour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 of distal radius demonstrates aggressive local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</a:rPr>
              <a:t>behaviour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• Higher recurrence after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</a:rPr>
              <a:t>intralesional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 curettage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</a:rPr>
              <a:t>Campanacci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 Grade III lesions require oncologic resection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• Reconstruction must preserve stability and useful wrist function</a:t>
            </a:r>
            <a:br>
              <a:rPr lang="en-US" sz="12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200" b="0" i="0" u="none" strike="noStrike" dirty="0">
                <a:solidFill>
                  <a:srgbClr val="000000"/>
                </a:solidFill>
                <a:effectLst/>
              </a:rPr>
              <a:t>• Wide resection with fibular reconstruction is a commonly used limb-salvage option</a:t>
            </a:r>
          </a:p>
          <a:p>
            <a:pPr algn="l"/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490606-3EB4-B043-CD01-739FDFD01DF4}"/>
              </a:ext>
            </a:extLst>
          </p:cNvPr>
          <p:cNvSpPr txBox="1"/>
          <p:nvPr/>
        </p:nvSpPr>
        <p:spPr>
          <a:xfrm>
            <a:off x="4224042" y="1679746"/>
            <a:ext cx="342634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Extensive cortical destruction</a:t>
            </a:r>
            <a:br>
              <a:rPr lang="en-US" sz="1300" dirty="0"/>
            </a:b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Extra-osseous soft tissue extension</a:t>
            </a:r>
            <a:br>
              <a:rPr lang="en-US" sz="1300" dirty="0"/>
            </a:b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Articular surface not salvageable</a:t>
            </a:r>
            <a:br>
              <a:rPr lang="en-US" sz="1300" dirty="0"/>
            </a:b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Wide en-bloc resection performed with safe margins</a:t>
            </a:r>
            <a:br>
              <a:rPr lang="en-US" sz="1300" dirty="0"/>
            </a:b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Large segmental bone defect created</a:t>
            </a:r>
            <a:br>
              <a:rPr lang="en-US" sz="1300" dirty="0"/>
            </a:b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Reconstruction using </a:t>
            </a:r>
            <a:r>
              <a:rPr lang="en-US" sz="13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non-vascularised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proximal fibular graft</a:t>
            </a:r>
            <a:endParaRPr lang="en-US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8DCB4-FB22-9081-B1C2-6F31D89C332E}"/>
              </a:ext>
            </a:extLst>
          </p:cNvPr>
          <p:cNvSpPr txBox="1"/>
          <p:nvPr/>
        </p:nvSpPr>
        <p:spPr>
          <a:xfrm>
            <a:off x="-39380" y="3958362"/>
            <a:ext cx="457884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 skeletally mature female presented with a three-month history of pain and progressive swelling for one month. Clinical examination revealed a 4 × 3 cm firm, tender mass in the distal forearm, resulting in painful terminal wrist movements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US" sz="13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sz="1300" b="0" i="0" u="none" strike="noStrike" dirty="0">
                <a:solidFill>
                  <a:srgbClr val="000000"/>
                </a:solidFill>
                <a:effectLst/>
              </a:rPr>
              <a:t>•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</a:rPr>
              <a:t>X-ray: Eccentric expansile lytic lesion</a:t>
            </a:r>
          </a:p>
          <a:p>
            <a:r>
              <a:rPr lang="en-IN" sz="1300" b="0" i="0" u="none" strike="noStrike" dirty="0">
                <a:solidFill>
                  <a:srgbClr val="000000"/>
                </a:solidFill>
                <a:effectLst/>
              </a:rPr>
              <a:t>•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</a:rPr>
              <a:t>MRI: Cortical breach + soft tissue extension</a:t>
            </a:r>
          </a:p>
          <a:p>
            <a:r>
              <a:rPr lang="en-IN" sz="1300" b="1" i="0" u="none" strike="noStrike" dirty="0">
                <a:solidFill>
                  <a:srgbClr val="000000"/>
                </a:solidFill>
                <a:effectLst/>
              </a:rPr>
              <a:t>•</a:t>
            </a:r>
            <a:r>
              <a:rPr lang="en-US" sz="1300" b="1" i="0" u="none" strike="noStrike" dirty="0">
                <a:solidFill>
                  <a:srgbClr val="000000"/>
                </a:solidFill>
                <a:effectLst/>
              </a:rPr>
              <a:t>Diagnosis: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sz="1300" b="0" i="0" u="none" strike="noStrike" dirty="0" err="1">
                <a:solidFill>
                  <a:srgbClr val="000000"/>
                </a:solidFill>
                <a:effectLst/>
              </a:rPr>
              <a:t>Campanacci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</a:rPr>
              <a:t> Grade III GCT</a:t>
            </a:r>
            <a:endParaRPr lang="en-US" sz="13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AD7165-B832-06CC-3E3B-25C2DDC0C30A}"/>
              </a:ext>
            </a:extLst>
          </p:cNvPr>
          <p:cNvSpPr txBox="1"/>
          <p:nvPr/>
        </p:nvSpPr>
        <p:spPr>
          <a:xfrm>
            <a:off x="7700125" y="1522599"/>
            <a:ext cx="462309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Distal radius GCT behaves more aggressively than other locations</a:t>
            </a:r>
            <a:br>
              <a:rPr lang="en-US" sz="1400" dirty="0"/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Curettage associated with high recurrence in Grade III lesions</a:t>
            </a:r>
            <a:br>
              <a:rPr lang="en-US" sz="1400" dirty="0"/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Wide resection provides superior oncologic clearance</a:t>
            </a:r>
            <a:br>
              <a:rPr lang="en-US" sz="1400" dirty="0"/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Arthrodesis sacrifices wrist motion</a:t>
            </a:r>
            <a:br>
              <a:rPr lang="en-US" sz="1400" dirty="0"/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Prosthesis associated with cost and long-term failure concerns</a:t>
            </a:r>
            <a:br>
              <a:rPr lang="en-US" sz="1400" dirty="0"/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Non-vascularised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fibular graft offers structural stability and functional wrist preservation</a:t>
            </a:r>
            <a:br>
              <a:rPr lang="en-US" sz="1400" dirty="0"/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• Technically reproducible with low donor site morbidity</a:t>
            </a:r>
            <a:endParaRPr lang="en-US" sz="14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3ACCEE-3F55-0A93-1B54-6080C9B6257C}"/>
              </a:ext>
            </a:extLst>
          </p:cNvPr>
          <p:cNvSpPr txBox="1"/>
          <p:nvPr/>
        </p:nvSpPr>
        <p:spPr>
          <a:xfrm>
            <a:off x="7694519" y="4611771"/>
            <a:ext cx="4569055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sz="1700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Wide en-bloc resection is preferred in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</a:rPr>
              <a:t>Campanacci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</a:rPr>
              <a:t> Grade III distal radius GCT.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0" i="0" u="none" strike="noStrike" dirty="0" err="1">
                <a:solidFill>
                  <a:srgbClr val="000000"/>
                </a:solidFill>
                <a:effectLst/>
              </a:rPr>
              <a:t>Non-vascularised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</a:rPr>
              <a:t> fibular graft reconstruction provides oncologic safety, stable wrist and satisfactory functional outcome.</a:t>
            </a:r>
            <a:br>
              <a:rPr lang="en-US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Wide resection with fibular reconstruction is an established limb-salvage procedure in advanced lesions</a:t>
            </a:r>
            <a:endParaRPr lang="en-US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DAAC79-2F6B-CBE0-DA6B-001D223161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314250" y="3324936"/>
            <a:ext cx="1181770" cy="119545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526A5E7-4D13-B33D-DCEE-FB92ECA1BB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36" y="3383833"/>
            <a:ext cx="1729446" cy="11266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656857B-9B88-764D-DDDA-150A872F33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789" y="4581362"/>
            <a:ext cx="2039893" cy="21757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03C5146-5854-C041-E71C-690BC78C6D2A}"/>
              </a:ext>
            </a:extLst>
          </p:cNvPr>
          <p:cNvSpPr txBox="1"/>
          <p:nvPr/>
        </p:nvSpPr>
        <p:spPr>
          <a:xfrm>
            <a:off x="4322113" y="5241130"/>
            <a:ext cx="1362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600" b="1" u="sng" dirty="0"/>
              <a:t>IMMEDIATE POSTOP</a:t>
            </a:r>
          </a:p>
          <a:p>
            <a:pPr algn="l"/>
            <a:r>
              <a:rPr lang="en-IN" sz="1600" b="1" u="sng" dirty="0"/>
              <a:t> X-RAY</a:t>
            </a:r>
            <a:endParaRPr lang="en-US" sz="1600" b="1" u="sng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93AF0BF-14F8-6C08-3357-14C42A427A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98503" y="5371003"/>
            <a:ext cx="1396969" cy="150947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27CCBEA-1EA8-4BC4-08B8-EE7BEEF927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083" y="5371003"/>
            <a:ext cx="2300959" cy="13736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3D9BF1-3636-C209-AA16-345D7FDED4BA}"/>
              </a:ext>
            </a:extLst>
          </p:cNvPr>
          <p:cNvSpPr txBox="1"/>
          <p:nvPr/>
        </p:nvSpPr>
        <p:spPr>
          <a:xfrm>
            <a:off x="27610" y="5382513"/>
            <a:ext cx="470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900" b="1" u="sng" dirty="0"/>
              <a:t>PRE</a:t>
            </a:r>
          </a:p>
          <a:p>
            <a:pPr algn="l"/>
            <a:r>
              <a:rPr lang="en-IN" sz="900" b="1" u="sng" dirty="0"/>
              <a:t>OP </a:t>
            </a:r>
          </a:p>
          <a:p>
            <a:pPr algn="l"/>
            <a:r>
              <a:rPr lang="en-IN" sz="900" b="1" u="sng" dirty="0"/>
              <a:t>XRAY</a:t>
            </a:r>
          </a:p>
          <a:p>
            <a:pPr algn="l"/>
            <a:endParaRPr lang="en-IN" sz="900" b="1" u="sng" dirty="0"/>
          </a:p>
          <a:p>
            <a:pPr algn="l"/>
            <a:r>
              <a:rPr lang="en-IN" sz="900" b="1" u="sng" dirty="0"/>
              <a:t>AND</a:t>
            </a:r>
            <a:r>
              <a:rPr lang="en-IN" sz="900" dirty="0"/>
              <a:t> </a:t>
            </a:r>
          </a:p>
          <a:p>
            <a:pPr algn="l"/>
            <a:endParaRPr lang="en-IN" sz="900" dirty="0"/>
          </a:p>
          <a:p>
            <a:pPr algn="l"/>
            <a:r>
              <a:rPr lang="en-IN" sz="900" b="1" u="sng" dirty="0"/>
              <a:t>MRI</a:t>
            </a:r>
          </a:p>
          <a:p>
            <a:pPr algn="l"/>
            <a:endParaRPr lang="en-US" sz="900" b="1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DD2F21-C618-F9E6-0E06-5A96B0683C5C}"/>
              </a:ext>
            </a:extLst>
          </p:cNvPr>
          <p:cNvSpPr txBox="1"/>
          <p:nvPr/>
        </p:nvSpPr>
        <p:spPr>
          <a:xfrm>
            <a:off x="-125600" y="509053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9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DD0CF6-E64F-7796-0D25-91B142EBE31F}"/>
              </a:ext>
            </a:extLst>
          </p:cNvPr>
          <p:cNvSpPr txBox="1"/>
          <p:nvPr/>
        </p:nvSpPr>
        <p:spPr>
          <a:xfrm>
            <a:off x="6693098" y="561214"/>
            <a:ext cx="331620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0" u="none" strike="noStrike" dirty="0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PRESENTING AUTHOR: DR. G. </a:t>
            </a:r>
            <a:r>
              <a:rPr lang="en-US" sz="1100" b="1" i="0" u="none" strike="noStrike" dirty="0" err="1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NAMRATHA</a:t>
            </a:r>
            <a:endParaRPr lang="en-IN" sz="1100" b="1" dirty="0">
              <a:solidFill>
                <a:schemeClr val="bg1"/>
              </a:solidFill>
              <a:highlight>
                <a:srgbClr val="0000FF"/>
              </a:highlight>
            </a:endParaRPr>
          </a:p>
          <a:p>
            <a:r>
              <a:rPr lang="en-US" sz="1100" b="1" i="0" u="none" strike="noStrike" dirty="0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 2ND YEAR POST GRADUATE, GEMS</a:t>
            </a:r>
          </a:p>
          <a:p>
            <a:r>
              <a:rPr lang="en-US" sz="1100" b="1" i="0" u="none" strike="noStrike" dirty="0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CO-AUTHOR: DR. M. SANTOSH</a:t>
            </a:r>
            <a:r>
              <a:rPr lang="en-IN" sz="1100" b="1" i="0" u="none" strike="noStrike" dirty="0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 </a:t>
            </a:r>
            <a:r>
              <a:rPr lang="en-US" sz="1100" b="1" i="0" u="none" strike="noStrike" dirty="0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BABU </a:t>
            </a:r>
            <a:endParaRPr lang="en-IN" sz="1100" b="1" i="0" u="none" strike="noStrike" dirty="0">
              <a:solidFill>
                <a:schemeClr val="bg1"/>
              </a:solidFill>
              <a:effectLst/>
              <a:highlight>
                <a:srgbClr val="0000FF"/>
              </a:highlight>
            </a:endParaRPr>
          </a:p>
          <a:p>
            <a:r>
              <a:rPr lang="en-US" sz="1100" b="1" i="0" u="none" strike="noStrike" dirty="0">
                <a:solidFill>
                  <a:schemeClr val="bg1"/>
                </a:solidFill>
                <a:effectLst/>
                <a:highlight>
                  <a:srgbClr val="0000FF"/>
                </a:highlight>
              </a:rPr>
              <a:t>ASSOCIATE PROFESSOR, GEMS</a:t>
            </a:r>
          </a:p>
          <a:p>
            <a:pPr algn="l"/>
            <a:endParaRPr lang="en-US" sz="700" dirty="0"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41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nams ikku</cp:lastModifiedBy>
  <cp:revision>13</cp:revision>
  <dcterms:created xsi:type="dcterms:W3CDTF">2026-01-11T06:24:43Z</dcterms:created>
  <dcterms:modified xsi:type="dcterms:W3CDTF">2026-02-15T07:34:18Z</dcterms:modified>
</cp:coreProperties>
</file>