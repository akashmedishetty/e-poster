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
  </p:notesMasterIdLst>
  <p:sldIdLst>
    <p:sldId id="256" r:id="rId2"/>
  </p:sldIdLst>
  <p:sldSz cx="12192000" cy="6858000"/>
  <p:notesSz cx="6858000" cy="9144000"/>
  <p:defaultTextStyle>
    <a:defPPr lvl="0">
      <a:defRPr lang="en-US"/>
    </a:defPPr>
    <a:lvl1pPr marL="0" lvl="0" algn="l" defTabSz="914400" rtl="0" eaLnBrk="1" latinLnBrk="0" hangingPunct="1">
      <a:defRPr sz="1800" kern="1200">
        <a:solidFill>
          <a:schemeClr val="tx1"/>
        </a:solidFill>
        <a:latin typeface="+mn-lt"/>
        <a:ea typeface="+mn-ea"/>
        <a:cs typeface="+mn-cs"/>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vl6pPr marL="2286000" lvl="5" algn="l" defTabSz="914400" rtl="0" eaLnBrk="1" latinLnBrk="0" hangingPunct="1">
      <a:defRPr sz="1800" kern="1200">
        <a:solidFill>
          <a:schemeClr val="tx1"/>
        </a:solidFill>
        <a:latin typeface="+mn-lt"/>
        <a:ea typeface="+mn-ea"/>
        <a:cs typeface="+mn-cs"/>
      </a:defRPr>
    </a:lvl6pPr>
    <a:lvl7pPr marL="2743200" lvl="6" algn="l" defTabSz="914400" rtl="0" eaLnBrk="1" latinLnBrk="0" hangingPunct="1">
      <a:defRPr sz="1800" kern="1200">
        <a:solidFill>
          <a:schemeClr val="tx1"/>
        </a:solidFill>
        <a:latin typeface="+mn-lt"/>
        <a:ea typeface="+mn-ea"/>
        <a:cs typeface="+mn-cs"/>
      </a:defRPr>
    </a:lvl7pPr>
    <a:lvl8pPr marL="3200400" lvl="7" algn="l" defTabSz="914400" rtl="0" eaLnBrk="1" latinLnBrk="0" hangingPunct="1">
      <a:defRPr sz="1800" kern="1200">
        <a:solidFill>
          <a:schemeClr val="tx1"/>
        </a:solidFill>
        <a:latin typeface="+mn-lt"/>
        <a:ea typeface="+mn-ea"/>
        <a:cs typeface="+mn-cs"/>
      </a:defRPr>
    </a:lvl8pPr>
    <a:lvl9pPr marL="3657600" lvl="8"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4754" autoAdjust="0"/>
    <p:restoredTop sz="94660"/>
  </p:normalViewPr>
  <p:slideViewPr>
    <p:cSldViewPr snapToGrid="0">
      <p:cViewPr>
        <p:scale>
          <a:sx n="125" d="100"/>
          <a:sy n="125" d="100"/>
        </p:scale>
        <p:origin x="110" y="77"/>
      </p:cViewPr>
      <p:guideLst/>
    </p:cSldViewPr>
  </p:slideViewPr>
  <p:notesTextViewPr>
    <p:cViewPr>
      <p:scale>
        <a:sx n="66" d="100"/>
        <a:sy n="66" d="100"/>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787E5C3-7787-4239-B0C1-E0582FD9C6CC}" type="datetimeFigureOut">
              <a:rPr lang="en-IN" smtClean="0"/>
              <a:t>16-02-2026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FE226D-92F5-4925-A658-488000D86398}" type="slidenum">
              <a:rPr lang="en-IN" smtClean="0"/>
              <a:t>‹#›</a:t>
            </a:fld>
            <a:endParaRPr lang="en-IN"/>
          </a:p>
        </p:txBody>
      </p:sp>
    </p:spTree>
    <p:extLst>
      <p:ext uri="{BB962C8B-B14F-4D97-AF65-F5344CB8AC3E}">
        <p14:creationId xmlns:p14="http://schemas.microsoft.com/office/powerpoint/2010/main" val="17412460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AFE226D-92F5-4925-A658-488000D86398}" type="slidenum">
              <a:rPr lang="en-IN" smtClean="0"/>
              <a:t>1</a:t>
            </a:fld>
            <a:endParaRPr lang="en-IN"/>
          </a:p>
        </p:txBody>
      </p:sp>
    </p:spTree>
    <p:extLst>
      <p:ext uri="{BB962C8B-B14F-4D97-AF65-F5344CB8AC3E}">
        <p14:creationId xmlns:p14="http://schemas.microsoft.com/office/powerpoint/2010/main" val="33276169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928CF7-C54C-3253-7CB3-4CB60C4B9648}"/>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863E176-0152-1EB9-B130-312E601D10AB}"/>
              </a:ext>
            </a:extLst>
          </p:cNvPr>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9FFAE6B-127E-B337-0AD1-96BED4F091EF}"/>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2/16/2026</a:t>
            </a:fld>
            <a:endParaRPr lang="en-US"/>
          </a:p>
        </p:txBody>
      </p:sp>
      <p:sp>
        <p:nvSpPr>
          <p:cNvPr id="5" name="Footer Placeholder 4">
            <a:extLst>
              <a:ext uri="{FF2B5EF4-FFF2-40B4-BE49-F238E27FC236}">
                <a16:creationId xmlns:a16="http://schemas.microsoft.com/office/drawing/2014/main" id="{40D5E608-905C-2142-2365-F68EB7F95FE0}"/>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DFF68622-57FF-B5F0-4011-D23C810B459F}"/>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9448645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54781-A465-F143-A98C-94FD82413F7A}"/>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E1D11094-0A62-2805-2C56-EAB66E3F8FE2}"/>
              </a:ext>
            </a:extLst>
          </p:cNvPr>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25DF6B2-DE75-AA42-1BA3-56A152E3254C}"/>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2/16/2026</a:t>
            </a:fld>
            <a:endParaRPr lang="en-US"/>
          </a:p>
        </p:txBody>
      </p:sp>
      <p:sp>
        <p:nvSpPr>
          <p:cNvPr id="5" name="Footer Placeholder 4">
            <a:extLst>
              <a:ext uri="{FF2B5EF4-FFF2-40B4-BE49-F238E27FC236}">
                <a16:creationId xmlns:a16="http://schemas.microsoft.com/office/drawing/2014/main" id="{E1B95C1A-D479-0105-5ABD-2C9F2D4ED038}"/>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264AE42D-29E2-AB5A-9D0B-9821D21D8E26}"/>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25577859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D0A9C5-0C47-1DBF-A9F1-8826C36002C6}"/>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11B4216-49BB-98ED-9B94-654F199388F7}"/>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6747736-AC8A-3EB8-57D1-2A9C7AAC8FCF}"/>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2/16/2026</a:t>
            </a:fld>
            <a:endParaRPr lang="en-US"/>
          </a:p>
        </p:txBody>
      </p:sp>
      <p:sp>
        <p:nvSpPr>
          <p:cNvPr id="5" name="Footer Placeholder 4">
            <a:extLst>
              <a:ext uri="{FF2B5EF4-FFF2-40B4-BE49-F238E27FC236}">
                <a16:creationId xmlns:a16="http://schemas.microsoft.com/office/drawing/2014/main" id="{86E5BB55-6273-FBEF-64A3-8CF306288B94}"/>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0659087E-17BE-555C-DF0C-0F4361521714}"/>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22799950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411663-53A1-9E1F-5617-88CF82EC9BD9}"/>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C471D5E3-ECCA-B4D2-2633-7957691A3305}"/>
              </a:ext>
            </a:extLst>
          </p:cNvPr>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ECF5196-CC99-5011-B2D0-B4E6A682F565}"/>
              </a:ext>
            </a:extLst>
          </p:cNvPr>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8A8BA26-119C-CCCD-E391-AEF50B6FD708}"/>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2/16/2026</a:t>
            </a:fld>
            <a:endParaRPr lang="en-US"/>
          </a:p>
        </p:txBody>
      </p:sp>
      <p:sp>
        <p:nvSpPr>
          <p:cNvPr id="6" name="Footer Placeholder 5">
            <a:extLst>
              <a:ext uri="{FF2B5EF4-FFF2-40B4-BE49-F238E27FC236}">
                <a16:creationId xmlns:a16="http://schemas.microsoft.com/office/drawing/2014/main" id="{EBA14F4A-53BC-F382-885A-E89A766323AF}"/>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BC250453-2D7E-EDE2-4C30-876DA9F06F47}"/>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28642390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1C1600-9375-445B-F52D-49C2D79AB77A}"/>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890504FE-0E7A-7AAD-AA62-68B5061F0448}"/>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BEC0743-5AE4-C8DB-E431-9BF89F98CB7D}"/>
              </a:ext>
            </a:extLst>
          </p:cNvPr>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9F135F8-5672-C883-5700-82CCEB25C800}"/>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D143E3C-1062-3C3B-33DC-9DE5999687B6}"/>
              </a:ext>
            </a:extLst>
          </p:cNvPr>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144B81D-1D0D-2B34-ACE9-647404B6726C}"/>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2/16/2026</a:t>
            </a:fld>
            <a:endParaRPr lang="en-US"/>
          </a:p>
        </p:txBody>
      </p:sp>
      <p:sp>
        <p:nvSpPr>
          <p:cNvPr id="8" name="Footer Placeholder 7">
            <a:extLst>
              <a:ext uri="{FF2B5EF4-FFF2-40B4-BE49-F238E27FC236}">
                <a16:creationId xmlns:a16="http://schemas.microsoft.com/office/drawing/2014/main" id="{FA2B9CA9-FB5C-6A3F-A8C9-5A2303657F7B}"/>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04F8827A-8D6A-6027-36D4-A09116C39B05}"/>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15207137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9B2320-BF86-B4C0-4C77-57A8A14FAB1C}"/>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a:extLst>
              <a:ext uri="{FF2B5EF4-FFF2-40B4-BE49-F238E27FC236}">
                <a16:creationId xmlns:a16="http://schemas.microsoft.com/office/drawing/2014/main" id="{6DBF2AEC-90F1-FF9D-116C-F8E796EDE9FD}"/>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2/16/2026</a:t>
            </a:fld>
            <a:endParaRPr lang="en-US"/>
          </a:p>
        </p:txBody>
      </p:sp>
      <p:sp>
        <p:nvSpPr>
          <p:cNvPr id="4" name="Footer Placeholder 3">
            <a:extLst>
              <a:ext uri="{FF2B5EF4-FFF2-40B4-BE49-F238E27FC236}">
                <a16:creationId xmlns:a16="http://schemas.microsoft.com/office/drawing/2014/main" id="{8930F28E-A8F5-AFB5-B659-0E7A774C7AC7}"/>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A30AFD6F-07FF-B36A-B355-6F54892182D4}"/>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9587359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062561D-609B-41C4-03F7-C9EB1C339CA0}"/>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2/16/2026</a:t>
            </a:fld>
            <a:endParaRPr lang="en-US"/>
          </a:p>
        </p:txBody>
      </p:sp>
      <p:sp>
        <p:nvSpPr>
          <p:cNvPr id="3" name="Footer Placeholder 2">
            <a:extLst>
              <a:ext uri="{FF2B5EF4-FFF2-40B4-BE49-F238E27FC236}">
                <a16:creationId xmlns:a16="http://schemas.microsoft.com/office/drawing/2014/main" id="{C177B401-DFF1-9E83-1AFF-E5EC0ACD16EA}"/>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7A27D21B-F5D7-5E07-AD0D-285590E6DEA5}"/>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3898427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DF68E2-3E1C-4942-B972-676EF99620F3}"/>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AB3E5FE-9809-AA0D-0068-8D2879739446}"/>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45EC551-67C4-F4E7-1910-F519BF9045D8}"/>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486D973-5346-1585-DF1D-4A6D81AE612A}"/>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2/16/2026</a:t>
            </a:fld>
            <a:endParaRPr lang="en-US"/>
          </a:p>
        </p:txBody>
      </p:sp>
      <p:sp>
        <p:nvSpPr>
          <p:cNvPr id="6" name="Footer Placeholder 5">
            <a:extLst>
              <a:ext uri="{FF2B5EF4-FFF2-40B4-BE49-F238E27FC236}">
                <a16:creationId xmlns:a16="http://schemas.microsoft.com/office/drawing/2014/main" id="{F86FF201-46FF-F9B5-9CC0-41835305C689}"/>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35ECBF98-FECD-2939-6FDA-1F24F227DA04}"/>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38615285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4BCDCE-1DF9-541C-B7E9-6622BFED4115}"/>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45BBD72-9B7D-1B6B-5935-44F06A9178E8}"/>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746A0AE-8309-E148-1D29-29503949BDE0}"/>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96C41A5-6FCA-36FF-6CFA-7C0597A212FA}"/>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2/16/2026</a:t>
            </a:fld>
            <a:endParaRPr lang="en-US"/>
          </a:p>
        </p:txBody>
      </p:sp>
      <p:sp>
        <p:nvSpPr>
          <p:cNvPr id="6" name="Footer Placeholder 5">
            <a:extLst>
              <a:ext uri="{FF2B5EF4-FFF2-40B4-BE49-F238E27FC236}">
                <a16:creationId xmlns:a16="http://schemas.microsoft.com/office/drawing/2014/main" id="{A8DB2AD8-5418-91E2-23C4-D519A6265F26}"/>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E9F095D8-FC0F-CA9B-A1E7-AA64CF34EB67}"/>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40816603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56F263-9A0A-3394-3F1F-6C5F8D328ACA}"/>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E5FFEF5-760B-0BB1-28DC-68D43894F17E}"/>
              </a:ext>
            </a:extLst>
          </p:cNvPr>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F4F539A-7EBC-768A-374D-3E568BE3277A}"/>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2/16/2026</a:t>
            </a:fld>
            <a:endParaRPr lang="en-US"/>
          </a:p>
        </p:txBody>
      </p:sp>
      <p:sp>
        <p:nvSpPr>
          <p:cNvPr id="5" name="Footer Placeholder 4">
            <a:extLst>
              <a:ext uri="{FF2B5EF4-FFF2-40B4-BE49-F238E27FC236}">
                <a16:creationId xmlns:a16="http://schemas.microsoft.com/office/drawing/2014/main" id="{052D2046-7AA0-ACCC-813F-F0045C6B0ECA}"/>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1E743A9D-CF35-58E9-CEF7-84CD752F4941}"/>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21074731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E6EEB20-7BAE-8163-AF11-357FD764FC54}"/>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0D173BD-0918-77CD-3BC5-870F618AF1FF}"/>
              </a:ext>
            </a:extLst>
          </p:cNvPr>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48AB18A-E29B-AB92-E36C-D19006B4B100}"/>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2/16/2026</a:t>
            </a:fld>
            <a:endParaRPr lang="en-US"/>
          </a:p>
        </p:txBody>
      </p:sp>
      <p:sp>
        <p:nvSpPr>
          <p:cNvPr id="5" name="Footer Placeholder 4">
            <a:extLst>
              <a:ext uri="{FF2B5EF4-FFF2-40B4-BE49-F238E27FC236}">
                <a16:creationId xmlns:a16="http://schemas.microsoft.com/office/drawing/2014/main" id="{DD0034D9-0416-B27F-B018-5988B84EC8E9}"/>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95D91FF6-4797-6F7F-6750-554277416B03}"/>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20606621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DE82E09-9CEE-8584-D464-24E0EC391B80}"/>
              </a:ext>
            </a:extLst>
          </p:cNvPr>
          <p:cNvSpPr/>
          <p:nvPr userDrawn="1"/>
        </p:nvSpPr>
        <p:spPr>
          <a:xfrm>
            <a:off x="0" y="0"/>
            <a:ext cx="12191998" cy="1280156"/>
          </a:xfrm>
          <a:prstGeom prst="rect">
            <a:avLst/>
          </a:prstGeom>
          <a:solidFill>
            <a:srgbClr val="01234D"/>
          </a:solidFill>
          <a:ln>
            <a:solidFill>
              <a:srgbClr val="5257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Picture 14">
            <a:extLst>
              <a:ext uri="{FF2B5EF4-FFF2-40B4-BE49-F238E27FC236}">
                <a16:creationId xmlns:a16="http://schemas.microsoft.com/office/drawing/2014/main" id="{F2BE4274-EF19-EE7E-5761-D489EED61B88}"/>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9006884" y="74822"/>
            <a:ext cx="1043154" cy="1043154"/>
          </a:xfrm>
          <a:prstGeom prst="rect">
            <a:avLst/>
          </a:prstGeom>
        </p:spPr>
      </p:pic>
      <p:pic>
        <p:nvPicPr>
          <p:cNvPr id="16" name="Picture 15">
            <a:extLst>
              <a:ext uri="{FF2B5EF4-FFF2-40B4-BE49-F238E27FC236}">
                <a16:creationId xmlns:a16="http://schemas.microsoft.com/office/drawing/2014/main" id="{A91A2BA2-F38B-80BA-A985-5949FC76FEA7}"/>
              </a:ext>
            </a:extLst>
          </p:cNvPr>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10947316" y="123390"/>
            <a:ext cx="884047" cy="884047"/>
          </a:xfrm>
          <a:prstGeom prst="rect">
            <a:avLst/>
          </a:prstGeom>
        </p:spPr>
      </p:pic>
      <p:pic>
        <p:nvPicPr>
          <p:cNvPr id="17" name="Picture 16">
            <a:extLst>
              <a:ext uri="{FF2B5EF4-FFF2-40B4-BE49-F238E27FC236}">
                <a16:creationId xmlns:a16="http://schemas.microsoft.com/office/drawing/2014/main" id="{604524FB-BCF4-1B74-A89E-4EDE85967878}"/>
              </a:ext>
            </a:extLst>
          </p:cNvPr>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10127893" y="192303"/>
            <a:ext cx="785940" cy="785940"/>
          </a:xfrm>
          <a:prstGeom prst="rect">
            <a:avLst/>
          </a:prstGeom>
        </p:spPr>
      </p:pic>
      <p:sp>
        <p:nvSpPr>
          <p:cNvPr id="18" name="TextBox 17">
            <a:extLst>
              <a:ext uri="{FF2B5EF4-FFF2-40B4-BE49-F238E27FC236}">
                <a16:creationId xmlns:a16="http://schemas.microsoft.com/office/drawing/2014/main" id="{F2F88F76-11B2-42F9-7CED-3DAC2835AF8A}"/>
              </a:ext>
            </a:extLst>
          </p:cNvPr>
          <p:cNvSpPr txBox="1"/>
          <p:nvPr userDrawn="1"/>
        </p:nvSpPr>
        <p:spPr>
          <a:xfrm>
            <a:off x="2575249" y="27424"/>
            <a:ext cx="5998348" cy="646331"/>
          </a:xfrm>
          <a:prstGeom prst="rect">
            <a:avLst/>
          </a:prstGeom>
          <a:noFill/>
        </p:spPr>
        <p:txBody>
          <a:bodyPr wrap="square" rtlCol="0">
            <a:spAutoFit/>
          </a:bodyPr>
          <a:lstStyle/>
          <a:p>
            <a:r>
              <a:rPr lang="en-US" b="1" dirty="0">
                <a:solidFill>
                  <a:schemeClr val="bg1"/>
                </a:solidFill>
                <a:latin typeface="Gordita "/>
              </a:rPr>
              <a:t>55</a:t>
            </a:r>
            <a:r>
              <a:rPr lang="en-US" b="1" baseline="30000" dirty="0">
                <a:solidFill>
                  <a:schemeClr val="bg1"/>
                </a:solidFill>
                <a:latin typeface="Gordita "/>
              </a:rPr>
              <a:t>th</a:t>
            </a:r>
            <a:r>
              <a:rPr lang="en-US" b="1" dirty="0">
                <a:solidFill>
                  <a:schemeClr val="bg1"/>
                </a:solidFill>
                <a:latin typeface="Gordita "/>
              </a:rPr>
              <a:t>   Annual Conference of </a:t>
            </a:r>
          </a:p>
          <a:p>
            <a:r>
              <a:rPr lang="en-US" b="1" dirty="0">
                <a:solidFill>
                  <a:schemeClr val="bg1"/>
                </a:solidFill>
                <a:latin typeface="Gordita "/>
              </a:rPr>
              <a:t>Orthopedic Surgeon Society of Andhra Pradesh</a:t>
            </a:r>
          </a:p>
        </p:txBody>
      </p:sp>
      <p:sp>
        <p:nvSpPr>
          <p:cNvPr id="19" name="TextBox 18">
            <a:extLst>
              <a:ext uri="{FF2B5EF4-FFF2-40B4-BE49-F238E27FC236}">
                <a16:creationId xmlns:a16="http://schemas.microsoft.com/office/drawing/2014/main" id="{65ADD6F6-E35D-B7F8-9AC5-43234D897C09}"/>
              </a:ext>
            </a:extLst>
          </p:cNvPr>
          <p:cNvSpPr txBox="1"/>
          <p:nvPr userDrawn="1"/>
        </p:nvSpPr>
        <p:spPr>
          <a:xfrm>
            <a:off x="2601218" y="653897"/>
            <a:ext cx="6307494" cy="276999"/>
          </a:xfrm>
          <a:prstGeom prst="rect">
            <a:avLst/>
          </a:prstGeom>
          <a:noFill/>
        </p:spPr>
        <p:txBody>
          <a:bodyPr wrap="square" rtlCol="0">
            <a:spAutoFit/>
          </a:bodyPr>
          <a:lstStyle/>
          <a:p>
            <a:r>
              <a:rPr lang="en-US" sz="1200" b="1" dirty="0">
                <a:solidFill>
                  <a:schemeClr val="bg1"/>
                </a:solidFill>
                <a:latin typeface="Gordita "/>
              </a:rPr>
              <a:t>Date 6 – 8 February,2026, Venue : Kurnool Medical College</a:t>
            </a:r>
          </a:p>
        </p:txBody>
      </p:sp>
      <p:sp>
        <p:nvSpPr>
          <p:cNvPr id="20" name="TextBox 19">
            <a:extLst>
              <a:ext uri="{FF2B5EF4-FFF2-40B4-BE49-F238E27FC236}">
                <a16:creationId xmlns:a16="http://schemas.microsoft.com/office/drawing/2014/main" id="{C146DFFE-ACF0-208A-4880-3B35F597866F}"/>
              </a:ext>
            </a:extLst>
          </p:cNvPr>
          <p:cNvSpPr txBox="1"/>
          <p:nvPr userDrawn="1"/>
        </p:nvSpPr>
        <p:spPr>
          <a:xfrm>
            <a:off x="2575249" y="913340"/>
            <a:ext cx="7114032" cy="276999"/>
          </a:xfrm>
          <a:prstGeom prst="rect">
            <a:avLst/>
          </a:prstGeom>
          <a:noFill/>
        </p:spPr>
        <p:txBody>
          <a:bodyPr wrap="square" rtlCol="0">
            <a:spAutoFit/>
          </a:bodyPr>
          <a:lstStyle/>
          <a:p>
            <a:r>
              <a:rPr lang="en-US" sz="1200" b="1" dirty="0">
                <a:solidFill>
                  <a:schemeClr val="bg1"/>
                </a:solidFill>
                <a:latin typeface="Gordita "/>
              </a:rPr>
              <a:t>Organized by : Department of </a:t>
            </a:r>
            <a:r>
              <a:rPr lang="en-US" sz="1200" b="1" dirty="0" err="1">
                <a:solidFill>
                  <a:schemeClr val="bg1"/>
                </a:solidFill>
                <a:latin typeface="Gordita "/>
              </a:rPr>
              <a:t>Orthopaedics</a:t>
            </a:r>
            <a:r>
              <a:rPr lang="en-US" sz="1200" b="1" dirty="0">
                <a:solidFill>
                  <a:schemeClr val="bg1"/>
                </a:solidFill>
                <a:latin typeface="Gordita "/>
              </a:rPr>
              <a:t>, Kurnool Medical College Kurnool</a:t>
            </a:r>
          </a:p>
        </p:txBody>
      </p:sp>
      <p:sp>
        <p:nvSpPr>
          <p:cNvPr id="21" name="Freeform 13">
            <a:extLst>
              <a:ext uri="{FF2B5EF4-FFF2-40B4-BE49-F238E27FC236}">
                <a16:creationId xmlns:a16="http://schemas.microsoft.com/office/drawing/2014/main" id="{FD934B23-4A0F-DA26-1C91-6993B84BADB9}"/>
              </a:ext>
            </a:extLst>
          </p:cNvPr>
          <p:cNvSpPr/>
          <p:nvPr userDrawn="1"/>
        </p:nvSpPr>
        <p:spPr>
          <a:xfrm>
            <a:off x="560814" y="14255"/>
            <a:ext cx="1505561" cy="1280157"/>
          </a:xfrm>
          <a:custGeom>
            <a:avLst/>
            <a:gdLst/>
            <a:ahLst/>
            <a:cxnLst/>
            <a:rect l="l" t="t" r="r" b="b"/>
            <a:pathLst>
              <a:path w="2254612" h="1957865">
                <a:moveTo>
                  <a:pt x="0" y="0"/>
                </a:moveTo>
                <a:lnTo>
                  <a:pt x="2254612" y="0"/>
                </a:lnTo>
                <a:lnTo>
                  <a:pt x="2254612" y="1957865"/>
                </a:lnTo>
                <a:lnTo>
                  <a:pt x="0" y="1957865"/>
                </a:lnTo>
                <a:lnTo>
                  <a:pt x="0" y="0"/>
                </a:lnTo>
                <a:close/>
              </a:path>
            </a:pathLst>
          </a:custGeom>
          <a:blipFill>
            <a:blip r:embed="rId16"/>
            <a:stretch>
              <a:fillRect t="-9937" r="-4895" b="-10857"/>
            </a:stretch>
          </a:blipFill>
        </p:spPr>
        <p:txBody>
          <a:bodyPr/>
          <a:lstStyle/>
          <a:p>
            <a:endParaRPr lang="en-US"/>
          </a:p>
        </p:txBody>
      </p:sp>
    </p:spTree>
    <p:extLst>
      <p:ext uri="{BB962C8B-B14F-4D97-AF65-F5344CB8AC3E}">
        <p14:creationId xmlns:p14="http://schemas.microsoft.com/office/powerpoint/2010/main" val="10701551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18" Type="http://schemas.openxmlformats.org/officeDocument/2006/relationships/image" Target="../media/image16.png"/><Relationship Id="rId3" Type="http://schemas.openxmlformats.org/officeDocument/2006/relationships/image" Target="../media/image1.png"/><Relationship Id="rId21" Type="http://schemas.openxmlformats.org/officeDocument/2006/relationships/image" Target="../media/image19.png"/><Relationship Id="rId7" Type="http://schemas.openxmlformats.org/officeDocument/2006/relationships/image" Target="../media/image5.png"/><Relationship Id="rId12" Type="http://schemas.openxmlformats.org/officeDocument/2006/relationships/image" Target="../media/image10.png"/><Relationship Id="rId17" Type="http://schemas.openxmlformats.org/officeDocument/2006/relationships/image" Target="../media/image15.png"/><Relationship Id="rId2" Type="http://schemas.openxmlformats.org/officeDocument/2006/relationships/notesSlide" Target="../notesSlides/notesSlide1.xml"/><Relationship Id="rId16" Type="http://schemas.openxmlformats.org/officeDocument/2006/relationships/image" Target="../media/image14.png"/><Relationship Id="rId20" Type="http://schemas.openxmlformats.org/officeDocument/2006/relationships/image" Target="../media/image18.png"/><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image" Target="../media/image13.png"/><Relationship Id="rId10" Type="http://schemas.openxmlformats.org/officeDocument/2006/relationships/image" Target="../media/image8.png"/><Relationship Id="rId19" Type="http://schemas.openxmlformats.org/officeDocument/2006/relationships/image" Target="../media/image17.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 Id="rId22"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E872BCCA-09F4-9D91-AE26-B5E437D7714E}"/>
              </a:ext>
            </a:extLst>
          </p:cNvPr>
          <p:cNvSpPr/>
          <p:nvPr/>
        </p:nvSpPr>
        <p:spPr>
          <a:xfrm>
            <a:off x="0" y="0"/>
            <a:ext cx="12191998" cy="1280156"/>
          </a:xfrm>
          <a:prstGeom prst="rect">
            <a:avLst/>
          </a:prstGeom>
          <a:solidFill>
            <a:srgbClr val="01234D"/>
          </a:solidFill>
          <a:ln>
            <a:solidFill>
              <a:srgbClr val="5257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Picture 14">
            <a:extLst>
              <a:ext uri="{FF2B5EF4-FFF2-40B4-BE49-F238E27FC236}">
                <a16:creationId xmlns:a16="http://schemas.microsoft.com/office/drawing/2014/main" id="{4D4B9414-324A-B4ED-525E-CF04D2394B1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06883" y="367519"/>
            <a:ext cx="1043154" cy="1043154"/>
          </a:xfrm>
          <a:prstGeom prst="rect">
            <a:avLst/>
          </a:prstGeom>
        </p:spPr>
      </p:pic>
      <p:pic>
        <p:nvPicPr>
          <p:cNvPr id="16" name="Picture 15">
            <a:extLst>
              <a:ext uri="{FF2B5EF4-FFF2-40B4-BE49-F238E27FC236}">
                <a16:creationId xmlns:a16="http://schemas.microsoft.com/office/drawing/2014/main" id="{6B23EAFB-E583-3DAF-08B5-661672CE88F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061475" y="354917"/>
            <a:ext cx="884047" cy="884047"/>
          </a:xfrm>
          <a:prstGeom prst="rect">
            <a:avLst/>
          </a:prstGeom>
        </p:spPr>
      </p:pic>
      <p:pic>
        <p:nvPicPr>
          <p:cNvPr id="17" name="Picture 16">
            <a:extLst>
              <a:ext uri="{FF2B5EF4-FFF2-40B4-BE49-F238E27FC236}">
                <a16:creationId xmlns:a16="http://schemas.microsoft.com/office/drawing/2014/main" id="{3C21D24D-75B4-7ADE-170F-FE845B818D4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131615" y="456357"/>
            <a:ext cx="785940" cy="785940"/>
          </a:xfrm>
          <a:prstGeom prst="rect">
            <a:avLst/>
          </a:prstGeom>
        </p:spPr>
      </p:pic>
      <p:sp>
        <p:nvSpPr>
          <p:cNvPr id="18" name="TextBox 17">
            <a:extLst>
              <a:ext uri="{FF2B5EF4-FFF2-40B4-BE49-F238E27FC236}">
                <a16:creationId xmlns:a16="http://schemas.microsoft.com/office/drawing/2014/main" id="{EA6BB7B0-D981-FEB6-4479-7A49704B2B87}"/>
              </a:ext>
            </a:extLst>
          </p:cNvPr>
          <p:cNvSpPr txBox="1"/>
          <p:nvPr/>
        </p:nvSpPr>
        <p:spPr>
          <a:xfrm>
            <a:off x="2369126" y="51258"/>
            <a:ext cx="6637757" cy="707886"/>
          </a:xfrm>
          <a:prstGeom prst="rect">
            <a:avLst/>
          </a:prstGeom>
          <a:noFill/>
        </p:spPr>
        <p:txBody>
          <a:bodyPr wrap="square" rtlCol="0">
            <a:spAutoFit/>
          </a:bodyPr>
          <a:lstStyle/>
          <a:p>
            <a:pPr algn="ctr"/>
            <a:r>
              <a:rPr lang="en-US" sz="2000" b="1" dirty="0">
                <a:solidFill>
                  <a:schemeClr val="accent1">
                    <a:lumMod val="40000"/>
                    <a:lumOff val="60000"/>
                  </a:schemeClr>
                </a:solidFill>
                <a:latin typeface="Amasis MT Pro Black" panose="020F0502020204030204" pitchFamily="18" charset="0"/>
              </a:rPr>
              <a:t>TRIPLANE FRACTURE OF THE DISTAL FEMUR IN </a:t>
            </a:r>
          </a:p>
          <a:p>
            <a:pPr algn="ctr"/>
            <a:r>
              <a:rPr lang="en-US" sz="2000" b="1" dirty="0">
                <a:solidFill>
                  <a:schemeClr val="accent1">
                    <a:lumMod val="40000"/>
                    <a:lumOff val="60000"/>
                  </a:schemeClr>
                </a:solidFill>
                <a:latin typeface="Amasis MT Pro Black" panose="020F0502020204030204" pitchFamily="18" charset="0"/>
              </a:rPr>
              <a:t>THE PAEDIATRIC POPULATION</a:t>
            </a:r>
          </a:p>
        </p:txBody>
      </p:sp>
      <p:sp>
        <p:nvSpPr>
          <p:cNvPr id="20" name="TextBox 19">
            <a:extLst>
              <a:ext uri="{FF2B5EF4-FFF2-40B4-BE49-F238E27FC236}">
                <a16:creationId xmlns:a16="http://schemas.microsoft.com/office/drawing/2014/main" id="{C0616687-624D-607B-6F85-335EE46873F1}"/>
              </a:ext>
            </a:extLst>
          </p:cNvPr>
          <p:cNvSpPr txBox="1"/>
          <p:nvPr/>
        </p:nvSpPr>
        <p:spPr>
          <a:xfrm>
            <a:off x="2801667" y="637329"/>
            <a:ext cx="5371991" cy="646331"/>
          </a:xfrm>
          <a:prstGeom prst="rect">
            <a:avLst/>
          </a:prstGeom>
          <a:noFill/>
        </p:spPr>
        <p:txBody>
          <a:bodyPr wrap="square" rtlCol="0">
            <a:spAutoFit/>
          </a:bodyPr>
          <a:lstStyle/>
          <a:p>
            <a:pPr lvl="1" algn="ctr"/>
            <a:r>
              <a:rPr lang="en-US" sz="1200" b="1" dirty="0">
                <a:ln w="0"/>
                <a:solidFill>
                  <a:schemeClr val="accent4">
                    <a:lumMod val="20000"/>
                    <a:lumOff val="80000"/>
                  </a:schemeClr>
                </a:solidFill>
                <a:effectLst>
                  <a:outerShdw blurRad="38100" dist="19050" dir="2700000" algn="tl" rotWithShape="0">
                    <a:schemeClr val="dk1">
                      <a:alpha val="40000"/>
                    </a:schemeClr>
                  </a:outerShdw>
                </a:effectLst>
                <a:latin typeface="Garamond" panose="02020404030301010803" pitchFamily="18" charset="0"/>
                <a:cs typeface="Aldhabi" panose="020F0502020204030204" pitchFamily="2" charset="-78"/>
              </a:rPr>
              <a:t>AUTHORS: Dr. TAPAS MAJUMDER ( PG )</a:t>
            </a:r>
          </a:p>
          <a:p>
            <a:pPr lvl="1" algn="ctr"/>
            <a:r>
              <a:rPr lang="en-US" sz="1200" dirty="0">
                <a:ln w="0"/>
                <a:solidFill>
                  <a:schemeClr val="accent4">
                    <a:lumMod val="20000"/>
                    <a:lumOff val="80000"/>
                  </a:schemeClr>
                </a:solidFill>
                <a:effectLst>
                  <a:outerShdw blurRad="38100" dist="19050" dir="2700000" algn="tl" rotWithShape="0">
                    <a:schemeClr val="dk1">
                      <a:alpha val="40000"/>
                    </a:schemeClr>
                  </a:outerShdw>
                </a:effectLst>
              </a:rPr>
              <a:t>GUIDE: Dr. P ANIL BABU ( MS ORTHO)</a:t>
            </a:r>
          </a:p>
          <a:p>
            <a:pPr lvl="1" algn="ctr"/>
            <a:r>
              <a:rPr lang="en-US" sz="1200" b="1" dirty="0">
                <a:ln w="0"/>
                <a:solidFill>
                  <a:schemeClr val="accent4">
                    <a:lumMod val="20000"/>
                    <a:lumOff val="80000"/>
                  </a:schemeClr>
                </a:solidFill>
                <a:effectLst>
                  <a:outerShdw blurRad="38100" dist="19050" dir="2700000" algn="tl" rotWithShape="0">
                    <a:schemeClr val="dk1">
                      <a:alpha val="40000"/>
                    </a:schemeClr>
                  </a:outerShdw>
                </a:effectLst>
              </a:rPr>
              <a:t>GUNTUR MEDICAL COLLEGE,GUNTUR</a:t>
            </a:r>
            <a:endParaRPr lang="en-IN" sz="1200" b="1" dirty="0">
              <a:solidFill>
                <a:schemeClr val="accent4">
                  <a:lumMod val="20000"/>
                  <a:lumOff val="80000"/>
                </a:schemeClr>
              </a:solidFill>
            </a:endParaRPr>
          </a:p>
        </p:txBody>
      </p:sp>
      <p:sp>
        <p:nvSpPr>
          <p:cNvPr id="4" name="Freeform 13">
            <a:extLst>
              <a:ext uri="{FF2B5EF4-FFF2-40B4-BE49-F238E27FC236}">
                <a16:creationId xmlns:a16="http://schemas.microsoft.com/office/drawing/2014/main" id="{0F401C6F-33A3-A415-AD1A-709059E901BF}"/>
              </a:ext>
            </a:extLst>
          </p:cNvPr>
          <p:cNvSpPr/>
          <p:nvPr/>
        </p:nvSpPr>
        <p:spPr>
          <a:xfrm>
            <a:off x="945280" y="14255"/>
            <a:ext cx="1505561" cy="1280157"/>
          </a:xfrm>
          <a:custGeom>
            <a:avLst/>
            <a:gdLst/>
            <a:ahLst/>
            <a:cxnLst/>
            <a:rect l="l" t="t" r="r" b="b"/>
            <a:pathLst>
              <a:path w="2254612" h="1957865">
                <a:moveTo>
                  <a:pt x="0" y="0"/>
                </a:moveTo>
                <a:lnTo>
                  <a:pt x="2254612" y="0"/>
                </a:lnTo>
                <a:lnTo>
                  <a:pt x="2254612" y="1957865"/>
                </a:lnTo>
                <a:lnTo>
                  <a:pt x="0" y="1957865"/>
                </a:lnTo>
                <a:lnTo>
                  <a:pt x="0" y="0"/>
                </a:lnTo>
                <a:close/>
              </a:path>
            </a:pathLst>
          </a:custGeom>
          <a:blipFill>
            <a:blip r:embed="rId6"/>
            <a:stretch>
              <a:fillRect t="-9937" r="-4895" b="-10857"/>
            </a:stretch>
          </a:blipFill>
        </p:spPr>
        <p:txBody>
          <a:bodyPr/>
          <a:lstStyle/>
          <a:p>
            <a:endParaRPr lang="en-US"/>
          </a:p>
        </p:txBody>
      </p:sp>
      <p:sp>
        <p:nvSpPr>
          <p:cNvPr id="5" name="Rectangle 4">
            <a:extLst>
              <a:ext uri="{FF2B5EF4-FFF2-40B4-BE49-F238E27FC236}">
                <a16:creationId xmlns:a16="http://schemas.microsoft.com/office/drawing/2014/main" id="{1D4F9D5A-1DDA-4BC3-63F3-F36226B86C87}"/>
              </a:ext>
            </a:extLst>
          </p:cNvPr>
          <p:cNvSpPr/>
          <p:nvPr/>
        </p:nvSpPr>
        <p:spPr>
          <a:xfrm>
            <a:off x="12579" y="1294412"/>
            <a:ext cx="4549317" cy="556358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7" name="Rectangle 6">
            <a:extLst>
              <a:ext uri="{FF2B5EF4-FFF2-40B4-BE49-F238E27FC236}">
                <a16:creationId xmlns:a16="http://schemas.microsoft.com/office/drawing/2014/main" id="{6D1A47E9-312C-D04A-D368-EE96CE32C982}"/>
              </a:ext>
            </a:extLst>
          </p:cNvPr>
          <p:cNvSpPr/>
          <p:nvPr/>
        </p:nvSpPr>
        <p:spPr>
          <a:xfrm>
            <a:off x="4593558" y="1294412"/>
            <a:ext cx="3816517" cy="557784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8" name="Rectangle 7">
            <a:extLst>
              <a:ext uri="{FF2B5EF4-FFF2-40B4-BE49-F238E27FC236}">
                <a16:creationId xmlns:a16="http://schemas.microsoft.com/office/drawing/2014/main" id="{63A874B9-B8E1-A36B-AA38-6FCC7D5D8F32}"/>
              </a:ext>
            </a:extLst>
          </p:cNvPr>
          <p:cNvSpPr/>
          <p:nvPr/>
        </p:nvSpPr>
        <p:spPr>
          <a:xfrm>
            <a:off x="8453058" y="1300228"/>
            <a:ext cx="3726363" cy="555777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0" name="Rectangle 9">
            <a:extLst>
              <a:ext uri="{FF2B5EF4-FFF2-40B4-BE49-F238E27FC236}">
                <a16:creationId xmlns:a16="http://schemas.microsoft.com/office/drawing/2014/main" id="{6B0C050E-DD7C-3885-8EBF-D74C223C0531}"/>
              </a:ext>
            </a:extLst>
          </p:cNvPr>
          <p:cNvSpPr/>
          <p:nvPr/>
        </p:nvSpPr>
        <p:spPr>
          <a:xfrm>
            <a:off x="0" y="1280157"/>
            <a:ext cx="4544833" cy="394637"/>
          </a:xfrm>
          <a:prstGeom prst="rect">
            <a:avLst/>
          </a:prstGeom>
          <a:solidFill>
            <a:schemeClr val="tx2">
              <a:lumMod val="25000"/>
              <a:lumOff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ABSTRACT </a:t>
            </a:r>
          </a:p>
        </p:txBody>
      </p:sp>
      <p:sp>
        <p:nvSpPr>
          <p:cNvPr id="11" name="Rectangle 10">
            <a:extLst>
              <a:ext uri="{FF2B5EF4-FFF2-40B4-BE49-F238E27FC236}">
                <a16:creationId xmlns:a16="http://schemas.microsoft.com/office/drawing/2014/main" id="{493EBCB5-BB50-7945-E88B-86122853702B}"/>
              </a:ext>
            </a:extLst>
          </p:cNvPr>
          <p:cNvSpPr/>
          <p:nvPr/>
        </p:nvSpPr>
        <p:spPr>
          <a:xfrm>
            <a:off x="4593559" y="4206739"/>
            <a:ext cx="3827838" cy="394637"/>
          </a:xfrm>
          <a:prstGeom prst="rect">
            <a:avLst/>
          </a:prstGeom>
          <a:solidFill>
            <a:schemeClr val="tx2">
              <a:lumMod val="25000"/>
              <a:lumOff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lumMod val="95000"/>
                    <a:lumOff val="5000"/>
                  </a:schemeClr>
                </a:solidFill>
              </a:rPr>
              <a:t>OPERATIVE FINDINGS</a:t>
            </a:r>
          </a:p>
        </p:txBody>
      </p:sp>
      <p:sp>
        <p:nvSpPr>
          <p:cNvPr id="12" name="Rectangle 11">
            <a:extLst>
              <a:ext uri="{FF2B5EF4-FFF2-40B4-BE49-F238E27FC236}">
                <a16:creationId xmlns:a16="http://schemas.microsoft.com/office/drawing/2014/main" id="{779DCDE1-7E85-0646-3543-9C1638CEB9CA}"/>
              </a:ext>
            </a:extLst>
          </p:cNvPr>
          <p:cNvSpPr/>
          <p:nvPr/>
        </p:nvSpPr>
        <p:spPr>
          <a:xfrm>
            <a:off x="8468591" y="3803217"/>
            <a:ext cx="3695298" cy="394637"/>
          </a:xfrm>
          <a:prstGeom prst="rect">
            <a:avLst/>
          </a:prstGeom>
          <a:solidFill>
            <a:schemeClr val="tx2">
              <a:lumMod val="25000"/>
              <a:lumOff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lumMod val="95000"/>
                    <a:lumOff val="5000"/>
                  </a:schemeClr>
                </a:solidFill>
              </a:rPr>
              <a:t>DISCUSSION</a:t>
            </a:r>
          </a:p>
        </p:txBody>
      </p:sp>
      <p:sp>
        <p:nvSpPr>
          <p:cNvPr id="13" name="Rectangle 12">
            <a:extLst>
              <a:ext uri="{FF2B5EF4-FFF2-40B4-BE49-F238E27FC236}">
                <a16:creationId xmlns:a16="http://schemas.microsoft.com/office/drawing/2014/main" id="{9A130820-FF42-EA8A-339B-145E1FC668F5}"/>
              </a:ext>
            </a:extLst>
          </p:cNvPr>
          <p:cNvSpPr/>
          <p:nvPr/>
        </p:nvSpPr>
        <p:spPr>
          <a:xfrm>
            <a:off x="4593558" y="1297317"/>
            <a:ext cx="3791359" cy="394637"/>
          </a:xfrm>
          <a:prstGeom prst="rect">
            <a:avLst/>
          </a:prstGeom>
          <a:solidFill>
            <a:schemeClr val="tx2">
              <a:lumMod val="25000"/>
              <a:lumOff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lumMod val="95000"/>
                    <a:lumOff val="5000"/>
                  </a:schemeClr>
                </a:solidFill>
              </a:rPr>
              <a:t>CASE REPORT</a:t>
            </a:r>
          </a:p>
        </p:txBody>
      </p:sp>
      <p:sp>
        <p:nvSpPr>
          <p:cNvPr id="22" name="Rectangle 21">
            <a:extLst>
              <a:ext uri="{FF2B5EF4-FFF2-40B4-BE49-F238E27FC236}">
                <a16:creationId xmlns:a16="http://schemas.microsoft.com/office/drawing/2014/main" id="{99633B59-00B8-9FD5-0D31-D1688B16556B}"/>
              </a:ext>
            </a:extLst>
          </p:cNvPr>
          <p:cNvSpPr/>
          <p:nvPr/>
        </p:nvSpPr>
        <p:spPr>
          <a:xfrm>
            <a:off x="8456014" y="5323259"/>
            <a:ext cx="3723407" cy="394637"/>
          </a:xfrm>
          <a:prstGeom prst="rect">
            <a:avLst/>
          </a:prstGeom>
          <a:solidFill>
            <a:schemeClr val="tx2">
              <a:lumMod val="25000"/>
              <a:lumOff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lumMod val="95000"/>
                    <a:lumOff val="5000"/>
                  </a:schemeClr>
                </a:solidFill>
              </a:rPr>
              <a:t>CONCLUSION</a:t>
            </a:r>
          </a:p>
        </p:txBody>
      </p:sp>
      <p:sp>
        <p:nvSpPr>
          <p:cNvPr id="21" name="Rectangle 20">
            <a:extLst>
              <a:ext uri="{FF2B5EF4-FFF2-40B4-BE49-F238E27FC236}">
                <a16:creationId xmlns:a16="http://schemas.microsoft.com/office/drawing/2014/main" id="{7E5913C2-E0E6-3DF9-84C0-17C5D45B8586}"/>
              </a:ext>
            </a:extLst>
          </p:cNvPr>
          <p:cNvSpPr/>
          <p:nvPr/>
        </p:nvSpPr>
        <p:spPr>
          <a:xfrm>
            <a:off x="31502" y="3064541"/>
            <a:ext cx="4525910" cy="394637"/>
          </a:xfrm>
          <a:prstGeom prst="rect">
            <a:avLst/>
          </a:prstGeom>
          <a:solidFill>
            <a:schemeClr val="tx2">
              <a:lumMod val="25000"/>
              <a:lumOff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INTRODUCTION </a:t>
            </a:r>
          </a:p>
        </p:txBody>
      </p:sp>
      <p:sp>
        <p:nvSpPr>
          <p:cNvPr id="23" name="TextBox 22">
            <a:extLst>
              <a:ext uri="{FF2B5EF4-FFF2-40B4-BE49-F238E27FC236}">
                <a16:creationId xmlns:a16="http://schemas.microsoft.com/office/drawing/2014/main" id="{26BAE4CD-D778-18CC-AB76-2540B99C3739}"/>
              </a:ext>
            </a:extLst>
          </p:cNvPr>
          <p:cNvSpPr txBox="1"/>
          <p:nvPr/>
        </p:nvSpPr>
        <p:spPr>
          <a:xfrm>
            <a:off x="5582" y="1662396"/>
            <a:ext cx="4539251" cy="1477328"/>
          </a:xfrm>
          <a:prstGeom prst="rect">
            <a:avLst/>
          </a:prstGeom>
          <a:noFill/>
        </p:spPr>
        <p:txBody>
          <a:bodyPr wrap="square" rtlCol="0">
            <a:spAutoFit/>
          </a:bodyPr>
          <a:lstStyle/>
          <a:p>
            <a:r>
              <a:rPr lang="en-US" sz="1000" dirty="0"/>
              <a:t>Triplane fractures of the distal femur in </a:t>
            </a:r>
            <a:r>
              <a:rPr lang="en-US" sz="1000" dirty="0" err="1"/>
              <a:t>Paediatric</a:t>
            </a:r>
            <a:r>
              <a:rPr lang="en-US" sz="1000" dirty="0"/>
              <a:t> populations are extremely rare. Only three cases of </a:t>
            </a:r>
            <a:r>
              <a:rPr lang="en-US" sz="1000" dirty="0" err="1"/>
              <a:t>paediatric</a:t>
            </a:r>
            <a:r>
              <a:rPr lang="en-US" sz="1000" dirty="0"/>
              <a:t> triplane fractures of the distal femur are described in the literature. Our aim is to add to the scant literature on triplane fractures of the distal femur in the </a:t>
            </a:r>
            <a:r>
              <a:rPr lang="en-US" sz="1000" dirty="0" err="1"/>
              <a:t>paediatric</a:t>
            </a:r>
            <a:r>
              <a:rPr lang="en-US" sz="1000" dirty="0"/>
              <a:t> population. The majority of trauma and </a:t>
            </a:r>
            <a:r>
              <a:rPr lang="en-US" sz="1000" dirty="0" err="1"/>
              <a:t>Orthopaedic</a:t>
            </a:r>
            <a:r>
              <a:rPr lang="en-US" sz="1000" dirty="0"/>
              <a:t> surgeons are not expected to come across this injury throughout their careers. A CT is recommended to plan surgery, and subsequent follow up is crucial to provide the child with the best possible outcome. Particularly, follow up is important to monitor for any abnormal growth or deformities. </a:t>
            </a:r>
            <a:endParaRPr lang="en-IN" sz="1000" dirty="0"/>
          </a:p>
        </p:txBody>
      </p:sp>
      <p:sp>
        <p:nvSpPr>
          <p:cNvPr id="24" name="TextBox 23">
            <a:extLst>
              <a:ext uri="{FF2B5EF4-FFF2-40B4-BE49-F238E27FC236}">
                <a16:creationId xmlns:a16="http://schemas.microsoft.com/office/drawing/2014/main" id="{F5642C49-BDCB-96A1-B94A-BB07F5180770}"/>
              </a:ext>
            </a:extLst>
          </p:cNvPr>
          <p:cNvSpPr txBox="1"/>
          <p:nvPr/>
        </p:nvSpPr>
        <p:spPr>
          <a:xfrm>
            <a:off x="10902" y="3459179"/>
            <a:ext cx="4525910" cy="3416320"/>
          </a:xfrm>
          <a:prstGeom prst="rect">
            <a:avLst/>
          </a:prstGeom>
          <a:noFill/>
        </p:spPr>
        <p:txBody>
          <a:bodyPr wrap="square" rtlCol="0">
            <a:spAutoFit/>
          </a:bodyPr>
          <a:lstStyle/>
          <a:p>
            <a:r>
              <a:rPr lang="en-US" sz="900" dirty="0"/>
              <a:t>Triplane fractures of the distal femur in children are extremely rare. Fractures to the growth plate of the distal femur have been recognized as significant injuries in the literature as far back as 1894 .</a:t>
            </a:r>
          </a:p>
          <a:p>
            <a:r>
              <a:rPr lang="en-US" sz="900" dirty="0"/>
              <a:t>The epidemiology of distal femoral growth plate injuries is well described. They represent from one to five percent of all physeal injuries, and approximately seven percent of lower extremity injuries; less than one percent of </a:t>
            </a:r>
            <a:r>
              <a:rPr lang="en-US" sz="900" dirty="0" err="1"/>
              <a:t>paediatric</a:t>
            </a:r>
            <a:r>
              <a:rPr lang="en-US" sz="900" dirty="0"/>
              <a:t> fractures. Most are Salter-Harris type II fractures which occur in adolescents. </a:t>
            </a:r>
          </a:p>
          <a:p>
            <a:r>
              <a:rPr lang="en-US" sz="900" dirty="0"/>
              <a:t>The fusion of the distal femoral growth plate occurs between 14 and 16 years of age for females, and 16 to 18 years of age for males. Due to the thicker perichondral ring and periosteum, it takes more energy to injure the growth plate of a child than an adolescent.</a:t>
            </a:r>
          </a:p>
          <a:p>
            <a:r>
              <a:rPr lang="en-US" sz="900" dirty="0"/>
              <a:t>Fractures involving the distal femur growth plate can have severe implications for children. Complications include malunion, premature closure of part or all of the growth plates with the corresponding angular and/or rotational deformities, or leg-length discrepancies, and neurovascular injuries.</a:t>
            </a:r>
          </a:p>
          <a:p>
            <a:r>
              <a:rPr lang="en-US" sz="900" dirty="0"/>
              <a:t>Triplane fractures are well described of the distal tibia, distal humerus, distal radius, and the hand. To date, only three cases have been reported of triplane fractures in the distal femur in the </a:t>
            </a:r>
            <a:r>
              <a:rPr lang="en-US" sz="900" dirty="0" err="1"/>
              <a:t>paediatric</a:t>
            </a:r>
            <a:r>
              <a:rPr lang="en-US" sz="900" dirty="0"/>
              <a:t> population. Only one of these cases involved a female, and only one case had a pre-operative computed tomography (CT) scan performed.</a:t>
            </a:r>
          </a:p>
          <a:p>
            <a:r>
              <a:rPr lang="en-US" sz="900" dirty="0"/>
              <a:t>Our aim is to add to the scant literature on triplane fractures of the distal femur in the </a:t>
            </a:r>
            <a:r>
              <a:rPr lang="en-US" sz="900" dirty="0" err="1"/>
              <a:t>paediatric</a:t>
            </a:r>
            <a:r>
              <a:rPr lang="en-US" sz="900" dirty="0"/>
              <a:t> population. We describe our management and the challenges this case presented to us. In providing more information on triplane distal femoral fractures in the </a:t>
            </a:r>
            <a:r>
              <a:rPr lang="en-US" sz="900" dirty="0" err="1"/>
              <a:t>paediatric</a:t>
            </a:r>
            <a:r>
              <a:rPr lang="en-US" sz="900" dirty="0"/>
              <a:t> population, we hope to provide detailed information for surgeons who are planning to repair such fractures in the future. </a:t>
            </a:r>
          </a:p>
        </p:txBody>
      </p:sp>
      <p:sp>
        <p:nvSpPr>
          <p:cNvPr id="25" name="TextBox 24">
            <a:extLst>
              <a:ext uri="{FF2B5EF4-FFF2-40B4-BE49-F238E27FC236}">
                <a16:creationId xmlns:a16="http://schemas.microsoft.com/office/drawing/2014/main" id="{AEC55224-84CC-EF74-E074-D34F96D1D65F}"/>
              </a:ext>
            </a:extLst>
          </p:cNvPr>
          <p:cNvSpPr txBox="1"/>
          <p:nvPr/>
        </p:nvSpPr>
        <p:spPr>
          <a:xfrm>
            <a:off x="4545204" y="4593797"/>
            <a:ext cx="2707574" cy="2246769"/>
          </a:xfrm>
          <a:prstGeom prst="rect">
            <a:avLst/>
          </a:prstGeom>
          <a:noFill/>
        </p:spPr>
        <p:txBody>
          <a:bodyPr wrap="square" rtlCol="0">
            <a:spAutoFit/>
          </a:bodyPr>
          <a:lstStyle/>
          <a:p>
            <a:r>
              <a:rPr lang="en-US" sz="1000" dirty="0"/>
              <a:t>Operative Technique -  Closed reduction was performed under C-ARM guidance. </a:t>
            </a:r>
          </a:p>
          <a:p>
            <a:r>
              <a:rPr lang="en-US" sz="1000" dirty="0"/>
              <a:t>Step 1: the Hoffa type lateral condylar fracture was reduced and fixed with a K-wire (Fig- 8).</a:t>
            </a:r>
          </a:p>
          <a:p>
            <a:r>
              <a:rPr lang="en-US" sz="1000" dirty="0"/>
              <a:t>Step 2: the medial condylar fragment was reduced and fixed with another 2mm K-wire (Fig- 9).</a:t>
            </a:r>
          </a:p>
          <a:p>
            <a:r>
              <a:rPr lang="en-US" sz="1000" dirty="0"/>
              <a:t>Step 3: another 1.5mm K-wire passed from lateral condyle to medial condyle (Fig-10to11).</a:t>
            </a:r>
          </a:p>
          <a:p>
            <a:r>
              <a:rPr lang="en-US" sz="1000" dirty="0"/>
              <a:t>Anatomic reduction of the articular surface was performed. There is no medial physis comminution. These wires were subsequently removed six weeks later.</a:t>
            </a:r>
            <a:endParaRPr lang="en-IN" sz="1000" dirty="0"/>
          </a:p>
        </p:txBody>
      </p:sp>
      <p:sp>
        <p:nvSpPr>
          <p:cNvPr id="30" name="Rectangle 29">
            <a:extLst>
              <a:ext uri="{FF2B5EF4-FFF2-40B4-BE49-F238E27FC236}">
                <a16:creationId xmlns:a16="http://schemas.microsoft.com/office/drawing/2014/main" id="{8EA6C58C-260D-B156-768F-C662CF239221}"/>
              </a:ext>
            </a:extLst>
          </p:cNvPr>
          <p:cNvSpPr/>
          <p:nvPr/>
        </p:nvSpPr>
        <p:spPr>
          <a:xfrm>
            <a:off x="8468590" y="1297318"/>
            <a:ext cx="3723407" cy="394637"/>
          </a:xfrm>
          <a:prstGeom prst="rect">
            <a:avLst/>
          </a:prstGeom>
          <a:solidFill>
            <a:schemeClr val="tx2">
              <a:lumMod val="25000"/>
              <a:lumOff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lumMod val="95000"/>
                    <a:lumOff val="5000"/>
                  </a:schemeClr>
                </a:solidFill>
              </a:rPr>
              <a:t>POST OPERATIVE PROTOCOL</a:t>
            </a:r>
          </a:p>
        </p:txBody>
      </p:sp>
      <p:sp>
        <p:nvSpPr>
          <p:cNvPr id="31" name="TextBox 30">
            <a:extLst>
              <a:ext uri="{FF2B5EF4-FFF2-40B4-BE49-F238E27FC236}">
                <a16:creationId xmlns:a16="http://schemas.microsoft.com/office/drawing/2014/main" id="{2D186A9B-1046-D5AB-5CF0-4164E580768D}"/>
              </a:ext>
            </a:extLst>
          </p:cNvPr>
          <p:cNvSpPr txBox="1"/>
          <p:nvPr/>
        </p:nvSpPr>
        <p:spPr>
          <a:xfrm>
            <a:off x="8435995" y="1691711"/>
            <a:ext cx="3756002" cy="2092881"/>
          </a:xfrm>
          <a:prstGeom prst="rect">
            <a:avLst/>
          </a:prstGeom>
          <a:noFill/>
        </p:spPr>
        <p:txBody>
          <a:bodyPr wrap="square" rtlCol="0">
            <a:spAutoFit/>
          </a:bodyPr>
          <a:lstStyle/>
          <a:p>
            <a:r>
              <a:rPr lang="en-US" sz="1000" dirty="0"/>
              <a:t>Immobilization was performed with above knee back slab for 6 weeks until wires are removed(Fig-13). Quadriceps strengthening exercises and hip ROM exercises started consequently, weight-bearing and physio were commenced periodic radiographs were requested, evaluated by true AP and Lateral x-rays that  were taken at 2,4,6,12 months post-operatively(Fig-14). The patient recovered from the injury  without any initial post-operative  complications. </a:t>
            </a:r>
          </a:p>
          <a:p>
            <a:r>
              <a:rPr lang="en-US" sz="1000" dirty="0"/>
              <a:t>The functional </a:t>
            </a:r>
          </a:p>
          <a:p>
            <a:r>
              <a:rPr lang="en-US" sz="1000" dirty="0"/>
              <a:t>Outcome was</a:t>
            </a:r>
          </a:p>
          <a:p>
            <a:r>
              <a:rPr lang="en-US" sz="1000" dirty="0"/>
              <a:t>measured with</a:t>
            </a:r>
          </a:p>
          <a:p>
            <a:r>
              <a:rPr lang="en-US" sz="1000" dirty="0"/>
              <a:t>the use of  </a:t>
            </a:r>
          </a:p>
          <a:p>
            <a:r>
              <a:rPr lang="en-US" sz="1000" dirty="0"/>
              <a:t>ROWE score. </a:t>
            </a:r>
          </a:p>
        </p:txBody>
      </p:sp>
      <p:sp>
        <p:nvSpPr>
          <p:cNvPr id="32" name="TextBox 31">
            <a:extLst>
              <a:ext uri="{FF2B5EF4-FFF2-40B4-BE49-F238E27FC236}">
                <a16:creationId xmlns:a16="http://schemas.microsoft.com/office/drawing/2014/main" id="{E1DFFC9E-DEFD-0C55-30F8-33948167964F}"/>
              </a:ext>
            </a:extLst>
          </p:cNvPr>
          <p:cNvSpPr txBox="1"/>
          <p:nvPr/>
        </p:nvSpPr>
        <p:spPr>
          <a:xfrm>
            <a:off x="8453058" y="4167156"/>
            <a:ext cx="3726363" cy="1169551"/>
          </a:xfrm>
          <a:prstGeom prst="rect">
            <a:avLst/>
          </a:prstGeom>
          <a:noFill/>
        </p:spPr>
        <p:txBody>
          <a:bodyPr wrap="square" rtlCol="0">
            <a:spAutoFit/>
          </a:bodyPr>
          <a:lstStyle/>
          <a:p>
            <a:r>
              <a:rPr lang="en-US" sz="1000" dirty="0"/>
              <a:t>Triplane fractures of the distal femur in the </a:t>
            </a:r>
            <a:r>
              <a:rPr lang="en-US" sz="1000" dirty="0" err="1"/>
              <a:t>paediatric</a:t>
            </a:r>
            <a:r>
              <a:rPr lang="en-US" sz="1000" dirty="0"/>
              <a:t> population are very rare. Pre-operatively the surgeon must anticipate potential complications and address these with parents. A CT is recommended to plan surgery, and subsequent follow up is crucial to provide the child with the best possible outcome. Regarding the operative technique, it is essential to aim for as much anatomical reduction as possible.</a:t>
            </a:r>
          </a:p>
        </p:txBody>
      </p:sp>
      <p:sp>
        <p:nvSpPr>
          <p:cNvPr id="33" name="TextBox 32">
            <a:extLst>
              <a:ext uri="{FF2B5EF4-FFF2-40B4-BE49-F238E27FC236}">
                <a16:creationId xmlns:a16="http://schemas.microsoft.com/office/drawing/2014/main" id="{C43FA934-8C8F-0BDB-4DB1-3483FB9F99CB}"/>
              </a:ext>
            </a:extLst>
          </p:cNvPr>
          <p:cNvSpPr txBox="1"/>
          <p:nvPr/>
        </p:nvSpPr>
        <p:spPr>
          <a:xfrm>
            <a:off x="8453058" y="5676332"/>
            <a:ext cx="3710831" cy="1169551"/>
          </a:xfrm>
          <a:prstGeom prst="rect">
            <a:avLst/>
          </a:prstGeom>
          <a:noFill/>
        </p:spPr>
        <p:txBody>
          <a:bodyPr wrap="square" rtlCol="0">
            <a:spAutoFit/>
          </a:bodyPr>
          <a:lstStyle/>
          <a:p>
            <a:r>
              <a:rPr lang="en-US" sz="1000" dirty="0"/>
              <a:t>Our case is an example of a rare triplane distal femur epiphyseal fracture. We present pre-, peri- and post-operative images of the management of this rare injury. It is imperative to achieve anatomical reduction. CT scanning is recommended to diagnose and manage this injury appropriately. Post-operative follow up is crucial to managing this patient as a limb length discrepancy and/or a deformity is expected.</a:t>
            </a:r>
          </a:p>
        </p:txBody>
      </p:sp>
      <p:pic>
        <p:nvPicPr>
          <p:cNvPr id="2" name="Picture 1">
            <a:extLst>
              <a:ext uri="{FF2B5EF4-FFF2-40B4-BE49-F238E27FC236}">
                <a16:creationId xmlns:a16="http://schemas.microsoft.com/office/drawing/2014/main" id="{1A86A6D8-C0B9-A74F-5B12-9D8DF047A323}"/>
              </a:ext>
            </a:extLst>
          </p:cNvPr>
          <p:cNvPicPr>
            <a:picLocks noChangeAspect="1"/>
          </p:cNvPicPr>
          <p:nvPr/>
        </p:nvPicPr>
        <p:blipFill>
          <a:blip r:embed="rId7"/>
          <a:srcRect l="22593" t="31985" r="32973" b="23291"/>
          <a:stretch>
            <a:fillRect/>
          </a:stretch>
        </p:blipFill>
        <p:spPr>
          <a:xfrm>
            <a:off x="7181115" y="4624951"/>
            <a:ext cx="597851" cy="802337"/>
          </a:xfrm>
          <a:prstGeom prst="rect">
            <a:avLst/>
          </a:prstGeom>
        </p:spPr>
      </p:pic>
      <p:pic>
        <p:nvPicPr>
          <p:cNvPr id="3" name="Picture 2">
            <a:extLst>
              <a:ext uri="{FF2B5EF4-FFF2-40B4-BE49-F238E27FC236}">
                <a16:creationId xmlns:a16="http://schemas.microsoft.com/office/drawing/2014/main" id="{2F941012-D1F5-F505-F577-13E52FDE97FE}"/>
              </a:ext>
            </a:extLst>
          </p:cNvPr>
          <p:cNvPicPr>
            <a:picLocks noChangeAspect="1"/>
          </p:cNvPicPr>
          <p:nvPr/>
        </p:nvPicPr>
        <p:blipFill>
          <a:blip r:embed="rId8"/>
          <a:srcRect l="33682" t="26892" r="9528" b="21515"/>
          <a:stretch>
            <a:fillRect/>
          </a:stretch>
        </p:blipFill>
        <p:spPr>
          <a:xfrm>
            <a:off x="7789992" y="4615292"/>
            <a:ext cx="608962" cy="801836"/>
          </a:xfrm>
          <a:prstGeom prst="rect">
            <a:avLst/>
          </a:prstGeom>
        </p:spPr>
      </p:pic>
      <p:pic>
        <p:nvPicPr>
          <p:cNvPr id="9" name="Picture 8">
            <a:extLst>
              <a:ext uri="{FF2B5EF4-FFF2-40B4-BE49-F238E27FC236}">
                <a16:creationId xmlns:a16="http://schemas.microsoft.com/office/drawing/2014/main" id="{5AA134F0-C410-E4B3-B578-11763BC192D6}"/>
              </a:ext>
            </a:extLst>
          </p:cNvPr>
          <p:cNvPicPr>
            <a:picLocks noChangeAspect="1"/>
          </p:cNvPicPr>
          <p:nvPr/>
        </p:nvPicPr>
        <p:blipFill>
          <a:blip r:embed="rId9"/>
          <a:srcRect l="10314" t="22709" r="26700" b="18666"/>
          <a:stretch>
            <a:fillRect/>
          </a:stretch>
        </p:blipFill>
        <p:spPr>
          <a:xfrm>
            <a:off x="7176099" y="5440703"/>
            <a:ext cx="616795" cy="770838"/>
          </a:xfrm>
          <a:prstGeom prst="rect">
            <a:avLst/>
          </a:prstGeom>
        </p:spPr>
      </p:pic>
      <p:pic>
        <p:nvPicPr>
          <p:cNvPr id="26" name="Picture 25">
            <a:extLst>
              <a:ext uri="{FF2B5EF4-FFF2-40B4-BE49-F238E27FC236}">
                <a16:creationId xmlns:a16="http://schemas.microsoft.com/office/drawing/2014/main" id="{907A4D0B-1EE8-1650-439F-1FD4CD4EDC5D}"/>
              </a:ext>
            </a:extLst>
          </p:cNvPr>
          <p:cNvPicPr>
            <a:picLocks noChangeAspect="1"/>
          </p:cNvPicPr>
          <p:nvPr/>
        </p:nvPicPr>
        <p:blipFill>
          <a:blip r:embed="rId10"/>
          <a:srcRect l="10430" t="24821" r="26584" b="16667"/>
          <a:stretch>
            <a:fillRect/>
          </a:stretch>
        </p:blipFill>
        <p:spPr>
          <a:xfrm>
            <a:off x="7799155" y="5439998"/>
            <a:ext cx="591469" cy="770513"/>
          </a:xfrm>
          <a:prstGeom prst="rect">
            <a:avLst/>
          </a:prstGeom>
        </p:spPr>
      </p:pic>
      <p:pic>
        <p:nvPicPr>
          <p:cNvPr id="27" name="Picture 26">
            <a:extLst>
              <a:ext uri="{FF2B5EF4-FFF2-40B4-BE49-F238E27FC236}">
                <a16:creationId xmlns:a16="http://schemas.microsoft.com/office/drawing/2014/main" id="{DD2ED383-9903-ACA0-3618-E225F6A19B2F}"/>
              </a:ext>
            </a:extLst>
          </p:cNvPr>
          <p:cNvPicPr>
            <a:picLocks noChangeAspect="1"/>
          </p:cNvPicPr>
          <p:nvPr/>
        </p:nvPicPr>
        <p:blipFill>
          <a:blip r:embed="rId11"/>
          <a:srcRect l="8352" t="9824" r="19245" b="15033"/>
          <a:stretch>
            <a:fillRect/>
          </a:stretch>
        </p:blipFill>
        <p:spPr>
          <a:xfrm rot="5400000">
            <a:off x="7562248" y="6169529"/>
            <a:ext cx="533354" cy="737591"/>
          </a:xfrm>
          <a:prstGeom prst="rect">
            <a:avLst/>
          </a:prstGeom>
        </p:spPr>
      </p:pic>
      <p:pic>
        <p:nvPicPr>
          <p:cNvPr id="28" name="Picture 27">
            <a:extLst>
              <a:ext uri="{FF2B5EF4-FFF2-40B4-BE49-F238E27FC236}">
                <a16:creationId xmlns:a16="http://schemas.microsoft.com/office/drawing/2014/main" id="{C4A70C09-8C04-39DF-FE66-4CC8C735B3C7}"/>
              </a:ext>
            </a:extLst>
          </p:cNvPr>
          <p:cNvPicPr>
            <a:picLocks noChangeAspect="1"/>
          </p:cNvPicPr>
          <p:nvPr/>
        </p:nvPicPr>
        <p:blipFill>
          <a:blip r:embed="rId12"/>
          <a:srcRect l="8747" t="4811" r="12218" b="5681"/>
          <a:stretch>
            <a:fillRect/>
          </a:stretch>
        </p:blipFill>
        <p:spPr>
          <a:xfrm>
            <a:off x="5827256" y="3475867"/>
            <a:ext cx="589893" cy="715657"/>
          </a:xfrm>
          <a:prstGeom prst="rect">
            <a:avLst/>
          </a:prstGeom>
        </p:spPr>
      </p:pic>
      <p:pic>
        <p:nvPicPr>
          <p:cNvPr id="29" name="Picture 28">
            <a:extLst>
              <a:ext uri="{FF2B5EF4-FFF2-40B4-BE49-F238E27FC236}">
                <a16:creationId xmlns:a16="http://schemas.microsoft.com/office/drawing/2014/main" id="{8EE32308-32A5-D68F-313C-AA5BBA0BC876}"/>
              </a:ext>
            </a:extLst>
          </p:cNvPr>
          <p:cNvPicPr>
            <a:picLocks noChangeAspect="1"/>
          </p:cNvPicPr>
          <p:nvPr/>
        </p:nvPicPr>
        <p:blipFill>
          <a:blip r:embed="rId13"/>
          <a:srcRect r="5937"/>
          <a:stretch>
            <a:fillRect/>
          </a:stretch>
        </p:blipFill>
        <p:spPr>
          <a:xfrm flipH="1">
            <a:off x="7090463" y="3477010"/>
            <a:ext cx="617383" cy="706154"/>
          </a:xfrm>
          <a:prstGeom prst="rect">
            <a:avLst/>
          </a:prstGeom>
        </p:spPr>
      </p:pic>
      <p:pic>
        <p:nvPicPr>
          <p:cNvPr id="34" name="Picture 33">
            <a:extLst>
              <a:ext uri="{FF2B5EF4-FFF2-40B4-BE49-F238E27FC236}">
                <a16:creationId xmlns:a16="http://schemas.microsoft.com/office/drawing/2014/main" id="{CFAC9CA8-0EA0-5E17-005C-AB92E430F4CF}"/>
              </a:ext>
            </a:extLst>
          </p:cNvPr>
          <p:cNvPicPr>
            <a:picLocks noChangeAspect="1"/>
          </p:cNvPicPr>
          <p:nvPr/>
        </p:nvPicPr>
        <p:blipFill>
          <a:blip r:embed="rId14"/>
          <a:srcRect l="12320" t="6609" r="21952" b="8655"/>
          <a:stretch>
            <a:fillRect/>
          </a:stretch>
        </p:blipFill>
        <p:spPr>
          <a:xfrm flipH="1">
            <a:off x="4606434" y="3474470"/>
            <a:ext cx="611835" cy="715799"/>
          </a:xfrm>
          <a:prstGeom prst="rect">
            <a:avLst/>
          </a:prstGeom>
        </p:spPr>
      </p:pic>
      <p:pic>
        <p:nvPicPr>
          <p:cNvPr id="35" name="Picture 34">
            <a:extLst>
              <a:ext uri="{FF2B5EF4-FFF2-40B4-BE49-F238E27FC236}">
                <a16:creationId xmlns:a16="http://schemas.microsoft.com/office/drawing/2014/main" id="{7FB375C1-8FFA-F98F-1A89-0F3475FB45FA}"/>
              </a:ext>
            </a:extLst>
          </p:cNvPr>
          <p:cNvPicPr>
            <a:picLocks noChangeAspect="1"/>
          </p:cNvPicPr>
          <p:nvPr/>
        </p:nvPicPr>
        <p:blipFill>
          <a:blip r:embed="rId15"/>
          <a:srcRect l="2532" t="2207" r="23013" b="5788"/>
          <a:stretch>
            <a:fillRect/>
          </a:stretch>
        </p:blipFill>
        <p:spPr>
          <a:xfrm>
            <a:off x="5227645" y="3475867"/>
            <a:ext cx="588269" cy="715140"/>
          </a:xfrm>
          <a:prstGeom prst="rect">
            <a:avLst/>
          </a:prstGeom>
        </p:spPr>
      </p:pic>
      <p:pic>
        <p:nvPicPr>
          <p:cNvPr id="36" name="Picture 35">
            <a:extLst>
              <a:ext uri="{FF2B5EF4-FFF2-40B4-BE49-F238E27FC236}">
                <a16:creationId xmlns:a16="http://schemas.microsoft.com/office/drawing/2014/main" id="{90D5BDF3-982D-9C70-4D2D-67B1E2C4E20B}"/>
              </a:ext>
            </a:extLst>
          </p:cNvPr>
          <p:cNvPicPr>
            <a:picLocks noChangeAspect="1"/>
          </p:cNvPicPr>
          <p:nvPr/>
        </p:nvPicPr>
        <p:blipFill>
          <a:blip r:embed="rId16"/>
          <a:srcRect l="9354" t="2462" r="6360" b="5759"/>
          <a:stretch>
            <a:fillRect/>
          </a:stretch>
        </p:blipFill>
        <p:spPr>
          <a:xfrm>
            <a:off x="6426524" y="3480360"/>
            <a:ext cx="656223" cy="706154"/>
          </a:xfrm>
          <a:prstGeom prst="rect">
            <a:avLst/>
          </a:prstGeom>
        </p:spPr>
      </p:pic>
      <p:pic>
        <p:nvPicPr>
          <p:cNvPr id="37" name="Picture 36">
            <a:extLst>
              <a:ext uri="{FF2B5EF4-FFF2-40B4-BE49-F238E27FC236}">
                <a16:creationId xmlns:a16="http://schemas.microsoft.com/office/drawing/2014/main" id="{540E4388-DC09-9054-4051-99B32F553B15}"/>
              </a:ext>
            </a:extLst>
          </p:cNvPr>
          <p:cNvPicPr>
            <a:picLocks noChangeAspect="1"/>
          </p:cNvPicPr>
          <p:nvPr/>
        </p:nvPicPr>
        <p:blipFill>
          <a:blip r:embed="rId17"/>
          <a:srcRect l="5560" r="3180"/>
          <a:stretch>
            <a:fillRect/>
          </a:stretch>
        </p:blipFill>
        <p:spPr>
          <a:xfrm>
            <a:off x="7719995" y="3475866"/>
            <a:ext cx="674840" cy="712661"/>
          </a:xfrm>
          <a:prstGeom prst="rect">
            <a:avLst/>
          </a:prstGeom>
        </p:spPr>
      </p:pic>
      <p:sp>
        <p:nvSpPr>
          <p:cNvPr id="38" name="TextBox 37">
            <a:extLst>
              <a:ext uri="{FF2B5EF4-FFF2-40B4-BE49-F238E27FC236}">
                <a16:creationId xmlns:a16="http://schemas.microsoft.com/office/drawing/2014/main" id="{7ACE89B9-76E3-600A-DE46-76A4D9E83648}"/>
              </a:ext>
            </a:extLst>
          </p:cNvPr>
          <p:cNvSpPr txBox="1"/>
          <p:nvPr/>
        </p:nvSpPr>
        <p:spPr>
          <a:xfrm>
            <a:off x="4587772" y="1706153"/>
            <a:ext cx="3782870" cy="1785104"/>
          </a:xfrm>
          <a:prstGeom prst="rect">
            <a:avLst/>
          </a:prstGeom>
          <a:noFill/>
        </p:spPr>
        <p:txBody>
          <a:bodyPr wrap="square" rtlCol="0">
            <a:spAutoFit/>
          </a:bodyPr>
          <a:lstStyle/>
          <a:p>
            <a:r>
              <a:rPr lang="en-US" sz="1000" dirty="0"/>
              <a:t>A 17-year-old boy injured his left knee due to fall from bike. He fall from pillion of bike dure skid of bike and sustained a direct blow to the left knee. He presented to emergency department of GGH Guntur due to left knee pain and an inability to weight-bear. After clinical examination, had plain film x-rays (Fig-1), and x-ray confirmed epiphyseal fracture. Once it was established that this was a closed fracture and he was neurovascularly</a:t>
            </a:r>
          </a:p>
          <a:p>
            <a:r>
              <a:rPr lang="en-US" sz="1000" dirty="0"/>
              <a:t>intact, his knee was immobilized in an above knee </a:t>
            </a:r>
          </a:p>
          <a:p>
            <a:r>
              <a:rPr lang="en-US" sz="1000" dirty="0"/>
              <a:t>Back slab. CT scan (Fig- </a:t>
            </a:r>
            <a:r>
              <a:rPr lang="en-US" sz="1000" u="sng" dirty="0"/>
              <a:t>2 to 7</a:t>
            </a:r>
            <a:r>
              <a:rPr lang="en-US" sz="1000" dirty="0"/>
              <a:t>) for a definitive </a:t>
            </a:r>
          </a:p>
          <a:p>
            <a:r>
              <a:rPr lang="en-US" sz="1000" dirty="0"/>
              <a:t>diagnosis of his left distal femur fracture. This </a:t>
            </a:r>
          </a:p>
          <a:p>
            <a:r>
              <a:rPr lang="en-US" sz="1000" dirty="0"/>
              <a:t>showed a triplane fracture of her distal femur.</a:t>
            </a:r>
          </a:p>
        </p:txBody>
      </p:sp>
      <p:pic>
        <p:nvPicPr>
          <p:cNvPr id="39" name="Picture 38">
            <a:extLst>
              <a:ext uri="{FF2B5EF4-FFF2-40B4-BE49-F238E27FC236}">
                <a16:creationId xmlns:a16="http://schemas.microsoft.com/office/drawing/2014/main" id="{E813EB5D-7809-3E07-F3D4-ACE996B2D463}"/>
              </a:ext>
            </a:extLst>
          </p:cNvPr>
          <p:cNvPicPr>
            <a:picLocks noChangeAspect="1"/>
          </p:cNvPicPr>
          <p:nvPr/>
        </p:nvPicPr>
        <p:blipFill>
          <a:blip r:embed="rId18"/>
          <a:srcRect l="7048" t="13974" r="9788" b="46533"/>
          <a:stretch>
            <a:fillRect/>
          </a:stretch>
        </p:blipFill>
        <p:spPr>
          <a:xfrm>
            <a:off x="7561461" y="2662175"/>
            <a:ext cx="795402" cy="819465"/>
          </a:xfrm>
          <a:prstGeom prst="rect">
            <a:avLst/>
          </a:prstGeom>
        </p:spPr>
      </p:pic>
      <p:pic>
        <p:nvPicPr>
          <p:cNvPr id="40" name="Picture 39">
            <a:extLst>
              <a:ext uri="{FF2B5EF4-FFF2-40B4-BE49-F238E27FC236}">
                <a16:creationId xmlns:a16="http://schemas.microsoft.com/office/drawing/2014/main" id="{B19FC43F-9260-D6C5-03D1-A6AED013169D}"/>
              </a:ext>
            </a:extLst>
          </p:cNvPr>
          <p:cNvPicPr>
            <a:picLocks noChangeAspect="1"/>
          </p:cNvPicPr>
          <p:nvPr/>
        </p:nvPicPr>
        <p:blipFill>
          <a:blip r:embed="rId19"/>
          <a:srcRect l="608" t="11230" r="14536" b="41658"/>
          <a:stretch>
            <a:fillRect/>
          </a:stretch>
        </p:blipFill>
        <p:spPr>
          <a:xfrm>
            <a:off x="9982979" y="2911500"/>
            <a:ext cx="672065" cy="826882"/>
          </a:xfrm>
          <a:prstGeom prst="rect">
            <a:avLst/>
          </a:prstGeom>
        </p:spPr>
      </p:pic>
      <p:pic>
        <p:nvPicPr>
          <p:cNvPr id="41" name="Picture 40">
            <a:extLst>
              <a:ext uri="{FF2B5EF4-FFF2-40B4-BE49-F238E27FC236}">
                <a16:creationId xmlns:a16="http://schemas.microsoft.com/office/drawing/2014/main" id="{3B96D392-E169-A1F5-833E-081B5A903A67}"/>
              </a:ext>
            </a:extLst>
          </p:cNvPr>
          <p:cNvPicPr>
            <a:picLocks noChangeAspect="1"/>
          </p:cNvPicPr>
          <p:nvPr/>
        </p:nvPicPr>
        <p:blipFill>
          <a:blip r:embed="rId20"/>
          <a:srcRect t="10433" r="10606" b="41659"/>
          <a:stretch>
            <a:fillRect/>
          </a:stretch>
        </p:blipFill>
        <p:spPr>
          <a:xfrm>
            <a:off x="9367690" y="2911130"/>
            <a:ext cx="700555" cy="832018"/>
          </a:xfrm>
          <a:prstGeom prst="rect">
            <a:avLst/>
          </a:prstGeom>
        </p:spPr>
      </p:pic>
      <p:pic>
        <p:nvPicPr>
          <p:cNvPr id="42" name="Picture 41">
            <a:extLst>
              <a:ext uri="{FF2B5EF4-FFF2-40B4-BE49-F238E27FC236}">
                <a16:creationId xmlns:a16="http://schemas.microsoft.com/office/drawing/2014/main" id="{26B17ED9-62EC-389F-0AD4-4B82F294B155}"/>
              </a:ext>
            </a:extLst>
          </p:cNvPr>
          <p:cNvPicPr>
            <a:picLocks noChangeAspect="1"/>
          </p:cNvPicPr>
          <p:nvPr/>
        </p:nvPicPr>
        <p:blipFill>
          <a:blip r:embed="rId21"/>
          <a:srcRect l="1" r="60597" b="20742"/>
          <a:stretch>
            <a:fillRect/>
          </a:stretch>
        </p:blipFill>
        <p:spPr>
          <a:xfrm>
            <a:off x="11416685" y="2895286"/>
            <a:ext cx="376562" cy="834286"/>
          </a:xfrm>
          <a:prstGeom prst="rect">
            <a:avLst/>
          </a:prstGeom>
        </p:spPr>
      </p:pic>
      <p:sp>
        <p:nvSpPr>
          <p:cNvPr id="44" name="TextBox 43">
            <a:extLst>
              <a:ext uri="{FF2B5EF4-FFF2-40B4-BE49-F238E27FC236}">
                <a16:creationId xmlns:a16="http://schemas.microsoft.com/office/drawing/2014/main" id="{2780DF91-AEC2-9331-6570-8F162CE4E695}"/>
              </a:ext>
            </a:extLst>
          </p:cNvPr>
          <p:cNvSpPr txBox="1"/>
          <p:nvPr/>
        </p:nvSpPr>
        <p:spPr>
          <a:xfrm>
            <a:off x="7884958" y="3330600"/>
            <a:ext cx="441960" cy="184666"/>
          </a:xfrm>
          <a:prstGeom prst="rect">
            <a:avLst/>
          </a:prstGeom>
          <a:noFill/>
        </p:spPr>
        <p:txBody>
          <a:bodyPr wrap="square" rtlCol="0">
            <a:spAutoFit/>
          </a:bodyPr>
          <a:lstStyle/>
          <a:p>
            <a:r>
              <a:rPr lang="en-US" sz="600" dirty="0">
                <a:solidFill>
                  <a:schemeClr val="bg1"/>
                </a:solidFill>
              </a:rPr>
              <a:t>FIG-1</a:t>
            </a:r>
            <a:endParaRPr lang="en-IN" sz="600" dirty="0">
              <a:solidFill>
                <a:schemeClr val="bg1"/>
              </a:solidFill>
            </a:endParaRPr>
          </a:p>
        </p:txBody>
      </p:sp>
      <p:sp>
        <p:nvSpPr>
          <p:cNvPr id="46" name="TextBox 45">
            <a:extLst>
              <a:ext uri="{FF2B5EF4-FFF2-40B4-BE49-F238E27FC236}">
                <a16:creationId xmlns:a16="http://schemas.microsoft.com/office/drawing/2014/main" id="{68C95295-D65A-CD0F-1F59-ECDC7D6C302C}"/>
              </a:ext>
            </a:extLst>
          </p:cNvPr>
          <p:cNvSpPr txBox="1"/>
          <p:nvPr/>
        </p:nvSpPr>
        <p:spPr>
          <a:xfrm>
            <a:off x="4730471" y="4023815"/>
            <a:ext cx="385362" cy="184666"/>
          </a:xfrm>
          <a:prstGeom prst="rect">
            <a:avLst/>
          </a:prstGeom>
          <a:noFill/>
        </p:spPr>
        <p:txBody>
          <a:bodyPr wrap="square">
            <a:spAutoFit/>
          </a:bodyPr>
          <a:lstStyle/>
          <a:p>
            <a:r>
              <a:rPr lang="en-IN" sz="600" dirty="0">
                <a:solidFill>
                  <a:schemeClr val="bg1"/>
                </a:solidFill>
              </a:rPr>
              <a:t>FIG-2</a:t>
            </a:r>
          </a:p>
        </p:txBody>
      </p:sp>
      <p:sp>
        <p:nvSpPr>
          <p:cNvPr id="47" name="TextBox 46">
            <a:extLst>
              <a:ext uri="{FF2B5EF4-FFF2-40B4-BE49-F238E27FC236}">
                <a16:creationId xmlns:a16="http://schemas.microsoft.com/office/drawing/2014/main" id="{AF8776DD-7934-689A-7034-82A5D904D706}"/>
              </a:ext>
            </a:extLst>
          </p:cNvPr>
          <p:cNvSpPr txBox="1"/>
          <p:nvPr/>
        </p:nvSpPr>
        <p:spPr>
          <a:xfrm>
            <a:off x="6590605" y="4013188"/>
            <a:ext cx="385362" cy="184666"/>
          </a:xfrm>
          <a:prstGeom prst="rect">
            <a:avLst/>
          </a:prstGeom>
          <a:noFill/>
        </p:spPr>
        <p:txBody>
          <a:bodyPr wrap="square">
            <a:spAutoFit/>
          </a:bodyPr>
          <a:lstStyle/>
          <a:p>
            <a:r>
              <a:rPr lang="en-IN" sz="600" dirty="0">
                <a:solidFill>
                  <a:schemeClr val="bg1"/>
                </a:solidFill>
              </a:rPr>
              <a:t>FIG-5</a:t>
            </a:r>
          </a:p>
        </p:txBody>
      </p:sp>
      <p:sp>
        <p:nvSpPr>
          <p:cNvPr id="48" name="TextBox 47">
            <a:extLst>
              <a:ext uri="{FF2B5EF4-FFF2-40B4-BE49-F238E27FC236}">
                <a16:creationId xmlns:a16="http://schemas.microsoft.com/office/drawing/2014/main" id="{A292F182-DB3E-7FD0-D02A-1156E173ED4A}"/>
              </a:ext>
            </a:extLst>
          </p:cNvPr>
          <p:cNvSpPr txBox="1"/>
          <p:nvPr/>
        </p:nvSpPr>
        <p:spPr>
          <a:xfrm>
            <a:off x="5953756" y="4006811"/>
            <a:ext cx="385362" cy="184666"/>
          </a:xfrm>
          <a:prstGeom prst="rect">
            <a:avLst/>
          </a:prstGeom>
          <a:noFill/>
        </p:spPr>
        <p:txBody>
          <a:bodyPr wrap="square">
            <a:spAutoFit/>
          </a:bodyPr>
          <a:lstStyle/>
          <a:p>
            <a:r>
              <a:rPr lang="en-IN" sz="600" dirty="0">
                <a:solidFill>
                  <a:schemeClr val="bg1"/>
                </a:solidFill>
              </a:rPr>
              <a:t>FIG-4</a:t>
            </a:r>
          </a:p>
        </p:txBody>
      </p:sp>
      <p:sp>
        <p:nvSpPr>
          <p:cNvPr id="49" name="TextBox 48">
            <a:extLst>
              <a:ext uri="{FF2B5EF4-FFF2-40B4-BE49-F238E27FC236}">
                <a16:creationId xmlns:a16="http://schemas.microsoft.com/office/drawing/2014/main" id="{B7587147-ACF4-4B31-1274-3668B1CD2FAF}"/>
              </a:ext>
            </a:extLst>
          </p:cNvPr>
          <p:cNvSpPr txBox="1"/>
          <p:nvPr/>
        </p:nvSpPr>
        <p:spPr>
          <a:xfrm>
            <a:off x="7176099" y="4006811"/>
            <a:ext cx="385362" cy="184666"/>
          </a:xfrm>
          <a:prstGeom prst="rect">
            <a:avLst/>
          </a:prstGeom>
          <a:noFill/>
        </p:spPr>
        <p:txBody>
          <a:bodyPr wrap="square">
            <a:spAutoFit/>
          </a:bodyPr>
          <a:lstStyle/>
          <a:p>
            <a:r>
              <a:rPr lang="en-IN" sz="600" dirty="0">
                <a:solidFill>
                  <a:schemeClr val="bg1"/>
                </a:solidFill>
              </a:rPr>
              <a:t>FIG-6</a:t>
            </a:r>
          </a:p>
        </p:txBody>
      </p:sp>
      <p:sp>
        <p:nvSpPr>
          <p:cNvPr id="50" name="TextBox 49">
            <a:extLst>
              <a:ext uri="{FF2B5EF4-FFF2-40B4-BE49-F238E27FC236}">
                <a16:creationId xmlns:a16="http://schemas.microsoft.com/office/drawing/2014/main" id="{527A1B82-D825-F0A3-B51C-A5E29C4E8915}"/>
              </a:ext>
            </a:extLst>
          </p:cNvPr>
          <p:cNvSpPr txBox="1"/>
          <p:nvPr/>
        </p:nvSpPr>
        <p:spPr>
          <a:xfrm>
            <a:off x="5340071" y="4633415"/>
            <a:ext cx="385362" cy="184666"/>
          </a:xfrm>
          <a:prstGeom prst="rect">
            <a:avLst/>
          </a:prstGeom>
          <a:noFill/>
        </p:spPr>
        <p:txBody>
          <a:bodyPr wrap="square">
            <a:spAutoFit/>
          </a:bodyPr>
          <a:lstStyle/>
          <a:p>
            <a:r>
              <a:rPr lang="en-IN" sz="600" dirty="0">
                <a:solidFill>
                  <a:schemeClr val="bg1"/>
                </a:solidFill>
              </a:rPr>
              <a:t>FIG-2</a:t>
            </a:r>
          </a:p>
        </p:txBody>
      </p:sp>
      <p:sp>
        <p:nvSpPr>
          <p:cNvPr id="51" name="TextBox 50">
            <a:extLst>
              <a:ext uri="{FF2B5EF4-FFF2-40B4-BE49-F238E27FC236}">
                <a16:creationId xmlns:a16="http://schemas.microsoft.com/office/drawing/2014/main" id="{2A205484-B505-B622-FC6C-BA761788C25B}"/>
              </a:ext>
            </a:extLst>
          </p:cNvPr>
          <p:cNvSpPr txBox="1"/>
          <p:nvPr/>
        </p:nvSpPr>
        <p:spPr>
          <a:xfrm>
            <a:off x="5380115" y="4013188"/>
            <a:ext cx="385362" cy="184666"/>
          </a:xfrm>
          <a:prstGeom prst="rect">
            <a:avLst/>
          </a:prstGeom>
          <a:noFill/>
        </p:spPr>
        <p:txBody>
          <a:bodyPr wrap="square">
            <a:spAutoFit/>
          </a:bodyPr>
          <a:lstStyle/>
          <a:p>
            <a:r>
              <a:rPr lang="en-IN" sz="600" dirty="0">
                <a:solidFill>
                  <a:schemeClr val="bg1"/>
                </a:solidFill>
              </a:rPr>
              <a:t>FIG-3</a:t>
            </a:r>
          </a:p>
        </p:txBody>
      </p:sp>
      <p:sp>
        <p:nvSpPr>
          <p:cNvPr id="52" name="TextBox 51">
            <a:extLst>
              <a:ext uri="{FF2B5EF4-FFF2-40B4-BE49-F238E27FC236}">
                <a16:creationId xmlns:a16="http://schemas.microsoft.com/office/drawing/2014/main" id="{2F5B6FEB-07A3-BA9B-0DD7-A8485B0C5E46}"/>
              </a:ext>
            </a:extLst>
          </p:cNvPr>
          <p:cNvSpPr txBox="1"/>
          <p:nvPr/>
        </p:nvSpPr>
        <p:spPr>
          <a:xfrm>
            <a:off x="7819865" y="4002518"/>
            <a:ext cx="385362" cy="184666"/>
          </a:xfrm>
          <a:prstGeom prst="rect">
            <a:avLst/>
          </a:prstGeom>
          <a:noFill/>
        </p:spPr>
        <p:txBody>
          <a:bodyPr wrap="square">
            <a:spAutoFit/>
          </a:bodyPr>
          <a:lstStyle/>
          <a:p>
            <a:r>
              <a:rPr lang="en-IN" sz="600" dirty="0">
                <a:solidFill>
                  <a:schemeClr val="bg1"/>
                </a:solidFill>
              </a:rPr>
              <a:t>FIG-7</a:t>
            </a:r>
          </a:p>
        </p:txBody>
      </p:sp>
      <p:sp>
        <p:nvSpPr>
          <p:cNvPr id="53" name="TextBox 52">
            <a:extLst>
              <a:ext uri="{FF2B5EF4-FFF2-40B4-BE49-F238E27FC236}">
                <a16:creationId xmlns:a16="http://schemas.microsoft.com/office/drawing/2014/main" id="{32E0BDCC-8A70-5210-02D1-C5807FEEFEF1}"/>
              </a:ext>
            </a:extLst>
          </p:cNvPr>
          <p:cNvSpPr txBox="1"/>
          <p:nvPr/>
        </p:nvSpPr>
        <p:spPr>
          <a:xfrm>
            <a:off x="7864734" y="6019729"/>
            <a:ext cx="412718" cy="184666"/>
          </a:xfrm>
          <a:prstGeom prst="rect">
            <a:avLst/>
          </a:prstGeom>
          <a:noFill/>
        </p:spPr>
        <p:txBody>
          <a:bodyPr wrap="square">
            <a:spAutoFit/>
          </a:bodyPr>
          <a:lstStyle/>
          <a:p>
            <a:r>
              <a:rPr lang="en-IN" sz="600" dirty="0">
                <a:solidFill>
                  <a:schemeClr val="bg1"/>
                </a:solidFill>
              </a:rPr>
              <a:t>FIG-11</a:t>
            </a:r>
          </a:p>
        </p:txBody>
      </p:sp>
      <p:sp>
        <p:nvSpPr>
          <p:cNvPr id="54" name="TextBox 53">
            <a:extLst>
              <a:ext uri="{FF2B5EF4-FFF2-40B4-BE49-F238E27FC236}">
                <a16:creationId xmlns:a16="http://schemas.microsoft.com/office/drawing/2014/main" id="{736304C6-6D3B-F2DA-14E1-565C2A3DA497}"/>
              </a:ext>
            </a:extLst>
          </p:cNvPr>
          <p:cNvSpPr txBox="1"/>
          <p:nvPr/>
        </p:nvSpPr>
        <p:spPr>
          <a:xfrm>
            <a:off x="7295760" y="6036005"/>
            <a:ext cx="412718" cy="184666"/>
          </a:xfrm>
          <a:prstGeom prst="rect">
            <a:avLst/>
          </a:prstGeom>
          <a:noFill/>
        </p:spPr>
        <p:txBody>
          <a:bodyPr wrap="square">
            <a:spAutoFit/>
          </a:bodyPr>
          <a:lstStyle/>
          <a:p>
            <a:r>
              <a:rPr lang="en-IN" sz="600" dirty="0">
                <a:solidFill>
                  <a:schemeClr val="bg1"/>
                </a:solidFill>
              </a:rPr>
              <a:t>FIG-10</a:t>
            </a:r>
          </a:p>
        </p:txBody>
      </p:sp>
      <p:sp>
        <p:nvSpPr>
          <p:cNvPr id="55" name="TextBox 54">
            <a:extLst>
              <a:ext uri="{FF2B5EF4-FFF2-40B4-BE49-F238E27FC236}">
                <a16:creationId xmlns:a16="http://schemas.microsoft.com/office/drawing/2014/main" id="{264152B4-54E0-057C-F7C8-D63EF3F0EF70}"/>
              </a:ext>
            </a:extLst>
          </p:cNvPr>
          <p:cNvSpPr txBox="1"/>
          <p:nvPr/>
        </p:nvSpPr>
        <p:spPr>
          <a:xfrm>
            <a:off x="7869755" y="5251353"/>
            <a:ext cx="385362" cy="184666"/>
          </a:xfrm>
          <a:prstGeom prst="rect">
            <a:avLst/>
          </a:prstGeom>
          <a:noFill/>
        </p:spPr>
        <p:txBody>
          <a:bodyPr wrap="square">
            <a:spAutoFit/>
          </a:bodyPr>
          <a:lstStyle/>
          <a:p>
            <a:r>
              <a:rPr lang="en-IN" sz="600" dirty="0">
                <a:solidFill>
                  <a:schemeClr val="bg1"/>
                </a:solidFill>
              </a:rPr>
              <a:t>FIG-9</a:t>
            </a:r>
          </a:p>
        </p:txBody>
      </p:sp>
      <p:sp>
        <p:nvSpPr>
          <p:cNvPr id="56" name="TextBox 55">
            <a:extLst>
              <a:ext uri="{FF2B5EF4-FFF2-40B4-BE49-F238E27FC236}">
                <a16:creationId xmlns:a16="http://schemas.microsoft.com/office/drawing/2014/main" id="{0773C81B-69D1-AF16-68BA-29595CB15C1F}"/>
              </a:ext>
            </a:extLst>
          </p:cNvPr>
          <p:cNvSpPr txBox="1"/>
          <p:nvPr/>
        </p:nvSpPr>
        <p:spPr>
          <a:xfrm>
            <a:off x="7288349" y="5262114"/>
            <a:ext cx="385362" cy="184666"/>
          </a:xfrm>
          <a:prstGeom prst="rect">
            <a:avLst/>
          </a:prstGeom>
          <a:noFill/>
        </p:spPr>
        <p:txBody>
          <a:bodyPr wrap="square">
            <a:spAutoFit/>
          </a:bodyPr>
          <a:lstStyle/>
          <a:p>
            <a:r>
              <a:rPr lang="en-IN" sz="600" dirty="0">
                <a:solidFill>
                  <a:schemeClr val="bg1"/>
                </a:solidFill>
              </a:rPr>
              <a:t>FIG-8</a:t>
            </a:r>
          </a:p>
        </p:txBody>
      </p:sp>
      <p:sp>
        <p:nvSpPr>
          <p:cNvPr id="57" name="TextBox 56">
            <a:extLst>
              <a:ext uri="{FF2B5EF4-FFF2-40B4-BE49-F238E27FC236}">
                <a16:creationId xmlns:a16="http://schemas.microsoft.com/office/drawing/2014/main" id="{D4DB44B7-AA86-DAD1-9B96-FD5AB39E6BE6}"/>
              </a:ext>
            </a:extLst>
          </p:cNvPr>
          <p:cNvSpPr txBox="1"/>
          <p:nvPr/>
        </p:nvSpPr>
        <p:spPr>
          <a:xfrm>
            <a:off x="7672052" y="6653962"/>
            <a:ext cx="405147" cy="184666"/>
          </a:xfrm>
          <a:prstGeom prst="rect">
            <a:avLst/>
          </a:prstGeom>
          <a:noFill/>
        </p:spPr>
        <p:txBody>
          <a:bodyPr wrap="square">
            <a:spAutoFit/>
          </a:bodyPr>
          <a:lstStyle/>
          <a:p>
            <a:r>
              <a:rPr lang="en-IN" sz="600" dirty="0">
                <a:solidFill>
                  <a:schemeClr val="bg1"/>
                </a:solidFill>
              </a:rPr>
              <a:t>FIG-12</a:t>
            </a:r>
          </a:p>
        </p:txBody>
      </p:sp>
      <p:sp>
        <p:nvSpPr>
          <p:cNvPr id="58" name="TextBox 57">
            <a:extLst>
              <a:ext uri="{FF2B5EF4-FFF2-40B4-BE49-F238E27FC236}">
                <a16:creationId xmlns:a16="http://schemas.microsoft.com/office/drawing/2014/main" id="{13E522C5-7563-E6CA-02E0-3FC489CBB931}"/>
              </a:ext>
            </a:extLst>
          </p:cNvPr>
          <p:cNvSpPr txBox="1"/>
          <p:nvPr/>
        </p:nvSpPr>
        <p:spPr>
          <a:xfrm>
            <a:off x="9775948" y="3563029"/>
            <a:ext cx="412718" cy="184666"/>
          </a:xfrm>
          <a:prstGeom prst="rect">
            <a:avLst/>
          </a:prstGeom>
          <a:noFill/>
        </p:spPr>
        <p:txBody>
          <a:bodyPr wrap="square">
            <a:spAutoFit/>
          </a:bodyPr>
          <a:lstStyle/>
          <a:p>
            <a:r>
              <a:rPr lang="en-IN" sz="600" dirty="0">
                <a:solidFill>
                  <a:schemeClr val="bg1"/>
                </a:solidFill>
              </a:rPr>
              <a:t>FIG-13</a:t>
            </a:r>
          </a:p>
        </p:txBody>
      </p:sp>
      <p:pic>
        <p:nvPicPr>
          <p:cNvPr id="6" name="Picture 5">
            <a:extLst>
              <a:ext uri="{FF2B5EF4-FFF2-40B4-BE49-F238E27FC236}">
                <a16:creationId xmlns:a16="http://schemas.microsoft.com/office/drawing/2014/main" id="{A942F68A-0B76-4C90-935B-E97AC3AA55B4}"/>
              </a:ext>
            </a:extLst>
          </p:cNvPr>
          <p:cNvPicPr>
            <a:picLocks noChangeAspect="1"/>
          </p:cNvPicPr>
          <p:nvPr/>
        </p:nvPicPr>
        <p:blipFill>
          <a:blip r:embed="rId22"/>
          <a:srcRect l="5895" t="13185" r="4588" b="34421"/>
          <a:stretch>
            <a:fillRect/>
          </a:stretch>
        </p:blipFill>
        <p:spPr>
          <a:xfrm>
            <a:off x="10765479" y="2895286"/>
            <a:ext cx="651206" cy="834285"/>
          </a:xfrm>
          <a:prstGeom prst="rect">
            <a:avLst/>
          </a:prstGeom>
        </p:spPr>
      </p:pic>
      <p:pic>
        <p:nvPicPr>
          <p:cNvPr id="19" name="Picture 18">
            <a:extLst>
              <a:ext uri="{FF2B5EF4-FFF2-40B4-BE49-F238E27FC236}">
                <a16:creationId xmlns:a16="http://schemas.microsoft.com/office/drawing/2014/main" id="{E2625E39-0F3A-E17A-7CA1-F11148C34034}"/>
              </a:ext>
            </a:extLst>
          </p:cNvPr>
          <p:cNvPicPr>
            <a:picLocks noChangeAspect="1"/>
          </p:cNvPicPr>
          <p:nvPr/>
        </p:nvPicPr>
        <p:blipFill>
          <a:blip r:embed="rId21"/>
          <a:srcRect l="65580" r="2834" b="20742"/>
          <a:stretch>
            <a:fillRect/>
          </a:stretch>
        </p:blipFill>
        <p:spPr>
          <a:xfrm>
            <a:off x="11794592" y="2891952"/>
            <a:ext cx="301860" cy="834286"/>
          </a:xfrm>
          <a:prstGeom prst="rect">
            <a:avLst/>
          </a:prstGeom>
        </p:spPr>
      </p:pic>
      <p:sp>
        <p:nvSpPr>
          <p:cNvPr id="43" name="TextBox 42">
            <a:extLst>
              <a:ext uri="{FF2B5EF4-FFF2-40B4-BE49-F238E27FC236}">
                <a16:creationId xmlns:a16="http://schemas.microsoft.com/office/drawing/2014/main" id="{169CADF9-885C-C448-8D28-03AD85390ADD}"/>
              </a:ext>
            </a:extLst>
          </p:cNvPr>
          <p:cNvSpPr txBox="1"/>
          <p:nvPr/>
        </p:nvSpPr>
        <p:spPr>
          <a:xfrm>
            <a:off x="11236246" y="3563029"/>
            <a:ext cx="412718" cy="184666"/>
          </a:xfrm>
          <a:prstGeom prst="rect">
            <a:avLst/>
          </a:prstGeom>
          <a:noFill/>
        </p:spPr>
        <p:txBody>
          <a:bodyPr wrap="square">
            <a:spAutoFit/>
          </a:bodyPr>
          <a:lstStyle/>
          <a:p>
            <a:r>
              <a:rPr lang="en-IN" sz="600" dirty="0">
                <a:solidFill>
                  <a:schemeClr val="bg1"/>
                </a:solidFill>
              </a:rPr>
              <a:t>FIG-14</a:t>
            </a:r>
          </a:p>
        </p:txBody>
      </p:sp>
      <p:sp>
        <p:nvSpPr>
          <p:cNvPr id="45" name="TextBox 44">
            <a:extLst>
              <a:ext uri="{FF2B5EF4-FFF2-40B4-BE49-F238E27FC236}">
                <a16:creationId xmlns:a16="http://schemas.microsoft.com/office/drawing/2014/main" id="{DEAFBA56-AE65-4396-B952-C69B7AF6F5CA}"/>
              </a:ext>
            </a:extLst>
          </p:cNvPr>
          <p:cNvSpPr txBox="1"/>
          <p:nvPr/>
        </p:nvSpPr>
        <p:spPr>
          <a:xfrm>
            <a:off x="9817569" y="42334"/>
            <a:ext cx="1476375" cy="369332"/>
          </a:xfrm>
          <a:prstGeom prst="rect">
            <a:avLst/>
          </a:prstGeom>
          <a:noFill/>
        </p:spPr>
        <p:txBody>
          <a:bodyPr wrap="square" rtlCol="0">
            <a:spAutoFit/>
          </a:bodyPr>
          <a:lstStyle/>
          <a:p>
            <a:r>
              <a:rPr lang="en-IN" dirty="0">
                <a:solidFill>
                  <a:schemeClr val="accent1">
                    <a:lumMod val="60000"/>
                    <a:lumOff val="40000"/>
                  </a:schemeClr>
                </a:solidFill>
              </a:rPr>
              <a:t>OSSAP-195</a:t>
            </a:r>
          </a:p>
        </p:txBody>
      </p:sp>
    </p:spTree>
    <p:extLst>
      <p:ext uri="{BB962C8B-B14F-4D97-AF65-F5344CB8AC3E}">
        <p14:creationId xmlns:p14="http://schemas.microsoft.com/office/powerpoint/2010/main" val="360735463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171</TotalTime>
  <Words>928</Words>
  <Application>Microsoft Office PowerPoint</Application>
  <PresentationFormat>Widescreen</PresentationFormat>
  <Paragraphs>54</Paragraphs>
  <Slides>1</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Amasis MT Pro Black</vt:lpstr>
      <vt:lpstr>Aptos</vt:lpstr>
      <vt:lpstr>Arial</vt:lpstr>
      <vt:lpstr>Garamond</vt:lpstr>
      <vt:lpstr>Gordita </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Anusha Kesarla</cp:lastModifiedBy>
  <cp:revision>28</cp:revision>
  <dcterms:modified xsi:type="dcterms:W3CDTF">2026-02-16T04:54:18Z</dcterms:modified>
</cp:coreProperties>
</file>