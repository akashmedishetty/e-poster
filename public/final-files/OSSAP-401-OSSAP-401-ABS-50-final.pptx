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79" r:id="rId1"/>
  </p:sldMasterIdLst>
  <p:notesMasterIdLst>
    <p:notesMasterId r:id="rId17"/>
  </p:notesMasterIdLst>
  <p:sldIdLst>
    <p:sldId id="256" r:id="rId2"/>
    <p:sldId id="257" r:id="rId3"/>
    <p:sldId id="258" r:id="rId4"/>
    <p:sldId id="272" r:id="rId5"/>
    <p:sldId id="273"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1204"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D05116-6FA2-487B-A44C-62D7ED8BA572}" type="datetimeFigureOut">
              <a:rPr lang="en-IN" smtClean="0"/>
              <a:t>31-01-2026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9DEBA0-C7CD-4E68-BDBD-F1BD7187BACA}" type="slidenum">
              <a:rPr lang="en-IN" smtClean="0"/>
              <a:t>‹#›</a:t>
            </a:fld>
            <a:endParaRPr lang="en-IN"/>
          </a:p>
        </p:txBody>
      </p:sp>
    </p:spTree>
    <p:extLst>
      <p:ext uri="{BB962C8B-B14F-4D97-AF65-F5344CB8AC3E}">
        <p14:creationId xmlns:p14="http://schemas.microsoft.com/office/powerpoint/2010/main" val="3636390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9DEBA0-C7CD-4E68-BDBD-F1BD7187BACA}" type="slidenum">
              <a:rPr lang="en-IN" smtClean="0"/>
              <a:t>3</a:t>
            </a:fld>
            <a:endParaRPr lang="en-IN"/>
          </a:p>
        </p:txBody>
      </p:sp>
    </p:spTree>
    <p:extLst>
      <p:ext uri="{BB962C8B-B14F-4D97-AF65-F5344CB8AC3E}">
        <p14:creationId xmlns:p14="http://schemas.microsoft.com/office/powerpoint/2010/main" val="308472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13A0F-2F0D-5199-A932-91623AC18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12958A-CB28-8F79-4D31-C90F3FD71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4BF74-BD1D-098D-4424-9F51C041F83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91B0F45-763A-5AEA-666D-55DD558B35CC}"/>
              </a:ext>
            </a:extLst>
          </p:cNvPr>
          <p:cNvSpPr>
            <a:spLocks noGrp="1"/>
          </p:cNvSpPr>
          <p:nvPr>
            <p:ph type="sldNum" sz="quarter" idx="5"/>
          </p:nvPr>
        </p:nvSpPr>
        <p:spPr/>
        <p:txBody>
          <a:bodyPr/>
          <a:lstStyle/>
          <a:p>
            <a:fld id="{F99DEBA0-C7CD-4E68-BDBD-F1BD7187BACA}" type="slidenum">
              <a:rPr lang="en-IN" smtClean="0"/>
              <a:t>4</a:t>
            </a:fld>
            <a:endParaRPr lang="en-IN"/>
          </a:p>
        </p:txBody>
      </p:sp>
    </p:spTree>
    <p:extLst>
      <p:ext uri="{BB962C8B-B14F-4D97-AF65-F5344CB8AC3E}">
        <p14:creationId xmlns:p14="http://schemas.microsoft.com/office/powerpoint/2010/main" val="1166902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921D6-802A-CDD5-2DC7-9EE993BEE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43A7D1-EE1C-7123-CDC6-57C4D594E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E2780-3B20-EF0C-A7E7-9A9907CE436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4DF993-3D68-7070-5904-5CF345D05199}"/>
              </a:ext>
            </a:extLst>
          </p:cNvPr>
          <p:cNvSpPr>
            <a:spLocks noGrp="1"/>
          </p:cNvSpPr>
          <p:nvPr>
            <p:ph type="sldNum" sz="quarter" idx="5"/>
          </p:nvPr>
        </p:nvSpPr>
        <p:spPr/>
        <p:txBody>
          <a:bodyPr/>
          <a:lstStyle/>
          <a:p>
            <a:fld id="{F99DEBA0-C7CD-4E68-BDBD-F1BD7187BACA}" type="slidenum">
              <a:rPr lang="en-IN" smtClean="0"/>
              <a:t>5</a:t>
            </a:fld>
            <a:endParaRPr lang="en-IN"/>
          </a:p>
        </p:txBody>
      </p:sp>
    </p:spTree>
    <p:extLst>
      <p:ext uri="{BB962C8B-B14F-4D97-AF65-F5344CB8AC3E}">
        <p14:creationId xmlns:p14="http://schemas.microsoft.com/office/powerpoint/2010/main" val="2237283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D8C38CC-64E2-4352-A974-BB1E89795DFA}" type="datetimeFigureOut">
              <a:rPr lang="en-IN" smtClean="0"/>
              <a:t>31-01-2026</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7A4E3A3B-FD7B-4A94-9342-275E594CA918}" type="slidenum">
              <a:rPr lang="en-IN" smtClean="0"/>
              <a:t>‹#›</a:t>
            </a:fld>
            <a:endParaRPr lang="en-IN"/>
          </a:p>
        </p:txBody>
      </p:sp>
    </p:spTree>
    <p:extLst>
      <p:ext uri="{BB962C8B-B14F-4D97-AF65-F5344CB8AC3E}">
        <p14:creationId xmlns:p14="http://schemas.microsoft.com/office/powerpoint/2010/main" val="374069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8C38CC-64E2-4352-A974-BB1E89795DFA}"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7A4E3A3B-FD7B-4A94-9342-275E594CA918}" type="slidenum">
              <a:rPr lang="en-IN" smtClean="0"/>
              <a:t>‹#›</a:t>
            </a:fld>
            <a:endParaRPr lang="en-IN"/>
          </a:p>
        </p:txBody>
      </p:sp>
    </p:spTree>
    <p:extLst>
      <p:ext uri="{BB962C8B-B14F-4D97-AF65-F5344CB8AC3E}">
        <p14:creationId xmlns:p14="http://schemas.microsoft.com/office/powerpoint/2010/main" val="2420382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4D8C38CC-64E2-4352-A974-BB1E89795DFA}" type="datetimeFigureOut">
              <a:rPr lang="en-IN" smtClean="0"/>
              <a:t>31-01-2026</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7A4E3A3B-FD7B-4A94-9342-275E594CA918}" type="slidenum">
              <a:rPr lang="en-IN" smtClean="0"/>
              <a:t>‹#›</a:t>
            </a:fld>
            <a:endParaRPr lang="en-IN"/>
          </a:p>
        </p:txBody>
      </p:sp>
    </p:spTree>
    <p:extLst>
      <p:ext uri="{BB962C8B-B14F-4D97-AF65-F5344CB8AC3E}">
        <p14:creationId xmlns:p14="http://schemas.microsoft.com/office/powerpoint/2010/main" val="213897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8C38CC-64E2-4352-A974-BB1E89795DFA}"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4E3A3B-FD7B-4A94-9342-275E594CA918}" type="slidenum">
              <a:rPr lang="en-IN" smtClean="0"/>
              <a:t>‹#›</a:t>
            </a:fld>
            <a:endParaRPr lang="en-IN"/>
          </a:p>
        </p:txBody>
      </p:sp>
    </p:spTree>
    <p:extLst>
      <p:ext uri="{BB962C8B-B14F-4D97-AF65-F5344CB8AC3E}">
        <p14:creationId xmlns:p14="http://schemas.microsoft.com/office/powerpoint/2010/main" val="379550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8C38CC-64E2-4352-A974-BB1E89795DFA}" type="datetimeFigureOut">
              <a:rPr lang="en-IN" smtClean="0"/>
              <a:t>31-01-2026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A4E3A3B-FD7B-4A94-9342-275E594CA918}" type="slidenum">
              <a:rPr lang="en-IN" smtClean="0"/>
              <a:t>‹#›</a:t>
            </a:fld>
            <a:endParaRPr lang="en-IN"/>
          </a:p>
        </p:txBody>
      </p:sp>
    </p:spTree>
    <p:extLst>
      <p:ext uri="{BB962C8B-B14F-4D97-AF65-F5344CB8AC3E}">
        <p14:creationId xmlns:p14="http://schemas.microsoft.com/office/powerpoint/2010/main" val="402341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8C38CC-64E2-4352-A974-BB1E89795DFA}" type="datetimeFigureOut">
              <a:rPr lang="en-IN" smtClean="0"/>
              <a:t>31-01-2026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A4E3A3B-FD7B-4A94-9342-275E594CA918}" type="slidenum">
              <a:rPr lang="en-IN" smtClean="0"/>
              <a:t>‹#›</a:t>
            </a:fld>
            <a:endParaRPr lang="en-IN"/>
          </a:p>
        </p:txBody>
      </p:sp>
    </p:spTree>
    <p:extLst>
      <p:ext uri="{BB962C8B-B14F-4D97-AF65-F5344CB8AC3E}">
        <p14:creationId xmlns:p14="http://schemas.microsoft.com/office/powerpoint/2010/main" val="421289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8C38CC-64E2-4352-A974-BB1E89795DFA}" type="datetimeFigureOut">
              <a:rPr lang="en-IN" smtClean="0"/>
              <a:t>31-01-2026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A4E3A3B-FD7B-4A94-9342-275E594CA918}" type="slidenum">
              <a:rPr lang="en-IN" smtClean="0"/>
              <a:t>‹#›</a:t>
            </a:fld>
            <a:endParaRPr lang="en-IN"/>
          </a:p>
        </p:txBody>
      </p:sp>
    </p:spTree>
    <p:extLst>
      <p:ext uri="{BB962C8B-B14F-4D97-AF65-F5344CB8AC3E}">
        <p14:creationId xmlns:p14="http://schemas.microsoft.com/office/powerpoint/2010/main" val="3409090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4D8C38CC-64E2-4352-A974-BB1E89795DFA}" type="datetimeFigureOut">
              <a:rPr lang="en-IN" smtClean="0"/>
              <a:t>31-01-2026</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7A4E3A3B-FD7B-4A94-9342-275E594CA918}" type="slidenum">
              <a:rPr lang="en-IN" smtClean="0"/>
              <a:t>‹#›</a:t>
            </a:fld>
            <a:endParaRPr lang="en-IN"/>
          </a:p>
        </p:txBody>
      </p:sp>
    </p:spTree>
    <p:extLst>
      <p:ext uri="{BB962C8B-B14F-4D97-AF65-F5344CB8AC3E}">
        <p14:creationId xmlns:p14="http://schemas.microsoft.com/office/powerpoint/2010/main" val="959059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8C38CC-64E2-4352-A974-BB1E89795DFA}"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4E3A3B-FD7B-4A94-9342-275E594CA918}" type="slidenum">
              <a:rPr lang="en-IN" smtClean="0"/>
              <a:t>‹#›</a:t>
            </a:fld>
            <a:endParaRPr lang="en-IN"/>
          </a:p>
        </p:txBody>
      </p:sp>
    </p:spTree>
    <p:extLst>
      <p:ext uri="{BB962C8B-B14F-4D97-AF65-F5344CB8AC3E}">
        <p14:creationId xmlns:p14="http://schemas.microsoft.com/office/powerpoint/2010/main" val="2437856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8C38CC-64E2-4352-A974-BB1E89795DFA}"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4E3A3B-FD7B-4A94-9342-275E594CA918}" type="slidenum">
              <a:rPr lang="en-IN" smtClean="0"/>
              <a:t>‹#›</a:t>
            </a:fld>
            <a:endParaRPr lang="en-IN"/>
          </a:p>
        </p:txBody>
      </p:sp>
    </p:spTree>
    <p:extLst>
      <p:ext uri="{BB962C8B-B14F-4D97-AF65-F5344CB8AC3E}">
        <p14:creationId xmlns:p14="http://schemas.microsoft.com/office/powerpoint/2010/main" val="869485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4D8C38CC-64E2-4352-A974-BB1E89795DFA}" type="datetimeFigureOut">
              <a:rPr lang="en-IN" smtClean="0"/>
              <a:t>31-01-2026</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7A4E3A3B-FD7B-4A94-9342-275E594CA918}" type="slidenum">
              <a:rPr lang="en-IN" smtClean="0"/>
              <a:t>‹#›</a:t>
            </a:fld>
            <a:endParaRPr lang="en-IN"/>
          </a:p>
        </p:txBody>
      </p:sp>
    </p:spTree>
    <p:extLst>
      <p:ext uri="{BB962C8B-B14F-4D97-AF65-F5344CB8AC3E}">
        <p14:creationId xmlns:p14="http://schemas.microsoft.com/office/powerpoint/2010/main" val="436425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4D8C38CC-64E2-4352-A974-BB1E89795DFA}" type="datetimeFigureOut">
              <a:rPr lang="en-IN" smtClean="0"/>
              <a:t>31-01-2026</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7A4E3A3B-FD7B-4A94-9342-275E594CA918}"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258104843"/>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86" name="Rectangle 85">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8" name="Rectangle 87">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0" name="Rectangle 89">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2" name="Rectangle 91">
            <a:extLst>
              <a:ext uri="{FF2B5EF4-FFF2-40B4-BE49-F238E27FC236}">
                <a16:creationId xmlns:a16="http://schemas.microsoft.com/office/drawing/2014/main" id="{9FC936C0-4624-438D-BDD0-6B296BD6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94" name="Rectangle 93">
            <a:extLst>
              <a:ext uri="{FF2B5EF4-FFF2-40B4-BE49-F238E27FC236}">
                <a16:creationId xmlns:a16="http://schemas.microsoft.com/office/drawing/2014/main" id="{9742444E-AE89-4E1F-86BD-F5AA761B9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Google Shape;79;p1"/>
          <p:cNvSpPr txBox="1">
            <a:spLocks noGrp="1"/>
          </p:cNvSpPr>
          <p:nvPr>
            <p:ph type="title"/>
          </p:nvPr>
        </p:nvSpPr>
        <p:spPr>
          <a:xfrm>
            <a:off x="703022" y="1461522"/>
            <a:ext cx="10993549" cy="2042600"/>
          </a:xfrm>
          <a:prstGeom prst="rect">
            <a:avLst/>
          </a:prstGeom>
        </p:spPr>
        <p:txBody>
          <a:bodyPr spcFirstLastPara="1" vert="horz" lIns="91440" tIns="45720" rIns="91440" bIns="45720" rtlCol="0" anchor="b" anchorCtr="0">
            <a:noAutofit/>
          </a:bodyPr>
          <a:lstStyle/>
          <a:p>
            <a:pPr marL="0" lvl="0" indent="0" algn="ctr">
              <a:lnSpc>
                <a:spcPct val="90000"/>
              </a:lnSpc>
              <a:spcAft>
                <a:spcPts val="0"/>
              </a:spcAft>
              <a:buClr>
                <a:srgbClr val="73330B"/>
              </a:buClr>
              <a:buSzPts val="2800"/>
            </a:pPr>
            <a:r>
              <a:rPr lang="en-US" sz="4800" dirty="0">
                <a:solidFill>
                  <a:schemeClr val="accent1"/>
                </a:solidFill>
                <a:sym typeface="Arial"/>
              </a:rPr>
              <a:t>CLOSED INTRAMEDULLARY NAILING VS. PLATING IN THE TREATMENT OF EXTRA ARTICULAR DISTAL TIBIA FRACTURE</a:t>
            </a:r>
          </a:p>
        </p:txBody>
      </p:sp>
      <p:grpSp>
        <p:nvGrpSpPr>
          <p:cNvPr id="96" name="Group 95">
            <a:extLst>
              <a:ext uri="{FF2B5EF4-FFF2-40B4-BE49-F238E27FC236}">
                <a16:creationId xmlns:a16="http://schemas.microsoft.com/office/drawing/2014/main" id="{F5B7C1B9-0088-4B59-B314-B6A52F86C2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97" name="Rectangle 96">
              <a:extLst>
                <a:ext uri="{FF2B5EF4-FFF2-40B4-BE49-F238E27FC236}">
                  <a16:creationId xmlns:a16="http://schemas.microsoft.com/office/drawing/2014/main" id="{2DDF813B-1A42-4759-9B01-5163FE292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8" name="Rectangle 97">
              <a:extLst>
                <a:ext uri="{FF2B5EF4-FFF2-40B4-BE49-F238E27FC236}">
                  <a16:creationId xmlns:a16="http://schemas.microsoft.com/office/drawing/2014/main" id="{71F46083-1F55-4B9C-A8E1-89AE4855A1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9" name="Rectangle 98">
              <a:extLst>
                <a:ext uri="{FF2B5EF4-FFF2-40B4-BE49-F238E27FC236}">
                  <a16:creationId xmlns:a16="http://schemas.microsoft.com/office/drawing/2014/main" id="{B978A775-3BCE-4E1F-83C8-082A409234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80" name="Google Shape;80;p1"/>
          <p:cNvSpPr txBox="1"/>
          <p:nvPr/>
        </p:nvSpPr>
        <p:spPr>
          <a:xfrm>
            <a:off x="7025740" y="3768811"/>
            <a:ext cx="4317900" cy="2824500"/>
          </a:xfrm>
          <a:prstGeom prst="rect">
            <a:avLst/>
          </a:prstGeom>
          <a:noFill/>
          <a:ln>
            <a:noFill/>
          </a:ln>
        </p:spPr>
        <p:txBody>
          <a:bodyPr spcFirstLastPara="1" wrap="square" lIns="0" tIns="45700" rIns="0" bIns="45700" anchor="t" anchorCtr="0">
            <a:normAutofit/>
          </a:bodyPr>
          <a:lstStyle/>
          <a:p>
            <a:pPr marL="0" marR="0" lvl="0" indent="0" algn="l" rtl="0">
              <a:lnSpc>
                <a:spcPct val="90000"/>
              </a:lnSpc>
              <a:spcBef>
                <a:spcPts val="0"/>
              </a:spcBef>
              <a:spcAft>
                <a:spcPts val="0"/>
              </a:spcAft>
              <a:buClr>
                <a:schemeClr val="accent1"/>
              </a:buClr>
              <a:buSzPts val="2400"/>
              <a:buFont typeface="Calibri"/>
              <a:buNone/>
            </a:pPr>
            <a:r>
              <a:rPr lang="en-US" sz="2400" b="1" i="0" u="none" strike="noStrike" cap="none" dirty="0">
                <a:latin typeface="Calibri" panose="020F0502020204030204" pitchFamily="34" charset="0"/>
                <a:ea typeface="Arial"/>
                <a:cs typeface="Calibri" panose="020F0502020204030204" pitchFamily="34" charset="0"/>
                <a:sym typeface="Arial"/>
              </a:rPr>
              <a:t>Presenting-Author: </a:t>
            </a:r>
          </a:p>
          <a:p>
            <a:pPr marL="0" marR="0" lvl="0" indent="0" algn="l" rtl="0">
              <a:lnSpc>
                <a:spcPct val="90000"/>
              </a:lnSpc>
              <a:spcBef>
                <a:spcPts val="0"/>
              </a:spcBef>
              <a:spcAft>
                <a:spcPts val="0"/>
              </a:spcAft>
              <a:buClr>
                <a:schemeClr val="accent1"/>
              </a:buClr>
              <a:buSzPts val="2400"/>
              <a:buFont typeface="Calibri"/>
              <a:buNone/>
            </a:pPr>
            <a:endParaRPr dirty="0">
              <a:latin typeface="Calibri" panose="020F0502020204030204" pitchFamily="34" charset="0"/>
              <a:cs typeface="Calibri" panose="020F0502020204030204" pitchFamily="34" charset="0"/>
            </a:endParaRPr>
          </a:p>
          <a:p>
            <a:pPr marL="0" marR="0" lvl="0" indent="0" algn="l" rtl="0">
              <a:lnSpc>
                <a:spcPct val="90000"/>
              </a:lnSpc>
              <a:spcBef>
                <a:spcPts val="1400"/>
              </a:spcBef>
              <a:spcAft>
                <a:spcPts val="0"/>
              </a:spcAft>
              <a:buClr>
                <a:schemeClr val="accent1"/>
              </a:buClr>
              <a:buSzPts val="2400"/>
              <a:buFont typeface="Calibri"/>
              <a:buNone/>
            </a:pPr>
            <a:r>
              <a:rPr lang="en-US" sz="2400" b="0" i="0" u="none" strike="noStrike" cap="none" dirty="0">
                <a:latin typeface="Calibri" panose="020F0502020204030204" pitchFamily="34" charset="0"/>
                <a:ea typeface="Trebuchet MS"/>
                <a:cs typeface="Calibri" panose="020F0502020204030204" pitchFamily="34" charset="0"/>
                <a:sym typeface="Trebuchet MS"/>
              </a:rPr>
              <a:t>Dr </a:t>
            </a:r>
            <a:r>
              <a:rPr lang="en-US" sz="2400" dirty="0">
                <a:latin typeface="Calibri" panose="020F0502020204030204" pitchFamily="34" charset="0"/>
                <a:ea typeface="Trebuchet MS"/>
                <a:cs typeface="Calibri" panose="020F0502020204030204" pitchFamily="34" charset="0"/>
                <a:sym typeface="Trebuchet MS"/>
              </a:rPr>
              <a:t>Yogitha Lakshmi </a:t>
            </a:r>
            <a:r>
              <a:rPr lang="en-US" sz="2400" dirty="0" err="1">
                <a:latin typeface="Calibri" panose="020F0502020204030204" pitchFamily="34" charset="0"/>
                <a:ea typeface="Trebuchet MS"/>
                <a:cs typeface="Calibri" panose="020F0502020204030204" pitchFamily="34" charset="0"/>
                <a:sym typeface="Trebuchet MS"/>
              </a:rPr>
              <a:t>Saladi</a:t>
            </a:r>
            <a:endParaRPr sz="2400" dirty="0">
              <a:latin typeface="Calibri" panose="020F0502020204030204" pitchFamily="34" charset="0"/>
              <a:ea typeface="Trebuchet MS"/>
              <a:cs typeface="Calibri" panose="020F0502020204030204" pitchFamily="34" charset="0"/>
              <a:sym typeface="Trebuchet MS"/>
            </a:endParaRPr>
          </a:p>
          <a:p>
            <a:pPr marL="0" marR="0" lvl="0" indent="0" algn="l" rtl="0">
              <a:lnSpc>
                <a:spcPct val="90000"/>
              </a:lnSpc>
              <a:spcBef>
                <a:spcPts val="1400"/>
              </a:spcBef>
              <a:spcAft>
                <a:spcPts val="0"/>
              </a:spcAft>
              <a:buClr>
                <a:schemeClr val="accent1"/>
              </a:buClr>
              <a:buSzPts val="2400"/>
              <a:buFont typeface="Calibri"/>
              <a:buNone/>
            </a:pPr>
            <a:r>
              <a:rPr lang="en-US" sz="2400" dirty="0">
                <a:latin typeface="Calibri" panose="020F0502020204030204" pitchFamily="34" charset="0"/>
                <a:ea typeface="Trebuchet MS"/>
                <a:cs typeface="Calibri" panose="020F0502020204030204" pitchFamily="34" charset="0"/>
                <a:sym typeface="Trebuchet MS"/>
              </a:rPr>
              <a:t>PG cum JR</a:t>
            </a:r>
            <a:endParaRPr sz="2400" dirty="0">
              <a:latin typeface="Calibri" panose="020F0502020204030204" pitchFamily="34" charset="0"/>
              <a:ea typeface="Trebuchet MS"/>
              <a:cs typeface="Calibri" panose="020F0502020204030204" pitchFamily="34" charset="0"/>
              <a:sym typeface="Trebuchet MS"/>
            </a:endParaRPr>
          </a:p>
          <a:p>
            <a:pPr marL="0" marR="0" lvl="0" indent="0" algn="l" rtl="0">
              <a:lnSpc>
                <a:spcPct val="90000"/>
              </a:lnSpc>
              <a:spcBef>
                <a:spcPts val="1400"/>
              </a:spcBef>
              <a:spcAft>
                <a:spcPts val="0"/>
              </a:spcAft>
              <a:buClr>
                <a:schemeClr val="accent1"/>
              </a:buClr>
              <a:buSzPts val="2400"/>
              <a:buFont typeface="Calibri"/>
              <a:buNone/>
            </a:pPr>
            <a:r>
              <a:rPr lang="en-US" sz="2400" dirty="0">
                <a:latin typeface="Calibri" panose="020F0502020204030204" pitchFamily="34" charset="0"/>
                <a:ea typeface="Trebuchet MS"/>
                <a:cs typeface="Calibri" panose="020F0502020204030204" pitchFamily="34" charset="0"/>
                <a:sym typeface="Trebuchet MS"/>
              </a:rPr>
              <a:t>Dept of orthopedics</a:t>
            </a:r>
            <a:endParaRPr sz="2400" dirty="0">
              <a:latin typeface="Calibri" panose="020F0502020204030204" pitchFamily="34" charset="0"/>
              <a:ea typeface="Trebuchet MS"/>
              <a:cs typeface="Calibri" panose="020F0502020204030204" pitchFamily="34" charset="0"/>
              <a:sym typeface="Trebuchet MS"/>
            </a:endParaRPr>
          </a:p>
          <a:p>
            <a:pPr marL="0" marR="0" lvl="0" indent="0" algn="l" rtl="0">
              <a:lnSpc>
                <a:spcPct val="90000"/>
              </a:lnSpc>
              <a:spcBef>
                <a:spcPts val="1400"/>
              </a:spcBef>
              <a:spcAft>
                <a:spcPts val="0"/>
              </a:spcAft>
              <a:buClr>
                <a:schemeClr val="accent1"/>
              </a:buClr>
              <a:buSzPts val="2400"/>
              <a:buFont typeface="Calibri"/>
              <a:buNone/>
            </a:pPr>
            <a:r>
              <a:rPr lang="en-US" sz="2400" dirty="0">
                <a:latin typeface="Calibri" panose="020F0502020204030204" pitchFamily="34" charset="0"/>
                <a:ea typeface="Trebuchet MS"/>
                <a:cs typeface="Calibri" panose="020F0502020204030204" pitchFamily="34" charset="0"/>
                <a:sym typeface="Trebuchet MS"/>
              </a:rPr>
              <a:t>NRI medical college, Vizag</a:t>
            </a:r>
            <a:endParaRPr sz="2400" dirty="0">
              <a:latin typeface="Calibri" panose="020F0502020204030204" pitchFamily="34" charset="0"/>
              <a:ea typeface="Trebuchet MS"/>
              <a:cs typeface="Calibri" panose="020F0502020204030204" pitchFamily="34" charset="0"/>
              <a:sym typeface="Trebuchet MS"/>
            </a:endParaRPr>
          </a:p>
        </p:txBody>
      </p:sp>
      <p:sp>
        <p:nvSpPr>
          <p:cNvPr id="2" name="Google Shape;81;p1">
            <a:extLst>
              <a:ext uri="{FF2B5EF4-FFF2-40B4-BE49-F238E27FC236}">
                <a16:creationId xmlns:a16="http://schemas.microsoft.com/office/drawing/2014/main" id="{BC8E2D41-E3AD-B5C5-3649-DDF762F0D06D}"/>
              </a:ext>
            </a:extLst>
          </p:cNvPr>
          <p:cNvSpPr txBox="1"/>
          <p:nvPr/>
        </p:nvSpPr>
        <p:spPr>
          <a:xfrm>
            <a:off x="1170597" y="3721171"/>
            <a:ext cx="5029200" cy="261606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stStyle>
          <a:p>
            <a:pPr marL="0" marR="0" lvl="0" indent="0" algn="l" rtl="0">
              <a:spcBef>
                <a:spcPts val="0"/>
              </a:spcBef>
              <a:spcAft>
                <a:spcPts val="0"/>
              </a:spcAft>
              <a:buNone/>
            </a:pPr>
            <a:r>
              <a:rPr lang="en-US" sz="2400" b="1" dirty="0">
                <a:solidFill>
                  <a:schemeClr val="tx1"/>
                </a:solidFill>
                <a:latin typeface="Calibri" panose="020F0502020204030204" pitchFamily="34" charset="0"/>
                <a:cs typeface="Calibri" panose="020F0502020204030204" pitchFamily="34" charset="0"/>
              </a:rPr>
              <a:t>Moderator:</a:t>
            </a:r>
          </a:p>
          <a:p>
            <a:pPr marL="0" marR="0" lvl="0" indent="0" algn="l" rtl="0">
              <a:spcBef>
                <a:spcPts val="0"/>
              </a:spcBef>
              <a:spcAft>
                <a:spcPts val="0"/>
              </a:spcAft>
              <a:buNone/>
            </a:pPr>
            <a:endParaRPr lang="en-US" sz="2400" dirty="0">
              <a:solidFill>
                <a:schemeClr val="tx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2400" dirty="0">
                <a:solidFill>
                  <a:schemeClr val="tx1"/>
                </a:solidFill>
                <a:latin typeface="Calibri" panose="020F0502020204030204" pitchFamily="34" charset="0"/>
                <a:cs typeface="Calibri" panose="020F0502020204030204" pitchFamily="34" charset="0"/>
              </a:rPr>
              <a:t>Dr. S. Appala Raju</a:t>
            </a:r>
          </a:p>
          <a:p>
            <a:pPr marL="0" marR="0" lvl="0" indent="0" algn="l" rtl="0">
              <a:spcBef>
                <a:spcPts val="0"/>
              </a:spcBef>
              <a:spcAft>
                <a:spcPts val="0"/>
              </a:spcAft>
              <a:buNone/>
            </a:pPr>
            <a:r>
              <a:rPr lang="en-US" sz="2400" dirty="0">
                <a:solidFill>
                  <a:schemeClr val="tx1"/>
                </a:solidFill>
                <a:latin typeface="Calibri" panose="020F0502020204030204" pitchFamily="34" charset="0"/>
                <a:cs typeface="Calibri" panose="020F0502020204030204" pitchFamily="34" charset="0"/>
              </a:rPr>
              <a:t>Professor</a:t>
            </a:r>
          </a:p>
          <a:p>
            <a:pPr marL="0" marR="0" lvl="0" indent="0" algn="l" rtl="0">
              <a:spcBef>
                <a:spcPts val="0"/>
              </a:spcBef>
              <a:spcAft>
                <a:spcPts val="0"/>
              </a:spcAft>
              <a:buNone/>
            </a:pPr>
            <a:r>
              <a:rPr lang="en-US" sz="2400" dirty="0">
                <a:solidFill>
                  <a:schemeClr val="tx1"/>
                </a:solidFill>
                <a:latin typeface="Calibri" panose="020F0502020204030204" pitchFamily="34" charset="0"/>
                <a:cs typeface="Calibri" panose="020F0502020204030204" pitchFamily="34" charset="0"/>
              </a:rPr>
              <a:t>Dept of orthopedics</a:t>
            </a:r>
          </a:p>
          <a:p>
            <a:pPr marL="0" marR="0" lvl="0" indent="0" algn="l" rtl="0">
              <a:spcBef>
                <a:spcPts val="0"/>
              </a:spcBef>
              <a:spcAft>
                <a:spcPts val="0"/>
              </a:spcAft>
              <a:buNone/>
            </a:pPr>
            <a:r>
              <a:rPr lang="en-US" sz="2400" dirty="0">
                <a:solidFill>
                  <a:schemeClr val="tx1"/>
                </a:solidFill>
                <a:latin typeface="Calibri" panose="020F0502020204030204" pitchFamily="34" charset="0"/>
                <a:cs typeface="Calibri" panose="020F0502020204030204" pitchFamily="34" charset="0"/>
              </a:rPr>
              <a:t>NRI medical college, </a:t>
            </a:r>
            <a:r>
              <a:rPr lang="en-US" sz="2400" dirty="0" err="1">
                <a:solidFill>
                  <a:schemeClr val="tx1"/>
                </a:solidFill>
                <a:latin typeface="Calibri" panose="020F0502020204030204" pitchFamily="34" charset="0"/>
                <a:cs typeface="Calibri" panose="020F0502020204030204" pitchFamily="34" charset="0"/>
              </a:rPr>
              <a:t>vizag</a:t>
            </a:r>
            <a:endParaRPr lang="en-US" sz="2400" dirty="0">
              <a:solidFill>
                <a:schemeClr val="tx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endParaRPr lang="en-US" sz="2000" dirty="0">
              <a:solidFill>
                <a:srgbClr val="3F7818"/>
              </a:solidFill>
              <a:latin typeface="Calibri" panose="020F0502020204030204" pitchFamily="34" charset="0"/>
              <a:ea typeface="Trebuchet MS"/>
              <a:cs typeface="Calibri" panose="020F0502020204030204" pitchFamily="34" charset="0"/>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7669E2-7825-4B1C-A5AC-818BF4C66839}"/>
              </a:ext>
            </a:extLst>
          </p:cNvPr>
          <p:cNvSpPr>
            <a:spLocks noGrp="1"/>
          </p:cNvSpPr>
          <p:nvPr>
            <p:ph type="title"/>
          </p:nvPr>
        </p:nvSpPr>
        <p:spPr/>
        <p:txBody>
          <a:bodyPr anchor="ctr">
            <a:normAutofit/>
          </a:bodyPr>
          <a:lstStyle/>
          <a:p>
            <a:pPr algn="ctr"/>
            <a:r>
              <a:rPr lang="en-IN" b="0" dirty="0">
                <a:solidFill>
                  <a:srgbClr val="FFFFFF"/>
                </a:solidFill>
                <a:effectLst/>
                <a:latin typeface="Gill Sans MT (Headings)"/>
                <a:ea typeface="Calibri" panose="020F0502020204030204" pitchFamily="34" charset="0"/>
              </a:rPr>
              <a:t>INTRODUCTION</a:t>
            </a:r>
            <a:endParaRPr lang="en-IN" dirty="0">
              <a:solidFill>
                <a:srgbClr val="FFFFFF"/>
              </a:solidFill>
              <a:latin typeface="Gill Sans MT (Headings)"/>
            </a:endParaRPr>
          </a:p>
        </p:txBody>
      </p:sp>
      <p:sp>
        <p:nvSpPr>
          <p:cNvPr id="3" name="Content Placeholder 2">
            <a:extLst>
              <a:ext uri="{FF2B5EF4-FFF2-40B4-BE49-F238E27FC236}">
                <a16:creationId xmlns:a16="http://schemas.microsoft.com/office/drawing/2014/main" id="{EA8BCA19-FDDA-4F99-921A-6ED36E20F8DA}"/>
              </a:ext>
            </a:extLst>
          </p:cNvPr>
          <p:cNvSpPr>
            <a:spLocks noGrp="1"/>
          </p:cNvSpPr>
          <p:nvPr>
            <p:ph idx="1"/>
          </p:nvPr>
        </p:nvSpPr>
        <p:spPr/>
        <p:txBody>
          <a:bodyPr>
            <a:normAutofit/>
          </a:bodyPr>
          <a:lstStyle/>
          <a:p>
            <a:r>
              <a:rPr lang="en-IN" sz="2400" b="0" dirty="0">
                <a:effectLst/>
                <a:latin typeface="Calibri" panose="020F0502020204030204" pitchFamily="34" charset="0"/>
                <a:ea typeface="Calibri" panose="020F0502020204030204" pitchFamily="34" charset="0"/>
                <a:cs typeface="Calibri" panose="020F0502020204030204" pitchFamily="34" charset="0"/>
              </a:rPr>
              <a:t>The </a:t>
            </a:r>
            <a:r>
              <a:rPr lang="en-IN" sz="2400" dirty="0">
                <a:latin typeface="Calibri" panose="020F0502020204030204" pitchFamily="34" charset="0"/>
                <a:ea typeface="Calibri" panose="020F0502020204030204" pitchFamily="34" charset="0"/>
                <a:cs typeface="Calibri" panose="020F0502020204030204" pitchFamily="34" charset="0"/>
              </a:rPr>
              <a:t>best</a:t>
            </a:r>
            <a:r>
              <a:rPr lang="en-IN" sz="2400" b="0" dirty="0">
                <a:effectLst/>
                <a:latin typeface="Calibri" panose="020F0502020204030204" pitchFamily="34" charset="0"/>
                <a:ea typeface="Calibri" panose="020F0502020204030204" pitchFamily="34" charset="0"/>
                <a:cs typeface="Calibri" panose="020F0502020204030204" pitchFamily="34" charset="0"/>
              </a:rPr>
              <a:t> method of fixation for displaced, extra-articular fractures of the distal tibia remains </a:t>
            </a:r>
            <a:r>
              <a:rPr lang="en-IN" sz="2400" dirty="0">
                <a:latin typeface="Calibri" panose="020F0502020204030204" pitchFamily="34" charset="0"/>
                <a:ea typeface="Calibri" panose="020F0502020204030204" pitchFamily="34" charset="0"/>
                <a:cs typeface="Calibri" panose="020F0502020204030204" pitchFamily="34" charset="0"/>
              </a:rPr>
              <a:t>debatable</a:t>
            </a:r>
            <a:r>
              <a:rPr lang="en-IN" sz="2400" b="0" dirty="0">
                <a:effectLst/>
                <a:latin typeface="Calibri" panose="020F0502020204030204" pitchFamily="34" charset="0"/>
                <a:ea typeface="Calibri" panose="020F0502020204030204" pitchFamily="34" charset="0"/>
                <a:cs typeface="Calibri" panose="020F0502020204030204" pitchFamily="34" charset="0"/>
              </a:rPr>
              <a:t>. </a:t>
            </a:r>
          </a:p>
          <a:p>
            <a:r>
              <a:rPr lang="en-IN" sz="2400" b="0" dirty="0">
                <a:effectLst/>
                <a:latin typeface="Calibri" panose="020F0502020204030204" pitchFamily="34" charset="0"/>
                <a:ea typeface="Calibri" panose="020F0502020204030204" pitchFamily="34" charset="0"/>
                <a:cs typeface="Calibri" panose="020F0502020204030204" pitchFamily="34" charset="0"/>
              </a:rPr>
              <a:t>Operative fixation with intramedullary nail and plate osteosynthesis are mainstay of treatment. </a:t>
            </a:r>
          </a:p>
          <a:p>
            <a:r>
              <a:rPr lang="en-IN" sz="2400" b="0" dirty="0">
                <a:effectLst/>
                <a:latin typeface="Calibri" panose="020F0502020204030204" pitchFamily="34" charset="0"/>
                <a:ea typeface="Calibri" panose="020F0502020204030204" pitchFamily="34" charset="0"/>
                <a:cs typeface="Calibri" panose="020F0502020204030204" pitchFamily="34" charset="0"/>
              </a:rPr>
              <a:t>The purpose of the study is to assess the treatment outcome of distal tibia fracture treated by intramedullary nail and plate osteosynthesis. </a:t>
            </a:r>
            <a:endParaRPr lang="en-IN" sz="2400" b="1" dirty="0">
              <a:effectLst/>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7092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98D8D41-BB23-40C3-A0FC-C240C91D589F}"/>
              </a:ext>
            </a:extLst>
          </p:cNvPr>
          <p:cNvSpPr txBox="1">
            <a:spLocks noGrp="1"/>
          </p:cNvSpPr>
          <p:nvPr>
            <p:ph type="title"/>
          </p:nvPr>
        </p:nvSpPr>
        <p:spPr>
          <a:prstGeom prst="rect">
            <a:avLst/>
          </a:prstGeom>
        </p:spPr>
        <p:txBody>
          <a:bodyPr anchor="ctr">
            <a:normAutofit/>
          </a:bodyPr>
          <a:lstStyle/>
          <a:p>
            <a:pPr algn="ctr"/>
            <a:r>
              <a:rPr lang="en-IN" dirty="0">
                <a:solidFill>
                  <a:srgbClr val="FFFFFF"/>
                </a:solidFill>
              </a:rPr>
              <a:t>MATERIALS AND METHODS</a:t>
            </a:r>
          </a:p>
        </p:txBody>
      </p:sp>
      <p:sp>
        <p:nvSpPr>
          <p:cNvPr id="5" name="Content Placeholder 4">
            <a:extLst>
              <a:ext uri="{FF2B5EF4-FFF2-40B4-BE49-F238E27FC236}">
                <a16:creationId xmlns:a16="http://schemas.microsoft.com/office/drawing/2014/main" id="{0FAE34FF-3EA1-4631-BC2A-EA4FB25B8492}"/>
              </a:ext>
            </a:extLst>
          </p:cNvPr>
          <p:cNvSpPr>
            <a:spLocks noGrp="1"/>
          </p:cNvSpPr>
          <p:nvPr>
            <p:ph idx="1"/>
          </p:nvPr>
        </p:nvSpPr>
        <p:spPr>
          <a:xfrm>
            <a:off x="605662" y="2565290"/>
            <a:ext cx="11029615" cy="3678303"/>
          </a:xfrm>
        </p:spPr>
        <p:txBody>
          <a:bodyPr>
            <a:noAutofit/>
          </a:bodyPr>
          <a:lstStyle/>
          <a:p>
            <a:r>
              <a:rPr lang="en-IN" sz="2400" i="0" u="none" strike="noStrike" baseline="0" dirty="0">
                <a:latin typeface="Calibri" panose="020F0502020204030204" pitchFamily="34" charset="0"/>
                <a:cs typeface="Calibri" panose="020F0502020204030204" pitchFamily="34" charset="0"/>
              </a:rPr>
              <a:t>Prospective observational study</a:t>
            </a:r>
          </a:p>
          <a:p>
            <a:pPr lvl="1"/>
            <a:r>
              <a:rPr lang="en-IN" sz="2400" b="1" i="0" u="none" strike="noStrike" baseline="0" dirty="0">
                <a:latin typeface="Calibri" panose="020F0502020204030204" pitchFamily="34" charset="0"/>
                <a:cs typeface="Calibri" panose="020F0502020204030204" pitchFamily="34" charset="0"/>
              </a:rPr>
              <a:t>I) Inclusion criteria</a:t>
            </a:r>
          </a:p>
          <a:p>
            <a:pPr marL="594000" lvl="2" indent="0">
              <a:buNone/>
            </a:pPr>
            <a:r>
              <a:rPr lang="en-US" sz="2400" b="0" i="0" u="none" strike="noStrike" baseline="0" dirty="0">
                <a:latin typeface="Calibri" panose="020F0502020204030204" pitchFamily="34" charset="0"/>
                <a:cs typeface="Calibri" panose="020F0502020204030204" pitchFamily="34" charset="0"/>
              </a:rPr>
              <a:t>a) Age: Above 18 years </a:t>
            </a:r>
            <a:r>
              <a:rPr lang="en-US" sz="2400" b="0" i="0" u="none" strike="noStrike" baseline="0" dirty="0" err="1">
                <a:latin typeface="Calibri" panose="020F0502020204030204" pitchFamily="34" charset="0"/>
                <a:cs typeface="Calibri" panose="020F0502020204030204" pitchFamily="34" charset="0"/>
              </a:rPr>
              <a:t>upto</a:t>
            </a:r>
            <a:r>
              <a:rPr lang="en-US" sz="2400" b="0" i="0" u="none" strike="noStrike" baseline="0" dirty="0">
                <a:latin typeface="Calibri" panose="020F0502020204030204" pitchFamily="34" charset="0"/>
                <a:cs typeface="Calibri" panose="020F0502020204030204" pitchFamily="34" charset="0"/>
              </a:rPr>
              <a:t> 60 years of either gender</a:t>
            </a:r>
          </a:p>
          <a:p>
            <a:pPr marL="594000" lvl="2" indent="0">
              <a:buNone/>
            </a:pPr>
            <a:r>
              <a:rPr lang="en-IN" sz="2400" b="0" i="0" u="none" strike="noStrike" baseline="0" dirty="0">
                <a:latin typeface="Calibri" panose="020F0502020204030204" pitchFamily="34" charset="0"/>
                <a:cs typeface="Calibri" panose="020F0502020204030204" pitchFamily="34" charset="0"/>
              </a:rPr>
              <a:t>b) Distal Tibial extra articular fractures</a:t>
            </a:r>
          </a:p>
          <a:p>
            <a:pPr marL="594000" lvl="2" indent="0">
              <a:buNone/>
            </a:pPr>
            <a:r>
              <a:rPr lang="en-US" sz="2400" b="0" i="0" u="none" strike="noStrike" baseline="0" dirty="0">
                <a:latin typeface="Calibri" panose="020F0502020204030204" pitchFamily="34" charset="0"/>
                <a:cs typeface="Calibri" panose="020F0502020204030204" pitchFamily="34" charset="0"/>
              </a:rPr>
              <a:t>c) Open fractures (Gustilo type-I, type-II)</a:t>
            </a:r>
            <a:endParaRPr lang="en-IN" sz="2400" b="0" i="0" u="none" strike="noStrike" baseline="0" dirty="0">
              <a:latin typeface="Calibri" panose="020F0502020204030204" pitchFamily="34" charset="0"/>
              <a:cs typeface="Calibri" panose="020F0502020204030204" pitchFamily="34" charset="0"/>
            </a:endParaRPr>
          </a:p>
          <a:p>
            <a:pPr lvl="1"/>
            <a:r>
              <a:rPr lang="en-IN" sz="2400" b="1" i="0" u="none" strike="noStrike" baseline="0" dirty="0">
                <a:latin typeface="Calibri" panose="020F0502020204030204" pitchFamily="34" charset="0"/>
                <a:cs typeface="Calibri" panose="020F0502020204030204" pitchFamily="34" charset="0"/>
              </a:rPr>
              <a:t>II) Exclusion criteria</a:t>
            </a:r>
          </a:p>
          <a:p>
            <a:pPr marL="594000" lvl="2" indent="0">
              <a:buNone/>
            </a:pPr>
            <a:r>
              <a:rPr lang="en-IN" sz="2400" b="0" i="0" u="none" strike="noStrike" baseline="0" dirty="0">
                <a:latin typeface="Calibri" panose="020F0502020204030204" pitchFamily="34" charset="0"/>
                <a:cs typeface="Calibri" panose="020F0502020204030204" pitchFamily="34" charset="0"/>
              </a:rPr>
              <a:t>a) Pathological fractures</a:t>
            </a:r>
          </a:p>
          <a:p>
            <a:pPr marL="594000" lvl="2" indent="0">
              <a:buNone/>
            </a:pPr>
            <a:r>
              <a:rPr lang="en-IN" sz="2400" b="0" i="0" u="none" strike="noStrike" baseline="0" dirty="0">
                <a:latin typeface="Calibri" panose="020F0502020204030204" pitchFamily="34" charset="0"/>
                <a:cs typeface="Calibri" panose="020F0502020204030204" pitchFamily="34" charset="0"/>
              </a:rPr>
              <a:t>b) Old neglected fractures</a:t>
            </a:r>
          </a:p>
          <a:p>
            <a:pPr marL="594000" lvl="2" indent="0">
              <a:buNone/>
            </a:pPr>
            <a:r>
              <a:rPr lang="en-US" sz="2400" b="0" i="0" u="none" strike="noStrike" baseline="0" dirty="0">
                <a:latin typeface="Calibri" panose="020F0502020204030204" pitchFamily="34" charset="0"/>
                <a:cs typeface="Calibri" panose="020F0502020204030204" pitchFamily="34" charset="0"/>
              </a:rPr>
              <a:t>c) Old fractures with implant failure</a:t>
            </a:r>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99037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78529-3590-D23F-8751-FDCC14622A3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A0F4CF1-E5D9-9EC0-36B4-CF779BA490ED}"/>
              </a:ext>
            </a:extLst>
          </p:cNvPr>
          <p:cNvSpPr txBox="1">
            <a:spLocks noGrp="1"/>
          </p:cNvSpPr>
          <p:nvPr>
            <p:ph type="title"/>
          </p:nvPr>
        </p:nvSpPr>
        <p:spPr>
          <a:prstGeom prst="rect">
            <a:avLst/>
          </a:prstGeom>
        </p:spPr>
        <p:txBody>
          <a:bodyPr anchor="ctr">
            <a:normAutofit/>
          </a:bodyPr>
          <a:lstStyle/>
          <a:p>
            <a:pPr algn="ctr"/>
            <a:r>
              <a:rPr lang="en-IN" dirty="0" err="1">
                <a:solidFill>
                  <a:srgbClr val="FFFFFF"/>
                </a:solidFill>
              </a:rPr>
              <a:t>REsULTS</a:t>
            </a:r>
            <a:endParaRPr lang="en-IN" dirty="0">
              <a:solidFill>
                <a:srgbClr val="FFFFFF"/>
              </a:solidFill>
            </a:endParaRPr>
          </a:p>
        </p:txBody>
      </p:sp>
      <p:sp>
        <p:nvSpPr>
          <p:cNvPr id="2" name="Content Placeholder 2">
            <a:extLst>
              <a:ext uri="{FF2B5EF4-FFF2-40B4-BE49-F238E27FC236}">
                <a16:creationId xmlns:a16="http://schemas.microsoft.com/office/drawing/2014/main" id="{A99162B4-9A46-F6F5-7474-0D6AD606C92B}"/>
              </a:ext>
            </a:extLst>
          </p:cNvPr>
          <p:cNvSpPr txBox="1">
            <a:spLocks/>
          </p:cNvSpPr>
          <p:nvPr/>
        </p:nvSpPr>
        <p:spPr>
          <a:xfrm>
            <a:off x="1095719" y="2009561"/>
            <a:ext cx="8097708" cy="1281113"/>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dirty="0">
                <a:solidFill>
                  <a:schemeClr val="tx1"/>
                </a:solidFill>
                <a:latin typeface="Calibri" panose="020F0502020204030204" pitchFamily="34" charset="0"/>
                <a:cs typeface="Calibri" panose="020F0502020204030204" pitchFamily="34" charset="0"/>
              </a:rPr>
              <a:t>Total of 50 patients included in study</a:t>
            </a:r>
          </a:p>
          <a:p>
            <a:pPr marL="742950" lvl="1" indent="-285750">
              <a:spcBef>
                <a:spcPts val="600"/>
              </a:spcBef>
              <a:defRPr sz="2500">
                <a:solidFill>
                  <a:srgbClr val="FF0000"/>
                </a:solidFill>
              </a:defRPr>
            </a:pPr>
            <a:r>
              <a:rPr lang="en-US" sz="2400" dirty="0">
                <a:solidFill>
                  <a:schemeClr val="tx1"/>
                </a:solidFill>
                <a:latin typeface="Calibri" panose="020F0502020204030204" pitchFamily="34" charset="0"/>
                <a:cs typeface="Calibri" panose="020F0502020204030204" pitchFamily="34" charset="0"/>
              </a:rPr>
              <a:t>Plating Group A : 31 patients</a:t>
            </a:r>
          </a:p>
          <a:p>
            <a:pPr marL="742950" lvl="1" indent="-285750">
              <a:spcBef>
                <a:spcPts val="600"/>
              </a:spcBef>
              <a:defRPr sz="2500">
                <a:solidFill>
                  <a:srgbClr val="00B050"/>
                </a:solidFill>
              </a:defRPr>
            </a:pPr>
            <a:r>
              <a:rPr lang="en-US" sz="2400" dirty="0">
                <a:solidFill>
                  <a:schemeClr val="tx1"/>
                </a:solidFill>
                <a:latin typeface="Calibri" panose="020F0502020204030204" pitchFamily="34" charset="0"/>
                <a:cs typeface="Calibri" panose="020F0502020204030204" pitchFamily="34" charset="0"/>
              </a:rPr>
              <a:t>Nailing Group B : 19 patients</a:t>
            </a:r>
            <a:endParaRPr lang="en-IN" sz="2400" dirty="0">
              <a:solidFill>
                <a:schemeClr val="tx1"/>
              </a:solidFill>
              <a:latin typeface="Calibri" panose="020F0502020204030204" pitchFamily="34" charset="0"/>
              <a:cs typeface="Calibri" panose="020F0502020204030204" pitchFamily="34" charset="0"/>
            </a:endParaRPr>
          </a:p>
        </p:txBody>
      </p:sp>
      <p:graphicFrame>
        <p:nvGraphicFramePr>
          <p:cNvPr id="3" name="object 3">
            <a:extLst>
              <a:ext uri="{FF2B5EF4-FFF2-40B4-BE49-F238E27FC236}">
                <a16:creationId xmlns:a16="http://schemas.microsoft.com/office/drawing/2014/main" id="{2A363CDC-4BB7-9C8C-AA5A-C9D5E7A68997}"/>
              </a:ext>
            </a:extLst>
          </p:cNvPr>
          <p:cNvGraphicFramePr>
            <a:graphicFrameLocks noGrp="1"/>
          </p:cNvGraphicFramePr>
          <p:nvPr>
            <p:extLst>
              <p:ext uri="{D42A27DB-BD31-4B8C-83A1-F6EECF244321}">
                <p14:modId xmlns:p14="http://schemas.microsoft.com/office/powerpoint/2010/main" val="3109880059"/>
              </p:ext>
            </p:extLst>
          </p:nvPr>
        </p:nvGraphicFramePr>
        <p:xfrm>
          <a:off x="902253" y="3567326"/>
          <a:ext cx="5498547" cy="3167106"/>
        </p:xfrm>
        <a:graphic>
          <a:graphicData uri="http://schemas.openxmlformats.org/drawingml/2006/table">
            <a:tbl>
              <a:tblPr firstRow="1" bandRow="1">
                <a:tableStyleId>{2D5ABB26-0587-4C30-8999-92F81FD0307C}</a:tableStyleId>
              </a:tblPr>
              <a:tblGrid>
                <a:gridCol w="1070465">
                  <a:extLst>
                    <a:ext uri="{9D8B030D-6E8A-4147-A177-3AD203B41FA5}">
                      <a16:colId xmlns:a16="http://schemas.microsoft.com/office/drawing/2014/main" val="20000"/>
                    </a:ext>
                  </a:extLst>
                </a:gridCol>
                <a:gridCol w="1410349">
                  <a:extLst>
                    <a:ext uri="{9D8B030D-6E8A-4147-A177-3AD203B41FA5}">
                      <a16:colId xmlns:a16="http://schemas.microsoft.com/office/drawing/2014/main" val="20001"/>
                    </a:ext>
                  </a:extLst>
                </a:gridCol>
                <a:gridCol w="1265166">
                  <a:extLst>
                    <a:ext uri="{9D8B030D-6E8A-4147-A177-3AD203B41FA5}">
                      <a16:colId xmlns:a16="http://schemas.microsoft.com/office/drawing/2014/main" val="20002"/>
                    </a:ext>
                  </a:extLst>
                </a:gridCol>
                <a:gridCol w="1752567">
                  <a:extLst>
                    <a:ext uri="{9D8B030D-6E8A-4147-A177-3AD203B41FA5}">
                      <a16:colId xmlns:a16="http://schemas.microsoft.com/office/drawing/2014/main" val="20003"/>
                    </a:ext>
                  </a:extLst>
                </a:gridCol>
              </a:tblGrid>
              <a:tr h="570372">
                <a:tc>
                  <a:txBody>
                    <a:bodyPr/>
                    <a:lstStyle/>
                    <a:p>
                      <a:pPr marL="64769">
                        <a:lnSpc>
                          <a:spcPct val="100000"/>
                        </a:lnSpc>
                      </a:pPr>
                      <a:r>
                        <a:rPr sz="1600" b="1" spc="15" dirty="0">
                          <a:latin typeface="Arial"/>
                          <a:cs typeface="Arial"/>
                        </a:rPr>
                        <a:t>Age </a:t>
                      </a:r>
                      <a:r>
                        <a:rPr sz="1600" b="1" spc="10" dirty="0">
                          <a:latin typeface="Arial"/>
                          <a:cs typeface="Arial"/>
                        </a:rPr>
                        <a:t>in</a:t>
                      </a:r>
                      <a:r>
                        <a:rPr sz="1600" b="1" spc="-20" dirty="0">
                          <a:latin typeface="Arial"/>
                          <a:cs typeface="Arial"/>
                        </a:rPr>
                        <a:t> </a:t>
                      </a:r>
                      <a:r>
                        <a:rPr sz="1600" b="1" spc="10" dirty="0">
                          <a:latin typeface="Arial"/>
                          <a:cs typeface="Arial"/>
                        </a:rPr>
                        <a:t>years</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algn="ctr">
                        <a:lnSpc>
                          <a:spcPts val="1295"/>
                        </a:lnSpc>
                      </a:pPr>
                      <a:r>
                        <a:rPr sz="1600" b="1" spc="10" dirty="0">
                          <a:latin typeface="Arial"/>
                          <a:cs typeface="Arial"/>
                        </a:rPr>
                        <a:t>Plating</a:t>
                      </a:r>
                      <a:r>
                        <a:rPr sz="1600" b="1" spc="-15" dirty="0">
                          <a:latin typeface="Arial"/>
                          <a:cs typeface="Arial"/>
                        </a:rPr>
                        <a:t> </a:t>
                      </a:r>
                      <a:r>
                        <a:rPr sz="1600" b="1" spc="10" dirty="0">
                          <a:latin typeface="Arial"/>
                          <a:cs typeface="Arial"/>
                        </a:rPr>
                        <a:t>group</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algn="ctr">
                        <a:lnSpc>
                          <a:spcPts val="1295"/>
                        </a:lnSpc>
                      </a:pPr>
                      <a:r>
                        <a:rPr sz="1600" b="1" spc="10" dirty="0">
                          <a:latin typeface="Arial"/>
                          <a:cs typeface="Arial"/>
                        </a:rPr>
                        <a:t>Nailing</a:t>
                      </a:r>
                      <a:r>
                        <a:rPr sz="1600" b="1" spc="-20" dirty="0">
                          <a:latin typeface="Arial"/>
                          <a:cs typeface="Arial"/>
                        </a:rPr>
                        <a:t> </a:t>
                      </a:r>
                      <a:r>
                        <a:rPr sz="1600" b="1" spc="10" dirty="0">
                          <a:latin typeface="Arial"/>
                          <a:cs typeface="Arial"/>
                        </a:rPr>
                        <a:t>group</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algn="ctr">
                        <a:lnSpc>
                          <a:spcPts val="1295"/>
                        </a:lnSpc>
                      </a:pPr>
                      <a:r>
                        <a:rPr sz="1600" b="1" spc="10" dirty="0">
                          <a:latin typeface="Arial"/>
                          <a:cs typeface="Arial"/>
                        </a:rPr>
                        <a:t>Total</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extLst>
                  <a:ext uri="{0D108BD9-81ED-4DB2-BD59-A6C34878D82A}">
                    <a16:rowId xmlns:a16="http://schemas.microsoft.com/office/drawing/2014/main" val="10000"/>
                  </a:ext>
                </a:extLst>
              </a:tr>
              <a:tr h="370185">
                <a:tc>
                  <a:txBody>
                    <a:bodyPr/>
                    <a:lstStyle/>
                    <a:p>
                      <a:pPr marL="64769">
                        <a:lnSpc>
                          <a:spcPts val="1300"/>
                        </a:lnSpc>
                      </a:pPr>
                      <a:r>
                        <a:rPr sz="1600" b="1" spc="10" dirty="0">
                          <a:latin typeface="Arial"/>
                          <a:cs typeface="Arial"/>
                        </a:rPr>
                        <a:t>21-30</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latin typeface="Arial"/>
                          <a:cs typeface="Arial"/>
                        </a:rPr>
                        <a:t>7(22.6%)</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latin typeface="Arial"/>
                          <a:cs typeface="Arial"/>
                        </a:rPr>
                        <a:t>4(21.1%)</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49885">
                        <a:lnSpc>
                          <a:spcPts val="1300"/>
                        </a:lnSpc>
                      </a:pPr>
                      <a:r>
                        <a:rPr sz="1600" b="1" spc="10" dirty="0">
                          <a:latin typeface="Arial"/>
                          <a:cs typeface="Arial"/>
                        </a:rPr>
                        <a:t>11(22%)</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63863">
                <a:tc>
                  <a:txBody>
                    <a:bodyPr/>
                    <a:lstStyle/>
                    <a:p>
                      <a:pPr marL="64769">
                        <a:lnSpc>
                          <a:spcPts val="1300"/>
                        </a:lnSpc>
                      </a:pPr>
                      <a:r>
                        <a:rPr sz="1600" b="1" spc="10" dirty="0">
                          <a:solidFill>
                            <a:srgbClr val="FF0000"/>
                          </a:solidFill>
                          <a:latin typeface="Arial"/>
                          <a:cs typeface="Arial"/>
                        </a:rPr>
                        <a:t>31-40</a:t>
                      </a:r>
                      <a:endParaRPr sz="1600" dirty="0">
                        <a:solidFill>
                          <a:srgbClr val="FF0000"/>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solidFill>
                            <a:srgbClr val="FF0000"/>
                          </a:solidFill>
                          <a:latin typeface="Arial"/>
                          <a:cs typeface="Arial"/>
                        </a:rPr>
                        <a:t>11(35.5%)</a:t>
                      </a:r>
                      <a:endParaRPr sz="1600" dirty="0">
                        <a:solidFill>
                          <a:srgbClr val="FF0000"/>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solidFill>
                            <a:srgbClr val="FF0000"/>
                          </a:solidFill>
                          <a:latin typeface="Arial"/>
                          <a:cs typeface="Arial"/>
                        </a:rPr>
                        <a:t>7(36.8%)</a:t>
                      </a:r>
                      <a:endParaRPr sz="1600" dirty="0">
                        <a:solidFill>
                          <a:srgbClr val="FF0000"/>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49885">
                        <a:lnSpc>
                          <a:spcPts val="1300"/>
                        </a:lnSpc>
                      </a:pPr>
                      <a:r>
                        <a:rPr sz="1600" b="1" spc="10" dirty="0">
                          <a:solidFill>
                            <a:srgbClr val="FF0000"/>
                          </a:solidFill>
                          <a:latin typeface="Arial"/>
                          <a:cs typeface="Arial"/>
                        </a:rPr>
                        <a:t>18(36%)</a:t>
                      </a:r>
                      <a:endParaRPr sz="1600" dirty="0">
                        <a:solidFill>
                          <a:srgbClr val="FF0000"/>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64918">
                <a:tc>
                  <a:txBody>
                    <a:bodyPr/>
                    <a:lstStyle/>
                    <a:p>
                      <a:pPr marL="64769">
                        <a:lnSpc>
                          <a:spcPts val="1295"/>
                        </a:lnSpc>
                      </a:pPr>
                      <a:r>
                        <a:rPr sz="1600" b="1" spc="10" dirty="0">
                          <a:solidFill>
                            <a:srgbClr val="FF0000"/>
                          </a:solidFill>
                          <a:latin typeface="Arial"/>
                          <a:cs typeface="Arial"/>
                        </a:rPr>
                        <a:t>41-50</a:t>
                      </a:r>
                      <a:endParaRPr sz="1600">
                        <a:solidFill>
                          <a:srgbClr val="FF0000"/>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0"/>
                        </a:lnSpc>
                      </a:pPr>
                      <a:r>
                        <a:rPr sz="1600" spc="10" dirty="0">
                          <a:solidFill>
                            <a:srgbClr val="FF0000"/>
                          </a:solidFill>
                          <a:latin typeface="Arial"/>
                          <a:cs typeface="Arial"/>
                        </a:rPr>
                        <a:t>10(32.3%)</a:t>
                      </a:r>
                      <a:endParaRPr sz="1600" dirty="0">
                        <a:solidFill>
                          <a:srgbClr val="FF0000"/>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0"/>
                        </a:lnSpc>
                      </a:pPr>
                      <a:r>
                        <a:rPr sz="1600" spc="10" dirty="0">
                          <a:solidFill>
                            <a:srgbClr val="FF0000"/>
                          </a:solidFill>
                          <a:latin typeface="Arial"/>
                          <a:cs typeface="Arial"/>
                        </a:rPr>
                        <a:t>6(31.6%)</a:t>
                      </a:r>
                      <a:endParaRPr sz="1600" dirty="0">
                        <a:solidFill>
                          <a:srgbClr val="FF0000"/>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49885">
                        <a:lnSpc>
                          <a:spcPts val="1295"/>
                        </a:lnSpc>
                      </a:pPr>
                      <a:r>
                        <a:rPr sz="1600" b="1" spc="10" dirty="0">
                          <a:solidFill>
                            <a:srgbClr val="FF0000"/>
                          </a:solidFill>
                          <a:latin typeface="Arial"/>
                          <a:cs typeface="Arial"/>
                        </a:rPr>
                        <a:t>16(32%)</a:t>
                      </a:r>
                      <a:endParaRPr sz="1600" dirty="0">
                        <a:solidFill>
                          <a:srgbClr val="FF0000"/>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9464">
                <a:tc>
                  <a:txBody>
                    <a:bodyPr/>
                    <a:lstStyle/>
                    <a:p>
                      <a:pPr marL="64769">
                        <a:lnSpc>
                          <a:spcPts val="1295"/>
                        </a:lnSpc>
                      </a:pPr>
                      <a:r>
                        <a:rPr sz="1600" b="1" spc="10" dirty="0">
                          <a:latin typeface="Arial"/>
                          <a:cs typeface="Arial"/>
                        </a:rPr>
                        <a:t>&gt;50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latin typeface="Arial"/>
                          <a:cs typeface="Arial"/>
                        </a:rPr>
                        <a:t>3(9.7%)</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latin typeface="Arial"/>
                          <a:cs typeface="Arial"/>
                        </a:rPr>
                        <a:t>2(10.5%)</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89890">
                        <a:lnSpc>
                          <a:spcPts val="1295"/>
                        </a:lnSpc>
                      </a:pPr>
                      <a:r>
                        <a:rPr sz="1600" b="1" spc="10" dirty="0">
                          <a:latin typeface="Arial"/>
                          <a:cs typeface="Arial"/>
                        </a:rPr>
                        <a:t>5(10%)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07932">
                <a:tc>
                  <a:txBody>
                    <a:bodyPr/>
                    <a:lstStyle/>
                    <a:p>
                      <a:pPr marL="64769">
                        <a:lnSpc>
                          <a:spcPts val="1300"/>
                        </a:lnSpc>
                      </a:pPr>
                      <a:r>
                        <a:rPr sz="1600" b="1" spc="10" dirty="0">
                          <a:latin typeface="Arial"/>
                          <a:cs typeface="Arial"/>
                        </a:rPr>
                        <a:t>Total</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00"/>
                        </a:lnSpc>
                      </a:pPr>
                      <a:r>
                        <a:rPr sz="1600" b="1" spc="10" dirty="0">
                          <a:latin typeface="Arial"/>
                          <a:cs typeface="Arial"/>
                        </a:rPr>
                        <a:t>31(100%)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00"/>
                        </a:lnSpc>
                      </a:pPr>
                      <a:r>
                        <a:rPr sz="1600" b="1" spc="10" dirty="0">
                          <a:latin typeface="Arial"/>
                          <a:cs typeface="Arial"/>
                        </a:rPr>
                        <a:t>19(100%)</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09880">
                        <a:lnSpc>
                          <a:spcPts val="1300"/>
                        </a:lnSpc>
                      </a:pPr>
                      <a:r>
                        <a:rPr sz="1600" b="1" spc="10" dirty="0">
                          <a:latin typeface="Arial"/>
                          <a:cs typeface="Arial"/>
                        </a:rPr>
                        <a:t>50(100%)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570372">
                <a:tc>
                  <a:txBody>
                    <a:bodyPr/>
                    <a:lstStyle/>
                    <a:p>
                      <a:pPr marL="64769">
                        <a:lnSpc>
                          <a:spcPct val="100000"/>
                        </a:lnSpc>
                      </a:pPr>
                      <a:r>
                        <a:rPr sz="1600" b="1" spc="15" dirty="0">
                          <a:latin typeface="Arial"/>
                          <a:cs typeface="Arial"/>
                        </a:rPr>
                        <a:t>Mean </a:t>
                      </a:r>
                      <a:r>
                        <a:rPr sz="1600" b="1" spc="55" dirty="0">
                          <a:latin typeface="Arial"/>
                          <a:cs typeface="Arial"/>
                        </a:rPr>
                        <a:t>±</a:t>
                      </a:r>
                      <a:r>
                        <a:rPr sz="1600" b="1" spc="-65" dirty="0">
                          <a:latin typeface="Arial"/>
                          <a:cs typeface="Arial"/>
                        </a:rPr>
                        <a:t> </a:t>
                      </a:r>
                      <a:r>
                        <a:rPr sz="1600" b="1" spc="20" dirty="0">
                          <a:latin typeface="Arial"/>
                          <a:cs typeface="Arial"/>
                        </a:rPr>
                        <a:t>SD</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b="1" spc="10" dirty="0">
                          <a:latin typeface="Arial"/>
                          <a:cs typeface="Arial"/>
                        </a:rPr>
                        <a:t>39.87±9.89</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b="1" spc="10" dirty="0">
                          <a:latin typeface="Arial"/>
                          <a:cs typeface="Arial"/>
                        </a:rPr>
                        <a:t>40.00±9.36</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2255">
                        <a:lnSpc>
                          <a:spcPts val="1295"/>
                        </a:lnSpc>
                      </a:pPr>
                      <a:r>
                        <a:rPr sz="1600" b="1" spc="10" dirty="0">
                          <a:latin typeface="Arial"/>
                          <a:cs typeface="Arial"/>
                        </a:rPr>
                        <a:t>39.92±9.59</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
        <p:nvSpPr>
          <p:cNvPr id="4" name="object 6">
            <a:extLst>
              <a:ext uri="{FF2B5EF4-FFF2-40B4-BE49-F238E27FC236}">
                <a16:creationId xmlns:a16="http://schemas.microsoft.com/office/drawing/2014/main" id="{12078479-6168-E9C6-4573-1B00087AA175}"/>
              </a:ext>
            </a:extLst>
          </p:cNvPr>
          <p:cNvSpPr/>
          <p:nvPr/>
        </p:nvSpPr>
        <p:spPr>
          <a:xfrm>
            <a:off x="6610866" y="3496530"/>
            <a:ext cx="4839304" cy="3167106"/>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249675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DB967-656C-C1C3-F825-6D83E5CB1AE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86AFB95-B5C7-AF9A-0151-3ACE21D48141}"/>
              </a:ext>
            </a:extLst>
          </p:cNvPr>
          <p:cNvSpPr txBox="1">
            <a:spLocks noGrp="1"/>
          </p:cNvSpPr>
          <p:nvPr>
            <p:ph type="title"/>
          </p:nvPr>
        </p:nvSpPr>
        <p:spPr>
          <a:prstGeom prst="rect">
            <a:avLst/>
          </a:prstGeom>
        </p:spPr>
        <p:txBody>
          <a:bodyPr anchor="ctr">
            <a:normAutofit/>
          </a:bodyPr>
          <a:lstStyle/>
          <a:p>
            <a:pPr algn="ctr"/>
            <a:r>
              <a:rPr lang="en-IN" dirty="0"/>
              <a:t>DEMOGRAPHICS</a:t>
            </a:r>
            <a:endParaRPr lang="en-IN" dirty="0">
              <a:solidFill>
                <a:srgbClr val="FFFFFF"/>
              </a:solidFill>
            </a:endParaRPr>
          </a:p>
        </p:txBody>
      </p:sp>
      <p:graphicFrame>
        <p:nvGraphicFramePr>
          <p:cNvPr id="5" name="object 3">
            <a:extLst>
              <a:ext uri="{FF2B5EF4-FFF2-40B4-BE49-F238E27FC236}">
                <a16:creationId xmlns:a16="http://schemas.microsoft.com/office/drawing/2014/main" id="{4FB2B1C3-4A48-33E8-4829-5568CD023FC7}"/>
              </a:ext>
            </a:extLst>
          </p:cNvPr>
          <p:cNvGraphicFramePr>
            <a:graphicFrameLocks noGrp="1"/>
          </p:cNvGraphicFramePr>
          <p:nvPr>
            <p:extLst>
              <p:ext uri="{D42A27DB-BD31-4B8C-83A1-F6EECF244321}">
                <p14:modId xmlns:p14="http://schemas.microsoft.com/office/powerpoint/2010/main" val="2532774136"/>
              </p:ext>
            </p:extLst>
          </p:nvPr>
        </p:nvGraphicFramePr>
        <p:xfrm>
          <a:off x="526952" y="1994815"/>
          <a:ext cx="5740402" cy="2336037"/>
        </p:xfrm>
        <a:graphic>
          <a:graphicData uri="http://schemas.openxmlformats.org/drawingml/2006/table">
            <a:tbl>
              <a:tblPr firstRow="1" bandRow="1">
                <a:tableStyleId>{2D5ABB26-0587-4C30-8999-92F81FD0307C}</a:tableStyleId>
              </a:tblPr>
              <a:tblGrid>
                <a:gridCol w="1560059">
                  <a:extLst>
                    <a:ext uri="{9D8B030D-6E8A-4147-A177-3AD203B41FA5}">
                      <a16:colId xmlns:a16="http://schemas.microsoft.com/office/drawing/2014/main" val="20000"/>
                    </a:ext>
                  </a:extLst>
                </a:gridCol>
                <a:gridCol w="1310142">
                  <a:extLst>
                    <a:ext uri="{9D8B030D-6E8A-4147-A177-3AD203B41FA5}">
                      <a16:colId xmlns:a16="http://schemas.microsoft.com/office/drawing/2014/main" val="20001"/>
                    </a:ext>
                  </a:extLst>
                </a:gridCol>
                <a:gridCol w="1545493">
                  <a:extLst>
                    <a:ext uri="{9D8B030D-6E8A-4147-A177-3AD203B41FA5}">
                      <a16:colId xmlns:a16="http://schemas.microsoft.com/office/drawing/2014/main" val="20002"/>
                    </a:ext>
                  </a:extLst>
                </a:gridCol>
                <a:gridCol w="1324708">
                  <a:extLst>
                    <a:ext uri="{9D8B030D-6E8A-4147-A177-3AD203B41FA5}">
                      <a16:colId xmlns:a16="http://schemas.microsoft.com/office/drawing/2014/main" val="20003"/>
                    </a:ext>
                  </a:extLst>
                </a:gridCol>
              </a:tblGrid>
              <a:tr h="584010">
                <a:tc>
                  <a:txBody>
                    <a:bodyPr/>
                    <a:lstStyle/>
                    <a:p>
                      <a:pPr marL="64769">
                        <a:lnSpc>
                          <a:spcPts val="1295"/>
                        </a:lnSpc>
                      </a:pPr>
                      <a:r>
                        <a:rPr sz="1600" b="1" spc="15" dirty="0">
                          <a:latin typeface="Arial"/>
                          <a:cs typeface="Arial"/>
                        </a:rPr>
                        <a:t>Mode </a:t>
                      </a:r>
                      <a:r>
                        <a:rPr sz="1600" b="1" spc="10" dirty="0">
                          <a:latin typeface="Arial"/>
                          <a:cs typeface="Arial"/>
                        </a:rPr>
                        <a:t>of</a:t>
                      </a:r>
                      <a:r>
                        <a:rPr sz="1600" b="1" spc="-30" dirty="0">
                          <a:latin typeface="Arial"/>
                          <a:cs typeface="Arial"/>
                        </a:rPr>
                        <a:t> </a:t>
                      </a:r>
                      <a:r>
                        <a:rPr sz="1600" b="1" spc="10" dirty="0">
                          <a:latin typeface="Arial"/>
                          <a:cs typeface="Arial"/>
                        </a:rPr>
                        <a:t>injury</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635" algn="ctr">
                        <a:lnSpc>
                          <a:spcPct val="100000"/>
                        </a:lnSpc>
                      </a:pPr>
                      <a:r>
                        <a:rPr sz="1600" b="1" spc="10" dirty="0">
                          <a:latin typeface="Arial"/>
                          <a:cs typeface="Arial"/>
                        </a:rPr>
                        <a:t>Plating</a:t>
                      </a:r>
                      <a:r>
                        <a:rPr sz="1600" b="1" spc="-25" dirty="0">
                          <a:latin typeface="Arial"/>
                          <a:cs typeface="Arial"/>
                        </a:rPr>
                        <a:t> </a:t>
                      </a:r>
                      <a:r>
                        <a:rPr sz="1600" b="1" spc="10" dirty="0">
                          <a:latin typeface="Arial"/>
                          <a:cs typeface="Arial"/>
                        </a:rPr>
                        <a:t>Group</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algn="ctr">
                        <a:lnSpc>
                          <a:spcPts val="1295"/>
                        </a:lnSpc>
                      </a:pPr>
                      <a:r>
                        <a:rPr sz="1600" b="1" spc="10" dirty="0">
                          <a:latin typeface="Arial"/>
                          <a:cs typeface="Arial"/>
                        </a:rPr>
                        <a:t>Nailing</a:t>
                      </a:r>
                      <a:r>
                        <a:rPr sz="1600" b="1" spc="-10" dirty="0">
                          <a:latin typeface="Arial"/>
                          <a:cs typeface="Arial"/>
                        </a:rPr>
                        <a:t> </a:t>
                      </a:r>
                      <a:r>
                        <a:rPr sz="1600" b="1" spc="15" dirty="0">
                          <a:latin typeface="Arial"/>
                          <a:cs typeface="Arial"/>
                        </a:rPr>
                        <a:t>Group</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635" algn="ctr">
                        <a:lnSpc>
                          <a:spcPts val="1295"/>
                        </a:lnSpc>
                      </a:pPr>
                      <a:r>
                        <a:rPr sz="1600" b="1" spc="10" dirty="0">
                          <a:latin typeface="Arial"/>
                          <a:cs typeface="Arial"/>
                        </a:rPr>
                        <a:t>Total</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extLst>
                  <a:ext uri="{0D108BD9-81ED-4DB2-BD59-A6C34878D82A}">
                    <a16:rowId xmlns:a16="http://schemas.microsoft.com/office/drawing/2014/main" val="10000"/>
                  </a:ext>
                </a:extLst>
              </a:tr>
              <a:tr h="584672">
                <a:tc>
                  <a:txBody>
                    <a:bodyPr/>
                    <a:lstStyle/>
                    <a:p>
                      <a:pPr marL="64769">
                        <a:lnSpc>
                          <a:spcPts val="1300"/>
                        </a:lnSpc>
                      </a:pPr>
                      <a:r>
                        <a:rPr sz="1600" b="1" spc="5" dirty="0">
                          <a:latin typeface="Arial"/>
                          <a:cs typeface="Arial"/>
                        </a:rPr>
                        <a:t>Fall</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latin typeface="Arial"/>
                          <a:cs typeface="Arial"/>
                        </a:rPr>
                        <a:t>2(6.5%)</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latin typeface="Arial"/>
                          <a:cs typeface="Arial"/>
                        </a:rPr>
                        <a:t>1(5.3%)</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00"/>
                        </a:lnSpc>
                      </a:pPr>
                      <a:r>
                        <a:rPr sz="1600" b="1" spc="10" dirty="0">
                          <a:latin typeface="Arial"/>
                          <a:cs typeface="Arial"/>
                        </a:rPr>
                        <a:t>3(6%)</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584010">
                <a:tc>
                  <a:txBody>
                    <a:bodyPr/>
                    <a:lstStyle/>
                    <a:p>
                      <a:pPr marL="64769">
                        <a:lnSpc>
                          <a:spcPts val="1300"/>
                        </a:lnSpc>
                      </a:pPr>
                      <a:r>
                        <a:rPr sz="1600" b="1" spc="15" dirty="0">
                          <a:solidFill>
                            <a:schemeClr val="tx1"/>
                          </a:solidFill>
                          <a:latin typeface="Arial"/>
                          <a:cs typeface="Arial"/>
                        </a:rPr>
                        <a:t>RTA</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solidFill>
                            <a:schemeClr val="tx1"/>
                          </a:solidFill>
                          <a:latin typeface="Arial"/>
                          <a:cs typeface="Arial"/>
                        </a:rPr>
                        <a:t>29(93.5%)</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solidFill>
                            <a:schemeClr val="tx1"/>
                          </a:solidFill>
                          <a:latin typeface="Arial"/>
                          <a:cs typeface="Arial"/>
                        </a:rPr>
                        <a:t>18(94.7%)</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00"/>
                        </a:lnSpc>
                      </a:pPr>
                      <a:r>
                        <a:rPr sz="1600" b="1" spc="10" dirty="0">
                          <a:solidFill>
                            <a:schemeClr val="tx1"/>
                          </a:solidFill>
                          <a:latin typeface="Arial"/>
                          <a:cs typeface="Arial"/>
                        </a:rPr>
                        <a:t>47(94%)</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583345">
                <a:tc>
                  <a:txBody>
                    <a:bodyPr/>
                    <a:lstStyle/>
                    <a:p>
                      <a:pPr marL="64769">
                        <a:lnSpc>
                          <a:spcPts val="1295"/>
                        </a:lnSpc>
                      </a:pPr>
                      <a:r>
                        <a:rPr sz="1600" b="1" spc="10" dirty="0">
                          <a:latin typeface="Arial"/>
                          <a:cs typeface="Arial"/>
                        </a:rPr>
                        <a:t>Total</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b="1" spc="10" dirty="0">
                          <a:latin typeface="Arial"/>
                          <a:cs typeface="Arial"/>
                        </a:rPr>
                        <a:t>31(100%)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b="1" spc="10" dirty="0">
                          <a:latin typeface="Arial"/>
                          <a:cs typeface="Arial"/>
                        </a:rPr>
                        <a:t>19(100%)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b="1" spc="10" dirty="0">
                          <a:latin typeface="Arial"/>
                          <a:cs typeface="Arial"/>
                        </a:rPr>
                        <a:t>50(100%)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7" name="object 6">
            <a:extLst>
              <a:ext uri="{FF2B5EF4-FFF2-40B4-BE49-F238E27FC236}">
                <a16:creationId xmlns:a16="http://schemas.microsoft.com/office/drawing/2014/main" id="{615B2C7F-E969-24FD-F774-73335B115B3F}"/>
              </a:ext>
            </a:extLst>
          </p:cNvPr>
          <p:cNvSpPr/>
          <p:nvPr/>
        </p:nvSpPr>
        <p:spPr>
          <a:xfrm>
            <a:off x="6620422" y="1976444"/>
            <a:ext cx="5044625" cy="2198686"/>
          </a:xfrm>
          <a:prstGeom prst="rect">
            <a:avLst/>
          </a:prstGeom>
          <a:blipFill>
            <a:blip r:embed="rId3" cstate="print"/>
            <a:stretch>
              <a:fillRect/>
            </a:stretch>
          </a:blipFill>
        </p:spPr>
        <p:txBody>
          <a:bodyPr wrap="square" lIns="0" tIns="0" rIns="0" bIns="0" rtlCol="0"/>
          <a:lstStyle/>
          <a:p>
            <a:endParaRPr dirty="0"/>
          </a:p>
        </p:txBody>
      </p:sp>
      <p:graphicFrame>
        <p:nvGraphicFramePr>
          <p:cNvPr id="8" name="object 3">
            <a:extLst>
              <a:ext uri="{FF2B5EF4-FFF2-40B4-BE49-F238E27FC236}">
                <a16:creationId xmlns:a16="http://schemas.microsoft.com/office/drawing/2014/main" id="{E8BFFCC8-5C9E-5D1A-214B-0A91047A8586}"/>
              </a:ext>
            </a:extLst>
          </p:cNvPr>
          <p:cNvGraphicFramePr>
            <a:graphicFrameLocks noGrp="1"/>
          </p:cNvGraphicFramePr>
          <p:nvPr>
            <p:extLst>
              <p:ext uri="{D42A27DB-BD31-4B8C-83A1-F6EECF244321}">
                <p14:modId xmlns:p14="http://schemas.microsoft.com/office/powerpoint/2010/main" val="2371927067"/>
              </p:ext>
            </p:extLst>
          </p:nvPr>
        </p:nvGraphicFramePr>
        <p:xfrm>
          <a:off x="529463" y="4494978"/>
          <a:ext cx="5737891" cy="2012438"/>
        </p:xfrm>
        <a:graphic>
          <a:graphicData uri="http://schemas.openxmlformats.org/drawingml/2006/table">
            <a:tbl>
              <a:tblPr firstRow="1" bandRow="1">
                <a:tableStyleId>{2D5ABB26-0587-4C30-8999-92F81FD0307C}</a:tableStyleId>
              </a:tblPr>
              <a:tblGrid>
                <a:gridCol w="943793">
                  <a:extLst>
                    <a:ext uri="{9D8B030D-6E8A-4147-A177-3AD203B41FA5}">
                      <a16:colId xmlns:a16="http://schemas.microsoft.com/office/drawing/2014/main" val="20000"/>
                    </a:ext>
                  </a:extLst>
                </a:gridCol>
                <a:gridCol w="1973451">
                  <a:extLst>
                    <a:ext uri="{9D8B030D-6E8A-4147-A177-3AD203B41FA5}">
                      <a16:colId xmlns:a16="http://schemas.microsoft.com/office/drawing/2014/main" val="20001"/>
                    </a:ext>
                  </a:extLst>
                </a:gridCol>
                <a:gridCol w="1635002">
                  <a:extLst>
                    <a:ext uri="{9D8B030D-6E8A-4147-A177-3AD203B41FA5}">
                      <a16:colId xmlns:a16="http://schemas.microsoft.com/office/drawing/2014/main" val="20002"/>
                    </a:ext>
                  </a:extLst>
                </a:gridCol>
                <a:gridCol w="1185645">
                  <a:extLst>
                    <a:ext uri="{9D8B030D-6E8A-4147-A177-3AD203B41FA5}">
                      <a16:colId xmlns:a16="http://schemas.microsoft.com/office/drawing/2014/main" val="20003"/>
                    </a:ext>
                  </a:extLst>
                </a:gridCol>
              </a:tblGrid>
              <a:tr h="503110">
                <a:tc>
                  <a:txBody>
                    <a:bodyPr/>
                    <a:lstStyle/>
                    <a:p>
                      <a:pPr marL="64135">
                        <a:lnSpc>
                          <a:spcPts val="1295"/>
                        </a:lnSpc>
                      </a:pPr>
                      <a:r>
                        <a:rPr sz="1600" b="1" spc="10" dirty="0">
                          <a:latin typeface="Arial"/>
                          <a:cs typeface="Arial"/>
                        </a:rPr>
                        <a:t>Side</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algn="ctr">
                        <a:lnSpc>
                          <a:spcPts val="1295"/>
                        </a:lnSpc>
                      </a:pPr>
                      <a:r>
                        <a:rPr sz="1600" b="1" spc="10" dirty="0">
                          <a:latin typeface="Arial"/>
                          <a:cs typeface="Arial"/>
                        </a:rPr>
                        <a:t>Plating</a:t>
                      </a:r>
                      <a:r>
                        <a:rPr sz="1600" b="1" dirty="0">
                          <a:latin typeface="Arial"/>
                          <a:cs typeface="Arial"/>
                        </a:rPr>
                        <a:t> </a:t>
                      </a:r>
                      <a:r>
                        <a:rPr sz="1600" b="1" spc="10" dirty="0">
                          <a:latin typeface="Arial"/>
                          <a:cs typeface="Arial"/>
                        </a:rPr>
                        <a:t>Group</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algn="ctr">
                        <a:lnSpc>
                          <a:spcPts val="1295"/>
                        </a:lnSpc>
                      </a:pPr>
                      <a:r>
                        <a:rPr sz="1600" b="1" spc="10" dirty="0">
                          <a:latin typeface="Arial"/>
                          <a:cs typeface="Arial"/>
                        </a:rPr>
                        <a:t>Nailing</a:t>
                      </a:r>
                      <a:r>
                        <a:rPr sz="1600" b="1" spc="-5" dirty="0">
                          <a:latin typeface="Arial"/>
                          <a:cs typeface="Arial"/>
                        </a:rPr>
                        <a:t> </a:t>
                      </a:r>
                      <a:r>
                        <a:rPr sz="1600" b="1" spc="15" dirty="0">
                          <a:latin typeface="Arial"/>
                          <a:cs typeface="Arial"/>
                        </a:rPr>
                        <a:t>Group</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algn="ctr">
                        <a:lnSpc>
                          <a:spcPts val="1295"/>
                        </a:lnSpc>
                      </a:pPr>
                      <a:r>
                        <a:rPr sz="1600" b="1" spc="10" dirty="0">
                          <a:latin typeface="Arial"/>
                          <a:cs typeface="Arial"/>
                        </a:rPr>
                        <a:t>Total</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extLst>
                  <a:ext uri="{0D108BD9-81ED-4DB2-BD59-A6C34878D82A}">
                    <a16:rowId xmlns:a16="http://schemas.microsoft.com/office/drawing/2014/main" val="10000"/>
                  </a:ext>
                </a:extLst>
              </a:tr>
              <a:tr h="503680">
                <a:tc>
                  <a:txBody>
                    <a:bodyPr/>
                    <a:lstStyle/>
                    <a:p>
                      <a:pPr marL="64135">
                        <a:lnSpc>
                          <a:spcPts val="1300"/>
                        </a:lnSpc>
                      </a:pPr>
                      <a:r>
                        <a:rPr sz="1600" b="1" spc="10" dirty="0">
                          <a:latin typeface="Arial"/>
                          <a:cs typeface="Arial"/>
                        </a:rPr>
                        <a:t>Left</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a:latin typeface="Arial"/>
                          <a:cs typeface="Arial"/>
                        </a:rPr>
                        <a:t>8(25.8%)</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latin typeface="Arial"/>
                          <a:cs typeface="Arial"/>
                        </a:rPr>
                        <a:t>9(47.4%)</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00"/>
                        </a:lnSpc>
                      </a:pPr>
                      <a:r>
                        <a:rPr sz="1600" b="1" spc="10" dirty="0">
                          <a:latin typeface="Arial"/>
                          <a:cs typeface="Arial"/>
                        </a:rPr>
                        <a:t>17(34%)</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503110">
                <a:tc>
                  <a:txBody>
                    <a:bodyPr/>
                    <a:lstStyle/>
                    <a:p>
                      <a:pPr marL="64135">
                        <a:lnSpc>
                          <a:spcPts val="1300"/>
                        </a:lnSpc>
                      </a:pPr>
                      <a:r>
                        <a:rPr sz="1600" b="1" spc="10" dirty="0">
                          <a:solidFill>
                            <a:schemeClr val="tx1"/>
                          </a:solidFill>
                          <a:latin typeface="Arial"/>
                          <a:cs typeface="Arial"/>
                        </a:rPr>
                        <a:t>Right</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 algn="ctr">
                        <a:lnSpc>
                          <a:spcPts val="1295"/>
                        </a:lnSpc>
                      </a:pPr>
                      <a:r>
                        <a:rPr sz="1600" spc="10">
                          <a:solidFill>
                            <a:schemeClr val="tx1"/>
                          </a:solidFill>
                          <a:latin typeface="Arial"/>
                          <a:cs typeface="Arial"/>
                        </a:rPr>
                        <a:t>23(74.2%)</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solidFill>
                            <a:schemeClr val="tx1"/>
                          </a:solidFill>
                          <a:latin typeface="Arial"/>
                          <a:cs typeface="Arial"/>
                        </a:rPr>
                        <a:t>10(52.6%)</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300"/>
                        </a:lnSpc>
                      </a:pPr>
                      <a:r>
                        <a:rPr sz="1600" b="1" spc="10" dirty="0">
                          <a:solidFill>
                            <a:schemeClr val="tx1"/>
                          </a:solidFill>
                          <a:latin typeface="Arial"/>
                          <a:cs typeface="Arial"/>
                        </a:rPr>
                        <a:t>33(66%)</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502538">
                <a:tc>
                  <a:txBody>
                    <a:bodyPr/>
                    <a:lstStyle/>
                    <a:p>
                      <a:pPr marL="64135">
                        <a:lnSpc>
                          <a:spcPts val="1295"/>
                        </a:lnSpc>
                      </a:pPr>
                      <a:r>
                        <a:rPr sz="1600" b="1" spc="10" dirty="0">
                          <a:latin typeface="Arial"/>
                          <a:cs typeface="Arial"/>
                        </a:rPr>
                        <a:t>Total</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b="1" spc="10" dirty="0">
                          <a:latin typeface="Arial"/>
                          <a:cs typeface="Arial"/>
                        </a:rPr>
                        <a:t>31(100%)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b="1" spc="10" dirty="0">
                          <a:latin typeface="Arial"/>
                          <a:cs typeface="Arial"/>
                        </a:rPr>
                        <a:t>19(100%)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b="1" spc="10" dirty="0">
                          <a:latin typeface="Arial"/>
                          <a:cs typeface="Arial"/>
                        </a:rPr>
                        <a:t>50(100%)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9" name="object 6">
            <a:extLst>
              <a:ext uri="{FF2B5EF4-FFF2-40B4-BE49-F238E27FC236}">
                <a16:creationId xmlns:a16="http://schemas.microsoft.com/office/drawing/2014/main" id="{2520A0E8-55F5-E580-6F85-81FCD595FA47}"/>
              </a:ext>
            </a:extLst>
          </p:cNvPr>
          <p:cNvSpPr/>
          <p:nvPr/>
        </p:nvSpPr>
        <p:spPr>
          <a:xfrm>
            <a:off x="6620423" y="4510216"/>
            <a:ext cx="5042114" cy="2109888"/>
          </a:xfrm>
          <a:prstGeom prst="rect">
            <a:avLst/>
          </a:prstGeom>
          <a:blipFill>
            <a:blip r:embed="rId4" cstate="print"/>
            <a:stretch>
              <a:fillRect/>
            </a:stretch>
          </a:blipFill>
        </p:spPr>
        <p:txBody>
          <a:bodyPr wrap="square" lIns="0" tIns="0" rIns="0" bIns="0" rtlCol="0"/>
          <a:lstStyle/>
          <a:p>
            <a:endParaRPr/>
          </a:p>
        </p:txBody>
      </p:sp>
      <p:sp>
        <p:nvSpPr>
          <p:cNvPr id="13" name="TextBox 12">
            <a:extLst>
              <a:ext uri="{FF2B5EF4-FFF2-40B4-BE49-F238E27FC236}">
                <a16:creationId xmlns:a16="http://schemas.microsoft.com/office/drawing/2014/main" id="{A894EB05-D7BE-8655-E94D-D5A79CDF32B7}"/>
              </a:ext>
            </a:extLst>
          </p:cNvPr>
          <p:cNvSpPr txBox="1"/>
          <p:nvPr/>
        </p:nvSpPr>
        <p:spPr>
          <a:xfrm>
            <a:off x="696229" y="6519773"/>
            <a:ext cx="4622798" cy="276999"/>
          </a:xfrm>
          <a:prstGeom prst="rect">
            <a:avLst/>
          </a:prstGeom>
          <a:noFill/>
        </p:spPr>
        <p:txBody>
          <a:bodyPr wrap="square">
            <a:spAutoFit/>
          </a:bodyPr>
          <a:lstStyle/>
          <a:p>
            <a:pPr marL="12700">
              <a:lnSpc>
                <a:spcPct val="100000"/>
              </a:lnSpc>
              <a:spcBef>
                <a:spcPts val="125"/>
              </a:spcBef>
            </a:pPr>
            <a:r>
              <a:rPr lang="en-GB" sz="1200" spc="10" dirty="0">
                <a:latin typeface="Calibri" panose="020F0502020204030204" pitchFamily="34" charset="0"/>
                <a:cs typeface="Calibri" panose="020F0502020204030204" pitchFamily="34" charset="0"/>
              </a:rPr>
              <a:t>P=1.000, Not </a:t>
            </a:r>
            <a:r>
              <a:rPr lang="en-GB" sz="1200" spc="5" dirty="0">
                <a:latin typeface="Calibri" panose="020F0502020204030204" pitchFamily="34" charset="0"/>
                <a:cs typeface="Calibri" panose="020F0502020204030204" pitchFamily="34" charset="0"/>
              </a:rPr>
              <a:t>Significant, </a:t>
            </a:r>
            <a:r>
              <a:rPr lang="en-GB" sz="1200" spc="10" dirty="0">
                <a:latin typeface="Calibri" panose="020F0502020204030204" pitchFamily="34" charset="0"/>
                <a:cs typeface="Calibri" panose="020F0502020204030204" pitchFamily="34" charset="0"/>
              </a:rPr>
              <a:t>Chi-Square</a:t>
            </a:r>
            <a:r>
              <a:rPr lang="en-GB" sz="1200" spc="5" dirty="0">
                <a:latin typeface="Calibri" panose="020F0502020204030204" pitchFamily="34" charset="0"/>
                <a:cs typeface="Calibri" panose="020F0502020204030204" pitchFamily="34" charset="0"/>
              </a:rPr>
              <a:t> test</a:t>
            </a:r>
            <a:endParaRPr lang="en-GB"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28725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17731057-C1D6-4301-AFE9-48CFF080DAB1}"/>
              </a:ext>
            </a:extLst>
          </p:cNvPr>
          <p:cNvGraphicFramePr>
            <a:graphicFrameLocks noGrp="1"/>
          </p:cNvGraphicFramePr>
          <p:nvPr>
            <p:extLst>
              <p:ext uri="{D42A27DB-BD31-4B8C-83A1-F6EECF244321}">
                <p14:modId xmlns:p14="http://schemas.microsoft.com/office/powerpoint/2010/main" val="742070017"/>
              </p:ext>
            </p:extLst>
          </p:nvPr>
        </p:nvGraphicFramePr>
        <p:xfrm>
          <a:off x="674062" y="1899535"/>
          <a:ext cx="5927835" cy="2459800"/>
        </p:xfrm>
        <a:graphic>
          <a:graphicData uri="http://schemas.openxmlformats.org/drawingml/2006/table">
            <a:tbl>
              <a:tblPr firstRow="1" bandRow="1">
                <a:tableStyleId>{2D5ABB26-0587-4C30-8999-92F81FD0307C}</a:tableStyleId>
              </a:tblPr>
              <a:tblGrid>
                <a:gridCol w="1632524">
                  <a:extLst>
                    <a:ext uri="{9D8B030D-6E8A-4147-A177-3AD203B41FA5}">
                      <a16:colId xmlns:a16="http://schemas.microsoft.com/office/drawing/2014/main" val="20000"/>
                    </a:ext>
                  </a:extLst>
                </a:gridCol>
                <a:gridCol w="1398848">
                  <a:extLst>
                    <a:ext uri="{9D8B030D-6E8A-4147-A177-3AD203B41FA5}">
                      <a16:colId xmlns:a16="http://schemas.microsoft.com/office/drawing/2014/main" val="20001"/>
                    </a:ext>
                  </a:extLst>
                </a:gridCol>
                <a:gridCol w="1431769">
                  <a:extLst>
                    <a:ext uri="{9D8B030D-6E8A-4147-A177-3AD203B41FA5}">
                      <a16:colId xmlns:a16="http://schemas.microsoft.com/office/drawing/2014/main" val="20002"/>
                    </a:ext>
                  </a:extLst>
                </a:gridCol>
                <a:gridCol w="1464694">
                  <a:extLst>
                    <a:ext uri="{9D8B030D-6E8A-4147-A177-3AD203B41FA5}">
                      <a16:colId xmlns:a16="http://schemas.microsoft.com/office/drawing/2014/main" val="20003"/>
                    </a:ext>
                  </a:extLst>
                </a:gridCol>
              </a:tblGrid>
              <a:tr h="581488">
                <a:tc>
                  <a:txBody>
                    <a:bodyPr/>
                    <a:lstStyle/>
                    <a:p>
                      <a:pPr marL="64135" algn="ctr">
                        <a:lnSpc>
                          <a:spcPts val="1295"/>
                        </a:lnSpc>
                      </a:pPr>
                      <a:r>
                        <a:rPr sz="1600" b="1" spc="10" dirty="0">
                          <a:latin typeface="Arial"/>
                          <a:cs typeface="Arial"/>
                        </a:rPr>
                        <a:t>Open</a:t>
                      </a:r>
                      <a:r>
                        <a:rPr sz="1600" b="1" spc="-10" dirty="0">
                          <a:latin typeface="Arial"/>
                          <a:cs typeface="Arial"/>
                        </a:rPr>
                        <a:t> </a:t>
                      </a:r>
                      <a:r>
                        <a:rPr sz="1600" b="1" spc="10" dirty="0">
                          <a:latin typeface="Arial"/>
                          <a:cs typeface="Arial"/>
                        </a:rPr>
                        <a:t>/Closed</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R="21590" algn="ctr">
                        <a:lnSpc>
                          <a:spcPts val="1295"/>
                        </a:lnSpc>
                      </a:pPr>
                      <a:r>
                        <a:rPr sz="1600" b="1" spc="10" dirty="0">
                          <a:latin typeface="Arial"/>
                          <a:cs typeface="Arial"/>
                        </a:rPr>
                        <a:t>Plating</a:t>
                      </a:r>
                      <a:r>
                        <a:rPr sz="1600" b="1" spc="-20" dirty="0">
                          <a:latin typeface="Arial"/>
                          <a:cs typeface="Arial"/>
                        </a:rPr>
                        <a:t> </a:t>
                      </a:r>
                      <a:r>
                        <a:rPr sz="1600" b="1" spc="10" dirty="0">
                          <a:latin typeface="Arial"/>
                          <a:cs typeface="Arial"/>
                        </a:rPr>
                        <a:t>Group</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R="48260" algn="ctr">
                        <a:lnSpc>
                          <a:spcPts val="1295"/>
                        </a:lnSpc>
                      </a:pPr>
                      <a:r>
                        <a:rPr sz="1600" b="1" spc="10" dirty="0">
                          <a:latin typeface="Arial"/>
                          <a:cs typeface="Arial"/>
                        </a:rPr>
                        <a:t>Nailing</a:t>
                      </a:r>
                      <a:r>
                        <a:rPr sz="1600" b="1" spc="-20" dirty="0">
                          <a:latin typeface="Arial"/>
                          <a:cs typeface="Arial"/>
                        </a:rPr>
                        <a:t> </a:t>
                      </a:r>
                      <a:r>
                        <a:rPr sz="1600" b="1" spc="15" dirty="0">
                          <a:latin typeface="Arial"/>
                          <a:cs typeface="Arial"/>
                        </a:rPr>
                        <a:t>Group</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64769" algn="ctr">
                        <a:lnSpc>
                          <a:spcPts val="1295"/>
                        </a:lnSpc>
                      </a:pPr>
                      <a:r>
                        <a:rPr sz="1600" b="1" spc="10" dirty="0">
                          <a:latin typeface="Arial"/>
                          <a:cs typeface="Arial"/>
                        </a:rPr>
                        <a:t>Total</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extLst>
                  <a:ext uri="{0D108BD9-81ED-4DB2-BD59-A6C34878D82A}">
                    <a16:rowId xmlns:a16="http://schemas.microsoft.com/office/drawing/2014/main" val="10000"/>
                  </a:ext>
                </a:extLst>
              </a:tr>
              <a:tr h="505492">
                <a:tc>
                  <a:txBody>
                    <a:bodyPr/>
                    <a:lstStyle/>
                    <a:p>
                      <a:pPr marL="64135" algn="ctr">
                        <a:lnSpc>
                          <a:spcPts val="1300"/>
                        </a:lnSpc>
                      </a:pPr>
                      <a:r>
                        <a:rPr sz="1600" b="1" spc="15" dirty="0">
                          <a:latin typeface="Arial"/>
                          <a:cs typeface="Arial"/>
                        </a:rPr>
                        <a:t>Closed</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295"/>
                        </a:lnSpc>
                      </a:pPr>
                      <a:r>
                        <a:rPr sz="1600" spc="10" dirty="0">
                          <a:latin typeface="Arial"/>
                          <a:cs typeface="Arial"/>
                        </a:rPr>
                        <a:t>26(83.9%)</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spc="10" dirty="0">
                          <a:latin typeface="Arial"/>
                          <a:cs typeface="Arial"/>
                        </a:rPr>
                        <a:t>16(84.2%)</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07340" algn="ctr">
                        <a:lnSpc>
                          <a:spcPts val="1295"/>
                        </a:lnSpc>
                      </a:pPr>
                      <a:r>
                        <a:rPr sz="1600" spc="15" dirty="0">
                          <a:latin typeface="Arial"/>
                          <a:cs typeface="Arial"/>
                        </a:rPr>
                        <a:t>42(84%)</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886428">
                <a:tc>
                  <a:txBody>
                    <a:bodyPr/>
                    <a:lstStyle/>
                    <a:p>
                      <a:pPr marL="64135" algn="ctr">
                        <a:lnSpc>
                          <a:spcPts val="1300"/>
                        </a:lnSpc>
                      </a:pPr>
                      <a:r>
                        <a:rPr lang="en-IN" sz="1600" b="1" spc="15" dirty="0">
                          <a:latin typeface="Arial"/>
                          <a:cs typeface="Arial"/>
                        </a:rPr>
                        <a:t>Open</a:t>
                      </a:r>
                      <a:endParaRPr lang="en-IN"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lang="en-IN" sz="1600" spc="10" dirty="0">
                          <a:latin typeface="Arial"/>
                          <a:cs typeface="Arial"/>
                        </a:rPr>
                        <a:t>5(16.1%)</a:t>
                      </a:r>
                    </a:p>
                    <a:p>
                      <a:pPr algn="ctr">
                        <a:lnSpc>
                          <a:spcPct val="100000"/>
                        </a:lnSpc>
                      </a:pPr>
                      <a:r>
                        <a:rPr lang="en-IN" sz="1400" spc="10" dirty="0">
                          <a:solidFill>
                            <a:schemeClr val="accent3">
                              <a:lumMod val="75000"/>
                            </a:schemeClr>
                          </a:solidFill>
                          <a:latin typeface="Arial"/>
                          <a:cs typeface="Arial"/>
                        </a:rPr>
                        <a:t>Type I - 1  </a:t>
                      </a:r>
                    </a:p>
                    <a:p>
                      <a:pPr algn="ctr">
                        <a:lnSpc>
                          <a:spcPct val="100000"/>
                        </a:lnSpc>
                      </a:pPr>
                      <a:r>
                        <a:rPr lang="en-IN" sz="1400" spc="10" dirty="0">
                          <a:solidFill>
                            <a:schemeClr val="accent3">
                              <a:lumMod val="75000"/>
                            </a:schemeClr>
                          </a:solidFill>
                          <a:latin typeface="Arial"/>
                          <a:cs typeface="Arial"/>
                        </a:rPr>
                        <a:t>Type II -4</a:t>
                      </a:r>
                      <a:endParaRPr lang="en-IN" sz="1400" dirty="0">
                        <a:solidFill>
                          <a:schemeClr val="accent3">
                            <a:lumMod val="75000"/>
                          </a:schemeClr>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295"/>
                        </a:lnSpc>
                      </a:pPr>
                      <a:r>
                        <a:rPr sz="1600" spc="10" dirty="0">
                          <a:latin typeface="Arial"/>
                          <a:cs typeface="Arial"/>
                        </a:rPr>
                        <a:t>3(15.8%)</a:t>
                      </a:r>
                      <a:endParaRPr lang="en-IN" sz="1600" spc="10" dirty="0">
                        <a:latin typeface="Arial"/>
                        <a:cs typeface="Arial"/>
                      </a:endParaRPr>
                    </a:p>
                    <a:p>
                      <a:pPr algn="ctr">
                        <a:lnSpc>
                          <a:spcPct val="100000"/>
                        </a:lnSpc>
                      </a:pPr>
                      <a:r>
                        <a:rPr lang="en-IN" sz="1400" spc="10" dirty="0">
                          <a:solidFill>
                            <a:schemeClr val="accent3">
                              <a:lumMod val="75000"/>
                            </a:schemeClr>
                          </a:solidFill>
                          <a:latin typeface="Arial"/>
                          <a:cs typeface="Arial"/>
                        </a:rPr>
                        <a:t>Type I - 2  </a:t>
                      </a:r>
                    </a:p>
                    <a:p>
                      <a:pPr algn="ctr">
                        <a:lnSpc>
                          <a:spcPct val="100000"/>
                        </a:lnSpc>
                      </a:pPr>
                      <a:r>
                        <a:rPr lang="en-IN" sz="1400" spc="10" dirty="0">
                          <a:solidFill>
                            <a:schemeClr val="accent3">
                              <a:lumMod val="75000"/>
                            </a:schemeClr>
                          </a:solidFill>
                          <a:latin typeface="Arial"/>
                          <a:cs typeface="Arial"/>
                        </a:rPr>
                        <a:t>Type II -1</a:t>
                      </a:r>
                      <a:endParaRPr sz="14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47980" algn="ctr">
                        <a:lnSpc>
                          <a:spcPts val="1295"/>
                        </a:lnSpc>
                      </a:pPr>
                      <a:r>
                        <a:rPr sz="1600" spc="10" dirty="0">
                          <a:latin typeface="Arial"/>
                          <a:cs typeface="Arial"/>
                        </a:rPr>
                        <a:t>8(16%)</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6392">
                <a:tc>
                  <a:txBody>
                    <a:bodyPr/>
                    <a:lstStyle/>
                    <a:p>
                      <a:pPr marL="64135" algn="ctr">
                        <a:lnSpc>
                          <a:spcPts val="1295"/>
                        </a:lnSpc>
                      </a:pPr>
                      <a:r>
                        <a:rPr sz="1600" b="1" spc="10" dirty="0">
                          <a:latin typeface="Arial"/>
                          <a:cs typeface="Arial"/>
                        </a:rPr>
                        <a:t>Total</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b="1" spc="10" dirty="0">
                          <a:latin typeface="Arial"/>
                          <a:cs typeface="Arial"/>
                        </a:rPr>
                        <a:t>31(100%)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295"/>
                        </a:lnSpc>
                      </a:pPr>
                      <a:r>
                        <a:rPr sz="1600" b="1" spc="10" dirty="0">
                          <a:latin typeface="Arial"/>
                          <a:cs typeface="Arial"/>
                        </a:rPr>
                        <a:t>19(100%)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8605" algn="ctr">
                        <a:lnSpc>
                          <a:spcPts val="1295"/>
                        </a:lnSpc>
                      </a:pPr>
                      <a:r>
                        <a:rPr sz="1600" b="1" spc="10" dirty="0">
                          <a:latin typeface="Arial"/>
                          <a:cs typeface="Arial"/>
                        </a:rPr>
                        <a:t>50(100%)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5" name="object 6">
            <a:extLst>
              <a:ext uri="{FF2B5EF4-FFF2-40B4-BE49-F238E27FC236}">
                <a16:creationId xmlns:a16="http://schemas.microsoft.com/office/drawing/2014/main" id="{A98BFAB4-5333-45F5-B4B5-438F74EDB8AC}"/>
              </a:ext>
            </a:extLst>
          </p:cNvPr>
          <p:cNvSpPr/>
          <p:nvPr/>
        </p:nvSpPr>
        <p:spPr>
          <a:xfrm>
            <a:off x="7025647" y="2713344"/>
            <a:ext cx="4659518" cy="2969179"/>
          </a:xfrm>
          <a:prstGeom prst="rect">
            <a:avLst/>
          </a:prstGeom>
          <a:blipFill>
            <a:blip r:embed="rId2" cstate="print"/>
            <a:stretch>
              <a:fillRect/>
            </a:stretch>
          </a:blipFill>
        </p:spPr>
        <p:txBody>
          <a:bodyPr wrap="square" lIns="0" tIns="0" rIns="0" bIns="0" rtlCol="0"/>
          <a:lstStyle/>
          <a:p>
            <a:endParaRPr/>
          </a:p>
        </p:txBody>
      </p:sp>
      <p:graphicFrame>
        <p:nvGraphicFramePr>
          <p:cNvPr id="6" name="object 3">
            <a:extLst>
              <a:ext uri="{FF2B5EF4-FFF2-40B4-BE49-F238E27FC236}">
                <a16:creationId xmlns:a16="http://schemas.microsoft.com/office/drawing/2014/main" id="{4EE0E097-A863-42C8-A6B0-16E54D356B0F}"/>
              </a:ext>
            </a:extLst>
          </p:cNvPr>
          <p:cNvGraphicFramePr>
            <a:graphicFrameLocks noGrp="1"/>
          </p:cNvGraphicFramePr>
          <p:nvPr>
            <p:extLst>
              <p:ext uri="{D42A27DB-BD31-4B8C-83A1-F6EECF244321}">
                <p14:modId xmlns:p14="http://schemas.microsoft.com/office/powerpoint/2010/main" val="3780403147"/>
              </p:ext>
            </p:extLst>
          </p:nvPr>
        </p:nvGraphicFramePr>
        <p:xfrm>
          <a:off x="674061" y="4493111"/>
          <a:ext cx="5927835" cy="2268259"/>
        </p:xfrm>
        <a:graphic>
          <a:graphicData uri="http://schemas.openxmlformats.org/drawingml/2006/table">
            <a:tbl>
              <a:tblPr firstRow="1" bandRow="1">
                <a:tableStyleId>{2D5ABB26-0587-4C30-8999-92F81FD0307C}</a:tableStyleId>
              </a:tblPr>
              <a:tblGrid>
                <a:gridCol w="1652465">
                  <a:extLst>
                    <a:ext uri="{9D8B030D-6E8A-4147-A177-3AD203B41FA5}">
                      <a16:colId xmlns:a16="http://schemas.microsoft.com/office/drawing/2014/main" val="20000"/>
                    </a:ext>
                  </a:extLst>
                </a:gridCol>
                <a:gridCol w="1509104">
                  <a:extLst>
                    <a:ext uri="{9D8B030D-6E8A-4147-A177-3AD203B41FA5}">
                      <a16:colId xmlns:a16="http://schemas.microsoft.com/office/drawing/2014/main" val="20001"/>
                    </a:ext>
                  </a:extLst>
                </a:gridCol>
                <a:gridCol w="1527766">
                  <a:extLst>
                    <a:ext uri="{9D8B030D-6E8A-4147-A177-3AD203B41FA5}">
                      <a16:colId xmlns:a16="http://schemas.microsoft.com/office/drawing/2014/main" val="20002"/>
                    </a:ext>
                  </a:extLst>
                </a:gridCol>
                <a:gridCol w="1238500">
                  <a:extLst>
                    <a:ext uri="{9D8B030D-6E8A-4147-A177-3AD203B41FA5}">
                      <a16:colId xmlns:a16="http://schemas.microsoft.com/office/drawing/2014/main" val="20003"/>
                    </a:ext>
                  </a:extLst>
                </a:gridCol>
              </a:tblGrid>
              <a:tr h="617966">
                <a:tc>
                  <a:txBody>
                    <a:bodyPr/>
                    <a:lstStyle/>
                    <a:p>
                      <a:pPr marL="64135">
                        <a:lnSpc>
                          <a:spcPts val="1295"/>
                        </a:lnSpc>
                      </a:pPr>
                      <a:r>
                        <a:rPr sz="1600" b="1" spc="10" dirty="0">
                          <a:latin typeface="Arial"/>
                          <a:cs typeface="Arial"/>
                        </a:rPr>
                        <a:t>Type of</a:t>
                      </a:r>
                      <a:r>
                        <a:rPr sz="1600" b="1" spc="-10" dirty="0">
                          <a:latin typeface="Arial"/>
                          <a:cs typeface="Arial"/>
                        </a:rPr>
                        <a:t> </a:t>
                      </a:r>
                      <a:r>
                        <a:rPr sz="1600" b="1" spc="10" dirty="0">
                          <a:latin typeface="Arial"/>
                          <a:cs typeface="Arial"/>
                        </a:rPr>
                        <a:t>surgery</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64135">
                        <a:lnSpc>
                          <a:spcPts val="1295"/>
                        </a:lnSpc>
                      </a:pPr>
                      <a:r>
                        <a:rPr sz="1600" b="1" spc="10" dirty="0">
                          <a:latin typeface="Arial"/>
                          <a:cs typeface="Arial"/>
                        </a:rPr>
                        <a:t>Plating</a:t>
                      </a:r>
                      <a:r>
                        <a:rPr sz="1600" b="1" spc="-10" dirty="0">
                          <a:latin typeface="Arial"/>
                          <a:cs typeface="Arial"/>
                        </a:rPr>
                        <a:t> </a:t>
                      </a:r>
                      <a:r>
                        <a:rPr sz="1600" b="1" spc="10" dirty="0">
                          <a:latin typeface="Arial"/>
                          <a:cs typeface="Arial"/>
                        </a:rPr>
                        <a:t>Group</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64135">
                        <a:lnSpc>
                          <a:spcPts val="1295"/>
                        </a:lnSpc>
                      </a:pPr>
                      <a:r>
                        <a:rPr sz="1600" b="1" spc="10" dirty="0">
                          <a:latin typeface="Arial"/>
                          <a:cs typeface="Arial"/>
                        </a:rPr>
                        <a:t>Nailing</a:t>
                      </a:r>
                      <a:r>
                        <a:rPr sz="1600" b="1" spc="-15" dirty="0">
                          <a:latin typeface="Arial"/>
                          <a:cs typeface="Arial"/>
                        </a:rPr>
                        <a:t> </a:t>
                      </a:r>
                      <a:r>
                        <a:rPr sz="1600" b="1" spc="10" dirty="0">
                          <a:latin typeface="Arial"/>
                          <a:cs typeface="Arial"/>
                        </a:rPr>
                        <a:t>Group</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64135">
                        <a:lnSpc>
                          <a:spcPts val="1295"/>
                        </a:lnSpc>
                      </a:pPr>
                      <a:r>
                        <a:rPr sz="1600" b="1" spc="10" dirty="0">
                          <a:latin typeface="Arial"/>
                          <a:cs typeface="Arial"/>
                        </a:rPr>
                        <a:t>Total</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extLst>
                  <a:ext uri="{0D108BD9-81ED-4DB2-BD59-A6C34878D82A}">
                    <a16:rowId xmlns:a16="http://schemas.microsoft.com/office/drawing/2014/main" val="10000"/>
                  </a:ext>
                </a:extLst>
              </a:tr>
              <a:tr h="573333">
                <a:tc>
                  <a:txBody>
                    <a:bodyPr/>
                    <a:lstStyle/>
                    <a:p>
                      <a:pPr marL="64135">
                        <a:lnSpc>
                          <a:spcPts val="1295"/>
                        </a:lnSpc>
                      </a:pPr>
                      <a:r>
                        <a:rPr sz="1600" b="1" spc="15" dirty="0">
                          <a:latin typeface="Arial"/>
                          <a:cs typeface="Arial"/>
                        </a:rPr>
                        <a:t>CRIF</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ts val="1290"/>
                        </a:lnSpc>
                      </a:pPr>
                      <a:r>
                        <a:rPr sz="1600" spc="10" dirty="0">
                          <a:latin typeface="Arial"/>
                          <a:cs typeface="Arial"/>
                        </a:rPr>
                        <a:t>19(61.3%)</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00">
                        <a:lnSpc>
                          <a:spcPts val="1290"/>
                        </a:lnSpc>
                      </a:pPr>
                      <a:r>
                        <a:rPr sz="1600" spc="10" dirty="0">
                          <a:latin typeface="Arial"/>
                          <a:cs typeface="Arial"/>
                        </a:rPr>
                        <a:t>14(73.7%)</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ts val="1295"/>
                        </a:lnSpc>
                      </a:pPr>
                      <a:r>
                        <a:rPr sz="1600" b="1" spc="10" dirty="0">
                          <a:latin typeface="Arial"/>
                          <a:cs typeface="Arial"/>
                        </a:rPr>
                        <a:t>33(66%)</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538480">
                <a:tc>
                  <a:txBody>
                    <a:bodyPr/>
                    <a:lstStyle/>
                    <a:p>
                      <a:pPr marL="64135">
                        <a:lnSpc>
                          <a:spcPts val="1300"/>
                        </a:lnSpc>
                      </a:pPr>
                      <a:r>
                        <a:rPr sz="1600" b="1" spc="10" dirty="0">
                          <a:latin typeface="Arial"/>
                          <a:cs typeface="Arial"/>
                        </a:rPr>
                        <a:t>ORIF</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ts val="1295"/>
                        </a:lnSpc>
                      </a:pPr>
                      <a:r>
                        <a:rPr sz="1600" spc="10" dirty="0">
                          <a:latin typeface="Arial"/>
                          <a:cs typeface="Arial"/>
                        </a:rPr>
                        <a:t>12(38.7%)</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ts val="1295"/>
                        </a:lnSpc>
                      </a:pPr>
                      <a:r>
                        <a:rPr sz="1600" spc="10" dirty="0">
                          <a:latin typeface="Arial"/>
                          <a:cs typeface="Arial"/>
                        </a:rPr>
                        <a:t>5(26.3%)</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ts val="1300"/>
                        </a:lnSpc>
                      </a:pPr>
                      <a:r>
                        <a:rPr sz="1600" b="1" spc="10" dirty="0">
                          <a:latin typeface="Arial"/>
                          <a:cs typeface="Arial"/>
                        </a:rPr>
                        <a:t>17(34%)</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538480">
                <a:tc>
                  <a:txBody>
                    <a:bodyPr/>
                    <a:lstStyle/>
                    <a:p>
                      <a:pPr marL="64135">
                        <a:lnSpc>
                          <a:spcPts val="1300"/>
                        </a:lnSpc>
                      </a:pPr>
                      <a:r>
                        <a:rPr sz="1600" b="1" spc="10" dirty="0">
                          <a:latin typeface="Arial"/>
                          <a:cs typeface="Arial"/>
                        </a:rPr>
                        <a:t>Total</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769">
                        <a:lnSpc>
                          <a:spcPts val="1300"/>
                        </a:lnSpc>
                      </a:pPr>
                      <a:r>
                        <a:rPr sz="1600" b="1" spc="10" dirty="0">
                          <a:latin typeface="Arial"/>
                          <a:cs typeface="Arial"/>
                        </a:rPr>
                        <a:t>31(100%)</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769">
                        <a:lnSpc>
                          <a:spcPts val="1300"/>
                        </a:lnSpc>
                      </a:pPr>
                      <a:r>
                        <a:rPr sz="1600" b="1" spc="10" dirty="0">
                          <a:latin typeface="Arial"/>
                          <a:cs typeface="Arial"/>
                        </a:rPr>
                        <a:t>19(100%)</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769">
                        <a:lnSpc>
                          <a:spcPts val="1300"/>
                        </a:lnSpc>
                      </a:pPr>
                      <a:r>
                        <a:rPr sz="1600" b="1" spc="10" dirty="0">
                          <a:latin typeface="Arial"/>
                          <a:cs typeface="Arial"/>
                        </a:rPr>
                        <a:t>50(100%)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11" name="Title 1">
            <a:extLst>
              <a:ext uri="{FF2B5EF4-FFF2-40B4-BE49-F238E27FC236}">
                <a16:creationId xmlns:a16="http://schemas.microsoft.com/office/drawing/2014/main" id="{C8766DD5-603F-C317-22AD-E7343A0DF325}"/>
              </a:ext>
            </a:extLst>
          </p:cNvPr>
          <p:cNvSpPr txBox="1">
            <a:spLocks noGrp="1"/>
          </p:cNvSpPr>
          <p:nvPr>
            <p:ph type="title"/>
          </p:nvPr>
        </p:nvSpPr>
        <p:spPr>
          <a:xfrm>
            <a:off x="581192" y="702156"/>
            <a:ext cx="11029616" cy="1013800"/>
          </a:xfrm>
          <a:prstGeom prst="rect">
            <a:avLst/>
          </a:prstGeom>
        </p:spPr>
        <p:txBody>
          <a:bodyPr anchor="ctr">
            <a:normAutofit/>
          </a:bodyPr>
          <a:lstStyle/>
          <a:p>
            <a:pPr algn="ctr"/>
            <a:r>
              <a:rPr lang="en-IN" dirty="0"/>
              <a:t>DEMOGRAPHICS</a:t>
            </a:r>
            <a:endParaRPr lang="en-IN" dirty="0">
              <a:solidFill>
                <a:srgbClr val="FFFFFF"/>
              </a:solidFill>
            </a:endParaRPr>
          </a:p>
        </p:txBody>
      </p:sp>
    </p:spTree>
    <p:extLst>
      <p:ext uri="{BB962C8B-B14F-4D97-AF65-F5344CB8AC3E}">
        <p14:creationId xmlns:p14="http://schemas.microsoft.com/office/powerpoint/2010/main" val="885213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C290F-971B-4082-BF2C-FEC68AA9AB47}"/>
              </a:ext>
            </a:extLst>
          </p:cNvPr>
          <p:cNvSpPr>
            <a:spLocks noGrp="1"/>
          </p:cNvSpPr>
          <p:nvPr>
            <p:ph type="title"/>
          </p:nvPr>
        </p:nvSpPr>
        <p:spPr>
          <a:xfrm>
            <a:off x="364114" y="554215"/>
            <a:ext cx="11421666" cy="1200329"/>
          </a:xfrm>
        </p:spPr>
        <p:txBody>
          <a:bodyPr anchor="ctr">
            <a:normAutofit/>
          </a:bodyPr>
          <a:lstStyle/>
          <a:p>
            <a:pPr algn="ctr"/>
            <a:r>
              <a:rPr lang="en-IN" dirty="0"/>
              <a:t>COMPLICATIONS</a:t>
            </a:r>
          </a:p>
        </p:txBody>
      </p:sp>
      <p:graphicFrame>
        <p:nvGraphicFramePr>
          <p:cNvPr id="75" name="object 3">
            <a:extLst>
              <a:ext uri="{FF2B5EF4-FFF2-40B4-BE49-F238E27FC236}">
                <a16:creationId xmlns:a16="http://schemas.microsoft.com/office/drawing/2014/main" id="{A9207270-19DE-4522-8DA7-5E80610BE787}"/>
              </a:ext>
            </a:extLst>
          </p:cNvPr>
          <p:cNvGraphicFramePr>
            <a:graphicFrameLocks noGrp="1"/>
          </p:cNvGraphicFramePr>
          <p:nvPr>
            <p:extLst>
              <p:ext uri="{D42A27DB-BD31-4B8C-83A1-F6EECF244321}">
                <p14:modId xmlns:p14="http://schemas.microsoft.com/office/powerpoint/2010/main" val="936874388"/>
              </p:ext>
            </p:extLst>
          </p:nvPr>
        </p:nvGraphicFramePr>
        <p:xfrm>
          <a:off x="2710197" y="2013054"/>
          <a:ext cx="5678667" cy="3369695"/>
        </p:xfrm>
        <a:graphic>
          <a:graphicData uri="http://schemas.openxmlformats.org/drawingml/2006/table">
            <a:tbl>
              <a:tblPr firstRow="1" bandRow="1">
                <a:tableStyleId>{2D5ABB26-0587-4C30-8999-92F81FD0307C}</a:tableStyleId>
              </a:tblPr>
              <a:tblGrid>
                <a:gridCol w="1888537">
                  <a:extLst>
                    <a:ext uri="{9D8B030D-6E8A-4147-A177-3AD203B41FA5}">
                      <a16:colId xmlns:a16="http://schemas.microsoft.com/office/drawing/2014/main" val="20000"/>
                    </a:ext>
                  </a:extLst>
                </a:gridCol>
                <a:gridCol w="1263377">
                  <a:extLst>
                    <a:ext uri="{9D8B030D-6E8A-4147-A177-3AD203B41FA5}">
                      <a16:colId xmlns:a16="http://schemas.microsoft.com/office/drawing/2014/main" val="20001"/>
                    </a:ext>
                  </a:extLst>
                </a:gridCol>
                <a:gridCol w="1263377">
                  <a:extLst>
                    <a:ext uri="{9D8B030D-6E8A-4147-A177-3AD203B41FA5}">
                      <a16:colId xmlns:a16="http://schemas.microsoft.com/office/drawing/2014/main" val="20002"/>
                    </a:ext>
                  </a:extLst>
                </a:gridCol>
                <a:gridCol w="1263376">
                  <a:extLst>
                    <a:ext uri="{9D8B030D-6E8A-4147-A177-3AD203B41FA5}">
                      <a16:colId xmlns:a16="http://schemas.microsoft.com/office/drawing/2014/main" val="20003"/>
                    </a:ext>
                  </a:extLst>
                </a:gridCol>
              </a:tblGrid>
              <a:tr h="1046479">
                <a:tc>
                  <a:txBody>
                    <a:bodyPr/>
                    <a:lstStyle/>
                    <a:p>
                      <a:pPr>
                        <a:lnSpc>
                          <a:spcPct val="100000"/>
                        </a:lnSpc>
                        <a:spcBef>
                          <a:spcPts val="25"/>
                        </a:spcBef>
                      </a:pPr>
                      <a:endParaRPr lang="en-IN" sz="1600" dirty="0">
                        <a:latin typeface="Times New Roman"/>
                        <a:cs typeface="Times New Roman"/>
                      </a:endParaRPr>
                    </a:p>
                    <a:p>
                      <a:pPr marL="64769">
                        <a:lnSpc>
                          <a:spcPct val="100000"/>
                        </a:lnSpc>
                        <a:spcBef>
                          <a:spcPts val="5"/>
                        </a:spcBef>
                      </a:pPr>
                      <a:r>
                        <a:rPr lang="en-IN" sz="1600" b="1" spc="10" dirty="0">
                          <a:latin typeface="Arial"/>
                          <a:cs typeface="Arial"/>
                        </a:rPr>
                        <a:t>Complications</a:t>
                      </a:r>
                      <a:endParaRPr lang="en-IN" sz="1600" dirty="0">
                        <a:latin typeface="Arial"/>
                        <a:cs typeface="Arial"/>
                      </a:endParaRPr>
                    </a:p>
                  </a:txBody>
                  <a:tcPr marL="0" marR="0" marT="3175"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64135">
                        <a:lnSpc>
                          <a:spcPts val="1295"/>
                        </a:lnSpc>
                      </a:pPr>
                      <a:r>
                        <a:rPr sz="1600" b="1" spc="5" dirty="0">
                          <a:latin typeface="Arial"/>
                          <a:cs typeface="Arial"/>
                        </a:rPr>
                        <a:t>Plating</a:t>
                      </a:r>
                      <a:endParaRPr sz="1600" dirty="0">
                        <a:latin typeface="Arial"/>
                        <a:cs typeface="Arial"/>
                      </a:endParaRPr>
                    </a:p>
                    <a:p>
                      <a:pPr marL="64135" marR="357505">
                        <a:lnSpc>
                          <a:spcPct val="147300"/>
                        </a:lnSpc>
                        <a:spcBef>
                          <a:spcPts val="5"/>
                        </a:spcBef>
                      </a:pPr>
                      <a:r>
                        <a:rPr sz="1600" b="1" spc="-5" dirty="0">
                          <a:latin typeface="Arial"/>
                          <a:cs typeface="Arial"/>
                        </a:rPr>
                        <a:t>Group  </a:t>
                      </a:r>
                      <a:r>
                        <a:rPr sz="1600" b="1" dirty="0">
                          <a:latin typeface="Arial"/>
                          <a:cs typeface="Arial"/>
                        </a:rPr>
                        <a:t>(n=</a:t>
                      </a:r>
                      <a:r>
                        <a:rPr sz="1600" b="1" spc="-5" dirty="0">
                          <a:latin typeface="Arial"/>
                          <a:cs typeface="Arial"/>
                        </a:rPr>
                        <a:t>3</a:t>
                      </a:r>
                      <a:r>
                        <a:rPr sz="1600" b="1" spc="5" dirty="0">
                          <a:latin typeface="Arial"/>
                          <a:cs typeface="Arial"/>
                        </a:rPr>
                        <a:t>1</a:t>
                      </a:r>
                      <a:r>
                        <a:rPr sz="1600" b="1" dirty="0">
                          <a:latin typeface="Arial"/>
                          <a:cs typeface="Arial"/>
                        </a:rPr>
                        <a:t>)</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64769">
                        <a:lnSpc>
                          <a:spcPts val="1295"/>
                        </a:lnSpc>
                      </a:pPr>
                      <a:r>
                        <a:rPr sz="1600" b="1" spc="5" dirty="0">
                          <a:latin typeface="Arial"/>
                          <a:cs typeface="Arial"/>
                        </a:rPr>
                        <a:t>Nailing</a:t>
                      </a:r>
                      <a:endParaRPr sz="1600">
                        <a:latin typeface="Arial"/>
                        <a:cs typeface="Arial"/>
                      </a:endParaRPr>
                    </a:p>
                    <a:p>
                      <a:pPr marL="64769" marR="357505">
                        <a:lnSpc>
                          <a:spcPct val="147300"/>
                        </a:lnSpc>
                        <a:spcBef>
                          <a:spcPts val="5"/>
                        </a:spcBef>
                      </a:pPr>
                      <a:r>
                        <a:rPr sz="1600" b="1" spc="-5" dirty="0">
                          <a:latin typeface="Arial"/>
                          <a:cs typeface="Arial"/>
                        </a:rPr>
                        <a:t>Group  </a:t>
                      </a:r>
                      <a:r>
                        <a:rPr sz="1600" b="1" dirty="0">
                          <a:latin typeface="Arial"/>
                          <a:cs typeface="Arial"/>
                        </a:rPr>
                        <a:t>(n=</a:t>
                      </a:r>
                      <a:r>
                        <a:rPr sz="1600" b="1" spc="-5" dirty="0">
                          <a:latin typeface="Arial"/>
                          <a:cs typeface="Arial"/>
                        </a:rPr>
                        <a:t>1</a:t>
                      </a:r>
                      <a:r>
                        <a:rPr sz="1600" b="1" spc="5" dirty="0">
                          <a:latin typeface="Arial"/>
                          <a:cs typeface="Arial"/>
                        </a:rPr>
                        <a:t>9</a:t>
                      </a:r>
                      <a:r>
                        <a:rPr sz="1600" b="1" dirty="0">
                          <a:latin typeface="Arial"/>
                          <a:cs typeface="Arial"/>
                        </a:rPr>
                        <a:t>)</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64769" marR="360680">
                        <a:lnSpc>
                          <a:spcPct val="147300"/>
                        </a:lnSpc>
                        <a:spcBef>
                          <a:spcPts val="325"/>
                        </a:spcBef>
                      </a:pPr>
                      <a:r>
                        <a:rPr sz="1600" b="1" spc="10" dirty="0">
                          <a:latin typeface="Arial"/>
                          <a:cs typeface="Arial"/>
                        </a:rPr>
                        <a:t>Total  </a:t>
                      </a:r>
                      <a:r>
                        <a:rPr sz="1600" b="1" dirty="0">
                          <a:latin typeface="Arial"/>
                          <a:cs typeface="Arial"/>
                        </a:rPr>
                        <a:t>(n=</a:t>
                      </a:r>
                      <a:r>
                        <a:rPr sz="1600" b="1" spc="-5" dirty="0">
                          <a:latin typeface="Arial"/>
                          <a:cs typeface="Arial"/>
                        </a:rPr>
                        <a:t>5</a:t>
                      </a:r>
                      <a:r>
                        <a:rPr sz="1600" b="1" spc="5" dirty="0">
                          <a:latin typeface="Arial"/>
                          <a:cs typeface="Arial"/>
                        </a:rPr>
                        <a:t>0</a:t>
                      </a:r>
                      <a:r>
                        <a:rPr sz="1600" b="1" dirty="0">
                          <a:latin typeface="Arial"/>
                          <a:cs typeface="Arial"/>
                        </a:rPr>
                        <a:t>)</a:t>
                      </a:r>
                      <a:endParaRPr sz="1600" dirty="0">
                        <a:latin typeface="Arial"/>
                        <a:cs typeface="Arial"/>
                      </a:endParaRPr>
                    </a:p>
                  </a:txBody>
                  <a:tcPr marL="0" marR="0" marT="41275"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extLst>
                  <a:ext uri="{0D108BD9-81ED-4DB2-BD59-A6C34878D82A}">
                    <a16:rowId xmlns:a16="http://schemas.microsoft.com/office/drawing/2014/main" val="10000"/>
                  </a:ext>
                </a:extLst>
              </a:tr>
              <a:tr h="465851">
                <a:tc>
                  <a:txBody>
                    <a:bodyPr/>
                    <a:lstStyle/>
                    <a:p>
                      <a:pPr marL="64769">
                        <a:lnSpc>
                          <a:spcPct val="100000"/>
                        </a:lnSpc>
                        <a:spcBef>
                          <a:spcPts val="20"/>
                        </a:spcBef>
                      </a:pPr>
                      <a:r>
                        <a:rPr sz="1600" b="1" spc="5" dirty="0">
                          <a:latin typeface="Arial"/>
                          <a:cs typeface="Arial"/>
                        </a:rPr>
                        <a:t>Nil</a:t>
                      </a:r>
                      <a:endParaRPr sz="1600">
                        <a:latin typeface="Arial"/>
                        <a:cs typeface="Arial"/>
                      </a:endParaRPr>
                    </a:p>
                  </a:txBody>
                  <a:tcPr marL="0" marR="0" marT="254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10"/>
                        </a:spcBef>
                      </a:pPr>
                      <a:r>
                        <a:rPr sz="1600" spc="10" dirty="0">
                          <a:latin typeface="Arial"/>
                          <a:cs typeface="Arial"/>
                        </a:rPr>
                        <a:t>26(83.9%)</a:t>
                      </a:r>
                      <a:endParaRPr sz="1600">
                        <a:latin typeface="Arial"/>
                        <a:cs typeface="Arial"/>
                      </a:endParaRPr>
                    </a:p>
                  </a:txBody>
                  <a:tcPr marL="0" marR="0" marT="127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10"/>
                        </a:spcBef>
                      </a:pPr>
                      <a:r>
                        <a:rPr sz="1600" spc="10" dirty="0">
                          <a:latin typeface="Arial"/>
                          <a:cs typeface="Arial"/>
                        </a:rPr>
                        <a:t>12(63.2%)</a:t>
                      </a:r>
                      <a:endParaRPr sz="1600">
                        <a:latin typeface="Arial"/>
                        <a:cs typeface="Arial"/>
                      </a:endParaRPr>
                    </a:p>
                  </a:txBody>
                  <a:tcPr marL="0" marR="0" marT="127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20"/>
                        </a:spcBef>
                      </a:pPr>
                      <a:r>
                        <a:rPr sz="1600" b="1" spc="10" dirty="0">
                          <a:latin typeface="Arial"/>
                          <a:cs typeface="Arial"/>
                        </a:rPr>
                        <a:t>38(76%)</a:t>
                      </a:r>
                      <a:endParaRPr sz="1600">
                        <a:latin typeface="Arial"/>
                        <a:cs typeface="Arial"/>
                      </a:endParaRPr>
                    </a:p>
                  </a:txBody>
                  <a:tcPr marL="0" marR="0" marT="254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63838">
                <a:tc>
                  <a:txBody>
                    <a:bodyPr/>
                    <a:lstStyle/>
                    <a:p>
                      <a:pPr marL="64769">
                        <a:lnSpc>
                          <a:spcPct val="100000"/>
                        </a:lnSpc>
                        <a:spcBef>
                          <a:spcPts val="15"/>
                        </a:spcBef>
                      </a:pPr>
                      <a:r>
                        <a:rPr sz="1600" b="1" spc="10" dirty="0">
                          <a:solidFill>
                            <a:srgbClr val="FF0000"/>
                          </a:solidFill>
                          <a:latin typeface="Arial"/>
                          <a:cs typeface="Arial"/>
                        </a:rPr>
                        <a:t>Yes</a:t>
                      </a:r>
                      <a:endParaRPr sz="1600">
                        <a:solidFill>
                          <a:srgbClr val="FF0000"/>
                        </a:solidFill>
                        <a:latin typeface="Arial"/>
                        <a:cs typeface="Arial"/>
                      </a:endParaRPr>
                    </a:p>
                  </a:txBody>
                  <a:tcPr marL="0" marR="0" marT="1905"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10"/>
                        </a:spcBef>
                      </a:pPr>
                      <a:r>
                        <a:rPr sz="1600" spc="10" dirty="0">
                          <a:solidFill>
                            <a:srgbClr val="FF0000"/>
                          </a:solidFill>
                          <a:latin typeface="Arial"/>
                          <a:cs typeface="Arial"/>
                        </a:rPr>
                        <a:t>5(16.1%)</a:t>
                      </a:r>
                      <a:endParaRPr sz="1600">
                        <a:solidFill>
                          <a:srgbClr val="FF0000"/>
                        </a:solidFill>
                        <a:latin typeface="Arial"/>
                        <a:cs typeface="Arial"/>
                      </a:endParaRPr>
                    </a:p>
                  </a:txBody>
                  <a:tcPr marL="0" marR="0" marT="127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769">
                        <a:lnSpc>
                          <a:spcPct val="100000"/>
                        </a:lnSpc>
                        <a:spcBef>
                          <a:spcPts val="10"/>
                        </a:spcBef>
                      </a:pPr>
                      <a:r>
                        <a:rPr sz="1600" spc="10" dirty="0">
                          <a:solidFill>
                            <a:srgbClr val="FF0000"/>
                          </a:solidFill>
                          <a:latin typeface="Arial"/>
                          <a:cs typeface="Arial"/>
                        </a:rPr>
                        <a:t>7(36.8%)</a:t>
                      </a:r>
                      <a:endParaRPr sz="1600">
                        <a:solidFill>
                          <a:srgbClr val="FF0000"/>
                        </a:solidFill>
                        <a:latin typeface="Arial"/>
                        <a:cs typeface="Arial"/>
                      </a:endParaRPr>
                    </a:p>
                  </a:txBody>
                  <a:tcPr marL="0" marR="0" marT="127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15"/>
                        </a:spcBef>
                      </a:pPr>
                      <a:r>
                        <a:rPr sz="1600" b="1" spc="10" dirty="0">
                          <a:solidFill>
                            <a:srgbClr val="FF0000"/>
                          </a:solidFill>
                          <a:latin typeface="Arial"/>
                          <a:cs typeface="Arial"/>
                        </a:rPr>
                        <a:t>12(24%)</a:t>
                      </a:r>
                      <a:endParaRPr sz="1600" dirty="0">
                        <a:solidFill>
                          <a:srgbClr val="FF0000"/>
                        </a:solidFill>
                        <a:latin typeface="Arial"/>
                        <a:cs typeface="Arial"/>
                      </a:endParaRPr>
                    </a:p>
                  </a:txBody>
                  <a:tcPr marL="0" marR="0" marT="1905"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63838">
                <a:tc>
                  <a:txBody>
                    <a:bodyPr/>
                    <a:lstStyle/>
                    <a:p>
                      <a:pPr marL="494030" indent="-215265">
                        <a:lnSpc>
                          <a:spcPct val="100000"/>
                        </a:lnSpc>
                        <a:spcBef>
                          <a:spcPts val="65"/>
                        </a:spcBef>
                        <a:buFont typeface="Symbol"/>
                        <a:buChar char=""/>
                        <a:tabLst>
                          <a:tab pos="494030" algn="l"/>
                          <a:tab pos="494665" algn="l"/>
                        </a:tabLst>
                      </a:pPr>
                      <a:r>
                        <a:rPr sz="1600" b="1" spc="10" dirty="0">
                          <a:latin typeface="Arial"/>
                          <a:cs typeface="Arial"/>
                        </a:rPr>
                        <a:t>Infection</a:t>
                      </a:r>
                      <a:endParaRPr sz="1600" dirty="0">
                        <a:latin typeface="Arial"/>
                        <a:cs typeface="Arial"/>
                      </a:endParaRPr>
                    </a:p>
                  </a:txBody>
                  <a:tcPr marL="0" marR="0" marT="8255"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10"/>
                        </a:spcBef>
                      </a:pPr>
                      <a:r>
                        <a:rPr sz="1600" spc="10" dirty="0">
                          <a:latin typeface="Arial"/>
                          <a:cs typeface="Arial"/>
                        </a:rPr>
                        <a:t>2(6.5%)</a:t>
                      </a:r>
                      <a:endParaRPr sz="1600" dirty="0">
                        <a:latin typeface="Arial"/>
                        <a:cs typeface="Arial"/>
                      </a:endParaRPr>
                    </a:p>
                  </a:txBody>
                  <a:tcPr marL="0" marR="0" marT="127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10"/>
                        </a:spcBef>
                      </a:pPr>
                      <a:r>
                        <a:rPr sz="1600" spc="10" dirty="0">
                          <a:latin typeface="Arial"/>
                          <a:cs typeface="Arial"/>
                        </a:rPr>
                        <a:t>1(5.3%)</a:t>
                      </a:r>
                      <a:endParaRPr sz="1600">
                        <a:latin typeface="Arial"/>
                        <a:cs typeface="Arial"/>
                      </a:endParaRPr>
                    </a:p>
                  </a:txBody>
                  <a:tcPr marL="0" marR="0" marT="127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15"/>
                        </a:spcBef>
                      </a:pPr>
                      <a:r>
                        <a:rPr sz="1600" b="1" spc="10" dirty="0">
                          <a:latin typeface="Arial"/>
                          <a:cs typeface="Arial"/>
                        </a:rPr>
                        <a:t>3(6%)</a:t>
                      </a:r>
                      <a:endParaRPr sz="1600" dirty="0">
                        <a:latin typeface="Arial"/>
                        <a:cs typeface="Arial"/>
                      </a:endParaRPr>
                    </a:p>
                  </a:txBody>
                  <a:tcPr marL="0" marR="0" marT="1905"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65851">
                <a:tc>
                  <a:txBody>
                    <a:bodyPr/>
                    <a:lstStyle/>
                    <a:p>
                      <a:pPr marL="494030" indent="-215265">
                        <a:lnSpc>
                          <a:spcPct val="100000"/>
                        </a:lnSpc>
                        <a:spcBef>
                          <a:spcPts val="65"/>
                        </a:spcBef>
                        <a:buFont typeface="Symbol"/>
                        <a:buChar char=""/>
                        <a:tabLst>
                          <a:tab pos="494030" algn="l"/>
                          <a:tab pos="494665" algn="l"/>
                        </a:tabLst>
                      </a:pPr>
                      <a:r>
                        <a:rPr sz="1600" b="1" spc="10" dirty="0">
                          <a:latin typeface="Arial"/>
                          <a:cs typeface="Arial"/>
                        </a:rPr>
                        <a:t>Malunion</a:t>
                      </a:r>
                      <a:endParaRPr sz="1600">
                        <a:latin typeface="Arial"/>
                        <a:cs typeface="Arial"/>
                      </a:endParaRPr>
                    </a:p>
                  </a:txBody>
                  <a:tcPr marL="0" marR="0" marT="8255"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15"/>
                        </a:spcBef>
                      </a:pPr>
                      <a:r>
                        <a:rPr sz="1600" spc="10" dirty="0">
                          <a:latin typeface="Arial"/>
                          <a:cs typeface="Arial"/>
                        </a:rPr>
                        <a:t>2(6.5%)</a:t>
                      </a:r>
                      <a:endParaRPr sz="1600">
                        <a:latin typeface="Arial"/>
                        <a:cs typeface="Arial"/>
                      </a:endParaRPr>
                    </a:p>
                  </a:txBody>
                  <a:tcPr marL="0" marR="0" marT="1905"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15"/>
                        </a:spcBef>
                      </a:pPr>
                      <a:r>
                        <a:rPr sz="1600" spc="10" dirty="0">
                          <a:latin typeface="Arial"/>
                          <a:cs typeface="Arial"/>
                        </a:rPr>
                        <a:t>4(21.1%)</a:t>
                      </a:r>
                      <a:endParaRPr sz="1600">
                        <a:latin typeface="Arial"/>
                        <a:cs typeface="Arial"/>
                      </a:endParaRPr>
                    </a:p>
                  </a:txBody>
                  <a:tcPr marL="0" marR="0" marT="1905"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20"/>
                        </a:spcBef>
                      </a:pPr>
                      <a:r>
                        <a:rPr sz="1600" b="1" spc="10" dirty="0">
                          <a:latin typeface="Arial"/>
                          <a:cs typeface="Arial"/>
                        </a:rPr>
                        <a:t>6(12%)</a:t>
                      </a:r>
                      <a:endParaRPr sz="1600">
                        <a:latin typeface="Arial"/>
                        <a:cs typeface="Arial"/>
                      </a:endParaRPr>
                    </a:p>
                  </a:txBody>
                  <a:tcPr marL="0" marR="0" marT="254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63838">
                <a:tc>
                  <a:txBody>
                    <a:bodyPr/>
                    <a:lstStyle/>
                    <a:p>
                      <a:pPr marL="494030" indent="-215265">
                        <a:lnSpc>
                          <a:spcPct val="100000"/>
                        </a:lnSpc>
                        <a:spcBef>
                          <a:spcPts val="60"/>
                        </a:spcBef>
                        <a:buFont typeface="Symbol"/>
                        <a:buChar char=""/>
                        <a:tabLst>
                          <a:tab pos="494030" algn="l"/>
                          <a:tab pos="494665" algn="l"/>
                        </a:tabLst>
                      </a:pPr>
                      <a:r>
                        <a:rPr sz="1600" b="1" spc="10" dirty="0">
                          <a:latin typeface="Arial"/>
                          <a:cs typeface="Arial"/>
                        </a:rPr>
                        <a:t>Non-union</a:t>
                      </a:r>
                      <a:endParaRPr sz="1600" dirty="0">
                        <a:latin typeface="Arial"/>
                        <a:cs typeface="Arial"/>
                      </a:endParaRPr>
                    </a:p>
                  </a:txBody>
                  <a:tcPr marL="0" marR="0" marT="762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10"/>
                        </a:spcBef>
                      </a:pPr>
                      <a:r>
                        <a:rPr sz="1600" spc="10" dirty="0">
                          <a:latin typeface="Arial"/>
                          <a:cs typeface="Arial"/>
                        </a:rPr>
                        <a:t>1(3.2%)</a:t>
                      </a:r>
                      <a:endParaRPr sz="1600">
                        <a:latin typeface="Arial"/>
                        <a:cs typeface="Arial"/>
                      </a:endParaRPr>
                    </a:p>
                  </a:txBody>
                  <a:tcPr marL="0" marR="0" marT="127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10"/>
                        </a:spcBef>
                      </a:pPr>
                      <a:r>
                        <a:rPr sz="1600" spc="10" dirty="0">
                          <a:latin typeface="Arial"/>
                          <a:cs typeface="Arial"/>
                        </a:rPr>
                        <a:t>2(10.5%)</a:t>
                      </a:r>
                      <a:endParaRPr sz="1600" dirty="0">
                        <a:latin typeface="Arial"/>
                        <a:cs typeface="Arial"/>
                      </a:endParaRPr>
                    </a:p>
                  </a:txBody>
                  <a:tcPr marL="0" marR="0" marT="127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spcBef>
                          <a:spcPts val="15"/>
                        </a:spcBef>
                      </a:pPr>
                      <a:r>
                        <a:rPr sz="1600" b="1" spc="10" dirty="0">
                          <a:latin typeface="Arial"/>
                          <a:cs typeface="Arial"/>
                        </a:rPr>
                        <a:t>3(6%)</a:t>
                      </a:r>
                      <a:endParaRPr sz="1600" dirty="0">
                        <a:latin typeface="Arial"/>
                        <a:cs typeface="Arial"/>
                      </a:endParaRPr>
                    </a:p>
                  </a:txBody>
                  <a:tcPr marL="0" marR="0" marT="1905"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76" name="TextBox 75">
            <a:extLst>
              <a:ext uri="{FF2B5EF4-FFF2-40B4-BE49-F238E27FC236}">
                <a16:creationId xmlns:a16="http://schemas.microsoft.com/office/drawing/2014/main" id="{9B73B151-9ADB-4B95-BDFB-377ABACCBDEE}"/>
              </a:ext>
            </a:extLst>
          </p:cNvPr>
          <p:cNvSpPr txBox="1"/>
          <p:nvPr/>
        </p:nvSpPr>
        <p:spPr>
          <a:xfrm>
            <a:off x="364113" y="5505839"/>
            <a:ext cx="11211433" cy="1200329"/>
          </a:xfrm>
          <a:prstGeom prst="rect">
            <a:avLst/>
          </a:prstGeom>
          <a:noFill/>
        </p:spPr>
        <p:txBody>
          <a:bodyPr wrap="square" rtlCol="0">
            <a:spAutoFit/>
          </a:bodyPr>
          <a:lstStyle/>
          <a:p>
            <a:pPr marL="285750" indent="-285750">
              <a:buFont typeface="Wingdings" panose="05000000000000000000" pitchFamily="2" charset="2"/>
              <a:buChar char="Ø"/>
            </a:pPr>
            <a:r>
              <a:rPr lang="en-IN" sz="2400" dirty="0">
                <a:latin typeface="Calibri" panose="020F0502020204030204" pitchFamily="34" charset="0"/>
                <a:ea typeface="Cambria Math" panose="02040503050406030204" pitchFamily="18" charset="0"/>
                <a:cs typeface="Calibri" panose="020F0502020204030204" pitchFamily="34" charset="0"/>
              </a:rPr>
              <a:t>All 3 Cases had superficial infection (1 nail &amp; 2 plate) resolved by regular dressings &amp; antibiotics</a:t>
            </a:r>
          </a:p>
          <a:p>
            <a:pPr marL="285750" indent="-285750">
              <a:buFont typeface="Wingdings" panose="05000000000000000000" pitchFamily="2" charset="2"/>
              <a:buChar char="Ø"/>
            </a:pPr>
            <a:r>
              <a:rPr lang="en-IN" sz="2400" dirty="0">
                <a:latin typeface="Calibri" panose="020F0502020204030204" pitchFamily="34" charset="0"/>
                <a:ea typeface="Cambria Math" panose="02040503050406030204" pitchFamily="18" charset="0"/>
                <a:cs typeface="Calibri" panose="020F0502020204030204" pitchFamily="34" charset="0"/>
              </a:rPr>
              <a:t>Non union – bone grafting </a:t>
            </a:r>
          </a:p>
        </p:txBody>
      </p:sp>
    </p:spTree>
    <p:extLst>
      <p:ext uri="{BB962C8B-B14F-4D97-AF65-F5344CB8AC3E}">
        <p14:creationId xmlns:p14="http://schemas.microsoft.com/office/powerpoint/2010/main" val="351483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69D30-93DD-47D1-9976-A6FA5AFCC30A}"/>
              </a:ext>
            </a:extLst>
          </p:cNvPr>
          <p:cNvSpPr>
            <a:spLocks noGrp="1"/>
          </p:cNvSpPr>
          <p:nvPr>
            <p:ph type="title"/>
          </p:nvPr>
        </p:nvSpPr>
        <p:spPr>
          <a:xfrm>
            <a:off x="513400" y="572324"/>
            <a:ext cx="11250231" cy="1143070"/>
          </a:xfrm>
        </p:spPr>
        <p:txBody>
          <a:bodyPr anchor="ctr"/>
          <a:lstStyle/>
          <a:p>
            <a:pPr algn="ctr"/>
            <a:r>
              <a:rPr lang="en-IN" dirty="0"/>
              <a:t>Union </a:t>
            </a:r>
          </a:p>
        </p:txBody>
      </p:sp>
      <p:graphicFrame>
        <p:nvGraphicFramePr>
          <p:cNvPr id="4" name="object 3">
            <a:extLst>
              <a:ext uri="{FF2B5EF4-FFF2-40B4-BE49-F238E27FC236}">
                <a16:creationId xmlns:a16="http://schemas.microsoft.com/office/drawing/2014/main" id="{C9CC5FE5-1A82-41BD-8C47-2014DF4268F8}"/>
              </a:ext>
            </a:extLst>
          </p:cNvPr>
          <p:cNvGraphicFramePr>
            <a:graphicFrameLocks noGrp="1"/>
          </p:cNvGraphicFramePr>
          <p:nvPr>
            <p:extLst>
              <p:ext uri="{D42A27DB-BD31-4B8C-83A1-F6EECF244321}">
                <p14:modId xmlns:p14="http://schemas.microsoft.com/office/powerpoint/2010/main" val="3418258263"/>
              </p:ext>
            </p:extLst>
          </p:nvPr>
        </p:nvGraphicFramePr>
        <p:xfrm>
          <a:off x="2184123" y="2310714"/>
          <a:ext cx="7071088" cy="3020748"/>
        </p:xfrm>
        <a:graphic>
          <a:graphicData uri="http://schemas.openxmlformats.org/drawingml/2006/table">
            <a:tbl>
              <a:tblPr firstRow="1" bandRow="1">
                <a:tableStyleId>{2D5ABB26-0587-4C30-8999-92F81FD0307C}</a:tableStyleId>
              </a:tblPr>
              <a:tblGrid>
                <a:gridCol w="1767772">
                  <a:extLst>
                    <a:ext uri="{9D8B030D-6E8A-4147-A177-3AD203B41FA5}">
                      <a16:colId xmlns:a16="http://schemas.microsoft.com/office/drawing/2014/main" val="20000"/>
                    </a:ext>
                  </a:extLst>
                </a:gridCol>
                <a:gridCol w="1767772">
                  <a:extLst>
                    <a:ext uri="{9D8B030D-6E8A-4147-A177-3AD203B41FA5}">
                      <a16:colId xmlns:a16="http://schemas.microsoft.com/office/drawing/2014/main" val="20001"/>
                    </a:ext>
                  </a:extLst>
                </a:gridCol>
                <a:gridCol w="1767772">
                  <a:extLst>
                    <a:ext uri="{9D8B030D-6E8A-4147-A177-3AD203B41FA5}">
                      <a16:colId xmlns:a16="http://schemas.microsoft.com/office/drawing/2014/main" val="20002"/>
                    </a:ext>
                  </a:extLst>
                </a:gridCol>
                <a:gridCol w="1767772">
                  <a:extLst>
                    <a:ext uri="{9D8B030D-6E8A-4147-A177-3AD203B41FA5}">
                      <a16:colId xmlns:a16="http://schemas.microsoft.com/office/drawing/2014/main" val="20003"/>
                    </a:ext>
                  </a:extLst>
                </a:gridCol>
              </a:tblGrid>
              <a:tr h="750810">
                <a:tc>
                  <a:txBody>
                    <a:bodyPr/>
                    <a:lstStyle/>
                    <a:p>
                      <a:pPr marL="64135" algn="l">
                        <a:lnSpc>
                          <a:spcPct val="100000"/>
                        </a:lnSpc>
                        <a:tabLst>
                          <a:tab pos="659765" algn="l"/>
                        </a:tabLst>
                      </a:pPr>
                      <a:r>
                        <a:rPr sz="1600" b="1" spc="15" dirty="0">
                          <a:latin typeface="Arial"/>
                          <a:cs typeface="Arial"/>
                        </a:rPr>
                        <a:t>Union	</a:t>
                      </a:r>
                      <a:r>
                        <a:rPr sz="1600" b="1" spc="10" dirty="0">
                          <a:latin typeface="Arial"/>
                          <a:cs typeface="Arial"/>
                        </a:rPr>
                        <a:t>of</a:t>
                      </a:r>
                      <a:endParaRPr sz="1600" dirty="0">
                        <a:latin typeface="Arial"/>
                        <a:cs typeface="Arial"/>
                      </a:endParaRPr>
                    </a:p>
                    <a:p>
                      <a:pPr marL="64135" algn="l">
                        <a:lnSpc>
                          <a:spcPct val="100000"/>
                        </a:lnSpc>
                      </a:pPr>
                      <a:r>
                        <a:rPr sz="1600" b="1" spc="15" dirty="0">
                          <a:latin typeface="Arial"/>
                          <a:cs typeface="Arial"/>
                        </a:rPr>
                        <a:t>weeks</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191135" algn="l">
                        <a:lnSpc>
                          <a:spcPct val="100000"/>
                        </a:lnSpc>
                      </a:pPr>
                      <a:r>
                        <a:rPr sz="1600" b="1" spc="5" dirty="0">
                          <a:latin typeface="Arial"/>
                          <a:cs typeface="Arial"/>
                        </a:rPr>
                        <a:t>Plating</a:t>
                      </a:r>
                      <a:endParaRPr sz="1600" dirty="0">
                        <a:latin typeface="Times New Roman"/>
                        <a:cs typeface="Times New Roman"/>
                      </a:endParaRPr>
                    </a:p>
                    <a:p>
                      <a:pPr marL="215265" algn="l">
                        <a:lnSpc>
                          <a:spcPct val="100000"/>
                        </a:lnSpc>
                      </a:pPr>
                      <a:r>
                        <a:rPr sz="1600" b="1" spc="10" dirty="0">
                          <a:latin typeface="Arial"/>
                          <a:cs typeface="Arial"/>
                        </a:rPr>
                        <a:t>Group</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191135" algn="l">
                        <a:lnSpc>
                          <a:spcPct val="100000"/>
                        </a:lnSpc>
                      </a:pPr>
                      <a:r>
                        <a:rPr sz="1600" b="1" spc="5" dirty="0">
                          <a:latin typeface="Arial"/>
                          <a:cs typeface="Arial"/>
                        </a:rPr>
                        <a:t>Nailing</a:t>
                      </a:r>
                      <a:endParaRPr sz="1600" dirty="0">
                        <a:latin typeface="Times New Roman"/>
                        <a:cs typeface="Times New Roman"/>
                      </a:endParaRPr>
                    </a:p>
                    <a:p>
                      <a:pPr marL="214629" algn="l">
                        <a:lnSpc>
                          <a:spcPct val="100000"/>
                        </a:lnSpc>
                      </a:pPr>
                      <a:r>
                        <a:rPr sz="1600" b="1" spc="10" dirty="0">
                          <a:latin typeface="Arial"/>
                          <a:cs typeface="Arial"/>
                        </a:rPr>
                        <a:t>Group</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algn="l">
                        <a:lnSpc>
                          <a:spcPct val="100000"/>
                        </a:lnSpc>
                      </a:pPr>
                      <a:r>
                        <a:rPr sz="1600" b="1" spc="10" dirty="0">
                          <a:latin typeface="Arial"/>
                          <a:cs typeface="Arial"/>
                        </a:rPr>
                        <a:t>Total</a:t>
                      </a:r>
                      <a:endParaRPr sz="1600" dirty="0">
                        <a:latin typeface="Arial"/>
                        <a:cs typeface="Arial"/>
                      </a:endParaRPr>
                    </a:p>
                  </a:txBody>
                  <a:tcPr marL="0" marR="0" marT="635"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extLst>
                  <a:ext uri="{0D108BD9-81ED-4DB2-BD59-A6C34878D82A}">
                    <a16:rowId xmlns:a16="http://schemas.microsoft.com/office/drawing/2014/main" val="10000"/>
                  </a:ext>
                </a:extLst>
              </a:tr>
              <a:tr h="485748">
                <a:tc>
                  <a:txBody>
                    <a:bodyPr/>
                    <a:lstStyle/>
                    <a:p>
                      <a:pPr marL="64135" algn="l">
                        <a:lnSpc>
                          <a:spcPts val="1295"/>
                        </a:lnSpc>
                      </a:pPr>
                      <a:r>
                        <a:rPr sz="1600" b="1" spc="10" dirty="0">
                          <a:latin typeface="Arial"/>
                          <a:cs typeface="Arial"/>
                        </a:rPr>
                        <a:t>12-14</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90805" algn="l">
                        <a:lnSpc>
                          <a:spcPts val="1290"/>
                        </a:lnSpc>
                      </a:pPr>
                      <a:r>
                        <a:rPr sz="1600" spc="-5" dirty="0">
                          <a:latin typeface="Arial"/>
                          <a:cs typeface="Arial"/>
                        </a:rPr>
                        <a:t>2</a:t>
                      </a:r>
                      <a:r>
                        <a:rPr sz="1600" dirty="0">
                          <a:latin typeface="Arial"/>
                          <a:cs typeface="Arial"/>
                        </a:rPr>
                        <a:t>3</a:t>
                      </a:r>
                      <a:r>
                        <a:rPr sz="1600" spc="-5" dirty="0">
                          <a:latin typeface="Arial"/>
                          <a:cs typeface="Arial"/>
                        </a:rPr>
                        <a:t>(</a:t>
                      </a:r>
                      <a:r>
                        <a:rPr sz="1600" spc="5" dirty="0">
                          <a:latin typeface="Arial"/>
                          <a:cs typeface="Arial"/>
                        </a:rPr>
                        <a:t>7</a:t>
                      </a:r>
                      <a:r>
                        <a:rPr sz="1600" dirty="0">
                          <a:latin typeface="Arial"/>
                          <a:cs typeface="Arial"/>
                        </a:rPr>
                        <a:t>4</a:t>
                      </a:r>
                      <a:r>
                        <a:rPr sz="1600" spc="-10" dirty="0">
                          <a:latin typeface="Arial"/>
                          <a:cs typeface="Arial"/>
                        </a:rPr>
                        <a:t>.</a:t>
                      </a:r>
                      <a:r>
                        <a:rPr sz="1600" dirty="0">
                          <a:latin typeface="Arial"/>
                          <a:cs typeface="Arial"/>
                        </a:rPr>
                        <a:t>2%)</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90805" algn="l">
                        <a:lnSpc>
                          <a:spcPts val="1290"/>
                        </a:lnSpc>
                      </a:pPr>
                      <a:r>
                        <a:rPr sz="1600" spc="-5" dirty="0">
                          <a:latin typeface="Arial"/>
                          <a:cs typeface="Arial"/>
                        </a:rPr>
                        <a:t>1</a:t>
                      </a:r>
                      <a:r>
                        <a:rPr sz="1600" dirty="0">
                          <a:latin typeface="Arial"/>
                          <a:cs typeface="Arial"/>
                        </a:rPr>
                        <a:t>4</a:t>
                      </a:r>
                      <a:r>
                        <a:rPr sz="1600" spc="-5" dirty="0">
                          <a:latin typeface="Arial"/>
                          <a:cs typeface="Arial"/>
                        </a:rPr>
                        <a:t>(</a:t>
                      </a:r>
                      <a:r>
                        <a:rPr sz="1600" spc="5" dirty="0">
                          <a:latin typeface="Arial"/>
                          <a:cs typeface="Arial"/>
                        </a:rPr>
                        <a:t>7</a:t>
                      </a:r>
                      <a:r>
                        <a:rPr sz="1600" dirty="0">
                          <a:latin typeface="Arial"/>
                          <a:cs typeface="Arial"/>
                        </a:rPr>
                        <a:t>3</a:t>
                      </a:r>
                      <a:r>
                        <a:rPr sz="1600" spc="-10" dirty="0">
                          <a:latin typeface="Arial"/>
                          <a:cs typeface="Arial"/>
                        </a:rPr>
                        <a:t>.</a:t>
                      </a:r>
                      <a:r>
                        <a:rPr sz="1600" dirty="0">
                          <a:latin typeface="Arial"/>
                          <a:cs typeface="Arial"/>
                        </a:rPr>
                        <a:t>7%)</a:t>
                      </a: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l">
                        <a:lnSpc>
                          <a:spcPts val="1295"/>
                        </a:lnSpc>
                      </a:pPr>
                      <a:r>
                        <a:rPr sz="1600" b="1" spc="10" dirty="0">
                          <a:latin typeface="Arial"/>
                          <a:cs typeface="Arial"/>
                        </a:rPr>
                        <a:t>37(74%)</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57724">
                <a:tc>
                  <a:txBody>
                    <a:bodyPr/>
                    <a:lstStyle/>
                    <a:p>
                      <a:pPr marL="64135" algn="l">
                        <a:lnSpc>
                          <a:spcPts val="1295"/>
                        </a:lnSpc>
                      </a:pPr>
                      <a:r>
                        <a:rPr sz="1600" b="1" spc="10" dirty="0">
                          <a:latin typeface="Arial"/>
                          <a:cs typeface="Arial"/>
                        </a:rPr>
                        <a:t>15-16</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38430" algn="l">
                        <a:lnSpc>
                          <a:spcPts val="1295"/>
                        </a:lnSpc>
                      </a:pPr>
                      <a:r>
                        <a:rPr sz="1600" spc="10" dirty="0">
                          <a:latin typeface="Arial"/>
                          <a:cs typeface="Arial"/>
                        </a:rPr>
                        <a:t>6(19.4%)</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38430" algn="l">
                        <a:lnSpc>
                          <a:spcPts val="1295"/>
                        </a:lnSpc>
                      </a:pPr>
                      <a:r>
                        <a:rPr sz="1600" spc="10" dirty="0">
                          <a:latin typeface="Arial"/>
                          <a:cs typeface="Arial"/>
                        </a:rPr>
                        <a:t>5(26.3%)</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l">
                        <a:lnSpc>
                          <a:spcPts val="1295"/>
                        </a:lnSpc>
                      </a:pPr>
                      <a:r>
                        <a:rPr sz="1600" b="1" spc="10" dirty="0">
                          <a:latin typeface="Arial"/>
                          <a:cs typeface="Arial"/>
                        </a:rPr>
                        <a:t>11(22%)</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29700">
                <a:tc>
                  <a:txBody>
                    <a:bodyPr/>
                    <a:lstStyle/>
                    <a:p>
                      <a:pPr marL="64135" algn="l">
                        <a:lnSpc>
                          <a:spcPts val="1300"/>
                        </a:lnSpc>
                      </a:pPr>
                      <a:r>
                        <a:rPr sz="1600" b="1" spc="10" dirty="0">
                          <a:latin typeface="Arial"/>
                          <a:cs typeface="Arial"/>
                        </a:rPr>
                        <a:t>17-20</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78435" algn="l">
                        <a:lnSpc>
                          <a:spcPts val="1295"/>
                        </a:lnSpc>
                      </a:pPr>
                      <a:r>
                        <a:rPr sz="1600" spc="10" dirty="0">
                          <a:latin typeface="Arial"/>
                          <a:cs typeface="Arial"/>
                        </a:rPr>
                        <a:t>2(6.5%)</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38760" algn="l">
                        <a:lnSpc>
                          <a:spcPts val="1295"/>
                        </a:lnSpc>
                      </a:pPr>
                      <a:r>
                        <a:rPr sz="1600" spc="10" dirty="0">
                          <a:latin typeface="Arial"/>
                          <a:cs typeface="Arial"/>
                        </a:rPr>
                        <a:t>0(0%)</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l">
                        <a:lnSpc>
                          <a:spcPts val="1300"/>
                        </a:lnSpc>
                      </a:pPr>
                      <a:r>
                        <a:rPr sz="1600" b="1" spc="10" dirty="0">
                          <a:latin typeface="Arial"/>
                          <a:cs typeface="Arial"/>
                        </a:rPr>
                        <a:t>2(4%)</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57724">
                <a:tc>
                  <a:txBody>
                    <a:bodyPr/>
                    <a:lstStyle/>
                    <a:p>
                      <a:pPr marL="64135" algn="l">
                        <a:lnSpc>
                          <a:spcPts val="1295"/>
                        </a:lnSpc>
                      </a:pPr>
                      <a:r>
                        <a:rPr sz="1600" b="1" spc="10" dirty="0">
                          <a:latin typeface="Arial"/>
                          <a:cs typeface="Arial"/>
                        </a:rPr>
                        <a:t>Total</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0650" algn="l">
                        <a:lnSpc>
                          <a:spcPts val="1295"/>
                        </a:lnSpc>
                      </a:pPr>
                      <a:r>
                        <a:rPr sz="1600" b="1" spc="10" dirty="0">
                          <a:latin typeface="Arial"/>
                          <a:cs typeface="Arial"/>
                        </a:rPr>
                        <a:t>31(100%)</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0014" algn="l">
                        <a:lnSpc>
                          <a:spcPts val="1295"/>
                        </a:lnSpc>
                      </a:pPr>
                      <a:r>
                        <a:rPr sz="1600" b="1" spc="10" dirty="0">
                          <a:latin typeface="Arial"/>
                          <a:cs typeface="Arial"/>
                        </a:rPr>
                        <a:t>19(100%)</a:t>
                      </a:r>
                      <a:endParaRPr sz="160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l">
                        <a:lnSpc>
                          <a:spcPts val="1295"/>
                        </a:lnSpc>
                      </a:pPr>
                      <a:r>
                        <a:rPr sz="1600" b="1" spc="10" dirty="0">
                          <a:latin typeface="Arial"/>
                          <a:cs typeface="Arial"/>
                        </a:rPr>
                        <a:t>50(100%)</a:t>
                      </a:r>
                      <a:endParaRPr sz="1600" dirty="0">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39042">
                <a:tc>
                  <a:txBody>
                    <a:bodyPr/>
                    <a:lstStyle/>
                    <a:p>
                      <a:pPr marL="64135" algn="l">
                        <a:lnSpc>
                          <a:spcPts val="1295"/>
                        </a:lnSpc>
                      </a:pPr>
                      <a:r>
                        <a:rPr sz="1600" b="1" spc="15" dirty="0">
                          <a:solidFill>
                            <a:srgbClr val="C00000"/>
                          </a:solidFill>
                          <a:latin typeface="Arial"/>
                          <a:cs typeface="Arial"/>
                        </a:rPr>
                        <a:t>Mean </a:t>
                      </a:r>
                      <a:r>
                        <a:rPr sz="1600" b="1" spc="55" dirty="0">
                          <a:solidFill>
                            <a:srgbClr val="C00000"/>
                          </a:solidFill>
                          <a:latin typeface="Arial"/>
                          <a:cs typeface="Arial"/>
                        </a:rPr>
                        <a:t>±</a:t>
                      </a:r>
                      <a:r>
                        <a:rPr sz="1600" b="1" spc="-100" dirty="0">
                          <a:solidFill>
                            <a:srgbClr val="C00000"/>
                          </a:solidFill>
                          <a:latin typeface="Arial"/>
                          <a:cs typeface="Arial"/>
                        </a:rPr>
                        <a:t> </a:t>
                      </a:r>
                      <a:r>
                        <a:rPr sz="1600" b="1" spc="20" dirty="0">
                          <a:solidFill>
                            <a:srgbClr val="C00000"/>
                          </a:solidFill>
                          <a:latin typeface="Arial"/>
                          <a:cs typeface="Arial"/>
                        </a:rPr>
                        <a:t>SD</a:t>
                      </a:r>
                      <a:endParaRPr sz="1600">
                        <a:solidFill>
                          <a:srgbClr val="C00000"/>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64769" algn="l">
                        <a:lnSpc>
                          <a:spcPts val="1295"/>
                        </a:lnSpc>
                      </a:pPr>
                      <a:r>
                        <a:rPr sz="1600" b="1" spc="-5" dirty="0">
                          <a:solidFill>
                            <a:srgbClr val="C00000"/>
                          </a:solidFill>
                          <a:latin typeface="Arial"/>
                          <a:cs typeface="Arial"/>
                        </a:rPr>
                        <a:t>1</a:t>
                      </a:r>
                      <a:r>
                        <a:rPr sz="1600" b="1" spc="5" dirty="0">
                          <a:solidFill>
                            <a:srgbClr val="C00000"/>
                          </a:solidFill>
                          <a:latin typeface="Arial"/>
                          <a:cs typeface="Arial"/>
                        </a:rPr>
                        <a:t>4</a:t>
                      </a:r>
                      <a:r>
                        <a:rPr sz="1600" b="1" spc="-10" dirty="0">
                          <a:solidFill>
                            <a:srgbClr val="C00000"/>
                          </a:solidFill>
                          <a:latin typeface="Arial"/>
                          <a:cs typeface="Arial"/>
                        </a:rPr>
                        <a:t>.</a:t>
                      </a:r>
                      <a:r>
                        <a:rPr sz="1600" b="1" dirty="0">
                          <a:solidFill>
                            <a:srgbClr val="C00000"/>
                          </a:solidFill>
                          <a:latin typeface="Arial"/>
                          <a:cs typeface="Arial"/>
                        </a:rPr>
                        <a:t>19</a:t>
                      </a:r>
                      <a:r>
                        <a:rPr sz="1600" b="1" spc="-40" dirty="0">
                          <a:solidFill>
                            <a:srgbClr val="C00000"/>
                          </a:solidFill>
                          <a:latin typeface="Arial"/>
                          <a:cs typeface="Arial"/>
                        </a:rPr>
                        <a:t>±</a:t>
                      </a:r>
                      <a:r>
                        <a:rPr sz="1600" b="1" dirty="0">
                          <a:solidFill>
                            <a:srgbClr val="C00000"/>
                          </a:solidFill>
                          <a:latin typeface="Arial"/>
                          <a:cs typeface="Arial"/>
                        </a:rPr>
                        <a:t>2.</a:t>
                      </a:r>
                      <a:r>
                        <a:rPr sz="1600" b="1" spc="-5" dirty="0">
                          <a:solidFill>
                            <a:srgbClr val="C00000"/>
                          </a:solidFill>
                          <a:latin typeface="Arial"/>
                          <a:cs typeface="Arial"/>
                        </a:rPr>
                        <a:t>0</a:t>
                      </a:r>
                      <a:r>
                        <a:rPr sz="1600" b="1" dirty="0">
                          <a:solidFill>
                            <a:srgbClr val="C00000"/>
                          </a:solidFill>
                          <a:latin typeface="Arial"/>
                          <a:cs typeface="Arial"/>
                        </a:rPr>
                        <a:t>9</a:t>
                      </a:r>
                      <a:endParaRPr sz="1600">
                        <a:solidFill>
                          <a:srgbClr val="C00000"/>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64769" algn="l">
                        <a:lnSpc>
                          <a:spcPts val="1295"/>
                        </a:lnSpc>
                      </a:pPr>
                      <a:r>
                        <a:rPr sz="1600" b="1" spc="-5" dirty="0">
                          <a:solidFill>
                            <a:srgbClr val="C00000"/>
                          </a:solidFill>
                          <a:latin typeface="Arial"/>
                          <a:cs typeface="Arial"/>
                        </a:rPr>
                        <a:t>1</a:t>
                      </a:r>
                      <a:r>
                        <a:rPr sz="1600" b="1" spc="5" dirty="0">
                          <a:solidFill>
                            <a:srgbClr val="C00000"/>
                          </a:solidFill>
                          <a:latin typeface="Arial"/>
                          <a:cs typeface="Arial"/>
                        </a:rPr>
                        <a:t>3</a:t>
                      </a:r>
                      <a:r>
                        <a:rPr sz="1600" b="1" spc="-10" dirty="0">
                          <a:solidFill>
                            <a:srgbClr val="C00000"/>
                          </a:solidFill>
                          <a:latin typeface="Arial"/>
                          <a:cs typeface="Arial"/>
                        </a:rPr>
                        <a:t>.</a:t>
                      </a:r>
                      <a:r>
                        <a:rPr sz="1600" b="1" dirty="0">
                          <a:solidFill>
                            <a:srgbClr val="C00000"/>
                          </a:solidFill>
                          <a:latin typeface="Arial"/>
                          <a:cs typeface="Arial"/>
                        </a:rPr>
                        <a:t>11</a:t>
                      </a:r>
                      <a:r>
                        <a:rPr sz="1600" b="1" spc="-40" dirty="0">
                          <a:solidFill>
                            <a:srgbClr val="C00000"/>
                          </a:solidFill>
                          <a:latin typeface="Arial"/>
                          <a:cs typeface="Arial"/>
                        </a:rPr>
                        <a:t>±</a:t>
                      </a:r>
                      <a:r>
                        <a:rPr sz="1600" b="1" dirty="0">
                          <a:solidFill>
                            <a:srgbClr val="C00000"/>
                          </a:solidFill>
                          <a:latin typeface="Arial"/>
                          <a:cs typeface="Arial"/>
                        </a:rPr>
                        <a:t>1.</a:t>
                      </a:r>
                      <a:r>
                        <a:rPr sz="1600" b="1" spc="-5" dirty="0">
                          <a:solidFill>
                            <a:srgbClr val="C00000"/>
                          </a:solidFill>
                          <a:latin typeface="Arial"/>
                          <a:cs typeface="Arial"/>
                        </a:rPr>
                        <a:t>7</a:t>
                      </a:r>
                      <a:r>
                        <a:rPr sz="1600" b="1" dirty="0">
                          <a:solidFill>
                            <a:srgbClr val="C00000"/>
                          </a:solidFill>
                          <a:latin typeface="Arial"/>
                          <a:cs typeface="Arial"/>
                        </a:rPr>
                        <a:t>3</a:t>
                      </a:r>
                      <a:endParaRPr sz="1600" dirty="0">
                        <a:solidFill>
                          <a:srgbClr val="C00000"/>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l">
                        <a:lnSpc>
                          <a:spcPts val="1295"/>
                        </a:lnSpc>
                      </a:pPr>
                      <a:r>
                        <a:rPr sz="1600" b="1" spc="10" dirty="0">
                          <a:solidFill>
                            <a:srgbClr val="C00000"/>
                          </a:solidFill>
                          <a:latin typeface="Arial"/>
                          <a:cs typeface="Arial"/>
                        </a:rPr>
                        <a:t>13.78±2.01</a:t>
                      </a:r>
                      <a:endParaRPr sz="1600" dirty="0">
                        <a:solidFill>
                          <a:srgbClr val="C00000"/>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7" name="TextBox 6">
            <a:extLst>
              <a:ext uri="{FF2B5EF4-FFF2-40B4-BE49-F238E27FC236}">
                <a16:creationId xmlns:a16="http://schemas.microsoft.com/office/drawing/2014/main" id="{39988965-326B-4B1B-9281-837B253FB7EE}"/>
              </a:ext>
            </a:extLst>
          </p:cNvPr>
          <p:cNvSpPr txBox="1"/>
          <p:nvPr/>
        </p:nvSpPr>
        <p:spPr>
          <a:xfrm>
            <a:off x="911376" y="5441745"/>
            <a:ext cx="11087033" cy="1143070"/>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sz="2400" b="0" i="0" u="none" strike="noStrike" baseline="0" dirty="0">
                <a:latin typeface="Calibri" panose="020F0502020204030204" pitchFamily="34" charset="0"/>
                <a:ea typeface="Cambria Math" panose="02040503050406030204" pitchFamily="18" charset="0"/>
                <a:cs typeface="Calibri" panose="020F0502020204030204" pitchFamily="34" charset="0"/>
              </a:rPr>
              <a:t>The average time for fracture union </a:t>
            </a:r>
            <a:r>
              <a:rPr lang="en-US" sz="2400" dirty="0">
                <a:latin typeface="Calibri" panose="020F0502020204030204" pitchFamily="34" charset="0"/>
                <a:ea typeface="Cambria Math" panose="02040503050406030204" pitchFamily="18" charset="0"/>
                <a:cs typeface="Calibri" panose="020F0502020204030204" pitchFamily="34" charset="0"/>
              </a:rPr>
              <a:t>in </a:t>
            </a:r>
            <a:r>
              <a:rPr lang="en-US" sz="2400" b="0" i="0" u="none" strike="noStrike" baseline="0" dirty="0">
                <a:latin typeface="Calibri" panose="020F0502020204030204" pitchFamily="34" charset="0"/>
                <a:ea typeface="Cambria Math" panose="02040503050406030204" pitchFamily="18" charset="0"/>
                <a:cs typeface="Calibri" panose="020F0502020204030204" pitchFamily="34" charset="0"/>
              </a:rPr>
              <a:t>Our study is 13.8 weeks</a:t>
            </a:r>
          </a:p>
          <a:p>
            <a:pPr marL="285750" indent="-285750">
              <a:lnSpc>
                <a:spcPct val="150000"/>
              </a:lnSpc>
              <a:buFont typeface="Wingdings" panose="05000000000000000000" pitchFamily="2" charset="2"/>
              <a:buChar char="Ø"/>
            </a:pPr>
            <a:r>
              <a:rPr lang="en-US" sz="2400" b="0" i="0" u="none" strike="noStrike" baseline="0" dirty="0">
                <a:latin typeface="Calibri" panose="020F0502020204030204" pitchFamily="34" charset="0"/>
                <a:ea typeface="Cambria Math" panose="02040503050406030204" pitchFamily="18" charset="0"/>
                <a:cs typeface="Calibri" panose="020F0502020204030204" pitchFamily="34" charset="0"/>
              </a:rPr>
              <a:t>Patients who underwent nailing for distal tibia fractures had </a:t>
            </a:r>
            <a:r>
              <a:rPr lang="en-US" sz="2400" dirty="0">
                <a:latin typeface="Calibri" panose="020F0502020204030204" pitchFamily="34" charset="0"/>
                <a:ea typeface="Cambria Math" panose="02040503050406030204" pitchFamily="18" charset="0"/>
                <a:cs typeface="Calibri" panose="020F0502020204030204" pitchFamily="34" charset="0"/>
              </a:rPr>
              <a:t>earli</a:t>
            </a:r>
            <a:r>
              <a:rPr lang="en-US" sz="2400" b="0" i="0" u="none" strike="noStrike" baseline="0" dirty="0">
                <a:latin typeface="Calibri" panose="020F0502020204030204" pitchFamily="34" charset="0"/>
                <a:ea typeface="Cambria Math" panose="02040503050406030204" pitchFamily="18" charset="0"/>
                <a:cs typeface="Calibri" panose="020F0502020204030204" pitchFamily="34" charset="0"/>
              </a:rPr>
              <a:t>er union </a:t>
            </a:r>
            <a:endParaRPr lang="en-IN" sz="2400" dirty="0">
              <a:latin typeface="Calibri" panose="020F0502020204030204" pitchFamily="34" charset="0"/>
              <a:ea typeface="Cambria Math" panose="02040503050406030204" pitchFamily="18" charset="0"/>
              <a:cs typeface="Calibri" panose="020F0502020204030204" pitchFamily="34" charset="0"/>
            </a:endParaRPr>
          </a:p>
        </p:txBody>
      </p:sp>
    </p:spTree>
    <p:extLst>
      <p:ext uri="{BB962C8B-B14F-4D97-AF65-F5344CB8AC3E}">
        <p14:creationId xmlns:p14="http://schemas.microsoft.com/office/powerpoint/2010/main" val="546801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9FD31-5E7B-4C63-A875-58391B1F04B8}"/>
              </a:ext>
            </a:extLst>
          </p:cNvPr>
          <p:cNvSpPr>
            <a:spLocks noGrp="1"/>
          </p:cNvSpPr>
          <p:nvPr>
            <p:ph type="title"/>
          </p:nvPr>
        </p:nvSpPr>
        <p:spPr>
          <a:xfrm>
            <a:off x="453354" y="630196"/>
            <a:ext cx="11297922" cy="1118382"/>
          </a:xfrm>
        </p:spPr>
        <p:txBody>
          <a:bodyPr anchor="ctr"/>
          <a:lstStyle/>
          <a:p>
            <a:pPr algn="ctr"/>
            <a:r>
              <a:rPr lang="en-IN" dirty="0"/>
              <a:t>OUT COMES</a:t>
            </a:r>
          </a:p>
        </p:txBody>
      </p:sp>
      <p:graphicFrame>
        <p:nvGraphicFramePr>
          <p:cNvPr id="4" name="object 3">
            <a:extLst>
              <a:ext uri="{FF2B5EF4-FFF2-40B4-BE49-F238E27FC236}">
                <a16:creationId xmlns:a16="http://schemas.microsoft.com/office/drawing/2014/main" id="{F90CA1E6-6CCC-4B27-BC8F-9485FBBD104D}"/>
              </a:ext>
            </a:extLst>
          </p:cNvPr>
          <p:cNvGraphicFramePr>
            <a:graphicFrameLocks noGrp="1"/>
          </p:cNvGraphicFramePr>
          <p:nvPr>
            <p:extLst>
              <p:ext uri="{D42A27DB-BD31-4B8C-83A1-F6EECF244321}">
                <p14:modId xmlns:p14="http://schemas.microsoft.com/office/powerpoint/2010/main" val="3440004327"/>
              </p:ext>
            </p:extLst>
          </p:nvPr>
        </p:nvGraphicFramePr>
        <p:xfrm>
          <a:off x="2994726" y="1972215"/>
          <a:ext cx="4724404" cy="2894266"/>
        </p:xfrm>
        <a:graphic>
          <a:graphicData uri="http://schemas.openxmlformats.org/drawingml/2006/table">
            <a:tbl>
              <a:tblPr firstRow="1" bandRow="1">
                <a:tableStyleId>{2D5ABB26-0587-4C30-8999-92F81FD0307C}</a:tableStyleId>
              </a:tblPr>
              <a:tblGrid>
                <a:gridCol w="1181101">
                  <a:extLst>
                    <a:ext uri="{9D8B030D-6E8A-4147-A177-3AD203B41FA5}">
                      <a16:colId xmlns:a16="http://schemas.microsoft.com/office/drawing/2014/main" val="20000"/>
                    </a:ext>
                  </a:extLst>
                </a:gridCol>
                <a:gridCol w="1181101">
                  <a:extLst>
                    <a:ext uri="{9D8B030D-6E8A-4147-A177-3AD203B41FA5}">
                      <a16:colId xmlns:a16="http://schemas.microsoft.com/office/drawing/2014/main" val="20001"/>
                    </a:ext>
                  </a:extLst>
                </a:gridCol>
                <a:gridCol w="1181101">
                  <a:extLst>
                    <a:ext uri="{9D8B030D-6E8A-4147-A177-3AD203B41FA5}">
                      <a16:colId xmlns:a16="http://schemas.microsoft.com/office/drawing/2014/main" val="20002"/>
                    </a:ext>
                  </a:extLst>
                </a:gridCol>
                <a:gridCol w="1181101">
                  <a:extLst>
                    <a:ext uri="{9D8B030D-6E8A-4147-A177-3AD203B41FA5}">
                      <a16:colId xmlns:a16="http://schemas.microsoft.com/office/drawing/2014/main" val="20003"/>
                    </a:ext>
                  </a:extLst>
                </a:gridCol>
              </a:tblGrid>
              <a:tr h="760666">
                <a:tc>
                  <a:txBody>
                    <a:bodyPr/>
                    <a:lstStyle/>
                    <a:p>
                      <a:pPr>
                        <a:lnSpc>
                          <a:spcPct val="100000"/>
                        </a:lnSpc>
                        <a:spcBef>
                          <a:spcPts val="10"/>
                        </a:spcBef>
                      </a:pPr>
                      <a:endParaRPr sz="1600" dirty="0">
                        <a:solidFill>
                          <a:schemeClr val="tx1"/>
                        </a:solidFill>
                        <a:latin typeface="Times New Roman"/>
                        <a:cs typeface="Times New Roman"/>
                      </a:endParaRPr>
                    </a:p>
                    <a:p>
                      <a:pPr marL="64135">
                        <a:lnSpc>
                          <a:spcPct val="100000"/>
                        </a:lnSpc>
                        <a:spcBef>
                          <a:spcPts val="5"/>
                        </a:spcBef>
                      </a:pPr>
                      <a:r>
                        <a:rPr sz="1600" b="1" spc="10" dirty="0">
                          <a:solidFill>
                            <a:schemeClr val="tx1"/>
                          </a:solidFill>
                          <a:latin typeface="Arial"/>
                          <a:cs typeface="Arial"/>
                        </a:rPr>
                        <a:t>Results</a:t>
                      </a:r>
                      <a:endParaRPr sz="1600" dirty="0">
                        <a:solidFill>
                          <a:schemeClr val="tx1"/>
                        </a:solidFill>
                        <a:latin typeface="Arial"/>
                        <a:cs typeface="Arial"/>
                      </a:endParaRPr>
                    </a:p>
                  </a:txBody>
                  <a:tcPr marL="0" marR="0" marT="127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64135">
                        <a:lnSpc>
                          <a:spcPct val="100000"/>
                        </a:lnSpc>
                      </a:pPr>
                      <a:r>
                        <a:rPr sz="1600" b="1" spc="10" dirty="0">
                          <a:solidFill>
                            <a:schemeClr val="tx1"/>
                          </a:solidFill>
                          <a:latin typeface="Arial"/>
                          <a:cs typeface="Arial"/>
                        </a:rPr>
                        <a:t>Plating</a:t>
                      </a:r>
                      <a:endParaRPr sz="1600" dirty="0">
                        <a:solidFill>
                          <a:schemeClr val="tx1"/>
                        </a:solidFill>
                        <a:latin typeface="Arial"/>
                        <a:cs typeface="Arial"/>
                      </a:endParaRPr>
                    </a:p>
                    <a:p>
                      <a:pPr marL="64135">
                        <a:lnSpc>
                          <a:spcPct val="100000"/>
                        </a:lnSpc>
                      </a:pPr>
                      <a:r>
                        <a:rPr sz="1600" b="1" spc="15" dirty="0">
                          <a:solidFill>
                            <a:schemeClr val="tx1"/>
                          </a:solidFill>
                          <a:latin typeface="Arial"/>
                          <a:cs typeface="Arial"/>
                        </a:rPr>
                        <a:t>Group</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64135">
                        <a:lnSpc>
                          <a:spcPct val="100000"/>
                        </a:lnSpc>
                      </a:pPr>
                      <a:r>
                        <a:rPr sz="1600" b="1" spc="10" dirty="0">
                          <a:solidFill>
                            <a:schemeClr val="tx1"/>
                          </a:solidFill>
                          <a:latin typeface="Arial"/>
                          <a:cs typeface="Arial"/>
                        </a:rPr>
                        <a:t>Nailing</a:t>
                      </a:r>
                      <a:endParaRPr sz="1600" dirty="0">
                        <a:solidFill>
                          <a:schemeClr val="tx1"/>
                        </a:solidFill>
                        <a:latin typeface="Arial"/>
                        <a:cs typeface="Arial"/>
                      </a:endParaRPr>
                    </a:p>
                    <a:p>
                      <a:pPr marL="64135">
                        <a:lnSpc>
                          <a:spcPct val="100000"/>
                        </a:lnSpc>
                      </a:pPr>
                      <a:r>
                        <a:rPr sz="1600" b="1" spc="15" dirty="0">
                          <a:solidFill>
                            <a:schemeClr val="tx1"/>
                          </a:solidFill>
                          <a:latin typeface="Arial"/>
                          <a:cs typeface="Arial"/>
                        </a:rPr>
                        <a:t>Group</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tc>
                  <a:txBody>
                    <a:bodyPr/>
                    <a:lstStyle/>
                    <a:p>
                      <a:pPr marL="64135">
                        <a:lnSpc>
                          <a:spcPct val="100000"/>
                        </a:lnSpc>
                        <a:spcBef>
                          <a:spcPts val="5"/>
                        </a:spcBef>
                      </a:pPr>
                      <a:r>
                        <a:rPr sz="1600" b="1" spc="10" dirty="0">
                          <a:solidFill>
                            <a:schemeClr val="tx1"/>
                          </a:solidFill>
                          <a:latin typeface="Arial"/>
                          <a:cs typeface="Arial"/>
                        </a:rPr>
                        <a:t>Total</a:t>
                      </a:r>
                      <a:endParaRPr sz="1600" dirty="0">
                        <a:solidFill>
                          <a:schemeClr val="tx1"/>
                        </a:solidFill>
                        <a:latin typeface="Arial"/>
                        <a:cs typeface="Arial"/>
                      </a:endParaRPr>
                    </a:p>
                  </a:txBody>
                  <a:tcPr marL="0" marR="0" marT="127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CCFFFF"/>
                    </a:solidFill>
                  </a:tcPr>
                </a:tc>
                <a:extLst>
                  <a:ext uri="{0D108BD9-81ED-4DB2-BD59-A6C34878D82A}">
                    <a16:rowId xmlns:a16="http://schemas.microsoft.com/office/drawing/2014/main" val="10000"/>
                  </a:ext>
                </a:extLst>
              </a:tr>
              <a:tr h="497840">
                <a:tc>
                  <a:txBody>
                    <a:bodyPr/>
                    <a:lstStyle/>
                    <a:p>
                      <a:pPr marL="64135">
                        <a:lnSpc>
                          <a:spcPct val="100000"/>
                        </a:lnSpc>
                      </a:pPr>
                      <a:r>
                        <a:rPr sz="1600" b="1" spc="10" dirty="0">
                          <a:solidFill>
                            <a:schemeClr val="tx1"/>
                          </a:solidFill>
                          <a:latin typeface="Arial"/>
                          <a:cs typeface="Arial"/>
                        </a:rPr>
                        <a:t>Poor</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spc="10" dirty="0">
                          <a:solidFill>
                            <a:schemeClr val="tx1"/>
                          </a:solidFill>
                          <a:latin typeface="Arial"/>
                          <a:cs typeface="Arial"/>
                        </a:rPr>
                        <a:t>2(6.5%)</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spc="10" dirty="0">
                          <a:solidFill>
                            <a:schemeClr val="tx1"/>
                          </a:solidFill>
                          <a:latin typeface="Arial"/>
                          <a:cs typeface="Arial"/>
                        </a:rPr>
                        <a:t>3(15.8%)</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b="1" spc="10" dirty="0">
                          <a:solidFill>
                            <a:schemeClr val="tx1"/>
                          </a:solidFill>
                          <a:latin typeface="Arial"/>
                          <a:cs typeface="Arial"/>
                        </a:rPr>
                        <a:t>5(10%)</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75920">
                <a:tc>
                  <a:txBody>
                    <a:bodyPr/>
                    <a:lstStyle/>
                    <a:p>
                      <a:pPr marL="64135">
                        <a:lnSpc>
                          <a:spcPct val="100000"/>
                        </a:lnSpc>
                      </a:pPr>
                      <a:r>
                        <a:rPr sz="1600" b="1" spc="10" dirty="0">
                          <a:solidFill>
                            <a:schemeClr val="tx1"/>
                          </a:solidFill>
                          <a:latin typeface="Arial"/>
                          <a:cs typeface="Arial"/>
                        </a:rPr>
                        <a:t>Fair</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spc="10" dirty="0">
                          <a:solidFill>
                            <a:schemeClr val="tx1"/>
                          </a:solidFill>
                          <a:latin typeface="Arial"/>
                          <a:cs typeface="Arial"/>
                        </a:rPr>
                        <a:t>3(9.7%)</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spc="10" dirty="0">
                          <a:solidFill>
                            <a:schemeClr val="tx1"/>
                          </a:solidFill>
                          <a:latin typeface="Arial"/>
                          <a:cs typeface="Arial"/>
                        </a:rPr>
                        <a:t>3(15.8%)</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b="1" spc="10" dirty="0">
                          <a:solidFill>
                            <a:schemeClr val="tx1"/>
                          </a:solidFill>
                          <a:latin typeface="Arial"/>
                          <a:cs typeface="Arial"/>
                        </a:rPr>
                        <a:t>6(12%)</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6560">
                <a:tc>
                  <a:txBody>
                    <a:bodyPr/>
                    <a:lstStyle/>
                    <a:p>
                      <a:pPr marL="64135">
                        <a:lnSpc>
                          <a:spcPct val="100000"/>
                        </a:lnSpc>
                      </a:pPr>
                      <a:r>
                        <a:rPr sz="1600" b="1" spc="10" dirty="0">
                          <a:solidFill>
                            <a:schemeClr val="tx1"/>
                          </a:solidFill>
                          <a:latin typeface="Arial"/>
                          <a:cs typeface="Arial"/>
                        </a:rPr>
                        <a:t>Good</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spc="10" dirty="0">
                          <a:solidFill>
                            <a:schemeClr val="tx1"/>
                          </a:solidFill>
                          <a:latin typeface="Arial"/>
                          <a:cs typeface="Arial"/>
                        </a:rPr>
                        <a:t>21(67.7%)</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spc="10" dirty="0">
                          <a:solidFill>
                            <a:schemeClr val="tx1"/>
                          </a:solidFill>
                          <a:latin typeface="Arial"/>
                          <a:cs typeface="Arial"/>
                        </a:rPr>
                        <a:t>10(52.6%)</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b="1" spc="10" dirty="0">
                          <a:solidFill>
                            <a:schemeClr val="tx1"/>
                          </a:solidFill>
                          <a:latin typeface="Arial"/>
                          <a:cs typeface="Arial"/>
                        </a:rPr>
                        <a:t>31(62%)</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26720">
                <a:tc>
                  <a:txBody>
                    <a:bodyPr/>
                    <a:lstStyle/>
                    <a:p>
                      <a:pPr marL="64135">
                        <a:lnSpc>
                          <a:spcPct val="100000"/>
                        </a:lnSpc>
                      </a:pPr>
                      <a:r>
                        <a:rPr sz="1600" b="1" spc="10" dirty="0">
                          <a:solidFill>
                            <a:schemeClr val="tx1"/>
                          </a:solidFill>
                          <a:latin typeface="Arial"/>
                          <a:cs typeface="Arial"/>
                        </a:rPr>
                        <a:t>Excellent</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spc="10" dirty="0">
                          <a:solidFill>
                            <a:schemeClr val="tx1"/>
                          </a:solidFill>
                          <a:latin typeface="Arial"/>
                          <a:cs typeface="Arial"/>
                        </a:rPr>
                        <a:t>5(16.1%)</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spc="10" dirty="0">
                          <a:solidFill>
                            <a:schemeClr val="tx1"/>
                          </a:solidFill>
                          <a:latin typeface="Arial"/>
                          <a:cs typeface="Arial"/>
                        </a:rPr>
                        <a:t>3(15.8%)</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b="1" spc="10" dirty="0">
                          <a:solidFill>
                            <a:schemeClr val="tx1"/>
                          </a:solidFill>
                          <a:latin typeface="Arial"/>
                          <a:cs typeface="Arial"/>
                        </a:rPr>
                        <a:t>8(16%)</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16560">
                <a:tc>
                  <a:txBody>
                    <a:bodyPr/>
                    <a:lstStyle/>
                    <a:p>
                      <a:pPr marL="64135">
                        <a:lnSpc>
                          <a:spcPct val="100000"/>
                        </a:lnSpc>
                      </a:pPr>
                      <a:r>
                        <a:rPr sz="1600" b="1" spc="10" dirty="0">
                          <a:solidFill>
                            <a:schemeClr val="tx1"/>
                          </a:solidFill>
                          <a:latin typeface="Arial"/>
                          <a:cs typeface="Arial"/>
                        </a:rPr>
                        <a:t>Total</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769">
                        <a:lnSpc>
                          <a:spcPct val="100000"/>
                        </a:lnSpc>
                      </a:pPr>
                      <a:r>
                        <a:rPr sz="1600" b="1" spc="10" dirty="0">
                          <a:solidFill>
                            <a:schemeClr val="tx1"/>
                          </a:solidFill>
                          <a:latin typeface="Arial"/>
                          <a:cs typeface="Arial"/>
                        </a:rPr>
                        <a:t>31(100%)</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769">
                        <a:lnSpc>
                          <a:spcPct val="100000"/>
                        </a:lnSpc>
                      </a:pPr>
                      <a:r>
                        <a:rPr sz="1600" b="1" spc="10" dirty="0">
                          <a:solidFill>
                            <a:schemeClr val="tx1"/>
                          </a:solidFill>
                          <a:latin typeface="Arial"/>
                          <a:cs typeface="Arial"/>
                        </a:rPr>
                        <a:t>19(100%)</a:t>
                      </a:r>
                      <a:endParaRPr sz="160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135">
                        <a:lnSpc>
                          <a:spcPct val="100000"/>
                        </a:lnSpc>
                      </a:pPr>
                      <a:r>
                        <a:rPr sz="1600" b="1" spc="10" dirty="0">
                          <a:solidFill>
                            <a:schemeClr val="tx1"/>
                          </a:solidFill>
                          <a:latin typeface="Arial"/>
                          <a:cs typeface="Arial"/>
                        </a:rPr>
                        <a:t>50(100%)</a:t>
                      </a:r>
                      <a:endParaRPr sz="1600" dirty="0">
                        <a:solidFill>
                          <a:schemeClr val="tx1"/>
                        </a:solidFill>
                        <a:latin typeface="Arial"/>
                        <a:cs typeface="Arial"/>
                      </a:endParaRPr>
                    </a:p>
                  </a:txBody>
                  <a:tcPr marL="0" marR="0" marT="0" marB="0" anchor="ctr">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sp>
        <p:nvSpPr>
          <p:cNvPr id="6" name="object 4">
            <a:extLst>
              <a:ext uri="{FF2B5EF4-FFF2-40B4-BE49-F238E27FC236}">
                <a16:creationId xmlns:a16="http://schemas.microsoft.com/office/drawing/2014/main" id="{215FDB2B-B76C-440E-82B5-7AFAB56F9D0E}"/>
              </a:ext>
            </a:extLst>
          </p:cNvPr>
          <p:cNvSpPr txBox="1"/>
          <p:nvPr/>
        </p:nvSpPr>
        <p:spPr>
          <a:xfrm>
            <a:off x="8065669" y="3867900"/>
            <a:ext cx="4439920" cy="293029"/>
          </a:xfrm>
          <a:prstGeom prst="rect">
            <a:avLst/>
          </a:prstGeom>
        </p:spPr>
        <p:txBody>
          <a:bodyPr vert="horz" wrap="square" lIns="0" tIns="15875" rIns="0" bIns="0" rtlCol="0">
            <a:spAutoFit/>
          </a:bodyPr>
          <a:lstStyle/>
          <a:p>
            <a:pPr marL="12700">
              <a:lnSpc>
                <a:spcPct val="100000"/>
              </a:lnSpc>
              <a:spcBef>
                <a:spcPts val="125"/>
              </a:spcBef>
            </a:pPr>
            <a:r>
              <a:rPr spc="10" dirty="0">
                <a:latin typeface="Arial"/>
                <a:cs typeface="Arial"/>
              </a:rPr>
              <a:t>P=0.380, Not significant, student </a:t>
            </a:r>
            <a:r>
              <a:rPr spc="5" dirty="0">
                <a:latin typeface="Arial"/>
                <a:cs typeface="Arial"/>
              </a:rPr>
              <a:t>t</a:t>
            </a:r>
            <a:r>
              <a:rPr spc="-40" dirty="0">
                <a:latin typeface="Arial"/>
                <a:cs typeface="Arial"/>
              </a:rPr>
              <a:t> </a:t>
            </a:r>
            <a:r>
              <a:rPr spc="10" dirty="0">
                <a:latin typeface="Arial"/>
                <a:cs typeface="Arial"/>
              </a:rPr>
              <a:t>test</a:t>
            </a:r>
            <a:endParaRPr dirty="0">
              <a:latin typeface="Arial"/>
              <a:cs typeface="Arial"/>
            </a:endParaRPr>
          </a:p>
        </p:txBody>
      </p:sp>
      <p:sp>
        <p:nvSpPr>
          <p:cNvPr id="8" name="TextBox 7">
            <a:extLst>
              <a:ext uri="{FF2B5EF4-FFF2-40B4-BE49-F238E27FC236}">
                <a16:creationId xmlns:a16="http://schemas.microsoft.com/office/drawing/2014/main" id="{707C2A66-974A-45E5-9324-DB9950C8A7BA}"/>
              </a:ext>
            </a:extLst>
          </p:cNvPr>
          <p:cNvSpPr txBox="1"/>
          <p:nvPr/>
        </p:nvSpPr>
        <p:spPr>
          <a:xfrm>
            <a:off x="682914" y="5090119"/>
            <a:ext cx="11297922" cy="1569660"/>
          </a:xfrm>
          <a:prstGeom prst="rect">
            <a:avLst/>
          </a:prstGeom>
          <a:noFill/>
        </p:spPr>
        <p:txBody>
          <a:bodyPr wrap="square">
            <a:spAutoFit/>
          </a:bodyPr>
          <a:lstStyle/>
          <a:p>
            <a:pPr marL="342900" indent="-342900">
              <a:buFont typeface="Wingdings" panose="05000000000000000000" pitchFamily="2" charset="2"/>
              <a:buChar char="Ø"/>
            </a:pPr>
            <a:r>
              <a:rPr lang="en-US" sz="2400" b="0" i="0" u="none" strike="noStrike" baseline="0" dirty="0">
                <a:latin typeface="Calibri" panose="020F0502020204030204" pitchFamily="34" charset="0"/>
                <a:ea typeface="Cambria Math" panose="02040503050406030204" pitchFamily="18" charset="0"/>
                <a:cs typeface="Calibri" panose="020F0502020204030204" pitchFamily="34" charset="0"/>
              </a:rPr>
              <a:t>In our study we found there is no significant difference in plating and nailing for distal tibia fractures with respect to functional and radiological out come when evaluated with Ankle evaluation scoring system (Merchant &amp; Dietz) and criteria for evaluation of final results (</a:t>
            </a:r>
            <a:r>
              <a:rPr lang="en-US" sz="2400" b="0" i="0" u="none" strike="noStrike" baseline="0" dirty="0" err="1">
                <a:latin typeface="Calibri" panose="020F0502020204030204" pitchFamily="34" charset="0"/>
                <a:ea typeface="Cambria Math" panose="02040503050406030204" pitchFamily="18" charset="0"/>
                <a:cs typeface="Calibri" panose="020F0502020204030204" pitchFamily="34" charset="0"/>
              </a:rPr>
              <a:t>Johner</a:t>
            </a:r>
            <a:r>
              <a:rPr lang="en-US" sz="2400" b="0" i="0" u="none" strike="noStrike" baseline="0" dirty="0">
                <a:latin typeface="Calibri" panose="020F0502020204030204" pitchFamily="34" charset="0"/>
                <a:ea typeface="Cambria Math" panose="02040503050406030204" pitchFamily="18" charset="0"/>
                <a:cs typeface="Calibri" panose="020F0502020204030204" pitchFamily="34" charset="0"/>
              </a:rPr>
              <a:t> &amp; </a:t>
            </a:r>
            <a:r>
              <a:rPr lang="en-US" sz="2400" b="0" i="0" u="none" strike="noStrike" baseline="0" dirty="0" err="1">
                <a:latin typeface="Calibri" panose="020F0502020204030204" pitchFamily="34" charset="0"/>
                <a:ea typeface="Cambria Math" panose="02040503050406030204" pitchFamily="18" charset="0"/>
                <a:cs typeface="Calibri" panose="020F0502020204030204" pitchFamily="34" charset="0"/>
              </a:rPr>
              <a:t>Wruhs</a:t>
            </a:r>
            <a:r>
              <a:rPr lang="en-US" sz="2400" b="0" i="0" u="none" strike="noStrike" baseline="0" dirty="0">
                <a:latin typeface="Calibri" panose="020F0502020204030204" pitchFamily="34" charset="0"/>
                <a:ea typeface="Cambria Math" panose="02040503050406030204" pitchFamily="18" charset="0"/>
                <a:cs typeface="Calibri" panose="020F0502020204030204" pitchFamily="34" charset="0"/>
              </a:rPr>
              <a:t>) </a:t>
            </a:r>
            <a:endParaRPr lang="en-IN" sz="2400" dirty="0">
              <a:latin typeface="Calibri" panose="020F0502020204030204" pitchFamily="34" charset="0"/>
              <a:ea typeface="Cambria Math" panose="02040503050406030204" pitchFamily="18" charset="0"/>
              <a:cs typeface="Calibri" panose="020F0502020204030204" pitchFamily="34" charset="0"/>
            </a:endParaRPr>
          </a:p>
        </p:txBody>
      </p:sp>
    </p:spTree>
    <p:extLst>
      <p:ext uri="{BB962C8B-B14F-4D97-AF65-F5344CB8AC3E}">
        <p14:creationId xmlns:p14="http://schemas.microsoft.com/office/powerpoint/2010/main" val="4050586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FD860F0-9F7D-485A-A124-FB8C4FB9210D}"/>
              </a:ext>
            </a:extLst>
          </p:cNvPr>
          <p:cNvSpPr>
            <a:spLocks noGrp="1"/>
          </p:cNvSpPr>
          <p:nvPr>
            <p:ph type="title"/>
          </p:nvPr>
        </p:nvSpPr>
        <p:spPr>
          <a:xfrm>
            <a:off x="470837" y="667265"/>
            <a:ext cx="11231012" cy="1062674"/>
          </a:xfrm>
        </p:spPr>
        <p:txBody>
          <a:bodyPr anchor="ctr"/>
          <a:lstStyle/>
          <a:p>
            <a:pPr algn="ctr"/>
            <a:r>
              <a:rPr lang="en-IN" dirty="0"/>
              <a:t>DISCUSSION</a:t>
            </a:r>
          </a:p>
        </p:txBody>
      </p:sp>
      <p:sp>
        <p:nvSpPr>
          <p:cNvPr id="3" name="Content Placeholder 2">
            <a:extLst>
              <a:ext uri="{FF2B5EF4-FFF2-40B4-BE49-F238E27FC236}">
                <a16:creationId xmlns:a16="http://schemas.microsoft.com/office/drawing/2014/main" id="{85055B30-CC7C-4881-91DF-6D6377F77655}"/>
              </a:ext>
            </a:extLst>
          </p:cNvPr>
          <p:cNvSpPr>
            <a:spLocks noGrp="1"/>
          </p:cNvSpPr>
          <p:nvPr>
            <p:ph idx="1"/>
          </p:nvPr>
        </p:nvSpPr>
        <p:spPr>
          <a:xfrm>
            <a:off x="648547" y="2247406"/>
            <a:ext cx="10894906" cy="4527522"/>
          </a:xfrm>
        </p:spPr>
        <p:txBody>
          <a:bodyPr>
            <a:normAutofit/>
          </a:bodyPr>
          <a:lstStyle/>
          <a:p>
            <a:pPr>
              <a:lnSpc>
                <a:spcPct val="150000"/>
              </a:lnSpc>
            </a:pPr>
            <a:r>
              <a:rPr lang="en-US" sz="2400" b="0" i="0" u="none" strike="noStrike" baseline="0" dirty="0">
                <a:solidFill>
                  <a:srgbClr val="000000"/>
                </a:solidFill>
                <a:latin typeface="Calibri" panose="020F0502020204030204" pitchFamily="34" charset="0"/>
                <a:cs typeface="Calibri" panose="020F0502020204030204" pitchFamily="34" charset="0"/>
              </a:rPr>
              <a:t>The present study was undertaken to compare the functional and radiological outcome of plate osteosynthesis versus intramedullary nailing for distal tibia fractures. </a:t>
            </a:r>
          </a:p>
          <a:p>
            <a:pPr>
              <a:lnSpc>
                <a:spcPct val="150000"/>
              </a:lnSpc>
            </a:pPr>
            <a:r>
              <a:rPr lang="en-US" sz="2400" b="0" i="0" u="none" strike="noStrike" baseline="0" dirty="0">
                <a:solidFill>
                  <a:srgbClr val="000000"/>
                </a:solidFill>
                <a:latin typeface="Calibri" panose="020F0502020204030204" pitchFamily="34" charset="0"/>
                <a:cs typeface="Calibri" panose="020F0502020204030204" pitchFamily="34" charset="0"/>
              </a:rPr>
              <a:t>We evaluated our results and compared them to those obtained by various other studies utilizing various modalities of treatment. </a:t>
            </a:r>
          </a:p>
          <a:p>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20947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4F46D4-A2DD-463F-A50F-A6AED1D3F334}"/>
              </a:ext>
            </a:extLst>
          </p:cNvPr>
          <p:cNvSpPr>
            <a:spLocks noGrp="1"/>
          </p:cNvSpPr>
          <p:nvPr>
            <p:ph idx="1"/>
          </p:nvPr>
        </p:nvSpPr>
        <p:spPr>
          <a:xfrm>
            <a:off x="760811" y="2079504"/>
            <a:ext cx="10376746" cy="4630215"/>
          </a:xfrm>
        </p:spPr>
        <p:txBody>
          <a:bodyPr>
            <a:normAutofit/>
          </a:bodyPr>
          <a:lstStyle/>
          <a:p>
            <a:r>
              <a:rPr lang="en-US" sz="2400" b="0" i="0" u="none" strike="noStrike" baseline="0" dirty="0">
                <a:solidFill>
                  <a:srgbClr val="000000"/>
                </a:solidFill>
                <a:latin typeface="Calibri" panose="020F0502020204030204" pitchFamily="34" charset="0"/>
                <a:cs typeface="Calibri" panose="020F0502020204030204" pitchFamily="34" charset="0"/>
              </a:rPr>
              <a:t>Patients who underwent nailing for distal tibia fractures had faster union </a:t>
            </a:r>
          </a:p>
          <a:p>
            <a:r>
              <a:rPr lang="en-US" sz="2400" b="0" i="0" u="none" strike="noStrike" baseline="0" dirty="0">
                <a:solidFill>
                  <a:srgbClr val="000000"/>
                </a:solidFill>
                <a:latin typeface="Calibri" panose="020F0502020204030204" pitchFamily="34" charset="0"/>
                <a:cs typeface="Calibri" panose="020F0502020204030204" pitchFamily="34" charset="0"/>
              </a:rPr>
              <a:t>In our study we found there is </a:t>
            </a:r>
            <a:r>
              <a:rPr lang="en-US" sz="2400" b="0" i="0" u="none" strike="noStrike" baseline="0" dirty="0">
                <a:solidFill>
                  <a:srgbClr val="FF0000"/>
                </a:solidFill>
                <a:latin typeface="Calibri" panose="020F0502020204030204" pitchFamily="34" charset="0"/>
                <a:cs typeface="Calibri" panose="020F0502020204030204" pitchFamily="34" charset="0"/>
              </a:rPr>
              <a:t>no significant difference </a:t>
            </a:r>
            <a:r>
              <a:rPr lang="en-US" sz="2400" b="0" i="0" u="none" strike="noStrike" baseline="0" dirty="0">
                <a:solidFill>
                  <a:srgbClr val="000000"/>
                </a:solidFill>
                <a:latin typeface="Calibri" panose="020F0502020204030204" pitchFamily="34" charset="0"/>
                <a:cs typeface="Calibri" panose="020F0502020204030204" pitchFamily="34" charset="0"/>
              </a:rPr>
              <a:t>in plating and nailing for distal tibia fractures </a:t>
            </a:r>
            <a:r>
              <a:rPr lang="en-US" sz="2400" b="0" i="0" u="none" strike="noStrike" baseline="0" dirty="0">
                <a:solidFill>
                  <a:srgbClr val="FF0000"/>
                </a:solidFill>
                <a:latin typeface="Calibri" panose="020F0502020204030204" pitchFamily="34" charset="0"/>
                <a:cs typeface="Calibri" panose="020F0502020204030204" pitchFamily="34" charset="0"/>
              </a:rPr>
              <a:t>with respect to range of motion</a:t>
            </a:r>
            <a:r>
              <a:rPr lang="en-US" sz="2400" b="0" i="0" u="none" strike="noStrike" baseline="0" dirty="0">
                <a:solidFill>
                  <a:srgbClr val="000000"/>
                </a:solidFill>
                <a:latin typeface="Calibri" panose="020F0502020204030204" pitchFamily="34" charset="0"/>
                <a:cs typeface="Calibri" panose="020F0502020204030204" pitchFamily="34" charset="0"/>
              </a:rPr>
              <a:t>. </a:t>
            </a:r>
          </a:p>
          <a:p>
            <a:r>
              <a:rPr lang="en-US" sz="2400" b="0" i="0" u="none" strike="noStrike" baseline="0" dirty="0">
                <a:solidFill>
                  <a:srgbClr val="000000"/>
                </a:solidFill>
                <a:latin typeface="Calibri" panose="020F0502020204030204" pitchFamily="34" charset="0"/>
                <a:cs typeface="Calibri" panose="020F0502020204030204" pitchFamily="34" charset="0"/>
              </a:rPr>
              <a:t>In a study conducted by J. J. Guo </a:t>
            </a:r>
            <a:r>
              <a:rPr lang="en-US" sz="2400" b="1" i="0" u="none" strike="noStrike" baseline="0" dirty="0">
                <a:solidFill>
                  <a:srgbClr val="000000"/>
                </a:solidFill>
                <a:latin typeface="Calibri" panose="020F0502020204030204" pitchFamily="34" charset="0"/>
                <a:cs typeface="Calibri" panose="020F0502020204030204" pitchFamily="34" charset="0"/>
              </a:rPr>
              <a:t> </a:t>
            </a:r>
            <a:r>
              <a:rPr lang="en-US" sz="2400" b="0" i="0" u="none" strike="noStrike" baseline="0" dirty="0">
                <a:solidFill>
                  <a:srgbClr val="FF0000"/>
                </a:solidFill>
                <a:latin typeface="Calibri" panose="020F0502020204030204" pitchFamily="34" charset="0"/>
                <a:cs typeface="Calibri" panose="020F0502020204030204" pitchFamily="34" charset="0"/>
              </a:rPr>
              <a:t>wound complications were more common in the LCP Group</a:t>
            </a:r>
            <a:r>
              <a:rPr lang="en-US" sz="2400" b="0" i="0" u="none" strike="noStrike" baseline="0" dirty="0">
                <a:solidFill>
                  <a:srgbClr val="000000"/>
                </a:solidFill>
                <a:latin typeface="Calibri" panose="020F0502020204030204" pitchFamily="34" charset="0"/>
                <a:cs typeface="Calibri" panose="020F0502020204030204" pitchFamily="34" charset="0"/>
              </a:rPr>
              <a:t>, 14.6% compared with 6.8% in the IMN group. All were delayed wound healing </a:t>
            </a:r>
            <a:endParaRPr lang="en-IN" sz="2400" b="0" i="0" u="none" strike="noStrike" baseline="0" dirty="0">
              <a:solidFill>
                <a:srgbClr val="000000"/>
              </a:solidFill>
              <a:latin typeface="Calibri" panose="020F0502020204030204" pitchFamily="34" charset="0"/>
              <a:cs typeface="Calibri" panose="020F0502020204030204" pitchFamily="34" charset="0"/>
            </a:endParaRPr>
          </a:p>
          <a:p>
            <a:r>
              <a:rPr lang="en-US" sz="2400" b="0" i="1" u="none" strike="noStrike" baseline="0" dirty="0">
                <a:solidFill>
                  <a:srgbClr val="000000"/>
                </a:solidFill>
                <a:latin typeface="Calibri" panose="020F0502020204030204" pitchFamily="34" charset="0"/>
                <a:cs typeface="Calibri" panose="020F0502020204030204" pitchFamily="34" charset="0"/>
              </a:rPr>
              <a:t>Guo JJ, Tang N, Yang HL, Tang TS. A prospective, randomized trial comparing closed intramedullary nailing with percutaneous plating in the treatment of distal metaphyseal fractures of the tibia. J Bone Joint Surg [Br]. 2010; 92-B:984-988 </a:t>
            </a:r>
          </a:p>
          <a:p>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88937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A45A5D-A76C-492F-BC90-2BA0CFC0C1BE}"/>
              </a:ext>
            </a:extLst>
          </p:cNvPr>
          <p:cNvSpPr>
            <a:spLocks noGrp="1"/>
          </p:cNvSpPr>
          <p:nvPr>
            <p:ph idx="1"/>
          </p:nvPr>
        </p:nvSpPr>
        <p:spPr>
          <a:xfrm>
            <a:off x="745067" y="1822486"/>
            <a:ext cx="10701866" cy="4812002"/>
          </a:xfrm>
        </p:spPr>
        <p:txBody>
          <a:bodyPr>
            <a:normAutofit/>
          </a:bodyPr>
          <a:lstStyle/>
          <a:p>
            <a:pPr>
              <a:lnSpc>
                <a:spcPct val="120000"/>
              </a:lnSpc>
            </a:pPr>
            <a:r>
              <a:rPr lang="en-US" sz="2400" b="0" i="0" u="none" strike="noStrike" baseline="0" dirty="0">
                <a:solidFill>
                  <a:srgbClr val="000000"/>
                </a:solidFill>
                <a:latin typeface="Calibri" panose="020F0502020204030204" pitchFamily="34" charset="0"/>
                <a:cs typeface="Calibri" panose="020F0502020204030204" pitchFamily="34" charset="0"/>
              </a:rPr>
              <a:t>In a study conducted by </a:t>
            </a:r>
            <a:r>
              <a:rPr lang="en-US" sz="2400" b="0" i="0" u="none" strike="noStrike" baseline="0" dirty="0" err="1">
                <a:solidFill>
                  <a:srgbClr val="000000"/>
                </a:solidFill>
                <a:latin typeface="Calibri" panose="020F0502020204030204" pitchFamily="34" charset="0"/>
                <a:cs typeface="Calibri" panose="020F0502020204030204" pitchFamily="34" charset="0"/>
              </a:rPr>
              <a:t>C.Mauffrey</a:t>
            </a:r>
            <a:r>
              <a:rPr lang="en-US" sz="2400" b="0" i="0" u="none" strike="noStrike" baseline="0" dirty="0">
                <a:solidFill>
                  <a:srgbClr val="000000"/>
                </a:solidFill>
                <a:latin typeface="Calibri" panose="020F0502020204030204" pitchFamily="34" charset="0"/>
                <a:cs typeface="Calibri" panose="020F0502020204030204" pitchFamily="34" charset="0"/>
              </a:rPr>
              <a:t> </a:t>
            </a:r>
            <a:r>
              <a:rPr lang="en-US" sz="2400" b="0" i="1" u="none" strike="noStrike" baseline="0" dirty="0">
                <a:solidFill>
                  <a:srgbClr val="000000"/>
                </a:solidFill>
                <a:latin typeface="Calibri" panose="020F0502020204030204" pitchFamily="34" charset="0"/>
                <a:cs typeface="Calibri" panose="020F0502020204030204" pitchFamily="34" charset="0"/>
              </a:rPr>
              <a:t>et al </a:t>
            </a:r>
            <a:r>
              <a:rPr lang="en-US" sz="2400" b="1" i="0" u="none" strike="noStrike" baseline="0" dirty="0">
                <a:solidFill>
                  <a:srgbClr val="000000"/>
                </a:solidFill>
                <a:latin typeface="Calibri" panose="020F0502020204030204" pitchFamily="34" charset="0"/>
                <a:cs typeface="Calibri" panose="020F0502020204030204" pitchFamily="34" charset="0"/>
              </a:rPr>
              <a:t> </a:t>
            </a:r>
            <a:r>
              <a:rPr lang="en-US" sz="2400" b="0" i="0" u="none" strike="noStrike" baseline="0" dirty="0">
                <a:solidFill>
                  <a:srgbClr val="000000"/>
                </a:solidFill>
                <a:latin typeface="Calibri" panose="020F0502020204030204" pitchFamily="34" charset="0"/>
                <a:cs typeface="Calibri" panose="020F0502020204030204" pitchFamily="34" charset="0"/>
              </a:rPr>
              <a:t>a randomized pilot trial of “locking plate” fixation versus intramedullary nailing for extra-articular fractures of the distal tibia, three patients (6.8%) in the IM nail group and six (14.6%) in the locking-plate group had wound problems. </a:t>
            </a:r>
          </a:p>
          <a:p>
            <a:pPr>
              <a:lnSpc>
                <a:spcPct val="120000"/>
              </a:lnSpc>
            </a:pPr>
            <a:r>
              <a:rPr lang="en-US" sz="2400" b="0" i="0" u="none" strike="noStrike" baseline="0" dirty="0">
                <a:solidFill>
                  <a:srgbClr val="000000"/>
                </a:solidFill>
                <a:latin typeface="Calibri" panose="020F0502020204030204" pitchFamily="34" charset="0"/>
                <a:cs typeface="Calibri" panose="020F0502020204030204" pitchFamily="34" charset="0"/>
              </a:rPr>
              <a:t>Compartment syndrome was noted in one patient in each group </a:t>
            </a:r>
            <a:endParaRPr lang="en-US" sz="2400" dirty="0">
              <a:solidFill>
                <a:srgbClr val="000000"/>
              </a:solidFill>
              <a:latin typeface="Calibri" panose="020F0502020204030204" pitchFamily="34" charset="0"/>
              <a:cs typeface="Calibri" panose="020F0502020204030204" pitchFamily="34" charset="0"/>
            </a:endParaRPr>
          </a:p>
          <a:p>
            <a:pPr algn="l"/>
            <a:endParaRPr lang="en-IN" sz="2400" b="0" i="0" u="none" strike="noStrike" baseline="0" dirty="0">
              <a:solidFill>
                <a:srgbClr val="000000"/>
              </a:solidFill>
              <a:latin typeface="Calibri" panose="020F0502020204030204" pitchFamily="34" charset="0"/>
              <a:cs typeface="Calibri" panose="020F0502020204030204" pitchFamily="34" charset="0"/>
            </a:endParaRPr>
          </a:p>
          <a:p>
            <a:r>
              <a:rPr lang="en-US" sz="2400" b="0" i="1" u="none" strike="noStrike" baseline="0" dirty="0">
                <a:solidFill>
                  <a:srgbClr val="000000"/>
                </a:solidFill>
                <a:latin typeface="Calibri" panose="020F0502020204030204" pitchFamily="34" charset="0"/>
                <a:cs typeface="Calibri" panose="020F0502020204030204" pitchFamily="34" charset="0"/>
              </a:rPr>
              <a:t>Guo JJ, Tang N, Yang HL, Tang TS. A prospective, randomized trial comparing closed intramedullary nailing with percutaneous plating in the treatment of distal metaphyseal fractures of the tibia. J Bone Joint Surg [Br]. 2010; 92-B:984-988. </a:t>
            </a:r>
          </a:p>
        </p:txBody>
      </p:sp>
    </p:spTree>
    <p:extLst>
      <p:ext uri="{BB962C8B-B14F-4D97-AF65-F5344CB8AC3E}">
        <p14:creationId xmlns:p14="http://schemas.microsoft.com/office/powerpoint/2010/main" val="514824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3D7DD779-9DDC-48DD-A7ED-89B63225DAC9}"/>
              </a:ext>
            </a:extLst>
          </p:cNvPr>
          <p:cNvSpPr/>
          <p:nvPr/>
        </p:nvSpPr>
        <p:spPr>
          <a:xfrm>
            <a:off x="2230014" y="2119457"/>
            <a:ext cx="2242905" cy="3848862"/>
          </a:xfrm>
          <a:prstGeom prst="rect">
            <a:avLst/>
          </a:prstGeom>
          <a:blipFill>
            <a:blip r:embed="rId2" cstate="print"/>
            <a:stretch>
              <a:fillRect/>
            </a:stretch>
          </a:blipFill>
        </p:spPr>
        <p:txBody>
          <a:bodyPr wrap="square" lIns="0" tIns="0" rIns="0" bIns="0" rtlCol="0"/>
          <a:lstStyle/>
          <a:p>
            <a:endParaRPr dirty="0"/>
          </a:p>
        </p:txBody>
      </p:sp>
      <p:sp>
        <p:nvSpPr>
          <p:cNvPr id="8" name="object 7">
            <a:extLst>
              <a:ext uri="{FF2B5EF4-FFF2-40B4-BE49-F238E27FC236}">
                <a16:creationId xmlns:a16="http://schemas.microsoft.com/office/drawing/2014/main" id="{5ADF0C1C-15B5-4F47-8BA7-CEB5EBC13903}"/>
              </a:ext>
            </a:extLst>
          </p:cNvPr>
          <p:cNvSpPr/>
          <p:nvPr/>
        </p:nvSpPr>
        <p:spPr>
          <a:xfrm>
            <a:off x="5003396" y="2119457"/>
            <a:ext cx="2091579" cy="3848862"/>
          </a:xfrm>
          <a:prstGeom prst="rect">
            <a:avLst/>
          </a:prstGeom>
          <a:blipFill>
            <a:blip r:embed="rId3" cstate="print"/>
            <a:stretch>
              <a:fillRect/>
            </a:stretch>
          </a:blipFill>
        </p:spPr>
        <p:txBody>
          <a:bodyPr wrap="square" lIns="0" tIns="0" rIns="0" bIns="0" rtlCol="0"/>
          <a:lstStyle/>
          <a:p>
            <a:endParaRPr dirty="0"/>
          </a:p>
        </p:txBody>
      </p:sp>
      <p:sp>
        <p:nvSpPr>
          <p:cNvPr id="11" name="object 10">
            <a:extLst>
              <a:ext uri="{FF2B5EF4-FFF2-40B4-BE49-F238E27FC236}">
                <a16:creationId xmlns:a16="http://schemas.microsoft.com/office/drawing/2014/main" id="{92CE4D0F-0E88-4636-B233-6D6B9AA80A70}"/>
              </a:ext>
            </a:extLst>
          </p:cNvPr>
          <p:cNvSpPr/>
          <p:nvPr/>
        </p:nvSpPr>
        <p:spPr>
          <a:xfrm>
            <a:off x="7676252" y="2010177"/>
            <a:ext cx="2244289" cy="3958142"/>
          </a:xfrm>
          <a:prstGeom prst="rect">
            <a:avLst/>
          </a:prstGeom>
          <a:blipFill>
            <a:blip r:embed="rId4" cstate="print"/>
            <a:stretch>
              <a:fillRect/>
            </a:stretch>
          </a:blipFill>
        </p:spPr>
        <p:txBody>
          <a:bodyPr wrap="square" lIns="0" tIns="0" rIns="0" bIns="0" rtlCol="0"/>
          <a:lstStyle/>
          <a:p>
            <a:endParaRPr dirty="0"/>
          </a:p>
        </p:txBody>
      </p:sp>
      <p:sp>
        <p:nvSpPr>
          <p:cNvPr id="13" name="object 12">
            <a:extLst>
              <a:ext uri="{FF2B5EF4-FFF2-40B4-BE49-F238E27FC236}">
                <a16:creationId xmlns:a16="http://schemas.microsoft.com/office/drawing/2014/main" id="{EFA65739-F399-47EC-8DDB-A46C9FA81E45}"/>
              </a:ext>
            </a:extLst>
          </p:cNvPr>
          <p:cNvSpPr txBox="1"/>
          <p:nvPr/>
        </p:nvSpPr>
        <p:spPr>
          <a:xfrm>
            <a:off x="2606403" y="6273119"/>
            <a:ext cx="1302050" cy="170560"/>
          </a:xfrm>
          <a:prstGeom prst="rect">
            <a:avLst/>
          </a:prstGeom>
        </p:spPr>
        <p:txBody>
          <a:bodyPr vert="horz" wrap="square" lIns="0" tIns="16510" rIns="0" bIns="0" rtlCol="0">
            <a:spAutoFit/>
          </a:bodyPr>
          <a:lstStyle/>
          <a:p>
            <a:pPr marL="12700">
              <a:lnSpc>
                <a:spcPct val="100000"/>
              </a:lnSpc>
              <a:spcBef>
                <a:spcPts val="130"/>
              </a:spcBef>
            </a:pPr>
            <a:r>
              <a:rPr sz="1000" b="1" spc="15" dirty="0">
                <a:latin typeface="Arial"/>
                <a:cs typeface="Arial"/>
              </a:rPr>
              <a:t>Pre-Op</a:t>
            </a:r>
            <a:r>
              <a:rPr sz="1000" b="1" spc="-35" dirty="0">
                <a:latin typeface="Arial"/>
                <a:cs typeface="Arial"/>
              </a:rPr>
              <a:t> </a:t>
            </a:r>
            <a:r>
              <a:rPr sz="1000" b="1" spc="15" dirty="0">
                <a:latin typeface="Arial"/>
                <a:cs typeface="Arial"/>
              </a:rPr>
              <a:t>X-Ray</a:t>
            </a:r>
            <a:endParaRPr sz="1000" dirty="0">
              <a:latin typeface="Arial"/>
              <a:cs typeface="Arial"/>
            </a:endParaRPr>
          </a:p>
        </p:txBody>
      </p:sp>
      <p:sp>
        <p:nvSpPr>
          <p:cNvPr id="14" name="object 13">
            <a:extLst>
              <a:ext uri="{FF2B5EF4-FFF2-40B4-BE49-F238E27FC236}">
                <a16:creationId xmlns:a16="http://schemas.microsoft.com/office/drawing/2014/main" id="{C26DE368-A64C-4D54-A1F3-679AC71AF67D}"/>
              </a:ext>
            </a:extLst>
          </p:cNvPr>
          <p:cNvSpPr txBox="1"/>
          <p:nvPr/>
        </p:nvSpPr>
        <p:spPr>
          <a:xfrm>
            <a:off x="5003397" y="6273119"/>
            <a:ext cx="2368312" cy="170560"/>
          </a:xfrm>
          <a:prstGeom prst="rect">
            <a:avLst/>
          </a:prstGeom>
        </p:spPr>
        <p:txBody>
          <a:bodyPr vert="horz" wrap="square" lIns="0" tIns="16510" rIns="0" bIns="0" rtlCol="0">
            <a:spAutoFit/>
          </a:bodyPr>
          <a:lstStyle/>
          <a:p>
            <a:pPr marL="12700">
              <a:lnSpc>
                <a:spcPct val="100000"/>
              </a:lnSpc>
              <a:spcBef>
                <a:spcPts val="130"/>
              </a:spcBef>
            </a:pPr>
            <a:r>
              <a:rPr sz="1000" b="1" spc="15" dirty="0">
                <a:latin typeface="Arial"/>
                <a:cs typeface="Arial"/>
              </a:rPr>
              <a:t>Immediate Post-Op</a:t>
            </a:r>
            <a:r>
              <a:rPr sz="1000" b="1" spc="-30" dirty="0">
                <a:latin typeface="Arial"/>
                <a:cs typeface="Arial"/>
              </a:rPr>
              <a:t> </a:t>
            </a:r>
            <a:r>
              <a:rPr sz="1000" b="1" spc="15" dirty="0">
                <a:latin typeface="Arial"/>
                <a:cs typeface="Arial"/>
              </a:rPr>
              <a:t>X-ray</a:t>
            </a:r>
            <a:endParaRPr sz="1000" dirty="0">
              <a:latin typeface="Arial"/>
              <a:cs typeface="Arial"/>
            </a:endParaRPr>
          </a:p>
        </p:txBody>
      </p:sp>
      <p:sp>
        <p:nvSpPr>
          <p:cNvPr id="15" name="object 14">
            <a:extLst>
              <a:ext uri="{FF2B5EF4-FFF2-40B4-BE49-F238E27FC236}">
                <a16:creationId xmlns:a16="http://schemas.microsoft.com/office/drawing/2014/main" id="{655432F9-C0CC-4CD7-9F92-2C043E49F0B1}"/>
              </a:ext>
            </a:extLst>
          </p:cNvPr>
          <p:cNvSpPr txBox="1"/>
          <p:nvPr/>
        </p:nvSpPr>
        <p:spPr>
          <a:xfrm>
            <a:off x="7972853" y="6273119"/>
            <a:ext cx="2271723" cy="170560"/>
          </a:xfrm>
          <a:prstGeom prst="rect">
            <a:avLst/>
          </a:prstGeom>
        </p:spPr>
        <p:txBody>
          <a:bodyPr vert="horz" wrap="square" lIns="0" tIns="16510" rIns="0" bIns="0" rtlCol="0">
            <a:spAutoFit/>
          </a:bodyPr>
          <a:lstStyle/>
          <a:p>
            <a:pPr marL="12700">
              <a:lnSpc>
                <a:spcPct val="100000"/>
              </a:lnSpc>
              <a:spcBef>
                <a:spcPts val="130"/>
              </a:spcBef>
            </a:pPr>
            <a:r>
              <a:rPr sz="1000" b="1" spc="15" dirty="0">
                <a:latin typeface="Arial"/>
                <a:cs typeface="Arial"/>
              </a:rPr>
              <a:t>8 months Post-Op</a:t>
            </a:r>
            <a:r>
              <a:rPr sz="1000" b="1" spc="-35" dirty="0">
                <a:latin typeface="Arial"/>
                <a:cs typeface="Arial"/>
              </a:rPr>
              <a:t> </a:t>
            </a:r>
            <a:r>
              <a:rPr sz="1000" b="1" spc="15" dirty="0">
                <a:latin typeface="Arial"/>
                <a:cs typeface="Arial"/>
              </a:rPr>
              <a:t>X-ray</a:t>
            </a:r>
            <a:endParaRPr sz="1000" dirty="0">
              <a:latin typeface="Arial"/>
              <a:cs typeface="Arial"/>
            </a:endParaRPr>
          </a:p>
        </p:txBody>
      </p:sp>
    </p:spTree>
    <p:extLst>
      <p:ext uri="{BB962C8B-B14F-4D97-AF65-F5344CB8AC3E}">
        <p14:creationId xmlns:p14="http://schemas.microsoft.com/office/powerpoint/2010/main" val="2834328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7BE32-8D68-43FE-BB45-3295E7BB288A}"/>
              </a:ext>
            </a:extLst>
          </p:cNvPr>
          <p:cNvSpPr>
            <a:spLocks noGrp="1"/>
          </p:cNvSpPr>
          <p:nvPr>
            <p:ph type="title"/>
          </p:nvPr>
        </p:nvSpPr>
        <p:spPr>
          <a:xfrm>
            <a:off x="536786" y="667265"/>
            <a:ext cx="11118425" cy="1052521"/>
          </a:xfrm>
        </p:spPr>
        <p:txBody>
          <a:bodyPr anchor="ctr"/>
          <a:lstStyle/>
          <a:p>
            <a:pPr algn="ctr"/>
            <a:r>
              <a:rPr lang="en-IN" dirty="0"/>
              <a:t>Conclusion</a:t>
            </a:r>
          </a:p>
        </p:txBody>
      </p:sp>
      <p:sp>
        <p:nvSpPr>
          <p:cNvPr id="3" name="Content Placeholder 2">
            <a:extLst>
              <a:ext uri="{FF2B5EF4-FFF2-40B4-BE49-F238E27FC236}">
                <a16:creationId xmlns:a16="http://schemas.microsoft.com/office/drawing/2014/main" id="{D8BD36BE-04C8-4324-8EFB-D3A2675F1877}"/>
              </a:ext>
            </a:extLst>
          </p:cNvPr>
          <p:cNvSpPr>
            <a:spLocks noGrp="1"/>
          </p:cNvSpPr>
          <p:nvPr>
            <p:ph idx="1"/>
          </p:nvPr>
        </p:nvSpPr>
        <p:spPr>
          <a:xfrm>
            <a:off x="536787" y="2462838"/>
            <a:ext cx="11118426" cy="3992881"/>
          </a:xfrm>
        </p:spPr>
        <p:txBody>
          <a:bodyPr>
            <a:normAutofit/>
          </a:bodyPr>
          <a:lstStyle/>
          <a:p>
            <a:pPr marL="441959" algn="just">
              <a:lnSpc>
                <a:spcPct val="150000"/>
              </a:lnSpc>
              <a:spcBef>
                <a:spcPts val="125"/>
              </a:spcBef>
            </a:pPr>
            <a:r>
              <a:rPr lang="en-US" sz="2400" spc="10" dirty="0">
                <a:latin typeface="Calibri" panose="020F0502020204030204" pitchFamily="34" charset="0"/>
                <a:cs typeface="Calibri" panose="020F0502020204030204" pitchFamily="34" charset="0"/>
              </a:rPr>
              <a:t>According</a:t>
            </a:r>
            <a:r>
              <a:rPr lang="en-US" sz="2400" spc="50" dirty="0">
                <a:latin typeface="Calibri" panose="020F0502020204030204" pitchFamily="34" charset="0"/>
                <a:cs typeface="Calibri" panose="020F0502020204030204" pitchFamily="34" charset="0"/>
              </a:rPr>
              <a:t> </a:t>
            </a:r>
            <a:r>
              <a:rPr lang="en-US" sz="2400" spc="10" dirty="0">
                <a:latin typeface="Calibri" panose="020F0502020204030204" pitchFamily="34" charset="0"/>
                <a:cs typeface="Calibri" panose="020F0502020204030204" pitchFamily="34" charset="0"/>
              </a:rPr>
              <a:t>to</a:t>
            </a:r>
            <a:r>
              <a:rPr lang="en-US" sz="2400" spc="60" dirty="0">
                <a:latin typeface="Calibri" panose="020F0502020204030204" pitchFamily="34" charset="0"/>
                <a:cs typeface="Calibri" panose="020F0502020204030204" pitchFamily="34" charset="0"/>
              </a:rPr>
              <a:t> </a:t>
            </a:r>
            <a:r>
              <a:rPr lang="en-US" sz="2400" spc="10" dirty="0">
                <a:latin typeface="Calibri" panose="020F0502020204030204" pitchFamily="34" charset="0"/>
                <a:cs typeface="Calibri" panose="020F0502020204030204" pitchFamily="34" charset="0"/>
              </a:rPr>
              <a:t>this</a:t>
            </a:r>
            <a:r>
              <a:rPr lang="en-US" sz="2400" spc="55" dirty="0">
                <a:latin typeface="Calibri" panose="020F0502020204030204" pitchFamily="34" charset="0"/>
                <a:cs typeface="Calibri" panose="020F0502020204030204" pitchFamily="34" charset="0"/>
              </a:rPr>
              <a:t> </a:t>
            </a:r>
            <a:r>
              <a:rPr lang="en-US" sz="2400" spc="10" dirty="0">
                <a:latin typeface="Calibri" panose="020F0502020204030204" pitchFamily="34" charset="0"/>
                <a:cs typeface="Calibri" panose="020F0502020204030204" pitchFamily="34" charset="0"/>
              </a:rPr>
              <a:t>study,</a:t>
            </a:r>
            <a:r>
              <a:rPr lang="en-US" sz="2400" spc="50" dirty="0">
                <a:latin typeface="Calibri" panose="020F0502020204030204" pitchFamily="34" charset="0"/>
                <a:cs typeface="Calibri" panose="020F0502020204030204" pitchFamily="34" charset="0"/>
              </a:rPr>
              <a:t> </a:t>
            </a:r>
            <a:r>
              <a:rPr lang="en-US" sz="2400" spc="15" dirty="0">
                <a:latin typeface="Calibri" panose="020F0502020204030204" pitchFamily="34" charset="0"/>
                <a:cs typeface="Calibri" panose="020F0502020204030204" pitchFamily="34" charset="0"/>
              </a:rPr>
              <a:t>50</a:t>
            </a:r>
            <a:r>
              <a:rPr lang="en-US" sz="2400" spc="50" dirty="0">
                <a:latin typeface="Calibri" panose="020F0502020204030204" pitchFamily="34" charset="0"/>
                <a:cs typeface="Calibri" panose="020F0502020204030204" pitchFamily="34" charset="0"/>
              </a:rPr>
              <a:t> </a:t>
            </a:r>
            <a:r>
              <a:rPr lang="en-US" sz="2400" spc="10" dirty="0">
                <a:latin typeface="Calibri" panose="020F0502020204030204" pitchFamily="34" charset="0"/>
                <a:cs typeface="Calibri" panose="020F0502020204030204" pitchFamily="34" charset="0"/>
              </a:rPr>
              <a:t>patients</a:t>
            </a:r>
            <a:r>
              <a:rPr lang="en-US" sz="2400" spc="55" dirty="0">
                <a:latin typeface="Calibri" panose="020F0502020204030204" pitchFamily="34" charset="0"/>
                <a:cs typeface="Calibri" panose="020F0502020204030204" pitchFamily="34" charset="0"/>
              </a:rPr>
              <a:t> </a:t>
            </a:r>
            <a:r>
              <a:rPr lang="en-US" sz="2400" spc="10" dirty="0">
                <a:latin typeface="Calibri" panose="020F0502020204030204" pitchFamily="34" charset="0"/>
                <a:cs typeface="Calibri" panose="020F0502020204030204" pitchFamily="34" charset="0"/>
              </a:rPr>
              <a:t>with</a:t>
            </a:r>
            <a:r>
              <a:rPr lang="en-US" sz="2400" spc="55" dirty="0">
                <a:latin typeface="Calibri" panose="020F0502020204030204" pitchFamily="34" charset="0"/>
                <a:cs typeface="Calibri" panose="020F0502020204030204" pitchFamily="34" charset="0"/>
              </a:rPr>
              <a:t> </a:t>
            </a:r>
            <a:r>
              <a:rPr lang="en-US" sz="2400" spc="10" dirty="0">
                <a:latin typeface="Calibri" panose="020F0502020204030204" pitchFamily="34" charset="0"/>
                <a:cs typeface="Calibri" panose="020F0502020204030204" pitchFamily="34" charset="0"/>
              </a:rPr>
              <a:t>fracture</a:t>
            </a:r>
            <a:r>
              <a:rPr lang="en-US" sz="2400" spc="55" dirty="0">
                <a:latin typeface="Calibri" panose="020F0502020204030204" pitchFamily="34" charset="0"/>
                <a:cs typeface="Calibri" panose="020F0502020204030204" pitchFamily="34" charset="0"/>
              </a:rPr>
              <a:t> </a:t>
            </a:r>
            <a:r>
              <a:rPr lang="en-US" sz="2400" spc="10" dirty="0">
                <a:latin typeface="Calibri" panose="020F0502020204030204" pitchFamily="34" charset="0"/>
                <a:cs typeface="Calibri" panose="020F0502020204030204" pitchFamily="34" charset="0"/>
              </a:rPr>
              <a:t>distal</a:t>
            </a:r>
            <a:r>
              <a:rPr lang="en-US" sz="2400" spc="55" dirty="0">
                <a:latin typeface="Calibri" panose="020F0502020204030204" pitchFamily="34" charset="0"/>
                <a:cs typeface="Calibri" panose="020F0502020204030204" pitchFamily="34" charset="0"/>
              </a:rPr>
              <a:t> </a:t>
            </a:r>
            <a:r>
              <a:rPr lang="en-US" sz="2400" spc="5" dirty="0">
                <a:latin typeface="Calibri" panose="020F0502020204030204" pitchFamily="34" charset="0"/>
                <a:cs typeface="Calibri" panose="020F0502020204030204" pitchFamily="34" charset="0"/>
              </a:rPr>
              <a:t>tibia</a:t>
            </a:r>
            <a:r>
              <a:rPr lang="en-US" sz="2400" spc="60" dirty="0">
                <a:latin typeface="Calibri" panose="020F0502020204030204" pitchFamily="34" charset="0"/>
                <a:cs typeface="Calibri" panose="020F0502020204030204" pitchFamily="34" charset="0"/>
              </a:rPr>
              <a:t> </a:t>
            </a:r>
            <a:r>
              <a:rPr lang="en-US" sz="2400" spc="10" dirty="0">
                <a:latin typeface="Calibri" panose="020F0502020204030204" pitchFamily="34" charset="0"/>
                <a:cs typeface="Calibri" panose="020F0502020204030204" pitchFamily="34" charset="0"/>
              </a:rPr>
              <a:t>have</a:t>
            </a:r>
            <a:endParaRPr lang="en-US" sz="2400" dirty="0">
              <a:latin typeface="Calibri" panose="020F0502020204030204" pitchFamily="34" charset="0"/>
              <a:cs typeface="Calibri" panose="020F0502020204030204" pitchFamily="34" charset="0"/>
            </a:endParaRPr>
          </a:p>
          <a:p>
            <a:pPr marL="99059" indent="0" algn="just">
              <a:lnSpc>
                <a:spcPct val="150000"/>
              </a:lnSpc>
              <a:spcBef>
                <a:spcPts val="125"/>
              </a:spcBef>
              <a:buNone/>
            </a:pPr>
            <a:r>
              <a:rPr lang="en-US" sz="2400" spc="10" dirty="0">
                <a:latin typeface="Calibri" panose="020F0502020204030204" pitchFamily="34" charset="0"/>
                <a:cs typeface="Calibri" panose="020F0502020204030204" pitchFamily="34" charset="0"/>
              </a:rPr>
              <a:t>	undergone plate osteosynthesis and IMIL nailing</a:t>
            </a:r>
          </a:p>
          <a:p>
            <a:pPr marL="441959" algn="just">
              <a:lnSpc>
                <a:spcPct val="150000"/>
              </a:lnSpc>
              <a:spcBef>
                <a:spcPts val="125"/>
              </a:spcBef>
            </a:pPr>
            <a:r>
              <a:rPr lang="en-US" sz="2400" spc="10" dirty="0">
                <a:latin typeface="Calibri" panose="020F0502020204030204" pitchFamily="34" charset="0"/>
                <a:cs typeface="Calibri" panose="020F0502020204030204" pitchFamily="34" charset="0"/>
              </a:rPr>
              <a:t>There </a:t>
            </a:r>
            <a:r>
              <a:rPr lang="en-US" sz="2400" spc="15" dirty="0">
                <a:latin typeface="Calibri" panose="020F0502020204030204" pitchFamily="34" charset="0"/>
                <a:cs typeface="Calibri" panose="020F0502020204030204" pitchFamily="34" charset="0"/>
              </a:rPr>
              <a:t>was </a:t>
            </a:r>
            <a:r>
              <a:rPr lang="en-US" sz="2400" spc="10" dirty="0">
                <a:latin typeface="Calibri" panose="020F0502020204030204" pitchFamily="34" charset="0"/>
                <a:cs typeface="Calibri" panose="020F0502020204030204" pitchFamily="34" charset="0"/>
              </a:rPr>
              <a:t>no </a:t>
            </a:r>
            <a:r>
              <a:rPr lang="en-US" sz="2400" spc="5" dirty="0">
                <a:latin typeface="Calibri" panose="020F0502020204030204" pitchFamily="34" charset="0"/>
                <a:cs typeface="Calibri" panose="020F0502020204030204" pitchFamily="34" charset="0"/>
              </a:rPr>
              <a:t>statistical  </a:t>
            </a:r>
            <a:r>
              <a:rPr lang="en-US" sz="2400" spc="10" dirty="0">
                <a:latin typeface="Calibri" panose="020F0502020204030204" pitchFamily="34" charset="0"/>
                <a:cs typeface="Calibri" panose="020F0502020204030204" pitchFamily="34" charset="0"/>
              </a:rPr>
              <a:t>significance between the two groups </a:t>
            </a:r>
            <a:r>
              <a:rPr lang="en-US" sz="2400" spc="5" dirty="0">
                <a:latin typeface="Calibri" panose="020F0502020204030204" pitchFamily="34" charset="0"/>
                <a:cs typeface="Calibri" panose="020F0502020204030204" pitchFamily="34" charset="0"/>
              </a:rPr>
              <a:t>with </a:t>
            </a:r>
            <a:r>
              <a:rPr lang="en-US" sz="2400" spc="10" dirty="0">
                <a:latin typeface="Calibri" panose="020F0502020204030204" pitchFamily="34" charset="0"/>
                <a:cs typeface="Calibri" panose="020F0502020204030204" pitchFamily="34" charset="0"/>
              </a:rPr>
              <a:t>respect to range of motion</a:t>
            </a:r>
          </a:p>
          <a:p>
            <a:pPr marL="441959" algn="just">
              <a:lnSpc>
                <a:spcPct val="150000"/>
              </a:lnSpc>
              <a:spcBef>
                <a:spcPts val="125"/>
              </a:spcBef>
            </a:pPr>
            <a:r>
              <a:rPr lang="en-US" sz="2400" spc="10" dirty="0">
                <a:latin typeface="Calibri" panose="020F0502020204030204" pitchFamily="34" charset="0"/>
                <a:cs typeface="Calibri" panose="020F0502020204030204" pitchFamily="34" charset="0"/>
              </a:rPr>
              <a:t>Our results have </a:t>
            </a:r>
            <a:r>
              <a:rPr lang="en-US" sz="2400" spc="15" dirty="0">
                <a:latin typeface="Calibri" panose="020F0502020204030204" pitchFamily="34" charset="0"/>
                <a:cs typeface="Calibri" panose="020F0502020204030204" pitchFamily="34" charset="0"/>
              </a:rPr>
              <a:t>shown </a:t>
            </a:r>
            <a:r>
              <a:rPr lang="en-US" sz="2400" spc="10" dirty="0">
                <a:latin typeface="Calibri" panose="020F0502020204030204" pitchFamily="34" charset="0"/>
                <a:cs typeface="Calibri" panose="020F0502020204030204" pitchFamily="34" charset="0"/>
              </a:rPr>
              <a:t>that </a:t>
            </a:r>
            <a:r>
              <a:rPr lang="en-US" sz="2400" spc="15" dirty="0">
                <a:latin typeface="Calibri" panose="020F0502020204030204" pitchFamily="34" charset="0"/>
                <a:cs typeface="Calibri" panose="020F0502020204030204" pitchFamily="34" charset="0"/>
              </a:rPr>
              <a:t>Union </a:t>
            </a:r>
            <a:r>
              <a:rPr lang="en-US" sz="2400" spc="5" dirty="0">
                <a:latin typeface="Calibri" panose="020F0502020204030204" pitchFamily="34" charset="0"/>
                <a:cs typeface="Calibri" panose="020F0502020204030204" pitchFamily="34" charset="0"/>
              </a:rPr>
              <a:t>in </a:t>
            </a:r>
            <a:r>
              <a:rPr lang="en-US" sz="2400" spc="10" dirty="0">
                <a:latin typeface="Calibri" panose="020F0502020204030204" pitchFamily="34" charset="0"/>
                <a:cs typeface="Calibri" panose="020F0502020204030204" pitchFamily="34" charset="0"/>
              </a:rPr>
              <a:t>nailing is earlier compared to</a:t>
            </a:r>
            <a:r>
              <a:rPr lang="en-US" sz="2400" spc="-65" dirty="0">
                <a:latin typeface="Calibri" panose="020F0502020204030204" pitchFamily="34" charset="0"/>
                <a:cs typeface="Calibri" panose="020F0502020204030204" pitchFamily="34" charset="0"/>
              </a:rPr>
              <a:t> </a:t>
            </a:r>
            <a:r>
              <a:rPr lang="en-US" sz="2400" spc="10" dirty="0">
                <a:latin typeface="Calibri" panose="020F0502020204030204" pitchFamily="34" charset="0"/>
                <a:cs typeface="Calibri" panose="020F0502020204030204" pitchFamily="34" charset="0"/>
              </a:rPr>
              <a:t>plating</a:t>
            </a:r>
          </a:p>
          <a:p>
            <a:pPr marL="0" indent="0">
              <a:buNone/>
            </a:pP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7606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913B7-F7EE-47DC-9C5B-46D1CD3BAFE6}"/>
              </a:ext>
            </a:extLst>
          </p:cNvPr>
          <p:cNvSpPr>
            <a:spLocks noGrp="1"/>
          </p:cNvSpPr>
          <p:nvPr>
            <p:ph type="title"/>
          </p:nvPr>
        </p:nvSpPr>
        <p:spPr>
          <a:xfrm>
            <a:off x="480999" y="642551"/>
            <a:ext cx="11196136" cy="1130369"/>
          </a:xfrm>
        </p:spPr>
        <p:txBody>
          <a:bodyPr anchor="ctr">
            <a:normAutofit/>
          </a:bodyPr>
          <a:lstStyle/>
          <a:p>
            <a:pPr algn="ctr"/>
            <a:r>
              <a:rPr lang="en-IN" dirty="0"/>
              <a:t>REFERENCES</a:t>
            </a:r>
          </a:p>
        </p:txBody>
      </p:sp>
      <p:sp>
        <p:nvSpPr>
          <p:cNvPr id="3" name="Content Placeholder 2">
            <a:extLst>
              <a:ext uri="{FF2B5EF4-FFF2-40B4-BE49-F238E27FC236}">
                <a16:creationId xmlns:a16="http://schemas.microsoft.com/office/drawing/2014/main" id="{A6883DD4-5A49-4E94-9EF5-6F41924EFCBA}"/>
              </a:ext>
            </a:extLst>
          </p:cNvPr>
          <p:cNvSpPr>
            <a:spLocks noGrp="1"/>
          </p:cNvSpPr>
          <p:nvPr>
            <p:ph idx="1"/>
          </p:nvPr>
        </p:nvSpPr>
        <p:spPr>
          <a:xfrm>
            <a:off x="480999" y="1862027"/>
            <a:ext cx="11362266" cy="4998719"/>
          </a:xfrm>
        </p:spPr>
        <p:txBody>
          <a:bodyPr anchor="ctr">
            <a:normAutofit/>
          </a:bodyPr>
          <a:lstStyle/>
          <a:p>
            <a:r>
              <a:rPr lang="en-IN" sz="2400" b="0" u="none" strike="noStrike" baseline="0" dirty="0">
                <a:solidFill>
                  <a:srgbClr val="000000"/>
                </a:solidFill>
                <a:latin typeface="Calibri" panose="020F0502020204030204" pitchFamily="34" charset="0"/>
                <a:ea typeface="Cambria" panose="02040503050406030204" pitchFamily="18" charset="0"/>
                <a:cs typeface="Calibri" panose="020F0502020204030204" pitchFamily="34" charset="0"/>
              </a:rPr>
              <a:t>Ajay Krishnan, Chetan </a:t>
            </a:r>
            <a:r>
              <a:rPr lang="en-IN" sz="2400" b="0" u="none" strike="noStrike" baseline="0" dirty="0" err="1">
                <a:solidFill>
                  <a:srgbClr val="000000"/>
                </a:solidFill>
                <a:latin typeface="Calibri" panose="020F0502020204030204" pitchFamily="34" charset="0"/>
                <a:ea typeface="Cambria" panose="02040503050406030204" pitchFamily="18" charset="0"/>
                <a:cs typeface="Calibri" panose="020F0502020204030204" pitchFamily="34" charset="0"/>
              </a:rPr>
              <a:t>Peshin</a:t>
            </a:r>
            <a:r>
              <a:rPr lang="en-IN" sz="2400" b="0" u="none" strike="noStrike" baseline="0" dirty="0">
                <a:solidFill>
                  <a:srgbClr val="000000"/>
                </a:solidFill>
                <a:latin typeface="Calibri" panose="020F0502020204030204" pitchFamily="34" charset="0"/>
                <a:ea typeface="Cambria" panose="02040503050406030204" pitchFamily="18" charset="0"/>
                <a:cs typeface="Calibri" panose="020F0502020204030204" pitchFamily="34" charset="0"/>
              </a:rPr>
              <a:t>, Dara Singh. Intramedullary nailing and plate osteosynthesis for fractures of the distal metaphyseal tibia and fibula Journal of Orthopaedic Surgery. 2009; 17(3):317-20 </a:t>
            </a:r>
          </a:p>
          <a:p>
            <a:r>
              <a:rPr lang="en-US" sz="2400" b="0" u="none" strike="noStrike" baseline="0" dirty="0">
                <a:solidFill>
                  <a:srgbClr val="000000"/>
                </a:solidFill>
                <a:latin typeface="Calibri" panose="020F0502020204030204" pitchFamily="34" charset="0"/>
                <a:ea typeface="Cambria" panose="02040503050406030204" pitchFamily="18" charset="0"/>
                <a:cs typeface="Calibri" panose="020F0502020204030204" pitchFamily="34" charset="0"/>
              </a:rPr>
              <a:t>Guo JJ, Tang N, Yang HL, Tang TS. A prospective, randomized trial comparing closed intramedullary nailing with percutaneous plating in the treatment of distal metaphyseal fractures of the tibia. J Bone Joint Surg [Br]. 2010; 92-B:984-988 </a:t>
            </a:r>
            <a:endParaRPr lang="en-IN" sz="2400" b="0" u="none" strike="noStrike" baseline="0" dirty="0">
              <a:solidFill>
                <a:srgbClr val="000000"/>
              </a:solidFill>
              <a:latin typeface="Calibri" panose="020F0502020204030204" pitchFamily="34" charset="0"/>
              <a:ea typeface="Cambria" panose="02040503050406030204" pitchFamily="18" charset="0"/>
              <a:cs typeface="Calibri" panose="020F0502020204030204" pitchFamily="34" charset="0"/>
            </a:endParaRPr>
          </a:p>
          <a:p>
            <a:r>
              <a:rPr lang="en-IN" sz="2400" b="0" u="none" strike="noStrike" baseline="0" dirty="0">
                <a:solidFill>
                  <a:srgbClr val="000000"/>
                </a:solidFill>
                <a:latin typeface="Calibri" panose="020F0502020204030204" pitchFamily="34" charset="0"/>
                <a:ea typeface="Cambria" panose="02040503050406030204" pitchFamily="18" charset="0"/>
                <a:cs typeface="Calibri" panose="020F0502020204030204" pitchFamily="34" charset="0"/>
              </a:rPr>
              <a:t>Lau TW, Leung F, Chan CF, Chow SP. Wound complication of minimally </a:t>
            </a:r>
            <a:r>
              <a:rPr lang="en-IN" sz="2400" b="0" u="none" strike="noStrike" baseline="0" dirty="0" err="1">
                <a:solidFill>
                  <a:srgbClr val="000000"/>
                </a:solidFill>
                <a:latin typeface="Calibri" panose="020F0502020204030204" pitchFamily="34" charset="0"/>
                <a:ea typeface="Cambria" panose="02040503050406030204" pitchFamily="18" charset="0"/>
                <a:cs typeface="Calibri" panose="020F0502020204030204" pitchFamily="34" charset="0"/>
              </a:rPr>
              <a:t>invasiveplate</a:t>
            </a:r>
            <a:r>
              <a:rPr lang="en-IN" sz="2400" b="0" u="none" strike="noStrike" baseline="0" dirty="0">
                <a:solidFill>
                  <a:srgbClr val="000000"/>
                </a:solidFill>
                <a:latin typeface="Calibri" panose="020F0502020204030204" pitchFamily="34" charset="0"/>
                <a:ea typeface="Cambria" panose="02040503050406030204" pitchFamily="18" charset="0"/>
                <a:cs typeface="Calibri" panose="020F0502020204030204" pitchFamily="34" charset="0"/>
              </a:rPr>
              <a:t> osteosynthesis in distal tibia fractures. Int </a:t>
            </a:r>
            <a:r>
              <a:rPr lang="en-IN" sz="2400" b="0" u="none" strike="noStrike" baseline="0" dirty="0" err="1">
                <a:solidFill>
                  <a:srgbClr val="000000"/>
                </a:solidFill>
                <a:latin typeface="Calibri" panose="020F0502020204030204" pitchFamily="34" charset="0"/>
                <a:ea typeface="Cambria" panose="02040503050406030204" pitchFamily="18" charset="0"/>
                <a:cs typeface="Calibri" panose="020F0502020204030204" pitchFamily="34" charset="0"/>
              </a:rPr>
              <a:t>Orthop</a:t>
            </a:r>
            <a:r>
              <a:rPr lang="en-IN" sz="2400" b="0" u="none" strike="noStrike" baseline="0" dirty="0">
                <a:solidFill>
                  <a:srgbClr val="000000"/>
                </a:solidFill>
                <a:latin typeface="Calibri" panose="020F0502020204030204" pitchFamily="34" charset="0"/>
                <a:ea typeface="Cambria" panose="02040503050406030204" pitchFamily="18" charset="0"/>
                <a:cs typeface="Calibri" panose="020F0502020204030204" pitchFamily="34" charset="0"/>
              </a:rPr>
              <a:t>. 2008; 32:697-703 </a:t>
            </a:r>
          </a:p>
          <a:p>
            <a:r>
              <a:rPr lang="en-IN" sz="2400" b="0" u="none" strike="noStrike" baseline="0" dirty="0">
                <a:solidFill>
                  <a:srgbClr val="000000"/>
                </a:solidFill>
                <a:latin typeface="Calibri" panose="020F0502020204030204" pitchFamily="34" charset="0"/>
                <a:ea typeface="Cambria" panose="02040503050406030204" pitchFamily="18" charset="0"/>
                <a:cs typeface="Calibri" panose="020F0502020204030204" pitchFamily="34" charset="0"/>
              </a:rPr>
              <a:t>Kasper W. Janssen &amp; Jan </a:t>
            </a:r>
            <a:r>
              <a:rPr lang="en-IN" sz="2400" b="0" u="none" strike="noStrike" baseline="0" dirty="0" err="1">
                <a:solidFill>
                  <a:srgbClr val="000000"/>
                </a:solidFill>
                <a:latin typeface="Calibri" panose="020F0502020204030204" pitchFamily="34" charset="0"/>
                <a:ea typeface="Cambria" panose="02040503050406030204" pitchFamily="18" charset="0"/>
                <a:cs typeface="Calibri" panose="020F0502020204030204" pitchFamily="34" charset="0"/>
              </a:rPr>
              <a:t>Biert</a:t>
            </a:r>
            <a:r>
              <a:rPr lang="en-IN" sz="2400" b="0" u="none" strike="noStrike" baseline="0" dirty="0">
                <a:solidFill>
                  <a:srgbClr val="000000"/>
                </a:solidFill>
                <a:latin typeface="Calibri" panose="020F0502020204030204" pitchFamily="34" charset="0"/>
                <a:ea typeface="Cambria" panose="02040503050406030204" pitchFamily="18" charset="0"/>
                <a:cs typeface="Calibri" panose="020F0502020204030204" pitchFamily="34" charset="0"/>
              </a:rPr>
              <a:t>&amp; Albert van </a:t>
            </a:r>
            <a:r>
              <a:rPr lang="en-IN" sz="2400" b="0" u="none" strike="noStrike" baseline="0" dirty="0" err="1">
                <a:solidFill>
                  <a:srgbClr val="000000"/>
                </a:solidFill>
                <a:latin typeface="Calibri" panose="020F0502020204030204" pitchFamily="34" charset="0"/>
                <a:ea typeface="Cambria" panose="02040503050406030204" pitchFamily="18" charset="0"/>
                <a:cs typeface="Calibri" panose="020F0502020204030204" pitchFamily="34" charset="0"/>
              </a:rPr>
              <a:t>Kampen</a:t>
            </a:r>
            <a:r>
              <a:rPr lang="en-IN" sz="2400" b="0" u="none" strike="noStrike" baseline="0" dirty="0">
                <a:solidFill>
                  <a:srgbClr val="000000"/>
                </a:solidFill>
                <a:latin typeface="Calibri" panose="020F0502020204030204" pitchFamily="34" charset="0"/>
                <a:ea typeface="Cambria" panose="02040503050406030204" pitchFamily="18" charset="0"/>
                <a:cs typeface="Calibri" panose="020F0502020204030204" pitchFamily="34" charset="0"/>
              </a:rPr>
              <a:t> Revised: 5 July 2006 Accepted: 7 July 2006 / Published online: 12 December 2006# Springer-Verlag 2006 </a:t>
            </a:r>
          </a:p>
          <a:p>
            <a:pPr marL="0" indent="0">
              <a:buNone/>
            </a:pPr>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134491"/>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TM03457464[[fn=Dividend]]</Template>
  <TotalTime>22</TotalTime>
  <Words>1101</Words>
  <Application>Microsoft Office PowerPoint</Application>
  <PresentationFormat>Widescreen</PresentationFormat>
  <Paragraphs>247</Paragraphs>
  <Slides>15</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Aptos</vt:lpstr>
      <vt:lpstr>Arial</vt:lpstr>
      <vt:lpstr>Calibri</vt:lpstr>
      <vt:lpstr>Gill Sans MT</vt:lpstr>
      <vt:lpstr>Gill Sans MT (Headings)</vt:lpstr>
      <vt:lpstr>Symbol</vt:lpstr>
      <vt:lpstr>Times New Roman</vt:lpstr>
      <vt:lpstr>Wingdings</vt:lpstr>
      <vt:lpstr>Wingdings 2</vt:lpstr>
      <vt:lpstr>Dividend</vt:lpstr>
      <vt:lpstr>CLOSED INTRAMEDULLARY NAILING VS. PLATING IN THE TREATMENT OF EXTRA ARTICULAR DISTAL TIBIA FRACTURE</vt:lpstr>
      <vt:lpstr>INTRODUCTION</vt:lpstr>
      <vt:lpstr>MATERIALS AND METHODS</vt:lpstr>
      <vt:lpstr>REsULTS</vt:lpstr>
      <vt:lpstr>DEMOGRAPHICS</vt:lpstr>
      <vt:lpstr>DEMOGRAPHICS</vt:lpstr>
      <vt:lpstr>COMPLICATIONS</vt:lpstr>
      <vt:lpstr>Union </vt:lpstr>
      <vt:lpstr>OUT COMES</vt:lpstr>
      <vt:lpstr>DISCUSSION</vt:lpstr>
      <vt:lpstr>PowerPoint Presentation</vt:lpstr>
      <vt:lpstr>PowerPoint Presentation</vt:lpstr>
      <vt:lpstr>PowerPoint Presentation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Siri Meenakshi Rampalli</cp:lastModifiedBy>
  <cp:revision>4</cp:revision>
  <dcterms:modified xsi:type="dcterms:W3CDTF">2026-01-31T05:52:47Z</dcterms:modified>
</cp:coreProperties>
</file>