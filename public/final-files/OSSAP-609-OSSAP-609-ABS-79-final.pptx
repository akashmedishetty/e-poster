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Arial"/>
              </a:rPr>
              <a:t>Suprapatellar Nailing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dirty="0">
                <a:latin typeface="Arial"/>
              </a:rPr>
              <a:t>Proximal 1/3rd Tibia Fractures</a:t>
            </a:r>
          </a:p>
          <a:p>
            <a:r>
              <a:rPr sz="2000" dirty="0">
                <a:latin typeface="Arial"/>
              </a:rPr>
              <a:t>A Prospective Study</a:t>
            </a:r>
          </a:p>
          <a:p>
            <a:r>
              <a:rPr sz="2000" dirty="0">
                <a:latin typeface="Arial"/>
              </a:rPr>
              <a:t>Dr. </a:t>
            </a:r>
            <a:r>
              <a:rPr lang="en-US" sz="2000">
                <a:latin typeface="Arial"/>
              </a:rPr>
              <a:t>PRATEEK Kr  VANSH</a:t>
            </a:r>
            <a:endParaRPr sz="200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Background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Tibia fractures are common long bone injuries</a:t>
            </a:r>
          </a:p>
          <a:p>
            <a:r>
              <a:rPr sz="2000">
                <a:latin typeface="Arial"/>
              </a:rPr>
              <a:t>Proximal fractures form 5.33% of all fractures</a:t>
            </a:r>
          </a:p>
          <a:p>
            <a:r>
              <a:rPr sz="2000">
                <a:latin typeface="Arial"/>
              </a:rPr>
              <a:t>Metaphyseal anatomy causes alignment problems</a:t>
            </a:r>
          </a:p>
          <a:p>
            <a:r>
              <a:rPr sz="2000">
                <a:latin typeface="Arial"/>
              </a:rPr>
              <a:t>Infrapatellar approach leads to knee pain</a:t>
            </a:r>
          </a:p>
          <a:p>
            <a:r>
              <a:rPr sz="2000">
                <a:latin typeface="Arial"/>
              </a:rPr>
              <a:t>Suprapatellar approach improves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Aim &amp; 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To evaluate outcomes of suprapatellar nailing</a:t>
            </a:r>
          </a:p>
          <a:p>
            <a:r>
              <a:rPr sz="2000">
                <a:latin typeface="Arial"/>
              </a:rPr>
              <a:t>Prospective study (24 months)</a:t>
            </a:r>
          </a:p>
          <a:p>
            <a:r>
              <a:rPr sz="2000">
                <a:latin typeface="Arial"/>
              </a:rPr>
              <a:t>Sample size: 30 patients</a:t>
            </a:r>
          </a:p>
          <a:p>
            <a:r>
              <a:rPr sz="2000">
                <a:latin typeface="Arial"/>
              </a:rPr>
              <a:t>Regular clinical and radiological follow-up</a:t>
            </a:r>
          </a:p>
          <a:p>
            <a:r>
              <a:rPr sz="2000">
                <a:latin typeface="Arial"/>
              </a:rPr>
              <a:t>Assessment of pain, ROM and healing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Demographics &amp;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Most patients aged 31–40 years</a:t>
            </a:r>
          </a:p>
          <a:p>
            <a:r>
              <a:rPr sz="2000">
                <a:latin typeface="Arial"/>
              </a:rPr>
              <a:t>Male predominance and RTA common cause</a:t>
            </a:r>
          </a:p>
          <a:p>
            <a:r>
              <a:rPr sz="2000">
                <a:latin typeface="Arial"/>
              </a:rPr>
              <a:t>Closed fractures: 67%</a:t>
            </a:r>
          </a:p>
          <a:p>
            <a:r>
              <a:rPr sz="2000">
                <a:latin typeface="Arial"/>
              </a:rPr>
              <a:t>Open fractures: 33% (Grade I &amp; II)</a:t>
            </a:r>
          </a:p>
          <a:p>
            <a:r>
              <a:rPr sz="2000">
                <a:latin typeface="Arial"/>
              </a:rPr>
              <a:t>AO/OTA classification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Surgical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Patient in semi-extended position</a:t>
            </a:r>
          </a:p>
          <a:p>
            <a:r>
              <a:rPr sz="2000">
                <a:latin typeface="Arial"/>
              </a:rPr>
              <a:t>Vertical incision above patella</a:t>
            </a:r>
          </a:p>
          <a:p>
            <a:r>
              <a:rPr sz="2000">
                <a:latin typeface="Arial"/>
              </a:rPr>
              <a:t>Proper tibial entry point</a:t>
            </a:r>
          </a:p>
          <a:p>
            <a:r>
              <a:rPr sz="2000">
                <a:latin typeface="Arial"/>
              </a:rPr>
              <a:t>Neutralizes quadriceps forces</a:t>
            </a:r>
          </a:p>
          <a:p>
            <a:r>
              <a:rPr sz="2000">
                <a:latin typeface="Arial"/>
              </a:rPr>
              <a:t>Facilitates better reduction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Average union time: 16 weeks</a:t>
            </a:r>
          </a:p>
          <a:p>
            <a:r>
              <a:rPr sz="2000">
                <a:latin typeface="Arial"/>
              </a:rPr>
              <a:t>Majority united in 14–18 weeks</a:t>
            </a:r>
          </a:p>
          <a:p>
            <a:r>
              <a:rPr sz="2000">
                <a:latin typeface="Arial"/>
              </a:rPr>
              <a:t>LEFS mostly excellent to good</a:t>
            </a:r>
          </a:p>
          <a:p>
            <a:r>
              <a:rPr sz="2000">
                <a:latin typeface="Arial"/>
              </a:rPr>
              <a:t>Low VAS pain scores</a:t>
            </a:r>
          </a:p>
          <a:p>
            <a:r>
              <a:rPr sz="2000">
                <a:latin typeface="Arial"/>
              </a:rPr>
              <a:t>Good functional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Complications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85% patients had no complications</a:t>
            </a:r>
          </a:p>
          <a:p>
            <a:r>
              <a:rPr sz="2000">
                <a:latin typeface="Arial"/>
              </a:rPr>
              <a:t>Minor infection and delayed union in few</a:t>
            </a:r>
          </a:p>
          <a:p>
            <a:r>
              <a:rPr sz="2000">
                <a:latin typeface="Arial"/>
              </a:rPr>
              <a:t>No significant anterior knee pain</a:t>
            </a:r>
          </a:p>
          <a:p>
            <a:r>
              <a:rPr sz="2000">
                <a:latin typeface="Arial"/>
              </a:rPr>
              <a:t>Better alignment</a:t>
            </a:r>
          </a:p>
          <a:p>
            <a:r>
              <a:rPr sz="2000">
                <a:latin typeface="Arial"/>
              </a:rPr>
              <a:t>Early mobilization and high union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Arial"/>
              </a:rPr>
              <a:t>Suprapatellar nailing is reliable and effective</a:t>
            </a:r>
          </a:p>
          <a:p>
            <a:r>
              <a:rPr sz="2000">
                <a:latin typeface="Arial"/>
              </a:rPr>
              <a:t>Provides excellent union and alignment</a:t>
            </a:r>
          </a:p>
          <a:p>
            <a:r>
              <a:rPr sz="2000">
                <a:latin typeface="Arial"/>
              </a:rPr>
              <a:t>Minimizes anterior knee pain</a:t>
            </a:r>
          </a:p>
          <a:p>
            <a:r>
              <a:rPr sz="2000">
                <a:latin typeface="Arial"/>
              </a:rPr>
              <a:t>Gives good functional outcomes</a:t>
            </a:r>
          </a:p>
          <a:p>
            <a:r>
              <a:rPr sz="2000">
                <a:latin typeface="Arial"/>
              </a:rPr>
              <a:t>Recommended for proximal tibia fractures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213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Gordita </vt:lpstr>
      <vt:lpstr>Office Theme</vt:lpstr>
      <vt:lpstr>Suprapatellar Nailing</vt:lpstr>
      <vt:lpstr>Background &amp; Problem</vt:lpstr>
      <vt:lpstr>Aim &amp; Study Design</vt:lpstr>
      <vt:lpstr>Demographics &amp; Classification</vt:lpstr>
      <vt:lpstr>Surgical Technique</vt:lpstr>
      <vt:lpstr>Results</vt:lpstr>
      <vt:lpstr>Complications &amp; 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ortho</cp:lastModifiedBy>
  <cp:revision>4</cp:revision>
  <dcterms:created xsi:type="dcterms:W3CDTF">2026-01-11T06:24:43Z</dcterms:created>
  <dcterms:modified xsi:type="dcterms:W3CDTF">2026-01-25T12:42:35Z</dcterms:modified>
</cp:coreProperties>
</file>