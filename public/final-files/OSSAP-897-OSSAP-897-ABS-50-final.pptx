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43891200" cy="32918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14" autoAdjust="0"/>
    <p:restoredTop sz="93072" autoAdjust="0"/>
  </p:normalViewPr>
  <p:slideViewPr>
    <p:cSldViewPr snapToGrid="0">
      <p:cViewPr>
        <p:scale>
          <a:sx n="52" d="100"/>
          <a:sy n="52" d="100"/>
        </p:scale>
        <p:origin x="160" y="-120"/>
      </p:cViewPr>
      <p:guideLst>
        <p:guide orient="horz" pos="10368"/>
        <p:guide pos="1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 /><Relationship Id="rId7"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CCAD7E2-DE74-472A-BA55-B0B1ACE0DD40}" type="datetimeFigureOut">
              <a:rPr lang="en-IN" smtClean="0"/>
              <a:t>15-02-2026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04F772B-235D-4C17-BAE8-76848DFE2273}" type="slidenum">
              <a:rPr lang="en-IN" smtClean="0"/>
              <a:t>‹#›</a:t>
            </a:fld>
            <a:endParaRPr lang="en-IN"/>
          </a:p>
        </p:txBody>
      </p:sp>
    </p:spTree>
    <p:extLst>
      <p:ext uri="{BB962C8B-B14F-4D97-AF65-F5344CB8AC3E}">
        <p14:creationId xmlns:p14="http://schemas.microsoft.com/office/powerpoint/2010/main" val="1031642191"/>
      </p:ext>
    </p:extLst>
  </p:cSld>
  <p:clrMap bg1="lt1" tx1="dk1" bg2="lt2" tx2="dk2" accent1="accent1" accent2="accent2" accent3="accent3" accent4="accent4" accent5="accent5" accent6="accent6" hlink="hlink" folHlink="folHlink"/>
  <p:notesStyle>
    <a:lvl1pPr marL="0" algn="l" defTabSz="3686714" rtl="0" eaLnBrk="1" latinLnBrk="0" hangingPunct="1">
      <a:defRPr sz="4838" kern="1200">
        <a:solidFill>
          <a:schemeClr val="tx1"/>
        </a:solidFill>
        <a:latin typeface="+mn-lt"/>
        <a:ea typeface="+mn-ea"/>
        <a:cs typeface="+mn-cs"/>
      </a:defRPr>
    </a:lvl1pPr>
    <a:lvl2pPr marL="1843357" algn="l" defTabSz="3686714" rtl="0" eaLnBrk="1" latinLnBrk="0" hangingPunct="1">
      <a:defRPr sz="4838" kern="1200">
        <a:solidFill>
          <a:schemeClr val="tx1"/>
        </a:solidFill>
        <a:latin typeface="+mn-lt"/>
        <a:ea typeface="+mn-ea"/>
        <a:cs typeface="+mn-cs"/>
      </a:defRPr>
    </a:lvl2pPr>
    <a:lvl3pPr marL="3686714" algn="l" defTabSz="3686714" rtl="0" eaLnBrk="1" latinLnBrk="0" hangingPunct="1">
      <a:defRPr sz="4838" kern="1200">
        <a:solidFill>
          <a:schemeClr val="tx1"/>
        </a:solidFill>
        <a:latin typeface="+mn-lt"/>
        <a:ea typeface="+mn-ea"/>
        <a:cs typeface="+mn-cs"/>
      </a:defRPr>
    </a:lvl3pPr>
    <a:lvl4pPr marL="5530071" algn="l" defTabSz="3686714" rtl="0" eaLnBrk="1" latinLnBrk="0" hangingPunct="1">
      <a:defRPr sz="4838" kern="1200">
        <a:solidFill>
          <a:schemeClr val="tx1"/>
        </a:solidFill>
        <a:latin typeface="+mn-lt"/>
        <a:ea typeface="+mn-ea"/>
        <a:cs typeface="+mn-cs"/>
      </a:defRPr>
    </a:lvl4pPr>
    <a:lvl5pPr marL="7373429" algn="l" defTabSz="3686714" rtl="0" eaLnBrk="1" latinLnBrk="0" hangingPunct="1">
      <a:defRPr sz="4838" kern="1200">
        <a:solidFill>
          <a:schemeClr val="tx1"/>
        </a:solidFill>
        <a:latin typeface="+mn-lt"/>
        <a:ea typeface="+mn-ea"/>
        <a:cs typeface="+mn-cs"/>
      </a:defRPr>
    </a:lvl5pPr>
    <a:lvl6pPr marL="9216785" algn="l" defTabSz="3686714" rtl="0" eaLnBrk="1" latinLnBrk="0" hangingPunct="1">
      <a:defRPr sz="4838" kern="1200">
        <a:solidFill>
          <a:schemeClr val="tx1"/>
        </a:solidFill>
        <a:latin typeface="+mn-lt"/>
        <a:ea typeface="+mn-ea"/>
        <a:cs typeface="+mn-cs"/>
      </a:defRPr>
    </a:lvl6pPr>
    <a:lvl7pPr marL="11060143" algn="l" defTabSz="3686714" rtl="0" eaLnBrk="1" latinLnBrk="0" hangingPunct="1">
      <a:defRPr sz="4838" kern="1200">
        <a:solidFill>
          <a:schemeClr val="tx1"/>
        </a:solidFill>
        <a:latin typeface="+mn-lt"/>
        <a:ea typeface="+mn-ea"/>
        <a:cs typeface="+mn-cs"/>
      </a:defRPr>
    </a:lvl7pPr>
    <a:lvl8pPr marL="12903499" algn="l" defTabSz="3686714" rtl="0" eaLnBrk="1" latinLnBrk="0" hangingPunct="1">
      <a:defRPr sz="4838" kern="1200">
        <a:solidFill>
          <a:schemeClr val="tx1"/>
        </a:solidFill>
        <a:latin typeface="+mn-lt"/>
        <a:ea typeface="+mn-ea"/>
        <a:cs typeface="+mn-cs"/>
      </a:defRPr>
    </a:lvl8pPr>
    <a:lvl9pPr marL="14746857" algn="l" defTabSz="3686714"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04F772B-235D-4C17-BAE8-76848DFE2273}" type="slidenum">
              <a:rPr lang="en-IN" smtClean="0"/>
              <a:t>1</a:t>
            </a:fld>
            <a:endParaRPr lang="en-IN"/>
          </a:p>
        </p:txBody>
      </p:sp>
    </p:spTree>
    <p:extLst>
      <p:ext uri="{BB962C8B-B14F-4D97-AF65-F5344CB8AC3E}">
        <p14:creationId xmlns:p14="http://schemas.microsoft.com/office/powerpoint/2010/main" val="1461339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680109-E5B0-43D5-99C9-F01CBD323AF9}"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532409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680109-E5B0-43D5-99C9-F01CBD323AF9}"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1217850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680109-E5B0-43D5-99C9-F01CBD323AF9}"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301590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680109-E5B0-43D5-99C9-F01CBD323AF9}" type="datetimeFigureOut">
              <a:rPr lang="en-IN" smtClean="0"/>
              <a:t>15-02-2026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4030259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680109-E5B0-43D5-99C9-F01CBD323AF9}" type="datetimeFigureOut">
              <a:rPr lang="en-IN" smtClean="0"/>
              <a:t>15-02-2026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186866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680109-E5B0-43D5-99C9-F01CBD323AF9}" type="datetimeFigureOut">
              <a:rPr lang="en-IN" smtClean="0"/>
              <a:t>15-02-2026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28271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680109-E5B0-43D5-99C9-F01CBD323AF9}" type="datetimeFigureOut">
              <a:rPr lang="en-IN" smtClean="0"/>
              <a:t>15-02-2026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3184480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6E680109-E5B0-43D5-99C9-F01CBD323AF9}" type="datetimeFigureOut">
              <a:rPr lang="en-IN" smtClean="0"/>
              <a:t>15-02-2026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3934533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6E680109-E5B0-43D5-99C9-F01CBD323AF9}" type="datetimeFigureOut">
              <a:rPr lang="en-IN" smtClean="0"/>
              <a:t>15-02-2026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203448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680109-E5B0-43D5-99C9-F01CBD323AF9}"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2209916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680109-E5B0-43D5-99C9-F01CBD323AF9}"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0FBBA4-246E-46F2-BB61-4B4E4CFEFF09}" type="slidenum">
              <a:rPr lang="en-IN" smtClean="0"/>
              <a:t>‹#›</a:t>
            </a:fld>
            <a:endParaRPr lang="en-IN"/>
          </a:p>
        </p:txBody>
      </p:sp>
    </p:spTree>
    <p:extLst>
      <p:ext uri="{BB962C8B-B14F-4D97-AF65-F5344CB8AC3E}">
        <p14:creationId xmlns:p14="http://schemas.microsoft.com/office/powerpoint/2010/main" val="742062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6E680109-E5B0-43D5-99C9-F01CBD323AF9}" type="datetimeFigureOut">
              <a:rPr lang="en-IN" smtClean="0"/>
              <a:t>15-02-2026</a:t>
            </a:fld>
            <a:endParaRPr lang="en-IN"/>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A50FBBA4-246E-46F2-BB61-4B4E4CFEFF09}" type="slidenum">
              <a:rPr lang="en-IN" smtClean="0"/>
              <a:t>‹#›</a:t>
            </a:fld>
            <a:endParaRPr lang="en-IN"/>
          </a:p>
        </p:txBody>
      </p:sp>
    </p:spTree>
    <p:extLst>
      <p:ext uri="{BB962C8B-B14F-4D97-AF65-F5344CB8AC3E}">
        <p14:creationId xmlns:p14="http://schemas.microsoft.com/office/powerpoint/2010/main" val="22222276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 /><Relationship Id="rId3" Type="http://schemas.openxmlformats.org/officeDocument/2006/relationships/image" Target="../media/image1.png" /><Relationship Id="rId7" Type="http://schemas.openxmlformats.org/officeDocument/2006/relationships/image" Target="../media/image5.pn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image" Target="../media/image2.jpeg" /><Relationship Id="rId9" Type="http://schemas.openxmlformats.org/officeDocument/2006/relationships/image" Target="../media/image7.jpe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1F8DD21-6452-6A49-A884-C03C8E7D8702}"/>
              </a:ext>
            </a:extLst>
          </p:cNvPr>
          <p:cNvSpPr/>
          <p:nvPr/>
        </p:nvSpPr>
        <p:spPr>
          <a:xfrm>
            <a:off x="0" y="27355"/>
            <a:ext cx="43891200" cy="32918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Screenshot 2025-08-25 at 10.06.53 AM</a:t>
            </a:r>
          </a:p>
        </p:txBody>
      </p:sp>
      <p:sp>
        <p:nvSpPr>
          <p:cNvPr id="6" name="Text Box 122">
            <a:extLst>
              <a:ext uri="{FF2B5EF4-FFF2-40B4-BE49-F238E27FC236}">
                <a16:creationId xmlns:a16="http://schemas.microsoft.com/office/drawing/2014/main" id="{1960973A-9A4A-933A-3520-491FC157E126}"/>
              </a:ext>
            </a:extLst>
          </p:cNvPr>
          <p:cNvSpPr txBox="1">
            <a:spLocks noChangeArrowheads="1"/>
          </p:cNvSpPr>
          <p:nvPr/>
        </p:nvSpPr>
        <p:spPr bwMode="auto">
          <a:xfrm>
            <a:off x="7620000" y="-929816"/>
            <a:ext cx="30670500" cy="6069701"/>
          </a:xfrm>
          <a:prstGeom prst="rect">
            <a:avLst/>
          </a:prstGeom>
          <a:solidFill>
            <a:srgbClr val="000000"/>
          </a:solidFill>
          <a:ln>
            <a:noFill/>
          </a:ln>
          <a:effectLst/>
        </p:spPr>
        <p:txBody>
          <a:bodyPr wrap="square" lIns="172587" tIns="431464" rIns="172587" bIns="431464"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None/>
            </a:pPr>
            <a:r>
              <a:rPr lang="en-US" sz="7200" b="1" dirty="0">
                <a:solidFill>
                  <a:srgbClr val="000000"/>
                </a:solidFill>
                <a:effectLst/>
                <a:latin typeface="Times New Roman" panose="02020603050405020304" pitchFamily="18" charset="0"/>
              </a:rPr>
              <a:t>“</a:t>
            </a:r>
            <a:r>
              <a:rPr lang="en-US" sz="6000" b="1" dirty="0">
                <a:solidFill>
                  <a:schemeClr val="bg1"/>
                </a:solidFill>
                <a:effectLst/>
                <a:latin typeface="Times New Roman" panose="02020603050405020304" pitchFamily="18" charset="0"/>
              </a:rPr>
              <a:t>EFFICACY OF FOOT AND ANKLE EXERCISES(MODIFIED BUERGER’S</a:t>
            </a:r>
          </a:p>
          <a:p>
            <a:pPr algn="ctr">
              <a:buNone/>
            </a:pPr>
            <a:r>
              <a:rPr lang="en-US" sz="6000" b="1" dirty="0">
                <a:solidFill>
                  <a:schemeClr val="bg1"/>
                </a:solidFill>
                <a:effectLst/>
                <a:latin typeface="Times New Roman" panose="02020603050405020304" pitchFamily="18" charset="0"/>
              </a:rPr>
              <a:t>EXCERCISES) ON PREVENTON OF FOOT AND ANKLE</a:t>
            </a:r>
          </a:p>
          <a:p>
            <a:pPr algn="ctr">
              <a:buNone/>
            </a:pPr>
            <a:r>
              <a:rPr lang="en-US" sz="6000" b="1" dirty="0">
                <a:solidFill>
                  <a:schemeClr val="bg1"/>
                </a:solidFill>
                <a:effectLst/>
                <a:latin typeface="Times New Roman" panose="02020603050405020304" pitchFamily="18" charset="0"/>
              </a:rPr>
              <a:t>COMPLICATIONS ASSOCIATED WITH DIABETES – A PROSPECTIVE</a:t>
            </a:r>
          </a:p>
          <a:p>
            <a:r>
              <a:rPr lang="en-US" sz="7200" b="1" dirty="0">
                <a:solidFill>
                  <a:srgbClr val="000000"/>
                </a:solidFill>
                <a:effectLst/>
                <a:latin typeface="Times New Roman" panose="02020603050405020304" pitchFamily="18" charset="0"/>
              </a:rPr>
              <a:t>COMPARATIVE STUDY”</a:t>
            </a:r>
            <a:endParaRPr lang="en-US" sz="7200" dirty="0">
              <a:solidFill>
                <a:srgbClr val="000000"/>
              </a:solidFill>
              <a:effectLst/>
              <a:latin typeface="Times New Roman" panose="02020603050405020304" pitchFamily="18" charset="0"/>
            </a:endParaRPr>
          </a:p>
          <a:p>
            <a:pPr algn="ctr"/>
            <a:endParaRPr lang="en-US" sz="6000" b="1" dirty="0">
              <a:solidFill>
                <a:schemeClr val="bg1"/>
              </a:solidFill>
              <a:latin typeface="+mj-lt"/>
            </a:endParaRPr>
          </a:p>
        </p:txBody>
      </p:sp>
      <p:sp>
        <p:nvSpPr>
          <p:cNvPr id="7" name="Text Box 123">
            <a:extLst>
              <a:ext uri="{FF2B5EF4-FFF2-40B4-BE49-F238E27FC236}">
                <a16:creationId xmlns:a16="http://schemas.microsoft.com/office/drawing/2014/main" id="{40D7AFAC-46F0-0539-1FF0-94740AE9C79D}"/>
              </a:ext>
            </a:extLst>
          </p:cNvPr>
          <p:cNvSpPr txBox="1">
            <a:spLocks noChangeArrowheads="1"/>
          </p:cNvSpPr>
          <p:nvPr/>
        </p:nvSpPr>
        <p:spPr bwMode="auto">
          <a:xfrm>
            <a:off x="9295772" y="2915505"/>
            <a:ext cx="26975428" cy="1963247"/>
          </a:xfrm>
          <a:prstGeom prst="rect">
            <a:avLst/>
          </a:prstGeom>
          <a:solidFill>
            <a:schemeClr val="tx1"/>
          </a:solidFill>
          <a:ln/>
        </p:spPr>
        <p:style>
          <a:lnRef idx="2">
            <a:schemeClr val="dk1"/>
          </a:lnRef>
          <a:fillRef idx="1">
            <a:schemeClr val="lt1"/>
          </a:fillRef>
          <a:effectRef idx="0">
            <a:schemeClr val="dk1"/>
          </a:effectRef>
          <a:fontRef idx="minor">
            <a:schemeClr val="dk1"/>
          </a:fontRef>
        </p:style>
        <p:txBody>
          <a:bodyPr lIns="172587" tIns="172587" rIns="172587" bIns="172587"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r>
              <a:rPr lang="en-US" sz="4000" b="1" u="sng" dirty="0" err="1">
                <a:solidFill>
                  <a:schemeClr val="bg1"/>
                </a:solidFill>
                <a:latin typeface="Arial" panose="020B0604020202020204" pitchFamily="34" charset="0"/>
                <a:cs typeface="Arial" panose="020B0604020202020204" pitchFamily="34" charset="0"/>
              </a:rPr>
              <a:t>Dr</a:t>
            </a:r>
            <a:r>
              <a:rPr lang="en-US" sz="4000" b="1" u="sng" dirty="0">
                <a:solidFill>
                  <a:schemeClr val="bg1"/>
                </a:solidFill>
                <a:latin typeface="Arial" panose="020B0604020202020204" pitchFamily="34" charset="0"/>
                <a:cs typeface="Arial" panose="020B0604020202020204" pitchFamily="34" charset="0"/>
              </a:rPr>
              <a:t> </a:t>
            </a:r>
            <a:r>
              <a:rPr lang="en-US" sz="4000" b="1" u="sng" dirty="0" err="1">
                <a:solidFill>
                  <a:schemeClr val="bg1"/>
                </a:solidFill>
                <a:latin typeface="Arial" panose="020B0604020202020204" pitchFamily="34" charset="0"/>
                <a:cs typeface="Arial" panose="020B0604020202020204" pitchFamily="34" charset="0"/>
              </a:rPr>
              <a:t>Abhijith</a:t>
            </a:r>
            <a:r>
              <a:rPr lang="en-US" sz="4000" b="1" u="sng" dirty="0">
                <a:solidFill>
                  <a:schemeClr val="bg1"/>
                </a:solidFill>
                <a:latin typeface="Arial" panose="020B0604020202020204" pitchFamily="34" charset="0"/>
                <a:cs typeface="Arial" panose="020B0604020202020204" pitchFamily="34" charset="0"/>
              </a:rPr>
              <a:t> C</a:t>
            </a:r>
            <a:endParaRPr lang="en-US" sz="4000" b="1" u="sng" baseline="30000" dirty="0">
              <a:solidFill>
                <a:schemeClr val="bg1"/>
              </a:solidFill>
              <a:latin typeface="Arial" panose="020B0604020202020204" pitchFamily="34" charset="0"/>
              <a:cs typeface="Arial" panose="020B0604020202020204" pitchFamily="34" charset="0"/>
            </a:endParaRPr>
          </a:p>
          <a:p>
            <a:pPr algn="ctr"/>
            <a:r>
              <a:rPr lang="en-US" sz="4000" b="1" dirty="0">
                <a:solidFill>
                  <a:schemeClr val="bg1"/>
                </a:solidFill>
                <a:latin typeface="Arial" panose="020B0604020202020204" pitchFamily="34" charset="0"/>
                <a:cs typeface="Arial" panose="020B0604020202020204" pitchFamily="34" charset="0"/>
              </a:rPr>
              <a:t> Post  Graduate student</a:t>
            </a:r>
            <a:endParaRPr lang="en-US" sz="4000" b="1" baseline="30000" dirty="0">
              <a:solidFill>
                <a:schemeClr val="bg1"/>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A457F1BC-B03B-E784-F553-EDC22BFC4891}"/>
              </a:ext>
            </a:extLst>
          </p:cNvPr>
          <p:cNvSpPr/>
          <p:nvPr/>
        </p:nvSpPr>
        <p:spPr>
          <a:xfrm>
            <a:off x="458168" y="5353526"/>
            <a:ext cx="11374851" cy="953471"/>
          </a:xfrm>
          <a:prstGeom prst="rect">
            <a:avLst/>
          </a:prstGeom>
          <a:solidFill>
            <a:schemeClr val="tx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86292" tIns="43146" rIns="86292" bIns="4314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4200" b="1" dirty="0">
                <a:solidFill>
                  <a:schemeClr val="bg2"/>
                </a:solidFill>
                <a:latin typeface="Arial" panose="020B0604020202020204" pitchFamily="34" charset="0"/>
                <a:cs typeface="Arial" panose="020B0604020202020204" pitchFamily="34" charset="0"/>
              </a:rPr>
              <a:t>Introduction</a:t>
            </a:r>
          </a:p>
        </p:txBody>
      </p:sp>
      <p:sp>
        <p:nvSpPr>
          <p:cNvPr id="9" name="Text Box 192">
            <a:extLst>
              <a:ext uri="{FF2B5EF4-FFF2-40B4-BE49-F238E27FC236}">
                <a16:creationId xmlns:a16="http://schemas.microsoft.com/office/drawing/2014/main" id="{39F1531B-984C-194D-D3EB-257CFE00D99B}"/>
              </a:ext>
            </a:extLst>
          </p:cNvPr>
          <p:cNvSpPr txBox="1">
            <a:spLocks noChangeArrowheads="1"/>
          </p:cNvSpPr>
          <p:nvPr/>
        </p:nvSpPr>
        <p:spPr bwMode="auto">
          <a:xfrm>
            <a:off x="254237" y="23609796"/>
            <a:ext cx="11521493" cy="9027844"/>
          </a:xfrm>
          <a:prstGeom prst="rect">
            <a:avLst/>
          </a:prstGeom>
          <a:solidFill>
            <a:schemeClr val="bg2"/>
          </a:solidFill>
          <a:ln w="12700">
            <a:solidFill>
              <a:schemeClr val="accent1">
                <a:lumMod val="75000"/>
              </a:schemeClr>
            </a:solidFill>
          </a:ln>
          <a:effectLst/>
        </p:spPr>
        <p:txBody>
          <a:bodyPr wrap="square" lIns="172587" tIns="172587" rIns="172587" bIns="172587">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en-US" sz="3200" b="1" dirty="0">
                <a:solidFill>
                  <a:srgbClr val="C00000"/>
                </a:solidFill>
              </a:rPr>
              <a:t>Study design: </a:t>
            </a:r>
            <a:r>
              <a:rPr lang="en-US" sz="2800" dirty="0">
                <a:solidFill>
                  <a:srgbClr val="000000"/>
                </a:solidFill>
                <a:effectLst/>
                <a:latin typeface="Arial" panose="020B0604020202020204" pitchFamily="34" charset="0"/>
                <a:cs typeface="Arial" panose="020B0604020202020204" pitchFamily="34" charset="0"/>
              </a:rPr>
              <a:t>This was a prospective comparative interventional study conducted over 18months, using purposive sampling to enroll 30 participants with type 2 diabetes mellitus (duration &gt;5 years). Participants were divided into two groups: Group A received modified Buerger’s foot and ankle exercises along with footwear modifications and foot care education, while Group B received only foot care education. Podiatric was performed at baseline, 3 months, and 6 months. Data were collected using standardized</a:t>
            </a:r>
          </a:p>
          <a:p>
            <a:r>
              <a:rPr lang="en-US" sz="2800" dirty="0">
                <a:solidFill>
                  <a:srgbClr val="000000"/>
                </a:solidFill>
                <a:effectLst/>
                <a:latin typeface="Arial" panose="020B0604020202020204" pitchFamily="34" charset="0"/>
                <a:cs typeface="Arial" panose="020B0604020202020204" pitchFamily="34" charset="0"/>
              </a:rPr>
              <a:t>instruments, and informed consent was obtained from all participants.</a:t>
            </a:r>
          </a:p>
          <a:p>
            <a:pPr>
              <a:buNone/>
            </a:pPr>
            <a:r>
              <a:rPr lang="en-US" sz="4000" b="1" dirty="0">
                <a:solidFill>
                  <a:srgbClr val="000000"/>
                </a:solidFill>
                <a:effectLst/>
                <a:latin typeface="Times New Roman" panose="02020603050405020304" pitchFamily="18" charset="0"/>
              </a:rPr>
              <a:t>Inclusion Criteria:</a:t>
            </a:r>
            <a:endParaRPr lang="en-US" sz="4000" dirty="0">
              <a:solidFill>
                <a:srgbClr val="000000"/>
              </a:solidFill>
              <a:effectLst/>
              <a:latin typeface="Times New Roman" panose="02020603050405020304" pitchFamily="18" charset="0"/>
            </a:endParaRPr>
          </a:p>
          <a:p>
            <a:pPr>
              <a:buNone/>
            </a:pPr>
            <a:r>
              <a:rPr lang="en-US" sz="3200" dirty="0">
                <a:solidFill>
                  <a:srgbClr val="000000"/>
                </a:solidFill>
                <a:effectLst/>
                <a:latin typeface="Helvetica" pitchFamily="2" charset="0"/>
              </a:rPr>
              <a:t>•</a:t>
            </a:r>
            <a:r>
              <a:rPr lang="en-US" sz="3200" dirty="0">
                <a:solidFill>
                  <a:srgbClr val="000000"/>
                </a:solidFill>
                <a:effectLst/>
                <a:latin typeface="Arial" panose="020B0604020202020204" pitchFamily="34" charset="0"/>
              </a:rPr>
              <a:t> </a:t>
            </a:r>
            <a:r>
              <a:rPr lang="en-US" sz="2800" dirty="0">
                <a:solidFill>
                  <a:srgbClr val="000000"/>
                </a:solidFill>
                <a:effectLst/>
                <a:latin typeface="Arial" panose="020B0604020202020204" pitchFamily="34" charset="0"/>
                <a:cs typeface="Arial" panose="020B0604020202020204" pitchFamily="34" charset="0"/>
              </a:rPr>
              <a:t>Patients diagnosed with type 2 diabetes mellitus for more than 5 years.</a:t>
            </a:r>
          </a:p>
          <a:p>
            <a:pPr>
              <a:buNone/>
            </a:pPr>
            <a:r>
              <a:rPr lang="en-US" sz="4000" b="1" dirty="0">
                <a:solidFill>
                  <a:srgbClr val="000000"/>
                </a:solidFill>
                <a:effectLst/>
                <a:latin typeface="Times New Roman" panose="02020603050405020304" pitchFamily="18" charset="0"/>
              </a:rPr>
              <a:t>Exclusion Criteria:</a:t>
            </a:r>
            <a:endParaRPr lang="en-US" sz="4000" dirty="0">
              <a:solidFill>
                <a:srgbClr val="000000"/>
              </a:solidFill>
              <a:effectLst/>
              <a:latin typeface="Times New Roman" panose="02020603050405020304" pitchFamily="18" charset="0"/>
            </a:endParaRPr>
          </a:p>
          <a:p>
            <a:pPr>
              <a:buNone/>
            </a:pPr>
            <a:r>
              <a:rPr lang="en-US" sz="4000" dirty="0">
                <a:solidFill>
                  <a:srgbClr val="000000"/>
                </a:solidFill>
                <a:effectLst/>
                <a:latin typeface="Helvetica" pitchFamily="2" charset="0"/>
              </a:rPr>
              <a:t>•</a:t>
            </a:r>
            <a:r>
              <a:rPr lang="en-US" sz="4000" dirty="0">
                <a:solidFill>
                  <a:srgbClr val="000000"/>
                </a:solidFill>
                <a:effectLst/>
                <a:latin typeface="Arial" panose="020B0604020202020204" pitchFamily="34" charset="0"/>
              </a:rPr>
              <a:t> </a:t>
            </a:r>
            <a:r>
              <a:rPr lang="en-US" sz="2800" dirty="0">
                <a:solidFill>
                  <a:srgbClr val="000000"/>
                </a:solidFill>
                <a:effectLst/>
                <a:latin typeface="Arial" panose="020B0604020202020204" pitchFamily="34" charset="0"/>
                <a:cs typeface="Arial" panose="020B0604020202020204" pitchFamily="34" charset="0"/>
              </a:rPr>
              <a:t>Patients with chronic diabetic foot ulcers</a:t>
            </a:r>
          </a:p>
          <a:p>
            <a:pPr>
              <a:buNone/>
            </a:pPr>
            <a:r>
              <a:rPr lang="en-US" sz="2800" dirty="0">
                <a:solidFill>
                  <a:srgbClr val="000000"/>
                </a:solidFill>
                <a:effectLst/>
                <a:latin typeface="Arial" panose="020B0604020202020204" pitchFamily="34" charset="0"/>
                <a:cs typeface="Arial" panose="020B0604020202020204" pitchFamily="34" charset="0"/>
              </a:rPr>
              <a:t>• Amputees with diabetes</a:t>
            </a:r>
          </a:p>
          <a:p>
            <a:pPr>
              <a:buNone/>
            </a:pPr>
            <a:r>
              <a:rPr lang="en-US" sz="2800" dirty="0">
                <a:solidFill>
                  <a:srgbClr val="000000"/>
                </a:solidFill>
                <a:effectLst/>
                <a:latin typeface="Arial" panose="020B0604020202020204" pitchFamily="34" charset="0"/>
                <a:cs typeface="Arial" panose="020B0604020202020204" pitchFamily="34" charset="0"/>
              </a:rPr>
              <a:t>• Patients with joint dislocations</a:t>
            </a:r>
          </a:p>
          <a:p>
            <a:r>
              <a:rPr lang="en-US" sz="2800" dirty="0">
                <a:solidFill>
                  <a:srgbClr val="000000"/>
                </a:solidFill>
                <a:effectLst/>
                <a:latin typeface="Arial" panose="020B0604020202020204" pitchFamily="34" charset="0"/>
                <a:cs typeface="Arial" panose="020B0604020202020204" pitchFamily="34" charset="0"/>
              </a:rPr>
              <a:t>• Patients presenting with gangrene in the foot</a:t>
            </a:r>
          </a:p>
          <a:p>
            <a:endParaRPr lang="en-US" sz="2800" b="1" dirty="0">
              <a:solidFill>
                <a:srgbClr val="C00000"/>
              </a:solidFill>
            </a:endParaRPr>
          </a:p>
        </p:txBody>
      </p:sp>
      <p:sp>
        <p:nvSpPr>
          <p:cNvPr id="10" name="Rectangle 9">
            <a:extLst>
              <a:ext uri="{FF2B5EF4-FFF2-40B4-BE49-F238E27FC236}">
                <a16:creationId xmlns:a16="http://schemas.microsoft.com/office/drawing/2014/main" id="{2BB310BE-361F-AD22-C8F0-C703EBA2D676}"/>
              </a:ext>
            </a:extLst>
          </p:cNvPr>
          <p:cNvSpPr/>
          <p:nvPr/>
        </p:nvSpPr>
        <p:spPr>
          <a:xfrm>
            <a:off x="12138769" y="5349702"/>
            <a:ext cx="19186572" cy="961120"/>
          </a:xfrm>
          <a:prstGeom prst="rect">
            <a:avLst/>
          </a:prstGeom>
          <a:solidFill>
            <a:schemeClr val="tx1"/>
          </a:solidFill>
          <a:ln/>
        </p:spPr>
        <p:style>
          <a:lnRef idx="2">
            <a:schemeClr val="accent1"/>
          </a:lnRef>
          <a:fillRef idx="1">
            <a:schemeClr val="lt1"/>
          </a:fillRef>
          <a:effectRef idx="0">
            <a:schemeClr val="accent1"/>
          </a:effectRef>
          <a:fontRef idx="minor">
            <a:schemeClr val="dk1"/>
          </a:fontRef>
        </p:style>
        <p:txBody>
          <a:bodyPr lIns="86292" tIns="43146" rIns="86292" bIns="4314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r>
              <a:rPr lang="en-US" sz="4000" b="1" dirty="0">
                <a:solidFill>
                  <a:schemeClr val="bg2"/>
                </a:solidFill>
                <a:latin typeface="Arial" panose="020B0604020202020204" pitchFamily="34" charset="0"/>
                <a:cs typeface="Arial" panose="020B0604020202020204" pitchFamily="34" charset="0"/>
              </a:rPr>
              <a:t>Results</a:t>
            </a:r>
          </a:p>
        </p:txBody>
      </p:sp>
      <p:sp>
        <p:nvSpPr>
          <p:cNvPr id="11" name="Text Box 193">
            <a:extLst>
              <a:ext uri="{FF2B5EF4-FFF2-40B4-BE49-F238E27FC236}">
                <a16:creationId xmlns:a16="http://schemas.microsoft.com/office/drawing/2014/main" id="{0AEA7083-D8DF-0812-9163-635C9B569166}"/>
              </a:ext>
            </a:extLst>
          </p:cNvPr>
          <p:cNvSpPr txBox="1">
            <a:spLocks noChangeArrowheads="1"/>
          </p:cNvSpPr>
          <p:nvPr/>
        </p:nvSpPr>
        <p:spPr bwMode="auto">
          <a:xfrm>
            <a:off x="32058182" y="6483265"/>
            <a:ext cx="11145090" cy="7889071"/>
          </a:xfrm>
          <a:prstGeom prst="rect">
            <a:avLst/>
          </a:prstGeom>
          <a:solidFill>
            <a:schemeClr val="bg2"/>
          </a:solidFill>
          <a:ln w="12700">
            <a:solidFill>
              <a:schemeClr val="accent1">
                <a:lumMod val="75000"/>
              </a:schemeClr>
            </a:solidFill>
          </a:ln>
          <a:effectLst/>
        </p:spPr>
        <p:txBody>
          <a:bodyPr wrap="square" lIns="172587" tIns="172587" rIns="172587" bIns="172587">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400" dirty="0">
                <a:latin typeface="Arial" panose="020B0604020202020204" pitchFamily="34" charset="0"/>
                <a:cs typeface="Arial" panose="020B0604020202020204" pitchFamily="34" charset="0"/>
              </a:rPr>
              <a:t>Future studies should consider larger, multicentric cohorts with stratification based on</a:t>
            </a:r>
          </a:p>
          <a:p>
            <a:r>
              <a:rPr lang="en-IN" sz="3400" dirty="0">
                <a:latin typeface="Arial" panose="020B0604020202020204" pitchFamily="34" charset="0"/>
                <a:cs typeface="Arial" panose="020B0604020202020204" pitchFamily="34" charset="0"/>
              </a:rPr>
              <a:t>disease severity, duration of diabetes, and </a:t>
            </a:r>
            <a:r>
              <a:rPr lang="en-IN" sz="3400" dirty="0" err="1">
                <a:latin typeface="Arial" panose="020B0604020202020204" pitchFamily="34" charset="0"/>
                <a:cs typeface="Arial" panose="020B0604020202020204" pitchFamily="34" charset="0"/>
              </a:rPr>
              <a:t>glycemic</a:t>
            </a:r>
            <a:r>
              <a:rPr lang="en-IN" sz="3400" dirty="0">
                <a:latin typeface="Arial" panose="020B0604020202020204" pitchFamily="34" charset="0"/>
                <a:cs typeface="Arial" panose="020B0604020202020204" pitchFamily="34" charset="0"/>
              </a:rPr>
              <a:t> control. Incorporating additional</a:t>
            </a:r>
          </a:p>
          <a:p>
            <a:r>
              <a:rPr lang="en-IN" sz="3400" dirty="0">
                <a:latin typeface="Arial" panose="020B0604020202020204" pitchFamily="34" charset="0"/>
                <a:cs typeface="Arial" panose="020B0604020202020204" pitchFamily="34" charset="0"/>
              </a:rPr>
              <a:t>interventions such as resistance or balance training, nutritional supplementation (e.g.,</a:t>
            </a:r>
          </a:p>
          <a:p>
            <a:r>
              <a:rPr lang="en-IN" sz="3400" dirty="0">
                <a:latin typeface="Arial" panose="020B0604020202020204" pitchFamily="34" charset="0"/>
                <a:cs typeface="Arial" panose="020B0604020202020204" pitchFamily="34" charset="0"/>
              </a:rPr>
              <a:t>alpha-lipoic acid or B vitamins), and structured foot care education may yield synergistic</a:t>
            </a:r>
          </a:p>
          <a:p>
            <a:r>
              <a:rPr lang="en-IN" sz="3400" dirty="0">
                <a:latin typeface="Arial" panose="020B0604020202020204" pitchFamily="34" charset="0"/>
                <a:cs typeface="Arial" panose="020B0604020202020204" pitchFamily="34" charset="0"/>
              </a:rPr>
              <a:t>effects. Longer-term follow-up is also warranted to assess whether modified Buerger’s</a:t>
            </a:r>
          </a:p>
          <a:p>
            <a:r>
              <a:rPr lang="en-IN" sz="3400" dirty="0">
                <a:latin typeface="Arial" panose="020B0604020202020204" pitchFamily="34" charset="0"/>
                <a:cs typeface="Arial" panose="020B0604020202020204" pitchFamily="34" charset="0"/>
              </a:rPr>
              <a:t>exercises confer sustained benefits or help delay the onset of more serious complications</a:t>
            </a:r>
          </a:p>
          <a:p>
            <a:r>
              <a:rPr lang="en-IN" sz="3400" b="1" dirty="0">
                <a:latin typeface="Arial" panose="020B0604020202020204" pitchFamily="34" charset="0"/>
                <a:cs typeface="Arial" panose="020B0604020202020204" pitchFamily="34" charset="0"/>
              </a:rPr>
              <a:t>like foot ulcers or gangrene.</a:t>
            </a:r>
          </a:p>
          <a:p>
            <a:r>
              <a:rPr lang="en-IN" dirty="0">
                <a:latin typeface="Arial" panose="020B0604020202020204" pitchFamily="34" charset="0"/>
                <a:cs typeface="Arial" panose="020B0604020202020204" pitchFamily="34" charset="0"/>
              </a:rPr>
              <a:t> </a:t>
            </a:r>
          </a:p>
          <a:p>
            <a:pPr marL="457200" indent="-457200">
              <a:buFont typeface="Arial" panose="020B0604020202020204" pitchFamily="34" charset="0"/>
              <a:buChar char="•"/>
            </a:pPr>
            <a:endParaRPr lang="en-IN" sz="3400" dirty="0"/>
          </a:p>
        </p:txBody>
      </p:sp>
      <p:sp>
        <p:nvSpPr>
          <p:cNvPr id="13" name="Text Box 190">
            <a:extLst>
              <a:ext uri="{FF2B5EF4-FFF2-40B4-BE49-F238E27FC236}">
                <a16:creationId xmlns:a16="http://schemas.microsoft.com/office/drawing/2014/main" id="{ADF78B19-469C-E38B-6C3F-E003CCE12B1B}"/>
              </a:ext>
            </a:extLst>
          </p:cNvPr>
          <p:cNvSpPr txBox="1">
            <a:spLocks noChangeArrowheads="1"/>
          </p:cNvSpPr>
          <p:nvPr/>
        </p:nvSpPr>
        <p:spPr bwMode="auto">
          <a:xfrm>
            <a:off x="171764" y="16361334"/>
            <a:ext cx="11374853" cy="5888523"/>
          </a:xfrm>
          <a:prstGeom prst="rect">
            <a:avLst/>
          </a:prstGeom>
          <a:solidFill>
            <a:schemeClr val="bg2"/>
          </a:solidFill>
          <a:ln w="12700">
            <a:solidFill>
              <a:schemeClr val="accent1">
                <a:lumMod val="75000"/>
              </a:schemeClr>
            </a:solidFill>
          </a:ln>
          <a:effectLst/>
        </p:spPr>
        <p:txBody>
          <a:bodyPr wrap="square" lIns="172587" tIns="172587" rIns="172587" bIns="172587">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en-US" sz="4000" b="1" dirty="0">
                <a:solidFill>
                  <a:srgbClr val="000000"/>
                </a:solidFill>
                <a:effectLst/>
                <a:latin typeface="Arial" panose="020B0604020202020204" pitchFamily="34" charset="0"/>
                <a:cs typeface="Arial" panose="020B0604020202020204" pitchFamily="34" charset="0"/>
              </a:rPr>
              <a:t>Primary objective</a:t>
            </a:r>
            <a:r>
              <a:rPr lang="en-US" sz="4000" dirty="0">
                <a:solidFill>
                  <a:srgbClr val="000000"/>
                </a:solidFill>
                <a:effectLst/>
                <a:latin typeface="Arial" panose="020B0604020202020204" pitchFamily="34" charset="0"/>
                <a:cs typeface="Arial" panose="020B0604020202020204" pitchFamily="34" charset="0"/>
              </a:rPr>
              <a:t>:- To evaluate the efficacy of foot and ankle</a:t>
            </a:r>
          </a:p>
          <a:p>
            <a:pPr>
              <a:buNone/>
            </a:pPr>
            <a:r>
              <a:rPr lang="en-US" sz="4000" dirty="0">
                <a:solidFill>
                  <a:srgbClr val="000000"/>
                </a:solidFill>
                <a:effectLst/>
                <a:latin typeface="Arial" panose="020B0604020202020204" pitchFamily="34" charset="0"/>
                <a:cs typeface="Arial" panose="020B0604020202020204" pitchFamily="34" charset="0"/>
              </a:rPr>
              <a:t>exercises(modified </a:t>
            </a:r>
            <a:r>
              <a:rPr lang="en-US" sz="4000" dirty="0" err="1">
                <a:solidFill>
                  <a:srgbClr val="000000"/>
                </a:solidFill>
                <a:effectLst/>
                <a:latin typeface="Arial" panose="020B0604020202020204" pitchFamily="34" charset="0"/>
                <a:cs typeface="Arial" panose="020B0604020202020204" pitchFamily="34" charset="0"/>
              </a:rPr>
              <a:t>buerger’s</a:t>
            </a:r>
            <a:r>
              <a:rPr lang="en-US" sz="4000" dirty="0">
                <a:solidFill>
                  <a:srgbClr val="000000"/>
                </a:solidFill>
                <a:effectLst/>
                <a:latin typeface="Arial" panose="020B0604020202020204" pitchFamily="34" charset="0"/>
                <a:cs typeface="Arial" panose="020B0604020202020204" pitchFamily="34" charset="0"/>
              </a:rPr>
              <a:t> </a:t>
            </a:r>
            <a:r>
              <a:rPr lang="en-US" sz="4000" dirty="0" err="1">
                <a:solidFill>
                  <a:srgbClr val="000000"/>
                </a:solidFill>
                <a:effectLst/>
                <a:latin typeface="Arial" panose="020B0604020202020204" pitchFamily="34" charset="0"/>
                <a:cs typeface="Arial" panose="020B0604020202020204" pitchFamily="34" charset="0"/>
              </a:rPr>
              <a:t>excercises</a:t>
            </a:r>
            <a:r>
              <a:rPr lang="en-US" sz="4000" dirty="0">
                <a:solidFill>
                  <a:srgbClr val="000000"/>
                </a:solidFill>
                <a:effectLst/>
                <a:latin typeface="Arial" panose="020B0604020202020204" pitchFamily="34" charset="0"/>
                <a:cs typeface="Arial" panose="020B0604020202020204" pitchFamily="34" charset="0"/>
              </a:rPr>
              <a:t>) on prevention of diabetic foot</a:t>
            </a:r>
          </a:p>
          <a:p>
            <a:pPr>
              <a:buNone/>
            </a:pPr>
            <a:r>
              <a:rPr lang="en-US" sz="4000" dirty="0">
                <a:solidFill>
                  <a:srgbClr val="000000"/>
                </a:solidFill>
                <a:effectLst/>
                <a:latin typeface="Arial" panose="020B0604020202020204" pitchFamily="34" charset="0"/>
                <a:cs typeface="Arial" panose="020B0604020202020204" pitchFamily="34" charset="0"/>
              </a:rPr>
              <a:t>disease.</a:t>
            </a:r>
          </a:p>
          <a:p>
            <a:pPr>
              <a:buNone/>
            </a:pPr>
            <a:r>
              <a:rPr lang="en-US" sz="4000" dirty="0">
                <a:solidFill>
                  <a:srgbClr val="000000"/>
                </a:solidFill>
                <a:effectLst/>
                <a:latin typeface="Arial" panose="020B0604020202020204" pitchFamily="34" charset="0"/>
                <a:cs typeface="Arial" panose="020B0604020202020204" pitchFamily="34" charset="0"/>
              </a:rPr>
              <a:t>• </a:t>
            </a:r>
            <a:r>
              <a:rPr lang="en-US" sz="4000" b="1" dirty="0">
                <a:solidFill>
                  <a:srgbClr val="000000"/>
                </a:solidFill>
                <a:effectLst/>
                <a:latin typeface="Arial" panose="020B0604020202020204" pitchFamily="34" charset="0"/>
                <a:cs typeface="Arial" panose="020B0604020202020204" pitchFamily="34" charset="0"/>
              </a:rPr>
              <a:t>Secondary objective:-</a:t>
            </a:r>
            <a:r>
              <a:rPr lang="en-US" sz="4000" dirty="0">
                <a:solidFill>
                  <a:srgbClr val="000000"/>
                </a:solidFill>
                <a:effectLst/>
                <a:latin typeface="Arial" panose="020B0604020202020204" pitchFamily="34" charset="0"/>
                <a:cs typeface="Arial" panose="020B0604020202020204" pitchFamily="34" charset="0"/>
              </a:rPr>
              <a:t> Evaluation of the comorbidities associated with</a:t>
            </a:r>
          </a:p>
          <a:p>
            <a:pPr>
              <a:buNone/>
            </a:pPr>
            <a:r>
              <a:rPr lang="en-US" sz="4000" dirty="0">
                <a:solidFill>
                  <a:srgbClr val="000000"/>
                </a:solidFill>
                <a:effectLst/>
                <a:latin typeface="Arial" panose="020B0604020202020204" pitchFamily="34" charset="0"/>
                <a:cs typeface="Arial" panose="020B0604020202020204" pitchFamily="34" charset="0"/>
              </a:rPr>
              <a:t>diabetes</a:t>
            </a:r>
          </a:p>
          <a:p>
            <a:endParaRPr lang="en-US" sz="4000" dirty="0">
              <a:solidFill>
                <a:srgbClr val="000000"/>
              </a:solidFill>
              <a:effectLst/>
              <a:latin typeface="Times New Roman" panose="02020603050405020304" pitchFamily="18" charset="0"/>
            </a:endParaRPr>
          </a:p>
        </p:txBody>
      </p:sp>
      <p:pic>
        <p:nvPicPr>
          <p:cNvPr id="14" name="Picture 13">
            <a:extLst>
              <a:ext uri="{FF2B5EF4-FFF2-40B4-BE49-F238E27FC236}">
                <a16:creationId xmlns:a16="http://schemas.microsoft.com/office/drawing/2014/main" id="{C1BB3BCE-9DAE-C306-BF63-FE8AE76C56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90500" y="651442"/>
            <a:ext cx="5617818" cy="3223481"/>
          </a:xfrm>
          <a:prstGeom prst="rect">
            <a:avLst/>
          </a:prstGeom>
        </p:spPr>
      </p:pic>
      <p:sp>
        <p:nvSpPr>
          <p:cNvPr id="16" name="Rectangle 15">
            <a:extLst>
              <a:ext uri="{FF2B5EF4-FFF2-40B4-BE49-F238E27FC236}">
                <a16:creationId xmlns:a16="http://schemas.microsoft.com/office/drawing/2014/main" id="{B00C3C7E-DFB4-AB8A-33B0-14487C76BE99}"/>
              </a:ext>
            </a:extLst>
          </p:cNvPr>
          <p:cNvSpPr/>
          <p:nvPr/>
        </p:nvSpPr>
        <p:spPr>
          <a:xfrm>
            <a:off x="327557" y="22467578"/>
            <a:ext cx="11374852" cy="953470"/>
          </a:xfrm>
          <a:prstGeom prst="rect">
            <a:avLst/>
          </a:prstGeom>
          <a:solidFill>
            <a:schemeClr val="tx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86292" tIns="43146" rIns="86292" bIns="4314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4232" b="1" dirty="0">
                <a:solidFill>
                  <a:schemeClr val="bg2"/>
                </a:solidFill>
                <a:latin typeface="Arial" panose="020B0604020202020204" pitchFamily="34" charset="0"/>
                <a:cs typeface="Arial" panose="020B0604020202020204" pitchFamily="34" charset="0"/>
              </a:rPr>
              <a:t>Materials and Methods</a:t>
            </a:r>
          </a:p>
        </p:txBody>
      </p:sp>
      <p:pic>
        <p:nvPicPr>
          <p:cNvPr id="19" name="Picture 18" descr="A blue and white logo&#10;&#10;Description automatically generated">
            <a:extLst>
              <a:ext uri="{FF2B5EF4-FFF2-40B4-BE49-F238E27FC236}">
                <a16:creationId xmlns:a16="http://schemas.microsoft.com/office/drawing/2014/main" id="{91F40F07-A8DB-B2D1-232B-D114F670B334}"/>
              </a:ext>
            </a:extLst>
          </p:cNvPr>
          <p:cNvPicPr>
            <a:picLocks noChangeAspect="1"/>
          </p:cNvPicPr>
          <p:nvPr/>
        </p:nvPicPr>
        <p:blipFill>
          <a:blip r:embed="rId4">
            <a:extLst>
              <a:ext uri="{28A0092B-C50C-407E-A947-70E740481C1C}">
                <a14:useLocalDpi xmlns:a14="http://schemas.microsoft.com/office/drawing/2010/main" val="0"/>
              </a:ext>
            </a:extLst>
          </a:blip>
          <a:srcRect b="6684"/>
          <a:stretch/>
        </p:blipFill>
        <p:spPr>
          <a:xfrm>
            <a:off x="171764" y="570466"/>
            <a:ext cx="7276472" cy="3756349"/>
          </a:xfrm>
          <a:prstGeom prst="rect">
            <a:avLst/>
          </a:prstGeom>
        </p:spPr>
      </p:pic>
      <p:sp>
        <p:nvSpPr>
          <p:cNvPr id="38" name="Text Box 191">
            <a:extLst>
              <a:ext uri="{FF2B5EF4-FFF2-40B4-BE49-F238E27FC236}">
                <a16:creationId xmlns:a16="http://schemas.microsoft.com/office/drawing/2014/main" id="{F3B3EE5B-8234-7E5D-4AE2-97102310362F}"/>
              </a:ext>
            </a:extLst>
          </p:cNvPr>
          <p:cNvSpPr txBox="1">
            <a:spLocks noChangeArrowheads="1"/>
          </p:cNvSpPr>
          <p:nvPr/>
        </p:nvSpPr>
        <p:spPr bwMode="auto">
          <a:xfrm>
            <a:off x="12316596" y="6483265"/>
            <a:ext cx="19584293" cy="8596957"/>
          </a:xfrm>
          <a:prstGeom prst="rect">
            <a:avLst/>
          </a:prstGeom>
          <a:solidFill>
            <a:schemeClr val="bg2"/>
          </a:solidFill>
          <a:ln w="12700">
            <a:solidFill>
              <a:schemeClr val="accent1">
                <a:lumMod val="75000"/>
              </a:schemeClr>
            </a:solidFill>
          </a:ln>
          <a:effectLst/>
        </p:spPr>
        <p:txBody>
          <a:bodyPr wrap="square" lIns="172587" tIns="172587" rIns="172587" bIns="172587">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en-US" sz="3600" dirty="0">
                <a:solidFill>
                  <a:srgbClr val="000000"/>
                </a:solidFill>
                <a:effectLst/>
                <a:latin typeface="Arial" panose="020B0604020202020204" pitchFamily="34" charset="0"/>
                <a:cs typeface="Arial" panose="020B0604020202020204" pitchFamily="34" charset="0"/>
              </a:rPr>
              <a:t>The study involved 30 participants, predominantly females (66.7%), with over</a:t>
            </a:r>
          </a:p>
          <a:p>
            <a:pPr>
              <a:buNone/>
            </a:pPr>
            <a:r>
              <a:rPr lang="en-US" sz="3600" dirty="0">
                <a:solidFill>
                  <a:srgbClr val="000000"/>
                </a:solidFill>
                <a:effectLst/>
                <a:latin typeface="Arial" panose="020B0604020202020204" pitchFamily="34" charset="0"/>
                <a:cs typeface="Arial" panose="020B0604020202020204" pitchFamily="34" charset="0"/>
              </a:rPr>
              <a:t>half (53.3%) aged 50 years and above. Both Group A (intervention) and Group B (control)</a:t>
            </a:r>
          </a:p>
          <a:p>
            <a:pPr>
              <a:buNone/>
            </a:pPr>
            <a:r>
              <a:rPr lang="en-US" sz="3600" dirty="0">
                <a:solidFill>
                  <a:srgbClr val="000000"/>
                </a:solidFill>
                <a:effectLst/>
                <a:latin typeface="Arial" panose="020B0604020202020204" pitchFamily="34" charset="0"/>
                <a:cs typeface="Arial" panose="020B0604020202020204" pitchFamily="34" charset="0"/>
              </a:rPr>
              <a:t>had equal allocation (n=15). Ankle Brachial Pressure Index (ABPI) remained within</a:t>
            </a:r>
          </a:p>
          <a:p>
            <a:pPr>
              <a:buNone/>
            </a:pPr>
            <a:r>
              <a:rPr lang="en-US" sz="3600" dirty="0">
                <a:solidFill>
                  <a:srgbClr val="000000"/>
                </a:solidFill>
                <a:effectLst/>
                <a:latin typeface="Arial" panose="020B0604020202020204" pitchFamily="34" charset="0"/>
                <a:cs typeface="Arial" panose="020B0604020202020204" pitchFamily="34" charset="0"/>
              </a:rPr>
              <a:t>normal range for 96.7% of participants at baseline, 3 months, and 6 months in both groups,</a:t>
            </a:r>
          </a:p>
          <a:p>
            <a:pPr>
              <a:buNone/>
            </a:pPr>
            <a:r>
              <a:rPr lang="en-US" sz="3600" dirty="0">
                <a:solidFill>
                  <a:srgbClr val="000000"/>
                </a:solidFill>
                <a:effectLst/>
                <a:latin typeface="Arial" panose="020B0604020202020204" pitchFamily="34" charset="0"/>
                <a:cs typeface="Arial" panose="020B0604020202020204" pitchFamily="34" charset="0"/>
              </a:rPr>
              <a:t>with no significant differences (p &gt; 0.05). Similarly, sensory neuropathy involving small</a:t>
            </a:r>
          </a:p>
          <a:p>
            <a:pPr>
              <a:buNone/>
            </a:pPr>
            <a:r>
              <a:rPr lang="en-US" sz="3600" dirty="0">
                <a:solidFill>
                  <a:srgbClr val="000000"/>
                </a:solidFill>
                <a:effectLst/>
                <a:latin typeface="Arial" panose="020B0604020202020204" pitchFamily="34" charset="0"/>
                <a:cs typeface="Arial" panose="020B0604020202020204" pitchFamily="34" charset="0"/>
              </a:rPr>
              <a:t>and large fibers persisted in 76.7% of participants throughout the study period, with no</a:t>
            </a:r>
          </a:p>
          <a:p>
            <a:pPr>
              <a:buNone/>
            </a:pPr>
            <a:r>
              <a:rPr lang="en-US" sz="3600" dirty="0">
                <a:solidFill>
                  <a:srgbClr val="000000"/>
                </a:solidFill>
                <a:effectLst/>
                <a:latin typeface="Arial" panose="020B0604020202020204" pitchFamily="34" charset="0"/>
                <a:cs typeface="Arial" panose="020B0604020202020204" pitchFamily="34" charset="0"/>
              </a:rPr>
              <a:t>significant intergroup variation. Thermal sensation assessment (hot and cold) in both feet</a:t>
            </a:r>
          </a:p>
          <a:p>
            <a:pPr>
              <a:buNone/>
            </a:pPr>
            <a:r>
              <a:rPr lang="en-US" sz="3600" dirty="0">
                <a:solidFill>
                  <a:srgbClr val="000000"/>
                </a:solidFill>
                <a:effectLst/>
                <a:latin typeface="Arial" panose="020B0604020202020204" pitchFamily="34" charset="0"/>
                <a:cs typeface="Arial" panose="020B0604020202020204" pitchFamily="34" charset="0"/>
              </a:rPr>
              <a:t>also showed consistent results over time, with most participants exhibiting mild to</a:t>
            </a:r>
          </a:p>
          <a:p>
            <a:pPr>
              <a:buNone/>
            </a:pPr>
            <a:r>
              <a:rPr lang="en-US" sz="3600" dirty="0">
                <a:solidFill>
                  <a:srgbClr val="000000"/>
                </a:solidFill>
                <a:effectLst/>
                <a:latin typeface="Arial" panose="020B0604020202020204" pitchFamily="34" charset="0"/>
                <a:cs typeface="Arial" panose="020B0604020202020204" pitchFamily="34" charset="0"/>
              </a:rPr>
              <a:t>moderate loss and no statistical difference between groups. Although clinical</a:t>
            </a:r>
          </a:p>
          <a:p>
            <a:pPr>
              <a:buNone/>
            </a:pPr>
            <a:r>
              <a:rPr lang="en-US" sz="3600" dirty="0">
                <a:solidFill>
                  <a:srgbClr val="000000"/>
                </a:solidFill>
                <a:effectLst/>
                <a:latin typeface="Arial" panose="020B0604020202020204" pitchFamily="34" charset="0"/>
                <a:cs typeface="Arial" panose="020B0604020202020204" pitchFamily="34" charset="0"/>
              </a:rPr>
              <a:t>improvements were observed in the intervention group, these did not reach statistical</a:t>
            </a:r>
          </a:p>
          <a:p>
            <a:r>
              <a:rPr lang="en-US" sz="3600" dirty="0">
                <a:solidFill>
                  <a:srgbClr val="000000"/>
                </a:solidFill>
                <a:effectLst/>
                <a:latin typeface="Arial" panose="020B0604020202020204" pitchFamily="34" charset="0"/>
                <a:cs typeface="Arial" panose="020B0604020202020204" pitchFamily="34" charset="0"/>
              </a:rPr>
              <a:t>significance.</a:t>
            </a:r>
          </a:p>
          <a:p>
            <a:r>
              <a:rPr lang="en-IN" sz="2800" b="1" dirty="0">
                <a:latin typeface="Arial" panose="020B0604020202020204" pitchFamily="34" charset="0"/>
                <a:cs typeface="Arial" panose="020B0604020202020204" pitchFamily="34" charset="0"/>
              </a:rPr>
              <a:t> </a:t>
            </a:r>
          </a:p>
          <a:p>
            <a:endParaRPr lang="en-IN" sz="2800" b="1" dirty="0"/>
          </a:p>
          <a:p>
            <a:endParaRPr lang="en-IN" sz="2800" b="1" dirty="0"/>
          </a:p>
          <a:p>
            <a:endParaRPr lang="en-IN" sz="2800" b="1" dirty="0"/>
          </a:p>
          <a:p>
            <a:pPr marL="359639" indent="-359639" algn="just">
              <a:buFont typeface="Arial" panose="020B0604020202020204" pitchFamily="34" charset="0"/>
              <a:buChar char="•"/>
            </a:pPr>
            <a:endParaRPr lang="en-IN" sz="2800" b="1" dirty="0"/>
          </a:p>
        </p:txBody>
      </p:sp>
      <p:sp>
        <p:nvSpPr>
          <p:cNvPr id="39" name="Text Box 189">
            <a:extLst>
              <a:ext uri="{FF2B5EF4-FFF2-40B4-BE49-F238E27FC236}">
                <a16:creationId xmlns:a16="http://schemas.microsoft.com/office/drawing/2014/main" id="{B17C1F63-74D5-731D-7415-B887C4F65819}"/>
              </a:ext>
            </a:extLst>
          </p:cNvPr>
          <p:cNvSpPr txBox="1">
            <a:spLocks noChangeArrowheads="1"/>
          </p:cNvSpPr>
          <p:nvPr/>
        </p:nvSpPr>
        <p:spPr bwMode="auto">
          <a:xfrm>
            <a:off x="254237" y="6408205"/>
            <a:ext cx="11521493" cy="8637994"/>
          </a:xfrm>
          <a:prstGeom prst="rect">
            <a:avLst/>
          </a:prstGeom>
          <a:solidFill>
            <a:schemeClr val="bg2"/>
          </a:solidFill>
          <a:ln w="12700">
            <a:solidFill>
              <a:schemeClr val="accent1">
                <a:lumMod val="75000"/>
              </a:schemeClr>
            </a:solidFill>
          </a:ln>
          <a:effectLst/>
        </p:spPr>
        <p:txBody>
          <a:bodyPr wrap="square" lIns="172587" tIns="172587" rIns="172587" bIns="172587">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ts val="375"/>
              </a:spcBef>
              <a:spcAft>
                <a:spcPts val="375"/>
              </a:spcAft>
              <a:buNone/>
            </a:pPr>
            <a:r>
              <a:rPr lang="en-US" sz="2800" b="0" i="0" u="none" strike="noStrike" dirty="0">
                <a:solidFill>
                  <a:srgbClr val="000000"/>
                </a:solidFill>
                <a:effectLst/>
                <a:latin typeface="Arial" panose="020B0604020202020204" pitchFamily="34" charset="0"/>
                <a:cs typeface="Arial" panose="020B0604020202020204" pitchFamily="34" charset="0"/>
              </a:rPr>
              <a:t>Diabetes mellitus is a chronic metabolic disorder characterized by persistent </a:t>
            </a:r>
            <a:r>
              <a:rPr lang="en-US" sz="2800" b="0" i="0" u="none" strike="noStrike" dirty="0" err="1">
                <a:solidFill>
                  <a:srgbClr val="000000"/>
                </a:solidFill>
                <a:effectLst/>
                <a:latin typeface="Arial" panose="020B0604020202020204" pitchFamily="34" charset="0"/>
                <a:cs typeface="Arial" panose="020B0604020202020204" pitchFamily="34" charset="0"/>
              </a:rPr>
              <a:t>hyperglycemiadue</a:t>
            </a:r>
            <a:r>
              <a:rPr lang="en-US" sz="2800" b="0" i="0" u="none" strike="noStrike" dirty="0">
                <a:solidFill>
                  <a:srgbClr val="000000"/>
                </a:solidFill>
                <a:effectLst/>
                <a:latin typeface="Arial" panose="020B0604020202020204" pitchFamily="34" charset="0"/>
                <a:cs typeface="Arial" panose="020B0604020202020204" pitchFamily="34" charset="0"/>
              </a:rPr>
              <a:t> to impaired insulin secretion, action, or both. Its global prevalence is rising at an alarming rate, with projections suggesting 700 million cases by 2045 (International Diabetes Federation, 2021)</a:t>
            </a:r>
            <a:r>
              <a:rPr lang="en-US" sz="2800" b="0" i="0" u="none" strike="noStrike" baseline="30000" dirty="0">
                <a:solidFill>
                  <a:srgbClr val="000000"/>
                </a:solidFill>
                <a:effectLst/>
                <a:latin typeface="Arial" panose="020B0604020202020204" pitchFamily="34" charset="0"/>
                <a:cs typeface="Arial" panose="020B0604020202020204" pitchFamily="34" charset="0"/>
              </a:rPr>
              <a:t>1</a:t>
            </a:r>
            <a:r>
              <a:rPr lang="en-US" sz="2800" b="0" i="0" u="none" strike="noStrike" dirty="0">
                <a:solidFill>
                  <a:srgbClr val="000000"/>
                </a:solidFill>
                <a:effectLst/>
                <a:latin typeface="Arial" panose="020B0604020202020204" pitchFamily="34" charset="0"/>
                <a:cs typeface="Arial" panose="020B0604020202020204" pitchFamily="34" charset="0"/>
              </a:rPr>
              <a:t>. Among its complications, foot and ankle pathologies are particularly debilitating, often leading to ulcers, infections, and even lower-limb amputations. Peripheral neuropathy, peripheral arterial disease (PAD), and impaired wound healing are major contributors, with diabetic foot ulcers preceding approximately 85% of non-traumatic amputations</a:t>
            </a:r>
            <a:r>
              <a:rPr lang="en-US" sz="2800" b="0" i="0" u="none" strike="noStrike" baseline="30000" dirty="0">
                <a:solidFill>
                  <a:srgbClr val="000000"/>
                </a:solidFill>
                <a:effectLst/>
                <a:latin typeface="Arial" panose="020B0604020202020204" pitchFamily="34" charset="0"/>
                <a:cs typeface="Arial" panose="020B0604020202020204" pitchFamily="34" charset="0"/>
              </a:rPr>
              <a:t>2</a:t>
            </a:r>
            <a:r>
              <a:rPr lang="en-US" sz="2800" b="0" i="0" u="none" strike="noStrike" dirty="0">
                <a:solidFill>
                  <a:srgbClr val="000000"/>
                </a:solidFill>
                <a:effectLst/>
                <a:latin typeface="Arial" panose="020B0604020202020204" pitchFamily="34" charset="0"/>
                <a:cs typeface="Arial" panose="020B0604020202020204" pitchFamily="34" charset="0"/>
              </a:rPr>
              <a:t>. Preventive strategies are therefore essential.</a:t>
            </a:r>
          </a:p>
          <a:p>
            <a:pPr algn="just">
              <a:spcBef>
                <a:spcPts val="375"/>
              </a:spcBef>
              <a:spcAft>
                <a:spcPts val="375"/>
              </a:spcAft>
              <a:buNone/>
            </a:pPr>
            <a:r>
              <a:rPr lang="en-US" sz="2800" b="0" i="0" u="none" strike="noStrike" dirty="0">
                <a:solidFill>
                  <a:srgbClr val="000000"/>
                </a:solidFill>
                <a:effectLst/>
                <a:latin typeface="Arial" panose="020B0604020202020204" pitchFamily="34" charset="0"/>
                <a:cs typeface="Arial" panose="020B0604020202020204" pitchFamily="34" charset="0"/>
              </a:rPr>
              <a:t>Given the high burden of diabetic foot complications, especially in resource-limited settings, simple, low-cost, non-invasive interventions such as modified Buerger’s exercises could have significant impact. These require minimal equipment, can be self-administered, and are adaptable for varying functional levels. This study aims to evaluate the preventive efficacy of such exercises in reducing diabetic foot risks, bridging the gap between clinical recommendations and practical community-level implementation.</a:t>
            </a:r>
          </a:p>
        </p:txBody>
      </p:sp>
      <p:sp>
        <p:nvSpPr>
          <p:cNvPr id="40" name="Rectangle 39">
            <a:extLst>
              <a:ext uri="{FF2B5EF4-FFF2-40B4-BE49-F238E27FC236}">
                <a16:creationId xmlns:a16="http://schemas.microsoft.com/office/drawing/2014/main" id="{293AEA35-1C16-587E-F955-FB3FA740CC3A}"/>
              </a:ext>
            </a:extLst>
          </p:cNvPr>
          <p:cNvSpPr/>
          <p:nvPr/>
        </p:nvSpPr>
        <p:spPr>
          <a:xfrm>
            <a:off x="32058182" y="5319672"/>
            <a:ext cx="11100177" cy="986185"/>
          </a:xfrm>
          <a:prstGeom prst="rect">
            <a:avLst/>
          </a:prstGeom>
          <a:solidFill>
            <a:schemeClr val="tx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86292" tIns="43146" rIns="86292" bIns="4314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4200" b="1" dirty="0">
                <a:solidFill>
                  <a:schemeClr val="bg2"/>
                </a:solidFill>
                <a:latin typeface="Arial" panose="020B0604020202020204" pitchFamily="34" charset="0"/>
                <a:cs typeface="Arial" panose="020B0604020202020204" pitchFamily="34" charset="0"/>
              </a:rPr>
              <a:t>Conclusions</a:t>
            </a:r>
          </a:p>
        </p:txBody>
      </p:sp>
      <p:sp>
        <p:nvSpPr>
          <p:cNvPr id="41" name="Rectangle 40">
            <a:extLst>
              <a:ext uri="{FF2B5EF4-FFF2-40B4-BE49-F238E27FC236}">
                <a16:creationId xmlns:a16="http://schemas.microsoft.com/office/drawing/2014/main" id="{B00C3C7E-DFB4-AB8A-33B0-14487C76BE99}"/>
              </a:ext>
            </a:extLst>
          </p:cNvPr>
          <p:cNvSpPr/>
          <p:nvPr/>
        </p:nvSpPr>
        <p:spPr>
          <a:xfrm>
            <a:off x="235155" y="15309784"/>
            <a:ext cx="11311460" cy="916955"/>
          </a:xfrm>
          <a:prstGeom prst="rect">
            <a:avLst/>
          </a:prstGeom>
          <a:solidFill>
            <a:schemeClr val="tx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86292" tIns="43146" rIns="86292" bIns="4314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4232" b="1" dirty="0">
                <a:solidFill>
                  <a:schemeClr val="bg2"/>
                </a:solidFill>
                <a:latin typeface="Arial" panose="020B0604020202020204" pitchFamily="34" charset="0"/>
                <a:cs typeface="Arial" panose="020B0604020202020204" pitchFamily="34" charset="0"/>
              </a:rPr>
              <a:t>Objectives Of The Study</a:t>
            </a:r>
          </a:p>
        </p:txBody>
      </p:sp>
      <p:sp>
        <p:nvSpPr>
          <p:cNvPr id="47" name="Text Box 193">
            <a:extLst>
              <a:ext uri="{FF2B5EF4-FFF2-40B4-BE49-F238E27FC236}">
                <a16:creationId xmlns:a16="http://schemas.microsoft.com/office/drawing/2014/main" id="{0AEA7083-D8DF-0812-9163-635C9B569166}"/>
              </a:ext>
            </a:extLst>
          </p:cNvPr>
          <p:cNvSpPr txBox="1">
            <a:spLocks noChangeArrowheads="1"/>
          </p:cNvSpPr>
          <p:nvPr/>
        </p:nvSpPr>
        <p:spPr bwMode="auto">
          <a:xfrm>
            <a:off x="31855976" y="23609796"/>
            <a:ext cx="11145090" cy="8350735"/>
          </a:xfrm>
          <a:prstGeom prst="rect">
            <a:avLst/>
          </a:prstGeom>
          <a:solidFill>
            <a:schemeClr val="bg2"/>
          </a:solidFill>
          <a:ln w="12700">
            <a:solidFill>
              <a:schemeClr val="accent1">
                <a:lumMod val="75000"/>
              </a:schemeClr>
            </a:solidFill>
          </a:ln>
          <a:effectLst/>
        </p:spPr>
        <p:txBody>
          <a:bodyPr wrap="square" lIns="172587" tIns="172587" rIns="172587" bIns="172587">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en-US" sz="4000" dirty="0">
                <a:solidFill>
                  <a:srgbClr val="000000"/>
                </a:solidFill>
                <a:effectLst/>
                <a:latin typeface="Arial" panose="020B0604020202020204" pitchFamily="34" charset="0"/>
                <a:cs typeface="Arial" panose="020B0604020202020204" pitchFamily="34" charset="0"/>
              </a:rPr>
              <a:t>Future studies should consider larger, multicentric cohorts with stratification based on</a:t>
            </a:r>
          </a:p>
          <a:p>
            <a:pPr>
              <a:buNone/>
            </a:pPr>
            <a:r>
              <a:rPr lang="en-US" sz="4000" dirty="0">
                <a:solidFill>
                  <a:srgbClr val="000000"/>
                </a:solidFill>
                <a:effectLst/>
                <a:latin typeface="Arial" panose="020B0604020202020204" pitchFamily="34" charset="0"/>
                <a:cs typeface="Arial" panose="020B0604020202020204" pitchFamily="34" charset="0"/>
              </a:rPr>
              <a:t>disease severity, duration of diabetes, and glycemic control. Incorporating additional</a:t>
            </a:r>
          </a:p>
          <a:p>
            <a:pPr>
              <a:buNone/>
            </a:pPr>
            <a:r>
              <a:rPr lang="en-US" sz="4000" dirty="0">
                <a:solidFill>
                  <a:srgbClr val="000000"/>
                </a:solidFill>
                <a:effectLst/>
                <a:latin typeface="Arial" panose="020B0604020202020204" pitchFamily="34" charset="0"/>
                <a:cs typeface="Arial" panose="020B0604020202020204" pitchFamily="34" charset="0"/>
              </a:rPr>
              <a:t>interventions such as resistance or balance training, nutritional supplementation (e.g.,</a:t>
            </a:r>
          </a:p>
          <a:p>
            <a:pPr>
              <a:buNone/>
            </a:pPr>
            <a:r>
              <a:rPr lang="en-US" sz="4000" dirty="0">
                <a:solidFill>
                  <a:srgbClr val="000000"/>
                </a:solidFill>
                <a:effectLst/>
                <a:latin typeface="Arial" panose="020B0604020202020204" pitchFamily="34" charset="0"/>
                <a:cs typeface="Arial" panose="020B0604020202020204" pitchFamily="34" charset="0"/>
              </a:rPr>
              <a:t>alpha-lipoic acid or B vitamins), and structured foot care education may yield synergistic</a:t>
            </a:r>
          </a:p>
          <a:p>
            <a:pPr>
              <a:buNone/>
            </a:pPr>
            <a:r>
              <a:rPr lang="en-US" sz="4000" dirty="0">
                <a:solidFill>
                  <a:srgbClr val="000000"/>
                </a:solidFill>
                <a:effectLst/>
                <a:latin typeface="Arial" panose="020B0604020202020204" pitchFamily="34" charset="0"/>
                <a:cs typeface="Arial" panose="020B0604020202020204" pitchFamily="34" charset="0"/>
              </a:rPr>
              <a:t>effects. Longer-term follow-up is also warranted to assess whether modified Buerger’s</a:t>
            </a:r>
          </a:p>
          <a:p>
            <a:pPr>
              <a:buNone/>
            </a:pPr>
            <a:r>
              <a:rPr lang="en-US" sz="4000" dirty="0">
                <a:solidFill>
                  <a:srgbClr val="000000"/>
                </a:solidFill>
                <a:effectLst/>
                <a:latin typeface="Arial" panose="020B0604020202020204" pitchFamily="34" charset="0"/>
                <a:cs typeface="Arial" panose="020B0604020202020204" pitchFamily="34" charset="0"/>
              </a:rPr>
              <a:t>exercises confer sustained benefits or help delay the onset of more serious complications</a:t>
            </a:r>
          </a:p>
          <a:p>
            <a:r>
              <a:rPr lang="en-US" sz="4000" dirty="0">
                <a:solidFill>
                  <a:srgbClr val="000000"/>
                </a:solidFill>
                <a:effectLst/>
                <a:latin typeface="Arial" panose="020B0604020202020204" pitchFamily="34" charset="0"/>
                <a:cs typeface="Arial" panose="020B0604020202020204" pitchFamily="34" charset="0"/>
              </a:rPr>
              <a:t>like foot ulcers or gangrene.</a:t>
            </a:r>
          </a:p>
        </p:txBody>
      </p:sp>
      <p:sp>
        <p:nvSpPr>
          <p:cNvPr id="24" name="Rectangle 23">
            <a:extLst>
              <a:ext uri="{FF2B5EF4-FFF2-40B4-BE49-F238E27FC236}">
                <a16:creationId xmlns:a16="http://schemas.microsoft.com/office/drawing/2014/main" id="{293AEA35-1C16-587E-F955-FB3FA740CC3A}"/>
              </a:ext>
            </a:extLst>
          </p:cNvPr>
          <p:cNvSpPr/>
          <p:nvPr/>
        </p:nvSpPr>
        <p:spPr>
          <a:xfrm>
            <a:off x="31900889" y="22444046"/>
            <a:ext cx="11100177" cy="986185"/>
          </a:xfrm>
          <a:prstGeom prst="rect">
            <a:avLst/>
          </a:prstGeom>
          <a:solidFill>
            <a:schemeClr val="tx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86292" tIns="43146" rIns="86292" bIns="4314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4200" b="1" dirty="0">
                <a:solidFill>
                  <a:schemeClr val="bg2"/>
                </a:solidFill>
                <a:latin typeface="Arial" panose="020B0604020202020204" pitchFamily="34" charset="0"/>
                <a:cs typeface="Arial" panose="020B0604020202020204" pitchFamily="34" charset="0"/>
              </a:rPr>
              <a:t>Recommendations</a:t>
            </a:r>
          </a:p>
        </p:txBody>
      </p:sp>
      <p:sp>
        <p:nvSpPr>
          <p:cNvPr id="25" name="Rectangle 24">
            <a:extLst>
              <a:ext uri="{FF2B5EF4-FFF2-40B4-BE49-F238E27FC236}">
                <a16:creationId xmlns:a16="http://schemas.microsoft.com/office/drawing/2014/main" id="{2BB310BE-361F-AD22-C8F0-C703EBA2D676}"/>
              </a:ext>
            </a:extLst>
          </p:cNvPr>
          <p:cNvSpPr/>
          <p:nvPr/>
        </p:nvSpPr>
        <p:spPr>
          <a:xfrm>
            <a:off x="12364505" y="22469111"/>
            <a:ext cx="19186572" cy="961120"/>
          </a:xfrm>
          <a:prstGeom prst="rect">
            <a:avLst/>
          </a:prstGeom>
          <a:solidFill>
            <a:schemeClr val="tx1"/>
          </a:solidFill>
          <a:ln/>
        </p:spPr>
        <p:style>
          <a:lnRef idx="2">
            <a:schemeClr val="accent1"/>
          </a:lnRef>
          <a:fillRef idx="1">
            <a:schemeClr val="lt1"/>
          </a:fillRef>
          <a:effectRef idx="0">
            <a:schemeClr val="accent1"/>
          </a:effectRef>
          <a:fontRef idx="minor">
            <a:schemeClr val="dk1"/>
          </a:fontRef>
        </p:style>
        <p:txBody>
          <a:bodyPr lIns="86292" tIns="43146" rIns="86292" bIns="4314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r>
              <a:rPr lang="en-US" sz="4000" b="1" dirty="0">
                <a:solidFill>
                  <a:schemeClr val="bg2"/>
                </a:solidFill>
                <a:latin typeface="Arial" panose="020B0604020202020204" pitchFamily="34" charset="0"/>
                <a:cs typeface="Arial" panose="020B0604020202020204" pitchFamily="34" charset="0"/>
              </a:rPr>
              <a:t>References</a:t>
            </a:r>
          </a:p>
        </p:txBody>
      </p:sp>
      <p:sp>
        <p:nvSpPr>
          <p:cNvPr id="27" name="Text Box 191">
            <a:extLst>
              <a:ext uri="{FF2B5EF4-FFF2-40B4-BE49-F238E27FC236}">
                <a16:creationId xmlns:a16="http://schemas.microsoft.com/office/drawing/2014/main" id="{F3B3EE5B-8234-7E5D-4AE2-97102310362F}"/>
              </a:ext>
            </a:extLst>
          </p:cNvPr>
          <p:cNvSpPr txBox="1">
            <a:spLocks noChangeArrowheads="1"/>
          </p:cNvSpPr>
          <p:nvPr/>
        </p:nvSpPr>
        <p:spPr bwMode="auto">
          <a:xfrm>
            <a:off x="12402909" y="23609796"/>
            <a:ext cx="18836447" cy="9704952"/>
          </a:xfrm>
          <a:prstGeom prst="rect">
            <a:avLst/>
          </a:prstGeom>
          <a:solidFill>
            <a:schemeClr val="bg2"/>
          </a:solidFill>
          <a:ln w="12700">
            <a:solidFill>
              <a:schemeClr val="accent1">
                <a:lumMod val="75000"/>
              </a:schemeClr>
            </a:solidFill>
          </a:ln>
          <a:effectLst/>
        </p:spPr>
        <p:txBody>
          <a:bodyPr wrap="square" lIns="172587" tIns="172587" rIns="172587" bIns="172587">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dirty="0">
                <a:solidFill>
                  <a:srgbClr val="000000"/>
                </a:solidFill>
                <a:effectLst/>
                <a:latin typeface="Arial" panose="020B0604020202020204" pitchFamily="34" charset="0"/>
                <a:cs typeface="Arial" panose="020B0604020202020204" pitchFamily="34" charset="0"/>
              </a:rPr>
              <a:t>1. International Diabetes Federation. IDF Diabetes Atlas. 10th ed. Brussels, </a:t>
            </a:r>
            <a:r>
              <a:rPr lang="en-US" sz="3200" dirty="0" err="1">
                <a:solidFill>
                  <a:srgbClr val="000000"/>
                </a:solidFill>
                <a:effectLst/>
                <a:latin typeface="Arial" panose="020B0604020202020204" pitchFamily="34" charset="0"/>
                <a:cs typeface="Arial" panose="020B0604020202020204" pitchFamily="34" charset="0"/>
              </a:rPr>
              <a:t>Belgium:International</a:t>
            </a:r>
            <a:r>
              <a:rPr lang="en-US" sz="3200" dirty="0">
                <a:solidFill>
                  <a:srgbClr val="000000"/>
                </a:solidFill>
                <a:effectLst/>
                <a:latin typeface="Arial" panose="020B0604020202020204" pitchFamily="34" charset="0"/>
                <a:cs typeface="Arial" panose="020B0604020202020204" pitchFamily="34" charset="0"/>
              </a:rPr>
              <a:t> Diabetes Federation; 2021.</a:t>
            </a:r>
          </a:p>
          <a:p>
            <a:r>
              <a:rPr lang="en-US" sz="3200" dirty="0">
                <a:solidFill>
                  <a:srgbClr val="000000"/>
                </a:solidFill>
                <a:effectLst/>
                <a:latin typeface="Arial" panose="020B0604020202020204" pitchFamily="34" charset="0"/>
                <a:cs typeface="Arial" panose="020B0604020202020204" pitchFamily="34" charset="0"/>
              </a:rPr>
              <a:t>2. Armstrong DG, Boulton AJM, Bus SA. Diabetic foot ulcers and their </a:t>
            </a:r>
            <a:r>
              <a:rPr lang="en-US" sz="3200" dirty="0" err="1">
                <a:solidFill>
                  <a:srgbClr val="000000"/>
                </a:solidFill>
                <a:effectLst/>
                <a:latin typeface="Arial" panose="020B0604020202020204" pitchFamily="34" charset="0"/>
                <a:cs typeface="Arial" panose="020B0604020202020204" pitchFamily="34" charset="0"/>
              </a:rPr>
              <a:t>recurrence.N</a:t>
            </a:r>
            <a:r>
              <a:rPr lang="en-US" sz="3200" dirty="0">
                <a:solidFill>
                  <a:srgbClr val="000000"/>
                </a:solidFill>
                <a:effectLst/>
                <a:latin typeface="Arial" panose="020B0604020202020204" pitchFamily="34" charset="0"/>
                <a:cs typeface="Arial" panose="020B0604020202020204" pitchFamily="34" charset="0"/>
              </a:rPr>
              <a:t> Engl J Med. 2017 Jun 15;376(24):2367–75. </a:t>
            </a:r>
            <a:r>
              <a:rPr lang="en-US" sz="3200" dirty="0" err="1">
                <a:solidFill>
                  <a:srgbClr val="000000"/>
                </a:solidFill>
                <a:effectLst/>
                <a:latin typeface="Arial" panose="020B0604020202020204" pitchFamily="34" charset="0"/>
                <a:cs typeface="Arial" panose="020B0604020202020204" pitchFamily="34" charset="0"/>
              </a:rPr>
              <a:t>doi</a:t>
            </a:r>
            <a:r>
              <a:rPr lang="en-US" sz="3200" dirty="0">
                <a:solidFill>
                  <a:srgbClr val="000000"/>
                </a:solidFill>
                <a:effectLst/>
                <a:latin typeface="Arial" panose="020B0604020202020204" pitchFamily="34" charset="0"/>
                <a:cs typeface="Arial" panose="020B0604020202020204" pitchFamily="34" charset="0"/>
              </a:rPr>
              <a:t>: 10.1056/NEJMra1615439.</a:t>
            </a:r>
          </a:p>
          <a:p>
            <a:r>
              <a:rPr lang="en-US" sz="3200" dirty="0">
                <a:solidFill>
                  <a:srgbClr val="000000"/>
                </a:solidFill>
                <a:effectLst/>
                <a:latin typeface="Arial" panose="020B0604020202020204" pitchFamily="34" charset="0"/>
                <a:cs typeface="Arial" panose="020B0604020202020204" pitchFamily="34" charset="0"/>
              </a:rPr>
              <a:t>3. </a:t>
            </a:r>
            <a:r>
              <a:rPr lang="en-US" sz="3200" dirty="0" err="1">
                <a:solidFill>
                  <a:srgbClr val="000000"/>
                </a:solidFill>
                <a:effectLst/>
                <a:latin typeface="Arial" panose="020B0604020202020204" pitchFamily="34" charset="0"/>
                <a:cs typeface="Arial" panose="020B0604020202020204" pitchFamily="34" charset="0"/>
              </a:rPr>
              <a:t>Allet</a:t>
            </a:r>
            <a:r>
              <a:rPr lang="en-US" sz="3200" dirty="0">
                <a:solidFill>
                  <a:srgbClr val="000000"/>
                </a:solidFill>
                <a:effectLst/>
                <a:latin typeface="Arial" panose="020B0604020202020204" pitchFamily="34" charset="0"/>
                <a:cs typeface="Arial" panose="020B0604020202020204" pitchFamily="34" charset="0"/>
              </a:rPr>
              <a:t> L, Armand S, Golay A, Monnin D, de Bie RA, de Bruin ED. </a:t>
            </a:r>
            <a:r>
              <a:rPr lang="en-US" sz="3200" dirty="0" err="1">
                <a:solidFill>
                  <a:srgbClr val="000000"/>
                </a:solidFill>
                <a:effectLst/>
                <a:latin typeface="Arial" panose="020B0604020202020204" pitchFamily="34" charset="0"/>
                <a:cs typeface="Arial" panose="020B0604020202020204" pitchFamily="34" charset="0"/>
              </a:rPr>
              <a:t>Gaitcharacteristics</a:t>
            </a:r>
            <a:r>
              <a:rPr lang="en-US" sz="3200" dirty="0">
                <a:solidFill>
                  <a:srgbClr val="000000"/>
                </a:solidFill>
                <a:effectLst/>
                <a:latin typeface="Arial" panose="020B0604020202020204" pitchFamily="34" charset="0"/>
                <a:cs typeface="Arial" panose="020B0604020202020204" pitchFamily="34" charset="0"/>
              </a:rPr>
              <a:t> of diabetic patients: a systematic review. Diabetes </a:t>
            </a:r>
            <a:r>
              <a:rPr lang="en-US" sz="3200" dirty="0" err="1">
                <a:solidFill>
                  <a:srgbClr val="000000"/>
                </a:solidFill>
                <a:effectLst/>
                <a:latin typeface="Arial" panose="020B0604020202020204" pitchFamily="34" charset="0"/>
                <a:cs typeface="Arial" panose="020B0604020202020204" pitchFamily="34" charset="0"/>
              </a:rPr>
              <a:t>Metab</a:t>
            </a:r>
            <a:r>
              <a:rPr lang="en-US" sz="3200" dirty="0">
                <a:solidFill>
                  <a:srgbClr val="000000"/>
                </a:solidFill>
                <a:effectLst/>
                <a:latin typeface="Arial" panose="020B0604020202020204" pitchFamily="34" charset="0"/>
                <a:cs typeface="Arial" panose="020B0604020202020204" pitchFamily="34" charset="0"/>
              </a:rPr>
              <a:t> Res Rev.2008 May-Jun;24(3):173–91. </a:t>
            </a:r>
            <a:r>
              <a:rPr lang="en-US" sz="3200" dirty="0" err="1">
                <a:solidFill>
                  <a:srgbClr val="000000"/>
                </a:solidFill>
                <a:effectLst/>
                <a:latin typeface="Arial" panose="020B0604020202020204" pitchFamily="34" charset="0"/>
                <a:cs typeface="Arial" panose="020B0604020202020204" pitchFamily="34" charset="0"/>
              </a:rPr>
              <a:t>doi</a:t>
            </a:r>
            <a:r>
              <a:rPr lang="en-US" sz="3200" dirty="0">
                <a:solidFill>
                  <a:srgbClr val="000000"/>
                </a:solidFill>
                <a:effectLst/>
                <a:latin typeface="Arial" panose="020B0604020202020204" pitchFamily="34" charset="0"/>
                <a:cs typeface="Arial" panose="020B0604020202020204" pitchFamily="34" charset="0"/>
              </a:rPr>
              <a:t>: 10.1002/dmrr.809.</a:t>
            </a:r>
          </a:p>
          <a:p>
            <a:r>
              <a:rPr lang="en-US" sz="3200" dirty="0">
                <a:solidFill>
                  <a:srgbClr val="000000"/>
                </a:solidFill>
                <a:effectLst/>
                <a:latin typeface="Arial" panose="020B0604020202020204" pitchFamily="34" charset="0"/>
                <a:cs typeface="Arial" panose="020B0604020202020204" pitchFamily="34" charset="0"/>
              </a:rPr>
              <a:t>4. Iversen MM, Tell GS, Riise T, Hanestad BR, Østbye T, Graue M, </a:t>
            </a:r>
            <a:r>
              <a:rPr lang="en-US" sz="3200" dirty="0" err="1">
                <a:solidFill>
                  <a:srgbClr val="000000"/>
                </a:solidFill>
                <a:effectLst/>
                <a:latin typeface="Arial" panose="020B0604020202020204" pitchFamily="34" charset="0"/>
                <a:cs typeface="Arial" panose="020B0604020202020204" pitchFamily="34" charset="0"/>
              </a:rPr>
              <a:t>Midthjell</a:t>
            </a:r>
            <a:r>
              <a:rPr lang="en-US" sz="3200" dirty="0">
                <a:solidFill>
                  <a:srgbClr val="000000"/>
                </a:solidFill>
                <a:effectLst/>
                <a:latin typeface="Arial" panose="020B0604020202020204" pitchFamily="34" charset="0"/>
                <a:cs typeface="Arial" panose="020B0604020202020204" pitchFamily="34" charset="0"/>
              </a:rPr>
              <a:t> </a:t>
            </a:r>
            <a:r>
              <a:rPr lang="en-US" sz="3200" dirty="0" err="1">
                <a:solidFill>
                  <a:srgbClr val="000000"/>
                </a:solidFill>
                <a:effectLst/>
                <a:latin typeface="Arial" panose="020B0604020202020204" pitchFamily="34" charset="0"/>
                <a:cs typeface="Arial" panose="020B0604020202020204" pitchFamily="34" charset="0"/>
              </a:rPr>
              <a:t>K.History</a:t>
            </a:r>
            <a:r>
              <a:rPr lang="en-US" sz="3200" dirty="0">
                <a:solidFill>
                  <a:srgbClr val="000000"/>
                </a:solidFill>
                <a:effectLst/>
                <a:latin typeface="Arial" panose="020B0604020202020204" pitchFamily="34" charset="0"/>
                <a:cs typeface="Arial" panose="020B0604020202020204" pitchFamily="34" charset="0"/>
              </a:rPr>
              <a:t> of foot ulcer increases mortality among individuals with diabetes: ten-year follow-up of the Nord-</a:t>
            </a:r>
            <a:r>
              <a:rPr lang="en-US" sz="3200" dirty="0" err="1">
                <a:solidFill>
                  <a:srgbClr val="000000"/>
                </a:solidFill>
                <a:effectLst/>
                <a:latin typeface="Arial" panose="020B0604020202020204" pitchFamily="34" charset="0"/>
                <a:cs typeface="Arial" panose="020B0604020202020204" pitchFamily="34" charset="0"/>
              </a:rPr>
              <a:t>Trøndelag</a:t>
            </a:r>
            <a:r>
              <a:rPr lang="en-US" sz="3200" dirty="0">
                <a:solidFill>
                  <a:srgbClr val="000000"/>
                </a:solidFill>
                <a:effectLst/>
                <a:latin typeface="Arial" panose="020B0604020202020204" pitchFamily="34" charset="0"/>
                <a:cs typeface="Arial" panose="020B0604020202020204" pitchFamily="34" charset="0"/>
              </a:rPr>
              <a:t> Health Study, Norway. Diabetes Care. 2009 Dec;32(12):2193–9. </a:t>
            </a:r>
            <a:r>
              <a:rPr lang="en-US" sz="3200" dirty="0" err="1">
                <a:solidFill>
                  <a:srgbClr val="000000"/>
                </a:solidFill>
                <a:effectLst/>
                <a:latin typeface="Arial" panose="020B0604020202020204" pitchFamily="34" charset="0"/>
                <a:cs typeface="Arial" panose="020B0604020202020204" pitchFamily="34" charset="0"/>
              </a:rPr>
              <a:t>doi</a:t>
            </a:r>
            <a:r>
              <a:rPr lang="en-US" sz="3200" dirty="0">
                <a:solidFill>
                  <a:srgbClr val="000000"/>
                </a:solidFill>
                <a:effectLst/>
                <a:latin typeface="Arial" panose="020B0604020202020204" pitchFamily="34" charset="0"/>
                <a:cs typeface="Arial" panose="020B0604020202020204" pitchFamily="34" charset="0"/>
              </a:rPr>
              <a:t>: 10.2337/dc09-0651.</a:t>
            </a:r>
          </a:p>
          <a:p>
            <a:r>
              <a:rPr lang="en-US" sz="3200" dirty="0">
                <a:solidFill>
                  <a:srgbClr val="000000"/>
                </a:solidFill>
                <a:effectLst/>
                <a:latin typeface="Arial" panose="020B0604020202020204" pitchFamily="34" charset="0"/>
                <a:cs typeface="Arial" panose="020B0604020202020204" pitchFamily="34" charset="0"/>
              </a:rPr>
              <a:t>5. Francis D, </a:t>
            </a:r>
            <a:r>
              <a:rPr lang="en-US" sz="3200" dirty="0" err="1">
                <a:solidFill>
                  <a:srgbClr val="000000"/>
                </a:solidFill>
                <a:effectLst/>
                <a:latin typeface="Arial" panose="020B0604020202020204" pitchFamily="34" charset="0"/>
                <a:cs typeface="Arial" panose="020B0604020202020204" pitchFamily="34" charset="0"/>
              </a:rPr>
              <a:t>Kandaswami</a:t>
            </a:r>
            <a:r>
              <a:rPr lang="en-US" sz="3200" dirty="0">
                <a:solidFill>
                  <a:srgbClr val="000000"/>
                </a:solidFill>
                <a:effectLst/>
                <a:latin typeface="Arial" panose="020B0604020202020204" pitchFamily="34" charset="0"/>
                <a:cs typeface="Arial" panose="020B0604020202020204" pitchFamily="34" charset="0"/>
              </a:rPr>
              <a:t> K, </a:t>
            </a:r>
            <a:r>
              <a:rPr lang="en-US" sz="3200" dirty="0" err="1">
                <a:solidFill>
                  <a:srgbClr val="000000"/>
                </a:solidFill>
                <a:effectLst/>
                <a:latin typeface="Arial" panose="020B0604020202020204" pitchFamily="34" charset="0"/>
                <a:cs typeface="Arial" panose="020B0604020202020204" pitchFamily="34" charset="0"/>
              </a:rPr>
              <a:t>Padinhare</a:t>
            </a:r>
            <a:r>
              <a:rPr lang="en-US" sz="3200" dirty="0">
                <a:solidFill>
                  <a:srgbClr val="000000"/>
                </a:solidFill>
                <a:effectLst/>
                <a:latin typeface="Arial" panose="020B0604020202020204" pitchFamily="34" charset="0"/>
                <a:cs typeface="Arial" panose="020B0604020202020204" pitchFamily="34" charset="0"/>
              </a:rPr>
              <a:t> Veedu P, Ponniah Subramanian A. Effect of exercises for strengthening the intrinsic muscles of the foot and improving ankle mobility on patients of diabetic peripheral neuropathy. </a:t>
            </a:r>
            <a:r>
              <a:rPr lang="en-US" sz="3200" dirty="0" err="1">
                <a:solidFill>
                  <a:srgbClr val="000000"/>
                </a:solidFill>
                <a:effectLst/>
                <a:latin typeface="Arial" panose="020B0604020202020204" pitchFamily="34" charset="0"/>
                <a:cs typeface="Arial" panose="020B0604020202020204" pitchFamily="34" charset="0"/>
              </a:rPr>
              <a:t>Cureus</a:t>
            </a:r>
            <a:r>
              <a:rPr lang="en-US" sz="3200" dirty="0">
                <a:solidFill>
                  <a:srgbClr val="000000"/>
                </a:solidFill>
                <a:effectLst/>
                <a:latin typeface="Arial" panose="020B0604020202020204" pitchFamily="34" charset="0"/>
                <a:cs typeface="Arial" panose="020B0604020202020204" pitchFamily="34" charset="0"/>
              </a:rPr>
              <a:t>. 2024 Mar 20;16(3):e56553. </a:t>
            </a:r>
            <a:r>
              <a:rPr lang="en-US" sz="3200" dirty="0" err="1">
                <a:solidFill>
                  <a:srgbClr val="000000"/>
                </a:solidFill>
                <a:effectLst/>
                <a:latin typeface="Arial" panose="020B0604020202020204" pitchFamily="34" charset="0"/>
                <a:cs typeface="Arial" panose="020B0604020202020204" pitchFamily="34" charset="0"/>
              </a:rPr>
              <a:t>doi</a:t>
            </a:r>
            <a:r>
              <a:rPr lang="en-US" sz="3200" dirty="0">
                <a:solidFill>
                  <a:srgbClr val="000000"/>
                </a:solidFill>
                <a:effectLst/>
                <a:latin typeface="Arial" panose="020B0604020202020204" pitchFamily="34" charset="0"/>
                <a:cs typeface="Arial" panose="020B0604020202020204" pitchFamily="34" charset="0"/>
              </a:rPr>
              <a:t>: 10.7759/cureus.56553. PMID: 38646253; PMCID: PMC11027948.</a:t>
            </a:r>
          </a:p>
          <a:p>
            <a:r>
              <a:rPr lang="en-US" sz="3200" dirty="0">
                <a:solidFill>
                  <a:srgbClr val="000000"/>
                </a:solidFill>
                <a:effectLst/>
                <a:latin typeface="Arial" panose="020B0604020202020204" pitchFamily="34" charset="0"/>
                <a:cs typeface="Arial" panose="020B0604020202020204" pitchFamily="34" charset="0"/>
              </a:rPr>
              <a:t>6. Fernando M, Crowther R, Lazzarini P, Sangla K, Cunningham M, Buttner P, </a:t>
            </a:r>
            <a:r>
              <a:rPr lang="en-US" sz="3200" dirty="0" err="1">
                <a:solidFill>
                  <a:srgbClr val="000000"/>
                </a:solidFill>
                <a:effectLst/>
                <a:latin typeface="Arial" panose="020B0604020202020204" pitchFamily="34" charset="0"/>
                <a:cs typeface="Arial" panose="020B0604020202020204" pitchFamily="34" charset="0"/>
              </a:rPr>
              <a:t>Golledge</a:t>
            </a:r>
            <a:r>
              <a:rPr lang="en-US" sz="3200" dirty="0">
                <a:solidFill>
                  <a:srgbClr val="000000"/>
                </a:solidFill>
                <a:effectLst/>
                <a:latin typeface="Arial" panose="020B0604020202020204" pitchFamily="34" charset="0"/>
                <a:cs typeface="Arial" panose="020B0604020202020204" pitchFamily="34" charset="0"/>
              </a:rPr>
              <a:t> J. Biomechanical characteristics of peripheral diabetic neuropathy: a systematic review and meta-analysis of findings from the gait cycle, muscle activity and dynamic barefoot plantar pressure. Clin </a:t>
            </a:r>
            <a:r>
              <a:rPr lang="en-US" sz="3200" dirty="0" err="1">
                <a:solidFill>
                  <a:srgbClr val="000000"/>
                </a:solidFill>
                <a:effectLst/>
                <a:latin typeface="Arial" panose="020B0604020202020204" pitchFamily="34" charset="0"/>
                <a:cs typeface="Arial" panose="020B0604020202020204" pitchFamily="34" charset="0"/>
              </a:rPr>
              <a:t>Biomech</a:t>
            </a:r>
            <a:r>
              <a:rPr lang="en-US" sz="3200" dirty="0">
                <a:solidFill>
                  <a:srgbClr val="000000"/>
                </a:solidFill>
                <a:effectLst/>
                <a:latin typeface="Arial" panose="020B0604020202020204" pitchFamily="34" charset="0"/>
                <a:cs typeface="Arial" panose="020B0604020202020204" pitchFamily="34" charset="0"/>
              </a:rPr>
              <a:t> (Bristol, Avon). 2013Oct;28(8):831–45. </a:t>
            </a:r>
            <a:r>
              <a:rPr lang="en-US" sz="3200" dirty="0" err="1">
                <a:solidFill>
                  <a:srgbClr val="000000"/>
                </a:solidFill>
                <a:effectLst/>
                <a:latin typeface="Arial" panose="020B0604020202020204" pitchFamily="34" charset="0"/>
                <a:cs typeface="Arial" panose="020B0604020202020204" pitchFamily="34" charset="0"/>
              </a:rPr>
              <a:t>doi</a:t>
            </a:r>
            <a:r>
              <a:rPr lang="en-US" sz="3200" dirty="0">
                <a:solidFill>
                  <a:srgbClr val="000000"/>
                </a:solidFill>
                <a:effectLst/>
                <a:latin typeface="Arial" panose="020B0604020202020204" pitchFamily="34" charset="0"/>
                <a:cs typeface="Arial" panose="020B0604020202020204" pitchFamily="34" charset="0"/>
              </a:rPr>
              <a:t>: 10.1016/j.clinbiomech.2013.08.004.</a:t>
            </a:r>
          </a:p>
          <a:p>
            <a:pPr lvl="0"/>
            <a:endParaRPr lang="en-US" sz="3200" dirty="0"/>
          </a:p>
        </p:txBody>
      </p:sp>
      <p:pic>
        <p:nvPicPr>
          <p:cNvPr id="12" name="Picture 11" descr="A collage of bar charts&#10;&#10;AI-generated content may be incorrect.">
            <a:extLst>
              <a:ext uri="{FF2B5EF4-FFF2-40B4-BE49-F238E27FC236}">
                <a16:creationId xmlns:a16="http://schemas.microsoft.com/office/drawing/2014/main" id="{1A58B962-6B14-E716-2026-767AEF049C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39568" y="16772842"/>
            <a:ext cx="5486400" cy="5016500"/>
          </a:xfrm>
          <a:prstGeom prst="rect">
            <a:avLst/>
          </a:prstGeom>
        </p:spPr>
      </p:pic>
      <p:pic>
        <p:nvPicPr>
          <p:cNvPr id="17" name="Picture 16" descr="A collage of bar charts&#10;&#10;AI-generated content may be incorrect.">
            <a:extLst>
              <a:ext uri="{FF2B5EF4-FFF2-40B4-BE49-F238E27FC236}">
                <a16:creationId xmlns:a16="http://schemas.microsoft.com/office/drawing/2014/main" id="{F7249B15-6C40-521A-C28F-8C48C29B32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00966" y="16981781"/>
            <a:ext cx="5473700" cy="4699000"/>
          </a:xfrm>
          <a:prstGeom prst="rect">
            <a:avLst/>
          </a:prstGeom>
        </p:spPr>
      </p:pic>
      <p:pic>
        <p:nvPicPr>
          <p:cNvPr id="20" name="Picture 19" descr="A group of graphs showing different types of data&#10;&#10;AI-generated content may be incorrect.">
            <a:extLst>
              <a:ext uri="{FF2B5EF4-FFF2-40B4-BE49-F238E27FC236}">
                <a16:creationId xmlns:a16="http://schemas.microsoft.com/office/drawing/2014/main" id="{6D8197AE-7F60-5EB1-7FD9-1314D9E3814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898821" y="17121481"/>
            <a:ext cx="5448300" cy="4419600"/>
          </a:xfrm>
          <a:prstGeom prst="rect">
            <a:avLst/>
          </a:prstGeom>
        </p:spPr>
      </p:pic>
      <p:pic>
        <p:nvPicPr>
          <p:cNvPr id="22" name="Picture 21" descr="A collage of bar charts&#10;&#10;AI-generated content may be incorrect.">
            <a:extLst>
              <a:ext uri="{FF2B5EF4-FFF2-40B4-BE49-F238E27FC236}">
                <a16:creationId xmlns:a16="http://schemas.microsoft.com/office/drawing/2014/main" id="{39113949-94D6-A404-E86F-1E490534161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292849" y="17070681"/>
            <a:ext cx="5588000" cy="4521200"/>
          </a:xfrm>
          <a:prstGeom prst="rect">
            <a:avLst/>
          </a:prstGeom>
        </p:spPr>
      </p:pic>
      <p:sp>
        <p:nvSpPr>
          <p:cNvPr id="23" name="TextBox 22">
            <a:extLst>
              <a:ext uri="{FF2B5EF4-FFF2-40B4-BE49-F238E27FC236}">
                <a16:creationId xmlns:a16="http://schemas.microsoft.com/office/drawing/2014/main" id="{03F782BC-2B27-B976-44E7-90A862328DD5}"/>
              </a:ext>
            </a:extLst>
          </p:cNvPr>
          <p:cNvSpPr txBox="1"/>
          <p:nvPr/>
        </p:nvSpPr>
        <p:spPr>
          <a:xfrm>
            <a:off x="12539568" y="16117223"/>
            <a:ext cx="5448887" cy="369332"/>
          </a:xfrm>
          <a:prstGeom prst="rect">
            <a:avLst/>
          </a:prstGeom>
          <a:noFill/>
        </p:spPr>
        <p:txBody>
          <a:bodyPr wrap="square" rtlCol="0">
            <a:spAutoFit/>
          </a:bodyPr>
          <a:lstStyle/>
          <a:p>
            <a:r>
              <a:rPr lang="en-US" dirty="0"/>
              <a:t>SENSATION OF COLD</a:t>
            </a:r>
          </a:p>
        </p:txBody>
      </p:sp>
      <p:sp>
        <p:nvSpPr>
          <p:cNvPr id="26" name="TextBox 25">
            <a:extLst>
              <a:ext uri="{FF2B5EF4-FFF2-40B4-BE49-F238E27FC236}">
                <a16:creationId xmlns:a16="http://schemas.microsoft.com/office/drawing/2014/main" id="{8649C0BD-BB23-86A6-1F4F-CA315DFF67AB}"/>
              </a:ext>
            </a:extLst>
          </p:cNvPr>
          <p:cNvSpPr txBox="1"/>
          <p:nvPr/>
        </p:nvSpPr>
        <p:spPr>
          <a:xfrm>
            <a:off x="18900966" y="16301889"/>
            <a:ext cx="5236041" cy="369332"/>
          </a:xfrm>
          <a:prstGeom prst="rect">
            <a:avLst/>
          </a:prstGeom>
          <a:noFill/>
        </p:spPr>
        <p:txBody>
          <a:bodyPr wrap="square" rtlCol="0">
            <a:spAutoFit/>
          </a:bodyPr>
          <a:lstStyle/>
          <a:p>
            <a:r>
              <a:rPr lang="en-US" dirty="0"/>
              <a:t>SENASATION OF HEAT</a:t>
            </a:r>
          </a:p>
        </p:txBody>
      </p:sp>
      <p:sp>
        <p:nvSpPr>
          <p:cNvPr id="28" name="TextBox 27">
            <a:extLst>
              <a:ext uri="{FF2B5EF4-FFF2-40B4-BE49-F238E27FC236}">
                <a16:creationId xmlns:a16="http://schemas.microsoft.com/office/drawing/2014/main" id="{2EA8DC5E-6C7F-F010-541F-508F25690958}"/>
              </a:ext>
            </a:extLst>
          </p:cNvPr>
          <p:cNvSpPr txBox="1"/>
          <p:nvPr/>
        </p:nvSpPr>
        <p:spPr>
          <a:xfrm>
            <a:off x="26107697" y="16244845"/>
            <a:ext cx="4130565" cy="369332"/>
          </a:xfrm>
          <a:prstGeom prst="rect">
            <a:avLst/>
          </a:prstGeom>
          <a:noFill/>
        </p:spPr>
        <p:txBody>
          <a:bodyPr wrap="square" rtlCol="0">
            <a:spAutoFit/>
          </a:bodyPr>
          <a:lstStyle/>
          <a:p>
            <a:r>
              <a:rPr lang="en-US" dirty="0"/>
              <a:t>NEUROPATHY</a:t>
            </a:r>
          </a:p>
        </p:txBody>
      </p:sp>
      <p:sp>
        <p:nvSpPr>
          <p:cNvPr id="29" name="TextBox 28">
            <a:extLst>
              <a:ext uri="{FF2B5EF4-FFF2-40B4-BE49-F238E27FC236}">
                <a16:creationId xmlns:a16="http://schemas.microsoft.com/office/drawing/2014/main" id="{34888A08-8F43-F9A0-C431-DE7EA0D8C70F}"/>
              </a:ext>
            </a:extLst>
          </p:cNvPr>
          <p:cNvSpPr txBox="1"/>
          <p:nvPr/>
        </p:nvSpPr>
        <p:spPr>
          <a:xfrm>
            <a:off x="33974690" y="16301889"/>
            <a:ext cx="5076496" cy="369332"/>
          </a:xfrm>
          <a:prstGeom prst="rect">
            <a:avLst/>
          </a:prstGeom>
          <a:noFill/>
        </p:spPr>
        <p:txBody>
          <a:bodyPr wrap="square" rtlCol="0">
            <a:spAutoFit/>
          </a:bodyPr>
          <a:lstStyle/>
          <a:p>
            <a:r>
              <a:rPr lang="en-US" dirty="0"/>
              <a:t>ABPI</a:t>
            </a:r>
          </a:p>
        </p:txBody>
      </p:sp>
      <p:pic>
        <p:nvPicPr>
          <p:cNvPr id="2" name="Picture 1">
            <a:extLst>
              <a:ext uri="{FF2B5EF4-FFF2-40B4-BE49-F238E27FC236}">
                <a16:creationId xmlns:a16="http://schemas.microsoft.com/office/drawing/2014/main" id="{EE889D11-E112-B76C-D91E-34C07959133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63966"/>
            <a:ext cx="44797516" cy="5338446"/>
          </a:xfrm>
          <a:prstGeom prst="rect">
            <a:avLst/>
          </a:prstGeom>
        </p:spPr>
      </p:pic>
    </p:spTree>
    <p:extLst>
      <p:ext uri="{BB962C8B-B14F-4D97-AF65-F5344CB8AC3E}">
        <p14:creationId xmlns:p14="http://schemas.microsoft.com/office/powerpoint/2010/main" val="13126213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403</TotalTime>
  <Words>1061</Words>
  <Application>Microsoft Office PowerPoint</Application>
  <PresentationFormat>Custom</PresentationFormat>
  <Paragraphs>70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Abhijith Roys</dc:creator>
  <cp:lastModifiedBy>Abhijith Cheneri</cp:lastModifiedBy>
  <cp:revision>33</cp:revision>
  <dcterms:created xsi:type="dcterms:W3CDTF">2024-11-30T19:43:48Z</dcterms:created>
  <dcterms:modified xsi:type="dcterms:W3CDTF">2026-02-15T14:57:49Z</dcterms:modified>
</cp:coreProperties>
</file>