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7" autoAdjust="0"/>
    <p:restoredTop sz="94856"/>
  </p:normalViewPr>
  <p:slideViewPr>
    <p:cSldViewPr snapToGrid="0">
      <p:cViewPr varScale="1">
        <p:scale>
          <a:sx n="117" d="100"/>
          <a:sy n="117" d="100"/>
        </p:scale>
        <p:origin x="1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22EEB-C18E-401D-4D14-F61D82881EC6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44D43F-1B53-AAA9-B551-4D46D6B6290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3FAB85-38C0-CBC3-894D-F14B0983660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AAF0D4-F34A-1980-C65B-0B020591390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EFB44A-ED67-5BFE-548D-FCB7384C661F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ED9E8-378E-74DB-69F2-37A19A83672D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363BD-0C06-5137-F50F-3CB1079D47C5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A034863C-B4F3-2506-7721-DA2D88319DB1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2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74F18A0-F439-033C-6586-F5761B2D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013" y="2073349"/>
            <a:ext cx="10536865" cy="2270050"/>
          </a:xfrm>
        </p:spPr>
        <p:txBody>
          <a:bodyPr/>
          <a:lstStyle/>
          <a:p>
            <a:r>
              <a:rPr lang="en-I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RECONSTRUCTION WITH VASCULARISED PROXIMAL FIBULAR AUTOGRAFT POST–EN-BLOC RESECTION OF BENIGN TUMOURS AT VARIOUS SITES OF THE UPPER LIMB</a:t>
            </a:r>
            <a:br>
              <a:rPr lang="en-I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9AAADF4-B7F3-507C-EC91-26A230447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7571"/>
            <a:ext cx="9144000" cy="1632857"/>
          </a:xfrm>
        </p:spPr>
        <p:txBody>
          <a:bodyPr/>
          <a:lstStyle/>
          <a:p>
            <a:r>
              <a:rPr lang="en-US" dirty="0"/>
              <a:t>PRESENTER:-</a:t>
            </a:r>
            <a:r>
              <a:rPr lang="en-US" dirty="0" err="1"/>
              <a:t>Dr.ANAND</a:t>
            </a:r>
            <a:r>
              <a:rPr lang="en-US" dirty="0"/>
              <a:t> KUMAR KAMSETTY</a:t>
            </a:r>
          </a:p>
          <a:p>
            <a:r>
              <a:rPr lang="en-US" dirty="0"/>
              <a:t>MODERATOR:-</a:t>
            </a:r>
            <a:r>
              <a:rPr lang="en-US" dirty="0" err="1"/>
              <a:t>Dr.B.JOSEPH</a:t>
            </a:r>
            <a:r>
              <a:rPr lang="en-US" dirty="0"/>
              <a:t> KARTHEEK(PROFESSOR)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943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6EAFF-269D-8C84-A2F2-0DC712C9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037" y="1382233"/>
            <a:ext cx="11355572" cy="9144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BENIGN BONE TUMORS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69589-01DA-852C-9481-6A94F70B6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037" y="2090058"/>
            <a:ext cx="11355572" cy="4576556"/>
          </a:xfrm>
        </p:spPr>
        <p:txBody>
          <a:bodyPr/>
          <a:lstStyle/>
          <a:p>
            <a:r>
              <a:rPr lang="en-US" sz="2400" dirty="0"/>
              <a:t>Bone tumors account for only a very small fraction of the malignant and benign tumors of the body.</a:t>
            </a:r>
          </a:p>
          <a:p>
            <a:r>
              <a:rPr lang="en-US" sz="2400" dirty="0"/>
              <a:t>The exact incidence of benign bone tumors cannot be estimated as many of these tumors may remain asymptomatic through out life.</a:t>
            </a:r>
          </a:p>
          <a:p>
            <a:r>
              <a:rPr lang="en-US" sz="2400" dirty="0"/>
              <a:t>By virtue of their rarity , they often pose both diagnostic and therapeutic dilemmas and their complex presentations clinically , radiologically and histologically present an enormous challenge to the </a:t>
            </a:r>
            <a:r>
              <a:rPr lang="en-US" sz="2400" dirty="0" err="1"/>
              <a:t>Orthopaedic</a:t>
            </a:r>
            <a:r>
              <a:rPr lang="en-US" sz="2400" dirty="0"/>
              <a:t> </a:t>
            </a:r>
            <a:r>
              <a:rPr lang="en-US" sz="2400" dirty="0" err="1"/>
              <a:t>surgeon,the</a:t>
            </a:r>
            <a:r>
              <a:rPr lang="en-US" sz="2400" dirty="0"/>
              <a:t> Radiologist and the Pathologist.</a:t>
            </a:r>
          </a:p>
          <a:p>
            <a:r>
              <a:rPr lang="en-US" sz="2400" dirty="0"/>
              <a:t>An integrated </a:t>
            </a:r>
            <a:r>
              <a:rPr lang="en-US" sz="2400" dirty="0" err="1"/>
              <a:t>multispeciality</a:t>
            </a:r>
            <a:r>
              <a:rPr lang="en-US" sz="2400" dirty="0"/>
              <a:t> approach to the diagnosis and treatment leads to rational and logical management with the best chance of obtaining an optimal result.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107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85765-987F-8776-B094-C62ECA81D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302" y="1435394"/>
            <a:ext cx="11376838" cy="5263117"/>
          </a:xfrm>
        </p:spPr>
        <p:txBody>
          <a:bodyPr/>
          <a:lstStyle/>
          <a:p>
            <a:r>
              <a:rPr lang="en-US" sz="2400" dirty="0"/>
              <a:t>The patients with a bone tumor initially complains of pain with an alteration in his/her functional capability irrespective of presence or absence of palpable mass.</a:t>
            </a:r>
          </a:p>
          <a:p>
            <a:r>
              <a:rPr lang="en-US" sz="2400" dirty="0"/>
              <a:t>Though HPE plays a major role in establishing the diagnosis , biopsy should only be the final step in arriving to the diagnosis.</a:t>
            </a:r>
          </a:p>
          <a:p>
            <a:r>
              <a:rPr lang="en-US" sz="2400" dirty="0"/>
              <a:t>Correlation of clinical data such as the age of the patient , the site of disease , and the radiological imaging helps to narrow the prospective diagnosis.</a:t>
            </a:r>
          </a:p>
          <a:p>
            <a:r>
              <a:rPr lang="en-US" sz="2400" dirty="0"/>
              <a:t>Diagnostic imaging provide more accurate information if they are done before biopsy.</a:t>
            </a:r>
          </a:p>
          <a:p>
            <a:r>
              <a:rPr lang="en-US" sz="2400" dirty="0"/>
              <a:t>Communicating all this relevant information to the pathologist also helps in arriving at an accurate diagnosis.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70990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B8B4D7-CA71-9194-FB82-15BCF7C29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88559"/>
            <a:ext cx="5157787" cy="48909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BENIGN TUMORS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749FF2-9620-80D2-F838-326679946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88559"/>
            <a:ext cx="5183188" cy="48909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INVESTIGATIONS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A1DD21B-3BF4-2D0D-0228-93230FF1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77656"/>
            <a:ext cx="5183188" cy="4630323"/>
          </a:xfrm>
        </p:spPr>
        <p:txBody>
          <a:bodyPr/>
          <a:lstStyle/>
          <a:p>
            <a:r>
              <a:rPr lang="en-US" sz="2400" dirty="0"/>
              <a:t>Plain </a:t>
            </a:r>
            <a:r>
              <a:rPr lang="en-US" sz="2400" dirty="0" err="1"/>
              <a:t>xrays</a:t>
            </a:r>
            <a:r>
              <a:rPr lang="en-US" sz="2400" dirty="0"/>
              <a:t> are the gold standard for arriving at a diagnosis.</a:t>
            </a:r>
          </a:p>
          <a:p>
            <a:r>
              <a:rPr lang="en-US" sz="2400" dirty="0"/>
              <a:t>MRI-to determine normal anatomical boundaries, relation with adjacent neurovascular structures.</a:t>
            </a:r>
          </a:p>
          <a:p>
            <a:r>
              <a:rPr lang="en-US" sz="2400" dirty="0"/>
              <a:t>PET scan for early identification of metastatic or multifocal disease.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1C0BCE07-54E8-F716-631A-8BF6404AAB7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18130875"/>
              </p:ext>
            </p:extLst>
          </p:nvPr>
        </p:nvGraphicFramePr>
        <p:xfrm>
          <a:off x="839788" y="1977657"/>
          <a:ext cx="5157786" cy="463032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78893">
                  <a:extLst>
                    <a:ext uri="{9D8B030D-6E8A-4147-A177-3AD203B41FA5}">
                      <a16:colId xmlns:a16="http://schemas.microsoft.com/office/drawing/2014/main" val="3903782678"/>
                    </a:ext>
                  </a:extLst>
                </a:gridCol>
                <a:gridCol w="2578893">
                  <a:extLst>
                    <a:ext uri="{9D8B030D-6E8A-4147-A177-3AD203B41FA5}">
                      <a16:colId xmlns:a16="http://schemas.microsoft.com/office/drawing/2014/main" val="4043808727"/>
                    </a:ext>
                  </a:extLst>
                </a:gridCol>
              </a:tblGrid>
              <a:tr h="8424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TISSUE OF 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BENIGN TUMORS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246866"/>
                  </a:ext>
                </a:extLst>
              </a:tr>
              <a:tr h="842401">
                <a:tc>
                  <a:txBody>
                    <a:bodyPr/>
                    <a:lstStyle/>
                    <a:p>
                      <a:r>
                        <a:rPr lang="en-US" b="1" dirty="0"/>
                        <a:t>CARTILAGE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Osteochondroma , chondroma , chondroblastoma , chondromyxoid fibroma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206920"/>
                  </a:ext>
                </a:extLst>
              </a:tr>
              <a:tr h="842401">
                <a:tc>
                  <a:txBody>
                    <a:bodyPr/>
                    <a:lstStyle/>
                    <a:p>
                      <a:r>
                        <a:rPr lang="en-US" b="1" dirty="0"/>
                        <a:t>OSTEOID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Osteoid osteoma , Osteoblastoma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971488"/>
                  </a:ext>
                </a:extLst>
              </a:tr>
              <a:tr h="842401">
                <a:tc>
                  <a:txBody>
                    <a:bodyPr/>
                    <a:lstStyle/>
                    <a:p>
                      <a:r>
                        <a:rPr lang="en-US" b="1" dirty="0"/>
                        <a:t>FIBROBLASTIC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Fibroma , desmoplastic fibroma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148924"/>
                  </a:ext>
                </a:extLst>
              </a:tr>
              <a:tr h="842401">
                <a:tc>
                  <a:txBody>
                    <a:bodyPr/>
                    <a:lstStyle/>
                    <a:p>
                      <a:r>
                        <a:rPr lang="en-US" b="1" dirty="0"/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GCT , Benign fibrous histiocytoma , Aneurysmal bone cyst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140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054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EB10D71C-9DCA-906E-6F4D-EBE702E86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3810"/>
            <a:ext cx="10515600" cy="469417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GIANT CELL TUMOR OF RIGHT THUMB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7F0EF4-00F2-7BEA-3F1E-BD2809A4DA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10" y="1996281"/>
            <a:ext cx="2864690" cy="20955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405ECA-741D-0EBC-CB8A-E6BD2C836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20" y="4397373"/>
            <a:ext cx="2884580" cy="20954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B3DDE0-046F-95C6-330B-BA7EAE1036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711" y="1996281"/>
            <a:ext cx="2884580" cy="20954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C6D72A-69FA-F4BA-AB29-B6802C5EA2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9041" y="1996281"/>
            <a:ext cx="3035249" cy="20954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D1F6E0-6216-A495-4BE6-829B34E412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507" y="4472649"/>
            <a:ext cx="2884581" cy="20954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6E0EB1-4822-9047-9AE8-A38C5B20D1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3814" y="4547927"/>
            <a:ext cx="3030366" cy="19449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F309262-B79C-3574-3ED3-0388021EF3D7}"/>
              </a:ext>
            </a:extLst>
          </p:cNvPr>
          <p:cNvSpPr txBox="1"/>
          <p:nvPr/>
        </p:nvSpPr>
        <p:spPr>
          <a:xfrm>
            <a:off x="457200" y="4178595"/>
            <a:ext cx="2254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PRE-OP XRAY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D87930-445E-C20F-4D1D-04D97F40F5DD}"/>
              </a:ext>
            </a:extLst>
          </p:cNvPr>
          <p:cNvSpPr txBox="1"/>
          <p:nvPr/>
        </p:nvSpPr>
        <p:spPr>
          <a:xfrm>
            <a:off x="4986670" y="4178595"/>
            <a:ext cx="1988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FNAC REPORT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0B8539-BEE2-D5C7-DFCE-9F107DC380A9}"/>
              </a:ext>
            </a:extLst>
          </p:cNvPr>
          <p:cNvSpPr txBox="1"/>
          <p:nvPr/>
        </p:nvSpPr>
        <p:spPr>
          <a:xfrm>
            <a:off x="9292856" y="4178595"/>
            <a:ext cx="2137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MRI REPORT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05436F-8488-A9D1-2D27-D8F65CAA5040}"/>
              </a:ext>
            </a:extLst>
          </p:cNvPr>
          <p:cNvSpPr txBox="1"/>
          <p:nvPr/>
        </p:nvSpPr>
        <p:spPr>
          <a:xfrm>
            <a:off x="552893" y="6492872"/>
            <a:ext cx="19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POST OP XRAY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767538-DFEB-38A4-D19C-941BD901A02C}"/>
              </a:ext>
            </a:extLst>
          </p:cNvPr>
          <p:cNvSpPr txBox="1"/>
          <p:nvPr/>
        </p:nvSpPr>
        <p:spPr>
          <a:xfrm>
            <a:off x="4029740" y="6602819"/>
            <a:ext cx="3616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GRAFT HARVESTED SITE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E9A0B5-3A77-01A7-18D4-0F9A83D80D7B}"/>
              </a:ext>
            </a:extLst>
          </p:cNvPr>
          <p:cNvSpPr txBox="1"/>
          <p:nvPr/>
        </p:nvSpPr>
        <p:spPr>
          <a:xfrm>
            <a:off x="9197163" y="6492872"/>
            <a:ext cx="243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BIOPSY REPORT</a:t>
            </a:r>
          </a:p>
        </p:txBody>
      </p:sp>
    </p:spTree>
    <p:extLst>
      <p:ext uri="{BB962C8B-B14F-4D97-AF65-F5344CB8AC3E}">
        <p14:creationId xmlns:p14="http://schemas.microsoft.com/office/powerpoint/2010/main" val="2201262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7BA62-6F07-00F5-4166-D47F3F7C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2689"/>
            <a:ext cx="10515600" cy="421684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BENIGN OSTEOMA OF RIGHT ULNA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CD57DC-ACF0-44AC-DCD6-FB355E00E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5" y="1871995"/>
            <a:ext cx="2862719" cy="209394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17B3AB-FE3E-FB01-A57F-0093616C8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200" y="1871994"/>
            <a:ext cx="2862720" cy="2093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0748C5-AB80-F288-692E-39DF1D34FD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636" y="1871994"/>
            <a:ext cx="2862720" cy="2093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415AE2-2369-4757-EB17-CEA93D0BE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35" y="4359348"/>
            <a:ext cx="2716149" cy="20939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3F2B1A-1563-D175-C9B1-29D30A4ED7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636" y="4359348"/>
            <a:ext cx="2716149" cy="20939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8A461A-93E1-8C3F-70A5-20E521A0F9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199" y="4359348"/>
            <a:ext cx="2862721" cy="20939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5E3BF8D-20A9-1F1B-E9B8-97629F3864C1}"/>
              </a:ext>
            </a:extLst>
          </p:cNvPr>
          <p:cNvSpPr txBox="1"/>
          <p:nvPr/>
        </p:nvSpPr>
        <p:spPr>
          <a:xfrm>
            <a:off x="457200" y="3965944"/>
            <a:ext cx="2158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PRE-OP XRAY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D2A3A0-BA7C-32AF-6446-35BA9BE5195C}"/>
              </a:ext>
            </a:extLst>
          </p:cNvPr>
          <p:cNvSpPr txBox="1"/>
          <p:nvPr/>
        </p:nvSpPr>
        <p:spPr>
          <a:xfrm>
            <a:off x="4986670" y="3965944"/>
            <a:ext cx="2190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POST –OP XRAY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23AC30-6DC1-DB88-3C4D-CBCC55B875A3}"/>
              </a:ext>
            </a:extLst>
          </p:cNvPr>
          <p:cNvSpPr txBox="1"/>
          <p:nvPr/>
        </p:nvSpPr>
        <p:spPr>
          <a:xfrm>
            <a:off x="9601200" y="396594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GRAFT SITE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F611C5-C18E-7ACD-A77B-1C60CEE6C0E0}"/>
              </a:ext>
            </a:extLst>
          </p:cNvPr>
          <p:cNvSpPr txBox="1"/>
          <p:nvPr/>
        </p:nvSpPr>
        <p:spPr>
          <a:xfrm>
            <a:off x="457200" y="6453297"/>
            <a:ext cx="2317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 MONTHS FOLLOW UP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AF1ED4-5F7F-9135-F800-57F8021910FC}"/>
              </a:ext>
            </a:extLst>
          </p:cNvPr>
          <p:cNvSpPr txBox="1"/>
          <p:nvPr/>
        </p:nvSpPr>
        <p:spPr>
          <a:xfrm>
            <a:off x="4444408" y="6453297"/>
            <a:ext cx="3327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YEAR FOLLOWUP XRAY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F41943-BABE-D98A-7561-B6AA76C55432}"/>
              </a:ext>
            </a:extLst>
          </p:cNvPr>
          <p:cNvSpPr txBox="1"/>
          <p:nvPr/>
        </p:nvSpPr>
        <p:spPr>
          <a:xfrm>
            <a:off x="9154633" y="6453297"/>
            <a:ext cx="300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 YEARS FOLLOWUP XRAY</a:t>
            </a:r>
          </a:p>
        </p:txBody>
      </p:sp>
    </p:spTree>
    <p:extLst>
      <p:ext uri="{BB962C8B-B14F-4D97-AF65-F5344CB8AC3E}">
        <p14:creationId xmlns:p14="http://schemas.microsoft.com/office/powerpoint/2010/main" val="1463158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D154B-E951-BDA8-8370-B8C33E51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9702"/>
            <a:ext cx="10515600" cy="520996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GIANT CELL TUMOR OF LEFT RADIUS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29DE95-3580-C7ED-83D1-F62148E27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640" y="1860698"/>
            <a:ext cx="2860158" cy="209461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07C948-E357-574B-861B-71C17C78D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6" y="1860698"/>
            <a:ext cx="2860158" cy="20946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356C0B-23C1-C9A5-8496-1FB06B2040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205" y="4369983"/>
            <a:ext cx="2860158" cy="20946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A5F8D4-EFDA-0DF3-58E7-85F6781EA9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628" y="1860698"/>
            <a:ext cx="2860158" cy="20946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2E3CCC-75DC-3FE4-80F2-71620A8F4D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986" y="1860698"/>
            <a:ext cx="2860158" cy="20946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63CBBD-AA99-DB2C-0E48-986B1002C1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364" y="4369984"/>
            <a:ext cx="2860159" cy="20946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4BE7283-C942-F815-7C45-AC6440B3A801}"/>
              </a:ext>
            </a:extLst>
          </p:cNvPr>
          <p:cNvSpPr txBox="1"/>
          <p:nvPr/>
        </p:nvSpPr>
        <p:spPr>
          <a:xfrm>
            <a:off x="148856" y="3955311"/>
            <a:ext cx="5826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PRE-OP XRAY’S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C8D961-ED66-CF23-9863-69AC891E2D6F}"/>
              </a:ext>
            </a:extLst>
          </p:cNvPr>
          <p:cNvSpPr txBox="1"/>
          <p:nvPr/>
        </p:nvSpPr>
        <p:spPr>
          <a:xfrm>
            <a:off x="6202628" y="3955311"/>
            <a:ext cx="28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POST-OP XRAY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B731A2-93D5-0EE2-E018-03740FA31AE9}"/>
              </a:ext>
            </a:extLst>
          </p:cNvPr>
          <p:cNvSpPr txBox="1"/>
          <p:nvPr/>
        </p:nvSpPr>
        <p:spPr>
          <a:xfrm>
            <a:off x="9182986" y="3955311"/>
            <a:ext cx="28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GRAFT SITE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D7ED75-2BD7-7D6B-392D-6AD194D84750}"/>
              </a:ext>
            </a:extLst>
          </p:cNvPr>
          <p:cNvSpPr txBox="1"/>
          <p:nvPr/>
        </p:nvSpPr>
        <p:spPr>
          <a:xfrm>
            <a:off x="2222205" y="6464597"/>
            <a:ext cx="2860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 MONTH FOLLOWUP XRAY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2225C4-9777-E11A-C2B9-128CBB50AEB8}"/>
              </a:ext>
            </a:extLst>
          </p:cNvPr>
          <p:cNvSpPr txBox="1"/>
          <p:nvPr/>
        </p:nvSpPr>
        <p:spPr>
          <a:xfrm>
            <a:off x="7029364" y="6464597"/>
            <a:ext cx="2860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 MONTHS FOLLOW UP XRAY</a:t>
            </a:r>
          </a:p>
        </p:txBody>
      </p:sp>
    </p:spTree>
    <p:extLst>
      <p:ext uri="{BB962C8B-B14F-4D97-AF65-F5344CB8AC3E}">
        <p14:creationId xmlns:p14="http://schemas.microsoft.com/office/powerpoint/2010/main" val="1227740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FD078-C693-59BD-C453-0610A6071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3371"/>
            <a:ext cx="10515600" cy="489858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POSTOPERATIVE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BB94E-6BAB-823A-5A13-8A56DD50C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2002971"/>
            <a:ext cx="11234057" cy="4582886"/>
          </a:xfrm>
        </p:spPr>
        <p:txBody>
          <a:bodyPr/>
          <a:lstStyle/>
          <a:p>
            <a:r>
              <a:rPr lang="en-US" dirty="0"/>
              <a:t>We monitored bone healing by comparing preoperative and follow-up radiographs.</a:t>
            </a:r>
          </a:p>
          <a:p>
            <a:r>
              <a:rPr lang="en-US" dirty="0"/>
              <a:t>We removed the splint 6weeks after the surgery , at which time , the patient was permitted to perform gentle ROM exercises.</a:t>
            </a:r>
          </a:p>
          <a:p>
            <a:r>
              <a:rPr lang="en-US" dirty="0"/>
              <a:t>During follow-up we evaluated pain intensity , functional status and ROM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271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4E9D-ABD6-CCEF-9E81-EB1065860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7171"/>
            <a:ext cx="10515600" cy="78377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BE4A3-2921-CF47-3914-8F9A8118E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0943"/>
            <a:ext cx="10515600" cy="4076019"/>
          </a:xfrm>
        </p:spPr>
        <p:txBody>
          <a:bodyPr/>
          <a:lstStyle/>
          <a:p>
            <a:r>
              <a:rPr lang="en-US" sz="2400" dirty="0"/>
              <a:t>The average follow-up duration was 3years(range: 6months to 3years).</a:t>
            </a:r>
          </a:p>
          <a:p>
            <a:r>
              <a:rPr lang="en-US" sz="2400" dirty="0"/>
              <a:t>All the patients had achieved bony union between 3 to 5months after the </a:t>
            </a:r>
            <a:r>
              <a:rPr lang="en-US" sz="2400" dirty="0" err="1"/>
              <a:t>surger</a:t>
            </a:r>
            <a:r>
              <a:rPr lang="en-US" sz="2400" dirty="0"/>
              <a:t>.</a:t>
            </a:r>
          </a:p>
          <a:p>
            <a:r>
              <a:rPr lang="en-US" sz="2400" dirty="0"/>
              <a:t>None of the patients had a recurrence by the time of last follow up.</a:t>
            </a:r>
          </a:p>
          <a:p>
            <a:r>
              <a:rPr lang="en-US" sz="2400" dirty="0" err="1"/>
              <a:t>Clincial</a:t>
            </a:r>
            <a:r>
              <a:rPr lang="en-US" sz="2400" dirty="0"/>
              <a:t> assessments did not reveal lung metastasis.</a:t>
            </a:r>
          </a:p>
          <a:p>
            <a:r>
              <a:rPr lang="en-US" sz="2400" dirty="0"/>
              <a:t>No patient had discomfort at the fibular donor site and no patient complained of instability of the knee.</a:t>
            </a:r>
          </a:p>
          <a:p>
            <a:r>
              <a:rPr lang="en-US" sz="2400" dirty="0"/>
              <a:t> Neither postoperative infections nor neurovascular complications </a:t>
            </a:r>
            <a:r>
              <a:rPr lang="en-US" sz="2400" dirty="0" err="1"/>
              <a:t>ocuured</a:t>
            </a:r>
            <a:r>
              <a:rPr lang="en-US" sz="2400" dirty="0"/>
              <a:t> in the patients.</a:t>
            </a:r>
          </a:p>
        </p:txBody>
      </p:sp>
    </p:spTree>
    <p:extLst>
      <p:ext uri="{BB962C8B-B14F-4D97-AF65-F5344CB8AC3E}">
        <p14:creationId xmlns:p14="http://schemas.microsoft.com/office/powerpoint/2010/main" val="140630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89BE6-E1E4-1E00-E665-812D4062E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8057"/>
            <a:ext cx="10515600" cy="66402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54A6B-FC29-6065-930C-F17BD6E73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6257"/>
            <a:ext cx="10515600" cy="4010706"/>
          </a:xfrm>
        </p:spPr>
        <p:txBody>
          <a:bodyPr/>
          <a:lstStyle/>
          <a:p>
            <a:r>
              <a:rPr lang="en-US" dirty="0"/>
              <a:t>En-bloc resection of the tumor and reconstruction with a vascularized proximal fibular autograft is effective for local tumor control and function preservation.</a:t>
            </a:r>
          </a:p>
        </p:txBody>
      </p:sp>
    </p:spTree>
    <p:extLst>
      <p:ext uri="{BB962C8B-B14F-4D97-AF65-F5344CB8AC3E}">
        <p14:creationId xmlns:p14="http://schemas.microsoft.com/office/powerpoint/2010/main" val="2761118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3007</TotalTime>
  <Words>548</Words>
  <Application>Microsoft Macintosh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Gordita </vt:lpstr>
      <vt:lpstr>Office Theme</vt:lpstr>
      <vt:lpstr>RECONSTRUCTION WITH VASCULARISED PROXIMAL FIBULAR AUTOGRAFT POST–EN-BLOC RESECTION OF BENIGN TUMOURS AT VARIOUS SITES OF THE UPPER LIMB </vt:lpstr>
      <vt:lpstr>BENIGN BONE TUMORS</vt:lpstr>
      <vt:lpstr>PowerPoint Presentation</vt:lpstr>
      <vt:lpstr>PowerPoint Presentation</vt:lpstr>
      <vt:lpstr>GIANT CELL TUMOR OF RIGHT THUMB</vt:lpstr>
      <vt:lpstr>BENIGN OSTEOMA OF RIGHT ULNA</vt:lpstr>
      <vt:lpstr>GIANT CELL TUMOR OF LEFT RADIUS</vt:lpstr>
      <vt:lpstr>POSTOPERATIVE EVALUATION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Microsoft Office User</cp:lastModifiedBy>
  <cp:revision>10</cp:revision>
  <dcterms:created xsi:type="dcterms:W3CDTF">2026-01-11T06:24:43Z</dcterms:created>
  <dcterms:modified xsi:type="dcterms:W3CDTF">2026-02-14T08:58:40Z</dcterms:modified>
</cp:coreProperties>
</file>