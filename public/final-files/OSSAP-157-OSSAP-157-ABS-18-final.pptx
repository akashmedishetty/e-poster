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7f229260cc78d65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g7f229260cc78d65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7f229260cc78d6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g7f229260cc78d6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7f229260cc78d6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7f229260cc78d65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7f229260cc78d6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g7f229260cc78d6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f229260cc78d65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7f229260cc78d65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7f229260cc78d65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g7f229260cc78d65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f229260cc78d6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7f229260cc78d6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/>
        </p:nvSpPr>
        <p:spPr>
          <a:xfrm>
            <a:off x="125" y="1782875"/>
            <a:ext cx="12192000" cy="3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5B0F00"/>
                </a:solidFill>
              </a:rPr>
              <a:t>        </a:t>
            </a:r>
            <a:r>
              <a:rPr lang="en-US" sz="3000" b="1">
                <a:solidFill>
                  <a:srgbClr val="5B0F00"/>
                </a:solidFill>
              </a:rPr>
              <a:t>COMPARATIVE STUDY OF CORTICOSTEROID INJECTION</a:t>
            </a:r>
            <a:endParaRPr sz="3000" b="1">
              <a:solidFill>
                <a:srgbClr val="5B0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B0F00"/>
                </a:solidFill>
              </a:rPr>
              <a:t>          AND PLATELET RICH PLASMA INJECTION IN LATERAL  </a:t>
            </a:r>
            <a:endParaRPr sz="3000" b="1">
              <a:solidFill>
                <a:srgbClr val="5B0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B0F00"/>
                </a:solidFill>
              </a:rPr>
              <a:t>                                        EPICONDYLITIS</a:t>
            </a:r>
            <a:r>
              <a:rPr lang="en-US" sz="3000">
                <a:solidFill>
                  <a:srgbClr val="5B0F00"/>
                </a:solidFill>
              </a:rPr>
              <a:t> </a:t>
            </a:r>
            <a:endParaRPr sz="3000">
              <a:solidFill>
                <a:srgbClr val="5B0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5B0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5B0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B0F00"/>
                </a:solidFill>
              </a:rPr>
              <a:t>                                              </a:t>
            </a:r>
            <a:r>
              <a:rPr lang="en-US" sz="2400" b="1">
                <a:solidFill>
                  <a:srgbClr val="073763"/>
                </a:solidFill>
              </a:rPr>
              <a:t>PRASENTER: DR.PANDAVULA PRASHANTH </a:t>
            </a:r>
            <a:endParaRPr sz="2400" b="1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73763"/>
                </a:solidFill>
              </a:rPr>
              <a:t>                                              GUIDE: DR.G.S.MUKHARJEE MS ORTHO(PROFESSOR)</a:t>
            </a:r>
            <a:endParaRPr sz="2400" b="1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73763"/>
                </a:solidFill>
              </a:rPr>
              <a:t>                                                                  RMC, KAKINADA.</a:t>
            </a:r>
            <a:endParaRPr sz="2400" b="1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title"/>
          </p:nvPr>
        </p:nvSpPr>
        <p:spPr>
          <a:xfrm>
            <a:off x="-12" y="13406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0F00"/>
              </a:buClr>
              <a:buSzPts val="2400"/>
              <a:buFont typeface="Play"/>
              <a:buNone/>
            </a:pPr>
            <a:r>
              <a:rPr lang="en-US" sz="2400" b="1" u="sng">
                <a:solidFill>
                  <a:srgbClr val="5B0F00"/>
                </a:solidFill>
              </a:rPr>
              <a:t>INTRODUCTION</a:t>
            </a:r>
            <a:r>
              <a:rPr lang="en-US" sz="2400" b="1">
                <a:solidFill>
                  <a:srgbClr val="5B0F00"/>
                </a:solidFill>
              </a:rPr>
              <a:t>:</a:t>
            </a:r>
            <a:endParaRPr sz="2400" b="1">
              <a:solidFill>
                <a:srgbClr val="5B0F00"/>
              </a:solidFill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0" y="1689925"/>
            <a:ext cx="121920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Lateral epicondylitis is a common cause of elbow pain Involves origin of common extensor tendon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commonly affects ECRB tendon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Affects 1–3% of general population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in age group 35–50 years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Dominant limb commonly involved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0" y="4068025"/>
            <a:ext cx="12192000" cy="27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ETIOPATHOGENESIS: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Caused by repetitive overuse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Microvascular changes lead to degeneration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Tendinosis rather than pure inflammation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pathology at ECRB origin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Occasionally involves ECRL and EDC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2050" y="2142251"/>
            <a:ext cx="4718700" cy="45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/>
        </p:nvSpPr>
        <p:spPr>
          <a:xfrm>
            <a:off x="0" y="1331104"/>
            <a:ext cx="12192000" cy="56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TREATMENT MODALITIES: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and activity modification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NSAIDs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Counterforce braces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Physiotherapy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Ultrasound and shock wave therapy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Corticosteroid injections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injections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Surgical treatment in refractory cases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RATIONALE OF STUDY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Corticosteroids give rapid pain relief -Poor long-term outcomes and recurrence reported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promotes biological healing -Limited comparative studies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-Need to evaluate short-term effectiveness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 l="21802" t="12775" r="16347" b="12205"/>
          <a:stretch/>
        </p:blipFill>
        <p:spPr>
          <a:xfrm>
            <a:off x="5495552" y="1331104"/>
            <a:ext cx="3011700" cy="30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/>
          <p:cNvPicPr preferRelativeResize="0"/>
          <p:nvPr/>
        </p:nvPicPr>
        <p:blipFill rotWithShape="1">
          <a:blip r:embed="rId4">
            <a:alphaModFix/>
          </a:blip>
          <a:srcRect l="28084" t="5446" r="35362" b="15739"/>
          <a:stretch/>
        </p:blipFill>
        <p:spPr>
          <a:xfrm>
            <a:off x="8507250" y="1331100"/>
            <a:ext cx="3684752" cy="391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0" y="1280150"/>
            <a:ext cx="12192000" cy="53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AIM AND OBJECTIVES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To evaluate outcomes of corticosteroid and PRP injections in lateral epicondylitis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-Compare pain relief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-Compare functional improvement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-Assess short-term results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Prospective comparative study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size: 50 patients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Diagnosed cases of lateral epicondylitis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Two groups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-PRP group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-Steroid group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l="23121" t="6334" r="22551" b="20185"/>
          <a:stretch/>
        </p:blipFill>
        <p:spPr>
          <a:xfrm>
            <a:off x="6279450" y="2645400"/>
            <a:ext cx="5912549" cy="4212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/>
        </p:nvSpPr>
        <p:spPr>
          <a:xfrm>
            <a:off x="-1" y="1299170"/>
            <a:ext cx="11814300" cy="53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5B0F00"/>
                </a:solidFill>
              </a:rPr>
              <a:t>OUTCOME MEASURES:</a:t>
            </a:r>
            <a:endParaRPr sz="2400" b="1" u="sng">
              <a:solidFill>
                <a:srgbClr val="5B0F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73763"/>
                </a:solidFill>
              </a:rPr>
              <a:t>Visual Analog Scale (VAS</a:t>
            </a:r>
            <a:r>
              <a:rPr lang="en-US" sz="2400"/>
              <a:t>) – Pain assessment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73763"/>
                </a:solidFill>
              </a:rPr>
              <a:t>DASH Score</a:t>
            </a:r>
            <a:r>
              <a:rPr lang="en-US" sz="2400"/>
              <a:t> – Functional assessment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Follow-up periods: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  -Baseline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  -4 weeks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  -8 weeks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  -12 weeks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</a:t>
            </a:r>
            <a:r>
              <a:rPr lang="en-US" sz="2400" b="1" u="sng">
                <a:solidFill>
                  <a:srgbClr val="5B0F00"/>
                </a:solidFill>
              </a:rPr>
              <a:t>PRP: MECHANISM OF ACTION:</a:t>
            </a:r>
            <a:endParaRPr sz="2400" b="1" u="sng">
              <a:solidFill>
                <a:srgbClr val="5B0F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Derived from autologous blood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Releases growth factors:TGF-β,PDGF,FGF,VEGF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Enhances tendon healing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Promotes tissue regeneration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Has antibacterial properties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/>
        </p:nvSpPr>
        <p:spPr>
          <a:xfrm>
            <a:off x="0" y="1326000"/>
            <a:ext cx="12192000" cy="49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LITERATURE REVIEW (STEROIDS):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short-term pain relief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initial improvement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recurrence rates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Outcomes decline at long-term follow-up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Post-injection discomfort reported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LITERATURE REVIEW (PRP):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u="sng">
              <a:solidFill>
                <a:srgbClr val="5B0F00"/>
              </a:solidFill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Promotes biological tendon healing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long-term outcomes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functional recovery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 and effective treatment option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 l="21609" t="2538" r="13319" b="4490"/>
          <a:stretch/>
        </p:blipFill>
        <p:spPr>
          <a:xfrm>
            <a:off x="6193950" y="1326000"/>
            <a:ext cx="5998051" cy="539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4" y="1310519"/>
            <a:ext cx="11539200" cy="49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RESULTS (OVERVIEW):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groups showed improvement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Steroid group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-Faster early pain reduction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PRP group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-Sustained improvement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-Significant improvement in VAS and DASH scores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DISCUSSION: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Steroids effective for short-term symptom relief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offers regenerative benefits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shows better durability of results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shift towards biological therapy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l="19956" t="8734" r="19842"/>
          <a:stretch/>
        </p:blipFill>
        <p:spPr>
          <a:xfrm>
            <a:off x="7047750" y="1310525"/>
            <a:ext cx="4976048" cy="5547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0" y="1298725"/>
            <a:ext cx="6755400" cy="53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endParaRPr sz="2400" b="1" i="0" u="sng" strike="noStrike" cap="non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PRP and steroid injections are effective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Steroids provide rapid pain relief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provides better sustained functional improvement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is a promising alternative in chronic cases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r>
              <a:rPr lang="en-US" sz="2400" b="1" i="0" u="sng" strike="noStrike" cap="non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TAKE HOME MESSAGE</a:t>
            </a:r>
            <a:endParaRPr sz="2400" b="1" i="0" u="sng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sng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Lateral epicondylitis is degenerative in nature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Steroids → Short-term benefit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→ Long-term regenerative benefit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PRP should be considered in recurrent and chronic cases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l="18466" t="11687" r="22404" b="31325"/>
          <a:stretch/>
        </p:blipFill>
        <p:spPr>
          <a:xfrm>
            <a:off x="6755400" y="1298725"/>
            <a:ext cx="5436602" cy="257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4">
            <a:alphaModFix/>
          </a:blip>
          <a:srcRect l="18765" t="20351" r="21127" b="22991"/>
          <a:stretch/>
        </p:blipFill>
        <p:spPr>
          <a:xfrm>
            <a:off x="6755400" y="3876525"/>
            <a:ext cx="5436602" cy="298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Widescreen</PresentationFormat>
  <Paragraphs>100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Gordita </vt:lpstr>
      <vt:lpstr>Play</vt:lpstr>
      <vt:lpstr>Office Theme</vt:lpstr>
      <vt:lpstr>PowerPoint Presentation</vt:lpstr>
      <vt:lpstr>INTRODUCTION: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santhosh rajasekaran</cp:lastModifiedBy>
  <cp:revision>1</cp:revision>
  <dcterms:modified xsi:type="dcterms:W3CDTF">2026-01-27T16:44:27Z</dcterms:modified>
</cp:coreProperties>
</file>