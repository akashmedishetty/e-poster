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392779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/>
          <p:cNvSpPr/>
          <p:nvPr/>
        </p:nvSpPr>
        <p:spPr>
          <a:xfrm>
            <a:off x="-3" y="-3"/>
            <a:ext cx="12192003" cy="1280162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20" name="Picture 14" descr="Picture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06884" y="74822"/>
            <a:ext cx="1043157" cy="104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47316" y="123389"/>
            <a:ext cx="884050" cy="884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Picture 16" descr="Picture 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127891" y="192303"/>
            <a:ext cx="785943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Box 17"/>
          <p:cNvSpPr txBox="1"/>
          <p:nvPr/>
        </p:nvSpPr>
        <p:spPr>
          <a:xfrm>
            <a:off x="2620966" y="27424"/>
            <a:ext cx="5906911" cy="65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24" name="TextBox 18"/>
          <p:cNvSpPr txBox="1"/>
          <p:nvPr/>
        </p:nvSpPr>
        <p:spPr>
          <a:xfrm>
            <a:off x="2646936" y="653898"/>
            <a:ext cx="6216058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Date 6 – 8 February,2026, Venue : Kurnool Medical College</a:t>
            </a:r>
          </a:p>
        </p:txBody>
      </p:sp>
      <p:sp>
        <p:nvSpPr>
          <p:cNvPr id="25" name="TextBox 19"/>
          <p:cNvSpPr txBox="1"/>
          <p:nvPr/>
        </p:nvSpPr>
        <p:spPr>
          <a:xfrm>
            <a:off x="2620969" y="913339"/>
            <a:ext cx="7022591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Organized by : Department of Orthopaedics, Kurnool Medical College Kurnool</a:t>
            </a:r>
          </a:p>
        </p:txBody>
      </p:sp>
      <p:sp>
        <p:nvSpPr>
          <p:cNvPr id="26" name="Freeform 13"/>
          <p:cNvSpPr/>
          <p:nvPr/>
        </p:nvSpPr>
        <p:spPr>
          <a:xfrm>
            <a:off x="560813" y="14254"/>
            <a:ext cx="1505562" cy="128015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72000"/>
              </a:lnSpc>
              <a:buSzTx/>
              <a:buFontTx/>
              <a:buNone/>
              <a:defRPr sz="2400"/>
            </a:lvl1pPr>
            <a:lvl2pPr marL="0" indent="0" algn="ctr">
              <a:lnSpc>
                <a:spcPct val="72000"/>
              </a:lnSpc>
              <a:buSzTx/>
              <a:buFontTx/>
              <a:buNone/>
              <a:defRPr sz="2400"/>
            </a:lvl2pPr>
            <a:lvl3pPr marL="0" indent="0" algn="ctr">
              <a:lnSpc>
                <a:spcPct val="72000"/>
              </a:lnSpc>
              <a:buSzTx/>
              <a:buFontTx/>
              <a:buNone/>
              <a:defRPr sz="2400"/>
            </a:lvl3pPr>
            <a:lvl4pPr marL="0" indent="0" algn="ctr">
              <a:lnSpc>
                <a:spcPct val="72000"/>
              </a:lnSpc>
              <a:buSzTx/>
              <a:buFontTx/>
              <a:buNone/>
              <a:defRPr sz="2400"/>
            </a:lvl4pPr>
            <a:lvl5pPr marL="0" indent="0" algn="ctr">
              <a:lnSpc>
                <a:spcPct val="72000"/>
              </a:lnSpc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2000"/>
              </a:lnSpc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0">
              <a:lnSpc>
                <a:spcPct val="72000"/>
              </a:lnSpc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0">
              <a:lnSpc>
                <a:spcPct val="72000"/>
              </a:lnSpc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0">
              <a:lnSpc>
                <a:spcPct val="72000"/>
              </a:lnSpc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0">
              <a:lnSpc>
                <a:spcPct val="72000"/>
              </a:lnSpc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90" cy="82391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72000"/>
              </a:lnSpc>
              <a:buSzTx/>
              <a:buFontTx/>
              <a:buNone/>
              <a:defRPr sz="2400" b="1"/>
            </a:lvl1pPr>
            <a:lvl2pPr marL="0" indent="0">
              <a:lnSpc>
                <a:spcPct val="72000"/>
              </a:lnSpc>
              <a:buSzTx/>
              <a:buFontTx/>
              <a:buNone/>
              <a:defRPr sz="2400" b="1"/>
            </a:lvl2pPr>
            <a:lvl3pPr marL="0" indent="0">
              <a:lnSpc>
                <a:spcPct val="72000"/>
              </a:lnSpc>
              <a:buSzTx/>
              <a:buFontTx/>
              <a:buNone/>
              <a:defRPr sz="2400" b="1"/>
            </a:lvl3pPr>
            <a:lvl4pPr marL="0" indent="0">
              <a:lnSpc>
                <a:spcPct val="72000"/>
              </a:lnSpc>
              <a:buSzTx/>
              <a:buFontTx/>
              <a:buNone/>
              <a:defRPr sz="2400" b="1"/>
            </a:lvl4pPr>
            <a:lvl5pPr marL="0" indent="0">
              <a:lnSpc>
                <a:spcPct val="72000"/>
              </a:lnSpc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99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" y="-3"/>
            <a:ext cx="12192003" cy="1280162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3" name="Picture 14" descr="Picture 14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9006884" y="74822"/>
            <a:ext cx="1043157" cy="104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15" descr="Picture 15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10947316" y="123389"/>
            <a:ext cx="884050" cy="884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6" descr="Picture 16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10127891" y="192303"/>
            <a:ext cx="785943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17"/>
          <p:cNvSpPr txBox="1"/>
          <p:nvPr/>
        </p:nvSpPr>
        <p:spPr>
          <a:xfrm>
            <a:off x="2620966" y="27424"/>
            <a:ext cx="5906911" cy="65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7" name="TextBox 18"/>
          <p:cNvSpPr txBox="1"/>
          <p:nvPr/>
        </p:nvSpPr>
        <p:spPr>
          <a:xfrm>
            <a:off x="2646936" y="653898"/>
            <a:ext cx="6216058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Date 6 – 8 February,2026, Venue : Kurnool Medical College</a:t>
            </a:r>
          </a:p>
        </p:txBody>
      </p:sp>
      <p:sp>
        <p:nvSpPr>
          <p:cNvPr id="8" name="TextBox 19"/>
          <p:cNvSpPr txBox="1"/>
          <p:nvPr/>
        </p:nvSpPr>
        <p:spPr>
          <a:xfrm>
            <a:off x="2620969" y="913339"/>
            <a:ext cx="7022591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Organized by : Department of Orthopaedics, Kurnool Medical College Kurnool</a:t>
            </a:r>
          </a:p>
        </p:txBody>
      </p:sp>
      <p:sp>
        <p:nvSpPr>
          <p:cNvPr id="9" name="Freeform 13"/>
          <p:cNvSpPr/>
          <p:nvPr/>
        </p:nvSpPr>
        <p:spPr>
          <a:xfrm>
            <a:off x="560813" y="14254"/>
            <a:ext cx="1505562" cy="1280159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0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Title Text</a:t>
            </a:r>
          </a:p>
        </p:txBody>
      </p:sp>
      <p:sp>
        <p:nvSpPr>
          <p:cNvPr id="11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10600" y="6356350"/>
            <a:ext cx="358409" cy="3708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Apto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3"/>
          <p:cNvSpPr/>
          <p:nvPr/>
        </p:nvSpPr>
        <p:spPr>
          <a:xfrm>
            <a:off x="-3" y="-3"/>
            <a:ext cx="12192003" cy="1280162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pic>
        <p:nvPicPr>
          <p:cNvPr id="111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07143" y="183575"/>
            <a:ext cx="884050" cy="8840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16" descr="Picture 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31729" y="274080"/>
            <a:ext cx="785943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Freeform 13"/>
          <p:cNvSpPr/>
          <p:nvPr/>
        </p:nvSpPr>
        <p:spPr>
          <a:xfrm>
            <a:off x="-146093" y="120486"/>
            <a:ext cx="1505562" cy="128015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grpSp>
        <p:nvGrpSpPr>
          <p:cNvPr id="119" name="Rectangle 5"/>
          <p:cNvGrpSpPr/>
          <p:nvPr/>
        </p:nvGrpSpPr>
        <p:grpSpPr>
          <a:xfrm>
            <a:off x="0" y="4436153"/>
            <a:ext cx="2973308" cy="2421847"/>
            <a:chOff x="-1" y="-2"/>
            <a:chExt cx="2973307" cy="2421846"/>
          </a:xfrm>
        </p:grpSpPr>
        <p:sp>
          <p:nvSpPr>
            <p:cNvPr id="117" name="Rectangle"/>
            <p:cNvSpPr/>
            <p:nvPr/>
          </p:nvSpPr>
          <p:spPr>
            <a:xfrm>
              <a:off x="-1" y="-2"/>
              <a:ext cx="2973307" cy="2421846"/>
            </a:xfrm>
            <a:prstGeom prst="rect">
              <a:avLst/>
            </a:prstGeom>
            <a:noFill/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spcBef>
                  <a:spcPts val="1600"/>
                </a:spcBef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18" name="Type of study: Prospective. Place of study: Dr.Pinnamaneni SIMS&amp;RF  Sample size and inclusion criteria: 20 patients with displaced tibial plateau fractures with posterior column involvement. Duration of study: 1 ½ years (December 2023 to May 2025). Mater"/>
            <p:cNvSpPr txBox="1"/>
            <p:nvPr/>
          </p:nvSpPr>
          <p:spPr>
            <a:xfrm>
              <a:off x="9524" y="1087810"/>
              <a:ext cx="2954257" cy="246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defTabSz="457200">
                <a:spcBef>
                  <a:spcPts val="1600"/>
                </a:spcBef>
                <a:defRPr sz="1000">
                  <a:latin typeface="Arial"/>
                  <a:ea typeface="Arial"/>
                  <a:cs typeface="Arial"/>
                  <a:sym typeface="Arial"/>
                </a:defRPr>
              </a:pPr>
              <a:r>
                <a:rPr dirty="0" smtClean="0"/>
                <a:t>.</a:t>
              </a:r>
              <a:endParaRPr dirty="0"/>
            </a:p>
          </p:txBody>
        </p:sp>
      </p:grpSp>
      <p:grpSp>
        <p:nvGrpSpPr>
          <p:cNvPr id="122" name="Rectangle 8"/>
          <p:cNvGrpSpPr/>
          <p:nvPr/>
        </p:nvGrpSpPr>
        <p:grpSpPr>
          <a:xfrm>
            <a:off x="7382671" y="1654177"/>
            <a:ext cx="4809329" cy="1969263"/>
            <a:chOff x="0" y="0"/>
            <a:chExt cx="4809327" cy="1969261"/>
          </a:xfrm>
        </p:grpSpPr>
        <p:sp>
          <p:nvSpPr>
            <p:cNvPr id="120" name="Rectangle"/>
            <p:cNvSpPr/>
            <p:nvPr/>
          </p:nvSpPr>
          <p:spPr>
            <a:xfrm>
              <a:off x="0" y="0"/>
              <a:ext cx="4809328" cy="1969262"/>
            </a:xfrm>
            <a:prstGeom prst="rect">
              <a:avLst/>
            </a:prstGeom>
            <a:noFill/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21" name="Tibial plateau fractures were more commonly seen in the active productive age group (25- 50 years) due to high-energy trauma.…"/>
            <p:cNvSpPr txBox="1"/>
            <p:nvPr/>
          </p:nvSpPr>
          <p:spPr>
            <a:xfrm>
              <a:off x="9742" y="122018"/>
              <a:ext cx="4789844" cy="17252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defRPr sz="1200">
                  <a:latin typeface="Arial"/>
                  <a:ea typeface="Arial"/>
                  <a:cs typeface="Arial"/>
                  <a:sym typeface="Arial"/>
                </a:defRPr>
              </a:pPr>
              <a:endParaRPr dirty="0"/>
            </a:p>
          </p:txBody>
        </p:sp>
      </p:grpSp>
      <p:grpSp>
        <p:nvGrpSpPr>
          <p:cNvPr id="125" name="Rectangle 9"/>
          <p:cNvGrpSpPr/>
          <p:nvPr/>
        </p:nvGrpSpPr>
        <p:grpSpPr>
          <a:xfrm>
            <a:off x="-3" y="1290020"/>
            <a:ext cx="2946760" cy="370837"/>
            <a:chOff x="0" y="0"/>
            <a:chExt cx="2946759" cy="370835"/>
          </a:xfrm>
        </p:grpSpPr>
        <p:sp>
          <p:nvSpPr>
            <p:cNvPr id="123" name="Rectangle"/>
            <p:cNvSpPr/>
            <p:nvPr/>
          </p:nvSpPr>
          <p:spPr>
            <a:xfrm>
              <a:off x="0" y="17802"/>
              <a:ext cx="2946760" cy="335229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  <a:endParaRPr/>
            </a:p>
          </p:txBody>
        </p:sp>
        <p:sp>
          <p:nvSpPr>
            <p:cNvPr id="124" name="INTRODUCTION"/>
            <p:cNvSpPr txBox="1"/>
            <p:nvPr/>
          </p:nvSpPr>
          <p:spPr>
            <a:xfrm>
              <a:off x="52363" y="-1"/>
              <a:ext cx="2842035" cy="3708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latin typeface="+mj-lt"/>
                  <a:ea typeface="+mj-ea"/>
                  <a:cs typeface="+mj-cs"/>
                  <a:sym typeface="Aptos"/>
                </a:defRPr>
              </a:lvl1pPr>
            </a:lstStyle>
            <a:p>
              <a:r>
                <a:t>INTRODUCTION </a:t>
              </a:r>
            </a:p>
          </p:txBody>
        </p:sp>
      </p:grpSp>
      <p:grpSp>
        <p:nvGrpSpPr>
          <p:cNvPr id="128" name="Rectangle 21"/>
          <p:cNvGrpSpPr/>
          <p:nvPr/>
        </p:nvGrpSpPr>
        <p:grpSpPr>
          <a:xfrm>
            <a:off x="7467389" y="5694907"/>
            <a:ext cx="4895998" cy="370837"/>
            <a:chOff x="0" y="0"/>
            <a:chExt cx="4895997" cy="370835"/>
          </a:xfrm>
        </p:grpSpPr>
        <p:sp>
          <p:nvSpPr>
            <p:cNvPr id="126" name="Rectangle"/>
            <p:cNvSpPr/>
            <p:nvPr/>
          </p:nvSpPr>
          <p:spPr>
            <a:xfrm>
              <a:off x="-1" y="26318"/>
              <a:ext cx="4850112" cy="327787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  <a:endParaRPr/>
            </a:p>
          </p:txBody>
        </p:sp>
        <p:sp>
          <p:nvSpPr>
            <p:cNvPr id="127" name="CONCLUSION"/>
            <p:cNvSpPr txBox="1"/>
            <p:nvPr/>
          </p:nvSpPr>
          <p:spPr>
            <a:xfrm>
              <a:off x="137658" y="-1"/>
              <a:ext cx="4758340" cy="3708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0D0D0D"/>
                  </a:solidFill>
                  <a:latin typeface="+mj-lt"/>
                  <a:ea typeface="+mj-ea"/>
                  <a:cs typeface="+mj-cs"/>
                  <a:sym typeface="Aptos"/>
                </a:defRPr>
              </a:lvl1pPr>
            </a:lstStyle>
            <a:p>
              <a:r>
                <a:rPr lang="en-IN" dirty="0" smtClean="0"/>
                <a:t>LIMITATIONS</a:t>
              </a:r>
              <a:endParaRPr dirty="0"/>
            </a:p>
          </p:txBody>
        </p:sp>
      </p:grpSp>
      <p:sp>
        <p:nvSpPr>
          <p:cNvPr id="129" name="FUNCTIONAL OUTCOME OF COMPLEX TIBIAL PLATEAU FRACTURES SURGICALLY MANAGED BY OPEN REDUCTION AND INTERNAL FIXATION WITH COLUMN SPECIFIC PLATING"/>
          <p:cNvSpPr txBox="1"/>
          <p:nvPr/>
        </p:nvSpPr>
        <p:spPr>
          <a:xfrm>
            <a:off x="1034481" y="81547"/>
            <a:ext cx="10195566" cy="58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defRPr sz="1600">
                <a:solidFill>
                  <a:srgbClr val="FEFB4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 smtClean="0"/>
              <a:t>“Comparative </a:t>
            </a:r>
            <a:r>
              <a:rPr lang="en-US" dirty="0"/>
              <a:t>Study of Clinical and Radiological Outcomes of Distal Fibular Fractures Treated with Rush Pin versus Plate </a:t>
            </a:r>
            <a:r>
              <a:rPr lang="en-US" dirty="0" smtClean="0"/>
              <a:t>Fixation”</a:t>
            </a:r>
            <a:endParaRPr dirty="0"/>
          </a:p>
        </p:txBody>
      </p:sp>
      <p:grpSp>
        <p:nvGrpSpPr>
          <p:cNvPr id="132" name="Rectangle 8"/>
          <p:cNvGrpSpPr/>
          <p:nvPr/>
        </p:nvGrpSpPr>
        <p:grpSpPr>
          <a:xfrm>
            <a:off x="7483079" y="6049009"/>
            <a:ext cx="4711345" cy="840622"/>
            <a:chOff x="-3087" y="0"/>
            <a:chExt cx="4711343" cy="840620"/>
          </a:xfrm>
        </p:grpSpPr>
        <p:sp>
          <p:nvSpPr>
            <p:cNvPr id="130" name="Rectangle"/>
            <p:cNvSpPr/>
            <p:nvPr/>
          </p:nvSpPr>
          <p:spPr>
            <a:xfrm>
              <a:off x="0" y="-1"/>
              <a:ext cx="4708257" cy="840622"/>
            </a:xfrm>
            <a:prstGeom prst="rect">
              <a:avLst/>
            </a:prstGeom>
            <a:noFill/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defRPr sz="12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31" name="Three-column fixation is a new fixation concept in treating complex tibial plateau fractures, especially useful for multiplanar fractures involving posterior column with excellent functional outcome."/>
            <p:cNvSpPr txBox="1"/>
            <p:nvPr/>
          </p:nvSpPr>
          <p:spPr>
            <a:xfrm>
              <a:off x="-3088" y="17815"/>
              <a:ext cx="4689032" cy="8049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>
              <a:lvl1pPr defTabSz="457200">
                <a:defRPr sz="12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endParaRPr dirty="0"/>
            </a:p>
          </p:txBody>
        </p:sp>
      </p:grpSp>
      <p:grpSp>
        <p:nvGrpSpPr>
          <p:cNvPr id="135" name="Rectangle 12"/>
          <p:cNvGrpSpPr/>
          <p:nvPr/>
        </p:nvGrpSpPr>
        <p:grpSpPr>
          <a:xfrm>
            <a:off x="-4" y="4053386"/>
            <a:ext cx="2955635" cy="379947"/>
            <a:chOff x="-1" y="-4769"/>
            <a:chExt cx="2955633" cy="379946"/>
          </a:xfrm>
        </p:grpSpPr>
        <p:sp>
          <p:nvSpPr>
            <p:cNvPr id="133" name="Rectangle"/>
            <p:cNvSpPr/>
            <p:nvPr/>
          </p:nvSpPr>
          <p:spPr>
            <a:xfrm>
              <a:off x="-1" y="-1"/>
              <a:ext cx="2955633" cy="375178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  <a:endParaRPr/>
            </a:p>
          </p:txBody>
        </p:sp>
        <p:sp>
          <p:nvSpPr>
            <p:cNvPr id="134" name="MATERIALS &amp; METHODS"/>
            <p:cNvSpPr txBox="1"/>
            <p:nvPr/>
          </p:nvSpPr>
          <p:spPr>
            <a:xfrm>
              <a:off x="40946" y="-4769"/>
              <a:ext cx="2862165" cy="37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0D0D0D"/>
                  </a:solidFill>
                  <a:latin typeface="+mj-lt"/>
                  <a:ea typeface="+mj-ea"/>
                  <a:cs typeface="+mj-cs"/>
                  <a:sym typeface="Aptos"/>
                </a:defRPr>
              </a:lvl1pPr>
            </a:lstStyle>
            <a:p>
              <a:r>
                <a:rPr dirty="0"/>
                <a:t>MATERIALS &amp; METHODS</a:t>
              </a:r>
            </a:p>
          </p:txBody>
        </p:sp>
      </p:grpSp>
      <p:grpSp>
        <p:nvGrpSpPr>
          <p:cNvPr id="138" name="Rectangle 8"/>
          <p:cNvGrpSpPr/>
          <p:nvPr/>
        </p:nvGrpSpPr>
        <p:grpSpPr>
          <a:xfrm>
            <a:off x="7496813" y="3833098"/>
            <a:ext cx="4707081" cy="1871023"/>
            <a:chOff x="0" y="0"/>
            <a:chExt cx="4707079" cy="1871021"/>
          </a:xfrm>
        </p:grpSpPr>
        <p:sp>
          <p:nvSpPr>
            <p:cNvPr id="136" name="Rectangle"/>
            <p:cNvSpPr/>
            <p:nvPr/>
          </p:nvSpPr>
          <p:spPr>
            <a:xfrm>
              <a:off x="0" y="0"/>
              <a:ext cx="4707079" cy="1871021"/>
            </a:xfrm>
            <a:prstGeom prst="rect">
              <a:avLst/>
            </a:prstGeom>
            <a:noFill/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defRPr sz="11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137" name="• Majority - male (90%) - RTA, no significant diff. on the side affected.…"/>
            <p:cNvSpPr txBox="1"/>
            <p:nvPr/>
          </p:nvSpPr>
          <p:spPr>
            <a:xfrm>
              <a:off x="7326" y="46405"/>
              <a:ext cx="4687859" cy="17782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57200">
                <a:defRPr sz="10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 dirty="0"/>
            </a:p>
          </p:txBody>
        </p:sp>
      </p:grpSp>
      <p:grpSp>
        <p:nvGrpSpPr>
          <p:cNvPr id="141" name="Rectangle 21"/>
          <p:cNvGrpSpPr/>
          <p:nvPr/>
        </p:nvGrpSpPr>
        <p:grpSpPr>
          <a:xfrm>
            <a:off x="7487873" y="3621653"/>
            <a:ext cx="4704844" cy="359730"/>
            <a:chOff x="0" y="0"/>
            <a:chExt cx="4704843" cy="359728"/>
          </a:xfrm>
        </p:grpSpPr>
        <p:sp>
          <p:nvSpPr>
            <p:cNvPr id="139" name="Rectangle"/>
            <p:cNvSpPr/>
            <p:nvPr/>
          </p:nvSpPr>
          <p:spPr>
            <a:xfrm>
              <a:off x="-1" y="20881"/>
              <a:ext cx="4704844" cy="317969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  <a:endParaRPr/>
            </a:p>
          </p:txBody>
        </p:sp>
        <p:sp>
          <p:nvSpPr>
            <p:cNvPr id="140" name="CONCLUSION"/>
            <p:cNvSpPr txBox="1"/>
            <p:nvPr/>
          </p:nvSpPr>
          <p:spPr>
            <a:xfrm>
              <a:off x="44510" y="-1"/>
              <a:ext cx="4615822" cy="3597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>
              <a:lvl1pPr algn="ctr">
                <a:defRPr b="1">
                  <a:solidFill>
                    <a:srgbClr val="0D0D0D"/>
                  </a:solidFill>
                  <a:latin typeface="+mj-lt"/>
                  <a:ea typeface="+mj-ea"/>
                  <a:cs typeface="+mj-cs"/>
                  <a:sym typeface="Aptos"/>
                </a:defRPr>
              </a:lvl1pPr>
            </a:lstStyle>
            <a:p>
              <a:r>
                <a:rPr lang="en-IN" dirty="0" smtClean="0"/>
                <a:t>CONCLUSION</a:t>
              </a:r>
              <a:endParaRPr dirty="0"/>
            </a:p>
          </p:txBody>
        </p:sp>
      </p:grpSp>
      <p:sp>
        <p:nvSpPr>
          <p:cNvPr id="152" name="Rectangle"/>
          <p:cNvSpPr/>
          <p:nvPr/>
        </p:nvSpPr>
        <p:spPr>
          <a:xfrm>
            <a:off x="2950731" y="1307108"/>
            <a:ext cx="4850111" cy="327786"/>
          </a:xfrm>
          <a:prstGeom prst="rect">
            <a:avLst/>
          </a:prstGeom>
          <a:solidFill>
            <a:srgbClr val="A6CAEC"/>
          </a:solidFill>
          <a:ln w="19050">
            <a:solidFill>
              <a:srgbClr val="0F465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endParaRPr/>
          </a:p>
        </p:txBody>
      </p:sp>
      <p:sp>
        <p:nvSpPr>
          <p:cNvPr id="153" name="CONCLUSION"/>
          <p:cNvSpPr txBox="1"/>
          <p:nvPr/>
        </p:nvSpPr>
        <p:spPr>
          <a:xfrm>
            <a:off x="3063284" y="1314154"/>
            <a:ext cx="4349953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>
                <a:solidFill>
                  <a:srgbClr val="0D0D0D"/>
                </a:solidFill>
                <a:latin typeface="+mj-lt"/>
                <a:ea typeface="+mj-ea"/>
                <a:cs typeface="+mj-cs"/>
                <a:sym typeface="Aptos"/>
              </a:defRPr>
            </a:lvl1pPr>
          </a:lstStyle>
          <a:p>
            <a:r>
              <a:rPr lang="en-IN" dirty="0" smtClean="0"/>
              <a:t>SURGICAL PROCEDURE</a:t>
            </a:r>
            <a:endParaRPr dirty="0"/>
          </a:p>
        </p:txBody>
      </p:sp>
      <p:grpSp>
        <p:nvGrpSpPr>
          <p:cNvPr id="156" name="Rectangle 21"/>
          <p:cNvGrpSpPr/>
          <p:nvPr/>
        </p:nvGrpSpPr>
        <p:grpSpPr>
          <a:xfrm>
            <a:off x="7489742" y="1296479"/>
            <a:ext cx="4700298" cy="386126"/>
            <a:chOff x="0" y="0"/>
            <a:chExt cx="4700296" cy="386124"/>
          </a:xfrm>
        </p:grpSpPr>
        <p:sp>
          <p:nvSpPr>
            <p:cNvPr id="154" name="Rectangle"/>
            <p:cNvSpPr/>
            <p:nvPr/>
          </p:nvSpPr>
          <p:spPr>
            <a:xfrm>
              <a:off x="-1" y="-1"/>
              <a:ext cx="4700297" cy="386125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  <a:endParaRPr/>
            </a:p>
          </p:txBody>
        </p:sp>
        <p:sp>
          <p:nvSpPr>
            <p:cNvPr id="155" name="CONCLUSION"/>
            <p:cNvSpPr txBox="1"/>
            <p:nvPr/>
          </p:nvSpPr>
          <p:spPr>
            <a:xfrm>
              <a:off x="44467" y="13368"/>
              <a:ext cx="4611360" cy="3593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>
              <a:lvl1pPr algn="ctr">
                <a:defRPr b="1">
                  <a:solidFill>
                    <a:srgbClr val="0D0D0D"/>
                  </a:solidFill>
                  <a:latin typeface="+mj-lt"/>
                  <a:ea typeface="+mj-ea"/>
                  <a:cs typeface="+mj-cs"/>
                  <a:sym typeface="Aptos"/>
                </a:defRPr>
              </a:lvl1pPr>
            </a:lstStyle>
            <a:p>
              <a:r>
                <a:t>DISCUSSION</a:t>
              </a:r>
            </a:p>
          </p:txBody>
        </p:sp>
      </p:grpSp>
      <p:grpSp>
        <p:nvGrpSpPr>
          <p:cNvPr id="161" name="Rectangle 21"/>
          <p:cNvGrpSpPr/>
          <p:nvPr/>
        </p:nvGrpSpPr>
        <p:grpSpPr>
          <a:xfrm>
            <a:off x="3007881" y="2832638"/>
            <a:ext cx="4490235" cy="370837"/>
            <a:chOff x="0" y="0"/>
            <a:chExt cx="4490233" cy="370835"/>
          </a:xfrm>
        </p:grpSpPr>
        <p:sp>
          <p:nvSpPr>
            <p:cNvPr id="159" name="Rectangle"/>
            <p:cNvSpPr/>
            <p:nvPr/>
          </p:nvSpPr>
          <p:spPr>
            <a:xfrm>
              <a:off x="0" y="7994"/>
              <a:ext cx="4471076" cy="302169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  <a:endParaRPr/>
            </a:p>
          </p:txBody>
        </p:sp>
        <p:sp>
          <p:nvSpPr>
            <p:cNvPr id="160" name="CONCLUSION"/>
            <p:cNvSpPr txBox="1"/>
            <p:nvPr/>
          </p:nvSpPr>
          <p:spPr>
            <a:xfrm>
              <a:off x="103757" y="-1"/>
              <a:ext cx="4386477" cy="3708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>
                  <a:solidFill>
                    <a:srgbClr val="0D0D0D"/>
                  </a:solidFill>
                </a:defRPr>
              </a:lvl1pPr>
            </a:lstStyle>
            <a:p>
              <a:r>
                <a:rPr dirty="0"/>
                <a:t> </a:t>
              </a:r>
              <a:r>
                <a:rPr lang="en-IN" dirty="0" smtClean="0"/>
                <a:t>RESULTS </a:t>
              </a:r>
              <a:endParaRPr dirty="0"/>
            </a:p>
          </p:txBody>
        </p:sp>
      </p:grpSp>
      <p:sp>
        <p:nvSpPr>
          <p:cNvPr id="165" name="TextBox 23"/>
          <p:cNvSpPr txBox="1"/>
          <p:nvPr/>
        </p:nvSpPr>
        <p:spPr>
          <a:xfrm>
            <a:off x="10396963" y="946657"/>
            <a:ext cx="142677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lvl1pPr>
          </a:lstStyle>
          <a:p>
            <a:r>
              <a:rPr dirty="0"/>
              <a:t>OSSAP </a:t>
            </a:r>
            <a:r>
              <a:rPr dirty="0" smtClean="0"/>
              <a:t>-</a:t>
            </a:r>
            <a:r>
              <a:rPr lang="en-IN" dirty="0" smtClean="0"/>
              <a:t>284</a:t>
            </a:r>
            <a:endParaRPr dirty="0"/>
          </a:p>
        </p:txBody>
      </p:sp>
      <p:sp>
        <p:nvSpPr>
          <p:cNvPr id="166" name="Presenter - Dr V ANJANEYA RAMESH REDDY [Post graduate], Guide - Dr V NANDAGOPAL [Associate Professor]…"/>
          <p:cNvSpPr txBox="1"/>
          <p:nvPr/>
        </p:nvSpPr>
        <p:spPr>
          <a:xfrm>
            <a:off x="1529844" y="521328"/>
            <a:ext cx="9421210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r>
              <a:rPr lang="en-IN" dirty="0" smtClean="0"/>
              <a:t>[Presenting </a:t>
            </a:r>
            <a:r>
              <a:rPr lang="en-IN" dirty="0"/>
              <a:t>Author] : </a:t>
            </a:r>
            <a:r>
              <a:rPr lang="en-IN" dirty="0" err="1"/>
              <a:t>Dr.</a:t>
            </a:r>
            <a:r>
              <a:rPr lang="en-IN" dirty="0"/>
              <a:t> B KIRAN</a:t>
            </a:r>
          </a:p>
          <a:p>
            <a:pPr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r>
              <a:rPr lang="en-IN" dirty="0" smtClean="0"/>
              <a:t>{HOD}: DR. H UMANATHA RAO [Guide</a:t>
            </a:r>
            <a:r>
              <a:rPr lang="en-IN" dirty="0"/>
              <a:t>] : </a:t>
            </a:r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Patluri</a:t>
            </a:r>
            <a:r>
              <a:rPr lang="en-IN" dirty="0"/>
              <a:t> </a:t>
            </a:r>
            <a:r>
              <a:rPr lang="en-IN" dirty="0" err="1"/>
              <a:t>Rohit</a:t>
            </a:r>
            <a:r>
              <a:rPr lang="en-IN" dirty="0"/>
              <a:t> Raj (Associate Professor)</a:t>
            </a:r>
          </a:p>
          <a:p>
            <a:pPr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Aptos"/>
              </a:defRPr>
            </a:pPr>
            <a:r>
              <a:rPr lang="en-IN" dirty="0" err="1"/>
              <a:t>Viswabharathi</a:t>
            </a:r>
            <a:r>
              <a:rPr lang="en-IN" dirty="0"/>
              <a:t> Medical College and General Hospital, Kurnool</a:t>
            </a:r>
            <a:r>
              <a:rPr lang="en-IN" dirty="0" smtClean="0"/>
              <a:t>.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0" y="1596788"/>
            <a:ext cx="2961564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Ankle fractures are common injuries needing surgical treatment. They account for 9% of all fractures, with 70–85% involving the distal fibula. Plate fixation offers rigid stability and direct </a:t>
            </a:r>
            <a:r>
              <a:rPr lang="en-US" sz="1050" dirty="0" err="1" smtClean="0"/>
              <a:t>visualization.However</a:t>
            </a:r>
            <a:r>
              <a:rPr lang="en-US" sz="1050" dirty="0"/>
              <a:t>, it is associated with wound complications and hardware </a:t>
            </a:r>
            <a:r>
              <a:rPr lang="en-US" sz="1050" dirty="0" err="1"/>
              <a:t>irritation.The</a:t>
            </a:r>
            <a:r>
              <a:rPr lang="en-US" sz="1050" dirty="0"/>
              <a:t> ideal fixation method </a:t>
            </a:r>
            <a:r>
              <a:rPr lang="en-US" sz="1050" dirty="0" smtClean="0"/>
              <a:t>remains </a:t>
            </a:r>
            <a:r>
              <a:rPr lang="en-US" sz="1050" dirty="0" err="1" smtClean="0"/>
              <a:t>controversial.Rush</a:t>
            </a:r>
            <a:r>
              <a:rPr lang="en-US" sz="1050" dirty="0" smtClean="0"/>
              <a:t> </a:t>
            </a:r>
            <a:r>
              <a:rPr lang="en-US" sz="1050" dirty="0"/>
              <a:t>pin fixation preserves periosteal blood supply and reduces infection risk but provides less rotational stability; the optimal fixation method remains debated.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82" y="3389426"/>
            <a:ext cx="941695" cy="6695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413" y="3517181"/>
            <a:ext cx="519643" cy="3997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912" y="3370857"/>
            <a:ext cx="1201003" cy="6352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531057"/>
            <a:ext cx="2988860" cy="2762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smtClean="0"/>
              <a:t> </a:t>
            </a:r>
            <a:r>
              <a:rPr lang="en-US" sz="800" dirty="0"/>
              <a:t>Study </a:t>
            </a:r>
            <a:r>
              <a:rPr lang="en-US" sz="800" dirty="0" err="1" smtClean="0"/>
              <a:t>Design:Prospective</a:t>
            </a:r>
            <a:r>
              <a:rPr lang="en-US" sz="800" dirty="0" smtClean="0"/>
              <a:t> </a:t>
            </a:r>
            <a:r>
              <a:rPr lang="en-US" sz="800" dirty="0"/>
              <a:t>comparative study.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Study </a:t>
            </a:r>
            <a:r>
              <a:rPr lang="en-US" sz="800" dirty="0" err="1" smtClean="0"/>
              <a:t>Setting:Conducted</a:t>
            </a:r>
            <a:r>
              <a:rPr lang="en-US" sz="800" dirty="0" smtClean="0"/>
              <a:t> </a:t>
            </a:r>
            <a:r>
              <a:rPr lang="en-US" sz="800" dirty="0"/>
              <a:t>at </a:t>
            </a:r>
            <a:r>
              <a:rPr lang="en-US" sz="800" dirty="0" err="1" smtClean="0"/>
              <a:t>Viswabharathi</a:t>
            </a:r>
            <a:r>
              <a:rPr lang="en-US" sz="800" dirty="0" smtClean="0"/>
              <a:t> Medical College and </a:t>
            </a:r>
            <a:r>
              <a:rPr lang="en-US" sz="800" dirty="0" err="1" smtClean="0"/>
              <a:t>Genral</a:t>
            </a:r>
            <a:r>
              <a:rPr lang="en-US" sz="800" dirty="0" smtClean="0"/>
              <a:t> Hospital , Kurnool. Study </a:t>
            </a:r>
            <a:r>
              <a:rPr lang="en-US" sz="800" dirty="0" err="1" smtClean="0"/>
              <a:t>Period:April</a:t>
            </a:r>
            <a:r>
              <a:rPr lang="en-US" sz="800" dirty="0" smtClean="0"/>
              <a:t> </a:t>
            </a:r>
            <a:r>
              <a:rPr lang="en-US" sz="800" dirty="0"/>
              <a:t>2023 to April 2024 (1-year duration).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Study </a:t>
            </a:r>
            <a:r>
              <a:rPr lang="en-US" sz="800" dirty="0" smtClean="0"/>
              <a:t>Population: Patients </a:t>
            </a:r>
            <a:r>
              <a:rPr lang="en-US" sz="800" dirty="0"/>
              <a:t>with distal fibular fractures who met the inclusion and exclusion criteria.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Sampling </a:t>
            </a:r>
            <a:r>
              <a:rPr lang="en-US" sz="800" dirty="0" smtClean="0"/>
              <a:t>Method: Purposive </a:t>
            </a:r>
            <a:r>
              <a:rPr lang="en-US" sz="800" dirty="0"/>
              <a:t>sampling was used</a:t>
            </a:r>
            <a:r>
              <a:rPr lang="en-US" sz="8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* </a:t>
            </a:r>
            <a:r>
              <a:rPr lang="en-US" sz="800" dirty="0" smtClean="0"/>
              <a:t>62 patients with </a:t>
            </a:r>
            <a:r>
              <a:rPr lang="en-US" sz="800" dirty="0"/>
              <a:t>minimum  </a:t>
            </a:r>
            <a:r>
              <a:rPr lang="en-US" sz="800" dirty="0" smtClean="0"/>
              <a:t>6-month follow-up.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Group A:with Rush </a:t>
            </a:r>
            <a:r>
              <a:rPr lang="en-US" sz="800" dirty="0"/>
              <a:t>pin fixation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Group B:with </a:t>
            </a:r>
            <a:r>
              <a:rPr lang="en-US" sz="800" dirty="0"/>
              <a:t>Plate </a:t>
            </a:r>
            <a:r>
              <a:rPr lang="en-US" sz="800" dirty="0" smtClean="0"/>
              <a:t>fixation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Inclusion </a:t>
            </a:r>
            <a:r>
              <a:rPr lang="en-US" sz="800" dirty="0"/>
              <a:t>Criteria (Short</a:t>
            </a:r>
            <a:r>
              <a:rPr lang="en-US" sz="800" dirty="0" smtClean="0"/>
              <a:t>):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 </a:t>
            </a:r>
            <a:r>
              <a:rPr lang="en-US" sz="800" dirty="0"/>
              <a:t>Age ≥ 18 years.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 </a:t>
            </a:r>
            <a:r>
              <a:rPr lang="en-US" sz="800" dirty="0"/>
              <a:t>Distal fibular fractures (distal 8 cm).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 </a:t>
            </a:r>
            <a:r>
              <a:rPr lang="en-US" sz="800" dirty="0"/>
              <a:t>Closed or </a:t>
            </a:r>
            <a:r>
              <a:rPr lang="en-US" sz="800" dirty="0" err="1"/>
              <a:t>Gustilo</a:t>
            </a:r>
            <a:r>
              <a:rPr lang="en-US" sz="800" dirty="0"/>
              <a:t>–Anderson type I fractures.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 </a:t>
            </a:r>
            <a:r>
              <a:rPr lang="en-US" sz="800" dirty="0"/>
              <a:t>Isolated or associated </a:t>
            </a:r>
            <a:r>
              <a:rPr lang="en-US" sz="800" dirty="0" err="1"/>
              <a:t>tibial</a:t>
            </a:r>
            <a:r>
              <a:rPr lang="en-US" sz="800" dirty="0"/>
              <a:t>/ankle injuries</a:t>
            </a:r>
            <a:r>
              <a:rPr lang="en-US" sz="8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Exclusion </a:t>
            </a:r>
            <a:r>
              <a:rPr lang="en-US" sz="800" dirty="0"/>
              <a:t>Criteria</a:t>
            </a:r>
            <a:r>
              <a:rPr lang="en-US" sz="800" dirty="0" smtClean="0"/>
              <a:t>: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Open </a:t>
            </a:r>
            <a:r>
              <a:rPr lang="en-US" sz="800" dirty="0"/>
              <a:t>fractures (</a:t>
            </a:r>
            <a:r>
              <a:rPr lang="en-US" sz="800" dirty="0" err="1"/>
              <a:t>Gustilo</a:t>
            </a:r>
            <a:r>
              <a:rPr lang="en-US" sz="800" dirty="0"/>
              <a:t> II &amp; III).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Medically </a:t>
            </a:r>
            <a:r>
              <a:rPr lang="en-US" sz="800" dirty="0"/>
              <a:t>unfit patients.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smtClean="0"/>
              <a:t>Age </a:t>
            </a:r>
            <a:r>
              <a:rPr lang="en-US" sz="800" dirty="0"/>
              <a:t>&lt; 18 years.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9590" y="1672035"/>
            <a:ext cx="1030148" cy="11666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6089" y="1653396"/>
            <a:ext cx="1225282" cy="118802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5141" y="1624084"/>
            <a:ext cx="1534149" cy="11737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3950" y="1670647"/>
            <a:ext cx="698830" cy="112714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88859" y="3158796"/>
            <a:ext cx="2183642" cy="187722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84558" y="3138984"/>
            <a:ext cx="2167120" cy="191068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23502" y="5188292"/>
            <a:ext cx="1275543" cy="166970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53636" y="5192795"/>
            <a:ext cx="1274690" cy="166520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09229" y="5174783"/>
            <a:ext cx="1719619" cy="168321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506269" y="1651379"/>
            <a:ext cx="4685732" cy="2054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Surgical Duration &amp; </a:t>
            </a:r>
            <a:r>
              <a:rPr lang="en-US" sz="900" dirty="0" smtClean="0"/>
              <a:t>Complications In our Study Findings: CRIF </a:t>
            </a:r>
            <a:r>
              <a:rPr lang="en-US" sz="900" dirty="0"/>
              <a:t>(Rush pin) group had shorter surgical duration – 80.6% completed within 45 </a:t>
            </a:r>
            <a:r>
              <a:rPr lang="en-US" sz="900" dirty="0" smtClean="0"/>
              <a:t>minutes. No </a:t>
            </a:r>
            <a:r>
              <a:rPr lang="en-US" sz="900" dirty="0"/>
              <a:t>intraoperative complications or DVT/implant failures in either </a:t>
            </a:r>
            <a:r>
              <a:rPr lang="en-US" sz="900" dirty="0" smtClean="0"/>
              <a:t>group. Wound </a:t>
            </a:r>
            <a:r>
              <a:rPr lang="en-US" sz="900" dirty="0"/>
              <a:t>infection and delayed union (3.2%) occurred only in the ORIF group, but not statistically significant (p = 0.34</a:t>
            </a:r>
            <a:r>
              <a:rPr lang="en-US" sz="900" dirty="0" smtClean="0"/>
              <a:t>). Similar </a:t>
            </a:r>
            <a:r>
              <a:rPr lang="en-US" sz="900" dirty="0"/>
              <a:t>findings reported in </a:t>
            </a:r>
            <a:r>
              <a:rPr lang="en-US" sz="900" dirty="0" err="1"/>
              <a:t>Mauffrey</a:t>
            </a:r>
            <a:r>
              <a:rPr lang="en-US" sz="900" dirty="0"/>
              <a:t> et al. (2012) and Kim et al. (2016) report shorter operative times and fewer wound complications with intramedullary fixation (like Rush pin) compared to plating. Functional Outcomes (FAAM Scores)</a:t>
            </a:r>
          </a:p>
          <a:p>
            <a:r>
              <a:rPr lang="en-US" sz="900" dirty="0"/>
              <a:t>In our Study Findings:</a:t>
            </a:r>
          </a:p>
          <a:p>
            <a:r>
              <a:rPr lang="en-US" sz="900" dirty="0"/>
              <a:t>1-month: CRIF significantly better (p = 0.008</a:t>
            </a:r>
            <a:r>
              <a:rPr lang="en-US" sz="900" dirty="0" smtClean="0"/>
              <a:t>). 3-month</a:t>
            </a:r>
            <a:r>
              <a:rPr lang="en-US" sz="900" dirty="0"/>
              <a:t>: CRIF still superior (p &lt; 0.001</a:t>
            </a:r>
            <a:r>
              <a:rPr lang="en-US" sz="900" dirty="0" smtClean="0"/>
              <a:t>).6-month</a:t>
            </a:r>
            <a:r>
              <a:rPr lang="en-US" sz="900" dirty="0"/>
              <a:t>: CRIF slightly better, but not statistically significant (p = 0.058). Similar findings reported </a:t>
            </a:r>
            <a:r>
              <a:rPr lang="en-US" sz="900" dirty="0" smtClean="0"/>
              <a:t>in Bhandari </a:t>
            </a:r>
            <a:r>
              <a:rPr lang="en-US" sz="900" dirty="0"/>
              <a:t>et al. (2001): ORIF provides good long-term results, but early recovery is delayed due to wound healing </a:t>
            </a:r>
            <a:r>
              <a:rPr lang="en-US" sz="900" dirty="0" smtClean="0"/>
              <a:t>time Bugler </a:t>
            </a:r>
            <a:r>
              <a:rPr lang="en-US" sz="900" dirty="0"/>
              <a:t>et al. (2012): Patients treated with intramedullary devices like Rush pins had faster early mobilization and improved early functional scores</a:t>
            </a:r>
            <a:r>
              <a:rPr lang="en-US" sz="1050" dirty="0"/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7211" y="3974743"/>
            <a:ext cx="425810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Both Rush pin and plate fixation are effective in managing distal fibular </a:t>
            </a:r>
            <a:r>
              <a:rPr lang="en-US" sz="1050" dirty="0" smtClean="0"/>
              <a:t> fractures </a:t>
            </a:r>
            <a:r>
              <a:rPr lang="en-US" sz="1050" dirty="0"/>
              <a:t>with satisfactory clinical and radiological </a:t>
            </a:r>
            <a:r>
              <a:rPr lang="en-US" sz="1050" dirty="0" smtClean="0"/>
              <a:t>outcomes. Rush </a:t>
            </a:r>
            <a:r>
              <a:rPr lang="en-US" sz="1050" dirty="0"/>
              <a:t>pin fixation is minimally invasive, with reduced soft tissue complications 	and shorter operative </a:t>
            </a:r>
            <a:r>
              <a:rPr lang="en-US" sz="1050" dirty="0" err="1"/>
              <a:t>time.Plate</a:t>
            </a:r>
            <a:r>
              <a:rPr lang="en-US" sz="1050" dirty="0"/>
              <a:t> fixation provides rigid stability and is better </a:t>
            </a:r>
            <a:r>
              <a:rPr lang="en-US" sz="1050" dirty="0" smtClean="0"/>
              <a:t>suited </a:t>
            </a:r>
            <a:r>
              <a:rPr lang="en-US" sz="1050" dirty="0"/>
              <a:t>for comminuted or unstable </a:t>
            </a:r>
            <a:r>
              <a:rPr lang="en-US" sz="1050" dirty="0" smtClean="0"/>
              <a:t>fractures. Functional </a:t>
            </a:r>
            <a:r>
              <a:rPr lang="en-US" sz="1050" dirty="0"/>
              <a:t>outcomes (e.g., AOFAS scores) were comparable in both groups in 	simple fracture </a:t>
            </a:r>
            <a:r>
              <a:rPr lang="en-US" sz="1050" dirty="0" err="1"/>
              <a:t>patterns.The</a:t>
            </a:r>
            <a:r>
              <a:rPr lang="en-US" sz="1050" dirty="0"/>
              <a:t> choice of technique should be based on fracture </a:t>
            </a:r>
            <a:r>
              <a:rPr lang="en-US" sz="1050" dirty="0" smtClean="0"/>
              <a:t> type</a:t>
            </a:r>
            <a:r>
              <a:rPr lang="en-US" sz="1050" dirty="0"/>
              <a:t>, soft tissue status, and surgeon’s judgment</a:t>
            </a:r>
            <a:r>
              <a:rPr lang="en-US" dirty="0"/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24465" y="601571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Predominantly </a:t>
            </a:r>
            <a:r>
              <a:rPr lang="en-US" sz="1200" dirty="0"/>
              <a:t>RTA-related fractures.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dirty="0"/>
              <a:t>No blinding, risk of assessment bias.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dirty="0"/>
              <a:t>Limited radiological evaluation.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518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Gordita </vt:lpstr>
      <vt:lpstr>Helvetica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Microsoft account</cp:lastModifiedBy>
  <cp:revision>9</cp:revision>
  <dcterms:modified xsi:type="dcterms:W3CDTF">2026-02-08T08:07:27Z</dcterms:modified>
</cp:coreProperties>
</file>