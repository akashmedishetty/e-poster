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61" r:id="rId1"/>
  </p:sldMasterIdLst>
  <p:notesMasterIdLst>
    <p:notesMasterId r:id="rId13"/>
  </p:notesMasterIdLst>
  <p:sldIdLst>
    <p:sldId id="256" r:id="rId2"/>
    <p:sldId id="257" r:id="rId3"/>
    <p:sldId id="260" r:id="rId4"/>
    <p:sldId id="262" r:id="rId5"/>
    <p:sldId id="263" r:id="rId6"/>
    <p:sldId id="264" r:id="rId7"/>
    <p:sldId id="268" r:id="rId8"/>
    <p:sldId id="269" r:id="rId9"/>
    <p:sldId id="273" r:id="rId10"/>
    <p:sldId id="271" r:id="rId11"/>
    <p:sldId id="272" r:id="rId12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1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0651C3A-4460-11DB-9652-00E08161165F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1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14152-32B7-4AEE-A7D6-5088537DDF9F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F5189-A4D0-4352-8E2E-F4467BF60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F5189-A4D0-4352-8E2E-F4467BF60A8C}" type="slidenum">
              <a:rPr lang="en-IN" smtClean="0"/>
              <a:pPr/>
              <a:t>6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A4A32C-F48C-4BC0-B923-C80C3F01A4A5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552B65C-755E-40A2-8316-0565C00AA8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A4A32C-F48C-4BC0-B923-C80C3F01A4A5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552B65C-755E-40A2-8316-0565C00AA8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687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1C422EEB-C18E-401D-4D14-F61D82881EC6}"/>
              </a:ext>
            </a:extLst>
          </p:cNvPr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5A44D43F-1B53-AAA9-B551-4D46D6B629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9F3FAB85-38C0-CBC3-894D-F14B098366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6AAAF0D4-F34A-1980-C65B-0B02059139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94EFB44A-ED67-5BFE-548D-FCB7384C661F}"/>
              </a:ext>
            </a:extLst>
          </p:cNvPr>
          <p:cNvSpPr txBox="1"/>
          <p:nvPr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BA2ED9E8-378E-74DB-69F2-37A19A83672D}"/>
              </a:ext>
            </a:extLst>
          </p:cNvPr>
          <p:cNvSpPr txBox="1"/>
          <p:nvPr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CE2363BD-0C06-5137-F50F-3CB1079D47C5}"/>
              </a:ext>
            </a:extLst>
          </p:cNvPr>
          <p:cNvSpPr txBox="1"/>
          <p:nvPr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="" xmlns:a16="http://schemas.microsoft.com/office/drawing/2014/main" id="{A034863C-B4F3-2506-7721-DA2D88319DB1}"/>
              </a:ext>
            </a:extLst>
          </p:cNvPr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FUNCTIONAL OUTCOME OF PEDIATRIC BOTH BONE FOREARM FRACTURES TREATED WITH ELASTIC STABLE INTRAMEDULLARY NAILING</a:t>
            </a:r>
            <a:endParaRPr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Google Shape;26;p1"/>
          <p:cNvSpPr txBox="1">
            <a:spLocks noGrp="1"/>
          </p:cNvSpPr>
          <p:nvPr>
            <p:ph type="subTitle" idx="1"/>
          </p:nvPr>
        </p:nvSpPr>
        <p:spPr>
          <a:xfrm>
            <a:off x="1153554" y="3602058"/>
            <a:ext cx="9683262" cy="28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590" dirty="0"/>
              <a:t> 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PRESENTER:DR</a:t>
            </a:r>
            <a:r>
              <a:rPr lang="en-US" dirty="0">
                <a:latin typeface="Arial" pitchFamily="34" charset="0"/>
                <a:cs typeface="Arial" pitchFamily="34" charset="0"/>
              </a:rPr>
              <a:t>.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GAJULA VENKATA SAI  ABHIRAJ</a:t>
            </a:r>
          </a:p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MODERATOR: DR. P. SUJITH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DEVA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PRASAD, DNB</a:t>
            </a:r>
          </a:p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PROFESSOR AND HOD</a:t>
            </a:r>
            <a:endParaRPr dirty="0">
              <a:latin typeface="Arial" pitchFamily="34" charset="0"/>
              <a:cs typeface="Arial" pitchFamily="34" charset="0"/>
            </a:endParaRPr>
          </a:p>
          <a:p>
            <a:pPr marL="0" lvl="0" indent="0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SANTHIRAM MEDICAL </a:t>
            </a:r>
            <a:r>
              <a:rPr lang="en-US" dirty="0">
                <a:latin typeface="Arial" pitchFamily="34" charset="0"/>
                <a:cs typeface="Arial" pitchFamily="34" charset="0"/>
              </a:rPr>
              <a:t>COLLEGE AND GENERAL HOSPITAL </a:t>
            </a:r>
            <a:endParaRPr dirty="0">
              <a:latin typeface="Arial" pitchFamily="34" charset="0"/>
              <a:cs typeface="Arial" pitchFamily="34" charset="0"/>
            </a:endParaRPr>
          </a:p>
          <a:p>
            <a:pPr marL="0" lvl="0" indent="0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NANDYAL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302" y="1266092"/>
            <a:ext cx="8512126" cy="551840"/>
          </a:xfrm>
        </p:spPr>
        <p:txBody>
          <a:bodyPr/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INTRODUCTION: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645920"/>
            <a:ext cx="11535508" cy="3841725"/>
          </a:xfrm>
        </p:spPr>
        <p:txBody>
          <a:bodyPr>
            <a:noAutofit/>
          </a:bodyPr>
          <a:lstStyle/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Diaphyseal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fractures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of the radius and ulna are one of the most common in the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pediatric population.</a:t>
            </a:r>
          </a:p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Fractures of forearm of children are different than adults. Periosteum is thick and less likely to be torn.</a:t>
            </a:r>
          </a:p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The titanium elastic nailing system (TENS) provides the following four properties: flexural stability, axial stability, translational stability, and rotational stability. The elastic stable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intramedullary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nailing has benefits of immediate stability to the involved bone segment which permits early mobilization and returns to normal activities with low complication rate.</a:t>
            </a:r>
          </a:p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The rule of thirds: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If the fracture of the shaft is proximal to the insertion of the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pronator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teres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, the forearm should be held in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supination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If the fracture is distal to the insertion of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pronator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teres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midprone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position is advised.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="" xmlns:p14="http://schemas.microsoft.com/office/powerpoint/2010/main" val="379389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AIMS AND OBJECTIVES: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 study outcome of management of both bone forearm fractures by closed reduction and internal fixation with Titanium elastic nailing system (TENS).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754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6" y="1294230"/>
            <a:ext cx="10551942" cy="480866"/>
          </a:xfrm>
        </p:spPr>
        <p:txBody>
          <a:bodyPr/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METHODS AND MATERIALS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>
                <a:latin typeface="Arial" pitchFamily="34" charset="0"/>
                <a:cs typeface="Arial" pitchFamily="34" charset="0"/>
              </a:rPr>
              <a:t> A total of 20 patients aged 5-15 years with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closed </a:t>
            </a:r>
            <a:r>
              <a:rPr lang="en-US" sz="2200" dirty="0" err="1" smtClean="0">
                <a:latin typeface="Arial" pitchFamily="34" charset="0"/>
                <a:cs typeface="Arial" pitchFamily="34" charset="0"/>
              </a:rPr>
              <a:t>diaphyseal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fracture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of both radius and ulna were managed by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closed reduction and internal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fixation with titanium elastic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nails under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image intensifier was achieved in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all of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the patients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r>
              <a:rPr lang="en-US" sz="2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/>
            <a:endParaRPr lang="en-US" sz="2200" dirty="0" smtClean="0">
              <a:latin typeface="Arial" pitchFamily="34" charset="0"/>
              <a:cs typeface="Arial" pitchFamily="34" charset="0"/>
            </a:endParaRP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61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Results were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analysed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reference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 age, sex, mode of injury, time of union and complications.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2780251911"/>
              </p:ext>
            </p:extLst>
          </p:nvPr>
        </p:nvGraphicFramePr>
        <p:xfrm>
          <a:off x="646306" y="2872429"/>
          <a:ext cx="4432140" cy="944880"/>
        </p:xfrm>
        <a:graphic>
          <a:graphicData uri="http://schemas.openxmlformats.org/drawingml/2006/table">
            <a:tbl>
              <a:tblPr/>
              <a:tblGrid>
                <a:gridCol w="4432140">
                  <a:extLst>
                    <a:ext uri="{9D8B030D-6E8A-4147-A177-3AD203B41FA5}">
                      <a16:colId xmlns="" xmlns:a16="http://schemas.microsoft.com/office/drawing/2014/main" val="953216065"/>
                    </a:ext>
                  </a:extLst>
                </a:gridCol>
              </a:tblGrid>
              <a:tr h="495921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TABLE:1   AGE DISTRIBUTION</a:t>
                      </a:r>
                      <a:endParaRPr lang="en-US" sz="2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99229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01349187"/>
              </p:ext>
            </p:extLst>
          </p:nvPr>
        </p:nvGraphicFramePr>
        <p:xfrm>
          <a:off x="6963516" y="2926136"/>
          <a:ext cx="4526433" cy="944880"/>
        </p:xfrm>
        <a:graphic>
          <a:graphicData uri="http://schemas.openxmlformats.org/drawingml/2006/table">
            <a:tbl>
              <a:tblPr/>
              <a:tblGrid>
                <a:gridCol w="4526433">
                  <a:extLst>
                    <a:ext uri="{9D8B030D-6E8A-4147-A177-3AD203B41FA5}">
                      <a16:colId xmlns="" xmlns:a16="http://schemas.microsoft.com/office/drawing/2014/main" val="2657554434"/>
                    </a:ext>
                  </a:extLst>
                </a:gridCol>
              </a:tblGrid>
              <a:tr h="497365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TABLE</a:t>
                      </a:r>
                      <a:r>
                        <a:rPr lang="en-US" sz="2800" baseline="0" dirty="0" smtClean="0"/>
                        <a:t> :2   SEX DISTRIBUTION</a:t>
                      </a:r>
                      <a:endParaRPr lang="en-US" sz="2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1604091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091597059"/>
              </p:ext>
            </p:extLst>
          </p:nvPr>
        </p:nvGraphicFramePr>
        <p:xfrm>
          <a:off x="660377" y="3967374"/>
          <a:ext cx="4389936" cy="231421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24632">
                  <a:extLst>
                    <a:ext uri="{9D8B030D-6E8A-4147-A177-3AD203B41FA5}">
                      <a16:colId xmlns="" xmlns:a16="http://schemas.microsoft.com/office/drawing/2014/main" val="3176563216"/>
                    </a:ext>
                  </a:extLst>
                </a:gridCol>
                <a:gridCol w="1778929">
                  <a:extLst>
                    <a:ext uri="{9D8B030D-6E8A-4147-A177-3AD203B41FA5}">
                      <a16:colId xmlns="" xmlns:a16="http://schemas.microsoft.com/office/drawing/2014/main" val="1375946983"/>
                    </a:ext>
                  </a:extLst>
                </a:gridCol>
                <a:gridCol w="1286375">
                  <a:extLst>
                    <a:ext uri="{9D8B030D-6E8A-4147-A177-3AD203B41FA5}">
                      <a16:colId xmlns="" xmlns:a16="http://schemas.microsoft.com/office/drawing/2014/main" val="1921379191"/>
                    </a:ext>
                  </a:extLst>
                </a:gridCol>
              </a:tblGrid>
              <a:tr h="590544">
                <a:tc>
                  <a:txBody>
                    <a:bodyPr/>
                    <a:lstStyle/>
                    <a:p>
                      <a:r>
                        <a:rPr lang="en-US" dirty="0" smtClean="0"/>
                        <a:t>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r>
                        <a:rPr lang="en-US" baseline="0" dirty="0" smtClean="0"/>
                        <a:t> OF PATIENTS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34319964"/>
                  </a:ext>
                </a:extLst>
              </a:tr>
              <a:tr h="558046">
                <a:tc>
                  <a:txBody>
                    <a:bodyPr/>
                    <a:lstStyle/>
                    <a:p>
                      <a:r>
                        <a:rPr lang="en-US" dirty="0" smtClean="0"/>
                        <a:t>5-10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40692051"/>
                  </a:ext>
                </a:extLst>
              </a:tr>
              <a:tr h="558046">
                <a:tc>
                  <a:txBody>
                    <a:bodyPr/>
                    <a:lstStyle/>
                    <a:p>
                      <a:r>
                        <a:rPr lang="en-US" dirty="0" smtClean="0"/>
                        <a:t>11-15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92512968"/>
                  </a:ext>
                </a:extLst>
              </a:tr>
              <a:tr h="558046"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962808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024774413"/>
              </p:ext>
            </p:extLst>
          </p:nvPr>
        </p:nvGraphicFramePr>
        <p:xfrm>
          <a:off x="6935383" y="3991645"/>
          <a:ext cx="4515727" cy="240187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06405">
                  <a:extLst>
                    <a:ext uri="{9D8B030D-6E8A-4147-A177-3AD203B41FA5}">
                      <a16:colId xmlns="" xmlns:a16="http://schemas.microsoft.com/office/drawing/2014/main" val="1488536112"/>
                    </a:ext>
                  </a:extLst>
                </a:gridCol>
                <a:gridCol w="1907846">
                  <a:extLst>
                    <a:ext uri="{9D8B030D-6E8A-4147-A177-3AD203B41FA5}">
                      <a16:colId xmlns="" xmlns:a16="http://schemas.microsoft.com/office/drawing/2014/main" val="3385549454"/>
                    </a:ext>
                  </a:extLst>
                </a:gridCol>
                <a:gridCol w="1301476">
                  <a:extLst>
                    <a:ext uri="{9D8B030D-6E8A-4147-A177-3AD203B41FA5}">
                      <a16:colId xmlns="" xmlns:a16="http://schemas.microsoft.com/office/drawing/2014/main" val="3798788610"/>
                    </a:ext>
                  </a:extLst>
                </a:gridCol>
              </a:tblGrid>
              <a:tr h="633361">
                <a:tc>
                  <a:txBody>
                    <a:bodyPr/>
                    <a:lstStyle/>
                    <a:p>
                      <a:r>
                        <a:rPr lang="en-US" dirty="0" smtClean="0"/>
                        <a:t>SEX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</a:t>
                      </a:r>
                      <a:r>
                        <a:rPr lang="en-US" baseline="0" dirty="0" smtClean="0"/>
                        <a:t> PATIENTS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81647373"/>
                  </a:ext>
                </a:extLst>
              </a:tr>
              <a:tr h="587264">
                <a:tc>
                  <a:txBody>
                    <a:bodyPr/>
                    <a:lstStyle/>
                    <a:p>
                      <a:r>
                        <a:rPr lang="en-US" dirty="0" smtClean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64609578"/>
                  </a:ext>
                </a:extLst>
              </a:tr>
              <a:tr h="587264">
                <a:tc>
                  <a:txBody>
                    <a:bodyPr/>
                    <a:lstStyle/>
                    <a:p>
                      <a:r>
                        <a:rPr lang="en-US" dirty="0" smtClean="0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403625434"/>
                  </a:ext>
                </a:extLst>
              </a:tr>
              <a:tr h="587264"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64072570"/>
                  </a:ext>
                </a:extLst>
              </a:tr>
            </a:tbl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8947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995688408"/>
              </p:ext>
            </p:extLst>
          </p:nvPr>
        </p:nvGraphicFramePr>
        <p:xfrm>
          <a:off x="337628" y="2363170"/>
          <a:ext cx="4771534" cy="1737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590511">
                  <a:extLst>
                    <a:ext uri="{9D8B030D-6E8A-4147-A177-3AD203B41FA5}">
                      <a16:colId xmlns="" xmlns:a16="http://schemas.microsoft.com/office/drawing/2014/main" val="791557202"/>
                    </a:ext>
                  </a:extLst>
                </a:gridCol>
                <a:gridCol w="1832544">
                  <a:extLst>
                    <a:ext uri="{9D8B030D-6E8A-4147-A177-3AD203B41FA5}">
                      <a16:colId xmlns="" xmlns:a16="http://schemas.microsoft.com/office/drawing/2014/main" val="1280841821"/>
                    </a:ext>
                  </a:extLst>
                </a:gridCol>
                <a:gridCol w="1348479">
                  <a:extLst>
                    <a:ext uri="{9D8B030D-6E8A-4147-A177-3AD203B41FA5}">
                      <a16:colId xmlns="" xmlns:a16="http://schemas.microsoft.com/office/drawing/2014/main" val="397123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MODE OF</a:t>
                      </a:r>
                      <a:r>
                        <a:rPr lang="en-US" baseline="0" dirty="0" smtClean="0"/>
                        <a:t> INJURY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r>
                        <a:rPr lang="en-US" baseline="0" dirty="0" smtClean="0"/>
                        <a:t> OF PATIENTS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8346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FALL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63334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SPORTS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46912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RTA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74000513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2145172643"/>
              </p:ext>
            </p:extLst>
          </p:nvPr>
        </p:nvGraphicFramePr>
        <p:xfrm>
          <a:off x="253225" y="1794807"/>
          <a:ext cx="5120634" cy="457200"/>
        </p:xfrm>
        <a:graphic>
          <a:graphicData uri="http://schemas.openxmlformats.org/drawingml/2006/table">
            <a:tbl>
              <a:tblPr/>
              <a:tblGrid>
                <a:gridCol w="5120634">
                  <a:extLst>
                    <a:ext uri="{9D8B030D-6E8A-4147-A177-3AD203B41FA5}">
                      <a16:colId xmlns="" xmlns:a16="http://schemas.microsoft.com/office/drawing/2014/main" val="21844807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itchFamily="34" charset="0"/>
                          <a:cs typeface="Arial" pitchFamily="34" charset="0"/>
                        </a:rPr>
                        <a:t>TABLE</a:t>
                      </a:r>
                      <a:r>
                        <a:rPr lang="en-US" sz="2400" baseline="0" dirty="0" smtClean="0">
                          <a:latin typeface="Arial" pitchFamily="34" charset="0"/>
                          <a:cs typeface="Arial" pitchFamily="34" charset="0"/>
                        </a:rPr>
                        <a:t> : 3 MODE OF INJURY</a:t>
                      </a:r>
                      <a:endParaRPr lang="en-US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2710904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26311403"/>
              </p:ext>
            </p:extLst>
          </p:nvPr>
        </p:nvGraphicFramePr>
        <p:xfrm>
          <a:off x="6372673" y="1814661"/>
          <a:ext cx="5341200" cy="21031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80400">
                  <a:extLst>
                    <a:ext uri="{9D8B030D-6E8A-4147-A177-3AD203B41FA5}">
                      <a16:colId xmlns="" xmlns:a16="http://schemas.microsoft.com/office/drawing/2014/main" val="3937592228"/>
                    </a:ext>
                  </a:extLst>
                </a:gridCol>
                <a:gridCol w="2091969">
                  <a:extLst>
                    <a:ext uri="{9D8B030D-6E8A-4147-A177-3AD203B41FA5}">
                      <a16:colId xmlns="" xmlns:a16="http://schemas.microsoft.com/office/drawing/2014/main" val="26288045"/>
                    </a:ext>
                  </a:extLst>
                </a:gridCol>
                <a:gridCol w="1468831">
                  <a:extLst>
                    <a:ext uri="{9D8B030D-6E8A-4147-A177-3AD203B41FA5}">
                      <a16:colId xmlns="" xmlns:a16="http://schemas.microsoft.com/office/drawing/2014/main" val="451921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TIME</a:t>
                      </a:r>
                      <a:r>
                        <a:rPr lang="en-US" baseline="0" dirty="0" smtClean="0"/>
                        <a:t> OF UNION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r>
                        <a:rPr lang="en-US" baseline="0" dirty="0" smtClean="0"/>
                        <a:t> OF PATIENTS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23367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&lt;10 WEEKS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0757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10-12 WEEKS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95980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&gt;12 WEEKS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13011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1716413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991525413"/>
              </p:ext>
            </p:extLst>
          </p:nvPr>
        </p:nvGraphicFramePr>
        <p:xfrm>
          <a:off x="5945934" y="1350497"/>
          <a:ext cx="6246066" cy="406252"/>
        </p:xfrm>
        <a:graphic>
          <a:graphicData uri="http://schemas.openxmlformats.org/drawingml/2006/table">
            <a:tbl>
              <a:tblPr/>
              <a:tblGrid>
                <a:gridCol w="6246066">
                  <a:extLst>
                    <a:ext uri="{9D8B030D-6E8A-4147-A177-3AD203B41FA5}">
                      <a16:colId xmlns="" xmlns:a16="http://schemas.microsoft.com/office/drawing/2014/main" val="1963902964"/>
                    </a:ext>
                  </a:extLst>
                </a:gridCol>
              </a:tblGrid>
              <a:tr h="40625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TABLE :4 TIME OF  FRACTURE UNION 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982245475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659153341"/>
              </p:ext>
            </p:extLst>
          </p:nvPr>
        </p:nvGraphicFramePr>
        <p:xfrm>
          <a:off x="126612" y="4278164"/>
          <a:ext cx="4571997" cy="536713"/>
        </p:xfrm>
        <a:graphic>
          <a:graphicData uri="http://schemas.openxmlformats.org/drawingml/2006/table">
            <a:tbl>
              <a:tblPr/>
              <a:tblGrid>
                <a:gridCol w="4571997">
                  <a:extLst>
                    <a:ext uri="{9D8B030D-6E8A-4147-A177-3AD203B41FA5}">
                      <a16:colId xmlns="" xmlns:a16="http://schemas.microsoft.com/office/drawing/2014/main" val="154211546"/>
                    </a:ext>
                  </a:extLst>
                </a:gridCol>
              </a:tblGrid>
              <a:tr h="536713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Arial" pitchFamily="34" charset="0"/>
                          <a:cs typeface="Arial" pitchFamily="34" charset="0"/>
                        </a:rPr>
                        <a:t>TABLE:5 COMPLICATIONS</a:t>
                      </a:r>
                      <a:endParaRPr lang="en-US" sz="2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197547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5337869"/>
              </p:ext>
            </p:extLst>
          </p:nvPr>
        </p:nvGraphicFramePr>
        <p:xfrm>
          <a:off x="5359782" y="3967095"/>
          <a:ext cx="7272997" cy="491385"/>
        </p:xfrm>
        <a:graphic>
          <a:graphicData uri="http://schemas.openxmlformats.org/drawingml/2006/table">
            <a:tbl>
              <a:tblPr/>
              <a:tblGrid>
                <a:gridCol w="7272997">
                  <a:extLst>
                    <a:ext uri="{9D8B030D-6E8A-4147-A177-3AD203B41FA5}">
                      <a16:colId xmlns="" xmlns:a16="http://schemas.microsoft.com/office/drawing/2014/main" val="4251713849"/>
                    </a:ext>
                  </a:extLst>
                </a:gridCol>
              </a:tblGrid>
              <a:tr h="491385"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latin typeface="Arial" pitchFamily="34" charset="0"/>
                          <a:cs typeface="Arial" pitchFamily="34" charset="0"/>
                        </a:rPr>
                        <a:t>TABLE:6 RESULTS</a:t>
                      </a:r>
                      <a:r>
                        <a:rPr lang="en-US" sz="2100" baseline="0" dirty="0" smtClean="0">
                          <a:latin typeface="Arial" pitchFamily="34" charset="0"/>
                          <a:cs typeface="Arial" pitchFamily="34" charset="0"/>
                        </a:rPr>
                        <a:t> BASED ON PRICE et.al  CRITERIA</a:t>
                      </a:r>
                      <a:endParaRPr lang="en-US" sz="2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20343338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21127208"/>
              </p:ext>
            </p:extLst>
          </p:nvPr>
        </p:nvGraphicFramePr>
        <p:xfrm>
          <a:off x="126611" y="4877752"/>
          <a:ext cx="5430130" cy="177240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29040">
                  <a:extLst>
                    <a:ext uri="{9D8B030D-6E8A-4147-A177-3AD203B41FA5}">
                      <a16:colId xmlns="" xmlns:a16="http://schemas.microsoft.com/office/drawing/2014/main" val="3509871577"/>
                    </a:ext>
                  </a:extLst>
                </a:gridCol>
                <a:gridCol w="2142541">
                  <a:extLst>
                    <a:ext uri="{9D8B030D-6E8A-4147-A177-3AD203B41FA5}">
                      <a16:colId xmlns="" xmlns:a16="http://schemas.microsoft.com/office/drawing/2014/main" val="3566047449"/>
                    </a:ext>
                  </a:extLst>
                </a:gridCol>
                <a:gridCol w="1658549">
                  <a:extLst>
                    <a:ext uri="{9D8B030D-6E8A-4147-A177-3AD203B41FA5}">
                      <a16:colId xmlns="" xmlns:a16="http://schemas.microsoft.com/office/drawing/2014/main" val="2223043718"/>
                    </a:ext>
                  </a:extLst>
                </a:gridCol>
              </a:tblGrid>
              <a:tr h="492247">
                <a:tc>
                  <a:txBody>
                    <a:bodyPr/>
                    <a:lstStyle/>
                    <a:p>
                      <a:r>
                        <a:rPr lang="en-US" dirty="0" smtClean="0"/>
                        <a:t>COMPLICATIONS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r>
                        <a:rPr lang="en-US" baseline="0" dirty="0" smtClean="0"/>
                        <a:t> OF PATIENTS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3521531"/>
                  </a:ext>
                </a:extLst>
              </a:tr>
              <a:tr h="492247">
                <a:tc>
                  <a:txBody>
                    <a:bodyPr/>
                    <a:lstStyle/>
                    <a:p>
                      <a:r>
                        <a:rPr lang="en-US" dirty="0" smtClean="0"/>
                        <a:t>INFECTION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31295762"/>
                  </a:ext>
                </a:extLst>
              </a:tr>
              <a:tr h="492247">
                <a:tc>
                  <a:txBody>
                    <a:bodyPr/>
                    <a:lstStyle/>
                    <a:p>
                      <a:r>
                        <a:rPr lang="en-US" dirty="0" smtClean="0"/>
                        <a:t>REFRACTURE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4592792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535604404"/>
              </p:ext>
            </p:extLst>
          </p:nvPr>
        </p:nvGraphicFramePr>
        <p:xfrm>
          <a:off x="6147581" y="4501658"/>
          <a:ext cx="5739616" cy="24688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13206">
                  <a:extLst>
                    <a:ext uri="{9D8B030D-6E8A-4147-A177-3AD203B41FA5}">
                      <a16:colId xmlns="" xmlns:a16="http://schemas.microsoft.com/office/drawing/2014/main" val="2063778197"/>
                    </a:ext>
                  </a:extLst>
                </a:gridCol>
                <a:gridCol w="2173151">
                  <a:extLst>
                    <a:ext uri="{9D8B030D-6E8A-4147-A177-3AD203B41FA5}">
                      <a16:colId xmlns="" xmlns:a16="http://schemas.microsoft.com/office/drawing/2014/main" val="2034278342"/>
                    </a:ext>
                  </a:extLst>
                </a:gridCol>
                <a:gridCol w="1653259">
                  <a:extLst>
                    <a:ext uri="{9D8B030D-6E8A-4147-A177-3AD203B41FA5}">
                      <a16:colId xmlns="" xmlns:a16="http://schemas.microsoft.com/office/drawing/2014/main" val="2311666661"/>
                    </a:ext>
                  </a:extLst>
                </a:gridCol>
              </a:tblGrid>
              <a:tr h="552546">
                <a:tc>
                  <a:txBody>
                    <a:bodyPr/>
                    <a:lstStyle/>
                    <a:p>
                      <a:r>
                        <a:rPr lang="en-US" dirty="0" smtClean="0"/>
                        <a:t>RESULTS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PATIENTS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90645301"/>
                  </a:ext>
                </a:extLst>
              </a:tr>
              <a:tr h="315741">
                <a:tc>
                  <a:txBody>
                    <a:bodyPr/>
                    <a:lstStyle/>
                    <a:p>
                      <a:r>
                        <a:rPr lang="en-US" dirty="0" smtClean="0"/>
                        <a:t>EXCELLENT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1589546"/>
                  </a:ext>
                </a:extLst>
              </a:tr>
              <a:tr h="315741">
                <a:tc>
                  <a:txBody>
                    <a:bodyPr/>
                    <a:lstStyle/>
                    <a:p>
                      <a:r>
                        <a:rPr lang="en-US" dirty="0" smtClean="0"/>
                        <a:t>GOOD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71368941"/>
                  </a:ext>
                </a:extLst>
              </a:tr>
              <a:tr h="315741">
                <a:tc>
                  <a:txBody>
                    <a:bodyPr/>
                    <a:lstStyle/>
                    <a:p>
                      <a:r>
                        <a:rPr lang="en-US" dirty="0" smtClean="0"/>
                        <a:t>FAIR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29400440"/>
                  </a:ext>
                </a:extLst>
              </a:tr>
              <a:tr h="315741">
                <a:tc>
                  <a:txBody>
                    <a:bodyPr/>
                    <a:lstStyle/>
                    <a:p>
                      <a:r>
                        <a:rPr lang="en-US" dirty="0" smtClean="0"/>
                        <a:t>POOR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719496607"/>
                  </a:ext>
                </a:extLst>
              </a:tr>
              <a:tr h="315741"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81940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901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997" y="1307666"/>
            <a:ext cx="10515600" cy="1325563"/>
          </a:xfrm>
        </p:spPr>
        <p:txBody>
          <a:bodyPr/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CONCLUSION: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Better functional outcome with less complications were achieved with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elastic stable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intramedullary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nailing with Titanium elastic nailing system (TENS).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Advantages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of elastic nailing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in pediatric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forearm fractures is that it facilitates biological fixation of the fracture and promotes early fracture union. 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need for near perfect anatomical alignment is not always necessary because of the excellent remodeling in the growing bone of child, and hence open reduction is rarely indicated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design of the Elastic nails does not interfere with periosteal circulation to the extent the plating does so, early union takes place and postoperative osteoporosis does not occur.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7077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689371431"/>
              </p:ext>
            </p:extLst>
          </p:nvPr>
        </p:nvGraphicFramePr>
        <p:xfrm>
          <a:off x="506437" y="84408"/>
          <a:ext cx="2766526" cy="3663414"/>
        </p:xfrm>
        <a:graphic>
          <a:graphicData uri="http://schemas.openxmlformats.org/drawingml/2006/table">
            <a:tbl>
              <a:tblPr/>
              <a:tblGrid>
                <a:gridCol w="2766526">
                  <a:extLst>
                    <a:ext uri="{9D8B030D-6E8A-4147-A177-3AD203B41FA5}">
                      <a16:colId xmlns="" xmlns:a16="http://schemas.microsoft.com/office/drawing/2014/main" val="4170027600"/>
                    </a:ext>
                  </a:extLst>
                </a:gridCol>
              </a:tblGrid>
              <a:tr h="3277791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35044149"/>
                  </a:ext>
                </a:extLst>
              </a:tr>
              <a:tr h="38562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PRE-OPERATIVE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4348012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9406768"/>
              </p:ext>
            </p:extLst>
          </p:nvPr>
        </p:nvGraphicFramePr>
        <p:xfrm>
          <a:off x="4593228" y="1"/>
          <a:ext cx="2820446" cy="3733840"/>
        </p:xfrm>
        <a:graphic>
          <a:graphicData uri="http://schemas.openxmlformats.org/drawingml/2006/table">
            <a:tbl>
              <a:tblPr/>
              <a:tblGrid>
                <a:gridCol w="2820446">
                  <a:extLst>
                    <a:ext uri="{9D8B030D-6E8A-4147-A177-3AD203B41FA5}">
                      <a16:colId xmlns="" xmlns:a16="http://schemas.microsoft.com/office/drawing/2014/main" val="2751043114"/>
                    </a:ext>
                  </a:extLst>
                </a:gridCol>
              </a:tblGrid>
              <a:tr h="17221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944400914"/>
                  </a:ext>
                </a:extLst>
              </a:tr>
              <a:tr h="1921371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POST-OPERATIVE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7591024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6296754"/>
              </p:ext>
            </p:extLst>
          </p:nvPr>
        </p:nvGraphicFramePr>
        <p:xfrm>
          <a:off x="8510954" y="-14069"/>
          <a:ext cx="2715064" cy="3720903"/>
        </p:xfrm>
        <a:graphic>
          <a:graphicData uri="http://schemas.openxmlformats.org/drawingml/2006/table">
            <a:tbl>
              <a:tblPr/>
              <a:tblGrid>
                <a:gridCol w="2715064">
                  <a:extLst>
                    <a:ext uri="{9D8B030D-6E8A-4147-A177-3AD203B41FA5}">
                      <a16:colId xmlns="" xmlns:a16="http://schemas.microsoft.com/office/drawing/2014/main" val="1527153542"/>
                    </a:ext>
                  </a:extLst>
                </a:gridCol>
              </a:tblGrid>
              <a:tr h="3720903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AFTER</a:t>
                      </a:r>
                      <a:r>
                        <a:rPr lang="en-US" baseline="0" dirty="0" smtClean="0"/>
                        <a:t> 3 MONTHS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5431232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291738950"/>
              </p:ext>
            </p:extLst>
          </p:nvPr>
        </p:nvGraphicFramePr>
        <p:xfrm>
          <a:off x="-1" y="3868232"/>
          <a:ext cx="2981117" cy="3009646"/>
        </p:xfrm>
        <a:graphic>
          <a:graphicData uri="http://schemas.openxmlformats.org/drawingml/2006/table">
            <a:tbl>
              <a:tblPr/>
              <a:tblGrid>
                <a:gridCol w="2981117">
                  <a:extLst>
                    <a:ext uri="{9D8B030D-6E8A-4147-A177-3AD203B41FA5}">
                      <a16:colId xmlns="" xmlns:a16="http://schemas.microsoft.com/office/drawing/2014/main" val="377126620"/>
                    </a:ext>
                  </a:extLst>
                </a:gridCol>
              </a:tblGrid>
              <a:tr h="3009646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SUPINATION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232905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30513760"/>
              </p:ext>
            </p:extLst>
          </p:nvPr>
        </p:nvGraphicFramePr>
        <p:xfrm>
          <a:off x="3061252" y="3868232"/>
          <a:ext cx="3041375" cy="3009645"/>
        </p:xfrm>
        <a:graphic>
          <a:graphicData uri="http://schemas.openxmlformats.org/drawingml/2006/table">
            <a:tbl>
              <a:tblPr/>
              <a:tblGrid>
                <a:gridCol w="3041375">
                  <a:extLst>
                    <a:ext uri="{9D8B030D-6E8A-4147-A177-3AD203B41FA5}">
                      <a16:colId xmlns="" xmlns:a16="http://schemas.microsoft.com/office/drawing/2014/main" val="578250617"/>
                    </a:ext>
                  </a:extLst>
                </a:gridCol>
              </a:tblGrid>
              <a:tr h="3009645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PRONATION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0791966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34125398"/>
              </p:ext>
            </p:extLst>
          </p:nvPr>
        </p:nvGraphicFramePr>
        <p:xfrm>
          <a:off x="6182763" y="3868232"/>
          <a:ext cx="2981118" cy="3009646"/>
        </p:xfrm>
        <a:graphic>
          <a:graphicData uri="http://schemas.openxmlformats.org/drawingml/2006/table">
            <a:tbl>
              <a:tblPr/>
              <a:tblGrid>
                <a:gridCol w="2981118">
                  <a:extLst>
                    <a:ext uri="{9D8B030D-6E8A-4147-A177-3AD203B41FA5}">
                      <a16:colId xmlns="" xmlns:a16="http://schemas.microsoft.com/office/drawing/2014/main" val="3021293862"/>
                    </a:ext>
                  </a:extLst>
                </a:gridCol>
              </a:tblGrid>
              <a:tr h="3009646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FLEXION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1618477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24187597"/>
              </p:ext>
            </p:extLst>
          </p:nvPr>
        </p:nvGraphicFramePr>
        <p:xfrm>
          <a:off x="9244017" y="3868232"/>
          <a:ext cx="2947983" cy="3009646"/>
        </p:xfrm>
        <a:graphic>
          <a:graphicData uri="http://schemas.openxmlformats.org/drawingml/2006/table">
            <a:tbl>
              <a:tblPr/>
              <a:tblGrid>
                <a:gridCol w="2947983">
                  <a:extLst>
                    <a:ext uri="{9D8B030D-6E8A-4147-A177-3AD203B41FA5}">
                      <a16:colId xmlns="" xmlns:a16="http://schemas.microsoft.com/office/drawing/2014/main" val="3485342954"/>
                    </a:ext>
                  </a:extLst>
                </a:gridCol>
              </a:tblGrid>
              <a:tr h="150482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68937117"/>
                  </a:ext>
                </a:extLst>
              </a:tr>
              <a:tr h="1504823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EXTENSION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61253083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7968" r="76305" b="24343"/>
          <a:stretch/>
        </p:blipFill>
        <p:spPr>
          <a:xfrm>
            <a:off x="3141007" y="3985490"/>
            <a:ext cx="2895792" cy="214316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3500" t="67967" r="48121" b="22459"/>
          <a:stretch/>
        </p:blipFill>
        <p:spPr>
          <a:xfrm>
            <a:off x="6390644" y="4171640"/>
            <a:ext cx="2565356" cy="187499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995" t="67691" r="22980" b="21461"/>
          <a:stretch/>
        </p:blipFill>
        <p:spPr>
          <a:xfrm>
            <a:off x="9403908" y="3868232"/>
            <a:ext cx="2215663" cy="226042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2986" t="68029" r="67850" b="23875"/>
          <a:stretch/>
        </p:blipFill>
        <p:spPr>
          <a:xfrm>
            <a:off x="136424" y="4039438"/>
            <a:ext cx="2432154" cy="2226311"/>
          </a:xfrm>
          <a:prstGeom prst="rect">
            <a:avLst/>
          </a:prstGeom>
        </p:spPr>
      </p:pic>
      <p:pic>
        <p:nvPicPr>
          <p:cNvPr id="1027" name="Picture 3" descr="C:\Users\Ankitha\Downloads\WhatsApp Image 2026-01-26 at 12.25.53 PM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22257" y="42204"/>
            <a:ext cx="2743200" cy="3349675"/>
          </a:xfrm>
          <a:prstGeom prst="rect">
            <a:avLst/>
          </a:prstGeom>
          <a:noFill/>
        </p:spPr>
      </p:pic>
      <p:pic>
        <p:nvPicPr>
          <p:cNvPr id="1028" name="Picture 4" descr="C:\Users\Ankitha\Downloads\WhatsApp Image 2026-01-26 at 12.29.07 PM.jpe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90131" y="42204"/>
            <a:ext cx="2579617" cy="3311825"/>
          </a:xfrm>
          <a:prstGeom prst="rect">
            <a:avLst/>
          </a:prstGeom>
          <a:noFill/>
        </p:spPr>
      </p:pic>
      <p:pic>
        <p:nvPicPr>
          <p:cNvPr id="1029" name="Picture 5" descr="C:\Users\Ankitha\Downloads\WhatsApp Image 2026-01-26 at 12.41.12 PM.jpe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6775" y="95466"/>
            <a:ext cx="2672862" cy="32665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8000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433647596"/>
              </p:ext>
            </p:extLst>
          </p:nvPr>
        </p:nvGraphicFramePr>
        <p:xfrm>
          <a:off x="829994" y="126609"/>
          <a:ext cx="2053883" cy="3108960"/>
        </p:xfrm>
        <a:graphic>
          <a:graphicData uri="http://schemas.openxmlformats.org/drawingml/2006/table">
            <a:tbl>
              <a:tblPr/>
              <a:tblGrid>
                <a:gridCol w="2053883">
                  <a:extLst>
                    <a:ext uri="{9D8B030D-6E8A-4147-A177-3AD203B41FA5}">
                      <a16:colId xmlns="" xmlns:a16="http://schemas.microsoft.com/office/drawing/2014/main" val="108688127"/>
                    </a:ext>
                  </a:extLst>
                </a:gridCol>
              </a:tblGrid>
              <a:tr h="3066757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PRE-OPERATIVE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2338398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091910351"/>
              </p:ext>
            </p:extLst>
          </p:nvPr>
        </p:nvGraphicFramePr>
        <p:xfrm>
          <a:off x="4499053" y="0"/>
          <a:ext cx="2380049" cy="3291840"/>
        </p:xfrm>
        <a:graphic>
          <a:graphicData uri="http://schemas.openxmlformats.org/drawingml/2006/table">
            <a:tbl>
              <a:tblPr/>
              <a:tblGrid>
                <a:gridCol w="2380049">
                  <a:extLst>
                    <a:ext uri="{9D8B030D-6E8A-4147-A177-3AD203B41FA5}">
                      <a16:colId xmlns="" xmlns:a16="http://schemas.microsoft.com/office/drawing/2014/main" val="3467460910"/>
                    </a:ext>
                  </a:extLst>
                </a:gridCol>
              </a:tblGrid>
              <a:tr h="3291840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POST-OPERATIVE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5028442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842458026"/>
              </p:ext>
            </p:extLst>
          </p:nvPr>
        </p:nvGraphicFramePr>
        <p:xfrm>
          <a:off x="8510953" y="0"/>
          <a:ext cx="2074471" cy="3383280"/>
        </p:xfrm>
        <a:graphic>
          <a:graphicData uri="http://schemas.openxmlformats.org/drawingml/2006/table">
            <a:tbl>
              <a:tblPr/>
              <a:tblGrid>
                <a:gridCol w="2074471">
                  <a:extLst>
                    <a:ext uri="{9D8B030D-6E8A-4147-A177-3AD203B41FA5}">
                      <a16:colId xmlns="" xmlns:a16="http://schemas.microsoft.com/office/drawing/2014/main" val="1829989795"/>
                    </a:ext>
                  </a:extLst>
                </a:gridCol>
              </a:tblGrid>
              <a:tr h="3352744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AFTER </a:t>
                      </a:r>
                      <a:r>
                        <a:rPr lang="en-US" dirty="0" smtClean="0"/>
                        <a:t>3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MONTHS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5145435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61150446"/>
              </p:ext>
            </p:extLst>
          </p:nvPr>
        </p:nvGraphicFramePr>
        <p:xfrm>
          <a:off x="994165" y="3434576"/>
          <a:ext cx="2171066" cy="3383280"/>
        </p:xfrm>
        <a:graphic>
          <a:graphicData uri="http://schemas.openxmlformats.org/drawingml/2006/table">
            <a:tbl>
              <a:tblPr/>
              <a:tblGrid>
                <a:gridCol w="2171066">
                  <a:extLst>
                    <a:ext uri="{9D8B030D-6E8A-4147-A177-3AD203B41FA5}">
                      <a16:colId xmlns="" xmlns:a16="http://schemas.microsoft.com/office/drawing/2014/main" val="2230344722"/>
                    </a:ext>
                  </a:extLst>
                </a:gridCol>
              </a:tblGrid>
              <a:tr h="3247578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PREOPERATIVE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3778703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21317901"/>
              </p:ext>
            </p:extLst>
          </p:nvPr>
        </p:nvGraphicFramePr>
        <p:xfrm>
          <a:off x="4499052" y="3501483"/>
          <a:ext cx="2464455" cy="3166604"/>
        </p:xfrm>
        <a:graphic>
          <a:graphicData uri="http://schemas.openxmlformats.org/drawingml/2006/table">
            <a:tbl>
              <a:tblPr/>
              <a:tblGrid>
                <a:gridCol w="2464455">
                  <a:extLst>
                    <a:ext uri="{9D8B030D-6E8A-4147-A177-3AD203B41FA5}">
                      <a16:colId xmlns="" xmlns:a16="http://schemas.microsoft.com/office/drawing/2014/main" val="2827284718"/>
                    </a:ext>
                  </a:extLst>
                </a:gridCol>
              </a:tblGrid>
              <a:tr h="158330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82427520"/>
                  </a:ext>
                </a:extLst>
              </a:tr>
              <a:tr h="1583302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POST-OPERATIVE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8678430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752885852"/>
              </p:ext>
            </p:extLst>
          </p:nvPr>
        </p:nvGraphicFramePr>
        <p:xfrm>
          <a:off x="8343507" y="3487931"/>
          <a:ext cx="2516751" cy="3236427"/>
        </p:xfrm>
        <a:graphic>
          <a:graphicData uri="http://schemas.openxmlformats.org/drawingml/2006/table">
            <a:tbl>
              <a:tblPr/>
              <a:tblGrid>
                <a:gridCol w="2516751">
                  <a:extLst>
                    <a:ext uri="{9D8B030D-6E8A-4147-A177-3AD203B41FA5}">
                      <a16:colId xmlns="" xmlns:a16="http://schemas.microsoft.com/office/drawing/2014/main" val="3775600337"/>
                    </a:ext>
                  </a:extLst>
                </a:gridCol>
              </a:tblGrid>
              <a:tr h="3236427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AFTER </a:t>
                      </a:r>
                      <a:r>
                        <a:rPr lang="en-US" dirty="0" smtClean="0"/>
                        <a:t>3 MONTHS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86322333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9467" t="25691" r="60804" b="45040"/>
          <a:stretch/>
        </p:blipFill>
        <p:spPr>
          <a:xfrm>
            <a:off x="4529797" y="168811"/>
            <a:ext cx="1125415" cy="260252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1174" t="25041" r="31211" b="43740"/>
          <a:stretch/>
        </p:blipFill>
        <p:spPr>
          <a:xfrm>
            <a:off x="5627078" y="196946"/>
            <a:ext cx="1231951" cy="25544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489" t="25691" r="70668" b="44065"/>
          <a:stretch/>
        </p:blipFill>
        <p:spPr>
          <a:xfrm>
            <a:off x="844062" y="168812"/>
            <a:ext cx="1051059" cy="255448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34969" t="25041" r="43189" b="44390"/>
          <a:stretch/>
        </p:blipFill>
        <p:spPr>
          <a:xfrm>
            <a:off x="1895123" y="140676"/>
            <a:ext cx="983316" cy="259669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4670" t="26016" r="73749" b="44391"/>
          <a:stretch/>
        </p:blipFill>
        <p:spPr>
          <a:xfrm>
            <a:off x="8457246" y="14067"/>
            <a:ext cx="1102263" cy="276550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42224" t="25041" r="38266" b="46302"/>
          <a:stretch/>
        </p:blipFill>
        <p:spPr>
          <a:xfrm>
            <a:off x="9567743" y="-10687"/>
            <a:ext cx="1003613" cy="276212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678" t="70681" r="79124" b="14146"/>
          <a:stretch/>
        </p:blipFill>
        <p:spPr>
          <a:xfrm rot="10800000">
            <a:off x="1036367" y="3487412"/>
            <a:ext cx="1003447" cy="278943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3706" t="69919" r="64105" b="14146"/>
          <a:stretch/>
        </p:blipFill>
        <p:spPr>
          <a:xfrm rot="10800000">
            <a:off x="2041813" y="3485013"/>
            <a:ext cx="1070518" cy="28340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36378" t="70244" r="45302" b="14797"/>
          <a:stretch/>
        </p:blipFill>
        <p:spPr>
          <a:xfrm>
            <a:off x="4432142" y="3513232"/>
            <a:ext cx="1349680" cy="259918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4909" t="70469" r="35116" b="14231"/>
          <a:stretch/>
        </p:blipFill>
        <p:spPr>
          <a:xfrm>
            <a:off x="5795889" y="3501482"/>
            <a:ext cx="1160543" cy="264818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69376" t="70413" r="22412" b="14659"/>
          <a:stretch/>
        </p:blipFill>
        <p:spPr>
          <a:xfrm>
            <a:off x="8377513" y="3516924"/>
            <a:ext cx="1190230" cy="268901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9491" t="70177" r="9808" b="15447"/>
          <a:stretch/>
        </p:blipFill>
        <p:spPr>
          <a:xfrm>
            <a:off x="9581813" y="3516923"/>
            <a:ext cx="1264378" cy="267494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5307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790" y="1237957"/>
            <a:ext cx="9637542" cy="452731"/>
          </a:xfrm>
        </p:spPr>
        <p:txBody>
          <a:bodyPr/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REFERENCES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708" y="1716258"/>
            <a:ext cx="10791092" cy="4460705"/>
          </a:xfrm>
        </p:spPr>
        <p:txBody>
          <a:bodyPr>
            <a:noAutofit/>
          </a:bodyPr>
          <a:lstStyle/>
          <a:p>
            <a:r>
              <a:rPr lang="en-US" sz="23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Jones K, Weiner DS. The management of forearm fractures in 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children A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plea for conservatism. J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Pediatr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Orthop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1999;19:811‑5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23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Flynn JM, Waters PM, Skaggs DL. Rockwood and Wilkins Fractures </a:t>
            </a:r>
            <a:r>
              <a:rPr lang="en-US" sz="2300" dirty="0" err="1" smtClean="0">
                <a:latin typeface="Arial" pitchFamily="34" charset="0"/>
                <a:cs typeface="Arial" pitchFamily="34" charset="0"/>
              </a:rPr>
              <a:t>InChildren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. 8th ed. Philadelphia: Wolters Kluwer; 2015. p. 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413‑72.</a:t>
            </a:r>
          </a:p>
          <a:p>
            <a:r>
              <a:rPr lang="en-US" sz="23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Metaizeau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JP,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Ligier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JN. Surgical treatment of fractures of long 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bones in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children: Interference between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osteosynthesis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physiological process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of consolidations: 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Therapeutic indications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. J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Chir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Paris) 1984;121:527‑37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2300" dirty="0" smtClean="0">
                <a:latin typeface="Arial" pitchFamily="34" charset="0"/>
                <a:cs typeface="Arial" pitchFamily="34" charset="0"/>
              </a:rPr>
              <a:t>Johnson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CW, Carmichael KD, Morris RP, Gilmer B. 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Biomechanical study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of flexible intramedullary nails. J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Pediatr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300" dirty="0" err="1" smtClean="0">
                <a:latin typeface="Arial" pitchFamily="34" charset="0"/>
                <a:cs typeface="Arial" pitchFamily="34" charset="0"/>
              </a:rPr>
              <a:t>Orthop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 2009;29:44‑8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2300" dirty="0" smtClean="0">
                <a:latin typeface="Arial" pitchFamily="34" charset="0"/>
                <a:cs typeface="Arial" pitchFamily="34" charset="0"/>
              </a:rPr>
              <a:t>Dietz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HG,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Schmittenbecher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P,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Illing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P.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Intramedullare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300" dirty="0" err="1" smtClean="0">
                <a:latin typeface="Arial" pitchFamily="34" charset="0"/>
                <a:cs typeface="Arial" pitchFamily="34" charset="0"/>
              </a:rPr>
              <a:t>Osteosyntheses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300" dirty="0" err="1" smtClean="0">
                <a:latin typeface="Arial" pitchFamily="34" charset="0"/>
                <a:cs typeface="Arial" pitchFamily="34" charset="0"/>
              </a:rPr>
              <a:t>Imwachstumsalter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Munchen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: Urban and Schwarzenberg; 1997.</a:t>
            </a:r>
          </a:p>
          <a:p>
            <a:r>
              <a:rPr lang="en-US" sz="2300" dirty="0" err="1" smtClean="0">
                <a:latin typeface="Arial" pitchFamily="34" charset="0"/>
                <a:cs typeface="Arial" pitchFamily="34" charset="0"/>
              </a:rPr>
              <a:t>Bellemans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M,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Lamoureux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J. Indications for immediate 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percutaneous intramedullary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nailing of complete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diaphyseal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forearm shaft fractures 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in children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Acta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Orthop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Belg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1995;61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Suppl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1:169‑72.</a:t>
            </a:r>
          </a:p>
        </p:txBody>
      </p:sp>
    </p:spTree>
    <p:extLst>
      <p:ext uri="{BB962C8B-B14F-4D97-AF65-F5344CB8AC3E}">
        <p14:creationId xmlns="" xmlns:p14="http://schemas.microsoft.com/office/powerpoint/2010/main" val="1087187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4400" dirty="0" smtClean="0"/>
              <a:t>THANK YOU</a:t>
            </a:r>
            <a:endParaRPr lang="en-IN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per Template-Ossapcon 2026_00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 Template-Ossapcon 2026_001</Template>
  <TotalTime>4895</TotalTime>
  <Words>703</Words>
  <Application>Microsoft Office PowerPoint</Application>
  <PresentationFormat>Custom</PresentationFormat>
  <Paragraphs>244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Paper Template-Ossapcon 2026_001</vt:lpstr>
      <vt:lpstr>FUNCTIONAL OUTCOME OF PEDIATRIC BOTH BONE FOREARM FRACTURES TREATED WITH ELASTIC STABLE INTRAMEDULLARY NAILING</vt:lpstr>
      <vt:lpstr>INTRODUCTION:</vt:lpstr>
      <vt:lpstr>Slide 3</vt:lpstr>
      <vt:lpstr>METHODS AND MATERIALS</vt:lpstr>
      <vt:lpstr>Slide 5</vt:lpstr>
      <vt:lpstr>Slide 6</vt:lpstr>
      <vt:lpstr>CONCLUSION:</vt:lpstr>
      <vt:lpstr>Slide 8</vt:lpstr>
      <vt:lpstr>Slide 9</vt:lpstr>
      <vt:lpstr>REFERENCES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OUTCOME OF PEDIATRIC BOTH BONE FOREARM FRACTURES TREATED WITH ELASTIC STABLE INTRAMEDULLARY NAILING</dc:title>
  <dc:creator>Ankitha</dc:creator>
  <cp:lastModifiedBy>Ankitha</cp:lastModifiedBy>
  <cp:revision>14</cp:revision>
  <dcterms:modified xsi:type="dcterms:W3CDTF">2026-02-01T08:39:56Z</dcterms:modified>
</cp:coreProperties>
</file>