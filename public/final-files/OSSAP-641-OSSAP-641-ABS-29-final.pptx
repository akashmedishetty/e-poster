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0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EC5CE-5871-4A1E-ACB0-AF33D0FAEFE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97340-D040-4EFC-9623-D5A8D576C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476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97340-D040-4EFC-9623-D5A8D576C17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039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-4" y="0"/>
            <a:ext cx="12217994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532" y="88571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792" y="94196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450" y="133570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263789" y="117427"/>
            <a:ext cx="706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 Rare Case of </a:t>
            </a:r>
            <a:r>
              <a:rPr lang="en-US" sz="2000" b="1" dirty="0" err="1">
                <a:solidFill>
                  <a:schemeClr val="bg1"/>
                </a:solidFill>
              </a:rPr>
              <a:t>Tenosynovial</a:t>
            </a:r>
            <a:r>
              <a:rPr lang="en-US" sz="2000" b="1" dirty="0">
                <a:solidFill>
                  <a:schemeClr val="bg1"/>
                </a:solidFill>
              </a:rPr>
              <a:t> Giant Cell Tumor of the Elbow</a:t>
            </a:r>
            <a:endParaRPr lang="en-US" sz="20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481589" y="443071"/>
            <a:ext cx="6847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Gordita "/>
              </a:rPr>
              <a:t>Presenter : Dr. </a:t>
            </a:r>
            <a:r>
              <a:rPr lang="en-US" sz="1600" b="1" dirty="0" err="1">
                <a:solidFill>
                  <a:schemeClr val="bg1"/>
                </a:solidFill>
                <a:latin typeface="Gordita "/>
              </a:rPr>
              <a:t>V.N.V.Gnanadeep</a:t>
            </a:r>
            <a:r>
              <a:rPr lang="en-US" sz="1600" b="1" dirty="0">
                <a:solidFill>
                  <a:schemeClr val="bg1"/>
                </a:solidFill>
                <a:latin typeface="Gordita "/>
              </a:rPr>
              <a:t> </a:t>
            </a:r>
          </a:p>
          <a:p>
            <a:r>
              <a:rPr lang="en-US" sz="1600" b="1" dirty="0">
                <a:solidFill>
                  <a:schemeClr val="bg1"/>
                </a:solidFill>
                <a:latin typeface="Gordita "/>
              </a:rPr>
              <a:t>Guide : Dr. </a:t>
            </a:r>
            <a:r>
              <a:rPr lang="en-US" sz="1600" b="1" dirty="0" err="1">
                <a:solidFill>
                  <a:schemeClr val="bg1"/>
                </a:solidFill>
                <a:latin typeface="Gordita "/>
              </a:rPr>
              <a:t>S.Sreenivasa</a:t>
            </a:r>
            <a:r>
              <a:rPr lang="en-US" sz="1600" b="1" dirty="0">
                <a:solidFill>
                  <a:schemeClr val="bg1"/>
                </a:solidFill>
                <a:latin typeface="Gordita "/>
              </a:rPr>
              <a:t> Reddy, HOD, Department of </a:t>
            </a:r>
            <a:r>
              <a:rPr lang="en-US" sz="1600" b="1" dirty="0" err="1">
                <a:solidFill>
                  <a:schemeClr val="bg1"/>
                </a:solidFill>
                <a:latin typeface="Gordita "/>
              </a:rPr>
              <a:t>Orthopaedics</a:t>
            </a:r>
            <a:endParaRPr lang="en-US" sz="1600" b="1" dirty="0">
              <a:solidFill>
                <a:schemeClr val="bg1"/>
              </a:solidFill>
              <a:latin typeface="Gordita 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Gordita "/>
              </a:rPr>
              <a:t>Institute: Apollo Institute of Medical Sciences and Research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9526382" y="938740"/>
            <a:ext cx="234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Gordita "/>
              </a:rPr>
              <a:t>Registration ID : OSSAP-641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2542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-4" y="4630333"/>
            <a:ext cx="3108960" cy="22276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70513" y="4379482"/>
            <a:ext cx="5839326" cy="247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6343240" y="1287132"/>
            <a:ext cx="5874751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67746" y="3984845"/>
            <a:ext cx="5824253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 AND 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-4" y="424251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1AFE4-E217-6FD4-1775-A949C77B3A34}"/>
              </a:ext>
            </a:extLst>
          </p:cNvPr>
          <p:cNvSpPr txBox="1"/>
          <p:nvPr/>
        </p:nvSpPr>
        <p:spPr>
          <a:xfrm>
            <a:off x="0" y="1693361"/>
            <a:ext cx="313783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Teno synovial Giant Cell Tumor (TGCT) is a benign proliferative lesion of the synovium and it is AKA pigmented villonodular synovitis.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-Commonly affects tendon sheaths of fingers, rarely large joints like the elbow.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-Characterized by localized swelling and pain.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-Imaging and histopathology are key for diagnosis</a:t>
            </a:r>
            <a:r>
              <a:rPr lang="en-US" sz="1600" dirty="0"/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1B7232-0774-ED37-C752-167F07CB5D3C}"/>
              </a:ext>
            </a:extLst>
          </p:cNvPr>
          <p:cNvSpPr/>
          <p:nvPr/>
        </p:nvSpPr>
        <p:spPr>
          <a:xfrm>
            <a:off x="3137836" y="1289440"/>
            <a:ext cx="3223333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INVESTIGATIONS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3D80F2-6D18-2B7F-1094-00220CB4BAC9}"/>
              </a:ext>
            </a:extLst>
          </p:cNvPr>
          <p:cNvSpPr txBox="1"/>
          <p:nvPr/>
        </p:nvSpPr>
        <p:spPr>
          <a:xfrm>
            <a:off x="0" y="4698321"/>
            <a:ext cx="284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-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40-year-old female presented to OPD with pain and swelling in the left elbow since 2 months.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-No history of trauma, fever, or systemic illness.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-Pain was persistent despite oral analgesics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1BF541-884D-B622-5809-D658AB698AC8}"/>
              </a:ext>
            </a:extLst>
          </p:cNvPr>
          <p:cNvSpPr/>
          <p:nvPr/>
        </p:nvSpPr>
        <p:spPr>
          <a:xfrm>
            <a:off x="3166712" y="1683862"/>
            <a:ext cx="3194457" cy="51698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6F24AB7-584A-59C5-F8B7-E6FB718529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4079" y="1677298"/>
            <a:ext cx="3189338" cy="13401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41365C0-64A4-D5CF-1482-837DAC132FF3}"/>
              </a:ext>
            </a:extLst>
          </p:cNvPr>
          <p:cNvSpPr txBox="1"/>
          <p:nvPr/>
        </p:nvSpPr>
        <p:spPr>
          <a:xfrm>
            <a:off x="3166712" y="2952997"/>
            <a:ext cx="7605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X-ray: Normal findings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46F1A0C-A42F-CB66-D750-1D1467953E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677" y="3276162"/>
            <a:ext cx="3181860" cy="251693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30EAC8B-709B-9033-04FA-70D29531B94B}"/>
              </a:ext>
            </a:extLst>
          </p:cNvPr>
          <p:cNvSpPr txBox="1"/>
          <p:nvPr/>
        </p:nvSpPr>
        <p:spPr>
          <a:xfrm>
            <a:off x="3092679" y="5795074"/>
            <a:ext cx="321073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MRI Left elbow with contrast was done which was suggestive of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TenoSynovial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Giant cell tumour.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CBNAAT was Negative.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B12914-1DD2-1B0F-4DE4-45E5DB8F305F}"/>
              </a:ext>
            </a:extLst>
          </p:cNvPr>
          <p:cNvSpPr txBox="1"/>
          <p:nvPr/>
        </p:nvSpPr>
        <p:spPr>
          <a:xfrm>
            <a:off x="6691085" y="1673029"/>
            <a:ext cx="55269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-Patient underwent excisional biopsy and resection of the lesion.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-Intraoperatively, tumor tissue completely excised.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-Postoperative recovery was uneventful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5E2A41E-34E4-32D0-2053-CCB07D27A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0513" y="2335443"/>
            <a:ext cx="1519713" cy="11731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F205F70-8A8C-CC74-773B-48D2D33ECD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0564" y="2337998"/>
            <a:ext cx="1611380" cy="116802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8AACA31-ACC5-01FA-7A2D-F2E05D6E90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1944" y="2333517"/>
            <a:ext cx="1611381" cy="11680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C774817-0AA9-2370-641F-8A2E234560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02114" y="2338606"/>
            <a:ext cx="1245816" cy="116293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30E5AF9-F99B-77B3-F4CE-C225D8F70DA6}"/>
              </a:ext>
            </a:extLst>
          </p:cNvPr>
          <p:cNvSpPr txBox="1"/>
          <p:nvPr/>
        </p:nvSpPr>
        <p:spPr>
          <a:xfrm>
            <a:off x="6339061" y="3501541"/>
            <a:ext cx="59808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Histopathology Findings: Report Suggestive of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Tenosynovial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Giant cell tumour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FE88D2-E6E3-F69B-7D6E-FA027C4A85BE}"/>
              </a:ext>
            </a:extLst>
          </p:cNvPr>
          <p:cNvSpPr txBox="1"/>
          <p:nvPr/>
        </p:nvSpPr>
        <p:spPr>
          <a:xfrm>
            <a:off x="6321257" y="4323325"/>
            <a:ext cx="589673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-TGCT of elbow is rare, making this case an uncommon clinical presentation.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Subtle presentation leading to a diagnostic challenge and delayed clinical suspicion.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-Plain radiographs were normal, highlighting their limited role in soft-tissue TGCT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.-MRI was essential in detecting the lesion, defining its extent.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.Complete surgical excision was achieved, which is crucial in preventing recurrence.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Histopathological examination confirmed the diagnosis, and the patient had a good postoperative functional outcome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300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Gordita 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Virinchi Vinay</dc:creator>
  <cp:lastModifiedBy>VURUM SRINIVASA BABU</cp:lastModifiedBy>
  <cp:revision>10</cp:revision>
  <dcterms:created xsi:type="dcterms:W3CDTF">2026-01-11T06:24:43Z</dcterms:created>
  <dcterms:modified xsi:type="dcterms:W3CDTF">2026-02-04T14:18:28Z</dcterms:modified>
</cp:coreProperties>
</file>