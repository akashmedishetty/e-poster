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280160"/>
          </a:xfrm>
          <a:custGeom>
            <a:avLst/>
            <a:gdLst/>
            <a:ahLst/>
            <a:cxnLst/>
            <a:rect l="l" t="t" r="r" b="b"/>
            <a:pathLst>
              <a:path w="12192000" h="1280160">
                <a:moveTo>
                  <a:pt x="12192000" y="0"/>
                </a:moveTo>
                <a:lnTo>
                  <a:pt x="0" y="0"/>
                </a:lnTo>
                <a:lnTo>
                  <a:pt x="0" y="1280160"/>
                </a:lnTo>
                <a:lnTo>
                  <a:pt x="12192000" y="12801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122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280160"/>
          </a:xfrm>
          <a:custGeom>
            <a:avLst/>
            <a:gdLst/>
            <a:ahLst/>
            <a:cxnLst/>
            <a:rect l="l" t="t" r="r" b="b"/>
            <a:pathLst>
              <a:path w="12192000" h="1280160">
                <a:moveTo>
                  <a:pt x="0" y="0"/>
                </a:moveTo>
                <a:lnTo>
                  <a:pt x="12192000" y="0"/>
                </a:lnTo>
                <a:lnTo>
                  <a:pt x="12192000" y="1280160"/>
                </a:lnTo>
                <a:lnTo>
                  <a:pt x="0" y="1280160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52565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06878" y="74821"/>
            <a:ext cx="1043153" cy="10431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47310" y="123390"/>
            <a:ext cx="884047" cy="88404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27894" y="192302"/>
            <a:ext cx="785939" cy="7859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442313" y="1551978"/>
            <a:ext cx="96615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Arial"/>
                <a:cs typeface="Arial"/>
              </a:rPr>
              <a:t>Functional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Outcome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of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Extra-</a:t>
            </a:r>
            <a:r>
              <a:rPr dirty="0" sz="3200" b="1">
                <a:latin typeface="Arial"/>
                <a:cs typeface="Arial"/>
              </a:rPr>
              <a:t>Articular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Distal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Tibia </a:t>
            </a:r>
            <a:r>
              <a:rPr dirty="0" sz="3200" b="1">
                <a:latin typeface="Arial"/>
                <a:cs typeface="Arial"/>
              </a:rPr>
              <a:t>Fractures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Treated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with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Intramedullary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Nail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25" b="1">
                <a:latin typeface="Arial"/>
                <a:cs typeface="Arial"/>
              </a:rPr>
              <a:t>and </a:t>
            </a:r>
            <a:r>
              <a:rPr dirty="0" sz="3200" b="1">
                <a:latin typeface="Arial"/>
                <a:cs typeface="Arial"/>
              </a:rPr>
              <a:t>Locking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Plate: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A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Prospective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Comparative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Study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48633" y="3992524"/>
            <a:ext cx="8033384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Presenter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Shaik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Sikander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Mohsin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Arial"/>
                <a:cs typeface="Arial"/>
              </a:rPr>
              <a:t>Moderator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Naga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Rama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Krishna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(Assistant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Professor) </a:t>
            </a:r>
            <a:r>
              <a:rPr dirty="0" sz="2400">
                <a:latin typeface="Arial"/>
                <a:cs typeface="Arial"/>
              </a:rPr>
              <a:t>Department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Orthopaedics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"/>
                <a:cs typeface="Arial"/>
              </a:rPr>
              <a:t>Asram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medical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college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hospital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83802" y="1353134"/>
            <a:ext cx="11428095" cy="2978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970">
              <a:lnSpc>
                <a:spcPts val="4765"/>
              </a:lnSpc>
              <a:spcBef>
                <a:spcPts val="100"/>
              </a:spcBef>
            </a:pPr>
            <a:r>
              <a:rPr dirty="0" sz="4000" spc="-10" b="1">
                <a:latin typeface="Arial"/>
                <a:cs typeface="Arial"/>
              </a:rPr>
              <a:t>Introduction</a:t>
            </a:r>
            <a:endParaRPr sz="4000">
              <a:latin typeface="Arial"/>
              <a:cs typeface="Arial"/>
            </a:endParaRPr>
          </a:p>
          <a:p>
            <a:pPr algn="just" marL="239395" marR="368300" indent="-226695">
              <a:lnSpc>
                <a:spcPts val="2160"/>
              </a:lnSpc>
              <a:spcBef>
                <a:spcPts val="235"/>
              </a:spcBef>
              <a:buChar char="•"/>
              <a:tabLst>
                <a:tab pos="241300" algn="l"/>
              </a:tabLst>
            </a:pPr>
            <a:r>
              <a:rPr dirty="0" sz="2000">
                <a:latin typeface="Arial"/>
                <a:cs typeface="Arial"/>
              </a:rPr>
              <a:t>Distal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tibia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fractures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account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less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than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7%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tibial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fractures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are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commonly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seen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males </a:t>
            </a:r>
            <a:r>
              <a:rPr dirty="0" sz="2000" spc="-10">
                <a:latin typeface="Arial"/>
                <a:cs typeface="Arial"/>
              </a:rPr>
              <a:t>	</a:t>
            </a:r>
            <a:r>
              <a:rPr dirty="0" sz="2000">
                <a:latin typeface="Arial"/>
                <a:cs typeface="Arial"/>
              </a:rPr>
              <a:t>aged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25–50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years.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These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injuries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result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from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low-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high-energy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trauma,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most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frequently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due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to </a:t>
            </a:r>
            <a:r>
              <a:rPr dirty="0" sz="2000" spc="-25">
                <a:latin typeface="Arial"/>
                <a:cs typeface="Arial"/>
              </a:rPr>
              <a:t>	</a:t>
            </a:r>
            <a:r>
              <a:rPr dirty="0" sz="2000">
                <a:latin typeface="Arial"/>
                <a:cs typeface="Arial"/>
              </a:rPr>
              <a:t>road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traffic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accidents,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falls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from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height,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twisting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ankle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injuries.</a:t>
            </a:r>
            <a:endParaRPr sz="2000">
              <a:latin typeface="Arial"/>
              <a:cs typeface="Arial"/>
            </a:endParaRPr>
          </a:p>
          <a:p>
            <a:pPr marL="241300" marR="5080" indent="-228600">
              <a:lnSpc>
                <a:spcPts val="216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dirty="0" sz="2000">
                <a:latin typeface="Arial"/>
                <a:cs typeface="Arial"/>
              </a:rPr>
              <a:t>Management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options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include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conservative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treatment,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intramedullary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nailing,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external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fixation,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and </a:t>
            </a:r>
            <a:r>
              <a:rPr dirty="0" sz="2000">
                <a:latin typeface="Arial"/>
                <a:cs typeface="Arial"/>
              </a:rPr>
              <a:t>plate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osteosynthesis.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goals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treatment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are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restore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mechanical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axis,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maintain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joint </a:t>
            </a:r>
            <a:r>
              <a:rPr dirty="0" sz="2000">
                <a:latin typeface="Arial"/>
                <a:cs typeface="Arial"/>
              </a:rPr>
              <a:t>stability,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achieve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optimal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functional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recovery.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However,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management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challenging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due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poor </a:t>
            </a:r>
            <a:r>
              <a:rPr dirty="0" sz="2000" spc="-10">
                <a:latin typeface="Arial"/>
                <a:cs typeface="Arial"/>
              </a:rPr>
              <a:t>soft-</a:t>
            </a:r>
            <a:r>
              <a:rPr dirty="0" sz="2000">
                <a:latin typeface="Arial"/>
                <a:cs typeface="Arial"/>
              </a:rPr>
              <a:t>tissue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envelope,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variable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bone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quality,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fracture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comminution,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outcomes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largely </a:t>
            </a:r>
            <a:r>
              <a:rPr dirty="0" sz="2000">
                <a:latin typeface="Arial"/>
                <a:cs typeface="Arial"/>
              </a:rPr>
              <a:t>influenced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by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injury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severity,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soft-</a:t>
            </a:r>
            <a:r>
              <a:rPr dirty="0" sz="2000">
                <a:latin typeface="Arial"/>
                <a:cs typeface="Arial"/>
              </a:rPr>
              <a:t>tissue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status,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quality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reduction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143" y="4323346"/>
            <a:ext cx="11500951" cy="25346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47971" y="1385214"/>
            <a:ext cx="10212705" cy="2092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2520" algn="l"/>
                <a:tab pos="1733550" algn="l"/>
                <a:tab pos="2635885" algn="l"/>
              </a:tabLst>
            </a:pPr>
            <a:r>
              <a:rPr dirty="0" sz="4000" spc="-25" b="1">
                <a:latin typeface="Arial"/>
                <a:cs typeface="Arial"/>
              </a:rPr>
              <a:t>Aim</a:t>
            </a:r>
            <a:r>
              <a:rPr dirty="0" sz="4000" b="1">
                <a:latin typeface="Arial"/>
                <a:cs typeface="Arial"/>
              </a:rPr>
              <a:t>	</a:t>
            </a:r>
            <a:r>
              <a:rPr dirty="0" sz="4000" spc="-25" b="1">
                <a:latin typeface="Arial"/>
                <a:cs typeface="Arial"/>
              </a:rPr>
              <a:t>of</a:t>
            </a:r>
            <a:r>
              <a:rPr dirty="0" sz="4000" b="1">
                <a:latin typeface="Arial"/>
                <a:cs typeface="Arial"/>
              </a:rPr>
              <a:t>	</a:t>
            </a:r>
            <a:r>
              <a:rPr dirty="0" sz="4000" spc="-25" b="1">
                <a:latin typeface="Arial"/>
                <a:cs typeface="Arial"/>
              </a:rPr>
              <a:t>the</a:t>
            </a:r>
            <a:r>
              <a:rPr dirty="0" sz="4000" b="1">
                <a:latin typeface="Arial"/>
                <a:cs typeface="Arial"/>
              </a:rPr>
              <a:t>	</a:t>
            </a:r>
            <a:r>
              <a:rPr dirty="0" sz="4000" spc="-10" b="1">
                <a:latin typeface="Arial"/>
                <a:cs typeface="Arial"/>
              </a:rPr>
              <a:t>Study</a:t>
            </a:r>
            <a:endParaRPr sz="4000">
              <a:latin typeface="Arial"/>
              <a:cs typeface="Arial"/>
            </a:endParaRPr>
          </a:p>
          <a:p>
            <a:pPr marL="241300" marR="5080" indent="-228600">
              <a:lnSpc>
                <a:spcPts val="3020"/>
              </a:lnSpc>
              <a:spcBef>
                <a:spcPts val="2445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"/>
                <a:cs typeface="Arial"/>
              </a:rPr>
              <a:t>The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aim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this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study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was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compare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the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functional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outcome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of extra-</a:t>
            </a:r>
            <a:r>
              <a:rPr dirty="0" sz="2800">
                <a:latin typeface="Arial"/>
                <a:cs typeface="Arial"/>
              </a:rPr>
              <a:t>articular</a:t>
            </a:r>
            <a:r>
              <a:rPr dirty="0" sz="2800" spc="-8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distal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tibia</a:t>
            </a:r>
            <a:r>
              <a:rPr dirty="0" sz="2800" spc="-8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fractures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managed</a:t>
            </a:r>
            <a:r>
              <a:rPr dirty="0" sz="2800" spc="-8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by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intramedullary </a:t>
            </a:r>
            <a:r>
              <a:rPr dirty="0" sz="2800">
                <a:latin typeface="Arial"/>
                <a:cs typeface="Arial"/>
              </a:rPr>
              <a:t>interlocking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nailing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versus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locking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plate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fixation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64013" y="1197055"/>
            <a:ext cx="8683625" cy="564134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40970">
              <a:lnSpc>
                <a:spcPct val="100000"/>
              </a:lnSpc>
              <a:spcBef>
                <a:spcPts val="1075"/>
              </a:spcBef>
              <a:tabLst>
                <a:tab pos="2481580" algn="l"/>
                <a:tab pos="3525520" algn="l"/>
              </a:tabLst>
            </a:pPr>
            <a:r>
              <a:rPr dirty="0" sz="4000" spc="-10" b="1">
                <a:latin typeface="Arial"/>
                <a:cs typeface="Arial"/>
              </a:rPr>
              <a:t>Materials</a:t>
            </a:r>
            <a:r>
              <a:rPr dirty="0" sz="4000" b="1">
                <a:latin typeface="Arial"/>
                <a:cs typeface="Arial"/>
              </a:rPr>
              <a:t>	</a:t>
            </a:r>
            <a:r>
              <a:rPr dirty="0" sz="4000" spc="-25" b="1">
                <a:latin typeface="Arial"/>
                <a:cs typeface="Arial"/>
              </a:rPr>
              <a:t>and</a:t>
            </a:r>
            <a:r>
              <a:rPr dirty="0" sz="4000" b="1">
                <a:latin typeface="Arial"/>
                <a:cs typeface="Arial"/>
              </a:rPr>
              <a:t>	</a:t>
            </a:r>
            <a:r>
              <a:rPr dirty="0" sz="4000" spc="-10" b="1">
                <a:latin typeface="Arial"/>
                <a:cs typeface="Arial"/>
              </a:rPr>
              <a:t>Methods</a:t>
            </a:r>
            <a:endParaRPr sz="4000">
              <a:latin typeface="Arial"/>
              <a:cs typeface="Arial"/>
            </a:endParaRPr>
          </a:p>
          <a:p>
            <a:pPr marL="241300" marR="5080" indent="-228600">
              <a:lnSpc>
                <a:spcPts val="2380"/>
              </a:lnSpc>
              <a:spcBef>
                <a:spcPts val="835"/>
              </a:spcBef>
              <a:buChar char="•"/>
              <a:tabLst>
                <a:tab pos="241300" algn="l"/>
              </a:tabLst>
            </a:pPr>
            <a:r>
              <a:rPr dirty="0" sz="2200">
                <a:latin typeface="Arial"/>
                <a:cs typeface="Arial"/>
              </a:rPr>
              <a:t>This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prospective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study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was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conducted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in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the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Department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of </a:t>
            </a:r>
            <a:r>
              <a:rPr dirty="0" sz="2200">
                <a:latin typeface="Arial"/>
                <a:cs typeface="Arial"/>
              </a:rPr>
              <a:t>Orthopaedics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,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Asram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Medical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College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and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Hospital,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Eluru,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from </a:t>
            </a:r>
            <a:r>
              <a:rPr dirty="0" sz="2200">
                <a:latin typeface="Arial"/>
                <a:cs typeface="Arial"/>
              </a:rPr>
              <a:t>December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2024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December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2025.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total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of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10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patients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with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extra- </a:t>
            </a:r>
            <a:r>
              <a:rPr dirty="0" sz="2200">
                <a:latin typeface="Arial"/>
                <a:cs typeface="Arial"/>
              </a:rPr>
              <a:t>articular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distal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tibia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fractures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were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included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and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divided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into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two </a:t>
            </a:r>
            <a:r>
              <a:rPr dirty="0" sz="2200">
                <a:latin typeface="Arial"/>
                <a:cs typeface="Arial"/>
              </a:rPr>
              <a:t>groups: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Group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(IMIL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nailing,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n=5)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and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Group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B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(locking</a:t>
            </a:r>
            <a:r>
              <a:rPr dirty="0" sz="2200" spc="-6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plate </a:t>
            </a:r>
            <a:r>
              <a:rPr dirty="0" sz="2200">
                <a:latin typeface="Arial"/>
                <a:cs typeface="Arial"/>
              </a:rPr>
              <a:t>fixation,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n=5).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Functional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and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radiological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outcomes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were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assessed </a:t>
            </a:r>
            <a:r>
              <a:rPr dirty="0" sz="2200">
                <a:latin typeface="Arial"/>
                <a:cs typeface="Arial"/>
              </a:rPr>
              <a:t>using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the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AOFAS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score.</a:t>
            </a:r>
            <a:endParaRPr sz="2200">
              <a:latin typeface="Arial"/>
              <a:cs typeface="Arial"/>
            </a:endParaRPr>
          </a:p>
          <a:p>
            <a:pPr marL="241300" marR="163195" indent="-228600">
              <a:lnSpc>
                <a:spcPts val="2380"/>
              </a:lnSpc>
              <a:spcBef>
                <a:spcPts val="969"/>
              </a:spcBef>
              <a:buChar char="•"/>
              <a:tabLst>
                <a:tab pos="241300" algn="l"/>
              </a:tabLst>
            </a:pPr>
            <a:r>
              <a:rPr dirty="0" sz="2200">
                <a:latin typeface="Arial"/>
                <a:cs typeface="Arial"/>
              </a:rPr>
              <a:t>Inclusion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criteria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were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closed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extra-</a:t>
            </a:r>
            <a:r>
              <a:rPr dirty="0" sz="2200">
                <a:latin typeface="Arial"/>
                <a:cs typeface="Arial"/>
              </a:rPr>
              <a:t>articular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fractures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(AO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43-</a:t>
            </a:r>
            <a:r>
              <a:rPr dirty="0" sz="2200">
                <a:latin typeface="Arial"/>
                <a:cs typeface="Arial"/>
              </a:rPr>
              <a:t>A1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to </a:t>
            </a:r>
            <a:r>
              <a:rPr dirty="0" sz="2200">
                <a:latin typeface="Arial"/>
                <a:cs typeface="Arial"/>
              </a:rPr>
              <a:t>A3),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age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18–60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years,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and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fracture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line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4–8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cm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from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the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tibial </a:t>
            </a:r>
            <a:r>
              <a:rPr dirty="0" sz="2200">
                <a:latin typeface="Arial"/>
                <a:cs typeface="Arial"/>
              </a:rPr>
              <a:t>plafond.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Exclusion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criteria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included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open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or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intra-</a:t>
            </a:r>
            <a:r>
              <a:rPr dirty="0" sz="2200">
                <a:latin typeface="Arial"/>
                <a:cs typeface="Arial"/>
              </a:rPr>
              <a:t>articular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fractures, pathological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fractures,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age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&gt;60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years,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and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neurovascular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injury.</a:t>
            </a:r>
            <a:endParaRPr sz="2200">
              <a:latin typeface="Arial"/>
              <a:cs typeface="Arial"/>
            </a:endParaRPr>
          </a:p>
          <a:p>
            <a:pPr marL="241300" marR="146685" indent="-228600">
              <a:lnSpc>
                <a:spcPts val="2380"/>
              </a:lnSpc>
              <a:spcBef>
                <a:spcPts val="985"/>
              </a:spcBef>
              <a:buChar char="•"/>
              <a:tabLst>
                <a:tab pos="241300" algn="l"/>
              </a:tabLst>
            </a:pPr>
            <a:r>
              <a:rPr dirty="0" sz="2200">
                <a:latin typeface="Arial"/>
                <a:cs typeface="Arial"/>
              </a:rPr>
              <a:t>All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patients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underwent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standard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clinical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and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radiological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evaluation, </a:t>
            </a:r>
            <a:r>
              <a:rPr dirty="0" sz="2200">
                <a:latin typeface="Arial"/>
                <a:cs typeface="Arial"/>
              </a:rPr>
              <a:t>followed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by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definitive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fixation.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Postoperatively,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early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mobilization </a:t>
            </a:r>
            <a:r>
              <a:rPr dirty="0" sz="2200">
                <a:latin typeface="Arial"/>
                <a:cs typeface="Arial"/>
              </a:rPr>
              <a:t>was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initiated,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and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patients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were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followed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up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at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2,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6,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12,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and</a:t>
            </a:r>
            <a:r>
              <a:rPr dirty="0" sz="2200" spc="-55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26 </a:t>
            </a:r>
            <a:r>
              <a:rPr dirty="0" sz="2200">
                <a:latin typeface="Arial"/>
                <a:cs typeface="Arial"/>
              </a:rPr>
              <a:t>weeks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until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clinical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and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radiological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union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6506" y="1682495"/>
            <a:ext cx="1251281" cy="447173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64253" y="2012695"/>
            <a:ext cx="1251281" cy="41274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8595" y="-24404"/>
            <a:ext cx="46863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/>
              <a:t>55</a:t>
            </a:r>
            <a:r>
              <a:rPr dirty="0" sz="1150" spc="-20"/>
              <a:t>th</a:t>
            </a:r>
            <a:endParaRPr sz="1150"/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29014" y="1383842"/>
            <a:ext cx="3918585" cy="4343400"/>
            <a:chOff x="129014" y="1383842"/>
            <a:chExt cx="3918585" cy="434340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14" y="1383842"/>
              <a:ext cx="1940420" cy="434318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9439" y="1383842"/>
              <a:ext cx="1978063" cy="4343184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55501" y="1383842"/>
            <a:ext cx="7815390" cy="434318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34280" y="5925070"/>
            <a:ext cx="1282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Preop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x-</a:t>
            </a:r>
            <a:r>
              <a:rPr dirty="0" sz="1800" spc="-25" b="1">
                <a:latin typeface="Arial"/>
                <a:cs typeface="Arial"/>
              </a:rPr>
              <a:t>ray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307463" y="5925070"/>
            <a:ext cx="14097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Postop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x-</a:t>
            </a:r>
            <a:r>
              <a:rPr dirty="0" sz="1800" spc="-25" b="1">
                <a:latin typeface="Arial"/>
                <a:cs typeface="Arial"/>
              </a:rPr>
              <a:t>ray </a:t>
            </a:r>
            <a:r>
              <a:rPr dirty="0" sz="1800" spc="-10" b="1">
                <a:latin typeface="Arial"/>
                <a:cs typeface="Arial"/>
              </a:rPr>
              <a:t>Nailing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771529" y="5925070"/>
            <a:ext cx="1282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Preop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x-</a:t>
            </a:r>
            <a:r>
              <a:rPr dirty="0" sz="1800" spc="-25" b="1">
                <a:latin typeface="Arial"/>
                <a:cs typeface="Arial"/>
              </a:rPr>
              <a:t>ray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253666" y="5925070"/>
            <a:ext cx="2235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Postop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x-</a:t>
            </a:r>
            <a:r>
              <a:rPr dirty="0" sz="1800" b="1">
                <a:latin typeface="Arial"/>
                <a:cs typeface="Arial"/>
              </a:rPr>
              <a:t>ray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Plating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64013" y="1249561"/>
            <a:ext cx="5552440" cy="562229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4000" spc="-10" b="1">
                <a:latin typeface="Arial"/>
                <a:cs typeface="Arial"/>
              </a:rPr>
              <a:t>Results</a:t>
            </a:r>
            <a:endParaRPr sz="4000">
              <a:latin typeface="Arial"/>
              <a:cs typeface="Arial"/>
            </a:endParaRPr>
          </a:p>
          <a:p>
            <a:pPr marL="240029" marR="5080" indent="-227329">
              <a:lnSpc>
                <a:spcPts val="2590"/>
              </a:lnSpc>
              <a:spcBef>
                <a:spcPts val="965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Most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patients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(85%)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were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aged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18–45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years,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consistent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higher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incidence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road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traffic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occupational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injuries.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Outcomes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assessed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included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AOFAS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score,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time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weight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bearing,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and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 spc="-10">
                <a:latin typeface="Arial"/>
                <a:cs typeface="Arial"/>
              </a:rPr>
              <a:t>complications.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ts val="2735"/>
              </a:lnSpc>
              <a:spcBef>
                <a:spcPts val="685"/>
              </a:spcBef>
              <a:buChar char="•"/>
              <a:tabLst>
                <a:tab pos="240029" algn="l"/>
              </a:tabLst>
            </a:pP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mean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radiological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union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time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was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ts val="2590"/>
              </a:lnSpc>
            </a:pPr>
            <a:r>
              <a:rPr dirty="0" sz="2400">
                <a:latin typeface="Arial"/>
                <a:cs typeface="Arial"/>
              </a:rPr>
              <a:t>15.43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weeks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nailing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group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241300" marR="241300">
              <a:lnSpc>
                <a:spcPts val="2590"/>
              </a:lnSpc>
              <a:spcBef>
                <a:spcPts val="185"/>
              </a:spcBef>
            </a:pPr>
            <a:r>
              <a:rPr dirty="0" sz="2400">
                <a:latin typeface="Arial"/>
                <a:cs typeface="Arial"/>
              </a:rPr>
              <a:t>17.30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weeks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plating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group. </a:t>
            </a:r>
            <a:r>
              <a:rPr dirty="0" sz="2400">
                <a:latin typeface="Arial"/>
                <a:cs typeface="Arial"/>
              </a:rPr>
              <a:t>Anterior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knee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pain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occurred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three </a:t>
            </a:r>
            <a:r>
              <a:rPr dirty="0" sz="2400">
                <a:latin typeface="Arial"/>
                <a:cs typeface="Arial"/>
              </a:rPr>
              <a:t>nailing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cases,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while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one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plating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case </a:t>
            </a:r>
            <a:r>
              <a:rPr dirty="0" sz="2400">
                <a:latin typeface="Arial"/>
                <a:cs typeface="Arial"/>
              </a:rPr>
              <a:t>developed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superficial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infection, </a:t>
            </a:r>
            <a:r>
              <a:rPr dirty="0" sz="2400">
                <a:latin typeface="Arial"/>
                <a:cs typeface="Arial"/>
              </a:rPr>
              <a:t>managed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successfully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antibiotics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wound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care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6474" y="1795856"/>
            <a:ext cx="5815495" cy="326628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6474" y="5244566"/>
            <a:ext cx="5855525" cy="1332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96097" y="1170583"/>
            <a:ext cx="5281295" cy="4890135"/>
          </a:xfrm>
          <a:prstGeom prst="rect">
            <a:avLst/>
          </a:prstGeom>
        </p:spPr>
        <p:txBody>
          <a:bodyPr wrap="square" lIns="0" tIns="2273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4000" spc="-10" b="1">
                <a:latin typeface="Arial"/>
                <a:cs typeface="Arial"/>
              </a:rPr>
              <a:t>Conclusion</a:t>
            </a:r>
            <a:endParaRPr sz="4000">
              <a:latin typeface="Arial"/>
              <a:cs typeface="Arial"/>
            </a:endParaRPr>
          </a:p>
          <a:p>
            <a:pPr marL="240029" marR="171450" indent="-227329">
              <a:lnSpc>
                <a:spcPts val="2590"/>
              </a:lnSpc>
              <a:spcBef>
                <a:spcPts val="1340"/>
              </a:spcBef>
              <a:buChar char="•"/>
              <a:tabLst>
                <a:tab pos="241300" algn="l"/>
              </a:tabLst>
            </a:pPr>
            <a:r>
              <a:rPr dirty="0" sz="2400">
                <a:latin typeface="Arial"/>
                <a:cs typeface="Arial"/>
              </a:rPr>
              <a:t>Intramedullary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interlocking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nailing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is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safe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effective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option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extra-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articular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distal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tibia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(AO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43-A)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fractures,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offering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earlier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union, </a:t>
            </a:r>
            <a:r>
              <a:rPr dirty="0" sz="2400" spc="-1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better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ankle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mobility,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fewer 	complications.</a:t>
            </a:r>
            <a:endParaRPr sz="2400">
              <a:latin typeface="Arial"/>
              <a:cs typeface="Arial"/>
            </a:endParaRPr>
          </a:p>
          <a:p>
            <a:pPr marL="240029" marR="477520" indent="-227329">
              <a:lnSpc>
                <a:spcPts val="259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b="1">
                <a:latin typeface="Arial"/>
                <a:cs typeface="Arial"/>
              </a:rPr>
              <a:t>Nailing: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Early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union,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better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ROM, </a:t>
            </a:r>
            <a:r>
              <a:rPr dirty="0" sz="2400" spc="-20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early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mobilization</a:t>
            </a:r>
            <a:endParaRPr sz="2400">
              <a:latin typeface="Arial"/>
              <a:cs typeface="Arial"/>
            </a:endParaRPr>
          </a:p>
          <a:p>
            <a:pPr marL="240029" marR="5080" indent="-227329">
              <a:lnSpc>
                <a:spcPts val="259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b="1">
                <a:latin typeface="Arial"/>
                <a:cs typeface="Arial"/>
              </a:rPr>
              <a:t>Plating: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Higher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infection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risk,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implant 	impingement,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delayed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weight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bearing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5487" y="1944598"/>
            <a:ext cx="6160452" cy="4632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28595" y="-24404"/>
            <a:ext cx="468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-30" b="1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36648" y="55605"/>
            <a:ext cx="2399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53995" y="210757"/>
            <a:ext cx="5669280" cy="941069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14" y="14254"/>
            <a:ext cx="1505559" cy="128016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28181" y="1400009"/>
            <a:ext cx="10012045" cy="4695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 b="1">
                <a:latin typeface="Arial"/>
                <a:cs typeface="Arial"/>
              </a:rPr>
              <a:t>References</a:t>
            </a:r>
            <a:endParaRPr sz="4000">
              <a:latin typeface="Arial"/>
              <a:cs typeface="Arial"/>
            </a:endParaRPr>
          </a:p>
          <a:p>
            <a:pPr marL="188595" marR="41910">
              <a:lnSpc>
                <a:spcPct val="100000"/>
              </a:lnSpc>
              <a:spcBef>
                <a:spcPts val="3170"/>
              </a:spcBef>
            </a:pPr>
            <a:r>
              <a:rPr dirty="0" sz="2400">
                <a:latin typeface="Arial"/>
                <a:cs typeface="Arial"/>
              </a:rPr>
              <a:t>•Janssen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KW,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Biert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van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Kampen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A.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Treatment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distal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tibial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fractures: </a:t>
            </a:r>
            <a:r>
              <a:rPr dirty="0" sz="2400">
                <a:latin typeface="Arial"/>
                <a:cs typeface="Arial"/>
              </a:rPr>
              <a:t>plate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versus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nail.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International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Orthopaedics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(SICOT)</a:t>
            </a:r>
            <a:r>
              <a:rPr dirty="0" sz="2400">
                <a:latin typeface="Arial"/>
                <a:cs typeface="Arial"/>
              </a:rPr>
              <a:t>.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2007;31:709-</a:t>
            </a:r>
            <a:r>
              <a:rPr dirty="0" sz="2400" spc="-20">
                <a:latin typeface="Arial"/>
                <a:cs typeface="Arial"/>
              </a:rPr>
              <a:t>714.</a:t>
            </a:r>
            <a:endParaRPr sz="2400">
              <a:latin typeface="Arial"/>
              <a:cs typeface="Arial"/>
            </a:endParaRPr>
          </a:p>
          <a:p>
            <a:pPr marL="188595" marR="5080">
              <a:lnSpc>
                <a:spcPct val="100000"/>
              </a:lnSpc>
            </a:pPr>
            <a:r>
              <a:rPr dirty="0" sz="2400" spc="-10">
                <a:latin typeface="Arial"/>
                <a:cs typeface="Arial"/>
              </a:rPr>
              <a:t>•Mohammed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Saravanan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R,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Zammit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et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al.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Intramedullary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tibial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nailing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distal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third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tibial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fractures.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Int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Orthop</a:t>
            </a:r>
            <a:r>
              <a:rPr dirty="0" sz="2400">
                <a:latin typeface="Arial"/>
                <a:cs typeface="Arial"/>
              </a:rPr>
              <a:t>.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2008;32(4):547-</a:t>
            </a:r>
            <a:r>
              <a:rPr dirty="0" sz="2400" spc="-20">
                <a:latin typeface="Arial"/>
                <a:cs typeface="Arial"/>
              </a:rPr>
              <a:t>549.</a:t>
            </a:r>
            <a:endParaRPr sz="2400">
              <a:latin typeface="Arial"/>
              <a:cs typeface="Arial"/>
            </a:endParaRPr>
          </a:p>
          <a:p>
            <a:pPr marL="188595" marR="278130">
              <a:lnSpc>
                <a:spcPct val="100000"/>
              </a:lnSpc>
            </a:pPr>
            <a:r>
              <a:rPr dirty="0" sz="2400">
                <a:latin typeface="Arial"/>
                <a:cs typeface="Arial"/>
              </a:rPr>
              <a:t>•Väistö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Toivanen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Kannus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Järvinen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M.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Anterior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knee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pain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after </a:t>
            </a:r>
            <a:r>
              <a:rPr dirty="0" sz="2400">
                <a:latin typeface="Arial"/>
                <a:cs typeface="Arial"/>
              </a:rPr>
              <a:t>intramedullary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nailing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tibial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shaft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fractures.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J</a:t>
            </a:r>
            <a:r>
              <a:rPr dirty="0" sz="2400" spc="-7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Trauma</a:t>
            </a:r>
            <a:r>
              <a:rPr dirty="0" sz="2400">
                <a:latin typeface="Arial"/>
                <a:cs typeface="Arial"/>
              </a:rPr>
              <a:t>.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2008;64:1511- 1516.</a:t>
            </a:r>
            <a:endParaRPr sz="2400">
              <a:latin typeface="Arial"/>
              <a:cs typeface="Arial"/>
            </a:endParaRPr>
          </a:p>
          <a:p>
            <a:pPr marL="188595" marR="192405">
              <a:lnSpc>
                <a:spcPct val="100000"/>
              </a:lnSpc>
            </a:pPr>
            <a:r>
              <a:rPr dirty="0" sz="2400">
                <a:latin typeface="Arial"/>
                <a:cs typeface="Arial"/>
              </a:rPr>
              <a:t>•Soni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K,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Patel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J.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Comparative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study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distal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tibia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fractures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managed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by </a:t>
            </a:r>
            <a:r>
              <a:rPr dirty="0" sz="2400">
                <a:latin typeface="Arial"/>
                <a:cs typeface="Arial"/>
              </a:rPr>
              <a:t>nailing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vs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plating.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National</a:t>
            </a:r>
            <a:r>
              <a:rPr dirty="0" sz="2400" spc="-8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Journal</a:t>
            </a:r>
            <a:r>
              <a:rPr dirty="0" sz="2400" spc="-7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of</a:t>
            </a:r>
            <a:r>
              <a:rPr dirty="0" sz="2400" spc="-8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Clinical</a:t>
            </a:r>
            <a:r>
              <a:rPr dirty="0" sz="2400" spc="-8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Orthopaedics</a:t>
            </a:r>
            <a:r>
              <a:rPr dirty="0" sz="2400" spc="-1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88595">
              <a:lnSpc>
                <a:spcPct val="100000"/>
              </a:lnSpc>
            </a:pPr>
            <a:r>
              <a:rPr dirty="0" sz="2400" spc="-25">
                <a:latin typeface="Arial"/>
                <a:cs typeface="Arial"/>
              </a:rPr>
              <a:t>2018;2(3):106-112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2026-01-23T07:41:22Z</dcterms:created>
  <dcterms:modified xsi:type="dcterms:W3CDTF">2026-01-23T07:41:22Z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2026-01-23T00:00:00Z</vt:filetime>
  </property>
  <property fmtid="{D5CDD505-2E9C-101B-9397-08002B2CF9AE}" pid="3" name="LastSaved">
    <vt:filetime>2026-01-23T00:00:00Z</vt:filetime>
  </property>
  <property fmtid="{D5CDD505-2E9C-101B-9397-08002B2CF9AE}" pid="4" name="Producer">
    <vt:lpwstr>3-Heights(TM) PDF Security Shell 4.8.25.2 (http://www.pdf-tools.com)</vt:lpwstr>
  </property>
</Properties>
</file>