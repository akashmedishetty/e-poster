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6" r:id="rId5"/>
    <p:sldId id="274" r:id="rId6"/>
    <p:sldId id="293" r:id="rId7"/>
    <p:sldId id="283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178617-43EF-8249-88A0-9FDF9470AE91}" v="35" dt="2026-01-31T06:54:09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5530"/>
  </p:normalViewPr>
  <p:slideViewPr>
    <p:cSldViewPr snapToGrid="0">
      <p:cViewPr varScale="1">
        <p:scale>
          <a:sx n="89" d="100"/>
          <a:sy n="89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F2284E-3A50-73F9-7263-854BD66DF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8528" y="1411941"/>
            <a:ext cx="9659471" cy="2407024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COMPARATIVE STUDY OF CONSERVATIVE MANAGEMENT VERSUS ANATOMICAL LOCKING PLATE FIXATION IN MIDSHAFT CLAVICLE FRACTURES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26C3008-B11D-29BA-A264-3C10D41F0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76057"/>
            <a:ext cx="12192000" cy="188105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Author : Dr. MAKAM JAGADEESH BABU Postgraduate Dept. of Ortho GMC-KADAPA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Co-Author: Dr. K.B.VIJAYA MOHAN REDDY Prof &amp; HOD, Dept. Of Ortho GMC-KADAPA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Co-Author: Dr. GUDE JAYARAM Associate Professor Dept. of Ortho GMC-KADAPA</a:t>
            </a:r>
          </a:p>
          <a:p>
            <a:r>
              <a:rPr lang="en-US" dirty="0"/>
              <a:t>Co-Author: Dr. M. Chatrapathi Hanuman Assistant Professor, Dept. of Ortho GMC-KADAPA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03D5-34B7-7E36-11BF-B3FA715F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3038"/>
            <a:ext cx="10515600" cy="685799"/>
          </a:xfrm>
        </p:spPr>
        <p:txBody>
          <a:bodyPr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B029-F2F0-5C08-076C-D30AD813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1713"/>
            <a:ext cx="10515600" cy="4214812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Clavicle fractures are common injuries of the shoulder girdle, with midshaft fractures accounting for approximately 70–80% of all clavicle fractures.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Although conservative management has traditionally been the standard treatment, displaced midshaft clavicle fractures are associated with higher rates of malunion and delayed union.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Surgical fixation using anatomical locking plates provides stable fixation and facilitates early mobilization.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AIM : THIS STUDY COMPARES THE FUNCTIONAL AND RADIOLOGICAL OUTCOMES OF CONSERVATIVE MANAGEMENT AND ANATOMICAL LOCKING PLATE FIXATION IN ADULT MIDSHAFT CLAVICLE FRACTURES.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5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1607-ED72-BFBD-B05B-D8883ED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A7AE-840F-27C7-D26C-E02305EB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473"/>
            <a:ext cx="10515600" cy="522515"/>
          </a:xfrm>
        </p:spPr>
        <p:txBody>
          <a:bodyPr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METHOD OF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0E12-CD27-DF18-39CA-61AB8D7B6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3" y="1867987"/>
            <a:ext cx="11090366" cy="4767943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total of 40 adult patients with closed midshaft clavicle fractures were included in the study and divided into two groups: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 A (n = 20): Managed conservatively using an arm sling or figure-of-eight bandage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 B (n = 20): Treated surgically with open reduction and internal fixation using an anatomical locking plate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were followed up clinically and radiologically every 4weeks .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Fracture union,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Complications,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to return to daily activities were documented.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Functional outcomes were assessed using the Constant–Murley score and DASH score.</a:t>
            </a:r>
          </a:p>
        </p:txBody>
      </p:sp>
    </p:spTree>
    <p:extLst>
      <p:ext uri="{BB962C8B-B14F-4D97-AF65-F5344CB8AC3E}">
        <p14:creationId xmlns:p14="http://schemas.microsoft.com/office/powerpoint/2010/main" val="225534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5F66-2F43-3F23-F7BB-FC0AE924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9700"/>
            <a:ext cx="10515600" cy="558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Operative Technique – Group A (20 Patients)</a:t>
            </a:r>
            <a:r>
              <a:rPr lang="en-US" sz="2800" dirty="0"/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D075-437A-DC7D-96A2-7FADE719F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6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Treatment was carried out using an arm sling or figure-of-eight bandage.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Immobilization was continued for pain relief, followed by gradual mobilization.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Pendulum exercises and shoulder range-of-motion exercises were initiated once pain permitted.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were followed up regularly for clinical and radiological assessment of fracture healing.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2E341B-1CED-F81E-1817-DDAC4FEC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403126"/>
            <a:ext cx="5181600" cy="36789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81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9D7BBA-EDB7-9E0D-D912-5E67021B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00"/>
            <a:ext cx="10515600" cy="5334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Operative Technique – Group B (20 Patients)</a:t>
            </a:r>
            <a:r>
              <a:rPr lang="en-US" sz="2800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8F0FA7-4139-CB4E-2117-F0FF041F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901"/>
            <a:ext cx="10515600" cy="48895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Anesthesia : General / Reginal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patient was positioned supine with a sandbag beneath the ipsilateral scapula.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incision was made over the superior aspect of the clavicle centered over the fracture site.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Fracture fragments were anatomically reduced and fixed using Clavicle plate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placed on the superior surface.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Adequate screw fixation was achieved on either side of the fracture.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Wound closure was done in layers and the limb supported in a sling postoperatively.</a:t>
            </a:r>
          </a:p>
        </p:txBody>
      </p:sp>
    </p:spTree>
    <p:extLst>
      <p:ext uri="{BB962C8B-B14F-4D97-AF65-F5344CB8AC3E}">
        <p14:creationId xmlns:p14="http://schemas.microsoft.com/office/powerpoint/2010/main" val="294961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erson's mouth&#10;&#10;AI-generated content may be incorrect.">
            <a:extLst>
              <a:ext uri="{FF2B5EF4-FFF2-40B4-BE49-F238E27FC236}">
                <a16:creationId xmlns:a16="http://schemas.microsoft.com/office/drawing/2014/main" id="{B2FA2334-F959-8BB6-5D32-4509D0EFA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4" y="1251432"/>
            <a:ext cx="3500232" cy="5606568"/>
          </a:xfrm>
          <a:prstGeom prst="rect">
            <a:avLst/>
          </a:prstGeom>
        </p:spPr>
      </p:pic>
      <p:pic>
        <p:nvPicPr>
          <p:cNvPr id="3" name="Google Shape;325;p6">
            <a:extLst>
              <a:ext uri="{FF2B5EF4-FFF2-40B4-BE49-F238E27FC236}">
                <a16:creationId xmlns:a16="http://schemas.microsoft.com/office/drawing/2014/main" id="{6E973C11-E776-428E-0A42-C0084DF0E6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503" t="25317" b="13397"/>
          <a:stretch/>
        </p:blipFill>
        <p:spPr>
          <a:xfrm>
            <a:off x="8951601" y="1295938"/>
            <a:ext cx="3240399" cy="274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6;p6">
            <a:extLst>
              <a:ext uri="{FF2B5EF4-FFF2-40B4-BE49-F238E27FC236}">
                <a16:creationId xmlns:a16="http://schemas.microsoft.com/office/drawing/2014/main" id="{DDF9F568-B606-6A14-FA16-D6FC6E9582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372" t="23701" r="11755" b="19730"/>
          <a:stretch/>
        </p:blipFill>
        <p:spPr>
          <a:xfrm>
            <a:off x="8951600" y="4054716"/>
            <a:ext cx="3240400" cy="280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7903B9-1FA6-FA4E-F9D0-843FDA4DB5E5}"/>
              </a:ext>
            </a:extLst>
          </p:cNvPr>
          <p:cNvSpPr txBox="1"/>
          <p:nvPr/>
        </p:nvSpPr>
        <p:spPr>
          <a:xfrm>
            <a:off x="3657600" y="43732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X-ray of a shoulder joint&#10;&#10;AI-generated content may be incorrect.">
            <a:extLst>
              <a:ext uri="{FF2B5EF4-FFF2-40B4-BE49-F238E27FC236}">
                <a16:creationId xmlns:a16="http://schemas.microsoft.com/office/drawing/2014/main" id="{7CC61F5C-4824-C20B-1242-9A198CDF5A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23" y="1251432"/>
            <a:ext cx="5528566" cy="560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6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EEBFBB-535C-A9E6-D959-D87D06EFA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20761"/>
              </p:ext>
            </p:extLst>
          </p:nvPr>
        </p:nvGraphicFramePr>
        <p:xfrm>
          <a:off x="0" y="1328738"/>
          <a:ext cx="12192000" cy="737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053937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78887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48563096"/>
                    </a:ext>
                  </a:extLst>
                </a:gridCol>
              </a:tblGrid>
              <a:tr h="6143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Group A (Conservative)</a:t>
                      </a:r>
                      <a:endParaRPr lang="en-US" sz="1800" dirty="0">
                        <a:latin typeface="Arial" panose="020B0604020202020204" pitchFamily="34" charset="0"/>
                        <a:ea typeface="ADLaM Display" panose="02010000000000000000" pitchFamily="2" charset="7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Group B (Plate Fixation)</a:t>
                      </a:r>
                      <a:endParaRPr lang="en-US" sz="1800" dirty="0">
                        <a:latin typeface="Arial" panose="020B0604020202020204" pitchFamily="34" charset="0"/>
                        <a:ea typeface="ADLaM Display" panose="02010000000000000000" pitchFamily="2" charset="7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122826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Treatment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Arm sling / Figure-of-eight bandage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ORIF with anatomical locking plate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369351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Time to 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16.6 week for 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6.4  weeks for union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823567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Functional 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Acceptable in undisplaced fractures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Better early functional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899587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Malunion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More common (2/20)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Rare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14030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Nonunion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Low (1/20)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872465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Delayed 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More frequent (4/20)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Rare (1/20)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074493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Complications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Malunion, cosmetic deformity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Infection, implant irritation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776596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Return to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Delayed (12-18wks)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Earlier (8wks)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46823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Cosmetic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No scar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Hypertrophic scar (2/20)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491290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Infection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Superficial (1/20)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990955"/>
                  </a:ext>
                </a:extLst>
              </a:tr>
              <a:tr h="6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Patient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ea typeface="ADLaM Display" panose="02010000000000000000" pitchFamily="2" charset="77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62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47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DEF40C-6DF4-9476-B5C6-B396852CF24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14053303"/>
              </p:ext>
            </p:extLst>
          </p:nvPr>
        </p:nvGraphicFramePr>
        <p:xfrm>
          <a:off x="0" y="1271588"/>
          <a:ext cx="12192000" cy="5731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295">
                  <a:extLst>
                    <a:ext uri="{9D8B030D-6E8A-4147-A177-3AD203B41FA5}">
                      <a16:colId xmlns:a16="http://schemas.microsoft.com/office/drawing/2014/main" val="740788076"/>
                    </a:ext>
                  </a:extLst>
                </a:gridCol>
                <a:gridCol w="4062295">
                  <a:extLst>
                    <a:ext uri="{9D8B030D-6E8A-4147-A177-3AD203B41FA5}">
                      <a16:colId xmlns:a16="http://schemas.microsoft.com/office/drawing/2014/main" val="3233235315"/>
                    </a:ext>
                  </a:extLst>
                </a:gridCol>
                <a:gridCol w="4067410">
                  <a:extLst>
                    <a:ext uri="{9D8B030D-6E8A-4147-A177-3AD203B41FA5}">
                      <a16:colId xmlns:a16="http://schemas.microsoft.com/office/drawing/2014/main" val="2860616240"/>
                    </a:ext>
                  </a:extLst>
                </a:gridCol>
              </a:tblGrid>
              <a:tr h="671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PARAMETER</a:t>
                      </a:r>
                      <a:endParaRPr lang="en-US" sz="2400" dirty="0">
                        <a:latin typeface="Arial" panose="020B0604020202020204" pitchFamily="34" charset="0"/>
                        <a:ea typeface="ADLaM Display" panose="02010000000000000000" pitchFamily="2" charset="7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/>
                        <a:t>Group A (Conservative)</a:t>
                      </a:r>
                      <a:endParaRPr lang="en-US" sz="2400" dirty="0">
                        <a:latin typeface="Arial" panose="020B0604020202020204" pitchFamily="34" charset="0"/>
                        <a:ea typeface="ADLaM Display" panose="02010000000000000000" pitchFamily="2" charset="7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Group B (Plate Fixation)</a:t>
                      </a:r>
                      <a:endParaRPr lang="en-US" sz="2400" dirty="0">
                        <a:latin typeface="Arial" panose="020B0604020202020204" pitchFamily="34" charset="0"/>
                        <a:ea typeface="ADLaM Display" panose="02010000000000000000" pitchFamily="2" charset="7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47863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Mean DASH score</a:t>
                      </a:r>
                      <a:endParaRPr lang="en-US" sz="2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24 ± 5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10 ± 4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775710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&lt; 10 (Excellent)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4 (20%)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14 (70%)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451167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10–30 (Good)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10 (50%)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6 (30%)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290005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&gt; 30 (Poor)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6 (30%)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0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758877"/>
                  </a:ext>
                </a:extLst>
              </a:tr>
              <a:tr h="534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Mean Murley score</a:t>
                      </a:r>
                      <a:endParaRPr lang="en-US" sz="2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78 ± 6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90 ± 5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781478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Excellent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6 (30%)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12 (60%)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909307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Good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8 (40%)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6 (30%)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248234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Fair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4 (20%)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2 (10%)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368176"/>
                  </a:ext>
                </a:extLst>
              </a:tr>
              <a:tr h="56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Poor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 (10%)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0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879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80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</TotalTime>
  <Words>613</Words>
  <Application>Microsoft Macintosh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Gordita </vt:lpstr>
      <vt:lpstr>Office Theme</vt:lpstr>
      <vt:lpstr>COMPARATIVE STUDY OF CONSERVATIVE MANAGEMENT VERSUS ANATOMICAL LOCKING PLATE FIXATION IN MIDSHAFT CLAVICLE FRACTURES</vt:lpstr>
      <vt:lpstr>INTRODUCTION</vt:lpstr>
      <vt:lpstr>METHOD OF STUDY</vt:lpstr>
      <vt:lpstr>Operative Technique – Group A (20 Patients) </vt:lpstr>
      <vt:lpstr>Operative Technique – Group B (20 Patients)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Office</cp:lastModifiedBy>
  <cp:revision>6</cp:revision>
  <dcterms:created xsi:type="dcterms:W3CDTF">2026-01-11T06:24:43Z</dcterms:created>
  <dcterms:modified xsi:type="dcterms:W3CDTF">2026-01-31T07:11:15Z</dcterms:modified>
</cp:coreProperties>
</file>