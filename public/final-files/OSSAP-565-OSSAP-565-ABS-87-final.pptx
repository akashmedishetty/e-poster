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Props2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viewProps2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</p:sldIdLst>
  <p:sldSz cy="30266625" cx="427939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2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2.xml"/><Relationship Id="rId3" Type="http://schemas.openxmlformats.org/officeDocument/2006/relationships/presProps" Target="presProps2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C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"/>
          <p:cNvSpPr/>
          <p:nvPr/>
        </p:nvSpPr>
        <p:spPr>
          <a:xfrm>
            <a:off x="914400" y="3200400"/>
            <a:ext cx="9841500" cy="566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3466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127000" spcFirstLastPara="1" rIns="1270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466A4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3466A4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GCT is a benign but locally aggressive osteolytic tumor arising from epiphyseal bone.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Accounts for ~5% of primary bone tumors; hand involvement &lt;5%.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Hand lesions demonstrate higher recurrence and cortical breach.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Early diagnosis prevents joint destruction and tendon compromise.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Treatment must balance oncologic clearance with hand function preservation</a:t>
            </a: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943038" y="11785200"/>
            <a:ext cx="11151000" cy="49593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rgbClr val="008C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127000" spcFirstLastPara="1" rIns="1270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C5F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008C5F"/>
                </a:solidFill>
                <a:latin typeface="Calibri"/>
                <a:ea typeface="Calibri"/>
                <a:cs typeface="Calibri"/>
                <a:sym typeface="Calibri"/>
              </a:rPr>
              <a:t>CASE REPORT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51-year-old female with painless progressive swelling over right 4th MCP region.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Duration 2 months, insidious onset, gradual progression.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No trauma, fever, tuberculosis or constitutional symptoms.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Local exam: firm non-fluctuant swelling, egg-shell crackling.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Restricted MCP motion; intact skin and neurovascular status</a:t>
            </a:r>
            <a:r>
              <a:rPr b="0" i="0" lang="en-US" sz="2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943050" y="23514450"/>
            <a:ext cx="10491000" cy="61254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rgbClr val="2878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127000" spcFirstLastPara="1" rIns="1270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78C8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2878C8"/>
                </a:solidFill>
                <a:latin typeface="Calibri"/>
                <a:ea typeface="Calibri"/>
                <a:cs typeface="Calibri"/>
                <a:sym typeface="Calibri"/>
              </a:rPr>
              <a:t>IMAGING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X-ray: expansile, well-defined lytic lesion in 4th metacarpal head.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Cortical thinning and ballooning without matrix calcification.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No periosteal reaction or sclerosis.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MRI suggestive of benign aggressive lesion consistent with GCT.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Differentials: enchondroma, aneurysmal bone cyst.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12094050" y="3600038"/>
            <a:ext cx="10491000" cy="56697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 cap="flat" cmpd="sng" w="9525">
            <a:solidFill>
              <a:srgbClr val="B43C3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127000" spcFirstLastPara="1" rIns="1270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3C3C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B43C3C"/>
                </a:solidFill>
                <a:latin typeface="Calibri"/>
                <a:ea typeface="Calibri"/>
                <a:cs typeface="Calibri"/>
                <a:sym typeface="Calibri"/>
              </a:rPr>
              <a:t>OPERATIVE FINDINGS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Dorsal approach under tourniquet control.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Friable brown tumor tissue with cortical breach.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Extended intralesional curettage and burring performed.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Temporary K-wire fixation for length maintenance.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Staged reconstruction planned after histopathology and surveillance.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27152288" y="22235749"/>
            <a:ext cx="11151000" cy="61254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785AA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127000" spcFirstLastPara="1" rIns="1270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85AA0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785AA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Hand GCT shows higher recurrence than long bone counterparts.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Joint proximity leads to early articular invasion.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En bloc excision reduces recurrence but compromises function.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Staged curettage allows biological behavior assessment.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Regular radiologic follow-up mandatory for early recurrence detection.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26528900" y="3600050"/>
            <a:ext cx="12397800" cy="56697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 cap="flat" cmpd="sng" w="9525">
            <a:solidFill>
              <a:srgbClr val="DC8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3214"/>
              </a:buClr>
              <a:buSzPts val="2600"/>
              <a:buFont typeface="Calibri"/>
              <a:buNone/>
            </a:pPr>
            <a:r>
              <a:rPr b="1" i="0" lang="en-US" sz="3000" u="none" cap="none" strike="noStrike">
                <a:solidFill>
                  <a:srgbClr val="503214"/>
                </a:solidFill>
                <a:latin typeface="Calibri"/>
                <a:ea typeface="Calibri"/>
                <a:cs typeface="Calibri"/>
                <a:sym typeface="Calibri"/>
              </a:rPr>
              <a:t>KEY LEARNING POINTS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Metacarpal GCT is rare but biologically aggressive.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Imaging guides extent and joint involvement.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Staged curettage preserves function while ensuring safety.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Temporary fixation maintains length and alignment.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Calibri"/>
              <a:buNone/>
            </a:pPr>
            <a:r>
              <a:rPr b="0" i="0" lang="en-US" sz="3000" u="none" cap="none" strike="noStrike">
                <a:solidFill>
                  <a:srgbClr val="282828"/>
                </a:solidFill>
                <a:latin typeface="Calibri"/>
                <a:ea typeface="Calibri"/>
                <a:cs typeface="Calibri"/>
                <a:sym typeface="Calibri"/>
              </a:rPr>
              <a:t>• Long-term surveillance is essential.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creenshot_2026-01-26-18-50-10-29_6012fa4d4ddec268fc5c7112cbb265e7~2.jpg" id="48" name="Google Shape;48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45750" y="17066776"/>
            <a:ext cx="8285589" cy="6125399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pic>
        <p:nvPicPr>
          <p:cNvPr descr="Screenshot_2026-01-26-18-52-16-90_6012fa4d4ddec268fc5c7112cbb265e7~2.jpg" id="49" name="Google Shape;49;p1"/>
          <p:cNvPicPr preferRelativeResize="0"/>
          <p:nvPr/>
        </p:nvPicPr>
        <p:blipFill rotWithShape="1">
          <a:blip r:embed="rId3">
            <a:alphaModFix/>
          </a:blip>
          <a:srcRect b="0" l="18280" r="0" t="0"/>
          <a:stretch/>
        </p:blipFill>
        <p:spPr>
          <a:xfrm>
            <a:off x="26528912" y="9592862"/>
            <a:ext cx="6739850" cy="11142350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pic>
        <p:nvPicPr>
          <p:cNvPr descr="Screenshot_2026-01-26-18-52-37-29_6012fa4d4ddec268fc5c7112cbb265e7~2.jpg" id="50" name="Google Shape;5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43313" y="9766829"/>
            <a:ext cx="7734425" cy="5805066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pic>
        <p:nvPicPr>
          <p:cNvPr descr="Screenshot_2026-01-26-18-56-48-23_6012fa4d4ddec268fc5c7112cbb265e7.jpg" id="51" name="Google Shape;51;p1"/>
          <p:cNvPicPr preferRelativeResize="0"/>
          <p:nvPr/>
        </p:nvPicPr>
        <p:blipFill rotWithShape="1">
          <a:blip r:embed="rId5">
            <a:alphaModFix/>
          </a:blip>
          <a:srcRect b="10922" l="0" r="0" t="20035"/>
          <a:stretch/>
        </p:blipFill>
        <p:spPr>
          <a:xfrm flipH="1">
            <a:off x="35540624" y="16068975"/>
            <a:ext cx="6739801" cy="5669699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pic>
        <p:nvPicPr>
          <p:cNvPr descr="Screenshot_2026-01-26-19-01-29-74_965bbf4d18d205f782c6b8409c5773a4~2.jpg" id="52" name="Google Shape;5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969648" y="9304800"/>
            <a:ext cx="6739800" cy="5689106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pic>
        <p:nvPicPr>
          <p:cNvPr descr="Screenshot_2026-01-26-19-02-24-06_965bbf4d18d205f782c6b8409c5773a4~2.jpg" id="53" name="Google Shape;53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987663" y="22131938"/>
            <a:ext cx="7734427" cy="7315200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pic>
        <p:nvPicPr>
          <p:cNvPr descr="Screenshot_2026-01-26-18-52-42-53_6012fa4d4ddec268fc5c7112cbb265e7~2.jpg" id="54" name="Google Shape;54;p1"/>
          <p:cNvPicPr preferRelativeResize="0"/>
          <p:nvPr/>
        </p:nvPicPr>
        <p:blipFill rotWithShape="1">
          <a:blip r:embed="rId8">
            <a:alphaModFix/>
          </a:blip>
          <a:srcRect b="-16022" l="14943" r="13962" t="0"/>
          <a:stretch/>
        </p:blipFill>
        <p:spPr>
          <a:xfrm>
            <a:off x="20275713" y="22131941"/>
            <a:ext cx="5499051" cy="6528675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sp>
        <p:nvSpPr>
          <p:cNvPr id="55" name="Google Shape;55;p1"/>
          <p:cNvSpPr/>
          <p:nvPr/>
        </p:nvSpPr>
        <p:spPr>
          <a:xfrm>
            <a:off x="0" y="0"/>
            <a:ext cx="42793800" cy="2926200"/>
          </a:xfrm>
          <a:prstGeom prst="rect">
            <a:avLst/>
          </a:prstGeom>
          <a:solidFill>
            <a:srgbClr val="144178"/>
          </a:solidFill>
          <a:ln>
            <a:noFill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-1502350" y="274326"/>
            <a:ext cx="39045900" cy="22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55th Annual Conference of Orthopaedic Surgeons Society of Andhra Pradesh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6–8 February 2026 | Kurnool Medical College, Kurnool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Organised by Department of Orthopaedics, Kurnool Medical College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                                 </a:t>
            </a:r>
            <a:r>
              <a:rPr b="1" i="1" lang="en-US" sz="3400" u="sng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Giant Cell Tumour of the Head of Fourth Metacarpal – A Rare Case Report</a:t>
            </a:r>
            <a:endParaRPr b="0" i="1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9593520" y="365760"/>
            <a:ext cx="2743200" cy="2194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914400" y="-183800"/>
            <a:ext cx="3658108" cy="2927008"/>
          </a:xfrm>
          <a:custGeom>
            <a:rect b="b" l="l" r="r" t="t"/>
            <a:pathLst>
              <a:path extrusionOk="0" h="1957865" w="2254612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10849" l="0" r="-4889" t="-993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" name="Google Shape;5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9136075" y="-135798"/>
            <a:ext cx="3658100" cy="2993271"/>
          </a:xfrm>
          <a:prstGeom prst="rect">
            <a:avLst/>
          </a:prstGeom>
          <a:noFill/>
          <a:ln cap="flat" cmpd="sng" w="38100">
            <a:solidFill>
              <a:srgbClr val="323232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60" name="Google Shape;60;p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-1">
            <a:off x="14901937" y="15210918"/>
            <a:ext cx="8819081" cy="6704013"/>
          </a:xfrm>
          <a:prstGeom prst="rect">
            <a:avLst/>
          </a:prstGeom>
          <a:noFill/>
          <a:ln w="38100">
            <a:solidFill>
              <a:srgbClr val="323232"/>
            </a:solidFill>
          </a:ln>
        </p:spPr>
      </p:pic>
      <p:sp>
        <p:nvSpPr>
          <p:cNvPr id="61" name="Google Shape;61;p1"/>
          <p:cNvSpPr txBox="1"/>
          <p:nvPr/>
        </p:nvSpPr>
        <p:spPr>
          <a:xfrm flipH="1">
            <a:off x="30149475" y="27506850"/>
            <a:ext cx="126447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 ADITHYA SATISH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POST GRADUATE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 OF ORTHOPAEDICS, 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GMC/GGH GUNTUR</a:t>
            </a:r>
            <a:endParaRPr b="1" sz="32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