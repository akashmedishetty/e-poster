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 /><Relationship Id="rId7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8" name="Shape 10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ptos"/>
      </a:defRPr>
    </a:lvl1pPr>
    <a:lvl2pPr indent="228600" latinLnBrk="0">
      <a:defRPr sz="1200">
        <a:latin typeface="+mn-lt"/>
        <a:ea typeface="+mn-ea"/>
        <a:cs typeface="+mn-cs"/>
        <a:sym typeface="Aptos"/>
      </a:defRPr>
    </a:lvl2pPr>
    <a:lvl3pPr indent="457200" latinLnBrk="0">
      <a:defRPr sz="1200">
        <a:latin typeface="+mn-lt"/>
        <a:ea typeface="+mn-ea"/>
        <a:cs typeface="+mn-cs"/>
        <a:sym typeface="Aptos"/>
      </a:defRPr>
    </a:lvl3pPr>
    <a:lvl4pPr indent="685800" latinLnBrk="0">
      <a:defRPr sz="1200">
        <a:latin typeface="+mn-lt"/>
        <a:ea typeface="+mn-ea"/>
        <a:cs typeface="+mn-cs"/>
        <a:sym typeface="Aptos"/>
      </a:defRPr>
    </a:lvl4pPr>
    <a:lvl5pPr indent="914400" latinLnBrk="0">
      <a:defRPr sz="1200">
        <a:latin typeface="+mn-lt"/>
        <a:ea typeface="+mn-ea"/>
        <a:cs typeface="+mn-cs"/>
        <a:sym typeface="Aptos"/>
      </a:defRPr>
    </a:lvl5pPr>
    <a:lvl6pPr indent="1143000" latinLnBrk="0">
      <a:defRPr sz="1200">
        <a:latin typeface="+mn-lt"/>
        <a:ea typeface="+mn-ea"/>
        <a:cs typeface="+mn-cs"/>
        <a:sym typeface="Aptos"/>
      </a:defRPr>
    </a:lvl6pPr>
    <a:lvl7pPr indent="1371600" latinLnBrk="0">
      <a:defRPr sz="1200">
        <a:latin typeface="+mn-lt"/>
        <a:ea typeface="+mn-ea"/>
        <a:cs typeface="+mn-cs"/>
        <a:sym typeface="Aptos"/>
      </a:defRPr>
    </a:lvl7pPr>
    <a:lvl8pPr indent="1600200" latinLnBrk="0">
      <a:defRPr sz="1200">
        <a:latin typeface="+mn-lt"/>
        <a:ea typeface="+mn-ea"/>
        <a:cs typeface="+mn-cs"/>
        <a:sym typeface="Aptos"/>
      </a:defRPr>
    </a:lvl8pPr>
    <a:lvl9pPr indent="1828800" latinLnBrk="0">
      <a:defRPr sz="1200">
        <a:latin typeface="+mn-lt"/>
        <a:ea typeface="+mn-ea"/>
        <a:cs typeface="+mn-cs"/>
        <a:sym typeface="Apto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"/>
          <p:cNvSpPr/>
          <p:nvPr/>
        </p:nvSpPr>
        <p:spPr>
          <a:xfrm>
            <a:off x="-1" y="-1"/>
            <a:ext cx="12192000" cy="1280158"/>
          </a:xfrm>
          <a:prstGeom prst="rect">
            <a:avLst/>
          </a:prstGeom>
          <a:solidFill>
            <a:srgbClr val="01234D"/>
          </a:solidFill>
          <a:ln w="19050">
            <a:solidFill>
              <a:srgbClr val="525755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0" name="Picture 14" descr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84" y="74822"/>
            <a:ext cx="1043155" cy="1043154"/>
          </a:xfrm>
          <a:prstGeom prst="rect">
            <a:avLst/>
          </a:prstGeom>
          <a:ln w="12700">
            <a:miter lim="400000"/>
          </a:ln>
        </p:spPr>
      </p:pic>
      <p:pic>
        <p:nvPicPr>
          <p:cNvPr id="21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7316" y="123389"/>
            <a:ext cx="884048" cy="88404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" name="Picture 16" descr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7892" y="192303"/>
            <a:ext cx="785941" cy="78594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TextBox 17"/>
          <p:cNvSpPr txBox="1"/>
          <p:nvPr/>
        </p:nvSpPr>
        <p:spPr>
          <a:xfrm>
            <a:off x="2620968" y="27424"/>
            <a:ext cx="5906909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pPr>
            <a:r>
              <a:t>55</a:t>
            </a:r>
            <a:r>
              <a:rPr baseline="30000"/>
              <a:t>th</a:t>
            </a:r>
            <a:r>
              <a:t>   Annual Conference of </a:t>
            </a:r>
          </a:p>
          <a:p>
            <a:pPr>
              <a:defRPr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pPr>
            <a:r>
              <a:t>Orthopedic Surgeon Society of Andhra Pradesh</a:t>
            </a:r>
          </a:p>
        </p:txBody>
      </p:sp>
      <p:sp>
        <p:nvSpPr>
          <p:cNvPr id="24" name="TextBox 18"/>
          <p:cNvSpPr txBox="1"/>
          <p:nvPr/>
        </p:nvSpPr>
        <p:spPr>
          <a:xfrm>
            <a:off x="2646937" y="653897"/>
            <a:ext cx="6216055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lvl1pPr>
          </a:lstStyle>
          <a:p>
            <a:r>
              <a:t>Date 6 – 8 February,2026, Venue : Kurnool Medical College</a:t>
            </a:r>
          </a:p>
        </p:txBody>
      </p:sp>
      <p:sp>
        <p:nvSpPr>
          <p:cNvPr id="25" name="TextBox 19"/>
          <p:cNvSpPr txBox="1"/>
          <p:nvPr/>
        </p:nvSpPr>
        <p:spPr>
          <a:xfrm>
            <a:off x="2620969" y="913339"/>
            <a:ext cx="702259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lvl1pPr>
          </a:lstStyle>
          <a:p>
            <a:r>
              <a:t>Organized by : Department of Orthopaedics, Kurnool Medical College Kurnool</a:t>
            </a:r>
          </a:p>
        </p:txBody>
      </p:sp>
      <p:sp>
        <p:nvSpPr>
          <p:cNvPr id="26" name="Freeform 13"/>
          <p:cNvSpPr/>
          <p:nvPr/>
        </p:nvSpPr>
        <p:spPr>
          <a:xfrm>
            <a:off x="560813" y="14254"/>
            <a:ext cx="1505562" cy="1280159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4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5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5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6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0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99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0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3.pn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image" Target="../media/image2.png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image" Target="../media/image1.png" /><Relationship Id="rId5" Type="http://schemas.openxmlformats.org/officeDocument/2006/relationships/slideLayout" Target="../slideLayouts/slideLayout5.xml" /><Relationship Id="rId10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image" Target="../media/image4.png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-1"/>
            <a:ext cx="12192000" cy="1280158"/>
          </a:xfrm>
          <a:prstGeom prst="rect">
            <a:avLst/>
          </a:prstGeom>
          <a:solidFill>
            <a:srgbClr val="01234D"/>
          </a:solidFill>
          <a:ln w="19050">
            <a:solidFill>
              <a:srgbClr val="525755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" name="Picture 14" descr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06884" y="74822"/>
            <a:ext cx="1043155" cy="104315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Picture 15" descr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47316" y="123389"/>
            <a:ext cx="884048" cy="88404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16" descr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27892" y="192303"/>
            <a:ext cx="785941" cy="785941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extBox 17"/>
          <p:cNvSpPr txBox="1"/>
          <p:nvPr/>
        </p:nvSpPr>
        <p:spPr>
          <a:xfrm>
            <a:off x="2620968" y="27424"/>
            <a:ext cx="5906909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pPr>
            <a:r>
              <a:t>55</a:t>
            </a:r>
            <a:r>
              <a:rPr baseline="30000"/>
              <a:t>th</a:t>
            </a:r>
            <a:r>
              <a:t>   Annual Conference of </a:t>
            </a:r>
          </a:p>
          <a:p>
            <a:pPr>
              <a:defRPr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pPr>
            <a:r>
              <a:t>Orthopedic Surgeon Society of Andhra Pradesh</a:t>
            </a:r>
          </a:p>
        </p:txBody>
      </p:sp>
      <p:sp>
        <p:nvSpPr>
          <p:cNvPr id="7" name="TextBox 18"/>
          <p:cNvSpPr txBox="1"/>
          <p:nvPr/>
        </p:nvSpPr>
        <p:spPr>
          <a:xfrm>
            <a:off x="2646937" y="653897"/>
            <a:ext cx="6216055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lvl1pPr>
          </a:lstStyle>
          <a:p>
            <a:r>
              <a:t>Date 6 – 8 February,2026, Venue : Kurnool Medical College</a:t>
            </a:r>
          </a:p>
        </p:txBody>
      </p:sp>
      <p:sp>
        <p:nvSpPr>
          <p:cNvPr id="8" name="TextBox 19"/>
          <p:cNvSpPr txBox="1"/>
          <p:nvPr/>
        </p:nvSpPr>
        <p:spPr>
          <a:xfrm>
            <a:off x="2620969" y="913339"/>
            <a:ext cx="702259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lvl1pPr>
          </a:lstStyle>
          <a:p>
            <a:r>
              <a:t>Organized by : Department of Orthopaedics, Kurnool Medical College Kurnool</a:t>
            </a:r>
          </a:p>
        </p:txBody>
      </p:sp>
      <p:sp>
        <p:nvSpPr>
          <p:cNvPr id="9" name="Freeform 13"/>
          <p:cNvSpPr/>
          <p:nvPr/>
        </p:nvSpPr>
        <p:spPr>
          <a:xfrm>
            <a:off x="560813" y="14254"/>
            <a:ext cx="1505562" cy="1280159"/>
          </a:xfrm>
          <a:prstGeom prst="rect">
            <a:avLst/>
          </a:prstGeom>
          <a:blipFill>
            <a:blip r:embed="rId1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Title Text</a:t>
            </a:r>
          </a:p>
        </p:txBody>
      </p:sp>
      <p:sp>
        <p:nvSpPr>
          <p:cNvPr id="11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10600" y="6356350"/>
            <a:ext cx="358413" cy="37084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 /><Relationship Id="rId3" Type="http://schemas.openxmlformats.org/officeDocument/2006/relationships/image" Target="../media/image2.png" /><Relationship Id="rId7" Type="http://schemas.openxmlformats.org/officeDocument/2006/relationships/image" Target="../media/image6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5.jpeg" /><Relationship Id="rId5" Type="http://schemas.openxmlformats.org/officeDocument/2006/relationships/image" Target="../media/image4.png" /><Relationship Id="rId10" Type="http://schemas.openxmlformats.org/officeDocument/2006/relationships/image" Target="../media/image9.jpeg" /><Relationship Id="rId4" Type="http://schemas.openxmlformats.org/officeDocument/2006/relationships/image" Target="../media/image3.png" /><Relationship Id="rId9" Type="http://schemas.openxmlformats.org/officeDocument/2006/relationships/image" Target="../media/image8.jpe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4"/>
          <p:cNvSpPr/>
          <p:nvPr/>
        </p:nvSpPr>
        <p:spPr>
          <a:xfrm>
            <a:off x="19350" y="1670475"/>
            <a:ext cx="3108961" cy="2930499"/>
          </a:xfrm>
          <a:prstGeom prst="rect">
            <a:avLst/>
          </a:prstGeom>
          <a:ln w="19050">
            <a:solidFill>
              <a:srgbClr val="0F465F"/>
            </a:solidFill>
            <a:miter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algn="ctr">
              <a:defRPr sz="1600"/>
            </a:pPr>
            <a:r>
              <a:rPr sz="1300"/>
              <a:t>Pagoda deformity refers to a specific intra-articular deformity of the knee characterized by depression of the medial tibial plateau, often seen in advanced varus osteoarthritis or post trauma </a:t>
            </a:r>
          </a:p>
          <a:p>
            <a:pPr algn="ctr"/>
            <a:r>
              <a:rPr sz="1300"/>
              <a:t>This condition creates a pagoda-like shape in the tibial plateau on imaging, where the medial side sinks inward, leading to joint incongruity and instability. It differs from extra-articular deformities, </a:t>
            </a:r>
            <a:r>
              <a:rPr sz="1100"/>
              <a:t>as </a:t>
            </a:r>
            <a:r>
              <a:rPr sz="1300"/>
              <a:t>standard high tibial osteotomy (HTO) fails to correct it full</a:t>
            </a:r>
          </a:p>
        </p:txBody>
      </p:sp>
      <p:sp>
        <p:nvSpPr>
          <p:cNvPr id="111" name="Rectangle 13"/>
          <p:cNvSpPr/>
          <p:nvPr/>
        </p:nvSpPr>
        <p:spPr>
          <a:xfrm>
            <a:off x="-19350" y="-133029"/>
            <a:ext cx="12230700" cy="1458856"/>
          </a:xfrm>
          <a:prstGeom prst="rect">
            <a:avLst/>
          </a:prstGeom>
          <a:solidFill>
            <a:srgbClr val="01234D"/>
          </a:solidFill>
          <a:ln w="19050">
            <a:solidFill>
              <a:srgbClr val="525755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12" name="Picture 14" descr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84" y="74822"/>
            <a:ext cx="1043155" cy="1043154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" name="Picture 15" descr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7316" y="123389"/>
            <a:ext cx="884048" cy="88404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" name="Picture 16" descr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7892" y="192303"/>
            <a:ext cx="785941" cy="785941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TextBox 17"/>
          <p:cNvSpPr txBox="1"/>
          <p:nvPr/>
        </p:nvSpPr>
        <p:spPr>
          <a:xfrm>
            <a:off x="2620968" y="27424"/>
            <a:ext cx="5906909" cy="650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pPr>
            <a:r>
              <a:t>55</a:t>
            </a:r>
            <a:r>
              <a:rPr baseline="30000"/>
              <a:t>th</a:t>
            </a:r>
            <a:r>
              <a:t>   Annual Conference of </a:t>
            </a:r>
          </a:p>
          <a:p>
            <a:pPr>
              <a:defRPr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pPr>
            <a:r>
              <a:t>Orthopedic Surgeon Society of Andhra Pradesh</a:t>
            </a:r>
          </a:p>
        </p:txBody>
      </p:sp>
      <p:sp>
        <p:nvSpPr>
          <p:cNvPr id="116" name="TextBox 18"/>
          <p:cNvSpPr txBox="1"/>
          <p:nvPr/>
        </p:nvSpPr>
        <p:spPr>
          <a:xfrm>
            <a:off x="2646937" y="653897"/>
            <a:ext cx="6216055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lvl1pPr>
          </a:lstStyle>
          <a:p>
            <a:r>
              <a:t>Date 6 – 8 February,2026, Venue : Kurnool Medical College</a:t>
            </a:r>
          </a:p>
        </p:txBody>
      </p:sp>
      <p:sp>
        <p:nvSpPr>
          <p:cNvPr id="117" name="TextBox 19"/>
          <p:cNvSpPr txBox="1"/>
          <p:nvPr/>
        </p:nvSpPr>
        <p:spPr>
          <a:xfrm>
            <a:off x="2620969" y="913339"/>
            <a:ext cx="9210395" cy="62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pPr>
            <a:r>
              <a:t>Organized by : Department of Orthopaedics, Kurnool Medical College Kurnool.                                 ID : OSSAP - 099</a:t>
            </a:r>
          </a:p>
          <a:p>
            <a:pPr>
              <a:defRPr sz="1200" b="1">
                <a:solidFill>
                  <a:srgbClr val="FFFFFF"/>
                </a:solidFill>
                <a:latin typeface="Gordita "/>
                <a:ea typeface="Gordita "/>
                <a:cs typeface="Gordita "/>
                <a:sym typeface="Gordita "/>
              </a:defRPr>
            </a:pPr>
            <a:endParaRPr/>
          </a:p>
        </p:txBody>
      </p:sp>
      <p:sp>
        <p:nvSpPr>
          <p:cNvPr id="118" name="Rectangle 6"/>
          <p:cNvSpPr/>
          <p:nvPr/>
        </p:nvSpPr>
        <p:spPr>
          <a:xfrm>
            <a:off x="3157185" y="1684319"/>
            <a:ext cx="3185964" cy="2162389"/>
          </a:xfrm>
          <a:prstGeom prst="rect">
            <a:avLst/>
          </a:prstGeom>
          <a:ln w="19050">
            <a:solidFill>
              <a:srgbClr val="0F465F"/>
            </a:solidFill>
            <a:miter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algn="ctr">
              <a:defRPr sz="1300"/>
            </a:pPr>
            <a:r>
              <a:t>Posterimedial approach</a:t>
            </a:r>
          </a:p>
          <a:p>
            <a:pPr algn="ctr">
              <a:defRPr sz="1300"/>
            </a:pPr>
            <a:endParaRPr/>
          </a:p>
          <a:p>
            <a:pPr algn="ctr">
              <a:defRPr sz="1300"/>
            </a:pPr>
            <a:r>
              <a:t>Tibial condylar valgus osteotomy done </a:t>
            </a:r>
          </a:p>
          <a:p>
            <a:pPr algn="ctr">
              <a:defRPr sz="1300"/>
            </a:pPr>
            <a:endParaRPr/>
          </a:p>
          <a:p>
            <a:pPr algn="ctr">
              <a:defRPr sz="1300"/>
            </a:pPr>
            <a:r>
              <a:t>Fragment elevated and gap is filled with iliac bone graft </a:t>
            </a:r>
          </a:p>
          <a:p>
            <a:pPr algn="ctr">
              <a:defRPr sz="1300"/>
            </a:pPr>
            <a:endParaRPr/>
          </a:p>
          <a:p>
            <a:pPr algn="ctr">
              <a:defRPr sz="1300"/>
            </a:pPr>
            <a:r>
              <a:t>It is fixed with raft screws and medial plating </a:t>
            </a:r>
          </a:p>
        </p:txBody>
      </p:sp>
      <p:sp>
        <p:nvSpPr>
          <p:cNvPr id="119" name="Freeform 13"/>
          <p:cNvSpPr/>
          <p:nvPr/>
        </p:nvSpPr>
        <p:spPr>
          <a:xfrm>
            <a:off x="560813" y="14254"/>
            <a:ext cx="1505562" cy="1280159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0" name="Rectangle 5"/>
          <p:cNvSpPr/>
          <p:nvPr/>
        </p:nvSpPr>
        <p:spPr>
          <a:xfrm>
            <a:off x="19350" y="5005134"/>
            <a:ext cx="3108961" cy="1777465"/>
          </a:xfrm>
          <a:prstGeom prst="rect">
            <a:avLst/>
          </a:prstGeom>
          <a:ln w="19050">
            <a:solidFill>
              <a:srgbClr val="0F465F"/>
            </a:solidFill>
            <a:miter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algn="ctr">
              <a:defRPr sz="1600"/>
            </a:pPr>
            <a:r>
              <a:rPr sz="1300"/>
              <a:t>A 48 year old presented with open proximal tibia fracture . Wound debridemnt and external fixator applied with k wire fixation of proximal tibia fracture . Wound healing got </a:t>
            </a:r>
            <a:r>
              <a:rPr sz="1400"/>
              <a:t>delayed and patient developed pagoda deformity due to collapse of medial fragment </a:t>
            </a:r>
          </a:p>
        </p:txBody>
      </p:sp>
      <p:sp>
        <p:nvSpPr>
          <p:cNvPr id="121" name="Rectangle 7"/>
          <p:cNvSpPr/>
          <p:nvPr/>
        </p:nvSpPr>
        <p:spPr>
          <a:xfrm>
            <a:off x="6362198" y="1699461"/>
            <a:ext cx="5820276" cy="2970776"/>
          </a:xfrm>
          <a:prstGeom prst="rect">
            <a:avLst/>
          </a:prstGeom>
          <a:ln w="19050">
            <a:solidFill>
              <a:srgbClr val="0F465F"/>
            </a:solidFill>
            <a:miter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700"/>
            </a:lvl1pPr>
          </a:lstStyle>
          <a:p>
            <a:r>
              <a:rPr lang="en-GB" dirty="0"/>
              <a:t>Patient presented with compound type 3b proximal tibia fracture .Patient was initially treated with </a:t>
            </a:r>
            <a:r>
              <a:rPr lang="en-GB" dirty="0" err="1"/>
              <a:t>exfix</a:t>
            </a:r>
            <a:r>
              <a:rPr lang="en-GB" dirty="0"/>
              <a:t> and k </a:t>
            </a:r>
            <a:r>
              <a:rPr lang="en-GB" dirty="0" err="1"/>
              <a:t>wires.Exfix</a:t>
            </a:r>
            <a:r>
              <a:rPr lang="en-GB" dirty="0"/>
              <a:t> removal done after soft tissue healing and pin holiday was given .But patient lost to follow up and later presented about 6 months after injury with knee pain and decreased range of movements , and </a:t>
            </a:r>
            <a:r>
              <a:rPr lang="en-GB" dirty="0" err="1"/>
              <a:t>varus</a:t>
            </a:r>
            <a:r>
              <a:rPr lang="en-GB" dirty="0"/>
              <a:t> deformity . X rays and </a:t>
            </a:r>
            <a:r>
              <a:rPr lang="en-GB" dirty="0" err="1"/>
              <a:t>scanogram</a:t>
            </a:r>
            <a:r>
              <a:rPr lang="en-GB" dirty="0"/>
              <a:t> done. Deformity calculated .</a:t>
            </a:r>
            <a:r>
              <a:rPr lang="en-GB" dirty="0" err="1"/>
              <a:t>Tibial</a:t>
            </a:r>
            <a:r>
              <a:rPr lang="en-GB" dirty="0"/>
              <a:t> condylar Valgus osteotomy done .Medial </a:t>
            </a:r>
            <a:r>
              <a:rPr lang="en-GB" dirty="0" err="1"/>
              <a:t>tibial</a:t>
            </a:r>
            <a:r>
              <a:rPr lang="en-GB" dirty="0"/>
              <a:t> fragment elevated and gap is filled with iliac bone graft  and fixed with Medial plating and raft screws. After 3 months follow up fracture showed radiological  union with full extension and flexion </a:t>
            </a:r>
            <a:r>
              <a:rPr lang="en-GB" dirty="0" err="1"/>
              <a:t>upto</a:t>
            </a:r>
            <a:r>
              <a:rPr lang="en-GB"/>
              <a:t> 90°</a:t>
            </a:r>
            <a:endParaRPr dirty="0"/>
          </a:p>
        </p:txBody>
      </p:sp>
      <p:sp>
        <p:nvSpPr>
          <p:cNvPr id="122" name="Rectangle 8"/>
          <p:cNvSpPr/>
          <p:nvPr/>
        </p:nvSpPr>
        <p:spPr>
          <a:xfrm>
            <a:off x="6362198" y="5155937"/>
            <a:ext cx="5839327" cy="1658750"/>
          </a:xfrm>
          <a:prstGeom prst="rect">
            <a:avLst/>
          </a:prstGeom>
          <a:ln w="19050">
            <a:solidFill>
              <a:srgbClr val="0F465F"/>
            </a:solidFill>
            <a:miter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>
            <a:lvl1pPr algn="ctr">
              <a:defRPr sz="1600"/>
            </a:lvl1pPr>
          </a:lstStyle>
          <a:p>
            <a:r>
              <a:t>Pagoda deformity is a distinctive intra-articular knee abnormality characterized by medial tibial plateau depression, often resembling a pagoda or arrowhead on X-rays. Effective management typically involves targeted surgeries like tibial condylar valgus osteotomy to restore joint congruence and stability, particularly when extra-articular corrections alone fail</a:t>
            </a:r>
          </a:p>
        </p:txBody>
      </p:sp>
      <p:grpSp>
        <p:nvGrpSpPr>
          <p:cNvPr id="125" name="Rectangle 9"/>
          <p:cNvGrpSpPr/>
          <p:nvPr/>
        </p:nvGrpSpPr>
        <p:grpSpPr>
          <a:xfrm>
            <a:off x="-1" y="1280157"/>
            <a:ext cx="3108962" cy="394638"/>
            <a:chOff x="0" y="0"/>
            <a:chExt cx="3108960" cy="394637"/>
          </a:xfrm>
        </p:grpSpPr>
        <p:sp>
          <p:nvSpPr>
            <p:cNvPr id="123" name="Rectangle"/>
            <p:cNvSpPr/>
            <p:nvPr/>
          </p:nvSpPr>
          <p:spPr>
            <a:xfrm>
              <a:off x="-1" y="-1"/>
              <a:ext cx="3108962" cy="394639"/>
            </a:xfrm>
            <a:prstGeom prst="rect">
              <a:avLst/>
            </a:prstGeom>
            <a:solidFill>
              <a:srgbClr val="A6CAEC"/>
            </a:solidFill>
            <a:ln w="19050" cap="flat">
              <a:solidFill>
                <a:srgbClr val="0F465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24" name="INTRODUCTION"/>
            <p:cNvSpPr txBox="1"/>
            <p:nvPr/>
          </p:nvSpPr>
          <p:spPr>
            <a:xfrm>
              <a:off x="55244" y="11898"/>
              <a:ext cx="2998472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/>
              </a:lvl1pPr>
            </a:lstStyle>
            <a:p>
              <a:r>
                <a:t>INTRODUCTION </a:t>
              </a:r>
            </a:p>
          </p:txBody>
        </p:sp>
      </p:grpSp>
      <p:grpSp>
        <p:nvGrpSpPr>
          <p:cNvPr id="128" name="Rectangle 10"/>
          <p:cNvGrpSpPr/>
          <p:nvPr/>
        </p:nvGrpSpPr>
        <p:grpSpPr>
          <a:xfrm>
            <a:off x="3137835" y="1280157"/>
            <a:ext cx="3185964" cy="394638"/>
            <a:chOff x="0" y="0"/>
            <a:chExt cx="3185962" cy="394637"/>
          </a:xfrm>
        </p:grpSpPr>
        <p:sp>
          <p:nvSpPr>
            <p:cNvPr id="126" name="Rectangle"/>
            <p:cNvSpPr/>
            <p:nvPr/>
          </p:nvSpPr>
          <p:spPr>
            <a:xfrm>
              <a:off x="-1" y="-1"/>
              <a:ext cx="3185964" cy="394639"/>
            </a:xfrm>
            <a:prstGeom prst="rect">
              <a:avLst/>
            </a:prstGeom>
            <a:solidFill>
              <a:srgbClr val="A6CAEC"/>
            </a:solidFill>
            <a:ln w="19050" cap="flat">
              <a:solidFill>
                <a:srgbClr val="0F465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27" name="OPERATIVE FINDINGS"/>
            <p:cNvSpPr txBox="1"/>
            <p:nvPr/>
          </p:nvSpPr>
          <p:spPr>
            <a:xfrm>
              <a:off x="55244" y="11898"/>
              <a:ext cx="3075474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>
                  <a:solidFill>
                    <a:srgbClr val="0D0D0D"/>
                  </a:solidFill>
                </a:defRPr>
              </a:lvl1pPr>
            </a:lstStyle>
            <a:p>
              <a:r>
                <a:t>OPERATIVE FINDINGS</a:t>
              </a:r>
            </a:p>
          </p:txBody>
        </p:sp>
      </p:grpSp>
      <p:grpSp>
        <p:nvGrpSpPr>
          <p:cNvPr id="131" name="Rectangle 11"/>
          <p:cNvGrpSpPr/>
          <p:nvPr/>
        </p:nvGrpSpPr>
        <p:grpSpPr>
          <a:xfrm>
            <a:off x="6352673" y="1280157"/>
            <a:ext cx="5839326" cy="394638"/>
            <a:chOff x="0" y="0"/>
            <a:chExt cx="5839324" cy="394637"/>
          </a:xfrm>
        </p:grpSpPr>
        <p:sp>
          <p:nvSpPr>
            <p:cNvPr id="129" name="Rectangle"/>
            <p:cNvSpPr/>
            <p:nvPr/>
          </p:nvSpPr>
          <p:spPr>
            <a:xfrm>
              <a:off x="0" y="-1"/>
              <a:ext cx="5839325" cy="394639"/>
            </a:xfrm>
            <a:prstGeom prst="rect">
              <a:avLst/>
            </a:prstGeom>
            <a:solidFill>
              <a:srgbClr val="A6CAEC"/>
            </a:solidFill>
            <a:ln w="19050" cap="flat">
              <a:solidFill>
                <a:srgbClr val="0F465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30" name="DISCUSSION"/>
            <p:cNvSpPr txBox="1"/>
            <p:nvPr/>
          </p:nvSpPr>
          <p:spPr>
            <a:xfrm>
              <a:off x="55245" y="11898"/>
              <a:ext cx="5728835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b="1">
                  <a:solidFill>
                    <a:srgbClr val="0D0D0D"/>
                  </a:solidFill>
                </a:defRPr>
              </a:lvl1pPr>
            </a:lstStyle>
            <a:p>
              <a:r>
                <a:t>DISCUSSION</a:t>
              </a:r>
            </a:p>
          </p:txBody>
        </p:sp>
      </p:grpSp>
      <p:grpSp>
        <p:nvGrpSpPr>
          <p:cNvPr id="134" name="Rectangle 12"/>
          <p:cNvGrpSpPr/>
          <p:nvPr/>
        </p:nvGrpSpPr>
        <p:grpSpPr>
          <a:xfrm>
            <a:off x="28875" y="4610498"/>
            <a:ext cx="3108961" cy="394638"/>
            <a:chOff x="0" y="0"/>
            <a:chExt cx="3108960" cy="394637"/>
          </a:xfrm>
        </p:grpSpPr>
        <p:sp>
          <p:nvSpPr>
            <p:cNvPr id="132" name="Rectangle"/>
            <p:cNvSpPr/>
            <p:nvPr/>
          </p:nvSpPr>
          <p:spPr>
            <a:xfrm>
              <a:off x="-1" y="-1"/>
              <a:ext cx="3108962" cy="394639"/>
            </a:xfrm>
            <a:prstGeom prst="rect">
              <a:avLst/>
            </a:prstGeom>
            <a:solidFill>
              <a:srgbClr val="A6CAEC"/>
            </a:solidFill>
            <a:ln w="19050" cap="flat">
              <a:solidFill>
                <a:srgbClr val="0F465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33" name="CASE REPORT"/>
            <p:cNvSpPr txBox="1"/>
            <p:nvPr/>
          </p:nvSpPr>
          <p:spPr>
            <a:xfrm>
              <a:off x="55244" y="11898"/>
              <a:ext cx="2998472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>
                  <a:solidFill>
                    <a:srgbClr val="0D0D0D"/>
                  </a:solidFill>
                </a:defRPr>
              </a:lvl1pPr>
            </a:lstStyle>
            <a:p>
              <a:r>
                <a:t>CASE REPORT</a:t>
              </a:r>
            </a:p>
          </p:txBody>
        </p:sp>
      </p:grpSp>
      <p:grpSp>
        <p:nvGrpSpPr>
          <p:cNvPr id="137" name="Rectangle 21"/>
          <p:cNvGrpSpPr/>
          <p:nvPr/>
        </p:nvGrpSpPr>
        <p:grpSpPr>
          <a:xfrm>
            <a:off x="6367423" y="4716121"/>
            <a:ext cx="5828876" cy="393932"/>
            <a:chOff x="0" y="0"/>
            <a:chExt cx="5828875" cy="393930"/>
          </a:xfrm>
        </p:grpSpPr>
        <p:sp>
          <p:nvSpPr>
            <p:cNvPr id="135" name="Rectangle"/>
            <p:cNvSpPr/>
            <p:nvPr/>
          </p:nvSpPr>
          <p:spPr>
            <a:xfrm>
              <a:off x="0" y="-1"/>
              <a:ext cx="5828876" cy="393932"/>
            </a:xfrm>
            <a:prstGeom prst="rect">
              <a:avLst/>
            </a:prstGeom>
            <a:solidFill>
              <a:srgbClr val="A6CAEC"/>
            </a:solidFill>
            <a:ln w="19050" cap="flat">
              <a:solidFill>
                <a:srgbClr val="0F465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36" name="CONCLUSION"/>
            <p:cNvSpPr txBox="1"/>
            <p:nvPr/>
          </p:nvSpPr>
          <p:spPr>
            <a:xfrm>
              <a:off x="55146" y="11877"/>
              <a:ext cx="5718584" cy="3701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b="1">
                  <a:solidFill>
                    <a:srgbClr val="0D0D0D"/>
                  </a:solidFill>
                </a:defRPr>
              </a:lvl1pPr>
            </a:lstStyle>
            <a:p>
              <a:r>
                <a:t>CONCLUSION</a:t>
              </a:r>
            </a:p>
          </p:txBody>
        </p:sp>
      </p:grpSp>
      <p:pic>
        <p:nvPicPr>
          <p:cNvPr id="138" name="IMG_1421.jpeg" descr="IMG_1421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1487" y="3856232"/>
            <a:ext cx="856860" cy="12901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IMG_1417.jpeg" descr="IMG_1417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7660" y="3856232"/>
            <a:ext cx="1069715" cy="12901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" name="IMG_1418.jpeg" descr="IMG_1418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2459" y="3856232"/>
            <a:ext cx="961340" cy="1336697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IMG_1420.jpeg" descr="IMG_1420.jpe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00793" y="5307334"/>
            <a:ext cx="1468726" cy="12049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42" name="IMG_1419.jpeg" descr="IMG_1419.jpe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99811" y="5325343"/>
            <a:ext cx="1149224" cy="131993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pravn.karri@gmail.com</cp:lastModifiedBy>
  <cp:revision>2</cp:revision>
  <dcterms:modified xsi:type="dcterms:W3CDTF">2026-02-03T17:03:50Z</dcterms:modified>
</cp:coreProperties>
</file>