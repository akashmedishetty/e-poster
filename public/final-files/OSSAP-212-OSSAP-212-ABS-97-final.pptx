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6" r:id="rId2"/>
    <p:sldId id="257" r:id="rId3"/>
    <p:sldId id="258" r:id="rId4"/>
    <p:sldId id="261" r:id="rId5"/>
    <p:sldId id="263" r:id="rId6"/>
    <p:sldId id="264" r:id="rId7"/>
    <p:sldId id="267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34559" autoAdjust="0"/>
    <p:restoredTop sz="86380" autoAdjust="0"/>
  </p:normalViewPr>
  <p:slideViewPr>
    <p:cSldViewPr snapToGrid="0">
      <p:cViewPr varScale="1">
        <p:scale>
          <a:sx n="73" d="100"/>
          <a:sy n="73" d="100"/>
        </p:scale>
        <p:origin x="-1236" y="-10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204" y="29184"/>
    </p:cViewPr>
  </p:outlin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2B9B-2C5E-41BB-8797-3F38657E2F06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7284C1-0CB3-495E-91A9-7C18451415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02938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C928CF7-C54C-3253-7CB3-4CB60C4B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863E176-0152-1EB9-B130-312E601D10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9FFAE6B-127E-B337-0AD1-96BED4F0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0D5E608-905C-2142-2365-F68EB7F95F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DFF68622-57FF-B5F0-4011-D23C810B4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448645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B2A54781-A465-F143-A98C-94FD82413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E1D11094-0A62-2805-2C56-EAB66E3F8F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25DF6B2-DE75-AA42-1BA3-56A152E3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E1B95C1A-D479-0105-5ABD-2C9F2D4E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264AE42D-29E2-AB5A-9D0B-9821D21D8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57785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D0A9C5-0C47-1DBF-A9F1-8826C360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F11B4216-49BB-98ED-9B94-654F199388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6747736-AC8A-3EB8-57D1-2A9C7AAC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86E5BB55-6273-FBEF-64A3-8CF306288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0659087E-17BE-555C-DF0C-0F4361521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79995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2411663-53A1-9E1F-5617-88CF82EC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471D5E3-ECCA-B4D2-2633-7957691A33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AECF5196-CC99-5011-B2D0-B4E6A682F5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08A8BA26-119C-CCCD-E391-AEF50B6FD7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EBA14F4A-53BC-F382-885A-E89A76632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C250453-2D7E-EDE2-4C30-876DA9F0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64239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81C1600-9375-445B-F52D-49C2D79AB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90504FE-0E7A-7AAD-AA62-68B5061F0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8BEC0743-5AE4-C8DB-E431-9BF89F98CB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59F135F8-5672-C883-5700-82CCEB25C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FD143E3C-1062-3C3B-33DC-9DE5999687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C144B81D-1D0D-2B34-ACE9-647404B6726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FA2B9CA9-FB5C-6A3F-A8C9-5A2303657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04F8827A-8D6A-6027-36D4-A09116C39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520713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A9B2320-BF86-B4C0-4C77-57A8A14FA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6DBF2AEC-90F1-FF9D-116C-F8E796EDE9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8930F28E-A8F5-AFB5-B659-0E7A774C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A30AFD6F-07FF-B36A-B355-6F548921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58735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F062561D-609B-41C4-03F7-C9EB1C339C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C177B401-DFF1-9E83-1AFF-E5EC0ACD1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A27D21B-F5D7-5E07-AD0D-285590E6D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98427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2DF68E2-3E1C-4942-B972-676EF99620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0AB3E5FE-9809-AA0D-0068-8D2879739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C45EC551-67C4-F4E7-1910-F519BF904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8486D973-5346-1585-DF1D-4A6D81AE61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F86FF201-46FF-F9B5-9CC0-41835305C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35ECBF98-FECD-2939-6FDA-1F24F227D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61528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C4BCDCE-1DF9-541C-B7E9-6622BFED4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45BBD72-9B7D-1B6B-5935-44F06A9178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746A0AE-8309-E148-1D29-29503949B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96C41A5-6FCA-36FF-6CFA-7C0597A212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8DB2AD8-5418-91E2-23C4-D519A6265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E9F095D8-FC0F-CA9B-A1E7-AA64CF34E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081660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D56F263-9A0A-3394-3F1F-6C5F8D328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0E5FFEF5-760B-0BB1-28DC-68D43894F1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2F4F539A-7EBC-768A-374D-3E568BE3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052D2046-7AA0-ACCC-813F-F0045C6B0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743A9D-CF35-58E9-CEF7-84CD752F4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074731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E6EEB20-7BAE-8163-AF11-357FD764FC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30D173BD-0918-77CD-3BC5-870F618AF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C48AB18A-E29B-AB92-E36C-D19006B4B10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C55E05-2F16-457D-B172-2570883FA662}" type="datetimeFigureOut">
              <a:rPr lang="en-US" smtClean="0"/>
              <a:pPr/>
              <a:t>2/11/2026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D0034D9-0416-B27F-B018-5988B84EC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5D91FF6-4797-6F7F-6750-554277416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DCC90D0-6A50-4F1C-9C3F-ED7FCA503B8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60662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18" Type="http://schemas.openxmlformats.org/officeDocument/2006/relationships/image" Target="../media/image6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xmlns="" id="{1C422EEB-C18E-401D-4D14-F61D82881EC6}"/>
              </a:ext>
            </a:extLst>
          </p:cNvPr>
          <p:cNvSpPr/>
          <p:nvPr/>
        </p:nvSpPr>
        <p:spPr>
          <a:xfrm>
            <a:off x="0" y="0"/>
            <a:ext cx="12191998" cy="1280156"/>
          </a:xfrm>
          <a:prstGeom prst="rect">
            <a:avLst/>
          </a:prstGeom>
          <a:solidFill>
            <a:srgbClr val="01234D"/>
          </a:solidFill>
          <a:ln>
            <a:solidFill>
              <a:srgbClr val="5257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5A44D43F-1B53-AAA9-B551-4D46D6B6290B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06884" y="74822"/>
            <a:ext cx="1043154" cy="104315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9F3FAB85-38C0-CBC3-894D-F14B0983660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947316" y="123390"/>
            <a:ext cx="884047" cy="88404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6AAAF0D4-F34A-1980-C65B-0B0205913902}"/>
              </a:ext>
            </a:extLst>
          </p:cNvPr>
          <p:cNvPicPr>
            <a:picLocks noChangeAspect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127893" y="192303"/>
            <a:ext cx="785940" cy="785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94EFB44A-ED67-5BFE-548D-FCB7384C661F}"/>
              </a:ext>
            </a:extLst>
          </p:cNvPr>
          <p:cNvSpPr txBox="1"/>
          <p:nvPr/>
        </p:nvSpPr>
        <p:spPr>
          <a:xfrm>
            <a:off x="2575249" y="27424"/>
            <a:ext cx="59983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55</a:t>
            </a:r>
            <a:r>
              <a:rPr lang="en-US" b="1" baseline="30000" dirty="0">
                <a:solidFill>
                  <a:schemeClr val="bg1"/>
                </a:solidFill>
                <a:latin typeface="Gordita "/>
              </a:rPr>
              <a:t>th</a:t>
            </a:r>
            <a:r>
              <a:rPr lang="en-US" b="1" dirty="0">
                <a:solidFill>
                  <a:schemeClr val="bg1"/>
                </a:solidFill>
                <a:latin typeface="Gordita "/>
              </a:rPr>
              <a:t>   Annual Conference of </a:t>
            </a:r>
          </a:p>
          <a:p>
            <a:r>
              <a:rPr lang="en-US" b="1" dirty="0">
                <a:solidFill>
                  <a:schemeClr val="bg1"/>
                </a:solidFill>
                <a:latin typeface="Gordita "/>
              </a:rPr>
              <a:t>Orthopedic Surgeon Society of Andhra Pradesh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BA2ED9E8-378E-74DB-69F2-37A19A83672D}"/>
              </a:ext>
            </a:extLst>
          </p:cNvPr>
          <p:cNvSpPr txBox="1"/>
          <p:nvPr/>
        </p:nvSpPr>
        <p:spPr>
          <a:xfrm>
            <a:off x="2601218" y="653897"/>
            <a:ext cx="630749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Date 6 – 8 February,2026, Venue : Kurnool Medical College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CE2363BD-0C06-5137-F50F-3CB1079D47C5}"/>
              </a:ext>
            </a:extLst>
          </p:cNvPr>
          <p:cNvSpPr txBox="1"/>
          <p:nvPr/>
        </p:nvSpPr>
        <p:spPr>
          <a:xfrm>
            <a:off x="2575249" y="913340"/>
            <a:ext cx="71140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Gordita "/>
              </a:rPr>
              <a:t>Organized by : Department of </a:t>
            </a:r>
            <a:r>
              <a:rPr lang="en-US" sz="1200" b="1" dirty="0" err="1">
                <a:solidFill>
                  <a:schemeClr val="bg1"/>
                </a:solidFill>
                <a:latin typeface="Gordita "/>
              </a:rPr>
              <a:t>Orthopaedics</a:t>
            </a:r>
            <a:r>
              <a:rPr lang="en-US" sz="1200" b="1" dirty="0">
                <a:solidFill>
                  <a:schemeClr val="bg1"/>
                </a:solidFill>
                <a:latin typeface="Gordita "/>
              </a:rPr>
              <a:t>, Kurnool Medical College Kurnool</a:t>
            </a:r>
          </a:p>
        </p:txBody>
      </p:sp>
      <p:sp>
        <p:nvSpPr>
          <p:cNvPr id="21" name="Freeform 13">
            <a:extLst>
              <a:ext uri="{FF2B5EF4-FFF2-40B4-BE49-F238E27FC236}">
                <a16:creationId xmlns:a16="http://schemas.microsoft.com/office/drawing/2014/main" xmlns="" id="{A034863C-B4F3-2506-7721-DA2D88319DB1}"/>
              </a:ext>
            </a:extLst>
          </p:cNvPr>
          <p:cNvSpPr/>
          <p:nvPr/>
        </p:nvSpPr>
        <p:spPr>
          <a:xfrm>
            <a:off x="560814" y="14255"/>
            <a:ext cx="1505561" cy="1280157"/>
          </a:xfrm>
          <a:custGeom>
            <a:avLst/>
            <a:gdLst/>
            <a:ahLst/>
            <a:cxnLst/>
            <a:rect l="l" t="t" r="r" b="b"/>
            <a:pathLst>
              <a:path w="2254612" h="1957865">
                <a:moveTo>
                  <a:pt x="0" y="0"/>
                </a:moveTo>
                <a:lnTo>
                  <a:pt x="2254612" y="0"/>
                </a:lnTo>
                <a:lnTo>
                  <a:pt x="2254612" y="1957865"/>
                </a:lnTo>
                <a:lnTo>
                  <a:pt x="0" y="1957865"/>
                </a:lnTo>
                <a:lnTo>
                  <a:pt x="0" y="0"/>
                </a:lnTo>
                <a:close/>
              </a:path>
            </a:pathLst>
          </a:custGeom>
          <a:blipFill>
            <a:blip r:embed="rId17" cstate="print"/>
            <a:stretch>
              <a:fillRect t="-9937" r="-4895" b="-10857"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F9F91FC1-F2FE-42D8-AA7E-21108C1405B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070155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45223"/>
            <a:ext cx="9144000" cy="216474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latin typeface="Arial" pitchFamily="34" charset="0"/>
                <a:cs typeface="Arial" pitchFamily="34" charset="0"/>
              </a:rPr>
              <a:t>Minimally Invasive Repair of Neglected Tendoachilles Rupture Using Flexor Hallucis Longus Augmentation with Interference Screw</a:t>
            </a:r>
            <a:endParaRPr lang="en-US" sz="36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24554" y="4079631"/>
            <a:ext cx="8705892" cy="1837591"/>
          </a:xfrm>
        </p:spPr>
        <p:txBody>
          <a:bodyPr>
            <a:normAutofit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Presenting author : Dr. CHENNAPATNAM VIJAYA KRISHNA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Co-author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 Dr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 P.SUJITH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DEVA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PRASAD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SANTHIRAM MEDICAL COLLEGE AND HOSPITAL.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607519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524001" y="1521069"/>
            <a:ext cx="8314592" cy="1459523"/>
          </a:xfrm>
        </p:spPr>
        <p:txBody>
          <a:bodyPr>
            <a:normAutofit fontScale="90000"/>
          </a:bodyPr>
          <a:lstStyle/>
          <a:p>
            <a:r>
              <a:rPr lang="en-US" b="1" dirty="0" smtClean="0">
                <a:latin typeface="Arial" pitchFamily="34" charset="0"/>
                <a:cs typeface="Arial" pitchFamily="34" charset="0"/>
              </a:rPr>
              <a:t>INTRODUCTION</a:t>
            </a:r>
            <a:br>
              <a:rPr lang="en-US" b="1" dirty="0" smtClean="0">
                <a:latin typeface="Arial" pitchFamily="34" charset="0"/>
                <a:cs typeface="Arial" pitchFamily="34" charset="0"/>
              </a:rPr>
            </a:b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type="subTitle" idx="1"/>
          </p:nvPr>
        </p:nvSpPr>
        <p:spPr>
          <a:xfrm>
            <a:off x="1524000" y="2681654"/>
            <a:ext cx="9144000" cy="2927838"/>
          </a:xfrm>
        </p:spPr>
        <p:txBody>
          <a:bodyPr/>
          <a:lstStyle/>
          <a:p>
            <a:pPr marL="285750" indent="-28575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The Achilles Tendon (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tendo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calcaneus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) is the strongest and thickest tendon in the body and serves to attach the triceps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surae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soleus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and the two heads of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gastrocnemius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) to the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calcaneus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285750" indent="-28575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Chronic ruptures of the Achilles tendon are debilitating injuries.</a:t>
            </a:r>
          </a:p>
          <a:p>
            <a:pPr marL="285750" indent="-28575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Repair is done using various procedures.</a:t>
            </a:r>
          </a:p>
          <a:p>
            <a:pPr marL="285750" indent="-28575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The flexor hallucis longus tendon is often harvested to augment the repair. </a:t>
            </a:r>
          </a:p>
          <a:p>
            <a:pPr marL="285750" indent="-285750" algn="just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Hansen et al described the use of flexor hallucis longus tendon by harvesting it in the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hindfoot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through the same incision that is used for the repair of the Achilles tendon.</a:t>
            </a:r>
          </a:p>
          <a:p>
            <a:pPr algn="just">
              <a:lnSpc>
                <a:spcPct val="100000"/>
              </a:lnSpc>
              <a:buFont typeface="Arial" pitchFamily="34" charset="0"/>
              <a:buChar char="•"/>
            </a:pPr>
            <a:endParaRPr lang="en-US" sz="16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1410789" y="719460"/>
            <a:ext cx="8654310" cy="1046285"/>
          </a:xfrm>
        </p:spPr>
        <p:txBody>
          <a:bodyPr/>
          <a:lstStyle/>
          <a:p>
            <a:pPr algn="l"/>
            <a:r>
              <a:rPr lang="en-US" sz="2400" b="1" dirty="0" smtClean="0">
                <a:latin typeface="Arial" pitchFamily="34" charset="0"/>
                <a:cs typeface="Arial" pitchFamily="34" charset="0"/>
              </a:rPr>
              <a:t>AIM of Study: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type="subTitle" idx="1"/>
          </p:nvPr>
        </p:nvSpPr>
        <p:spPr>
          <a:xfrm>
            <a:off x="1354182" y="1779310"/>
            <a:ext cx="9144000" cy="5078689"/>
          </a:xfrm>
        </p:spPr>
        <p:txBody>
          <a:bodyPr/>
          <a:lstStyle/>
          <a:p>
            <a:pPr algn="l"/>
            <a:r>
              <a:rPr lang="en-US" dirty="0" smtClean="0">
                <a:latin typeface="Arial" pitchFamily="34" charset="0"/>
                <a:cs typeface="Arial" pitchFamily="34" charset="0"/>
              </a:rPr>
              <a:t>This aim of the study is to evaluate the efficacy of minimally invasive repair of neglected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tendoachilles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ruptures using flexor hallucis longus (FHL) tendon augmentation with interference screw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fixation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l"/>
            <a:r>
              <a:rPr lang="en-US" b="1" dirty="0" smtClean="0">
                <a:latin typeface="Arial" pitchFamily="34" charset="0"/>
                <a:cs typeface="Arial" pitchFamily="34" charset="0"/>
              </a:rPr>
              <a:t>MATERIALS AND METHODS:</a:t>
            </a:r>
          </a:p>
          <a:p>
            <a:pPr algn="l"/>
            <a:r>
              <a:rPr lang="en-US" dirty="0" smtClean="0">
                <a:latin typeface="Arial" pitchFamily="34" charset="0"/>
                <a:cs typeface="Arial" pitchFamily="34" charset="0"/>
              </a:rPr>
              <a:t>This 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is a prospective study carried out in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Santhiram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Medical college and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hospital,Nandyal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algn="l"/>
            <a:r>
              <a:rPr lang="en-US" dirty="0" smtClean="0">
                <a:latin typeface="Arial" pitchFamily="34" charset="0"/>
                <a:cs typeface="Arial" pitchFamily="34" charset="0"/>
              </a:rPr>
              <a:t>A total of 10 cases of neglected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tendoachilles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rupture were treated with flexor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hallucis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tendon augmentation with interference screw.</a:t>
            </a:r>
          </a:p>
          <a:p>
            <a:pPr algn="l"/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algn="l">
              <a:buFont typeface="Arial" pitchFamily="34" charset="0"/>
              <a:buChar char="•"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-78378" y="1228250"/>
            <a:ext cx="12192000" cy="5340106"/>
          </a:xfrm>
          <a:prstGeom prst="rect">
            <a:avLst/>
          </a:prstGeom>
        </p:spPr>
        <p:txBody>
          <a:bodyPr/>
          <a:lstStyle/>
          <a:p>
            <a:r>
              <a:rPr lang="en-US" b="1" dirty="0" smtClean="0"/>
              <a:t>Surgical Technique Of  FHL Transfer</a:t>
            </a:r>
          </a:p>
          <a:p>
            <a:endParaRPr lang="en-US" b="1" dirty="0" smtClean="0"/>
          </a:p>
          <a:p>
            <a:pPr>
              <a:buNone/>
            </a:pPr>
            <a:endParaRPr lang="en-US" dirty="0"/>
          </a:p>
        </p:txBody>
      </p:sp>
      <p:pic>
        <p:nvPicPr>
          <p:cNvPr id="8" name="Picture 7" descr="4f2a1da5-9759-4d96-be3f-c19f427788ea.jp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46982" y="1639389"/>
            <a:ext cx="1990329" cy="2107655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9890" y="3575319"/>
            <a:ext cx="2530427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Longitudinal incision placed along the medial border of the Achilles tendon.</a:t>
            </a:r>
            <a:endParaRPr lang="en-US" sz="1400" dirty="0"/>
          </a:p>
        </p:txBody>
      </p:sp>
      <p:sp>
        <p:nvSpPr>
          <p:cNvPr id="13" name="Rectangle 12"/>
          <p:cNvSpPr/>
          <p:nvPr/>
        </p:nvSpPr>
        <p:spPr>
          <a:xfrm>
            <a:off x="2239271" y="3764587"/>
            <a:ext cx="256785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/>
            <a:r>
              <a:rPr lang="en-US" sz="1200" dirty="0" smtClean="0"/>
              <a:t>      The tendon sheath is incised in line of the incision.</a:t>
            </a:r>
            <a:endParaRPr lang="en-US" sz="1200" dirty="0"/>
          </a:p>
        </p:txBody>
      </p:sp>
      <p:pic>
        <p:nvPicPr>
          <p:cNvPr id="7" name="Picture 6" descr="fe187f60-dcf1-4dcd-893c-d4bf3f723d7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17" y="1703922"/>
            <a:ext cx="2461325" cy="1849401"/>
          </a:xfrm>
          <a:prstGeom prst="rect">
            <a:avLst/>
          </a:prstGeom>
        </p:spPr>
      </p:pic>
      <p:pic>
        <p:nvPicPr>
          <p:cNvPr id="9" name="Content Placeholder 4" descr="04f636de-27d1-4e25-8cc3-fa7614627d27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8888" y="1645918"/>
            <a:ext cx="3440922" cy="209005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837608" y="3785103"/>
            <a:ext cx="352261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The scar tissue in between the ends of the tendon is excised</a:t>
            </a:r>
            <a:endParaRPr lang="en-US" sz="1400" dirty="0"/>
          </a:p>
        </p:txBody>
      </p:sp>
      <p:pic>
        <p:nvPicPr>
          <p:cNvPr id="11" name="Content Placeholder 5" descr="680b926f-f9af-4f07-8a43-69b04051c9db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7066" y="1632564"/>
            <a:ext cx="3304485" cy="209035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8534397" y="3772040"/>
            <a:ext cx="33571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flexor </a:t>
            </a:r>
            <a:r>
              <a:rPr lang="en-US" sz="1200" dirty="0" err="1" smtClean="0"/>
              <a:t>hallucis</a:t>
            </a:r>
            <a:r>
              <a:rPr lang="en-US" sz="1200" dirty="0" smtClean="0"/>
              <a:t> </a:t>
            </a:r>
            <a:r>
              <a:rPr lang="en-US" sz="1200" dirty="0" err="1" smtClean="0"/>
              <a:t>longus</a:t>
            </a:r>
            <a:r>
              <a:rPr lang="en-US" sz="1200" dirty="0" smtClean="0"/>
              <a:t> muscle is identified and incised proximal to master knot of </a:t>
            </a:r>
            <a:r>
              <a:rPr lang="en-US" sz="1200" dirty="0" err="1" smtClean="0"/>
              <a:t>henry</a:t>
            </a:r>
            <a:r>
              <a:rPr lang="en-US" sz="1200" dirty="0" smtClean="0"/>
              <a:t> expose the tendon.</a:t>
            </a:r>
            <a:endParaRPr lang="en-US" sz="1200" dirty="0"/>
          </a:p>
        </p:txBody>
      </p:sp>
      <p:pic>
        <p:nvPicPr>
          <p:cNvPr id="16" name="Content Placeholder 6" descr="ed5c42ad-1fab-440c-926b-6abfead760e9.jpg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" y="4497988"/>
            <a:ext cx="2821576" cy="1955065"/>
          </a:xfrm>
          <a:prstGeom prst="rect">
            <a:avLst/>
          </a:prstGeom>
        </p:spPr>
      </p:pic>
      <p:pic>
        <p:nvPicPr>
          <p:cNvPr id="17" name="Picture 16" descr="a89a3185-370c-41d5-ad1a-31f224f9d988.jpg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2874673" y="4474783"/>
            <a:ext cx="2726995" cy="1963445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0" y="6537684"/>
            <a:ext cx="32517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Prepare FHL tendon </a:t>
            </a:r>
            <a:endParaRPr lang="en-US" sz="1400" dirty="0"/>
          </a:p>
        </p:txBody>
      </p:sp>
      <p:pic>
        <p:nvPicPr>
          <p:cNvPr id="19" name="Content Placeholder 4" descr="e84cd960-193b-425b-bf77-44ae8ebd5ae1.jpg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5736520" y="4441370"/>
            <a:ext cx="2815809" cy="2026665"/>
          </a:xfrm>
          <a:prstGeom prst="rect">
            <a:avLst/>
          </a:prstGeom>
        </p:spPr>
      </p:pic>
      <p:pic>
        <p:nvPicPr>
          <p:cNvPr id="20" name="Content Placeholder 5" descr="dbe6b367-f909-4cfb-9223-ad963b6a4eab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31766" y="4427257"/>
            <a:ext cx="3460234" cy="2057699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8686771" y="6497971"/>
            <a:ext cx="350522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smtClean="0"/>
              <a:t>Interference screw fixation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b9b5b203-518b-4e03-9656-3c4e99a9bcbd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0263" y="1347575"/>
            <a:ext cx="4062549" cy="2087957"/>
          </a:xfr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98C1BFA9-96E1-48EB-A5C4-AAF921D5500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/>
          <a:srcRect r="15180"/>
          <a:stretch/>
        </p:blipFill>
        <p:spPr>
          <a:xfrm rot="10800000">
            <a:off x="6631366" y="1345719"/>
            <a:ext cx="3518472" cy="2085975"/>
          </a:xfrm>
          <a:prstGeom prst="rect">
            <a:avLst/>
          </a:prstGeom>
        </p:spPr>
      </p:pic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Content Placeholder 4" descr="9e5a7eff-cf05-4396-85a9-66617a3ee224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538" y="3566157"/>
            <a:ext cx="3469696" cy="2286350"/>
          </a:xfrm>
          <a:prstGeom prst="rect">
            <a:avLst/>
          </a:prstGeom>
        </p:spPr>
      </p:pic>
      <p:pic>
        <p:nvPicPr>
          <p:cNvPr id="8" name="Content Placeholder 5" descr="017a3cd1-cfd2-403e-97b7-a5291f321546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073" y="3855629"/>
            <a:ext cx="3261635" cy="2158826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09303" y="5933590"/>
            <a:ext cx="387531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 smtClean="0"/>
              <a:t>Application of above knee cast in 20 degrees of knee flexion and 5 degrees of plantar flexion</a:t>
            </a:r>
            <a:endParaRPr lang="en-US" sz="1200" dirty="0"/>
          </a:p>
        </p:txBody>
      </p:sp>
      <p:sp>
        <p:nvSpPr>
          <p:cNvPr id="12" name="Rectangle 11"/>
          <p:cNvSpPr/>
          <p:nvPr/>
        </p:nvSpPr>
        <p:spPr>
          <a:xfrm>
            <a:off x="7414051" y="6131225"/>
            <a:ext cx="15440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Post op x-ray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949235" y="1319599"/>
            <a:ext cx="9213668" cy="5538401"/>
          </a:xfrm>
          <a:prstGeom prst="rect">
            <a:avLst/>
          </a:prstGeom>
        </p:spPr>
        <p:txBody>
          <a:bodyPr/>
          <a:lstStyle/>
          <a:p>
            <a:pPr marL="285750" indent="-285750" algn="just"/>
            <a:r>
              <a:rPr lang="en-US" b="1" dirty="0" smtClean="0">
                <a:latin typeface="Arial" pitchFamily="34" charset="0"/>
                <a:cs typeface="Arial" pitchFamily="34" charset="0"/>
              </a:rPr>
              <a:t> ADVANTAGES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: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The flexor hallucis tendon is stronger than other tendons in posterior compartment of leg and easily 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accessible.</a:t>
            </a: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The axis of contractile force of the flexor hallucis longus most closely reproduces that of the Achilles tendon. 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Its anatomic proximity makes the surgical technique easier and avoids the need to disturb the neurovascular bundle or lateral compartment muscles.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Relatively easier to perform in a patient lying prone.</a:t>
            </a:r>
          </a:p>
          <a:p>
            <a:pPr marL="342900" indent="-342900" algn="just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 No loss of great toe flexion because FHL incised proximal to master knot of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henry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.</a:t>
            </a:r>
          </a:p>
          <a:p>
            <a:pPr marL="342900" indent="-342900" algn="just"/>
            <a:r>
              <a:rPr lang="en-US" sz="1800" b="1" dirty="0" smtClean="0">
                <a:latin typeface="Arial" pitchFamily="34" charset="0"/>
                <a:cs typeface="Arial" pitchFamily="34" charset="0"/>
              </a:rPr>
              <a:t> COMPLICATIONS</a:t>
            </a:r>
            <a:r>
              <a:rPr lang="en-US" sz="1800" b="1" dirty="0" smtClean="0">
                <a:latin typeface="Arial" pitchFamily="34" charset="0"/>
                <a:cs typeface="Arial" pitchFamily="34" charset="0"/>
              </a:rPr>
              <a:t>: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Wound infection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Wound dehiscence</a:t>
            </a:r>
          </a:p>
          <a:p>
            <a:pPr marL="342900" indent="-342900" algn="l">
              <a:buFont typeface="Arial" pitchFamily="34" charset="0"/>
              <a:buChar char="•"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Limited Ankle motion : FHL tendon transfer may not fully restore ankle motion potentially resulting in persistent stiffness or limited mobility.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itchFamily="34" charset="0"/>
              <a:buChar char="•"/>
            </a:pPr>
            <a:endParaRPr lang="en-US" sz="1800" dirty="0" smtClean="0">
              <a:latin typeface="Arial" pitchFamily="34" charset="0"/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152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93223"/>
            <a:ext cx="10515600" cy="4883740"/>
          </a:xfrm>
        </p:spPr>
        <p:txBody>
          <a:bodyPr/>
          <a:lstStyle/>
          <a:p>
            <a:pPr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RESULTS: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Single Limb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H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eel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R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ise: All the patients were able to perform single limb heel rise by 6 months.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Range of Motion(ROM): All patients achieved near-symmetrical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dorsiflexion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compared to the contra lateral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side.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FHL Function: No patients reported significant morbidity or functional deficit related to Flexor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H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allucis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L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ongus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at the great toe.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>
              <a:buNone/>
            </a:pPr>
            <a:r>
              <a:rPr lang="en-US" sz="2000" b="1" dirty="0" smtClean="0">
                <a:latin typeface="Arial" pitchFamily="34" charset="0"/>
                <a:cs typeface="Arial" pitchFamily="34" charset="0"/>
              </a:rPr>
              <a:t>CONCLUSION:</a:t>
            </a:r>
            <a:endParaRPr lang="en-US" sz="2000" b="1" dirty="0" smtClean="0">
              <a:latin typeface="Arial" pitchFamily="34" charset="0"/>
              <a:cs typeface="Arial" pitchFamily="34" charset="0"/>
            </a:endParaRP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FHL tendon transfer is a viable treatment option for patients with neglected chronic Tendoachilles tear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While the procedure offers several benefits, it also carries potential risks and complications.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 Careful patient selection, meticulous surgical technique, and thorough postoperative care are essential for optimal outcomes.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References</a:t>
            </a:r>
          </a:p>
          <a:p>
            <a:pPr marL="285750" indent="-285750"/>
            <a:r>
              <a:rPr lang="en-US" dirty="0" smtClean="0"/>
              <a:t>Hansen ST. Trauma to the heel cord. In: </a:t>
            </a:r>
            <a:r>
              <a:rPr lang="en-US" dirty="0" err="1" smtClean="0"/>
              <a:t>Jahss</a:t>
            </a:r>
            <a:r>
              <a:rPr lang="en-US" dirty="0" smtClean="0"/>
              <a:t> MH, ed. Disorders of the Foot and Ankle, 2nd Ed. Philadelphia, </a:t>
            </a:r>
            <a:r>
              <a:rPr lang="de-DE" dirty="0" smtClean="0"/>
              <a:t>PA: W.B. Saunders; 1991:2357.</a:t>
            </a:r>
          </a:p>
          <a:p>
            <a:pPr marL="285750" indent="-285750"/>
            <a:r>
              <a:rPr lang="en-US" dirty="0" err="1" smtClean="0"/>
              <a:t>Wapner</a:t>
            </a:r>
            <a:r>
              <a:rPr lang="en-US" dirty="0" smtClean="0"/>
              <a:t> KL, </a:t>
            </a:r>
            <a:r>
              <a:rPr lang="en-US" dirty="0" err="1" smtClean="0"/>
              <a:t>Pavlock</a:t>
            </a:r>
            <a:r>
              <a:rPr lang="en-US" dirty="0" smtClean="0"/>
              <a:t> GS, Hecht PJ, et al. Repair of chronic Achilles tendon rupture with flexor hallucis longus tendon transfer. Foot Ankle. 1993;14:443Y449.</a:t>
            </a:r>
            <a:endParaRPr lang="en-US" b="1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riginal paper 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original paper template</Template>
  <TotalTime>536</TotalTime>
  <Words>589</Words>
  <Application>Microsoft Office PowerPoint</Application>
  <PresentationFormat>Custom</PresentationFormat>
  <Paragraphs>46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original paper template</vt:lpstr>
      <vt:lpstr>Minimally Invasive Repair of Neglected Tendoachilles Rupture Using Flexor Hallucis Longus Augmentation with Interference Screw</vt:lpstr>
      <vt:lpstr>INTRODUCTION </vt:lpstr>
      <vt:lpstr>AIM of Study:</vt:lpstr>
      <vt:lpstr>Slide 4</vt:lpstr>
      <vt:lpstr>Slide 5</vt:lpstr>
      <vt:lpstr>Slide 6</vt:lpstr>
      <vt:lpstr>Slide 7</vt:lpstr>
      <vt:lpstr>Slide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DELL</cp:lastModifiedBy>
  <cp:revision>64</cp:revision>
  <dcterms:created xsi:type="dcterms:W3CDTF">2025-01-25T09:50:33Z</dcterms:created>
  <dcterms:modified xsi:type="dcterms:W3CDTF">2026-02-11T17:37:28Z</dcterms:modified>
</cp:coreProperties>
</file>