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Picture 16" descr="Pictur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24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Date 6 – 8 February,2026, Venue : Kurnool Medical College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Organized by : Department of Orthopaedics, Kurnool Medical College Kurnool</a:t>
            </a:r>
          </a:p>
        </p:txBody>
      </p:sp>
      <p:sp>
        <p:nvSpPr>
          <p:cNvPr id="26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8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4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9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9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00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6" descr="Pictur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7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Date 6 – 8 February,2026, Venue : Kurnool Medical College</a:t>
            </a:r>
          </a:p>
        </p:txBody>
      </p:sp>
      <p:sp>
        <p:nvSpPr>
          <p:cNvPr id="8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Organized by : Department of Orthopaedics, Kurnool Medical College Kurnool</a:t>
            </a:r>
          </a:p>
        </p:txBody>
      </p:sp>
      <p:sp>
        <p:nvSpPr>
          <p:cNvPr id="9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1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xfrm>
            <a:off x="8610600" y="6356350"/>
            <a:ext cx="358413" cy="3708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jpeg"/><Relationship Id="rId6" Type="http://schemas.openxmlformats.org/officeDocument/2006/relationships/image" Target="../media/image2.jpeg"/><Relationship Id="rId7" Type="http://schemas.openxmlformats.org/officeDocument/2006/relationships/image" Target="../media/image3.jpeg"/><Relationship Id="rId8" Type="http://schemas.openxmlformats.org/officeDocument/2006/relationships/image" Target="../media/image4.jpeg"/><Relationship Id="rId9" Type="http://schemas.openxmlformats.org/officeDocument/2006/relationships/image" Target="../media/image5.jpeg"/><Relationship Id="rId10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3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1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521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16" descr="Picture 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8417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Box 17"/>
          <p:cNvSpPr txBox="1"/>
          <p:nvPr/>
        </p:nvSpPr>
        <p:spPr>
          <a:xfrm>
            <a:off x="2797893" y="817509"/>
            <a:ext cx="833262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C0C0C0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Orthopedic Surgeon Society of Andhra Pradesh</a:t>
            </a:r>
          </a:p>
        </p:txBody>
      </p:sp>
      <p:sp>
        <p:nvSpPr>
          <p:cNvPr id="114" name="TextBox 19"/>
          <p:cNvSpPr txBox="1"/>
          <p:nvPr/>
        </p:nvSpPr>
        <p:spPr>
          <a:xfrm>
            <a:off x="3607794" y="1019272"/>
            <a:ext cx="702259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0C0C0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Department of Orthopaedics, Kurnool Medical College, Kurnool</a:t>
            </a:r>
          </a:p>
        </p:txBody>
      </p:sp>
      <p:sp>
        <p:nvSpPr>
          <p:cNvPr id="115" name="Freeform 13"/>
          <p:cNvSpPr/>
          <p:nvPr/>
        </p:nvSpPr>
        <p:spPr>
          <a:xfrm>
            <a:off x="27413" y="14254"/>
            <a:ext cx="1505562" cy="12801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8" name="Rectangle 9"/>
          <p:cNvGrpSpPr/>
          <p:nvPr/>
        </p:nvGrpSpPr>
        <p:grpSpPr>
          <a:xfrm>
            <a:off x="-1" y="1280157"/>
            <a:ext cx="3108962" cy="394638"/>
            <a:chOff x="0" y="0"/>
            <a:chExt cx="3108960" cy="394637"/>
          </a:xfrm>
        </p:grpSpPr>
        <p:sp>
          <p:nvSpPr>
            <p:cNvPr id="116" name="Rectangle"/>
            <p:cNvSpPr/>
            <p:nvPr/>
          </p:nvSpPr>
          <p:spPr>
            <a:xfrm>
              <a:off x="-1" y="-1"/>
              <a:ext cx="3108962" cy="39463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7" name="INTRODUCTION"/>
            <p:cNvSpPr txBox="1"/>
            <p:nvPr/>
          </p:nvSpPr>
          <p:spPr>
            <a:xfrm>
              <a:off x="55244" y="11898"/>
              <a:ext cx="2998472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/>
              </a:lvl1pPr>
            </a:lstStyle>
            <a:p>
              <a:pPr/>
              <a:r>
                <a:t>INTRODUCTION </a:t>
              </a:r>
            </a:p>
          </p:txBody>
        </p:sp>
      </p:grpSp>
      <p:grpSp>
        <p:nvGrpSpPr>
          <p:cNvPr id="121" name="Rectangle 10"/>
          <p:cNvGrpSpPr/>
          <p:nvPr/>
        </p:nvGrpSpPr>
        <p:grpSpPr>
          <a:xfrm>
            <a:off x="-143308" y="5400293"/>
            <a:ext cx="3155735" cy="380519"/>
            <a:chOff x="0" y="0"/>
            <a:chExt cx="3155733" cy="380517"/>
          </a:xfrm>
        </p:grpSpPr>
        <p:sp>
          <p:nvSpPr>
            <p:cNvPr id="119" name="Rectangle"/>
            <p:cNvSpPr/>
            <p:nvPr/>
          </p:nvSpPr>
          <p:spPr>
            <a:xfrm>
              <a:off x="102140" y="6307"/>
              <a:ext cx="2951453" cy="367904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INCLUSION CRITERIA"/>
            <p:cNvSpPr txBox="1"/>
            <p:nvPr/>
          </p:nvSpPr>
          <p:spPr>
            <a:xfrm>
              <a:off x="0" y="0"/>
              <a:ext cx="3155734" cy="3805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400">
                  <a:solidFill>
                    <a:srgbClr val="0D0D0D"/>
                  </a:solidFill>
                </a:defRPr>
              </a:lvl1pPr>
            </a:lstStyle>
            <a:p>
              <a:pPr/>
              <a:r>
                <a:t>INCLUSION CRITERIA</a:t>
              </a:r>
            </a:p>
          </p:txBody>
        </p:sp>
      </p:grpSp>
      <p:sp>
        <p:nvSpPr>
          <p:cNvPr id="122" name="To Evaluate the Functional Outcomes of the Distal Radius Plating in Elderly patients"/>
          <p:cNvSpPr txBox="1"/>
          <p:nvPr/>
        </p:nvSpPr>
        <p:spPr>
          <a:xfrm>
            <a:off x="1808913" y="-14905"/>
            <a:ext cx="877725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FFCC00"/>
                </a:solidFill>
                <a:latin typeface="Arial,sans-serif"/>
                <a:ea typeface="Arial,sans-serif"/>
                <a:cs typeface="Arial,sans-serif"/>
                <a:sym typeface="Arial,sans-serif"/>
              </a:defRPr>
            </a:lvl1pPr>
          </a:lstStyle>
          <a:p>
            <a:pPr/>
            <a:r>
              <a:t>To Evaluate the Functional Outcomes of the Distal Radius Plating in Elderly patients</a:t>
            </a:r>
          </a:p>
        </p:txBody>
      </p:sp>
      <p:sp>
        <p:nvSpPr>
          <p:cNvPr id="123" name="[Presenter :Dr Sainath  P ,PG] [Guide : Dr A Sandeep , Associate Professor , DR Psims&amp; RF]"/>
          <p:cNvSpPr txBox="1"/>
          <p:nvPr/>
        </p:nvSpPr>
        <p:spPr>
          <a:xfrm>
            <a:off x="1643960" y="571765"/>
            <a:ext cx="911473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[Presenter :Dr Sainath  P ,PG] [Guide : Dr A Sandeep , Associate Professor , DR Psims&amp; RF]</a:t>
            </a:r>
          </a:p>
        </p:txBody>
      </p:sp>
      <p:grpSp>
        <p:nvGrpSpPr>
          <p:cNvPr id="126" name="Rectangle 10"/>
          <p:cNvGrpSpPr/>
          <p:nvPr/>
        </p:nvGrpSpPr>
        <p:grpSpPr>
          <a:xfrm>
            <a:off x="3108293" y="1306142"/>
            <a:ext cx="2168794" cy="268644"/>
            <a:chOff x="0" y="0"/>
            <a:chExt cx="2168793" cy="268642"/>
          </a:xfrm>
        </p:grpSpPr>
        <p:sp>
          <p:nvSpPr>
            <p:cNvPr id="124" name="Rectangle"/>
            <p:cNvSpPr/>
            <p:nvPr/>
          </p:nvSpPr>
          <p:spPr>
            <a:xfrm>
              <a:off x="-1" y="0"/>
              <a:ext cx="2168794" cy="268643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C445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EXCLUSION CRITERIA"/>
            <p:cNvSpPr txBox="1"/>
            <p:nvPr/>
          </p:nvSpPr>
          <p:spPr>
            <a:xfrm>
              <a:off x="37133" y="16472"/>
              <a:ext cx="2094527" cy="235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000">
                  <a:solidFill>
                    <a:srgbClr val="0D0D0D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EXCLUSION CRITERIA</a:t>
              </a:r>
            </a:p>
          </p:txBody>
        </p:sp>
      </p:grpSp>
      <p:pic>
        <p:nvPicPr>
          <p:cNvPr id="127" name="69d3bc46-928b-4682-99b8-5a48f0d6327d.jpeg" descr="69d3bc46-928b-4682-99b8-5a48f0d6327d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45394" y="5266864"/>
            <a:ext cx="2265726" cy="161601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0" name="Rectangle 12"/>
          <p:cNvGrpSpPr/>
          <p:nvPr/>
        </p:nvGrpSpPr>
        <p:grpSpPr>
          <a:xfrm>
            <a:off x="2845864" y="2998684"/>
            <a:ext cx="2264822" cy="287487"/>
            <a:chOff x="0" y="0"/>
            <a:chExt cx="2264821" cy="287485"/>
          </a:xfrm>
        </p:grpSpPr>
        <p:sp>
          <p:nvSpPr>
            <p:cNvPr id="128" name="Rectangle"/>
            <p:cNvSpPr/>
            <p:nvPr/>
          </p:nvSpPr>
          <p:spPr>
            <a:xfrm>
              <a:off x="-1" y="-1"/>
              <a:ext cx="2264823" cy="287487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Pre OP Xray"/>
            <p:cNvSpPr txBox="1"/>
            <p:nvPr/>
          </p:nvSpPr>
          <p:spPr>
            <a:xfrm>
              <a:off x="38184" y="15584"/>
              <a:ext cx="2188453" cy="2563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900">
                  <a:solidFill>
                    <a:srgbClr val="0D0D0D"/>
                  </a:solidFill>
                </a:defRPr>
              </a:lvl1pPr>
            </a:lstStyle>
            <a:p>
              <a:pPr/>
              <a:r>
                <a:t>Pre OP Xray</a:t>
              </a:r>
            </a:p>
          </p:txBody>
        </p:sp>
      </p:grpSp>
      <p:grpSp>
        <p:nvGrpSpPr>
          <p:cNvPr id="133" name="Rectangle 12"/>
          <p:cNvGrpSpPr/>
          <p:nvPr/>
        </p:nvGrpSpPr>
        <p:grpSpPr>
          <a:xfrm>
            <a:off x="2822911" y="4926824"/>
            <a:ext cx="2556823" cy="324552"/>
            <a:chOff x="0" y="0"/>
            <a:chExt cx="2556822" cy="324550"/>
          </a:xfrm>
        </p:grpSpPr>
        <p:sp>
          <p:nvSpPr>
            <p:cNvPr id="131" name="Rectangle"/>
            <p:cNvSpPr/>
            <p:nvPr/>
          </p:nvSpPr>
          <p:spPr>
            <a:xfrm>
              <a:off x="-1" y="-1"/>
              <a:ext cx="2556824" cy="324552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2" name="Post OP Xray"/>
            <p:cNvSpPr txBox="1"/>
            <p:nvPr/>
          </p:nvSpPr>
          <p:spPr>
            <a:xfrm>
              <a:off x="43107" y="17593"/>
              <a:ext cx="2470609" cy="2893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1000">
                  <a:solidFill>
                    <a:srgbClr val="0D0D0D"/>
                  </a:solidFill>
                </a:defRPr>
              </a:lvl1pPr>
            </a:lstStyle>
            <a:p>
              <a:pPr/>
              <a:r>
                <a:t> Post OP Xray</a:t>
              </a:r>
            </a:p>
          </p:txBody>
        </p:sp>
      </p:grpSp>
      <p:grpSp>
        <p:nvGrpSpPr>
          <p:cNvPr id="136" name="Rectangle 12"/>
          <p:cNvGrpSpPr/>
          <p:nvPr/>
        </p:nvGrpSpPr>
        <p:grpSpPr>
          <a:xfrm>
            <a:off x="5958981" y="7951330"/>
            <a:ext cx="3090969" cy="392354"/>
            <a:chOff x="0" y="0"/>
            <a:chExt cx="3090968" cy="392352"/>
          </a:xfrm>
        </p:grpSpPr>
        <p:sp>
          <p:nvSpPr>
            <p:cNvPr id="134" name="Rectangle"/>
            <p:cNvSpPr/>
            <p:nvPr/>
          </p:nvSpPr>
          <p:spPr>
            <a:xfrm>
              <a:off x="-1" y="-1"/>
              <a:ext cx="3090970" cy="392354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" name="3 months follow up"/>
            <p:cNvSpPr txBox="1"/>
            <p:nvPr/>
          </p:nvSpPr>
          <p:spPr>
            <a:xfrm>
              <a:off x="52112" y="21268"/>
              <a:ext cx="2986744" cy="3498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>
                  <a:solidFill>
                    <a:srgbClr val="0D0D0D"/>
                  </a:solidFill>
                </a:defRPr>
              </a:lvl1pPr>
            </a:lstStyle>
            <a:p>
              <a:pPr/>
              <a:r>
                <a:t>3 months follow up</a:t>
              </a:r>
            </a:p>
          </p:txBody>
        </p:sp>
      </p:grpSp>
      <p:sp>
        <p:nvSpPr>
          <p:cNvPr id="137" name="Patients with associated Ulna fracture…"/>
          <p:cNvSpPr txBox="1"/>
          <p:nvPr>
            <p:ph type="subTitle" sz="quarter" idx="1"/>
          </p:nvPr>
        </p:nvSpPr>
        <p:spPr>
          <a:xfrm>
            <a:off x="3231559" y="1717488"/>
            <a:ext cx="1739527" cy="1232095"/>
          </a:xfrm>
          <a:prstGeom prst="rect">
            <a:avLst/>
          </a:prstGeom>
        </p:spPr>
        <p:txBody>
          <a:bodyPr/>
          <a:lstStyle/>
          <a:p>
            <a:pPr marL="259772" indent="-259772" algn="l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0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Patients with associated Ulna fracture </a:t>
            </a:r>
          </a:p>
          <a:p>
            <a:pPr marL="259772" indent="-259772" algn="l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0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Open/Infected fractures</a:t>
            </a:r>
          </a:p>
          <a:p>
            <a:pPr marL="259772" indent="-259772" algn="l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0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Vascular injuries </a:t>
            </a:r>
          </a:p>
          <a:p>
            <a:pPr marL="259772" indent="-259772" algn="l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0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Severe Co-morbid conditions </a:t>
            </a:r>
          </a:p>
        </p:txBody>
      </p:sp>
      <p:sp>
        <p:nvSpPr>
          <p:cNvPr id="138" name="Age above 40 Years…"/>
          <p:cNvSpPr txBox="1"/>
          <p:nvPr/>
        </p:nvSpPr>
        <p:spPr>
          <a:xfrm>
            <a:off x="104448" y="5857204"/>
            <a:ext cx="2900064" cy="1008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85750" indent="-2857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Age above 40 Years </a:t>
            </a:r>
          </a:p>
          <a:p>
            <a:pPr marL="285750" indent="-2857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Fresh traumatic fractures </a:t>
            </a:r>
            <a:endParaRPr sz="1000"/>
          </a:p>
          <a:p>
            <a:pPr marL="285750" indent="-285750">
              <a:lnSpc>
                <a:spcPct val="50000"/>
              </a:lnSpc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No previous surgeries </a:t>
            </a:r>
          </a:p>
        </p:txBody>
      </p:sp>
      <p:sp>
        <p:nvSpPr>
          <p:cNvPr id="139" name="Study Design: Prospective case series…"/>
          <p:cNvSpPr txBox="1"/>
          <p:nvPr/>
        </p:nvSpPr>
        <p:spPr>
          <a:xfrm>
            <a:off x="149330" y="4001795"/>
            <a:ext cx="2658286" cy="173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Study Design: Prospective case series</a:t>
            </a:r>
            <a:endParaRPr sz="1000"/>
          </a:p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Study Period: January 2025 – January 2026</a:t>
            </a:r>
            <a:endParaRPr sz="1000"/>
          </a:p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Study Location: Dr PSIMS &amp;RF</a:t>
            </a:r>
            <a:endParaRPr sz="1000"/>
          </a:p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Sample Size: 40 patients</a:t>
            </a:r>
            <a:endParaRPr sz="1000"/>
          </a:p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Procedure : ORIF -Plating to Distal radius done by experienced orthopaedic surgeons</a:t>
            </a:r>
          </a:p>
        </p:txBody>
      </p:sp>
      <p:sp>
        <p:nvSpPr>
          <p:cNvPr id="140" name="Rectangle"/>
          <p:cNvSpPr/>
          <p:nvPr/>
        </p:nvSpPr>
        <p:spPr>
          <a:xfrm>
            <a:off x="8995" y="3551616"/>
            <a:ext cx="3090970" cy="392354"/>
          </a:xfrm>
          <a:prstGeom prst="rect">
            <a:avLst/>
          </a:prstGeom>
          <a:solidFill>
            <a:srgbClr val="A6CAEC"/>
          </a:solidFill>
          <a:ln w="19050">
            <a:solidFill>
              <a:srgbClr val="0F465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Method"/>
          <p:cNvSpPr txBox="1"/>
          <p:nvPr/>
        </p:nvSpPr>
        <p:spPr>
          <a:xfrm>
            <a:off x="-14899" y="3572884"/>
            <a:ext cx="2986744" cy="349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b="1">
                <a:solidFill>
                  <a:srgbClr val="0D0D0D"/>
                </a:solidFill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142" name="Distal radius fracture is one of the most common fracture of Upper extremity accounts for 15% of all fractures…"/>
          <p:cNvSpPr txBox="1"/>
          <p:nvPr/>
        </p:nvSpPr>
        <p:spPr>
          <a:xfrm>
            <a:off x="167427" y="1719043"/>
            <a:ext cx="2622092" cy="1781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09186" indent="-109186" defTabSz="905255">
              <a:buSzPct val="100000"/>
              <a:buChar char="•"/>
              <a:defRPr sz="1089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Distal radius fracture is one of the most common fracture of Upper extremity accounts for 15% of all fractures</a:t>
            </a:r>
          </a:p>
          <a:p>
            <a:pPr marL="109186" indent="-109186" defTabSz="905255">
              <a:buSzPct val="100000"/>
              <a:buChar char="•"/>
              <a:defRPr sz="1089">
                <a:latin typeface="Arial,sans-serif"/>
                <a:ea typeface="Arial,sans-serif"/>
                <a:cs typeface="Arial,sans-serif"/>
                <a:sym typeface="Arial,sans-serif"/>
              </a:defRPr>
            </a:pPr>
          </a:p>
          <a:p>
            <a:pPr marL="109186" indent="-109186" defTabSz="905255">
              <a:buSzPct val="100000"/>
              <a:buChar char="•"/>
              <a:defRPr sz="1089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Recently,Volar locking plate is widely accepted as an efficient treatment for unstable distal radius fractures due to advantages of direct reduction &amp; Stable fixation with locking plate as well as early mobilisation is possible </a:t>
            </a:r>
          </a:p>
        </p:txBody>
      </p:sp>
      <p:grpSp>
        <p:nvGrpSpPr>
          <p:cNvPr id="145" name="Rectangle 10"/>
          <p:cNvGrpSpPr/>
          <p:nvPr/>
        </p:nvGrpSpPr>
        <p:grpSpPr>
          <a:xfrm>
            <a:off x="5143787" y="2998377"/>
            <a:ext cx="3461792" cy="428804"/>
            <a:chOff x="0" y="0"/>
            <a:chExt cx="3461790" cy="428803"/>
          </a:xfrm>
        </p:grpSpPr>
        <p:sp>
          <p:nvSpPr>
            <p:cNvPr id="143" name="Rectangle"/>
            <p:cNvSpPr/>
            <p:nvPr/>
          </p:nvSpPr>
          <p:spPr>
            <a:xfrm>
              <a:off x="-1" y="0"/>
              <a:ext cx="3461792" cy="428804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C445E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4" name="Wrist ROM (Post Op)"/>
            <p:cNvSpPr txBox="1"/>
            <p:nvPr/>
          </p:nvSpPr>
          <p:spPr>
            <a:xfrm>
              <a:off x="59271" y="26292"/>
              <a:ext cx="3343249" cy="3762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>
                  <a:solidFill>
                    <a:srgbClr val="0D0D0D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Wrist ROM (Post Op)</a:t>
              </a:r>
            </a:p>
          </p:txBody>
        </p:sp>
      </p:grpSp>
      <p:pic>
        <p:nvPicPr>
          <p:cNvPr id="146" name="dc4ac704-8974-426d-bded-1aa5e4fd3f05.jpeg" descr="dc4ac704-8974-426d-bded-1aa5e4fd3f05.jpeg"/>
          <p:cNvPicPr>
            <a:picLocks noChangeAspect="1"/>
          </p:cNvPicPr>
          <p:nvPr/>
        </p:nvPicPr>
        <p:blipFill>
          <a:blip r:embed="rId6">
            <a:extLst/>
          </a:blip>
          <a:srcRect l="0" t="0" r="722" b="7"/>
          <a:stretch>
            <a:fillRect/>
          </a:stretch>
        </p:blipFill>
        <p:spPr>
          <a:xfrm>
            <a:off x="5238914" y="3464342"/>
            <a:ext cx="3271538" cy="1377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9" h="21583" fill="norm" stroke="1" extrusionOk="0">
                <a:moveTo>
                  <a:pt x="4501" y="0"/>
                </a:moveTo>
                <a:lnTo>
                  <a:pt x="4501" y="404"/>
                </a:lnTo>
                <a:cubicBezTo>
                  <a:pt x="4501" y="626"/>
                  <a:pt x="4483" y="846"/>
                  <a:pt x="4462" y="896"/>
                </a:cubicBezTo>
                <a:cubicBezTo>
                  <a:pt x="4441" y="946"/>
                  <a:pt x="4242" y="868"/>
                  <a:pt x="4020" y="722"/>
                </a:cubicBezTo>
                <a:cubicBezTo>
                  <a:pt x="3647" y="475"/>
                  <a:pt x="3569" y="477"/>
                  <a:pt x="2988" y="771"/>
                </a:cubicBezTo>
                <a:cubicBezTo>
                  <a:pt x="2642" y="947"/>
                  <a:pt x="1919" y="1147"/>
                  <a:pt x="1380" y="1213"/>
                </a:cubicBezTo>
                <a:cubicBezTo>
                  <a:pt x="827" y="1280"/>
                  <a:pt x="311" y="1427"/>
                  <a:pt x="198" y="1555"/>
                </a:cubicBezTo>
                <a:cubicBezTo>
                  <a:pt x="-1" y="1781"/>
                  <a:pt x="0" y="1782"/>
                  <a:pt x="0" y="3638"/>
                </a:cubicBezTo>
                <a:lnTo>
                  <a:pt x="0" y="5497"/>
                </a:lnTo>
                <a:lnTo>
                  <a:pt x="381" y="6057"/>
                </a:lnTo>
                <a:cubicBezTo>
                  <a:pt x="591" y="6365"/>
                  <a:pt x="877" y="6683"/>
                  <a:pt x="1017" y="6759"/>
                </a:cubicBezTo>
                <a:cubicBezTo>
                  <a:pt x="1156" y="6836"/>
                  <a:pt x="1481" y="7014"/>
                  <a:pt x="1741" y="7157"/>
                </a:cubicBezTo>
                <a:cubicBezTo>
                  <a:pt x="2000" y="7301"/>
                  <a:pt x="2349" y="7423"/>
                  <a:pt x="2512" y="7425"/>
                </a:cubicBezTo>
                <a:cubicBezTo>
                  <a:pt x="2983" y="7430"/>
                  <a:pt x="3022" y="7608"/>
                  <a:pt x="3200" y="10534"/>
                </a:cubicBezTo>
                <a:cubicBezTo>
                  <a:pt x="3320" y="12520"/>
                  <a:pt x="3195" y="15240"/>
                  <a:pt x="2941" y="16161"/>
                </a:cubicBezTo>
                <a:cubicBezTo>
                  <a:pt x="2830" y="16565"/>
                  <a:pt x="2808" y="17035"/>
                  <a:pt x="2802" y="19114"/>
                </a:cubicBezTo>
                <a:lnTo>
                  <a:pt x="2794" y="21583"/>
                </a:lnTo>
                <a:lnTo>
                  <a:pt x="7623" y="21583"/>
                </a:lnTo>
                <a:lnTo>
                  <a:pt x="7623" y="19867"/>
                </a:lnTo>
                <a:cubicBezTo>
                  <a:pt x="7623" y="18909"/>
                  <a:pt x="7590" y="18105"/>
                  <a:pt x="7549" y="18045"/>
                </a:cubicBezTo>
                <a:cubicBezTo>
                  <a:pt x="7435" y="17877"/>
                  <a:pt x="7462" y="15846"/>
                  <a:pt x="7583" y="15433"/>
                </a:cubicBezTo>
                <a:cubicBezTo>
                  <a:pt x="7642" y="15236"/>
                  <a:pt x="7724" y="14533"/>
                  <a:pt x="7766" y="13879"/>
                </a:cubicBezTo>
                <a:cubicBezTo>
                  <a:pt x="7817" y="13103"/>
                  <a:pt x="7890" y="12594"/>
                  <a:pt x="7978" y="12418"/>
                </a:cubicBezTo>
                <a:cubicBezTo>
                  <a:pt x="8085" y="12204"/>
                  <a:pt x="8114" y="11911"/>
                  <a:pt x="8114" y="11012"/>
                </a:cubicBezTo>
                <a:cubicBezTo>
                  <a:pt x="8114" y="10386"/>
                  <a:pt x="8139" y="9779"/>
                  <a:pt x="8169" y="9663"/>
                </a:cubicBezTo>
                <a:cubicBezTo>
                  <a:pt x="8199" y="9547"/>
                  <a:pt x="8218" y="9006"/>
                  <a:pt x="8211" y="8463"/>
                </a:cubicBezTo>
                <a:cubicBezTo>
                  <a:pt x="8203" y="7836"/>
                  <a:pt x="8233" y="7415"/>
                  <a:pt x="8292" y="7306"/>
                </a:cubicBezTo>
                <a:cubicBezTo>
                  <a:pt x="8343" y="7212"/>
                  <a:pt x="8637" y="6886"/>
                  <a:pt x="8945" y="6585"/>
                </a:cubicBezTo>
                <a:cubicBezTo>
                  <a:pt x="9619" y="5927"/>
                  <a:pt x="9952" y="5488"/>
                  <a:pt x="10360" y="4714"/>
                </a:cubicBezTo>
                <a:cubicBezTo>
                  <a:pt x="10914" y="3661"/>
                  <a:pt x="10897" y="3769"/>
                  <a:pt x="10875" y="1841"/>
                </a:cubicBezTo>
                <a:lnTo>
                  <a:pt x="10854" y="87"/>
                </a:lnTo>
                <a:lnTo>
                  <a:pt x="10200" y="38"/>
                </a:lnTo>
                <a:cubicBezTo>
                  <a:pt x="9768" y="4"/>
                  <a:pt x="9488" y="64"/>
                  <a:pt x="9372" y="212"/>
                </a:cubicBezTo>
                <a:cubicBezTo>
                  <a:pt x="9140" y="505"/>
                  <a:pt x="7221" y="494"/>
                  <a:pt x="7097" y="199"/>
                </a:cubicBezTo>
                <a:cubicBezTo>
                  <a:pt x="7039" y="62"/>
                  <a:pt x="6615" y="0"/>
                  <a:pt x="5756" y="0"/>
                </a:cubicBezTo>
                <a:lnTo>
                  <a:pt x="4501" y="0"/>
                </a:lnTo>
                <a:close/>
                <a:moveTo>
                  <a:pt x="15282" y="87"/>
                </a:moveTo>
                <a:lnTo>
                  <a:pt x="15259" y="952"/>
                </a:lnTo>
                <a:cubicBezTo>
                  <a:pt x="15232" y="1939"/>
                  <a:pt x="15088" y="2418"/>
                  <a:pt x="14817" y="2419"/>
                </a:cubicBezTo>
                <a:cubicBezTo>
                  <a:pt x="14324" y="2422"/>
                  <a:pt x="14078" y="2773"/>
                  <a:pt x="13272" y="4651"/>
                </a:cubicBezTo>
                <a:cubicBezTo>
                  <a:pt x="12766" y="5830"/>
                  <a:pt x="12340" y="6665"/>
                  <a:pt x="12116" y="6915"/>
                </a:cubicBezTo>
                <a:cubicBezTo>
                  <a:pt x="11627" y="7460"/>
                  <a:pt x="11440" y="8368"/>
                  <a:pt x="11426" y="10272"/>
                </a:cubicBezTo>
                <a:cubicBezTo>
                  <a:pt x="11415" y="11893"/>
                  <a:pt x="11480" y="12430"/>
                  <a:pt x="11688" y="12430"/>
                </a:cubicBezTo>
                <a:cubicBezTo>
                  <a:pt x="11929" y="12430"/>
                  <a:pt x="11995" y="13169"/>
                  <a:pt x="11949" y="15371"/>
                </a:cubicBezTo>
                <a:cubicBezTo>
                  <a:pt x="11902" y="17644"/>
                  <a:pt x="11845" y="18612"/>
                  <a:pt x="11753" y="18748"/>
                </a:cubicBezTo>
                <a:cubicBezTo>
                  <a:pt x="11609" y="18959"/>
                  <a:pt x="11703" y="19164"/>
                  <a:pt x="11941" y="19164"/>
                </a:cubicBezTo>
                <a:cubicBezTo>
                  <a:pt x="12215" y="19164"/>
                  <a:pt x="12781" y="18697"/>
                  <a:pt x="12867" y="18399"/>
                </a:cubicBezTo>
                <a:cubicBezTo>
                  <a:pt x="12896" y="18298"/>
                  <a:pt x="12921" y="18049"/>
                  <a:pt x="12922" y="17846"/>
                </a:cubicBezTo>
                <a:cubicBezTo>
                  <a:pt x="12922" y="17643"/>
                  <a:pt x="12971" y="17260"/>
                  <a:pt x="13031" y="16988"/>
                </a:cubicBezTo>
                <a:cubicBezTo>
                  <a:pt x="13112" y="16629"/>
                  <a:pt x="13132" y="16205"/>
                  <a:pt x="13102" y="15452"/>
                </a:cubicBezTo>
                <a:cubicBezTo>
                  <a:pt x="13079" y="14882"/>
                  <a:pt x="13054" y="13995"/>
                  <a:pt x="13047" y="13475"/>
                </a:cubicBezTo>
                <a:cubicBezTo>
                  <a:pt x="13035" y="12583"/>
                  <a:pt x="13045" y="12515"/>
                  <a:pt x="13235" y="12355"/>
                </a:cubicBezTo>
                <a:cubicBezTo>
                  <a:pt x="13378" y="12236"/>
                  <a:pt x="13478" y="12251"/>
                  <a:pt x="13578" y="12399"/>
                </a:cubicBezTo>
                <a:cubicBezTo>
                  <a:pt x="13655" y="12514"/>
                  <a:pt x="13767" y="12604"/>
                  <a:pt x="13829" y="12604"/>
                </a:cubicBezTo>
                <a:cubicBezTo>
                  <a:pt x="14040" y="12604"/>
                  <a:pt x="14115" y="13372"/>
                  <a:pt x="13980" y="14171"/>
                </a:cubicBezTo>
                <a:cubicBezTo>
                  <a:pt x="13913" y="14569"/>
                  <a:pt x="13875" y="14933"/>
                  <a:pt x="13894" y="14979"/>
                </a:cubicBezTo>
                <a:cubicBezTo>
                  <a:pt x="13913" y="15025"/>
                  <a:pt x="13872" y="15422"/>
                  <a:pt x="13800" y="15862"/>
                </a:cubicBezTo>
                <a:cubicBezTo>
                  <a:pt x="13697" y="16494"/>
                  <a:pt x="13665" y="17187"/>
                  <a:pt x="13661" y="19127"/>
                </a:cubicBezTo>
                <a:lnTo>
                  <a:pt x="13659" y="21583"/>
                </a:lnTo>
                <a:lnTo>
                  <a:pt x="19156" y="21583"/>
                </a:lnTo>
                <a:lnTo>
                  <a:pt x="19269" y="21204"/>
                </a:lnTo>
                <a:cubicBezTo>
                  <a:pt x="19402" y="20750"/>
                  <a:pt x="19429" y="17734"/>
                  <a:pt x="19308" y="16752"/>
                </a:cubicBezTo>
                <a:cubicBezTo>
                  <a:pt x="19226" y="16083"/>
                  <a:pt x="19187" y="12152"/>
                  <a:pt x="19261" y="11976"/>
                </a:cubicBezTo>
                <a:cubicBezTo>
                  <a:pt x="19287" y="11915"/>
                  <a:pt x="19761" y="11855"/>
                  <a:pt x="20314" y="11846"/>
                </a:cubicBezTo>
                <a:cubicBezTo>
                  <a:pt x="21599" y="11824"/>
                  <a:pt x="21594" y="11831"/>
                  <a:pt x="21525" y="9937"/>
                </a:cubicBezTo>
                <a:cubicBezTo>
                  <a:pt x="21465" y="8312"/>
                  <a:pt x="21452" y="8267"/>
                  <a:pt x="20327" y="6498"/>
                </a:cubicBezTo>
                <a:cubicBezTo>
                  <a:pt x="19702" y="5513"/>
                  <a:pt x="18947" y="3774"/>
                  <a:pt x="18947" y="3314"/>
                </a:cubicBezTo>
                <a:cubicBezTo>
                  <a:pt x="18947" y="3039"/>
                  <a:pt x="18337" y="2265"/>
                  <a:pt x="17917" y="2009"/>
                </a:cubicBezTo>
                <a:cubicBezTo>
                  <a:pt x="17551" y="1785"/>
                  <a:pt x="17534" y="1747"/>
                  <a:pt x="17562" y="1275"/>
                </a:cubicBezTo>
                <a:cubicBezTo>
                  <a:pt x="17637" y="-17"/>
                  <a:pt x="17734" y="87"/>
                  <a:pt x="16443" y="87"/>
                </a:cubicBezTo>
                <a:lnTo>
                  <a:pt x="15282" y="87"/>
                </a:lnTo>
                <a:close/>
              </a:path>
            </a:pathLst>
          </a:custGeom>
          <a:ln w="12700">
            <a:miter lim="400000"/>
          </a:ln>
        </p:spPr>
      </p:pic>
      <p:grpSp>
        <p:nvGrpSpPr>
          <p:cNvPr id="149" name="Rectangle 12"/>
          <p:cNvGrpSpPr/>
          <p:nvPr/>
        </p:nvGrpSpPr>
        <p:grpSpPr>
          <a:xfrm>
            <a:off x="5162985" y="1297911"/>
            <a:ext cx="3423396" cy="434551"/>
            <a:chOff x="0" y="0"/>
            <a:chExt cx="3423394" cy="434549"/>
          </a:xfrm>
        </p:grpSpPr>
        <p:sp>
          <p:nvSpPr>
            <p:cNvPr id="147" name="Rectangle"/>
            <p:cNvSpPr/>
            <p:nvPr/>
          </p:nvSpPr>
          <p:spPr>
            <a:xfrm>
              <a:off x="-1" y="-1"/>
              <a:ext cx="3423396" cy="434551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8" name="Intra OP picture"/>
            <p:cNvSpPr txBox="1"/>
            <p:nvPr/>
          </p:nvSpPr>
          <p:spPr>
            <a:xfrm>
              <a:off x="57717" y="23556"/>
              <a:ext cx="3307961" cy="3874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defRPr b="1" sz="1400">
                  <a:solidFill>
                    <a:srgbClr val="0D0D0D"/>
                  </a:solidFill>
                </a:defRPr>
              </a:lvl1pPr>
            </a:lstStyle>
            <a:p>
              <a:pPr/>
              <a:r>
                <a:t>Intra OP picture </a:t>
              </a:r>
            </a:p>
          </p:txBody>
        </p:sp>
      </p:grpSp>
      <p:pic>
        <p:nvPicPr>
          <p:cNvPr id="150" name="IMG_5054.jpeg" descr="IMG_5054.jpe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171998" y="1737675"/>
            <a:ext cx="1663313" cy="12148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IMG_5056.jpeg" descr="IMG_5056.jpe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830902" y="1740840"/>
            <a:ext cx="1792391" cy="120850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4" name="Rectangle 9"/>
          <p:cNvGrpSpPr/>
          <p:nvPr/>
        </p:nvGrpSpPr>
        <p:grpSpPr>
          <a:xfrm>
            <a:off x="5093092" y="4850772"/>
            <a:ext cx="3563181" cy="452295"/>
            <a:chOff x="0" y="0"/>
            <a:chExt cx="3563179" cy="452293"/>
          </a:xfrm>
        </p:grpSpPr>
        <p:sp>
          <p:nvSpPr>
            <p:cNvPr id="152" name="Rectangle"/>
            <p:cNvSpPr/>
            <p:nvPr/>
          </p:nvSpPr>
          <p:spPr>
            <a:xfrm>
              <a:off x="-1" y="-1"/>
              <a:ext cx="3563181" cy="452295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3" name="Discussion"/>
            <p:cNvSpPr txBox="1"/>
            <p:nvPr/>
          </p:nvSpPr>
          <p:spPr>
            <a:xfrm>
              <a:off x="63316" y="13636"/>
              <a:ext cx="3436548" cy="4250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/>
              </a:lvl1pPr>
            </a:lstStyle>
            <a:p>
              <a:pPr/>
              <a:r>
                <a:t>Discussion </a:t>
              </a:r>
            </a:p>
          </p:txBody>
        </p:sp>
      </p:grpSp>
      <p:grpSp>
        <p:nvGrpSpPr>
          <p:cNvPr id="157" name="Rectangle 9"/>
          <p:cNvGrpSpPr/>
          <p:nvPr/>
        </p:nvGrpSpPr>
        <p:grpSpPr>
          <a:xfrm>
            <a:off x="8769229" y="5635131"/>
            <a:ext cx="3361932" cy="426749"/>
            <a:chOff x="0" y="0"/>
            <a:chExt cx="3361931" cy="426747"/>
          </a:xfrm>
        </p:grpSpPr>
        <p:sp>
          <p:nvSpPr>
            <p:cNvPr id="155" name="Rectangle"/>
            <p:cNvSpPr/>
            <p:nvPr/>
          </p:nvSpPr>
          <p:spPr>
            <a:xfrm>
              <a:off x="-1" y="-1"/>
              <a:ext cx="3361933" cy="42674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6" name="Conclusion"/>
            <p:cNvSpPr txBox="1"/>
            <p:nvPr/>
          </p:nvSpPr>
          <p:spPr>
            <a:xfrm>
              <a:off x="59740" y="12866"/>
              <a:ext cx="3242451" cy="4010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/>
              </a:lvl1pPr>
            </a:lstStyle>
            <a:p>
              <a:pPr/>
              <a:r>
                <a:t>Conclusion </a:t>
              </a:r>
            </a:p>
          </p:txBody>
        </p:sp>
      </p:grpSp>
      <p:sp>
        <p:nvSpPr>
          <p:cNvPr id="158" name="Internal fixation with plate and screws provides excellent results with good fracture reduction.…"/>
          <p:cNvSpPr txBox="1"/>
          <p:nvPr/>
        </p:nvSpPr>
        <p:spPr>
          <a:xfrm>
            <a:off x="8671587" y="6064347"/>
            <a:ext cx="3436032" cy="77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Internal fixation with plate and screws provides excellent results with good fracture reduction.</a:t>
            </a:r>
          </a:p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K-wire fixation, though simple, has a higher chance of malunion.</a:t>
            </a:r>
          </a:p>
        </p:txBody>
      </p:sp>
      <p:sp>
        <p:nvSpPr>
          <p:cNvPr id="159" name="Sex distribution: Out of 40 patients, 12 (30%) were males and 28 (70%) were females.…"/>
          <p:cNvSpPr txBox="1"/>
          <p:nvPr/>
        </p:nvSpPr>
        <p:spPr>
          <a:xfrm>
            <a:off x="8663092" y="1793754"/>
            <a:ext cx="3453022" cy="190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Sex distribution: Out of 40 patients, 12 (30%) were males and 28 (70%) were females.</a:t>
            </a:r>
          </a:p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Side of injury: Right distal radial fractures were seen in 30 patients (75%), while left-sided fractures occurred in 10 patients (25%).</a:t>
            </a:r>
          </a:p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DASH Scores of 40 cases were:-</a:t>
            </a:r>
          </a:p>
          <a:p>
            <a:pPr marL="183815" indent="-183815">
              <a:buSzPct val="100000"/>
              <a:buAutoNum type="alphaUcPeriod" startAt="1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Excellent outcome: 25 patients (62.5%) had excellent functional results with DASH score 0–10</a:t>
            </a:r>
          </a:p>
          <a:p>
            <a:pPr marL="183815" indent="-183815">
              <a:buSzPct val="100000"/>
              <a:buAutoNum type="alphaUcPeriod" startAt="1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Good: 10 patients (25%) with DASH score 11–25</a:t>
            </a:r>
          </a:p>
          <a:p>
            <a:pPr marL="183815" indent="-183815">
              <a:buSzPct val="100000"/>
              <a:buAutoNum type="alphaUcPeriod" startAt="1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Fair: 5 patients (12.5%) with DASH score 25–35</a:t>
            </a:r>
          </a:p>
        </p:txBody>
      </p:sp>
      <p:grpSp>
        <p:nvGrpSpPr>
          <p:cNvPr id="162" name="Rectangle 9"/>
          <p:cNvGrpSpPr/>
          <p:nvPr/>
        </p:nvGrpSpPr>
        <p:grpSpPr>
          <a:xfrm>
            <a:off x="8614307" y="1299519"/>
            <a:ext cx="3550592" cy="450697"/>
            <a:chOff x="0" y="0"/>
            <a:chExt cx="3550590" cy="450695"/>
          </a:xfrm>
        </p:grpSpPr>
        <p:sp>
          <p:nvSpPr>
            <p:cNvPr id="160" name="Rectangle"/>
            <p:cNvSpPr/>
            <p:nvPr/>
          </p:nvSpPr>
          <p:spPr>
            <a:xfrm>
              <a:off x="-1" y="-1"/>
              <a:ext cx="3550592" cy="450697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1" name="RESULTS"/>
            <p:cNvSpPr txBox="1"/>
            <p:nvPr/>
          </p:nvSpPr>
          <p:spPr>
            <a:xfrm>
              <a:off x="63092" y="13588"/>
              <a:ext cx="3424407" cy="4235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/>
              </a:lvl1pPr>
            </a:lstStyle>
            <a:p>
              <a:pPr/>
              <a:r>
                <a:t>RESULTS </a:t>
              </a:r>
            </a:p>
          </p:txBody>
        </p:sp>
      </p:grpSp>
      <p:sp>
        <p:nvSpPr>
          <p:cNvPr id="163" name="Comminuted distal radius fractures are common, but treatment is challenging due to difficulty in achieving good reduction and fixation…"/>
          <p:cNvSpPr txBox="1"/>
          <p:nvPr/>
        </p:nvSpPr>
        <p:spPr>
          <a:xfrm>
            <a:off x="5144954" y="5336132"/>
            <a:ext cx="3459458" cy="1510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08083" indent="-108083" defTabSz="896111">
              <a:buSzPct val="100000"/>
              <a:buChar char="•"/>
              <a:defRPr sz="1078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Comminuted distal radius fractures are common, but treatment is challenging due to difficulty in achieving good reduction and fixation</a:t>
            </a:r>
          </a:p>
          <a:p>
            <a:pPr marL="108083" indent="-108083" defTabSz="896111">
              <a:buSzPct val="100000"/>
              <a:buChar char="•"/>
              <a:defRPr sz="1078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Open reduction and internal fixation (ORIF) is indicated for Unstable distal radius fractures &amp; Fractures with articular incongruity </a:t>
            </a:r>
          </a:p>
          <a:p>
            <a:pPr marL="108083" indent="-108083" defTabSz="896111">
              <a:buSzPct val="100000"/>
              <a:buChar char="•"/>
              <a:defRPr sz="1078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Adequate bone stock is necessary to permit - A stable construct</a:t>
            </a:r>
          </a:p>
          <a:p>
            <a:pPr marL="108083" indent="-108083" defTabSz="896111">
              <a:buSzPct val="100000"/>
              <a:buChar char="•"/>
              <a:defRPr sz="1078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Early range of motion is possible </a:t>
            </a:r>
          </a:p>
        </p:txBody>
      </p:sp>
      <p:pic>
        <p:nvPicPr>
          <p:cNvPr id="164" name="f20c681f-0a92-49e6-a636-ac80aef5f28c.jpeg" descr="f20c681f-0a92-49e6-a636-ac80aef5f28c.jpe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926883" y="3285688"/>
            <a:ext cx="2137873" cy="16864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DASH_Score_Bar_Graph_Fancy.png" descr="DASH_Score_Bar_Graph_Fancy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634335" y="3503710"/>
            <a:ext cx="2361237" cy="2061886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Complications:…"/>
          <p:cNvSpPr txBox="1"/>
          <p:nvPr/>
        </p:nvSpPr>
        <p:spPr>
          <a:xfrm>
            <a:off x="10930574" y="3573442"/>
            <a:ext cx="1190778" cy="1581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71450" indent="-171450">
              <a:buSzPct val="100000"/>
              <a:buFont typeface="Arial"/>
              <a:buChar char="•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Complications:</a:t>
            </a:r>
          </a:p>
          <a:p>
            <a:pPr marL="147052" indent="-147052">
              <a:buSzPct val="100000"/>
              <a:buAutoNum type="arabicPeriod" startAt="1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Reflex sympathetic osteodystrophy: 3 cases (7.5%)</a:t>
            </a:r>
          </a:p>
          <a:p>
            <a:pPr marL="147052" indent="-147052">
              <a:buSzPct val="100000"/>
              <a:buAutoNum type="arabicPeriod" startAt="1"/>
              <a:defRPr sz="1100">
                <a:latin typeface="Arial,sans-serif"/>
                <a:ea typeface="Arial,sans-serif"/>
                <a:cs typeface="Arial,sans-serif"/>
                <a:sym typeface="Arial,sans-serif"/>
              </a:defRPr>
            </a:pPr>
            <a:r>
              <a:t>Malunion: 8 cases (20%)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