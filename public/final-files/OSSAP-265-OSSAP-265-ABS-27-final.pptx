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j-lt"/>
        <a:ea typeface="+mj-ea"/>
        <a:cs typeface="+mj-cs"/>
        <a:sym typeface="Aptos"/>
      </a:defRPr>
    </a:lvl1pPr>
    <a:lvl2pPr indent="228600" defTabSz="1828800" latinLnBrk="0">
      <a:defRPr sz="2400">
        <a:latin typeface="+mj-lt"/>
        <a:ea typeface="+mj-ea"/>
        <a:cs typeface="+mj-cs"/>
        <a:sym typeface="Aptos"/>
      </a:defRPr>
    </a:lvl2pPr>
    <a:lvl3pPr indent="457200" defTabSz="1828800" latinLnBrk="0">
      <a:defRPr sz="2400">
        <a:latin typeface="+mj-lt"/>
        <a:ea typeface="+mj-ea"/>
        <a:cs typeface="+mj-cs"/>
        <a:sym typeface="Aptos"/>
      </a:defRPr>
    </a:lvl3pPr>
    <a:lvl4pPr indent="685800" defTabSz="1828800" latinLnBrk="0">
      <a:defRPr sz="2400">
        <a:latin typeface="+mj-lt"/>
        <a:ea typeface="+mj-ea"/>
        <a:cs typeface="+mj-cs"/>
        <a:sym typeface="Aptos"/>
      </a:defRPr>
    </a:lvl4pPr>
    <a:lvl5pPr indent="914400" defTabSz="1828800" latinLnBrk="0">
      <a:defRPr sz="2400">
        <a:latin typeface="+mj-lt"/>
        <a:ea typeface="+mj-ea"/>
        <a:cs typeface="+mj-cs"/>
        <a:sym typeface="Aptos"/>
      </a:defRPr>
    </a:lvl5pPr>
    <a:lvl6pPr indent="1143000" defTabSz="1828800" latinLnBrk="0">
      <a:defRPr sz="2400">
        <a:latin typeface="+mj-lt"/>
        <a:ea typeface="+mj-ea"/>
        <a:cs typeface="+mj-cs"/>
        <a:sym typeface="Aptos"/>
      </a:defRPr>
    </a:lvl6pPr>
    <a:lvl7pPr indent="1371600" defTabSz="1828800" latinLnBrk="0">
      <a:defRPr sz="2400">
        <a:latin typeface="+mj-lt"/>
        <a:ea typeface="+mj-ea"/>
        <a:cs typeface="+mj-cs"/>
        <a:sym typeface="Aptos"/>
      </a:defRPr>
    </a:lvl7pPr>
    <a:lvl8pPr indent="1600200" defTabSz="1828800" latinLnBrk="0">
      <a:defRPr sz="2400">
        <a:latin typeface="+mj-lt"/>
        <a:ea typeface="+mj-ea"/>
        <a:cs typeface="+mj-cs"/>
        <a:sym typeface="Aptos"/>
      </a:defRPr>
    </a:lvl8pPr>
    <a:lvl9pPr indent="1828800" defTabSz="1828800" latinLnBrk="0">
      <a:defRPr sz="24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/>
        </p:nvSpPr>
        <p:spPr>
          <a:xfrm>
            <a:off x="-4" y="-2"/>
            <a:ext cx="24384004" cy="3724475"/>
          </a:xfrm>
          <a:prstGeom prst="rect">
            <a:avLst/>
          </a:prstGeom>
          <a:solidFill>
            <a:srgbClr val="01234D"/>
          </a:solidFill>
          <a:ln w="38100">
            <a:solidFill>
              <a:srgbClr val="525755"/>
            </a:solidFill>
            <a:miter/>
          </a:ln>
        </p:spPr>
        <p:txBody>
          <a:bodyPr lIns="91436" tIns="91436" rIns="91436" bIns="91436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</a:p>
        </p:txBody>
      </p:sp>
      <p:pic>
        <p:nvPicPr>
          <p:cNvPr id="20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515227" y="520991"/>
            <a:ext cx="2423450" cy="2423449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Box 17"/>
          <p:cNvSpPr txBox="1"/>
          <p:nvPr/>
        </p:nvSpPr>
        <p:spPr>
          <a:xfrm>
            <a:off x="2850750" y="299319"/>
            <a:ext cx="16862119" cy="2456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lvl="1" indent="228600" defTabSz="914400">
              <a:spcBef>
                <a:spcPts val="3200"/>
              </a:spcBef>
              <a:defRPr b="1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AI-Assisted Knee Osteoarthritis Grading vs Standard Radiographic Scoring-Diagnostic Accuracy and Clinical Utility</a:t>
            </a:r>
          </a:p>
          <a:p>
            <a:pPr algn="just" defTabSz="914400">
              <a:spcBef>
                <a:spcPts val="3200"/>
              </a:spcBef>
              <a:defRPr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AUTHOR – DR CH DHEDEEPYA POST GRADUATE, GSL MEDICAL COLLEGE</a:t>
            </a:r>
          </a:p>
          <a:p>
            <a:pPr algn="just" defTabSz="914400">
              <a:defRPr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 – AUTHOR – DR V NAGESWARA RAO , PROFESSOR ,HOD ; GSL MEDICAL COLLEGE</a:t>
            </a:r>
          </a:p>
        </p:txBody>
      </p:sp>
      <p:sp>
        <p:nvSpPr>
          <p:cNvPr id="22" name="Freeform 13"/>
          <p:cNvSpPr/>
          <p:nvPr/>
        </p:nvSpPr>
        <p:spPr>
          <a:xfrm>
            <a:off x="-42892" y="582077"/>
            <a:ext cx="3011123" cy="256031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91436" tIns="91436" rIns="91436" bIns="91436"/>
          <a:lstStyle/>
          <a:p>
            <a:pPr>
              <a:defRPr>
                <a:latin typeface="+mj-lt"/>
                <a:ea typeface="+mj-ea"/>
                <a:cs typeface="+mj-cs"/>
                <a:sym typeface="Aptos"/>
              </a:defRPr>
            </a:pPr>
          </a:p>
        </p:txBody>
      </p:sp>
      <p:sp>
        <p:nvSpPr>
          <p:cNvPr id="23" name="Body Level One…"/>
          <p:cNvSpPr txBox="1"/>
          <p:nvPr>
            <p:ph type="body" sz="quarter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4800"/>
            </a:lvl1pPr>
            <a:lvl2pPr marL="0" indent="0" algn="ctr">
              <a:buSzTx/>
              <a:buFontTx/>
              <a:buNone/>
              <a:defRPr sz="4800"/>
            </a:lvl2pPr>
            <a:lvl3pPr marL="0" indent="0" algn="ctr">
              <a:buSzTx/>
              <a:buFontTx/>
              <a:buNone/>
              <a:defRPr sz="4800"/>
            </a:lvl3pPr>
            <a:lvl4pPr marL="0" indent="0" algn="ctr">
              <a:buSzTx/>
              <a:buFontTx/>
              <a:buNone/>
              <a:defRPr sz="4800"/>
            </a:lvl4pPr>
            <a:lvl5pPr marL="0" indent="0" algn="ctr">
              <a:buSzTx/>
              <a:buFontTx/>
              <a:buNone/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4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075930" y="702897"/>
            <a:ext cx="1768096" cy="2059635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/>
          <p:nvPr>
            <p:ph type="title"/>
          </p:nvPr>
        </p:nvSpPr>
        <p:spPr>
          <a:xfrm>
            <a:off x="1663700" y="3419476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pPr/>
            <a:r>
              <a:t>Title Text</a:t>
            </a:r>
          </a:p>
        </p:txBody>
      </p:sp>
      <p:sp>
        <p:nvSpPr>
          <p:cNvPr id="42" name="Body Level One…"/>
          <p:cNvSpPr txBox="1"/>
          <p:nvPr>
            <p:ph type="body" sz="quarter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48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48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48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48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48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1" name="Body Level One…"/>
          <p:cNvSpPr txBox="1"/>
          <p:nvPr>
            <p:ph type="body"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/>
          <p:nvPr>
            <p:ph type="title"/>
          </p:nvPr>
        </p:nvSpPr>
        <p:spPr>
          <a:xfrm>
            <a:off x="1679575" y="730250"/>
            <a:ext cx="21031202" cy="265112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0" name="Body Level One…"/>
          <p:cNvSpPr txBox="1"/>
          <p:nvPr>
            <p:ph type="body" sz="quarter" idx="1"/>
          </p:nvPr>
        </p:nvSpPr>
        <p:spPr>
          <a:xfrm>
            <a:off x="1679575" y="3362326"/>
            <a:ext cx="10315576" cy="164782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4800"/>
            </a:lvl1pPr>
            <a:lvl2pPr marL="0" indent="0">
              <a:buSzTx/>
              <a:buFontTx/>
              <a:buNone/>
              <a:defRPr b="1" sz="4800"/>
            </a:lvl2pPr>
            <a:lvl3pPr marL="0" indent="0">
              <a:buSzTx/>
              <a:buFontTx/>
              <a:buNone/>
              <a:defRPr b="1" sz="4800"/>
            </a:lvl3pPr>
            <a:lvl4pPr marL="0" indent="0">
              <a:buSzTx/>
              <a:buFontTx/>
              <a:buNone/>
              <a:defRPr b="1" sz="4800"/>
            </a:lvl4pPr>
            <a:lvl5pPr marL="0" indent="0">
              <a:buSzTx/>
              <a:buFontTx/>
              <a:buNone/>
              <a:defRPr b="1"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Text Placeholder 4"/>
          <p:cNvSpPr/>
          <p:nvPr>
            <p:ph type="body" sz="quarter" idx="21"/>
          </p:nvPr>
        </p:nvSpPr>
        <p:spPr>
          <a:xfrm>
            <a:off x="12344400" y="3362326"/>
            <a:ext cx="10366376" cy="1647828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-4" y="-4"/>
            <a:ext cx="24384004" cy="3146812"/>
          </a:xfrm>
          <a:prstGeom prst="rect">
            <a:avLst/>
          </a:prstGeom>
          <a:solidFill>
            <a:srgbClr val="01234D"/>
          </a:solidFill>
          <a:ln w="38100">
            <a:solidFill>
              <a:srgbClr val="525755"/>
            </a:solidFill>
            <a:miter/>
          </a:ln>
        </p:spPr>
        <p:txBody>
          <a:bodyPr lIns="91436" tIns="91436" rIns="91436" bIns="91436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</a:p>
        </p:txBody>
      </p:sp>
      <p:pic>
        <p:nvPicPr>
          <p:cNvPr id="70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684832" y="726608"/>
            <a:ext cx="2277090" cy="2277088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Freeform 13"/>
          <p:cNvSpPr/>
          <p:nvPr/>
        </p:nvSpPr>
        <p:spPr>
          <a:xfrm>
            <a:off x="-37924" y="585085"/>
            <a:ext cx="3011123" cy="256031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91436" tIns="91436" rIns="91436" bIns="91436"/>
          <a:lstStyle/>
          <a:p>
            <a:pPr>
              <a:defRPr>
                <a:latin typeface="+mj-lt"/>
                <a:ea typeface="+mj-ea"/>
                <a:cs typeface="+mj-cs"/>
                <a:sym typeface="Aptos"/>
              </a:defRPr>
            </a:pPr>
          </a:p>
        </p:txBody>
      </p:sp>
      <p:sp>
        <p:nvSpPr>
          <p:cNvPr id="72" name="AI-Assisted Knee Osteoarthritis Grading vs Standard Radiographic Scoring-Diagnostic Accuracy and Clinical Utility…"/>
          <p:cNvSpPr txBox="1"/>
          <p:nvPr/>
        </p:nvSpPr>
        <p:spPr>
          <a:xfrm>
            <a:off x="3191544" y="431848"/>
            <a:ext cx="18000914" cy="2456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lvl="1" indent="228600" defTabSz="914400">
              <a:spcBef>
                <a:spcPts val="3200"/>
              </a:spcBef>
              <a:defRPr b="1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AI-Assisted Knee Osteoarthritis Grading vs Standard Radiographic Scoring-Diagnostic Accuracy and Clinical Utility</a:t>
            </a:r>
          </a:p>
          <a:p>
            <a:pPr algn="just" defTabSz="914400">
              <a:spcBef>
                <a:spcPts val="3200"/>
              </a:spcBef>
              <a:defRPr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AUTHOR – DR CH DHEDEEPYA POST GRADUATE, GSL MEDICAL COLLEGE</a:t>
            </a:r>
          </a:p>
          <a:p>
            <a:pPr algn="just" defTabSz="914400">
              <a:defRPr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 – AUTHOR – DR V NAGESWARA RAO , PROFESSOR ,HOD ; GSL MEDICAL COLLEGE</a:t>
            </a:r>
          </a:p>
        </p:txBody>
      </p:sp>
      <p:pic>
        <p:nvPicPr>
          <p:cNvPr id="73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050530" y="835424"/>
            <a:ext cx="1768096" cy="2059639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/>
          <p:nvPr>
            <p:ph type="title"/>
          </p:nvPr>
        </p:nvSpPr>
        <p:spPr>
          <a:xfrm>
            <a:off x="1679575" y="914400"/>
            <a:ext cx="7864476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pPr/>
            <a:r>
              <a:t>Title Text</a:t>
            </a:r>
          </a:p>
        </p:txBody>
      </p:sp>
      <p:sp>
        <p:nvSpPr>
          <p:cNvPr id="89" name="Body Level One…"/>
          <p:cNvSpPr txBox="1"/>
          <p:nvPr>
            <p:ph type="body" sz="half" idx="1"/>
          </p:nvPr>
        </p:nvSpPr>
        <p:spPr>
          <a:xfrm>
            <a:off x="10366375" y="1974850"/>
            <a:ext cx="12344401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 marL="979714" indent="-522513">
              <a:defRPr sz="6400"/>
            </a:lvl2pPr>
            <a:lvl3pPr marL="1524000" indent="-609600">
              <a:defRPr sz="6400"/>
            </a:lvl3pPr>
            <a:lvl4pPr marL="2103120" indent="-731519">
              <a:defRPr sz="6400"/>
            </a:lvl4pPr>
            <a:lvl5pPr marL="2560320" indent="-731520"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Text Placeholder 3"/>
          <p:cNvSpPr/>
          <p:nvPr>
            <p:ph type="body" sz="quarter" idx="21"/>
          </p:nvPr>
        </p:nvSpPr>
        <p:spPr>
          <a:xfrm>
            <a:off x="1679575" y="4114800"/>
            <a:ext cx="7864476" cy="762317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Text"/>
          <p:cNvSpPr txBox="1"/>
          <p:nvPr>
            <p:ph type="title"/>
          </p:nvPr>
        </p:nvSpPr>
        <p:spPr>
          <a:xfrm>
            <a:off x="1679575" y="914400"/>
            <a:ext cx="7864476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pPr/>
            <a:r>
              <a:t>Title Text</a:t>
            </a:r>
          </a:p>
        </p:txBody>
      </p:sp>
      <p:sp>
        <p:nvSpPr>
          <p:cNvPr id="99" name="Picture Placeholder 2"/>
          <p:cNvSpPr/>
          <p:nvPr>
            <p:ph type="pic" sz="half" idx="21"/>
          </p:nvPr>
        </p:nvSpPr>
        <p:spPr>
          <a:xfrm>
            <a:off x="10366375" y="1974850"/>
            <a:ext cx="12344401" cy="974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0" name="Body Level One…"/>
          <p:cNvSpPr txBox="1"/>
          <p:nvPr>
            <p:ph type="body" sz="quarter" idx="1"/>
          </p:nvPr>
        </p:nvSpPr>
        <p:spPr>
          <a:xfrm>
            <a:off x="1679575" y="4114800"/>
            <a:ext cx="7864476" cy="762317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3200"/>
            </a:lvl1pPr>
            <a:lvl2pPr marL="0" indent="0">
              <a:buSzTx/>
              <a:buFontTx/>
              <a:buNone/>
              <a:defRPr sz="3200"/>
            </a:lvl2pPr>
            <a:lvl3pPr marL="0" indent="0">
              <a:buSzTx/>
              <a:buFontTx/>
              <a:buNone/>
              <a:defRPr sz="3200"/>
            </a:lvl3pPr>
            <a:lvl4pPr marL="0" indent="0">
              <a:buSzTx/>
              <a:buFontTx/>
              <a:buNone/>
              <a:defRPr sz="3200"/>
            </a:lvl4pPr>
            <a:lvl5pPr marL="0" indent="0">
              <a:buSzTx/>
              <a:buFont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" y="-3"/>
            <a:ext cx="24384004" cy="2560318"/>
          </a:xfrm>
          <a:prstGeom prst="rect">
            <a:avLst/>
          </a:prstGeom>
          <a:solidFill>
            <a:srgbClr val="01234D"/>
          </a:solidFill>
          <a:ln w="38100">
            <a:solidFill>
              <a:srgbClr val="525755"/>
            </a:solidFill>
            <a:miter/>
          </a:ln>
        </p:spPr>
        <p:txBody>
          <a:bodyPr lIns="91436" tIns="91436" rIns="91436" bIns="91436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</a:p>
        </p:txBody>
      </p:sp>
      <p:pic>
        <p:nvPicPr>
          <p:cNvPr id="3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13768" y="149644"/>
            <a:ext cx="2086312" cy="208630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894632" y="246779"/>
            <a:ext cx="1768098" cy="176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6" descr="Picture 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255785" y="384606"/>
            <a:ext cx="1571884" cy="157188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17"/>
          <p:cNvSpPr txBox="1"/>
          <p:nvPr/>
        </p:nvSpPr>
        <p:spPr>
          <a:xfrm>
            <a:off x="5241935" y="54847"/>
            <a:ext cx="11813821" cy="1275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1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7" name="TextBox 18"/>
          <p:cNvSpPr txBox="1"/>
          <p:nvPr/>
        </p:nvSpPr>
        <p:spPr>
          <a:xfrm>
            <a:off x="5293873" y="1307794"/>
            <a:ext cx="12432114" cy="551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Date 6 – 8 February,2026, Venue : Kurnool Medical College</a:t>
            </a:r>
          </a:p>
        </p:txBody>
      </p:sp>
      <p:sp>
        <p:nvSpPr>
          <p:cNvPr id="8" name="TextBox 19"/>
          <p:cNvSpPr txBox="1"/>
          <p:nvPr/>
        </p:nvSpPr>
        <p:spPr>
          <a:xfrm>
            <a:off x="5241937" y="1826678"/>
            <a:ext cx="14045184" cy="551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Organized by : Department of Orthopaedics, Kurnool Medical College Kurnool</a:t>
            </a:r>
          </a:p>
        </p:txBody>
      </p:sp>
      <p:sp>
        <p:nvSpPr>
          <p:cNvPr id="9" name="Freeform 13"/>
          <p:cNvSpPr/>
          <p:nvPr/>
        </p:nvSpPr>
        <p:spPr>
          <a:xfrm>
            <a:off x="1121626" y="28508"/>
            <a:ext cx="3011124" cy="256031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91436" tIns="91436" rIns="91436" bIns="91436"/>
          <a:lstStyle/>
          <a:p>
            <a:pPr>
              <a:defRPr>
                <a:latin typeface="+mj-lt"/>
                <a:ea typeface="+mj-ea"/>
                <a:cs typeface="+mj-cs"/>
                <a:sym typeface="Aptos"/>
              </a:defRPr>
            </a:pPr>
          </a:p>
        </p:txBody>
      </p:sp>
      <p:sp>
        <p:nvSpPr>
          <p:cNvPr id="10" name="Title Text"/>
          <p:cNvSpPr txBox="1"/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1" name="Body Level One…"/>
          <p:cNvSpPr txBox="1"/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xfrm>
            <a:off x="17221200" y="12712700"/>
            <a:ext cx="704120" cy="728974"/>
          </a:xfrm>
          <a:prstGeom prst="rect">
            <a:avLst/>
          </a:prstGeom>
          <a:ln w="12700">
            <a:miter lim="400000"/>
          </a:ln>
        </p:spPr>
        <p:txBody>
          <a:bodyPr wrap="none"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</p:sldLayoutIdLst>
  <p:transition xmlns:p14="http://schemas.microsoft.com/office/powerpoint/2010/main" spd="med" advClick="1"/>
  <p:txStyles>
    <p:titleStyle>
      <a:lvl1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457200" marR="0" indent="-457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990600" marR="0" indent="-5334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554477" marR="0" indent="-640077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2082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5400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9972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4544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9116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368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NTRODUCTION…"/>
          <p:cNvSpPr txBox="1"/>
          <p:nvPr/>
        </p:nvSpPr>
        <p:spPr>
          <a:xfrm>
            <a:off x="507461" y="3605565"/>
            <a:ext cx="22749396" cy="4844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914400">
              <a:spcBef>
                <a:spcPts val="29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INTRODUCTION</a:t>
            </a:r>
          </a:p>
          <a:p>
            <a:pPr marL="774700" indent="-635000" defTabSz="914400">
              <a:spcBef>
                <a:spcPts val="24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Knee osteoarthritis is a leading cause of pain and disability worldwide and constitutes a major proportion of orthopaedic outpatient visits in India.</a:t>
            </a:r>
          </a:p>
          <a:p>
            <a:pPr marL="774700" indent="-635000" defTabSz="914400">
              <a:spcBef>
                <a:spcPts val="24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The </a:t>
            </a:r>
            <a:r>
              <a:rPr b="1"/>
              <a:t>Kellgren–Lawrence (KL) grading system</a:t>
            </a:r>
            <a:r>
              <a:t> is the most widely used radiographic classification.</a:t>
            </a:r>
          </a:p>
          <a:p>
            <a:pPr marL="774700" indent="-635000" defTabSz="914400">
              <a:spcBef>
                <a:spcPts val="24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Recent advances in </a:t>
            </a:r>
            <a:r>
              <a:rPr b="1"/>
              <a:t>artificial intelligence (AI) and deep learning</a:t>
            </a:r>
            <a:r>
              <a:t> have enabled automated analysis of knee radiographs, offering potential improvements in diagnostic consistency and efficiency.</a:t>
            </a:r>
          </a:p>
          <a:p>
            <a:pPr marL="774700" indent="-635000" defTabSz="914400">
              <a:spcBef>
                <a:spcPts val="24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Evaluating the diagnostic accuracy and clinical utility of AI-assisted grading is essential before adoption in routine clinical practice, particularly in </a:t>
            </a:r>
            <a:r>
              <a:rPr b="1"/>
              <a:t>high-volume, resource-limited settings like India</a:t>
            </a:r>
            <a:r>
              <a:t>.</a:t>
            </a:r>
          </a:p>
        </p:txBody>
      </p:sp>
      <p:sp>
        <p:nvSpPr>
          <p:cNvPr id="111" name="AIMS AND OBJECTIVES…"/>
          <p:cNvSpPr txBox="1"/>
          <p:nvPr/>
        </p:nvSpPr>
        <p:spPr>
          <a:xfrm>
            <a:off x="576407" y="9051449"/>
            <a:ext cx="22301008" cy="4158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AIMS AND OBJECTIVES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Primary Aim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To compare AI-assisted knee osteoarthritis grading with standard radiographic KL grading in terms of diagnostic accuracy.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Secondary Objectives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To assess interobserver variability among human readers.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To evaluate agreement between AI grading and expert consensus.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To determine the potential clinical utility of AI as a decision-support tool in knee OA assessment.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INCLUSION CRITERIA…"/>
          <p:cNvSpPr txBox="1"/>
          <p:nvPr/>
        </p:nvSpPr>
        <p:spPr>
          <a:xfrm>
            <a:off x="652110" y="3779395"/>
            <a:ext cx="21194655" cy="2939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INCLUSION CRITERIA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Patients aged </a:t>
            </a:r>
            <a:r>
              <a:rPr b="1"/>
              <a:t>≥40 years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Patients presenting with </a:t>
            </a:r>
            <a:r>
              <a:rPr b="1"/>
              <a:t>knee pain</a:t>
            </a:r>
            <a:r>
              <a:t> or suspected osteoarthritis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Standard </a:t>
            </a:r>
            <a:r>
              <a:rPr b="1"/>
              <a:t>weight-bearing anteroposterior knee radiographs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Radiographs of adequate quality for interpretation</a:t>
            </a:r>
          </a:p>
        </p:txBody>
      </p:sp>
      <p:sp>
        <p:nvSpPr>
          <p:cNvPr id="114" name="EXCLUSION CRITERIA…"/>
          <p:cNvSpPr txBox="1"/>
          <p:nvPr/>
        </p:nvSpPr>
        <p:spPr>
          <a:xfrm>
            <a:off x="829729" y="7609542"/>
            <a:ext cx="22724542" cy="352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EXCLUSION CRITERIA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Previous knee surgery or arthroplasty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Acute fractures or post-traumatic arthritis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Inflammatory arthritis (e.g., rheumatoid arthritis)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Congenital or metabolic bone disorders affecting the knee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Poor-quality or non–weight-bearing radiographs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MATERIALS AND METHODS…"/>
          <p:cNvSpPr txBox="1"/>
          <p:nvPr/>
        </p:nvSpPr>
        <p:spPr>
          <a:xfrm>
            <a:off x="1079500" y="4036921"/>
            <a:ext cx="22225000" cy="8908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MATERIALS AND METHODS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Study Design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Comparative observational study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Study Material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Digital weight-bearing AP knee radiographs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Radiographic Assessment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Independent KL grading by: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Multiple human readers (orthopaedic surgeons / radiologists with varying experience)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Expert consensus grading used as reference standard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AI Assessment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Automated KL grading using a validated deep learning–based AI model trained on large knee OA datasets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Statistical Analysis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Diagnostic accuracy of AI compared with expert consensus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Interobserver agreement assessed using </a:t>
            </a:r>
            <a:r>
              <a:rPr b="1"/>
              <a:t>Cohen’s  kappa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Agreement between AI and human readers evaluated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Agreement Comparison"/>
          <p:cNvSpPr txBox="1"/>
          <p:nvPr/>
        </p:nvSpPr>
        <p:spPr>
          <a:xfrm>
            <a:off x="13876680" y="4078249"/>
            <a:ext cx="6673784" cy="824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457200">
              <a:spcBef>
                <a:spcPts val="1400"/>
              </a:spcBef>
              <a:defRPr b="1" sz="4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Agreement Comparison</a:t>
            </a:r>
          </a:p>
        </p:txBody>
      </p:sp>
      <p:pic>
        <p:nvPicPr>
          <p:cNvPr id="1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49282" y="5459745"/>
            <a:ext cx="11762492" cy="7295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0593" y="5408552"/>
            <a:ext cx="9806445" cy="6963996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Accuracy by KL Grade"/>
          <p:cNvSpPr txBox="1"/>
          <p:nvPr/>
        </p:nvSpPr>
        <p:spPr>
          <a:xfrm>
            <a:off x="2175953" y="4078249"/>
            <a:ext cx="6315480" cy="824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457200">
              <a:spcBef>
                <a:spcPts val="1400"/>
              </a:spcBef>
              <a:defRPr b="1" sz="4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Accuracy by KL Grade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I Model Details…"/>
          <p:cNvSpPr txBox="1"/>
          <p:nvPr/>
        </p:nvSpPr>
        <p:spPr>
          <a:xfrm>
            <a:off x="716430" y="3885915"/>
            <a:ext cx="21878990" cy="8857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AI Model Details 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Model Architecture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Deep learning–based </a:t>
            </a:r>
            <a:r>
              <a:rPr b="1"/>
              <a:t>Convolutional Neural Network (CNN)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Uses </a:t>
            </a:r>
            <a:r>
              <a:rPr b="1"/>
              <a:t>transfer learning</a:t>
            </a:r>
            <a:r>
              <a:t> with pre-trained backbone (e.g., ResNet / DenseNet / EfficientNet)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Pre-training done on large-scale image datasets, followed by fine-tuning on knee OA radiographs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Input Data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Standard weight-bearing AP knee radiographs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Automated preprocessing: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Image normalization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Knee joint region localization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Contrast enhancement</a:t>
            </a:r>
          </a:p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Output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Automated classification into </a:t>
            </a:r>
            <a:r>
              <a:rPr b="1"/>
              <a:t>Kellgren–Lawrence grades 0–4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Probability score generated for each KL grade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Final grade assigned based on highest confidence score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raining &amp; Validation…"/>
          <p:cNvSpPr txBox="1"/>
          <p:nvPr/>
        </p:nvSpPr>
        <p:spPr>
          <a:xfrm>
            <a:off x="1618301" y="3677361"/>
            <a:ext cx="21147398" cy="9316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16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RESULTS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AI-assisted KL grading showed </a:t>
            </a:r>
            <a:r>
              <a:t>diagnostic accuracy comparable to expert human readers</a:t>
            </a:r>
            <a:r>
              <a:rPr b="0"/>
              <a:t>.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Interobserver variability among human readers was </a:t>
            </a:r>
            <a:r>
              <a:rPr b="1"/>
              <a:t>significantly reduced with AI assistance</a:t>
            </a:r>
            <a:r>
              <a:t>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Agreement between AI and expert consensus was </a:t>
            </a:r>
            <a:r>
              <a:rPr b="1"/>
              <a:t>high across clinically relevant KL grades</a:t>
            </a:r>
            <a:r>
              <a:t>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Performance was consistent in: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Moderate and advanced OA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High-volume clinical datasets</a:t>
            </a:r>
          </a:p>
          <a:p>
            <a:pPr defTabSz="457200">
              <a:defRPr sz="30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457200">
              <a:spcBef>
                <a:spcPts val="16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CLINICAL UTILITY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AI functions as a </a:t>
            </a:r>
            <a:r>
              <a:rPr b="1"/>
              <a:t>decision-support tool</a:t>
            </a:r>
            <a:r>
              <a:t>, not a replacement for clinicians.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Potential applications: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OPD screening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Standardized radiology reporting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Follow-up comparison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Triage in high-volume government hospitals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Particularly valuable in </a:t>
            </a:r>
            <a:r>
              <a:rPr b="1"/>
              <a:t>resource-limited settings</a:t>
            </a:r>
            <a:r>
              <a:t> where specialist availability is constrained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LIMITATIONS…"/>
          <p:cNvSpPr txBox="1"/>
          <p:nvPr/>
        </p:nvSpPr>
        <p:spPr>
          <a:xfrm>
            <a:off x="1182636" y="3945414"/>
            <a:ext cx="21223459" cy="3523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LIMITATIONS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Dependence on KL grading, which itself has inherent subjectivity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Class imbalance across KL grades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Retrospective radiographic assessment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Limited evaluation of clinical outcomes beyond radiographic grading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Need for external validation across diverse Indian populations and imaging settings</a:t>
            </a:r>
          </a:p>
        </p:txBody>
      </p:sp>
      <p:sp>
        <p:nvSpPr>
          <p:cNvPr id="128" name="CONCLUSION…"/>
          <p:cNvSpPr txBox="1"/>
          <p:nvPr/>
        </p:nvSpPr>
        <p:spPr>
          <a:xfrm>
            <a:off x="1158998" y="8248180"/>
            <a:ext cx="21270736" cy="3955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1400"/>
              </a:spcBef>
              <a:defRPr b="1" sz="3000">
                <a:latin typeface="Arial"/>
                <a:ea typeface="Arial"/>
                <a:cs typeface="Arial"/>
                <a:sym typeface="Arial"/>
              </a:defRPr>
            </a:pPr>
            <a:r>
              <a:t>CONCLUSION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AI-assisted knee OA grading demonstrates diagnostic accuracy comparable to expert human readers.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Use of AI significantly reduces interobserver variability associated with conventional KL grading.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AI can serve as a </a:t>
            </a:r>
            <a:r>
              <a:rPr b="1"/>
              <a:t>reliable decision-support tool</a:t>
            </a:r>
            <a:r>
              <a:t>, particularly in high-volume, resource-limited clinical settings.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In the Indian context, where radiographs remain the primary imaging modality, AI-assisted grading has strong potential to improve consistency, efficiency, and triage in knee OA management.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t>AI should complement—not replace—clinical judgment.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Vaattovaara E, et al. Kellgren–Lawrence grading of knee osteoarthritis using deep learning: comparison with experienced readers. J Digit Imaging. 2025.…"/>
          <p:cNvSpPr txBox="1"/>
          <p:nvPr/>
        </p:nvSpPr>
        <p:spPr>
          <a:xfrm>
            <a:off x="1079879" y="5421848"/>
            <a:ext cx="22224242" cy="672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Vaattovaara E, </a:t>
            </a:r>
            <a:r>
              <a:rPr i="1"/>
              <a:t>et al</a:t>
            </a:r>
            <a:r>
              <a:t>. Kellgren–Lawrence grading of knee osteoarthritis using deep learning: comparison with experienced readers. </a:t>
            </a:r>
            <a:r>
              <a:rPr i="1"/>
              <a:t>J Digit Imaging</a:t>
            </a:r>
            <a:r>
              <a:t>. 2025.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 W, </a:t>
            </a:r>
            <a:r>
              <a:rPr i="1"/>
              <a:t>et al</a:t>
            </a:r>
            <a:r>
              <a:t>. Deep learning assisted knee OA detection with multiview radiographs. </a:t>
            </a:r>
            <a:r>
              <a:rPr i="1"/>
              <a:t>Quant Imaging Med Surg</a:t>
            </a:r>
            <a:r>
              <a:t>. 2023.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Tiulpin A, </a:t>
            </a:r>
            <a:r>
              <a:rPr i="1"/>
              <a:t>et al</a:t>
            </a:r>
            <a:r>
              <a:t>. Automatic knee osteoarthritis diagnosis from plain radiographs: deep learning approach. </a:t>
            </a:r>
            <a:r>
              <a:rPr i="1"/>
              <a:t>Sci Rep</a:t>
            </a:r>
            <a:r>
              <a:t>. 2018.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Brejnebøl MW, </a:t>
            </a:r>
            <a:r>
              <a:rPr i="1"/>
              <a:t>et al</a:t>
            </a:r>
            <a:r>
              <a:t>. External validation of AI tool for knee OA KL grading. 2022.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Choi JC, </a:t>
            </a:r>
            <a:r>
              <a:rPr i="1"/>
              <a:t>et al</a:t>
            </a:r>
            <a:r>
              <a:t>. AI model assists knee osteoarthritis diagnosis with DenseNet201, ResNet101 &amp; EfficientNetV2. </a:t>
            </a:r>
            <a:r>
              <a:rPr i="1"/>
              <a:t>Diagnostics</a:t>
            </a:r>
            <a:r>
              <a:t>. 2025.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Pi SW, </a:t>
            </a:r>
            <a:r>
              <a:rPr i="1"/>
              <a:t>et al</a:t>
            </a:r>
            <a:r>
              <a:t>. Ensemble deep learning for knee OA KL classification. </a:t>
            </a:r>
            <a:r>
              <a:rPr i="1"/>
              <a:t>Sci Rep</a:t>
            </a:r>
            <a:r>
              <a:t>. 2023.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Swiecicki A, </a:t>
            </a:r>
            <a:r>
              <a:rPr i="1"/>
              <a:t>et al</a:t>
            </a:r>
            <a:r>
              <a:t>. Deep learning algorithm matches radiologists for knee OA severity. </a:t>
            </a:r>
            <a:r>
              <a:rPr i="1"/>
              <a:t>arXiv</a:t>
            </a:r>
            <a:r>
              <a:t>. 2022.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Mohammadi S, </a:t>
            </a:r>
            <a:r>
              <a:rPr i="1"/>
              <a:t>et al</a:t>
            </a:r>
            <a:r>
              <a:t>. Review of AI in knee OA detection &amp; grading. 2024.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Kalpana V, </a:t>
            </a:r>
            <a:r>
              <a:rPr i="1"/>
              <a:t>et al</a:t>
            </a:r>
            <a:r>
              <a:t>. Transfer-learning models for knee OA classification. 2023. </a:t>
            </a:r>
          </a:p>
          <a:p>
            <a:pPr marL="457200" indent="-317500" defTabSz="457200">
              <a:spcBef>
                <a:spcPts val="1200"/>
              </a:spcBef>
              <a:buSzPct val="100000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Neubauer M, </a:t>
            </a:r>
            <a:r>
              <a:rPr i="1"/>
              <a:t>et al</a:t>
            </a:r>
            <a:r>
              <a:t>. AI-guided KL grading improves correlation with clinical severity. 2023.</a:t>
            </a:r>
          </a:p>
        </p:txBody>
      </p:sp>
      <p:sp>
        <p:nvSpPr>
          <p:cNvPr id="131" name="References"/>
          <p:cNvSpPr txBox="1"/>
          <p:nvPr/>
        </p:nvSpPr>
        <p:spPr>
          <a:xfrm>
            <a:off x="1310099" y="4239369"/>
            <a:ext cx="3435936" cy="824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>
              <a:defRPr b="1" sz="4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References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6" tIns="91436" rIns="91436" bIns="91436" numCol="1" spcCol="38100" rtlCol="0" anchor="ctr" upright="0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6" tIns="91436" rIns="91436" bIns="91436" numCol="1" spcCol="38100" rtlCol="0" anchor="t" upright="0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6" tIns="91436" rIns="91436" bIns="91436" numCol="1" spcCol="38100" rtlCol="0" anchor="ctr" upright="0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6" tIns="91436" rIns="91436" bIns="91436" numCol="1" spcCol="38100" rtlCol="0" anchor="t" upright="0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