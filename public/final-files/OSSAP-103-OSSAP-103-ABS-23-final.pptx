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5755"/>
    <a:srgbClr val="01234D"/>
    <a:srgbClr val="D9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333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9E260D-CC16-4105-89AC-AD8758D494AB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2B642A-C070-4553-A367-15F09A4DFB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304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B642A-C070-4553-A367-15F09A4DFBD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047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8CF7-C54C-3253-7CB3-4CB60C4B9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3E176-0152-1EB9-B130-312E601D1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FAE6B-127E-B337-0AD1-96BED4F0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5E608-905C-2142-2365-F68EB7F9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68622-57FF-B5F0-4011-D23C810B4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6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54781-A465-F143-A98C-94FD8241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11094-0A62-2805-2C56-EAB66E3F8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DF6B2-DE75-AA42-1BA3-56A152E3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95C1A-D479-0105-5ABD-2C9F2D4E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AE42D-29E2-AB5A-9D0B-9821D21D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85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A9C5-0C47-1DBF-A9F1-8826C360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B4216-49BB-98ED-9B94-654F19938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47736-AC8A-3EB8-57D1-2A9C7AAC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5BB55-6273-FBEF-64A3-8CF30628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9087E-17BE-555C-DF0C-0F436152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9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1663-53A1-9E1F-5617-88CF82EC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1D5E3-ECCA-B4D2-2633-7957691A3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F5196-CC99-5011-B2D0-B4E6A682F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8BA26-119C-CCCD-E391-AEF50B6F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14F4A-53BC-F382-885A-E89A7663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50453-2D7E-EDE2-4C30-876DA9F0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3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C1600-9375-445B-F52D-49C2D79AB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504FE-0E7A-7AAD-AA62-68B5061F0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C0743-5AE4-C8DB-E431-9BF89F98C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F135F8-5672-C883-5700-82CCEB25C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43E3C-1062-3C3B-33DC-9DE599968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4B81D-1D0D-2B34-ACE9-647404B6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2B9CA9-FB5C-6A3F-A8C9-5A230365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8827A-8D6A-6027-36D4-A09116C3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1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2320-BF86-B4C0-4C77-57A8A14F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BF2AEC-90F1-FF9D-116C-F8E796ED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30F28E-A8F5-AFB5-B659-0E7A774C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AFD6F-07FF-B36A-B355-6F548921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3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2561D-609B-41C4-03F7-C9EB1C33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7B401-DFF1-9E83-1AFF-E5EC0ACD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7D21B-F5D7-5E07-AD0D-285590E6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68E2-3E1C-4942-B972-676EF996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3E5FE-9809-AA0D-0068-8D2879739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EC551-67C4-F4E7-1910-F519BF904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6D973-5346-1585-DF1D-4A6D81AE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FF201-46FF-F9B5-9CC0-41835305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CBF98-FECD-2939-6FDA-1F24F227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2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CDCE-1DF9-541C-B7E9-6622BFED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5BBD72-9B7D-1B6B-5935-44F06A917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6A0AE-8309-E148-1D29-29503949B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C41A5-6FCA-36FF-6CFA-7C0597A2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B2AD8-5418-91E2-23C4-D519A6265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095D8-FC0F-CA9B-A1E7-AA64CF34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60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F263-9A0A-3394-3F1F-6C5F8D328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FFEF5-760B-0BB1-28DC-68D43894F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F539A-7EBC-768A-374D-3E568BE3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D2046-7AA0-ACCC-813F-F0045C6B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43A9D-CF35-58E9-CEF7-84CD752F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47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6EEB20-7BAE-8163-AF11-357FD764F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173BD-0918-77CD-3BC5-870F618AF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AB18A-E29B-AB92-E36C-D19006B4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034D9-0416-B27F-B018-5988B84E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91FF6-4797-6F7F-6750-55427741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6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E82E09-9CEE-8584-D464-24E0EC391B80}"/>
              </a:ext>
            </a:extLst>
          </p:cNvPr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2BE4274-EF19-EE7E-5761-D489EED61B8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1A2BA2-F38B-80BA-A985-5949FC76FEA7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04524FB-BCF4-1B74-A89E-4EDE8596787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2F88F76-11B2-42F9-7CED-3DAC2835AF8A}"/>
              </a:ext>
            </a:extLst>
          </p:cNvPr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ADD6F6-E35D-B7F8-9AC5-43234D897C09}"/>
              </a:ext>
            </a:extLst>
          </p:cNvPr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46DFFE-ACF0-208A-4880-3B35F597866F}"/>
              </a:ext>
            </a:extLst>
          </p:cNvPr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FD934B23-4A0F-DA26-1C91-6993B84BADB9}"/>
              </a:ext>
            </a:extLst>
          </p:cNvPr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15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872BCCA-09F4-9D91-AE26-B5E437D7714E}"/>
              </a:ext>
            </a:extLst>
          </p:cNvPr>
          <p:cNvSpPr/>
          <p:nvPr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D4B9414-324A-B4ED-525E-CF04D2394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B23EAFB-E583-3DAF-08B5-661672CE88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C21D24D-75B4-7ADE-170F-FE845B818D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A6BB7B0-D981-FEB6-4479-7A49704B2B87}"/>
              </a:ext>
            </a:extLst>
          </p:cNvPr>
          <p:cNvSpPr txBox="1"/>
          <p:nvPr/>
        </p:nvSpPr>
        <p:spPr>
          <a:xfrm>
            <a:off x="2144888" y="129676"/>
            <a:ext cx="65778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EFFICACY OF ENOXAPARIN AS A THROMBOPHYLACTIC AGENT IN MAJOR LOWER LIMB ORTHOPAEDIC SURGERIES</a:t>
            </a:r>
            <a:endParaRPr lang="en-US" sz="1600" b="1" dirty="0">
              <a:solidFill>
                <a:schemeClr val="bg1"/>
              </a:solidFill>
              <a:latin typeface="Gordita 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1F608A-7742-BF27-09EC-3BB7CA324D68}"/>
              </a:ext>
            </a:extLst>
          </p:cNvPr>
          <p:cNvSpPr txBox="1"/>
          <p:nvPr/>
        </p:nvSpPr>
        <p:spPr>
          <a:xfrm>
            <a:off x="2338755" y="694784"/>
            <a:ext cx="63074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 Black" panose="020B0A04020102020204" pitchFamily="34" charset="0"/>
              </a:rPr>
              <a:t>AUTHORS : DR NARAYANASWAMY NAIK ,CO AUTHORS : DR ATHMARAM , </a:t>
            </a:r>
          </a:p>
          <a:p>
            <a:r>
              <a:rPr lang="en-US" sz="1200" dirty="0">
                <a:solidFill>
                  <a:schemeClr val="bg1"/>
                </a:solidFill>
                <a:latin typeface="Arial Black" panose="020B0A04020102020204" pitchFamily="34" charset="0"/>
              </a:rPr>
              <a:t>DR SATISH, DR RAGHAVENDRA RAJU</a:t>
            </a:r>
          </a:p>
          <a:p>
            <a:endParaRPr lang="en-US" sz="1200" b="1" dirty="0">
              <a:solidFill>
                <a:schemeClr val="bg1"/>
              </a:solidFill>
              <a:latin typeface="Gordita "/>
            </a:endParaRPr>
          </a:p>
        </p:txBody>
      </p:sp>
      <p:sp>
        <p:nvSpPr>
          <p:cNvPr id="4" name="Freeform 13">
            <a:extLst>
              <a:ext uri="{FF2B5EF4-FFF2-40B4-BE49-F238E27FC236}">
                <a16:creationId xmlns:a16="http://schemas.microsoft.com/office/drawing/2014/main" id="{0F401C6F-33A3-A415-AD1A-709059E901BF}"/>
              </a:ext>
            </a:extLst>
          </p:cNvPr>
          <p:cNvSpPr/>
          <p:nvPr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4F9D5A-1DDA-4BC3-63F3-F36226B86C87}"/>
              </a:ext>
            </a:extLst>
          </p:cNvPr>
          <p:cNvSpPr/>
          <p:nvPr/>
        </p:nvSpPr>
        <p:spPr>
          <a:xfrm>
            <a:off x="0" y="1674796"/>
            <a:ext cx="3108960" cy="33303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incidence of VTE was 14.49% after surgery for hip and proximal femur fracture without administration of VTE prophylaxis and was only 8% when prophylaxis was administered(1). Enoxaparin is one of the leading agents in this class being registered for use in this indication. [2]This study has been done to evaluate the efficacy of Enoxaparin as a </a:t>
            </a:r>
            <a:r>
              <a:rPr lang="en-IN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thrombo</a:t>
            </a: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prophylactic agent in major lower limb orthopaedic surgeries in Indian population.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094F03-F93B-9B6D-7C11-87F9C75E6ABB}"/>
              </a:ext>
            </a:extLst>
          </p:cNvPr>
          <p:cNvSpPr/>
          <p:nvPr/>
        </p:nvSpPr>
        <p:spPr>
          <a:xfrm>
            <a:off x="0" y="5399772"/>
            <a:ext cx="3108960" cy="14582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During the study period, 185 patients undergoing Surgeries  for fracture around hip, femur fracture surgery, patients undergoing Hip and Knee Arthroplasty were given prophylaxis for DVT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1A47E9-312C-D04A-D368-EE96CE32C982}"/>
              </a:ext>
            </a:extLst>
          </p:cNvPr>
          <p:cNvSpPr/>
          <p:nvPr/>
        </p:nvSpPr>
        <p:spPr>
          <a:xfrm>
            <a:off x="3137836" y="1674793"/>
            <a:ext cx="3185962" cy="423122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>
                <a:solidFill>
                  <a:schemeClr val="tx1"/>
                </a:solidFill>
              </a:rPr>
              <a:t>Required data was collected from patients admitted in GMC,ATP. All patients included in study were assessed pre- operatively with structured questionnaire and physical examination and screened for DVT radio logically by Doppler Ultra sound, Blood investigations like PT and </a:t>
            </a:r>
            <a:r>
              <a:rPr lang="en-GB" sz="1400" dirty="0" err="1">
                <a:solidFill>
                  <a:schemeClr val="tx1"/>
                </a:solidFill>
              </a:rPr>
              <a:t>aPTT</a:t>
            </a:r>
            <a:r>
              <a:rPr lang="en-GB" sz="1400" dirty="0">
                <a:solidFill>
                  <a:schemeClr val="tx1"/>
                </a:solidFill>
              </a:rPr>
              <a:t>, with other routine investigations. *</a:t>
            </a:r>
            <a:r>
              <a:rPr lang="en-GB" sz="1400" b="1" dirty="0">
                <a:solidFill>
                  <a:schemeClr val="tx1"/>
                </a:solidFill>
              </a:rPr>
              <a:t>Inclusion Criteria</a:t>
            </a:r>
            <a:r>
              <a:rPr lang="en-GB" sz="1400" dirty="0">
                <a:solidFill>
                  <a:schemeClr val="tx1"/>
                </a:solidFill>
              </a:rPr>
              <a:t>*</a:t>
            </a:r>
          </a:p>
          <a:p>
            <a:r>
              <a:rPr lang="en-GB" sz="1400" dirty="0">
                <a:solidFill>
                  <a:schemeClr val="tx1"/>
                </a:solidFill>
              </a:rPr>
              <a:t>Arthroplasty-(Hip and Knee),Major Trauma-(Surgeries for fractures around Hip, Femur fracture surgeries.) *</a:t>
            </a:r>
            <a:r>
              <a:rPr lang="en-GB" sz="1400" b="1" dirty="0">
                <a:solidFill>
                  <a:schemeClr val="tx1"/>
                </a:solidFill>
              </a:rPr>
              <a:t>Exclusion Criteria</a:t>
            </a:r>
            <a:r>
              <a:rPr lang="en-GB" sz="1400" dirty="0">
                <a:solidFill>
                  <a:schemeClr val="tx1"/>
                </a:solidFill>
              </a:rPr>
              <a:t>* Proved cases of DVT , Pathological fracture , Pregnancy , Hypersensitivity to heparin , Patient at risk for bleeding complications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A874B9-B8E1-A36B-AA38-6FCC7D5D8F32}"/>
              </a:ext>
            </a:extLst>
          </p:cNvPr>
          <p:cNvSpPr/>
          <p:nvPr/>
        </p:nvSpPr>
        <p:spPr>
          <a:xfrm>
            <a:off x="6352674" y="1477475"/>
            <a:ext cx="5839326" cy="33303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 of 185 cases only one case (0.54%) was positive for DVT at second follow up venous Doppler, at 11th post op day. In rest of the </a:t>
            </a:r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184 cases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was no evidence of DVT in any venous Doppler scan. 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Incidence of DVT in Indian population with major lower limb trauma is 14.49%(3,4) incidence reduced to 8% after prophylaxis. 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FC2BB9-1938-0DF3-F424-CAC28C6D9880}"/>
              </a:ext>
            </a:extLst>
          </p:cNvPr>
          <p:cNvSpPr/>
          <p:nvPr/>
        </p:nvSpPr>
        <p:spPr>
          <a:xfrm>
            <a:off x="6352674" y="5202454"/>
            <a:ext cx="5839326" cy="1655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Incidence of DVT in Indian population is 14.49% without thromboprophylaxis. The incidence of DVT is 0.54 % in our institution with thromboprophylaxis using Enoxaparin .we recommend to use thromboprophylaxis in all major lower limb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orthopaedics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surgeries.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0C050E-DD7C-3885-8EBF-D74C223C0531}"/>
              </a:ext>
            </a:extLst>
          </p:cNvPr>
          <p:cNvSpPr/>
          <p:nvPr/>
        </p:nvSpPr>
        <p:spPr>
          <a:xfrm>
            <a:off x="0" y="1280157"/>
            <a:ext cx="3108960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INTRODUCTION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3EBCB5-BB50-7945-E88B-86122853702B}"/>
              </a:ext>
            </a:extLst>
          </p:cNvPr>
          <p:cNvSpPr/>
          <p:nvPr/>
        </p:nvSpPr>
        <p:spPr>
          <a:xfrm>
            <a:off x="3137836" y="1280157"/>
            <a:ext cx="3185962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OPERATIVE FINDINGS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9DCDE1-7E85-0646-3543-9C1638CEB9CA}"/>
              </a:ext>
            </a:extLst>
          </p:cNvPr>
          <p:cNvSpPr/>
          <p:nvPr/>
        </p:nvSpPr>
        <p:spPr>
          <a:xfrm>
            <a:off x="6352673" y="1280157"/>
            <a:ext cx="5839325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DISCUSSION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130820-FF42-EA8A-339B-145E1FC668F5}"/>
              </a:ext>
            </a:extLst>
          </p:cNvPr>
          <p:cNvSpPr/>
          <p:nvPr/>
        </p:nvSpPr>
        <p:spPr>
          <a:xfrm>
            <a:off x="0" y="5005136"/>
            <a:ext cx="3108960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CASE REPORT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633B59-00B8-9FD5-0D31-D1688B16556B}"/>
              </a:ext>
            </a:extLst>
          </p:cNvPr>
          <p:cNvSpPr/>
          <p:nvPr/>
        </p:nvSpPr>
        <p:spPr>
          <a:xfrm>
            <a:off x="6352674" y="4807817"/>
            <a:ext cx="5839324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923A34-D30E-CCD1-852B-0C923FD9E4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2615" y="5475172"/>
            <a:ext cx="3344448" cy="138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35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356</Words>
  <Application>Microsoft Office PowerPoint</Application>
  <PresentationFormat>Widescreen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Arial Black</vt:lpstr>
      <vt:lpstr>Calibri</vt:lpstr>
      <vt:lpstr>Gordita 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Virinchi Vinay</dc:creator>
  <cp:lastModifiedBy>Mithun Prakash</cp:lastModifiedBy>
  <cp:revision>8</cp:revision>
  <dcterms:created xsi:type="dcterms:W3CDTF">2026-01-11T06:24:43Z</dcterms:created>
  <dcterms:modified xsi:type="dcterms:W3CDTF">2026-01-28T14:56:26Z</dcterms:modified>
</cp:coreProperties>
</file>