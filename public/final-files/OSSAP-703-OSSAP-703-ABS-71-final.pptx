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341" autoAdjust="0"/>
  </p:normalViewPr>
  <p:slideViewPr>
    <p:cSldViewPr snapToGrid="0">
      <p:cViewPr varScale="1">
        <p:scale>
          <a:sx n="46" d="100"/>
          <a:sy n="46" d="100"/>
        </p:scale>
        <p:origin x="67" y="4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DDD668-00BB-44AD-995D-60AA7CDE2548}" type="datetimeFigureOut">
              <a:rPr lang="en-IN" smtClean="0"/>
              <a:pPr/>
              <a:t>13-07-2021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6487B6-445B-4FE7-AC9A-2037999FB3AF}" type="slidenum">
              <a:rPr lang="en-IN" smtClean="0"/>
              <a:pPr/>
              <a:t>‹#›</a:t>
            </a:fld>
            <a:endParaRPr lang="en-IN"/>
          </a:p>
        </p:txBody>
      </p:sp>
    </p:spTree>
    <p:extLst>
      <p:ext uri="{BB962C8B-B14F-4D97-AF65-F5344CB8AC3E}">
        <p14:creationId xmlns:p14="http://schemas.microsoft.com/office/powerpoint/2010/main" val="781034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D6487B6-445B-4FE7-AC9A-2037999FB3AF}" type="slidenum">
              <a:rPr lang="en-IN" smtClean="0"/>
              <a:pPr/>
              <a:t>1</a:t>
            </a:fld>
            <a:endParaRPr lang="en-IN"/>
          </a:p>
        </p:txBody>
      </p:sp>
    </p:spTree>
    <p:extLst>
      <p:ext uri="{BB962C8B-B14F-4D97-AF65-F5344CB8AC3E}">
        <p14:creationId xmlns:p14="http://schemas.microsoft.com/office/powerpoint/2010/main" val="1948632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151197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3233437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1318126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3424099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3689928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289182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972220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3289428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440880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3011089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A144566-2C08-4FA4-A62F-143ED23F509F}" type="datetimeFigureOut">
              <a:rPr lang="en-IN" smtClean="0"/>
              <a:pPr/>
              <a:t>13-07-2021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67127-FB18-4551-A963-6AA3E14B06EF}" type="slidenum">
              <a:rPr lang="en-IN" smtClean="0"/>
              <a:pPr/>
              <a:t>‹#›</a:t>
            </a:fld>
            <a:endParaRPr lang="en-IN"/>
          </a:p>
        </p:txBody>
      </p:sp>
    </p:spTree>
    <p:extLst>
      <p:ext uri="{BB962C8B-B14F-4D97-AF65-F5344CB8AC3E}">
        <p14:creationId xmlns:p14="http://schemas.microsoft.com/office/powerpoint/2010/main" val="310303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144566-2C08-4FA4-A62F-143ED23F509F}" type="datetimeFigureOut">
              <a:rPr lang="en-IN" smtClean="0"/>
              <a:pPr/>
              <a:t>13-07-2021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267127-FB18-4551-A963-6AA3E14B06EF}" type="slidenum">
              <a:rPr lang="en-IN" smtClean="0"/>
              <a:pPr/>
              <a:t>‹#›</a:t>
            </a:fld>
            <a:endParaRPr lang="en-IN"/>
          </a:p>
        </p:txBody>
      </p:sp>
    </p:spTree>
    <p:extLst>
      <p:ext uri="{BB962C8B-B14F-4D97-AF65-F5344CB8AC3E}">
        <p14:creationId xmlns:p14="http://schemas.microsoft.com/office/powerpoint/2010/main" val="3981314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917912"/>
            <a:ext cx="3186822" cy="5632311"/>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pPr algn="just"/>
            <a:r>
              <a:rPr lang="en-IN" sz="1200" b="1" u="sng" dirty="0" smtClean="0">
                <a:solidFill>
                  <a:srgbClr val="002060"/>
                </a:solidFill>
              </a:rPr>
              <a:t>ABSTRACT:</a:t>
            </a:r>
            <a:endParaRPr lang="en-IN" sz="1200" u="sng" dirty="0" smtClean="0">
              <a:solidFill>
                <a:srgbClr val="002060"/>
              </a:solidFill>
            </a:endParaRPr>
          </a:p>
          <a:p>
            <a:pPr algn="just"/>
            <a:r>
              <a:rPr lang="en-IN" sz="1200" b="1" dirty="0" smtClean="0">
                <a:solidFill>
                  <a:srgbClr val="002060"/>
                </a:solidFill>
              </a:rPr>
              <a:t>TITLE: </a:t>
            </a:r>
          </a:p>
          <a:p>
            <a:pPr algn="just"/>
            <a:r>
              <a:rPr lang="en-IN" sz="1200" dirty="0" smtClean="0"/>
              <a:t>Non union in valgus corrective osteotomy with distal femur plating treated with implant removal + revision osteotomy fixed with distal femur DCS plating and bone grafting</a:t>
            </a:r>
          </a:p>
          <a:p>
            <a:pPr algn="just"/>
            <a:r>
              <a:rPr lang="en-IN" sz="1200" b="1" u="sng" dirty="0" smtClean="0">
                <a:solidFill>
                  <a:srgbClr val="002060"/>
                </a:solidFill>
              </a:rPr>
              <a:t>BACKGROUND:</a:t>
            </a:r>
            <a:endParaRPr lang="en-IN" sz="1200" dirty="0" smtClean="0">
              <a:solidFill>
                <a:srgbClr val="002060"/>
              </a:solidFill>
            </a:endParaRPr>
          </a:p>
          <a:p>
            <a:pPr algn="just"/>
            <a:r>
              <a:rPr lang="en-IN" sz="1200" dirty="0" smtClean="0"/>
              <a:t>Presenting a case of 29 year old female patient having complaint of pain and swelling at Left knee and difficulty in climbing stairs. patient is o/c/o genu </a:t>
            </a:r>
            <a:r>
              <a:rPr lang="en-IN" sz="1200" dirty="0" err="1" smtClean="0"/>
              <a:t>valgum</a:t>
            </a:r>
            <a:r>
              <a:rPr lang="en-IN" sz="1200" dirty="0" smtClean="0"/>
              <a:t> correction osteotomy with plating 1 year ago. In further investigation radiographs and </a:t>
            </a:r>
            <a:r>
              <a:rPr lang="en-IN" sz="1200" dirty="0" err="1" smtClean="0"/>
              <a:t>ct</a:t>
            </a:r>
            <a:r>
              <a:rPr lang="en-IN" sz="1200" dirty="0" smtClean="0"/>
              <a:t> plates shows Non union and effusion of knee joint. patient is Anti-CCP  positive but RA negative.</a:t>
            </a:r>
          </a:p>
          <a:p>
            <a:pPr algn="just"/>
            <a:r>
              <a:rPr lang="en-IN" sz="1200" b="1" u="sng" dirty="0" smtClean="0">
                <a:solidFill>
                  <a:srgbClr val="002060"/>
                </a:solidFill>
              </a:rPr>
              <a:t>TREATMENT:</a:t>
            </a:r>
            <a:endParaRPr lang="en-IN" sz="1200" dirty="0" smtClean="0">
              <a:solidFill>
                <a:srgbClr val="002060"/>
              </a:solidFill>
            </a:endParaRPr>
          </a:p>
          <a:p>
            <a:pPr algn="just"/>
            <a:r>
              <a:rPr lang="en-IN" sz="1200" dirty="0" smtClean="0"/>
              <a:t>Patient is treated with implant removal followed by revision osteotomy with fixation of DCS plate and bone grafting</a:t>
            </a:r>
          </a:p>
          <a:p>
            <a:pPr algn="just"/>
            <a:r>
              <a:rPr lang="en-IN" sz="1200" b="1" u="sng" dirty="0" smtClean="0">
                <a:solidFill>
                  <a:srgbClr val="002060"/>
                </a:solidFill>
              </a:rPr>
              <a:t>OUTCOME:</a:t>
            </a:r>
          </a:p>
          <a:p>
            <a:pPr algn="just"/>
            <a:r>
              <a:rPr lang="en-IN" sz="1200" dirty="0" smtClean="0"/>
              <a:t>Patient remained has asymptomatic with regain adequate range of movement and remarkable pain relief in left knee.</a:t>
            </a:r>
          </a:p>
          <a:p>
            <a:pPr algn="just"/>
            <a:r>
              <a:rPr lang="en-IN" sz="1200" b="1" u="sng" dirty="0" smtClean="0">
                <a:solidFill>
                  <a:srgbClr val="002060"/>
                </a:solidFill>
              </a:rPr>
              <a:t>CONCLUSION:</a:t>
            </a:r>
          </a:p>
          <a:p>
            <a:pPr algn="just"/>
            <a:r>
              <a:rPr lang="en-IN" sz="1200" dirty="0" smtClean="0"/>
              <a:t>valgus deformity can treated with DCS plate after a corrective  osteotomy which provides good strength during weight bearing bone grafts facilitates union.      </a:t>
            </a:r>
          </a:p>
          <a:p>
            <a:pPr algn="just"/>
            <a:endParaRPr lang="en-IN" sz="1200" dirty="0"/>
          </a:p>
          <a:p>
            <a:pPr algn="just"/>
            <a:r>
              <a:rPr lang="en-IN" sz="1200" dirty="0" smtClean="0"/>
              <a:t>  </a:t>
            </a:r>
            <a:endParaRPr lang="en-IN" sz="1200" b="1" dirty="0" smtClean="0"/>
          </a:p>
        </p:txBody>
      </p:sp>
      <p:sp>
        <p:nvSpPr>
          <p:cNvPr id="5" name="TextBox 4"/>
          <p:cNvSpPr txBox="1"/>
          <p:nvPr/>
        </p:nvSpPr>
        <p:spPr>
          <a:xfrm>
            <a:off x="3186821" y="917912"/>
            <a:ext cx="2700275" cy="5632311"/>
          </a:xfrm>
          <a:prstGeom prst="rect">
            <a:avLst/>
          </a:prstGeom>
          <a:solidFill>
            <a:schemeClr val="accent2">
              <a:lumMod val="60000"/>
              <a:lumOff val="40000"/>
            </a:schemeClr>
          </a:solidFill>
        </p:spPr>
        <p:txBody>
          <a:bodyPr wrap="square" rtlCol="0">
            <a:spAutoFit/>
          </a:bodyPr>
          <a:lstStyle/>
          <a:p>
            <a:pPr algn="just"/>
            <a:r>
              <a:rPr lang="en-IN" sz="1200" b="1" u="sng" dirty="0" smtClean="0">
                <a:solidFill>
                  <a:srgbClr val="002060"/>
                </a:solidFill>
              </a:rPr>
              <a:t>CLINICAL PICTURE:</a:t>
            </a:r>
          </a:p>
          <a:p>
            <a:pPr algn="just"/>
            <a:r>
              <a:rPr lang="en-IN" sz="1200" dirty="0" smtClean="0"/>
              <a:t>29 </a:t>
            </a:r>
            <a:r>
              <a:rPr lang="en-IN" sz="1200" dirty="0" err="1" smtClean="0"/>
              <a:t>yr</a:t>
            </a:r>
            <a:r>
              <a:rPr lang="en-IN" sz="1200" dirty="0" smtClean="0"/>
              <a:t> old female patient came with complaint of difficulty in walking and Left knee pain since 10 days. Patient is o/c/o ORIF with PLATTING for corrective osteotomy of GENU VALGUM deformity of knee in private hospital on October 2018.on examination pain and tenderness present at Left knee. Swelling of Left knee was present which reflects  effusion of knee . Range of movement of Left knee was painful and restricted patient had complaint of pain after walking few distance. Blood investigation of patient shows anti-CCP positive while RA factor negative</a:t>
            </a:r>
          </a:p>
          <a:p>
            <a:pPr algn="just"/>
            <a:r>
              <a:rPr lang="en-IN" sz="1200" b="1" u="sng" dirty="0" smtClean="0">
                <a:solidFill>
                  <a:srgbClr val="002060"/>
                </a:solidFill>
              </a:rPr>
              <a:t>RADIOLOGICAL FINDING:</a:t>
            </a:r>
            <a:endParaRPr lang="en-IN" sz="1200" dirty="0" smtClean="0">
              <a:solidFill>
                <a:srgbClr val="002060"/>
              </a:solidFill>
            </a:endParaRPr>
          </a:p>
          <a:p>
            <a:pPr algn="just"/>
            <a:r>
              <a:rPr lang="en-IN" sz="1200" dirty="0" smtClean="0"/>
              <a:t>Preoperative HKA axis shows 9/171 left valgus of Left knee. Postoperative </a:t>
            </a:r>
            <a:r>
              <a:rPr lang="en-IN" sz="1200" dirty="0" err="1" smtClean="0"/>
              <a:t>xray</a:t>
            </a:r>
            <a:r>
              <a:rPr lang="en-IN" sz="1200" dirty="0" smtClean="0"/>
              <a:t> shows </a:t>
            </a:r>
            <a:r>
              <a:rPr lang="en-IN" sz="1200" dirty="0" err="1" smtClean="0"/>
              <a:t>allees</a:t>
            </a:r>
            <a:r>
              <a:rPr lang="en-IN" sz="1200" dirty="0" smtClean="0"/>
              <a:t> plate fixation at lateral condyle of femur  after osteotomy. Postop </a:t>
            </a:r>
            <a:r>
              <a:rPr lang="en-IN" sz="1200" dirty="0" err="1" smtClean="0"/>
              <a:t>ct</a:t>
            </a:r>
            <a:r>
              <a:rPr lang="en-IN" sz="1200" dirty="0" smtClean="0"/>
              <a:t> plates evaluates metallic fixation device in lower part of femur with marginal osteophytes  in the tibia femur and patella with </a:t>
            </a:r>
            <a:r>
              <a:rPr lang="en-IN" sz="1200" dirty="0" err="1" smtClean="0"/>
              <a:t>subchondral</a:t>
            </a:r>
            <a:r>
              <a:rPr lang="en-IN" sz="1200" dirty="0" smtClean="0"/>
              <a:t> cysts. And </a:t>
            </a:r>
            <a:r>
              <a:rPr lang="en-IN" sz="1200" dirty="0" err="1" smtClean="0"/>
              <a:t>intercondylar</a:t>
            </a:r>
            <a:r>
              <a:rPr lang="en-IN" sz="1200" dirty="0" smtClean="0"/>
              <a:t> two small calcific </a:t>
            </a:r>
            <a:r>
              <a:rPr lang="en-IN" sz="1200" dirty="0" err="1" smtClean="0"/>
              <a:t>intraarticular</a:t>
            </a:r>
            <a:r>
              <a:rPr lang="en-IN" sz="1200" dirty="0" smtClean="0"/>
              <a:t> loose bodies present. Mild joint effusion with fluid in </a:t>
            </a:r>
            <a:r>
              <a:rPr lang="en-IN" sz="1200" dirty="0" err="1" smtClean="0"/>
              <a:t>suprapatellar</a:t>
            </a:r>
            <a:r>
              <a:rPr lang="en-IN" sz="1200" dirty="0" smtClean="0"/>
              <a:t> bursa. And evidence of gross osteopenia.</a:t>
            </a:r>
          </a:p>
        </p:txBody>
      </p:sp>
      <p:sp>
        <p:nvSpPr>
          <p:cNvPr id="6" name="TextBox 5"/>
          <p:cNvSpPr txBox="1"/>
          <p:nvPr/>
        </p:nvSpPr>
        <p:spPr>
          <a:xfrm>
            <a:off x="5903516" y="917912"/>
            <a:ext cx="2670773" cy="4924425"/>
          </a:xfrm>
          <a:prstGeom prst="rect">
            <a:avLst/>
          </a:prstGeom>
          <a:solidFill>
            <a:schemeClr val="accent2">
              <a:lumMod val="40000"/>
              <a:lumOff val="60000"/>
            </a:schemeClr>
          </a:solidFill>
        </p:spPr>
        <p:txBody>
          <a:bodyPr wrap="square" rtlCol="0">
            <a:spAutoFit/>
          </a:bodyPr>
          <a:lstStyle/>
          <a:p>
            <a:r>
              <a:rPr lang="en-IN" sz="1200" b="1" u="sng" dirty="0" smtClean="0">
                <a:solidFill>
                  <a:srgbClr val="002060"/>
                </a:solidFill>
              </a:rPr>
              <a:t>TREATMENT:</a:t>
            </a:r>
            <a:endParaRPr lang="en-IN" sz="1200" dirty="0" smtClean="0">
              <a:solidFill>
                <a:srgbClr val="002060"/>
              </a:solidFill>
            </a:endParaRPr>
          </a:p>
          <a:p>
            <a:r>
              <a:rPr lang="en-IN" sz="1200" dirty="0" smtClean="0"/>
              <a:t>Operative limb was paint draped in usual sterile fashion , utilizing  a tourniquet </a:t>
            </a:r>
            <a:r>
              <a:rPr lang="en-IN" sz="1200" dirty="0" err="1" smtClean="0"/>
              <a:t>preset</a:t>
            </a:r>
            <a:r>
              <a:rPr lang="en-IN" sz="1200" dirty="0" smtClean="0"/>
              <a:t>  to 320mmhg and an extremity drape. An </a:t>
            </a:r>
          </a:p>
          <a:p>
            <a:pPr algn="just"/>
            <a:r>
              <a:rPr lang="en-IN" sz="1200" dirty="0" err="1" smtClean="0"/>
              <a:t>Anteromedial</a:t>
            </a:r>
            <a:r>
              <a:rPr lang="en-IN" sz="1200" dirty="0" smtClean="0"/>
              <a:t> swashbuckler approach was taken over left knee, soft tissue was dissected.</a:t>
            </a:r>
          </a:p>
          <a:p>
            <a:pPr algn="just"/>
            <a:r>
              <a:rPr lang="en-IN" sz="1200" dirty="0" smtClean="0"/>
              <a:t>Debridement was done for collection in knee joint. Implant removal done of previous corrective osteotomy in which 1 </a:t>
            </a:r>
            <a:r>
              <a:rPr lang="en-IN" sz="1200" dirty="0" err="1" smtClean="0"/>
              <a:t>allees</a:t>
            </a:r>
            <a:r>
              <a:rPr lang="en-IN" sz="1200" dirty="0" smtClean="0"/>
              <a:t> plate and 7 screws removed. distal femur osteotomy was practised  Richard screw fixed  through from medial condyle of femur. DCS plate fixed from medial side of femur in up side down fashion. Subsequently bone graft taken from same side of iliac crest which fills the gap between </a:t>
            </a:r>
            <a:r>
              <a:rPr lang="en-IN" sz="1200" dirty="0" err="1" smtClean="0"/>
              <a:t>osteotomised</a:t>
            </a:r>
            <a:r>
              <a:rPr lang="en-IN" sz="1200" dirty="0" smtClean="0"/>
              <a:t> bone and plate ,another bioactive bone ceramic granules was also used to facilitates union. closure done layer wise. Cylindrical slab given for immobilisation. On 2</a:t>
            </a:r>
            <a:r>
              <a:rPr lang="en-IN" sz="1200" baseline="30000" dirty="0" smtClean="0"/>
              <a:t>nd</a:t>
            </a:r>
            <a:r>
              <a:rPr lang="en-IN" sz="1200" dirty="0" smtClean="0"/>
              <a:t> postop day long knee brace given and weight bearing was advised under supervision. </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246" y="3611241"/>
            <a:ext cx="1663907" cy="2324864"/>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18165" y="3611241"/>
            <a:ext cx="1528996" cy="2324864"/>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24275" y="914400"/>
            <a:ext cx="3102964" cy="2248525"/>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03516" y="5742432"/>
            <a:ext cx="1574793" cy="1115568"/>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19130" y="5732842"/>
            <a:ext cx="1255159" cy="1115568"/>
          </a:xfrm>
          <a:prstGeom prst="rect">
            <a:avLst/>
          </a:prstGeom>
        </p:spPr>
      </p:pic>
      <p:sp>
        <p:nvSpPr>
          <p:cNvPr id="13" name="TextBox 12"/>
          <p:cNvSpPr txBox="1"/>
          <p:nvPr/>
        </p:nvSpPr>
        <p:spPr>
          <a:xfrm>
            <a:off x="9750519" y="3090794"/>
            <a:ext cx="809837" cy="253916"/>
          </a:xfrm>
          <a:prstGeom prst="rect">
            <a:avLst/>
          </a:prstGeom>
          <a:noFill/>
        </p:spPr>
        <p:txBody>
          <a:bodyPr wrap="none" rtlCol="0">
            <a:spAutoFit/>
          </a:bodyPr>
          <a:lstStyle/>
          <a:p>
            <a:r>
              <a:rPr lang="en-IN" sz="1050" dirty="0" smtClean="0"/>
              <a:t>Pre-op </a:t>
            </a:r>
            <a:r>
              <a:rPr lang="en-IN" sz="1050" dirty="0" err="1" smtClean="0"/>
              <a:t>xray</a:t>
            </a:r>
            <a:endParaRPr lang="en-IN" sz="1050" dirty="0"/>
          </a:p>
        </p:txBody>
      </p:sp>
      <p:sp>
        <p:nvSpPr>
          <p:cNvPr id="14" name="TextBox 13"/>
          <p:cNvSpPr txBox="1"/>
          <p:nvPr/>
        </p:nvSpPr>
        <p:spPr>
          <a:xfrm>
            <a:off x="10052483" y="6043857"/>
            <a:ext cx="864339" cy="253916"/>
          </a:xfrm>
          <a:prstGeom prst="rect">
            <a:avLst/>
          </a:prstGeom>
          <a:noFill/>
        </p:spPr>
        <p:txBody>
          <a:bodyPr wrap="none" rtlCol="0">
            <a:spAutoFit/>
          </a:bodyPr>
          <a:lstStyle/>
          <a:p>
            <a:r>
              <a:rPr lang="en-IN" sz="1050" dirty="0" smtClean="0"/>
              <a:t>Post-op </a:t>
            </a:r>
            <a:r>
              <a:rPr lang="en-IN" sz="1050" dirty="0" err="1" smtClean="0"/>
              <a:t>xray</a:t>
            </a:r>
            <a:endParaRPr lang="en-IN" sz="1050" dirty="0"/>
          </a:p>
        </p:txBody>
      </p:sp>
      <p:sp>
        <p:nvSpPr>
          <p:cNvPr id="16" name="TextBox 15"/>
          <p:cNvSpPr txBox="1"/>
          <p:nvPr/>
        </p:nvSpPr>
        <p:spPr>
          <a:xfrm>
            <a:off x="-64008" y="-24750"/>
            <a:ext cx="8798306" cy="646331"/>
          </a:xfrm>
          <a:prstGeom prst="rect">
            <a:avLst/>
          </a:prstGeom>
          <a:noFill/>
        </p:spPr>
        <p:txBody>
          <a:bodyPr wrap="none" rtlCol="0">
            <a:spAutoFit/>
          </a:bodyPr>
          <a:lstStyle/>
          <a:p>
            <a:r>
              <a:rPr lang="en-IN" dirty="0" smtClean="0">
                <a:solidFill>
                  <a:srgbClr val="FF0000"/>
                </a:solidFill>
              </a:rPr>
              <a:t>NON UNION IN VALGUS CORRECTIOVE OSTEOTOMY WITH DISTAL FEMUR PLATING TREATED </a:t>
            </a:r>
          </a:p>
          <a:p>
            <a:r>
              <a:rPr lang="en-IN" dirty="0" smtClean="0">
                <a:solidFill>
                  <a:srgbClr val="FF0000"/>
                </a:solidFill>
              </a:rPr>
              <a:t>WITH REVISION OSTEOTOMY FIXED WITH DISTAL FEMUR DCS PLATING AND BONE GRAFTING</a:t>
            </a:r>
            <a:endParaRPr lang="en-IN" dirty="0">
              <a:solidFill>
                <a:srgbClr val="FF0000"/>
              </a:solidFill>
            </a:endParaRPr>
          </a:p>
        </p:txBody>
      </p:sp>
    </p:spTree>
    <p:extLst>
      <p:ext uri="{BB962C8B-B14F-4D97-AF65-F5344CB8AC3E}">
        <p14:creationId xmlns:p14="http://schemas.microsoft.com/office/powerpoint/2010/main" val="516046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4716</TotalTime>
  <Words>513</Words>
  <Application>Microsoft Office PowerPoint</Application>
  <PresentationFormat>Widescreen</PresentationFormat>
  <Paragraphs>26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32</cp:revision>
  <dcterms:created xsi:type="dcterms:W3CDTF">2020-04-14T15:54:53Z</dcterms:created>
  <dcterms:modified xsi:type="dcterms:W3CDTF">2021-07-13T18:01:11Z</dcterms:modified>
</cp:coreProperties>
</file>