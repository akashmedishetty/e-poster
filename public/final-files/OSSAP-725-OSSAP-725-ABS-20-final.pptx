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8EBF-1E8A-2829-DB29-AE5E418F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55FF7-27FA-B0F2-E00B-82FBFB9B7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Outcome Analysis of Management of Infected Knee Prosthesis Using Two-Stage Revision Arthroplasty</a:t>
            </a:r>
            <a:endParaRPr lang="en-GB" dirty="0"/>
          </a:p>
          <a:p>
            <a:r>
              <a:rPr lang="en-GB" dirty="0"/>
              <a:t>Dr. Chandra Sekhar</a:t>
            </a:r>
          </a:p>
          <a:p>
            <a:r>
              <a:rPr lang="en-GB" dirty="0"/>
              <a:t>Department of Orthopaedics</a:t>
            </a:r>
          </a:p>
          <a:p>
            <a:r>
              <a:rPr lang="en-GB" dirty="0"/>
              <a:t>Institution Name: Alluri </a:t>
            </a:r>
            <a:r>
              <a:rPr lang="en-GB" dirty="0" err="1"/>
              <a:t>sita</a:t>
            </a:r>
            <a:r>
              <a:rPr lang="en-GB" dirty="0"/>
              <a:t> </a:t>
            </a:r>
            <a:r>
              <a:rPr lang="en-GB" dirty="0" err="1"/>
              <a:t>rama</a:t>
            </a:r>
            <a:r>
              <a:rPr lang="en-GB" dirty="0"/>
              <a:t> </a:t>
            </a:r>
            <a:r>
              <a:rPr lang="en-GB" dirty="0" err="1"/>
              <a:t>raju</a:t>
            </a:r>
            <a:r>
              <a:rPr lang="en-GB" dirty="0"/>
              <a:t> academy of medical sciences, </a:t>
            </a:r>
            <a:r>
              <a:rPr lang="en-GB" dirty="0" err="1"/>
              <a:t>Eluru</a:t>
            </a:r>
            <a:endParaRPr lang="en-GB" dirty="0"/>
          </a:p>
          <a:p>
            <a:r>
              <a:rPr lang="en-GB" dirty="0"/>
              <a:t>Conference Name:    OSSAPCON |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032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81B8-6683-8259-6A15-CE08CCBB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0B3BA-01A2-584E-D13E-FE6739233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</a:p>
          <a:p>
            <a:r>
              <a:rPr lang="en-GB" dirty="0"/>
              <a:t>Periprosthetic Joint Infection (PJI) is a serious complication after TKA</a:t>
            </a:r>
          </a:p>
          <a:p>
            <a:r>
              <a:rPr lang="en-GB" dirty="0"/>
              <a:t>Incidence increasing with rising number of primary TKAs</a:t>
            </a:r>
          </a:p>
          <a:p>
            <a:r>
              <a:rPr lang="en-GB" dirty="0"/>
              <a:t>Common cause of early prosthetic failure</a:t>
            </a:r>
          </a:p>
          <a:p>
            <a:r>
              <a:rPr lang="en-GB" dirty="0"/>
              <a:t>Two-stage revision = </a:t>
            </a:r>
            <a:r>
              <a:rPr lang="en-GB" b="1" dirty="0"/>
              <a:t>Gold standard for chronic PJI</a:t>
            </a:r>
            <a:endParaRPr lang="en-GB" dirty="0"/>
          </a:p>
          <a:p>
            <a:r>
              <a:rPr lang="en-GB" b="1" dirty="0"/>
              <a:t>Problem:</a:t>
            </a:r>
            <a:r>
              <a:rPr lang="en-GB" dirty="0"/>
              <a:t> High morbidity, functional compromise, economic burden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202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FEFD0-EFE0-A57F-E27D-805464EB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CEB8A-906E-374E-2C8B-5E623A655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Aim</a:t>
            </a:r>
          </a:p>
          <a:p>
            <a:r>
              <a:rPr lang="en-GB" b="1" dirty="0"/>
              <a:t>To evaluate clinical and functional outcomes of two-stage revision arthroplasty using constrained condylar knee prosthesis in infected TKA.</a:t>
            </a:r>
            <a:endParaRPr lang="en-GB" dirty="0"/>
          </a:p>
          <a:p>
            <a:r>
              <a:rPr lang="en-IN" b="1" dirty="0"/>
              <a:t>Materials &amp; Methods</a:t>
            </a:r>
          </a:p>
          <a:p>
            <a:r>
              <a:rPr lang="en-IN" dirty="0"/>
              <a:t>Study Design: Single-</a:t>
            </a:r>
            <a:r>
              <a:rPr lang="en-IN" dirty="0" err="1"/>
              <a:t>center</a:t>
            </a:r>
            <a:r>
              <a:rPr lang="en-IN" dirty="0"/>
              <a:t> prospective study</a:t>
            </a:r>
          </a:p>
          <a:p>
            <a:r>
              <a:rPr lang="en-IN" dirty="0"/>
              <a:t>Sample Size: 10 infected TKAs</a:t>
            </a:r>
          </a:p>
          <a:p>
            <a:r>
              <a:rPr lang="en-IN" dirty="0"/>
              <a:t>Period: Aug 2020 – Dec 2021</a:t>
            </a:r>
          </a:p>
          <a:p>
            <a:r>
              <a:rPr lang="en-IN" dirty="0"/>
              <a:t>Follow-up: Mean 12 months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60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E9F8C-7BC1-7650-0451-8D8E04783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83" y="1252330"/>
            <a:ext cx="11434969" cy="5367131"/>
          </a:xfrm>
        </p:spPr>
        <p:txBody>
          <a:bodyPr/>
          <a:lstStyle/>
          <a:p>
            <a:r>
              <a:rPr lang="en-IN" sz="2400" b="1" dirty="0"/>
              <a:t>Diagnosis Based on 2018 ICM Criteria:</a:t>
            </a:r>
          </a:p>
          <a:p>
            <a:r>
              <a:rPr lang="en-IN" sz="2400" dirty="0"/>
              <a:t>Sinus tract</a:t>
            </a:r>
          </a:p>
          <a:p>
            <a:r>
              <a:rPr lang="en-IN" sz="2400" dirty="0"/>
              <a:t>≥2 positive cultures</a:t>
            </a:r>
          </a:p>
          <a:p>
            <a:r>
              <a:rPr lang="en-IN" sz="2400" dirty="0"/>
              <a:t>Elevated ESR / CRP</a:t>
            </a:r>
          </a:p>
          <a:p>
            <a:r>
              <a:rPr lang="en-IN" sz="2400" dirty="0"/>
              <a:t>Synovial WBC &amp; PMN%</a:t>
            </a:r>
          </a:p>
          <a:p>
            <a:r>
              <a:rPr lang="en-IN" sz="2400" b="1" dirty="0"/>
              <a:t>Stage 1:</a:t>
            </a:r>
          </a:p>
          <a:p>
            <a:r>
              <a:rPr lang="en-IN" sz="2400" dirty="0"/>
              <a:t>Prosthesis removal</a:t>
            </a:r>
          </a:p>
          <a:p>
            <a:r>
              <a:rPr lang="en-IN" sz="2400" dirty="0"/>
              <a:t>Thorough debridement</a:t>
            </a:r>
          </a:p>
          <a:p>
            <a:r>
              <a:rPr lang="en-IN" sz="2400" dirty="0"/>
              <a:t>Articulating antibiotic cement spacer</a:t>
            </a:r>
          </a:p>
          <a:p>
            <a:r>
              <a:rPr lang="en-IN" sz="2400" dirty="0"/>
              <a:t>IV antibiotics 4–6 weeks</a:t>
            </a:r>
          </a:p>
          <a:p>
            <a:r>
              <a:rPr lang="en-IN" sz="2400" b="1" dirty="0"/>
              <a:t>Stage 2:</a:t>
            </a:r>
          </a:p>
          <a:p>
            <a:r>
              <a:rPr lang="en-IN" sz="2400" dirty="0"/>
              <a:t>Reimplantation with Constrained Condylar Knee prosthesis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992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9E24-01CB-9FEC-62BB-8D80BC4C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2DE84-AA45-5925-A6E2-213D3524C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Surgical Technique Highlights</a:t>
            </a:r>
          </a:p>
          <a:p>
            <a:r>
              <a:rPr lang="en-IN" dirty="0"/>
              <a:t>Medial parapatellar approach</a:t>
            </a:r>
          </a:p>
          <a:p>
            <a:r>
              <a:rPr lang="en-IN" dirty="0"/>
              <a:t>Removal of femoral &amp; tibial components</a:t>
            </a:r>
          </a:p>
          <a:p>
            <a:r>
              <a:rPr lang="en-IN" dirty="0"/>
              <a:t>Extensive lavage (H₂O₂, Betadine, NS)</a:t>
            </a:r>
          </a:p>
          <a:p>
            <a:r>
              <a:rPr lang="en-IN" dirty="0"/>
              <a:t>Antibiotic cement spacer:</a:t>
            </a:r>
          </a:p>
          <a:p>
            <a:pPr lvl="1"/>
            <a:r>
              <a:rPr lang="en-IN" dirty="0"/>
              <a:t>2g gentamicin / 40g cement</a:t>
            </a:r>
          </a:p>
          <a:p>
            <a:pPr lvl="2"/>
            <a:r>
              <a:rPr lang="en-IN" dirty="0"/>
              <a:t>2g vancomycin</a:t>
            </a:r>
          </a:p>
          <a:p>
            <a:r>
              <a:rPr lang="en-IN" dirty="0"/>
              <a:t>Non-weight bearing post Stage 1</a:t>
            </a:r>
          </a:p>
          <a:p>
            <a:r>
              <a:rPr lang="en-IN" dirty="0"/>
              <a:t>Reimplantation after normalization of ESR/CRP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70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1E2B-F539-B225-A091-46427F2E3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239" y="1361660"/>
            <a:ext cx="11713265" cy="5401917"/>
          </a:xfrm>
        </p:spPr>
        <p:txBody>
          <a:bodyPr/>
          <a:lstStyle/>
          <a:p>
            <a:r>
              <a:rPr lang="en-IN" sz="2000" b="1" dirty="0"/>
              <a:t>Results</a:t>
            </a:r>
          </a:p>
          <a:p>
            <a:r>
              <a:rPr lang="en-IN" sz="2000" dirty="0"/>
              <a:t>Infection control: </a:t>
            </a:r>
            <a:r>
              <a:rPr lang="en-IN" sz="2000" b="1" dirty="0"/>
              <a:t>80% success (8/10)</a:t>
            </a:r>
            <a:endParaRPr lang="en-IN" sz="2000" dirty="0"/>
          </a:p>
          <a:p>
            <a:r>
              <a:rPr lang="en-IN" sz="2000" dirty="0"/>
              <a:t>Failure: 2 cases</a:t>
            </a:r>
          </a:p>
          <a:p>
            <a:r>
              <a:rPr lang="en-IN" sz="2000" b="1" dirty="0"/>
              <a:t>Functional Outcomes:</a:t>
            </a:r>
          </a:p>
          <a:p>
            <a:r>
              <a:rPr lang="en-IN" sz="2000" dirty="0"/>
              <a:t>Median IKS Knee Score:</a:t>
            </a:r>
          </a:p>
          <a:p>
            <a:pPr lvl="1"/>
            <a:r>
              <a:rPr lang="en-IN" sz="2000" dirty="0"/>
              <a:t>Pre-op: 36</a:t>
            </a:r>
          </a:p>
          <a:p>
            <a:pPr lvl="1"/>
            <a:r>
              <a:rPr lang="en-IN" sz="2000" dirty="0"/>
              <a:t>Final Follow-up: 76 (p &lt; 0.001)</a:t>
            </a:r>
          </a:p>
          <a:p>
            <a:r>
              <a:rPr lang="en-IN" sz="2000" dirty="0"/>
              <a:t>Median IKS Function Score:</a:t>
            </a:r>
          </a:p>
          <a:p>
            <a:pPr lvl="1"/>
            <a:r>
              <a:rPr lang="en-IN" sz="2000" dirty="0"/>
              <a:t>Pre-op: 25</a:t>
            </a:r>
          </a:p>
          <a:p>
            <a:pPr lvl="1"/>
            <a:r>
              <a:rPr lang="en-IN" sz="2000" dirty="0"/>
              <a:t>Final: 70 (p &lt; 0.001)</a:t>
            </a:r>
          </a:p>
          <a:p>
            <a:r>
              <a:rPr lang="en-IN" sz="2000" dirty="0"/>
              <a:t>ROM improved from 80° → 115° (p &lt; 0.01)</a:t>
            </a:r>
          </a:p>
          <a:p>
            <a:r>
              <a:rPr lang="en-IN" sz="2000" dirty="0"/>
              <a:t>No spacer breakage</a:t>
            </a:r>
            <a:br>
              <a:rPr lang="en-IN" sz="2000" dirty="0"/>
            </a:br>
            <a:r>
              <a:rPr lang="en-IN" sz="2000" dirty="0"/>
              <a:t>No massive osteolysis</a:t>
            </a:r>
            <a:br>
              <a:rPr lang="en-IN" sz="2000" dirty="0"/>
            </a:br>
            <a:r>
              <a:rPr lang="en-IN" sz="2000" dirty="0"/>
              <a:t>Extensor mechanism intact in all cases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3547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BADB-2037-B982-7FC3-16AB5198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93493-9F07-B1C7-6336-86AC8E489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Discussion</a:t>
            </a:r>
          </a:p>
          <a:p>
            <a:r>
              <a:rPr lang="en-IN" dirty="0"/>
              <a:t>Two-stage revision remains reliable for chronic PJI</a:t>
            </a:r>
          </a:p>
          <a:p>
            <a:r>
              <a:rPr lang="en-IN" dirty="0"/>
              <a:t>Articulating spacer preserves ROM &amp; soft tissue tension</a:t>
            </a:r>
          </a:p>
          <a:p>
            <a:r>
              <a:rPr lang="en-IN" dirty="0"/>
              <a:t>Constrained condylar implant useful in:</a:t>
            </a:r>
          </a:p>
          <a:p>
            <a:pPr lvl="1"/>
            <a:r>
              <a:rPr lang="en-IN" dirty="0"/>
              <a:t>Bone loss</a:t>
            </a:r>
          </a:p>
          <a:p>
            <a:pPr lvl="1"/>
            <a:r>
              <a:rPr lang="en-IN" dirty="0"/>
              <a:t>Ligamentous deficiency</a:t>
            </a:r>
          </a:p>
          <a:p>
            <a:r>
              <a:rPr lang="en-IN" dirty="0"/>
              <a:t>Comparable infection eradication rates with literature (~80–90%)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038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9866-C4E0-D2EA-64EA-D262163DB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ED0B7-9D7F-A161-6548-BAC78D17A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Conclusion</a:t>
            </a:r>
          </a:p>
          <a:p>
            <a:r>
              <a:rPr lang="en-GB" dirty="0"/>
              <a:t>Two-stage revision arthroplasty is effective for infected TKA</a:t>
            </a:r>
          </a:p>
          <a:p>
            <a:r>
              <a:rPr lang="en-GB" dirty="0"/>
              <a:t>Provides:</a:t>
            </a:r>
          </a:p>
          <a:p>
            <a:pPr lvl="1"/>
            <a:r>
              <a:rPr lang="en-GB" dirty="0"/>
              <a:t>Good infection control</a:t>
            </a:r>
          </a:p>
          <a:p>
            <a:pPr lvl="1"/>
            <a:r>
              <a:rPr lang="en-GB" dirty="0"/>
              <a:t>Significant functional improvement</a:t>
            </a:r>
          </a:p>
          <a:p>
            <a:pPr lvl="1"/>
            <a:r>
              <a:rPr lang="en-GB" dirty="0"/>
              <a:t>Improved ROM</a:t>
            </a:r>
          </a:p>
          <a:p>
            <a:r>
              <a:rPr lang="en-GB" dirty="0"/>
              <a:t>Careful patient selection and strict protocol are key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559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362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Gordita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Dr. Chandra Sekhar</cp:lastModifiedBy>
  <cp:revision>4</cp:revision>
  <dcterms:created xsi:type="dcterms:W3CDTF">2026-01-11T06:24:43Z</dcterms:created>
  <dcterms:modified xsi:type="dcterms:W3CDTF">2026-02-14T04:41:41Z</dcterms:modified>
</cp:coreProperties>
</file>