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2319968" y="27423"/>
            <a:ext cx="7295340" cy="861774"/>
          </a:xfrm>
          <a:prstGeom prst="rect">
            <a:avLst/>
          </a:prstGeom>
          <a:noFill/>
        </p:spPr>
        <p:txBody>
          <a:bodyPr wrap="square" rtlCol="0">
            <a:spAutoFit/>
          </a:bodyPr>
          <a:lstStyle/>
          <a:p>
            <a:r>
              <a:rPr lang="en-US" sz="1600" b="1" dirty="0">
                <a:solidFill>
                  <a:schemeClr val="bg1"/>
                </a:solidFill>
              </a:rPr>
              <a:t>SURGICAL MANAGEMENT OF PATHOLOGICAL FRACTURE OF PROXIMAL HUMERUS WITH PHILOS PLATING AND BONE CEMENT – A CASE REPORT</a:t>
            </a:r>
            <a:endParaRPr lang="en-IN" sz="1600" b="1" dirty="0">
              <a:solidFill>
                <a:schemeClr val="bg1"/>
              </a:solidFill>
            </a:endParaRPr>
          </a:p>
          <a:p>
            <a:endParaRPr lang="en-US" b="1" dirty="0">
              <a:solidFill>
                <a:schemeClr val="bg1"/>
              </a:solidFill>
              <a:latin typeface="Gordita "/>
            </a:endParaRPr>
          </a:p>
        </p:txBody>
      </p:sp>
      <p:sp>
        <p:nvSpPr>
          <p:cNvPr id="19" name="TextBox 18">
            <a:extLst>
              <a:ext uri="{FF2B5EF4-FFF2-40B4-BE49-F238E27FC236}">
                <a16:creationId xmlns:a16="http://schemas.microsoft.com/office/drawing/2014/main" id="{CF1F608A-7742-BF27-09EC-3BB7CA324D68}"/>
              </a:ext>
            </a:extLst>
          </p:cNvPr>
          <p:cNvSpPr txBox="1"/>
          <p:nvPr/>
        </p:nvSpPr>
        <p:spPr>
          <a:xfrm>
            <a:off x="2344449" y="559742"/>
            <a:ext cx="6307494" cy="307777"/>
          </a:xfrm>
          <a:prstGeom prst="rect">
            <a:avLst/>
          </a:prstGeom>
          <a:noFill/>
        </p:spPr>
        <p:txBody>
          <a:bodyPr wrap="square" rtlCol="0">
            <a:spAutoFit/>
          </a:bodyPr>
          <a:lstStyle/>
          <a:p>
            <a:r>
              <a:rPr lang="en-IN" sz="1400" b="1" dirty="0">
                <a:solidFill>
                  <a:schemeClr val="bg1"/>
                </a:solidFill>
              </a:rPr>
              <a:t>AUTHOR : DR. G. MANOJ BHASKAR (JUNIOR RESIDENT)</a:t>
            </a:r>
            <a:endParaRPr lang="en-US" sz="1400" b="1" dirty="0">
              <a:solidFill>
                <a:schemeClr val="bg1"/>
              </a:solidFill>
              <a:latin typeface="Gordita "/>
            </a:endParaRPr>
          </a:p>
        </p:txBody>
      </p:sp>
      <p:sp>
        <p:nvSpPr>
          <p:cNvPr id="20" name="TextBox 19">
            <a:extLst>
              <a:ext uri="{FF2B5EF4-FFF2-40B4-BE49-F238E27FC236}">
                <a16:creationId xmlns:a16="http://schemas.microsoft.com/office/drawing/2014/main" id="{C0616687-624D-607B-6F85-335EE46873F1}"/>
              </a:ext>
            </a:extLst>
          </p:cNvPr>
          <p:cNvSpPr txBox="1"/>
          <p:nvPr/>
        </p:nvSpPr>
        <p:spPr>
          <a:xfrm>
            <a:off x="2344449" y="804809"/>
            <a:ext cx="7114032" cy="523220"/>
          </a:xfrm>
          <a:prstGeom prst="rect">
            <a:avLst/>
          </a:prstGeom>
          <a:noFill/>
        </p:spPr>
        <p:txBody>
          <a:bodyPr wrap="square" rtlCol="0">
            <a:spAutoFit/>
          </a:bodyPr>
          <a:lstStyle/>
          <a:p>
            <a:r>
              <a:rPr lang="en-IN" sz="1400" b="1" dirty="0">
                <a:solidFill>
                  <a:schemeClr val="bg1"/>
                </a:solidFill>
              </a:rPr>
              <a:t>GUIDE     : DR. D. HARIKISHAN </a:t>
            </a:r>
            <a:r>
              <a:rPr lang="en-US" altLang="en-IN" sz="1400" b="1" dirty="0">
                <a:solidFill>
                  <a:schemeClr val="bg1"/>
                </a:solidFill>
                <a:ea typeface="Calibri" panose="020F0502020204030204" charset="0"/>
                <a:cs typeface="Times New Roman" panose="02020603050405020304" pitchFamily="18" charset="0"/>
                <a:sym typeface="+mn-ea"/>
              </a:rPr>
              <a:t>, M.S. (ORTHOPAEDICS), </a:t>
            </a:r>
            <a:r>
              <a:rPr lang="en-IN" sz="1400" b="1" dirty="0">
                <a:solidFill>
                  <a:schemeClr val="bg1"/>
                </a:solidFill>
              </a:rPr>
              <a:t>(Associate professor), DEPARTMENT OF ORTHOPAEDICS, ASRAM, ELURU</a:t>
            </a:r>
            <a:endParaRPr lang="en-US" sz="1400" b="1" dirty="0">
              <a:solidFill>
                <a:schemeClr val="bg1"/>
              </a:solidFill>
              <a:latin typeface="Gordita "/>
            </a:endParaRP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5"/>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7836" y="128015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0" y="5005136"/>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5" name="TextBox 24">
            <a:extLst>
              <a:ext uri="{FF2B5EF4-FFF2-40B4-BE49-F238E27FC236}">
                <a16:creationId xmlns:a16="http://schemas.microsoft.com/office/drawing/2014/main" id="{58C7BF7F-EE50-6ED4-E8EA-89A9DF541DCD}"/>
              </a:ext>
            </a:extLst>
          </p:cNvPr>
          <p:cNvSpPr txBox="1"/>
          <p:nvPr/>
        </p:nvSpPr>
        <p:spPr>
          <a:xfrm>
            <a:off x="6463820" y="1764614"/>
            <a:ext cx="5617029" cy="2970044"/>
          </a:xfrm>
          <a:prstGeom prst="rect">
            <a:avLst/>
          </a:prstGeom>
          <a:noFill/>
        </p:spPr>
        <p:txBody>
          <a:bodyPr wrap="square">
            <a:spAutoFit/>
          </a:bodyPr>
          <a:lstStyle/>
          <a:p>
            <a:r>
              <a:rPr lang="en-US" sz="1700" dirty="0"/>
              <a:t>The management of pathological fractures, involves a multidisciplinary approach aimed at addressing both the mechanical instability and the underlying pathology. Surgical stabilization with techniques like PHILOS plating and bone cement augmentation is essential to restore function and alleviate pain. Accurate diagnosis through imaging, biopsies, and relevant laboratory tests is crucial to identify the underlying cause, often metastatic bone disease in adults over 40. Treating the primary malignancy concurrently is vital for improving the patient’s overall prognosis and quality of life.</a:t>
            </a:r>
            <a:endParaRPr lang="en-US" sz="1700" b="1" dirty="0">
              <a:latin typeface="Libre Baskerville" panose="02000000000000000000" pitchFamily="2" charset="0"/>
            </a:endParaRPr>
          </a:p>
        </p:txBody>
      </p:sp>
      <p:sp>
        <p:nvSpPr>
          <p:cNvPr id="27" name="TextBox 26">
            <a:extLst>
              <a:ext uri="{FF2B5EF4-FFF2-40B4-BE49-F238E27FC236}">
                <a16:creationId xmlns:a16="http://schemas.microsoft.com/office/drawing/2014/main" id="{98794125-4F2A-CA3F-64BC-55262495325D}"/>
              </a:ext>
            </a:extLst>
          </p:cNvPr>
          <p:cNvSpPr txBox="1"/>
          <p:nvPr/>
        </p:nvSpPr>
        <p:spPr>
          <a:xfrm>
            <a:off x="149994" y="1681148"/>
            <a:ext cx="2808971" cy="3323987"/>
          </a:xfrm>
          <a:prstGeom prst="rect">
            <a:avLst/>
          </a:prstGeom>
          <a:noFill/>
        </p:spPr>
        <p:txBody>
          <a:bodyPr wrap="square">
            <a:spAutoFit/>
          </a:bodyPr>
          <a:lstStyle/>
          <a:p>
            <a:pPr marL="285750" indent="-285750">
              <a:buFont typeface="Arial" panose="020B0604020202020204" pitchFamily="34" charset="0"/>
              <a:buChar char="•"/>
            </a:pPr>
            <a:r>
              <a:rPr lang="en-IN" sz="1400" dirty="0"/>
              <a:t>Pathological fracture occur in abnormal bone. Weakened bone predisposes the patient for failure during normal activity or after minor trauma .</a:t>
            </a:r>
          </a:p>
          <a:p>
            <a:pPr marL="285750" indent="-285750">
              <a:buFont typeface="Arial" panose="020B0604020202020204" pitchFamily="34" charset="0"/>
              <a:buChar char="•"/>
            </a:pPr>
            <a:r>
              <a:rPr lang="en-IN" sz="1400" dirty="0"/>
              <a:t> The vast majority of bony metastasis originate from cancers of </a:t>
            </a:r>
            <a:r>
              <a:rPr lang="en-IN" sz="1400" dirty="0" err="1"/>
              <a:t>breast,lung,prostate,thyroid</a:t>
            </a:r>
            <a:r>
              <a:rPr lang="en-IN" sz="1400" dirty="0"/>
              <a:t> and kidney.</a:t>
            </a:r>
          </a:p>
          <a:p>
            <a:pPr marL="285750" indent="-285750">
              <a:buFont typeface="Arial" panose="020B0604020202020204" pitchFamily="34" charset="0"/>
              <a:buChar char="•"/>
            </a:pPr>
            <a:r>
              <a:rPr lang="en-IN" sz="1400" dirty="0"/>
              <a:t> The most common site of metastasis in skeleton include </a:t>
            </a:r>
            <a:r>
              <a:rPr lang="en-IN" sz="1400" dirty="0" err="1"/>
              <a:t>pelvis,skull,spine,ribs,proximal</a:t>
            </a:r>
            <a:r>
              <a:rPr lang="en-IN" sz="1400" dirty="0"/>
              <a:t> femur and proximal humerus.</a:t>
            </a:r>
            <a:endParaRPr lang="en-US" sz="1400" b="1" dirty="0">
              <a:latin typeface="Libre Baskerville" panose="02000000000000000000" pitchFamily="2" charset="0"/>
            </a:endParaRPr>
          </a:p>
        </p:txBody>
      </p:sp>
      <p:sp>
        <p:nvSpPr>
          <p:cNvPr id="29" name="TextBox 28">
            <a:extLst>
              <a:ext uri="{FF2B5EF4-FFF2-40B4-BE49-F238E27FC236}">
                <a16:creationId xmlns:a16="http://schemas.microsoft.com/office/drawing/2014/main" id="{6A843A71-1E1C-5D85-0384-530AE3F2060F}"/>
              </a:ext>
            </a:extLst>
          </p:cNvPr>
          <p:cNvSpPr txBox="1"/>
          <p:nvPr/>
        </p:nvSpPr>
        <p:spPr>
          <a:xfrm>
            <a:off x="6323798" y="5245396"/>
            <a:ext cx="5839324" cy="1569660"/>
          </a:xfrm>
          <a:prstGeom prst="rect">
            <a:avLst/>
          </a:prstGeom>
          <a:noFill/>
        </p:spPr>
        <p:txBody>
          <a:bodyPr wrap="square">
            <a:spAutoFit/>
          </a:bodyPr>
          <a:lstStyle/>
          <a:p>
            <a:r>
              <a:rPr lang="en-US" sz="1600" dirty="0"/>
              <a:t>Pathological fractures in patients over 40 years with discrete bone lesions are likely metastatic in origin. Surgical stabilization with PHILOS plating and bone cement provides effective mechanical stability and pain relief. Concurrent management of the primary malignancy is essential for improved prognosis and quality of life. </a:t>
            </a:r>
            <a:endParaRPr lang="en-US" sz="1600" b="1" dirty="0">
              <a:latin typeface="Libre Baskerville" panose="02000000000000000000" pitchFamily="2" charset="0"/>
            </a:endParaRPr>
          </a:p>
        </p:txBody>
      </p:sp>
      <p:sp>
        <p:nvSpPr>
          <p:cNvPr id="31" name="TextBox 30">
            <a:extLst>
              <a:ext uri="{FF2B5EF4-FFF2-40B4-BE49-F238E27FC236}">
                <a16:creationId xmlns:a16="http://schemas.microsoft.com/office/drawing/2014/main" id="{E60C213D-DA3A-1405-9915-B8F276316FB0}"/>
              </a:ext>
            </a:extLst>
          </p:cNvPr>
          <p:cNvSpPr txBox="1"/>
          <p:nvPr/>
        </p:nvSpPr>
        <p:spPr>
          <a:xfrm>
            <a:off x="3166712" y="1696604"/>
            <a:ext cx="3157083" cy="3301032"/>
          </a:xfrm>
          <a:prstGeom prst="rect">
            <a:avLst/>
          </a:prstGeom>
          <a:noFill/>
        </p:spPr>
        <p:txBody>
          <a:bodyPr wrap="square">
            <a:spAutoFit/>
          </a:bodyPr>
          <a:lstStyle/>
          <a:p>
            <a:pPr>
              <a:lnSpc>
                <a:spcPct val="115000"/>
              </a:lnSpc>
              <a:spcAft>
                <a:spcPts val="800"/>
              </a:spcAft>
              <a:buNone/>
            </a:pPr>
            <a:r>
              <a:rPr lang="en-US" sz="1400" kern="100" dirty="0">
                <a:effectLst/>
                <a:latin typeface="Aptos" panose="020B0004020202020204" pitchFamily="34" charset="0"/>
                <a:ea typeface="Times New Roman" panose="02020603050405020304" pitchFamily="18" charset="0"/>
                <a:cs typeface="Times New Roman" panose="02020603050405020304" pitchFamily="18" charset="0"/>
              </a:rPr>
              <a:t>A 75-year-old female presented with pain and swelling over the right shoulder following trivial trauma. Radiological investigations including X-ray and MRI revealed a pathological fracture at the </a:t>
            </a:r>
            <a:r>
              <a:rPr lang="en-US" sz="1400" kern="100" dirty="0" err="1">
                <a:effectLst/>
                <a:latin typeface="Aptos" panose="020B0004020202020204" pitchFamily="34" charset="0"/>
                <a:ea typeface="Times New Roman" panose="02020603050405020304" pitchFamily="18" charset="0"/>
                <a:cs typeface="Times New Roman" panose="02020603050405020304" pitchFamily="18" charset="0"/>
              </a:rPr>
              <a:t>metaphyseodiaphyseal</a:t>
            </a:r>
            <a:r>
              <a:rPr lang="en-US" sz="1400" kern="100" dirty="0">
                <a:effectLst/>
                <a:latin typeface="Aptos" panose="020B0004020202020204" pitchFamily="34" charset="0"/>
                <a:ea typeface="Times New Roman" panose="02020603050405020304" pitchFamily="18" charset="0"/>
                <a:cs typeface="Times New Roman" panose="02020603050405020304" pitchFamily="18" charset="0"/>
              </a:rPr>
              <a:t> junction of the proximal humerus. Histopathological examination confirmed metastatic adenocarcinoma. The fracture was surgically managed using PHILOS plate fixation with bone cement augmentation.</a:t>
            </a:r>
            <a:endParaRPr lang="en-IN" sz="1400" kern="100" dirty="0">
              <a:effectLst/>
              <a:latin typeface="Aptos" panose="020B0004020202020204" pitchFamily="34" charset="0"/>
              <a:ea typeface="Times New Roman" panose="02020603050405020304" pitchFamily="18" charset="0"/>
              <a:cs typeface="Times New Roman" panose="02020603050405020304" pitchFamily="18" charset="0"/>
            </a:endParaRPr>
          </a:p>
        </p:txBody>
      </p:sp>
      <p:pic>
        <p:nvPicPr>
          <p:cNvPr id="32" name="Picture 31">
            <a:extLst>
              <a:ext uri="{FF2B5EF4-FFF2-40B4-BE49-F238E27FC236}">
                <a16:creationId xmlns:a16="http://schemas.microsoft.com/office/drawing/2014/main" id="{914A31C8-CBD7-6347-35E3-DC117B125B60}"/>
              </a:ext>
            </a:extLst>
          </p:cNvPr>
          <p:cNvPicPr>
            <a:picLocks noChangeAspect="1"/>
          </p:cNvPicPr>
          <p:nvPr/>
        </p:nvPicPr>
        <p:blipFill>
          <a:blip r:embed="rId6"/>
          <a:stretch>
            <a:fillRect/>
          </a:stretch>
        </p:blipFill>
        <p:spPr>
          <a:xfrm>
            <a:off x="4354505" y="5803916"/>
            <a:ext cx="1969290" cy="1011140"/>
          </a:xfrm>
          <a:prstGeom prst="rect">
            <a:avLst/>
          </a:prstGeom>
        </p:spPr>
      </p:pic>
      <p:pic>
        <p:nvPicPr>
          <p:cNvPr id="33" name="Picture 32">
            <a:extLst>
              <a:ext uri="{FF2B5EF4-FFF2-40B4-BE49-F238E27FC236}">
                <a16:creationId xmlns:a16="http://schemas.microsoft.com/office/drawing/2014/main" id="{844A9942-31DB-3D70-FA15-01C1C1B0CF6A}"/>
              </a:ext>
            </a:extLst>
          </p:cNvPr>
          <p:cNvPicPr>
            <a:picLocks noChangeAspect="1"/>
          </p:cNvPicPr>
          <p:nvPr/>
        </p:nvPicPr>
        <p:blipFill>
          <a:blip r:embed="rId7"/>
          <a:stretch>
            <a:fillRect/>
          </a:stretch>
        </p:blipFill>
        <p:spPr>
          <a:xfrm>
            <a:off x="4354505" y="4711337"/>
            <a:ext cx="1969290" cy="1077058"/>
          </a:xfrm>
          <a:prstGeom prst="rect">
            <a:avLst/>
          </a:prstGeom>
        </p:spPr>
      </p:pic>
      <p:pic>
        <p:nvPicPr>
          <p:cNvPr id="34" name="Picture 33">
            <a:extLst>
              <a:ext uri="{FF2B5EF4-FFF2-40B4-BE49-F238E27FC236}">
                <a16:creationId xmlns:a16="http://schemas.microsoft.com/office/drawing/2014/main" id="{948B44E0-46C2-D2B7-11E3-614EC12A332C}"/>
              </a:ext>
            </a:extLst>
          </p:cNvPr>
          <p:cNvPicPr>
            <a:picLocks noChangeAspect="1"/>
          </p:cNvPicPr>
          <p:nvPr/>
        </p:nvPicPr>
        <p:blipFill>
          <a:blip r:embed="rId8"/>
          <a:stretch>
            <a:fillRect/>
          </a:stretch>
        </p:blipFill>
        <p:spPr>
          <a:xfrm>
            <a:off x="1045851" y="5399773"/>
            <a:ext cx="1187106" cy="1451030"/>
          </a:xfrm>
          <a:prstGeom prst="rect">
            <a:avLst/>
          </a:prstGeom>
        </p:spPr>
      </p:pic>
      <p:pic>
        <p:nvPicPr>
          <p:cNvPr id="35" name="Picture 34">
            <a:extLst>
              <a:ext uri="{FF2B5EF4-FFF2-40B4-BE49-F238E27FC236}">
                <a16:creationId xmlns:a16="http://schemas.microsoft.com/office/drawing/2014/main" id="{BEB9C96A-0411-1B39-837B-6FB641D7473D}"/>
              </a:ext>
            </a:extLst>
          </p:cNvPr>
          <p:cNvPicPr>
            <a:picLocks noChangeAspect="1"/>
          </p:cNvPicPr>
          <p:nvPr/>
        </p:nvPicPr>
        <p:blipFill>
          <a:blip r:embed="rId9"/>
          <a:stretch>
            <a:fillRect/>
          </a:stretch>
        </p:blipFill>
        <p:spPr>
          <a:xfrm>
            <a:off x="0" y="5399773"/>
            <a:ext cx="1153886" cy="1465285"/>
          </a:xfrm>
          <a:prstGeom prst="rect">
            <a:avLst/>
          </a:prstGeom>
        </p:spPr>
      </p:pic>
      <p:pic>
        <p:nvPicPr>
          <p:cNvPr id="36" name="Picture 35">
            <a:extLst>
              <a:ext uri="{FF2B5EF4-FFF2-40B4-BE49-F238E27FC236}">
                <a16:creationId xmlns:a16="http://schemas.microsoft.com/office/drawing/2014/main" id="{34B96FFD-5324-943F-C0CA-33D61FBEC991}"/>
              </a:ext>
            </a:extLst>
          </p:cNvPr>
          <p:cNvPicPr>
            <a:picLocks noChangeAspect="1"/>
          </p:cNvPicPr>
          <p:nvPr/>
        </p:nvPicPr>
        <p:blipFill>
          <a:blip r:embed="rId10"/>
          <a:stretch>
            <a:fillRect/>
          </a:stretch>
        </p:blipFill>
        <p:spPr>
          <a:xfrm>
            <a:off x="2232957" y="5409279"/>
            <a:ext cx="2121548" cy="1421298"/>
          </a:xfrm>
          <a:prstGeom prst="rect">
            <a:avLst/>
          </a:prstGeom>
        </p:spPr>
      </p:pic>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322</Words>
  <Application>Microsoft Office PowerPoint</Application>
  <PresentationFormat>Widescreen</PresentationFormat>
  <Paragraphs>14</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Gordita </vt:lpstr>
      <vt:lpstr>Libre Baskerville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Manoj Bhaskar</cp:lastModifiedBy>
  <cp:revision>4</cp:revision>
  <dcterms:created xsi:type="dcterms:W3CDTF">2026-01-11T06:24:43Z</dcterms:created>
  <dcterms:modified xsi:type="dcterms:W3CDTF">2026-01-26T16:24:59Z</dcterms:modified>
</cp:coreProperties>
</file>