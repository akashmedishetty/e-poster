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2260900" y="27424"/>
            <a:ext cx="6312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DUAL INCISION SOFT TISSUE RELEASE IN RESISTANT CLUB FOOT</a:t>
            </a:r>
            <a:endParaRPr lang="en-US" b="1" dirty="0">
              <a:solidFill>
                <a:srgbClr val="FFFF00"/>
              </a:solidFill>
              <a:latin typeface="Gordita 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2338755" y="470279"/>
            <a:ext cx="6307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PRESENTING AUTHOR: DR S.VARUN KUMAR </a:t>
            </a:r>
          </a:p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GUIDE: DR J.</a:t>
            </a:r>
            <a:r>
              <a:rPr lang="en-US" sz="1200" b="1">
                <a:solidFill>
                  <a:schemeClr val="bg1"/>
                </a:solidFill>
                <a:latin typeface="Gordita "/>
              </a:rPr>
              <a:t>H VIDYASAGAR(ASST PROF, OSMANIA MEDICAL COLLEGE)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 OSMANIA MEDICAL COLLEGE,HYDERABAD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8918629" y="938740"/>
            <a:ext cx="2104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Registration ID: </a:t>
            </a:r>
            <a:r>
              <a:rPr lang="en-US" sz="2000" b="1" dirty="0">
                <a:solidFill>
                  <a:schemeClr val="bg1"/>
                </a:solidFill>
                <a:latin typeface="Gordita "/>
              </a:rPr>
              <a:t>597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0" y="1586889"/>
            <a:ext cx="3123398" cy="34182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ALTERED ANATOMY: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body of talus is rotated externally , neck of talus is rotated internally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Abnormal rotation of calcaneum in sagittal, coronal, horizontal planes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Tethering effect of posterolateral structures- calcaneofibular ligament, post talofibular ligament- this prevents dorsiflexion of the ankle joint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Resistant club foot does not respond to Ponseti casting</a:t>
            </a:r>
          </a:p>
          <a:p>
            <a:r>
              <a:rPr lang="en-US" sz="1100" dirty="0">
                <a:solidFill>
                  <a:srgbClr val="FF0000"/>
                </a:solidFill>
              </a:rPr>
              <a:t>OBJECTIVES OF TREATMENT</a:t>
            </a:r>
            <a:r>
              <a:rPr lang="en-US" sz="1100" dirty="0">
                <a:solidFill>
                  <a:schemeClr val="tx1"/>
                </a:solidFill>
              </a:rPr>
              <a:t>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To correct abnormal tarsal relation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To maintain the reduction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To establish  muscle balance between invertors  &amp; evertors, dorsiflexors &amp; plantar flexors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To provide mobile foot with normal function and weight bearing</a:t>
            </a:r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 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3 resistant club foots from age group 6-18 months were operated by this method and all of them are evaluated at the end of 3 months post operatively with </a:t>
            </a:r>
            <a:r>
              <a:rPr lang="en-US" sz="1200" dirty="0" err="1">
                <a:solidFill>
                  <a:schemeClr val="tx1"/>
                </a:solidFill>
              </a:rPr>
              <a:t>demiglo</a:t>
            </a:r>
            <a:r>
              <a:rPr lang="en-US" sz="1200" dirty="0">
                <a:solidFill>
                  <a:schemeClr val="tx1"/>
                </a:solidFill>
              </a:rPr>
              <a:t> scoring system and achieved grade 1 / benign outcome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7835" y="1280157"/>
            <a:ext cx="3471534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accent5"/>
                </a:solidFill>
              </a:rPr>
              <a:t>POSTERO MEDIAL INCISION </a:t>
            </a:r>
            <a:r>
              <a:rPr lang="en-US" sz="1100" dirty="0">
                <a:solidFill>
                  <a:schemeClr val="tx1"/>
                </a:solidFill>
              </a:rPr>
              <a:t>runs medially to </a:t>
            </a:r>
            <a:r>
              <a:rPr lang="en-US" sz="1100" dirty="0" err="1">
                <a:solidFill>
                  <a:schemeClr val="tx1"/>
                </a:solidFill>
              </a:rPr>
              <a:t>achilles</a:t>
            </a:r>
            <a:r>
              <a:rPr lang="en-US" sz="1100" dirty="0">
                <a:solidFill>
                  <a:schemeClr val="tx1"/>
                </a:solidFill>
              </a:rPr>
              <a:t> tendon from point of insertion to 3 cm proximally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Tendon- TA  Z </a:t>
            </a:r>
            <a:r>
              <a:rPr lang="en-US" sz="1100" dirty="0" err="1">
                <a:solidFill>
                  <a:schemeClr val="tx1"/>
                </a:solidFill>
              </a:rPr>
              <a:t>plasty</a:t>
            </a:r>
            <a:r>
              <a:rPr lang="en-US" sz="1100" dirty="0">
                <a:solidFill>
                  <a:schemeClr val="tx1"/>
                </a:solidFill>
              </a:rPr>
              <a:t> +/- tibialis posterior lengthening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Capsule: posterior &amp; lateral  capsule of ankle joint , subtalar joints are opened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Ligaments: calcaneofibular and post talofibular ligaments, post part of deltoid ligament</a:t>
            </a:r>
          </a:p>
          <a:p>
            <a:r>
              <a:rPr lang="en-US" sz="1100" b="1" dirty="0">
                <a:solidFill>
                  <a:schemeClr val="tx1"/>
                </a:solidFill>
              </a:rPr>
              <a:t> </a:t>
            </a:r>
            <a:r>
              <a:rPr lang="en-US" sz="1100" b="1" dirty="0">
                <a:solidFill>
                  <a:schemeClr val="accent5"/>
                </a:solidFill>
              </a:rPr>
              <a:t>MEDIAL INCISION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Land mark for the medial incision are center of </a:t>
            </a:r>
            <a:r>
              <a:rPr lang="en-US" sz="1100" dirty="0" err="1">
                <a:solidFill>
                  <a:schemeClr val="tx1"/>
                </a:solidFill>
              </a:rPr>
              <a:t>calcis</a:t>
            </a:r>
            <a:r>
              <a:rPr lang="en-US" sz="1100" dirty="0">
                <a:solidFill>
                  <a:schemeClr val="tx1"/>
                </a:solidFill>
              </a:rPr>
              <a:t> , front of medial malleolus &amp; base of 1 </a:t>
            </a:r>
            <a:r>
              <a:rPr lang="en-US" sz="1100" dirty="0" err="1">
                <a:solidFill>
                  <a:schemeClr val="tx1"/>
                </a:solidFill>
              </a:rPr>
              <a:t>st</a:t>
            </a:r>
            <a:r>
              <a:rPr lang="en-US" sz="1100" dirty="0">
                <a:solidFill>
                  <a:schemeClr val="tx1"/>
                </a:solidFill>
              </a:rPr>
              <a:t> metatarsal .these 3 points define a triangle. Incision is parallel with base of triangle but curved in plantar direction proximally &amp; over the dorsum of foot distally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Ligaments: long &amp; short palmar ligaments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Capsule: capsulotomy of talonavicular joint calcaneocuboid joint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Tendons: +/- FHL , FDL lengthening at master knot of henry, +/- abductor hallucis is freed at origin site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Wound closed, a/k slab applied in 70 degrees knee flexion ,foot in neutral position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Plantar fascia is released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Pod 14- S/R, casting with foot in max dorsiflexion and abduction, changed every 2 </a:t>
            </a:r>
            <a:r>
              <a:rPr lang="en-US" sz="1100" dirty="0" err="1">
                <a:solidFill>
                  <a:schemeClr val="tx1"/>
                </a:solidFill>
              </a:rPr>
              <a:t>wks</a:t>
            </a:r>
            <a:r>
              <a:rPr lang="en-US" sz="1100" dirty="0">
                <a:solidFill>
                  <a:schemeClr val="tx1"/>
                </a:solidFill>
              </a:rPr>
              <a:t> till 12 </a:t>
            </a:r>
            <a:r>
              <a:rPr lang="en-US" sz="1100" dirty="0" err="1">
                <a:solidFill>
                  <a:schemeClr val="tx1"/>
                </a:solidFill>
              </a:rPr>
              <a:t>wks</a:t>
            </a:r>
            <a:endParaRPr lang="en-US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1"/>
              </a:solidFill>
            </a:endParaRPr>
          </a:p>
          <a:p>
            <a:pPr algn="just"/>
            <a:r>
              <a:rPr lang="en-US" sz="1100" dirty="0">
                <a:solidFill>
                  <a:schemeClr val="accent5"/>
                </a:solidFill>
              </a:rPr>
              <a:t> </a:t>
            </a:r>
          </a:p>
          <a:p>
            <a:pPr algn="just"/>
            <a:r>
              <a:rPr lang="en-US" sz="1100" dirty="0">
                <a:solidFill>
                  <a:schemeClr val="accent5"/>
                </a:solidFill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609372" y="1477475"/>
            <a:ext cx="5582627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goal of treatment of club foot is to achieve painless, plantigrade ,pliable normal looking foot with good function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Turco procedure: long curved posteromedial incision leads to hypertrophic scar that itself acts as deforming force, producing residual deformity &amp; stiffness. Release of calcaneocuboid joint &amp; release of post lateral tether are difficult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Circumferential </a:t>
            </a:r>
            <a:r>
              <a:rPr lang="en-US" sz="1200" dirty="0" err="1">
                <a:solidFill>
                  <a:schemeClr val="tx1"/>
                </a:solidFill>
              </a:rPr>
              <a:t>cincinnati</a:t>
            </a:r>
            <a:r>
              <a:rPr lang="en-US" sz="1200" dirty="0">
                <a:solidFill>
                  <a:schemeClr val="tx1"/>
                </a:solidFill>
              </a:rPr>
              <a:t> incision does not allow a complete posterior release , heel flap vascularity is compromised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Carrolls approach provides good exposure of entire pathological anatomy without compromising wound healing, especially in severe cases , the </a:t>
            </a:r>
            <a:r>
              <a:rPr lang="en-US" sz="1200" dirty="0" err="1">
                <a:solidFill>
                  <a:schemeClr val="tx1"/>
                </a:solidFill>
              </a:rPr>
              <a:t>postero</a:t>
            </a:r>
            <a:r>
              <a:rPr lang="en-US" sz="1200" dirty="0">
                <a:solidFill>
                  <a:schemeClr val="tx1"/>
                </a:solidFill>
              </a:rPr>
              <a:t> lateral tether is the main causative factor for </a:t>
            </a:r>
            <a:r>
              <a:rPr lang="en-US" sz="1200" dirty="0" err="1">
                <a:solidFill>
                  <a:schemeClr val="tx1"/>
                </a:solidFill>
              </a:rPr>
              <a:t>equinus</a:t>
            </a:r>
            <a:r>
              <a:rPr lang="en-US" sz="1200" dirty="0">
                <a:solidFill>
                  <a:schemeClr val="tx1"/>
                </a:solidFill>
              </a:rPr>
              <a:t> deformity, </a:t>
            </a:r>
            <a:r>
              <a:rPr lang="en-US" sz="1200" dirty="0" err="1">
                <a:solidFill>
                  <a:schemeClr val="tx1"/>
                </a:solidFill>
              </a:rPr>
              <a:t>carrols</a:t>
            </a:r>
            <a:r>
              <a:rPr lang="en-US" sz="1200" dirty="0">
                <a:solidFill>
                  <a:schemeClr val="tx1"/>
                </a:solidFill>
              </a:rPr>
              <a:t> approach allows good access to the posterolateral tether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580500" y="5080536"/>
            <a:ext cx="5611500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>
                <a:solidFill>
                  <a:schemeClr val="tx1"/>
                </a:solidFill>
              </a:rPr>
              <a:t>We found that with these incisions there is lesser 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Soft tissue damage, with minimal scarring, better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Exposure for deformity correction , good skin 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closure that can decrease the risk of infection and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With excellent functional outcome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29223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48597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609374" y="1280157"/>
            <a:ext cx="55826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0" y="5005136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580500" y="4807817"/>
            <a:ext cx="5611497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D7D2390-3965-D70E-251F-6FB3AF3B6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304343"/>
              </p:ext>
            </p:extLst>
          </p:nvPr>
        </p:nvGraphicFramePr>
        <p:xfrm>
          <a:off x="10520863" y="5265444"/>
          <a:ext cx="1613223" cy="1400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41">
                  <a:extLst>
                    <a:ext uri="{9D8B030D-6E8A-4147-A177-3AD203B41FA5}">
                      <a16:colId xmlns:a16="http://schemas.microsoft.com/office/drawing/2014/main" val="2123236859"/>
                    </a:ext>
                  </a:extLst>
                </a:gridCol>
                <a:gridCol w="537741">
                  <a:extLst>
                    <a:ext uri="{9D8B030D-6E8A-4147-A177-3AD203B41FA5}">
                      <a16:colId xmlns:a16="http://schemas.microsoft.com/office/drawing/2014/main" val="1783766922"/>
                    </a:ext>
                  </a:extLst>
                </a:gridCol>
                <a:gridCol w="537741">
                  <a:extLst>
                    <a:ext uri="{9D8B030D-6E8A-4147-A177-3AD203B41FA5}">
                      <a16:colId xmlns:a16="http://schemas.microsoft.com/office/drawing/2014/main" val="382469386"/>
                    </a:ext>
                  </a:extLst>
                </a:gridCol>
              </a:tblGrid>
              <a:tr h="243231">
                <a:tc>
                  <a:txBody>
                    <a:bodyPr/>
                    <a:lstStyle/>
                    <a:p>
                      <a:r>
                        <a:rPr lang="en-IN" sz="800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231816"/>
                  </a:ext>
                </a:extLst>
              </a:tr>
              <a:tr h="243231">
                <a:tc>
                  <a:txBody>
                    <a:bodyPr/>
                    <a:lstStyle/>
                    <a:p>
                      <a:r>
                        <a:rPr lang="en-IN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Benign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&lt;5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793311"/>
                  </a:ext>
                </a:extLst>
              </a:tr>
              <a:tr h="254936">
                <a:tc>
                  <a:txBody>
                    <a:bodyPr/>
                    <a:lstStyle/>
                    <a:p>
                      <a:r>
                        <a:rPr lang="en-IN" sz="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5-10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97116"/>
                  </a:ext>
                </a:extLst>
              </a:tr>
              <a:tr h="243231">
                <a:tc>
                  <a:txBody>
                    <a:bodyPr/>
                    <a:lstStyle/>
                    <a:p>
                      <a:r>
                        <a:rPr lang="en-IN" sz="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severe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10-15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030541"/>
                  </a:ext>
                </a:extLst>
              </a:tr>
              <a:tr h="254936"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Very severe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15-20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42936"/>
                  </a:ext>
                </a:extLst>
              </a:tr>
            </a:tbl>
          </a:graphicData>
        </a:graphic>
      </p:graphicFrame>
      <p:pic>
        <p:nvPicPr>
          <p:cNvPr id="37" name="Picture 36">
            <a:extLst>
              <a:ext uri="{FF2B5EF4-FFF2-40B4-BE49-F238E27FC236}">
                <a16:creationId xmlns:a16="http://schemas.microsoft.com/office/drawing/2014/main" id="{F114BA61-28E1-6DBF-BA16-3B76BD0412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193" y="6127306"/>
            <a:ext cx="767524" cy="60840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665BB71-9197-AFE4-7DC4-399C321ED6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016" y="6155645"/>
            <a:ext cx="821463" cy="67493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73D5DAA-7630-BDB3-33BB-6E182BEA1A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074" y="5978106"/>
            <a:ext cx="771819" cy="82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532</Words>
  <Application>Microsoft Office PowerPoint</Application>
  <PresentationFormat>Widescreen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Gordita 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Virinchi Vinay</dc:creator>
  <cp:lastModifiedBy>varun samala</cp:lastModifiedBy>
  <cp:revision>12</cp:revision>
  <dcterms:created xsi:type="dcterms:W3CDTF">2026-01-11T06:24:43Z</dcterms:created>
  <dcterms:modified xsi:type="dcterms:W3CDTF">2026-02-13T05:02:32Z</dcterms:modified>
</cp:coreProperties>
</file>