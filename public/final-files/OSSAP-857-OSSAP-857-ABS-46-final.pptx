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1941922" y="27424"/>
            <a:ext cx="7747359" cy="369332"/>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Orthopedic Surgeon Society of Andhra Pradesh</a:t>
            </a:r>
          </a:p>
        </p:txBody>
      </p:sp>
      <p:sp>
        <p:nvSpPr>
          <p:cNvPr id="19" name="TextBox 18">
            <a:extLst>
              <a:ext uri="{FF2B5EF4-FFF2-40B4-BE49-F238E27FC236}">
                <a16:creationId xmlns:a16="http://schemas.microsoft.com/office/drawing/2014/main" id="{CF1F608A-7742-BF27-09EC-3BB7CA324D68}"/>
              </a:ext>
            </a:extLst>
          </p:cNvPr>
          <p:cNvSpPr txBox="1"/>
          <p:nvPr/>
        </p:nvSpPr>
        <p:spPr>
          <a:xfrm>
            <a:off x="1941922" y="289357"/>
            <a:ext cx="6966790" cy="276999"/>
          </a:xfrm>
          <a:prstGeom prst="rect">
            <a:avLst/>
          </a:prstGeom>
          <a:noFill/>
        </p:spPr>
        <p:txBody>
          <a:bodyPr wrap="square" rtlCol="0">
            <a:spAutoFit/>
          </a:bodyPr>
          <a:lstStyle/>
          <a:p>
            <a:r>
              <a:rPr lang="en-US" sz="1200" b="1" dirty="0">
                <a:solidFill>
                  <a:schemeClr val="bg1"/>
                </a:solidFill>
                <a:latin typeface="Gordita "/>
              </a:rPr>
              <a:t>Date 20 – 22 February,2026, Venue : Kurnool Medical College</a:t>
            </a:r>
          </a:p>
        </p:txBody>
      </p:sp>
      <p:sp>
        <p:nvSpPr>
          <p:cNvPr id="20" name="TextBox 19">
            <a:extLst>
              <a:ext uri="{FF2B5EF4-FFF2-40B4-BE49-F238E27FC236}">
                <a16:creationId xmlns:a16="http://schemas.microsoft.com/office/drawing/2014/main" id="{C0616687-624D-607B-6F85-335EE46873F1}"/>
              </a:ext>
            </a:extLst>
          </p:cNvPr>
          <p:cNvSpPr txBox="1"/>
          <p:nvPr/>
        </p:nvSpPr>
        <p:spPr>
          <a:xfrm>
            <a:off x="1941922" y="471578"/>
            <a:ext cx="7747359" cy="1107996"/>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a:p>
            <a:r>
              <a:rPr lang="en-IN" sz="1400" b="1" kern="100" dirty="0">
                <a:solidFill>
                  <a:schemeClr val="bg1"/>
                </a:solidFill>
                <a:latin typeface="Calibri" panose="020F0502020204030204" pitchFamily="34" charset="0"/>
                <a:ea typeface="Calibri" panose="020F0502020204030204" pitchFamily="34" charset="0"/>
                <a:cs typeface="Times New Roman" panose="02020603050405020304" pitchFamily="18" charset="0"/>
              </a:rPr>
              <a:t>CONSERVATIVE MANAGEMENT OF FEMUR SHAFT FRACTURE IN 4MONTH OLD INFANT WITH PAVLIK HARNESS SPLINT</a:t>
            </a:r>
          </a:p>
          <a:p>
            <a:r>
              <a:rPr lang="en-US" sz="1150" b="1" dirty="0">
                <a:solidFill>
                  <a:schemeClr val="bg1"/>
                </a:solidFill>
                <a:latin typeface="Calibri"/>
                <a:ea typeface="Calibri"/>
                <a:cs typeface="Calibri"/>
                <a:sym typeface="Calibri"/>
              </a:rPr>
              <a:t>DR.BALAGONI VIKRAM GOUD,JUNIOR RESIDENT,MIMS: DR.RAM KALYAN,HOD,MIMS</a:t>
            </a:r>
          </a:p>
          <a:p>
            <a:endParaRPr lang="en-US" sz="1200" b="1" dirty="0">
              <a:solidFill>
                <a:schemeClr val="bg1"/>
              </a:solidFill>
              <a:latin typeface="Gordita "/>
            </a:endParaRP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Arial" panose="020B0604020202020204" pitchFamily="34" charset="0"/>
                <a:cs typeface="Arial" panose="020B0604020202020204" pitchFamily="34" charset="0"/>
              </a:rPr>
              <a:t>Femoral shaft fractures in infants are uncommon and constitute about 0.7–1.7% of all </a:t>
            </a:r>
            <a:r>
              <a:rPr lang="en-US" sz="1400" dirty="0" err="1">
                <a:solidFill>
                  <a:schemeClr val="tx1"/>
                </a:solidFill>
                <a:latin typeface="Arial" panose="020B0604020202020204" pitchFamily="34" charset="0"/>
                <a:cs typeface="Arial" panose="020B0604020202020204" pitchFamily="34" charset="0"/>
              </a:rPr>
              <a:t>paediatric</a:t>
            </a:r>
            <a:r>
              <a:rPr lang="en-US" sz="1400" dirty="0">
                <a:solidFill>
                  <a:schemeClr val="tx1"/>
                </a:solidFill>
                <a:latin typeface="Arial" panose="020B0604020202020204" pitchFamily="34" charset="0"/>
                <a:cs typeface="Arial" panose="020B0604020202020204" pitchFamily="34" charset="0"/>
              </a:rPr>
              <a:t> fractures. Due to the excellent remodeling potential in this age group, conservative treatment is usually preferred to avoid surgical risks. Pavlik harness splinting is a well-established non-operative method for femoral fractures in children below six months. We present a case of a four-month-old infant with a mid-shaft femoral fracture managed successfully with conservative treatment.</a:t>
            </a:r>
          </a:p>
        </p:txBody>
      </p:sp>
      <p:sp>
        <p:nvSpPr>
          <p:cNvPr id="6" name="Rectangle 5">
            <a:extLst>
              <a:ext uri="{FF2B5EF4-FFF2-40B4-BE49-F238E27FC236}">
                <a16:creationId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solidFill>
                <a:schemeClr val="tx1"/>
              </a:solidFill>
              <a:latin typeface="Arial" panose="020B0604020202020204" pitchFamily="34" charset="0"/>
              <a:cs typeface="Arial" panose="020B0604020202020204" pitchFamily="34" charset="0"/>
            </a:endParaRPr>
          </a:p>
          <a:p>
            <a:endParaRPr lang="en-US" sz="1200" dirty="0">
              <a:solidFill>
                <a:schemeClr val="tx1"/>
              </a:solidFill>
              <a:latin typeface="Arial" panose="020B0604020202020204" pitchFamily="34" charset="0"/>
              <a:cs typeface="Arial" panose="020B0604020202020204" pitchFamily="34" charset="0"/>
            </a:endParaRPr>
          </a:p>
          <a:p>
            <a:r>
              <a:rPr lang="en-US" sz="1250" dirty="0">
                <a:solidFill>
                  <a:schemeClr val="tx1"/>
                </a:solidFill>
                <a:latin typeface="Arial" panose="020B0604020202020204" pitchFamily="34" charset="0"/>
                <a:cs typeface="Arial" panose="020B0604020202020204" pitchFamily="34" charset="0"/>
              </a:rPr>
              <a:t>A four-month-old infant presented with right thigh pain following trauma. Radiographs showed a closed mid-shaft femoral fracture. Traction failed, so a Pavlik harness was applied. Follow-up X-rays showed callus formation and alignment, with union at twelve weeks.</a:t>
            </a:r>
          </a:p>
          <a:p>
            <a:endParaRPr lang="en-US" sz="800" dirty="0">
              <a:solidFill>
                <a:schemeClr val="tx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a:p>
            <a:endParaRPr lang="en-US" dirty="0">
              <a:solidFill>
                <a:schemeClr val="tx1"/>
              </a:solidFill>
            </a:endParaRPr>
          </a:p>
          <a:p>
            <a:endParaRPr lang="en-US" dirty="0">
              <a:solidFill>
                <a:schemeClr val="tx1"/>
              </a:solidFill>
            </a:endParaRPr>
          </a:p>
          <a:p>
            <a:r>
              <a:rPr lang="en-US" sz="1600" dirty="0">
                <a:solidFill>
                  <a:schemeClr val="tx1"/>
                </a:solidFill>
              </a:rPr>
              <a:t>Under fluoroscopic guidance,</a:t>
            </a:r>
          </a:p>
          <a:p>
            <a:r>
              <a:rPr lang="en-US" sz="1600" dirty="0">
                <a:solidFill>
                  <a:schemeClr val="tx1"/>
                </a:solidFill>
              </a:rPr>
              <a:t>satisfactory alignment was achieved using a Pavlik harness splint after failure of traction</a:t>
            </a:r>
            <a:r>
              <a:rPr lang="en-US" dirty="0">
                <a:solidFill>
                  <a:schemeClr val="tx1"/>
                </a:solidFill>
              </a:rPr>
              <a:t>.</a:t>
            </a:r>
          </a:p>
          <a:p>
            <a:endParaRPr lang="en-US" dirty="0">
              <a:solidFill>
                <a:schemeClr val="tx1"/>
              </a:solidFill>
            </a:endParaRPr>
          </a:p>
          <a:p>
            <a:endParaRPr lang="en-US" dirty="0">
              <a:solidFill>
                <a:schemeClr val="tx1"/>
              </a:solidFill>
            </a:endParaRPr>
          </a:p>
          <a:p>
            <a:endParaRPr lang="en-US" dirty="0">
              <a:solidFill>
                <a:schemeClr val="tx1"/>
              </a:solidFill>
            </a:endParaRPr>
          </a:p>
          <a:p>
            <a:r>
              <a:rPr lang="en-US" dirty="0">
                <a:solidFill>
                  <a:schemeClr val="tx1"/>
                </a:solidFill>
              </a:rPr>
              <a:t> </a:t>
            </a:r>
          </a:p>
          <a:p>
            <a:endParaRPr lang="en-US"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r>
              <a:rPr lang="en-US" sz="1600" dirty="0">
                <a:solidFill>
                  <a:schemeClr val="tx1"/>
                </a:solidFill>
              </a:rPr>
              <a:t>No surgery was required; serial X-rays showed callus formation with maintained alignment. The splint was removed at six weeks, with union at twelve weeks.</a:t>
            </a:r>
          </a:p>
          <a:p>
            <a:endParaRPr lang="en-US" dirty="0">
              <a:solidFill>
                <a:schemeClr val="tx1"/>
              </a:solidFill>
            </a:endParaRPr>
          </a:p>
          <a:p>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dirty="0">
              <a:solidFill>
                <a:schemeClr val="tx1"/>
              </a:solidFill>
              <a:latin typeface="Arial" panose="020B0604020202020204" pitchFamily="34" charset="0"/>
              <a:cs typeface="Arial" panose="020B0604020202020204" pitchFamily="34" charset="0"/>
            </a:endParaRPr>
          </a:p>
          <a:p>
            <a:r>
              <a:rPr lang="en-US" sz="1600" dirty="0">
                <a:solidFill>
                  <a:schemeClr val="tx1"/>
                </a:solidFill>
                <a:latin typeface="Arial" panose="020B0604020202020204" pitchFamily="34" charset="0"/>
                <a:cs typeface="Arial" panose="020B0604020202020204" pitchFamily="34" charset="0"/>
              </a:rPr>
              <a:t>Management of femoral shaft fractures in infants favors conservative methods </a:t>
            </a:r>
          </a:p>
          <a:p>
            <a:r>
              <a:rPr lang="en-US" sz="1600" dirty="0">
                <a:solidFill>
                  <a:schemeClr val="tx1"/>
                </a:solidFill>
                <a:latin typeface="Arial" panose="020B0604020202020204" pitchFamily="34" charset="0"/>
                <a:cs typeface="Arial" panose="020B0604020202020204" pitchFamily="34" charset="0"/>
              </a:rPr>
              <a:t>because of rapid bone </a:t>
            </a:r>
          </a:p>
          <a:p>
            <a:r>
              <a:rPr lang="en-US" sz="1600" dirty="0">
                <a:solidFill>
                  <a:schemeClr val="tx1"/>
                </a:solidFill>
                <a:latin typeface="Arial" panose="020B0604020202020204" pitchFamily="34" charset="0"/>
                <a:cs typeface="Arial" panose="020B0604020202020204" pitchFamily="34" charset="0"/>
              </a:rPr>
              <a:t>healing and excellent </a:t>
            </a:r>
          </a:p>
          <a:p>
            <a:r>
              <a:rPr lang="en-US" sz="1600" dirty="0">
                <a:solidFill>
                  <a:schemeClr val="tx1"/>
                </a:solidFill>
                <a:latin typeface="Arial" panose="020B0604020202020204" pitchFamily="34" charset="0"/>
                <a:cs typeface="Arial" panose="020B0604020202020204" pitchFamily="34" charset="0"/>
              </a:rPr>
              <a:t>remodeling capacity. </a:t>
            </a:r>
          </a:p>
          <a:p>
            <a:r>
              <a:rPr lang="en-US" sz="1600" dirty="0">
                <a:solidFill>
                  <a:schemeClr val="tx1"/>
                </a:solidFill>
                <a:latin typeface="Arial" panose="020B0604020202020204" pitchFamily="34" charset="0"/>
                <a:cs typeface="Arial" panose="020B0604020202020204" pitchFamily="34" charset="0"/>
              </a:rPr>
              <a:t>Pavlik harness splinting </a:t>
            </a:r>
          </a:p>
          <a:p>
            <a:r>
              <a:rPr lang="en-US" sz="1600" dirty="0">
                <a:solidFill>
                  <a:schemeClr val="tx1"/>
                </a:solidFill>
                <a:latin typeface="Arial" panose="020B0604020202020204" pitchFamily="34" charset="0"/>
                <a:cs typeface="Arial" panose="020B0604020202020204" pitchFamily="34" charset="0"/>
              </a:rPr>
              <a:t>offers stable immobilization </a:t>
            </a:r>
          </a:p>
          <a:p>
            <a:r>
              <a:rPr lang="en-US" sz="1600" dirty="0">
                <a:solidFill>
                  <a:schemeClr val="tx1"/>
                </a:solidFill>
                <a:latin typeface="Arial" panose="020B0604020202020204" pitchFamily="34" charset="0"/>
                <a:cs typeface="Arial" panose="020B0604020202020204" pitchFamily="34" charset="0"/>
              </a:rPr>
              <a:t>while allowing comfort and ease of nursing care. Previous studies have shown high union rates with minimal complications in children under six months. This case further supports Pavlik harness splinting as a reliable alternative to surgical fixation in appropriately selected infants.</a:t>
            </a:r>
          </a:p>
        </p:txBody>
      </p:sp>
      <p:sp>
        <p:nvSpPr>
          <p:cNvPr id="9" name="Rectangle 8">
            <a:extLst>
              <a:ext uri="{FF2B5EF4-FFF2-40B4-BE49-F238E27FC236}">
                <a16:creationId xmlns:a16="http://schemas.microsoft.com/office/drawing/2014/main" id="{0EFC2BB9-1938-0DF3-F424-CAC28C6D9880}"/>
              </a:ext>
            </a:extLst>
          </p:cNvPr>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Conservative management with Pavlik harness splinting is an effective and safe option for femoral shaft fractures in infants. It provides satisfactory fracture alignment, promotes timely union, and avoids operative risks. Early diagnosis, proper application, and close radiological follow-up are essential for optimal outcomes.</a:t>
            </a: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MANAGEMENT</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pic>
        <p:nvPicPr>
          <p:cNvPr id="2" name="Picture 1">
            <a:extLst>
              <a:ext uri="{FF2B5EF4-FFF2-40B4-BE49-F238E27FC236}">
                <a16:creationId xmlns:a16="http://schemas.microsoft.com/office/drawing/2014/main" id="{1CAD6158-DC47-C9C4-955B-555BD89E5619}"/>
              </a:ext>
            </a:extLst>
          </p:cNvPr>
          <p:cNvPicPr>
            <a:picLocks noChangeAspect="1"/>
          </p:cNvPicPr>
          <p:nvPr/>
        </p:nvPicPr>
        <p:blipFill>
          <a:blip r:embed="rId6"/>
          <a:stretch>
            <a:fillRect/>
          </a:stretch>
        </p:blipFill>
        <p:spPr>
          <a:xfrm>
            <a:off x="3341809" y="3984191"/>
            <a:ext cx="2778015" cy="1415582"/>
          </a:xfrm>
          <a:prstGeom prst="rect">
            <a:avLst/>
          </a:prstGeom>
        </p:spPr>
      </p:pic>
      <p:pic>
        <p:nvPicPr>
          <p:cNvPr id="24" name="Picture 23">
            <a:extLst>
              <a:ext uri="{FF2B5EF4-FFF2-40B4-BE49-F238E27FC236}">
                <a16:creationId xmlns:a16="http://schemas.microsoft.com/office/drawing/2014/main" id="{23DC6485-43D9-373C-9969-F6D51AFDDA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41809" y="2785935"/>
            <a:ext cx="2778015" cy="11640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Picture 25">
            <a:extLst>
              <a:ext uri="{FF2B5EF4-FFF2-40B4-BE49-F238E27FC236}">
                <a16:creationId xmlns:a16="http://schemas.microsoft.com/office/drawing/2014/main" id="{3866A9B8-19DF-46A1-832B-BD799581FA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66928" y="2126627"/>
            <a:ext cx="3272890" cy="1184990"/>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357</Words>
  <Application>Microsoft Office PowerPoint</Application>
  <PresentationFormat>Widescreen</PresentationFormat>
  <Paragraphs>39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vikram goud</cp:lastModifiedBy>
  <cp:revision>8</cp:revision>
  <dcterms:created xsi:type="dcterms:W3CDTF">2026-01-11T06:24:43Z</dcterms:created>
  <dcterms:modified xsi:type="dcterms:W3CDTF">2026-02-10T05:40:45Z</dcterms:modified>
</cp:coreProperties>
</file>