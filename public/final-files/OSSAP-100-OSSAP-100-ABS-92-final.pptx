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 b="def" i="def"/>
      <a:tcStyle>
        <a:tcBdr/>
        <a:fill>
          <a:solidFill>
            <a:srgbClr val="E9EFF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B9BD5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B9BD5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B9BD5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5" name="Shape 4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20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36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/>
          <a:lstStyle/>
          <a:p>
            <a:pPr/>
          </a:p>
        </p:txBody>
      </p:sp>
      <p:sp>
        <p:nvSpPr>
          <p:cNvPr id="37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-1"/>
            <a:ext cx="12192000" cy="1280158"/>
          </a:xfrm>
          <a:prstGeom prst="rect">
            <a:avLst/>
          </a:prstGeom>
          <a:solidFill>
            <a:srgbClr val="01234D"/>
          </a:solidFill>
          <a:ln w="19050">
            <a:solidFill>
              <a:srgbClr val="525755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" name="Picture 14" descr="Picture 1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06884" y="74822"/>
            <a:ext cx="1043155" cy="104315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47316" y="123389"/>
            <a:ext cx="884048" cy="8840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16" descr="Picture 1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127892" y="192303"/>
            <a:ext cx="785941" cy="785941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xtBox 17"/>
          <p:cNvSpPr txBox="1"/>
          <p:nvPr/>
        </p:nvSpPr>
        <p:spPr>
          <a:xfrm>
            <a:off x="2620968" y="27424"/>
            <a:ext cx="5906909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pPr>
            <a:r>
              <a:t>55</a:t>
            </a:r>
            <a:r>
              <a:rPr baseline="30000"/>
              <a:t>th</a:t>
            </a:r>
            <a:r>
              <a:t>   Annual Conference of </a:t>
            </a:r>
          </a:p>
          <a:p>
            <a:pPr>
              <a:defRPr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pPr>
            <a:r>
              <a:t>Orthopedic Surgeon Society of Andhra Pradesh</a:t>
            </a:r>
          </a:p>
        </p:txBody>
      </p:sp>
      <p:sp>
        <p:nvSpPr>
          <p:cNvPr id="7" name="TextBox 18"/>
          <p:cNvSpPr txBox="1"/>
          <p:nvPr/>
        </p:nvSpPr>
        <p:spPr>
          <a:xfrm>
            <a:off x="2646937" y="653897"/>
            <a:ext cx="6216055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lvl1pPr>
          </a:lstStyle>
          <a:p>
            <a:pPr/>
            <a:r>
              <a:t>Dates 20,21&amp;22 February,2026     Venue : Kurnool Medical College</a:t>
            </a:r>
          </a:p>
        </p:txBody>
      </p:sp>
      <p:sp>
        <p:nvSpPr>
          <p:cNvPr id="8" name="TextBox 19"/>
          <p:cNvSpPr txBox="1"/>
          <p:nvPr/>
        </p:nvSpPr>
        <p:spPr>
          <a:xfrm>
            <a:off x="2620969" y="913339"/>
            <a:ext cx="702259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lvl1pPr>
          </a:lstStyle>
          <a:p>
            <a:pPr/>
            <a:r>
              <a:t>Organized by : Department of Orthopaedics, Kurnool Medical College Kurnool</a:t>
            </a:r>
          </a:p>
        </p:txBody>
      </p:sp>
      <p:sp>
        <p:nvSpPr>
          <p:cNvPr id="9" name="Freeform 13"/>
          <p:cNvSpPr/>
          <p:nvPr/>
        </p:nvSpPr>
        <p:spPr>
          <a:xfrm>
            <a:off x="560813" y="14254"/>
            <a:ext cx="1505562" cy="1280159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11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Slide Number"/>
          <p:cNvSpPr txBox="1"/>
          <p:nvPr>
            <p:ph type="sldNum" sz="quarter" idx="2"/>
          </p:nvPr>
        </p:nvSpPr>
        <p:spPr>
          <a:xfrm>
            <a:off x="8610600" y="6356350"/>
            <a:ext cx="358413" cy="37084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6"/>
    <p:sldLayoutId id="2147483650" r:id="rId7"/>
    <p:sldLayoutId id="2147483651" r:id="rId8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eg"/><Relationship Id="rId7" Type="http://schemas.openxmlformats.org/officeDocument/2006/relationships/image" Target="../media/image6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194307;p1"/>
          <p:cNvSpPr txBox="1"/>
          <p:nvPr/>
        </p:nvSpPr>
        <p:spPr>
          <a:xfrm>
            <a:off x="992098" y="1730880"/>
            <a:ext cx="9754550" cy="1298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b="1" sz="2800">
                <a:solidFill>
                  <a:srgbClr val="800000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t> A COMPARATIVE PROSPECTIVE STUDY OF PROXIMAL FEMORAL</a:t>
            </a:r>
            <a:r>
              <a:rPr b="0"/>
              <a:t> </a:t>
            </a:r>
            <a:r>
              <a:t>NAIL AND DYNAMIC HIP SCREW IN THE TREATMENT OF</a:t>
            </a:r>
            <a:r>
              <a:rPr b="0"/>
              <a:t> </a:t>
            </a:r>
            <a:r>
              <a:t>INTERTROCHANCTERIC FRACTURE </a:t>
            </a:r>
          </a:p>
        </p:txBody>
      </p:sp>
      <p:sp>
        <p:nvSpPr>
          <p:cNvPr id="48" name="Google Shape;4194308;p1"/>
          <p:cNvSpPr txBox="1"/>
          <p:nvPr/>
        </p:nvSpPr>
        <p:spPr>
          <a:xfrm>
            <a:off x="568298" y="3313174"/>
            <a:ext cx="2595350" cy="437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lnSpc>
                <a:spcPct val="150000"/>
              </a:lnSpc>
              <a:defRPr b="1" sz="2400" u="sng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PRESENTER :</a:t>
            </a:r>
          </a:p>
        </p:txBody>
      </p:sp>
      <p:sp>
        <p:nvSpPr>
          <p:cNvPr id="49" name="Google Shape;4194309;p1"/>
          <p:cNvSpPr txBox="1"/>
          <p:nvPr/>
        </p:nvSpPr>
        <p:spPr>
          <a:xfrm>
            <a:off x="6285927" y="3362325"/>
            <a:ext cx="6475851" cy="1014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lnSpc>
                <a:spcPct val="150000"/>
              </a:lnSpc>
              <a:defRPr b="1" sz="2400" u="sng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GUIDE:</a:t>
            </a:r>
            <a:endParaRPr sz="2800"/>
          </a:p>
        </p:txBody>
      </p:sp>
      <p:sp>
        <p:nvSpPr>
          <p:cNvPr id="50" name="Google Shape;4194310;p1"/>
          <p:cNvSpPr txBox="1"/>
          <p:nvPr/>
        </p:nvSpPr>
        <p:spPr>
          <a:xfrm>
            <a:off x="798164" y="3950627"/>
            <a:ext cx="5673652" cy="2117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lnSpc>
                <a:spcPct val="150000"/>
              </a:lnSpc>
              <a:defRPr sz="2400"/>
            </a:pPr>
            <a:r>
              <a:t>DR SAINATH P</a:t>
            </a:r>
            <a:endParaRPr sz="2800"/>
          </a:p>
          <a:p>
            <a:pPr>
              <a:lnSpc>
                <a:spcPct val="150000"/>
              </a:lnSpc>
              <a:defRPr sz="2400"/>
            </a:pPr>
            <a:r>
              <a:t>POST GRADUATE ,</a:t>
            </a:r>
            <a:endParaRPr sz="2800"/>
          </a:p>
          <a:p>
            <a:pPr>
              <a:lnSpc>
                <a:spcPct val="150000"/>
              </a:lnSpc>
              <a:defRPr sz="2400"/>
            </a:pPr>
            <a:r>
              <a:t>DEPARTMENT OF  ORTHOPAEDICS,</a:t>
            </a:r>
            <a:endParaRPr sz="2800"/>
          </a:p>
          <a:p>
            <a:pPr>
              <a:defRPr sz="2400"/>
            </a:pPr>
            <a:r>
              <a:t>DR. PSIMS &amp; RF.</a:t>
            </a:r>
          </a:p>
        </p:txBody>
      </p:sp>
      <p:sp>
        <p:nvSpPr>
          <p:cNvPr id="51" name="Google Shape;4194311;p1"/>
          <p:cNvSpPr txBox="1"/>
          <p:nvPr/>
        </p:nvSpPr>
        <p:spPr>
          <a:xfrm>
            <a:off x="6731451" y="3836668"/>
            <a:ext cx="5068251" cy="2550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lnSpc>
                <a:spcPct val="150000"/>
              </a:lnSpc>
              <a:defRPr sz="2400">
                <a:latin typeface="+mn-lt"/>
                <a:ea typeface="+mn-ea"/>
                <a:cs typeface="+mn-cs"/>
                <a:sym typeface="Arial"/>
              </a:defRPr>
            </a:pPr>
            <a:r>
              <a:t>DR. A SANDEEP</a:t>
            </a:r>
            <a:endParaRPr sz="2000"/>
          </a:p>
          <a:p>
            <a:pPr>
              <a:lnSpc>
                <a:spcPct val="150000"/>
              </a:lnSpc>
              <a:defRPr sz="2400">
                <a:latin typeface="+mn-lt"/>
                <a:ea typeface="+mn-ea"/>
                <a:cs typeface="+mn-cs"/>
                <a:sym typeface="Arial"/>
              </a:defRPr>
            </a:pPr>
            <a:r>
              <a:t>ASSOCIATE PROFESSOR, DEPARTMENT OF ORTHOPAEDICS,</a:t>
            </a:r>
            <a:endParaRPr sz="2000"/>
          </a:p>
          <a:p>
            <a:pPr>
              <a:lnSpc>
                <a:spcPct val="150000"/>
              </a:lnSpc>
              <a:defRPr sz="2400">
                <a:latin typeface="+mn-lt"/>
                <a:ea typeface="+mn-ea"/>
                <a:cs typeface="+mn-cs"/>
                <a:sym typeface="Arial"/>
              </a:defRPr>
            </a:pPr>
            <a:r>
              <a:t>DR.PSIMS &amp; RF.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4194313;p2"/>
          <p:cNvSpPr txBox="1"/>
          <p:nvPr>
            <p:ph type="body" idx="1"/>
          </p:nvPr>
        </p:nvSpPr>
        <p:spPr>
          <a:xfrm>
            <a:off x="173550" y="1730822"/>
            <a:ext cx="11480977" cy="4839559"/>
          </a:xfrm>
          <a:prstGeom prst="rect">
            <a:avLst/>
          </a:prstGeom>
        </p:spPr>
        <p:txBody>
          <a:bodyPr lIns="45699" tIns="45699" rIns="45699" bIns="45699"/>
          <a:lstStyle/>
          <a:p>
            <a:pPr defTabSz="868680">
              <a:spcBef>
                <a:spcPts val="0"/>
              </a:spcBef>
              <a:defRPr sz="1520"/>
            </a:pPr>
            <a:endParaRPr sz="1900"/>
          </a:p>
          <a:p>
            <a:pPr marL="325754" indent="-325754" defTabSz="868680">
              <a:spcBef>
                <a:spcPts val="900"/>
              </a:spcBef>
              <a:buClr>
                <a:srgbClr val="000000"/>
              </a:buClr>
              <a:buSzPts val="1800"/>
              <a:buFont typeface="Arial"/>
              <a:buChar char="•"/>
              <a:defRPr sz="1900"/>
            </a:pPr>
            <a:r>
              <a:t>Intertrochanteric hip fractures are common in elderly (&gt;60 years), especially osteoporotic women, and usually result from low-energy trauma such as trivial falls</a:t>
            </a:r>
          </a:p>
          <a:p>
            <a:pPr marL="325754" indent="-325754" defTabSz="868680">
              <a:spcBef>
                <a:spcPts val="900"/>
              </a:spcBef>
              <a:buClr>
                <a:srgbClr val="000000"/>
              </a:buClr>
              <a:buSzPts val="1800"/>
              <a:buFont typeface="Arial"/>
              <a:buChar char="•"/>
              <a:defRPr sz="1900"/>
            </a:pPr>
            <a:r>
              <a:t>Though occurring in well-vascularized cancellous bone, these fractures carry high morbidity and mortality due to complications of malunion, prolonged immobility, and systemic issues; ~30% mortality within one year is reported</a:t>
            </a:r>
          </a:p>
          <a:p>
            <a:pPr marL="325754" indent="-325754" defTabSz="868680">
              <a:spcBef>
                <a:spcPts val="900"/>
              </a:spcBef>
              <a:buClr>
                <a:srgbClr val="000000"/>
              </a:buClr>
              <a:buSzPts val="1800"/>
              <a:buFont typeface="Arial"/>
              <a:buChar char="•"/>
              <a:defRPr sz="1900"/>
            </a:pPr>
            <a:r>
              <a:t>Poor reduction or fixation leads to varus collapse with external rotation, causing limb shortening, abnormal gait, delayed mobilization, and increased risk of cardiopulmonary and vascular complications.</a:t>
            </a:r>
          </a:p>
          <a:p>
            <a:pPr marL="325754" indent="-325754" defTabSz="868680">
              <a:spcBef>
                <a:spcPts val="900"/>
              </a:spcBef>
              <a:buClr>
                <a:srgbClr val="000000"/>
              </a:buClr>
              <a:buSzPts val="1800"/>
              <a:buFont typeface="Arial"/>
              <a:buChar char="•"/>
              <a:defRPr sz="1900"/>
            </a:pPr>
            <a:r>
              <a:t>Stability depends on bone quality (osteoporosis), degree of comminution, and external factors such as quality of reduction, surgical technique, and implant choice.</a:t>
            </a:r>
          </a:p>
          <a:p>
            <a:pPr marL="325754" indent="-325754" defTabSz="868680">
              <a:spcBef>
                <a:spcPts val="900"/>
              </a:spcBef>
              <a:buClr>
                <a:srgbClr val="000000"/>
              </a:buClr>
              <a:buSzPts val="1800"/>
              <a:buFont typeface="Arial"/>
              <a:buChar char="•"/>
              <a:defRPr sz="1900"/>
            </a:pPr>
            <a:r>
              <a:t>DHS allows controlled collapse but has higher risk of mechanical failure in unstable or comminuted fractures. So,DHS preferred only in  Stable inter trochanteric fractures </a:t>
            </a:r>
          </a:p>
          <a:p>
            <a:pPr marL="325754" indent="-325754" defTabSz="868680">
              <a:spcBef>
                <a:spcPts val="900"/>
              </a:spcBef>
              <a:buClr>
                <a:srgbClr val="000000"/>
              </a:buClr>
              <a:buSzPts val="1800"/>
              <a:buFont typeface="Arial"/>
              <a:buChar char="•"/>
              <a:defRPr sz="1900"/>
            </a:pPr>
            <a:r>
              <a:t>PFN, being intramedullary, aligns with the mechanical axis, offers better stability, less blood loss, shorter surgery, earlier mobilization, and better limb length preservation.So,PFN done for Unstable inter trochanteric fractures</a:t>
            </a:r>
          </a:p>
        </p:txBody>
      </p:sp>
      <p:sp>
        <p:nvSpPr>
          <p:cNvPr id="54" name="Google Shape;4194314;p2"/>
          <p:cNvSpPr txBox="1"/>
          <p:nvPr/>
        </p:nvSpPr>
        <p:spPr>
          <a:xfrm>
            <a:off x="394320" y="1298057"/>
            <a:ext cx="3908452" cy="609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b="1" sz="3600" u="sng">
                <a:solidFill>
                  <a:schemeClr val="accent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Introduction:-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4194316;p3"/>
          <p:cNvSpPr txBox="1"/>
          <p:nvPr/>
        </p:nvSpPr>
        <p:spPr>
          <a:xfrm>
            <a:off x="703396" y="1374594"/>
            <a:ext cx="4480551" cy="52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b="1" sz="2800" u="sng">
                <a:solidFill>
                  <a:schemeClr val="accent2"/>
                </a:solidFill>
              </a:defRPr>
            </a:pPr>
            <a:r>
              <a:t>AIM OF STUDY</a:t>
            </a:r>
            <a:r>
              <a:rPr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57" name="Google Shape;4194317;p3"/>
          <p:cNvSpPr txBox="1"/>
          <p:nvPr/>
        </p:nvSpPr>
        <p:spPr>
          <a:xfrm>
            <a:off x="713483" y="2270759"/>
            <a:ext cx="9835251" cy="119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marL="342900" indent="-342900">
              <a:buClr>
                <a:srgbClr val="000000"/>
              </a:buClr>
              <a:buSzPts val="2400"/>
              <a:buChar char="•"/>
              <a:defRPr sz="2400"/>
            </a:lvl1pPr>
          </a:lstStyle>
          <a:p>
            <a:pPr/>
            <a:r>
              <a:t>To compare functional outcomes of intertrochonteric femoral fracture treatment using Proximal femoral nail(PFN) vs Dynamic Hip screw (DHS)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4194319;p4"/>
          <p:cNvSpPr txBox="1"/>
          <p:nvPr/>
        </p:nvSpPr>
        <p:spPr>
          <a:xfrm>
            <a:off x="538089" y="2006473"/>
            <a:ext cx="10334771" cy="4686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marL="342900" indent="-342900">
              <a:lnSpc>
                <a:spcPct val="80000"/>
              </a:lnSpc>
              <a:buClr>
                <a:srgbClr val="000000"/>
              </a:buClr>
              <a:buSzPts val="2100"/>
              <a:buChar char="•"/>
              <a:defRPr sz="2100"/>
            </a:pPr>
            <a:r>
              <a:t>Prospective study (Jan 2025 –Jan 2026)</a:t>
            </a:r>
          </a:p>
          <a:p>
            <a:pPr marL="342900" indent="-34290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SzPts val="2100"/>
              <a:buChar char="•"/>
              <a:defRPr sz="2100"/>
            </a:pPr>
            <a:r>
              <a:t>30 adult patients with inter trochanteric fractures</a:t>
            </a:r>
          </a:p>
          <a:p>
            <a:pPr marL="342900" indent="-34290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SzPts val="2100"/>
              <a:buChar char="•"/>
              <a:defRPr sz="2100"/>
            </a:pPr>
            <a:r>
              <a:t>Treated with Proximal femoral nail(PFN) &amp; Dynamic Hip screw (DHS)</a:t>
            </a:r>
          </a:p>
          <a:p>
            <a:pPr marL="342900" indent="-34290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SzPts val="2100"/>
              <a:buChar char="•"/>
              <a:defRPr sz="2100"/>
            </a:pPr>
            <a:r>
              <a:t>Functional outcome compared based on Morbidity score,Time of fracture union &amp; Range of movements </a:t>
            </a:r>
          </a:p>
          <a:p>
            <a:pPr marL="342900" indent="-34290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SzPts val="2100"/>
              <a:buChar char="•"/>
              <a:defRPr sz="2100"/>
            </a:pPr>
          </a:p>
          <a:p>
            <a:pPr>
              <a:lnSpc>
                <a:spcPct val="80000"/>
              </a:lnSpc>
              <a:spcBef>
                <a:spcPts val="400"/>
              </a:spcBef>
              <a:defRPr b="1" sz="2300"/>
            </a:pPr>
            <a:r>
              <a:t>Inclusion Criteria:</a:t>
            </a:r>
            <a:endParaRPr sz="2100"/>
          </a:p>
          <a:p>
            <a:pPr marL="342900" indent="-34290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SzPts val="2100"/>
              <a:buChar char="•"/>
              <a:defRPr sz="2100"/>
            </a:pPr>
            <a:r>
              <a:t>Adults 40 years or older </a:t>
            </a:r>
          </a:p>
          <a:p>
            <a:pPr marL="342900" indent="-34290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SzPts val="2100"/>
              <a:buChar char="•"/>
              <a:defRPr sz="2100"/>
            </a:pPr>
            <a:r>
              <a:t>Fresh traumatic inter trochonteric fractures</a:t>
            </a:r>
          </a:p>
          <a:p>
            <a:pPr marL="342900" indent="-34290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SzPts val="2100"/>
              <a:buChar char="•"/>
              <a:defRPr sz="2100"/>
            </a:pPr>
            <a:r>
              <a:t>Patients who were able to walk independently before injury </a:t>
            </a:r>
          </a:p>
          <a:p>
            <a:pPr marL="209550" indent="-76200">
              <a:lnSpc>
                <a:spcPct val="80000"/>
              </a:lnSpc>
              <a:spcBef>
                <a:spcPts val="400"/>
              </a:spcBef>
            </a:pPr>
            <a:endParaRPr sz="2100"/>
          </a:p>
          <a:p>
            <a:pPr>
              <a:lnSpc>
                <a:spcPct val="80000"/>
              </a:lnSpc>
              <a:spcBef>
                <a:spcPts val="400"/>
              </a:spcBef>
              <a:defRPr b="1" sz="2300"/>
            </a:pPr>
            <a:r>
              <a:t>Exclusion Criteria:</a:t>
            </a:r>
          </a:p>
          <a:p>
            <a:pPr marL="342900" indent="-34290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SzPts val="2100"/>
              <a:buChar char="•"/>
              <a:defRPr sz="2100"/>
            </a:pPr>
            <a:r>
              <a:t>Age &lt;40 years</a:t>
            </a:r>
          </a:p>
          <a:p>
            <a:pPr marL="342900" indent="-34290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SzPts val="2100"/>
              <a:buChar char="•"/>
              <a:defRPr sz="2100"/>
            </a:pPr>
            <a:r>
              <a:t>Pathological fractures due to tumors,metabolic bone diseases or infections </a:t>
            </a:r>
          </a:p>
          <a:p>
            <a:pPr marL="342900" indent="-34290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SzPts val="2100"/>
              <a:buChar char="•"/>
              <a:defRPr sz="2100"/>
            </a:pPr>
            <a:r>
              <a:t>Medically unfit for surgery with Severe Comorbidites</a:t>
            </a:r>
          </a:p>
        </p:txBody>
      </p:sp>
      <p:sp>
        <p:nvSpPr>
          <p:cNvPr id="60" name="Google Shape;4194320;p4"/>
          <p:cNvSpPr txBox="1"/>
          <p:nvPr/>
        </p:nvSpPr>
        <p:spPr>
          <a:xfrm>
            <a:off x="1636399" y="1225887"/>
            <a:ext cx="8138151" cy="76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b="1" sz="4400" u="sng">
                <a:solidFill>
                  <a:schemeClr val="accent2"/>
                </a:solidFill>
              </a:defRPr>
            </a:lvl1pPr>
          </a:lstStyle>
          <a:p>
            <a:pPr/>
            <a:r>
              <a:t>Methodology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4194324;p5"/>
          <p:cNvSpPr txBox="1"/>
          <p:nvPr/>
        </p:nvSpPr>
        <p:spPr>
          <a:xfrm>
            <a:off x="176268" y="1233209"/>
            <a:ext cx="3908452" cy="548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b="1" sz="3200" u="sng">
                <a:solidFill>
                  <a:schemeClr val="accent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Results</a:t>
            </a:r>
          </a:p>
        </p:txBody>
      </p:sp>
      <p:pic>
        <p:nvPicPr>
          <p:cNvPr id="63" name="age_distribution_pie.png" descr="age_distribution_p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295783" y="3942614"/>
            <a:ext cx="3559234" cy="283037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functional_outcome_bar.png" descr="functional_outcome_bar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7012711" y="3902878"/>
            <a:ext cx="3735559" cy="2881338"/>
          </a:xfrm>
          <a:prstGeom prst="rect">
            <a:avLst/>
          </a:prstGeom>
          <a:ln w="12700">
            <a:miter lim="400000"/>
          </a:ln>
        </p:spPr>
      </p:pic>
      <p:sp>
        <p:nvSpPr>
          <p:cNvPr id="65" name="Google Shape;4194324;p5"/>
          <p:cNvSpPr txBox="1"/>
          <p:nvPr/>
        </p:nvSpPr>
        <p:spPr>
          <a:xfrm>
            <a:off x="8184340" y="4134466"/>
            <a:ext cx="2688242" cy="231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00"/>
            </a:lvl1pPr>
          </a:lstStyle>
          <a:p>
            <a:pPr/>
            <a:r>
              <a:t>(Among Unstable fractures)</a:t>
            </a:r>
          </a:p>
        </p:txBody>
      </p:sp>
      <p:pic>
        <p:nvPicPr>
          <p:cNvPr id="66" name="Fracture_Type_Bar_Graph.png" descr="Fracture_Type_Bar_Graph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112441" y="1378107"/>
            <a:ext cx="3127190" cy="2560833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Google Shape;4194324;p5"/>
          <p:cNvSpPr txBox="1"/>
          <p:nvPr/>
        </p:nvSpPr>
        <p:spPr>
          <a:xfrm>
            <a:off x="10357785" y="1630413"/>
            <a:ext cx="2063109" cy="85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sz="1000"/>
            </a:pPr>
            <a:r>
              <a:t>JENSEN  MODIFICATION OF EVANS CLASSIFICATION </a:t>
            </a:r>
          </a:p>
          <a:p>
            <a:pPr>
              <a:defRPr sz="1000"/>
            </a:pPr>
          </a:p>
          <a:p>
            <a:pPr>
              <a:defRPr sz="1000"/>
            </a:pPr>
            <a:r>
              <a:t>(Type 1&amp;2 -Stable;Type 3,4&amp;5 -Unstable)</a:t>
            </a:r>
          </a:p>
        </p:txBody>
      </p:sp>
      <p:pic>
        <p:nvPicPr>
          <p:cNvPr id="68" name="post_op_rom_bar_no_degree.png" descr="post_op_rom_bar_no_degre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020044" y="1418255"/>
            <a:ext cx="3359237" cy="2550278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Time_to_Fracture_Union_Bar_Chart_Colored.png" descr="Time_to_Fracture_Union_Bar_Chart_Colored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015904" y="3902878"/>
            <a:ext cx="3772518" cy="29098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re-op Xray"/>
          <p:cNvSpPr txBox="1"/>
          <p:nvPr/>
        </p:nvSpPr>
        <p:spPr>
          <a:xfrm>
            <a:off x="2288450" y="2025026"/>
            <a:ext cx="162333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Pre-op Xray</a:t>
            </a:r>
          </a:p>
        </p:txBody>
      </p:sp>
      <p:sp>
        <p:nvSpPr>
          <p:cNvPr id="72" name="Case-2 (PFN)"/>
          <p:cNvSpPr txBox="1"/>
          <p:nvPr/>
        </p:nvSpPr>
        <p:spPr>
          <a:xfrm>
            <a:off x="805536" y="5629334"/>
            <a:ext cx="1261102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800"/>
            </a:lvl1pPr>
          </a:lstStyle>
          <a:p>
            <a:pPr/>
            <a:r>
              <a:t>Case-2 (PFN)</a:t>
            </a:r>
          </a:p>
        </p:txBody>
      </p:sp>
      <p:sp>
        <p:nvSpPr>
          <p:cNvPr id="73" name="Case-1(DHS)"/>
          <p:cNvSpPr txBox="1"/>
          <p:nvPr/>
        </p:nvSpPr>
        <p:spPr>
          <a:xfrm>
            <a:off x="722129" y="3885898"/>
            <a:ext cx="1344509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800"/>
            </a:lvl1pPr>
          </a:lstStyle>
          <a:p>
            <a:pPr/>
            <a:r>
              <a:t>Case-1(DHS)</a:t>
            </a:r>
          </a:p>
        </p:txBody>
      </p:sp>
      <p:sp>
        <p:nvSpPr>
          <p:cNvPr id="74" name="Immediate…"/>
          <p:cNvSpPr txBox="1"/>
          <p:nvPr/>
        </p:nvSpPr>
        <p:spPr>
          <a:xfrm>
            <a:off x="2061702" y="1952137"/>
            <a:ext cx="1886144" cy="541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t>Immediate</a:t>
            </a:r>
            <a:endParaRPr sz="2800"/>
          </a:p>
          <a:p>
            <a:pPr algn="ctr"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t> post-op Xray</a:t>
            </a:r>
          </a:p>
        </p:txBody>
      </p:sp>
      <p:graphicFrame>
        <p:nvGraphicFramePr>
          <p:cNvPr id="75" name="Table 1"/>
          <p:cNvGraphicFramePr/>
          <p:nvPr/>
        </p:nvGraphicFramePr>
        <p:xfrm>
          <a:off x="2321120" y="1446135"/>
          <a:ext cx="8170776" cy="8382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2719358"/>
                <a:gridCol w="2719358"/>
                <a:gridCol w="2719358"/>
              </a:tblGrid>
              <a:tr h="825500">
                <a:tc>
                  <a:txBody>
                    <a:bodyPr/>
                    <a:lstStyle/>
                    <a:p>
                      <a:pPr algn="ctr"/>
                      <a:r>
                        <a:rPr sz="2600"/>
                        <a:t>Pre OP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/>
                        <a:t>immediate Post OP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/>
                        <a:t>3 Months follow up</a:t>
                      </a:r>
                    </a:p>
                  </a:txBody>
                  <a:tcPr marL="0" marR="0" marT="0" marB="0" anchor="ctr" anchorCtr="0" horzOverflow="overflow"/>
                </a:tc>
              </a:tr>
            </a:tbl>
          </a:graphicData>
        </a:graphic>
      </p:graphicFrame>
      <p:pic>
        <p:nvPicPr>
          <p:cNvPr id="76" name="0e886e1f-21c3-4548-a9a9-9b40b96171fd.jpeg" descr="0e886e1f-21c3-4548-a9a9-9b40b96171fd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14979" y="4898773"/>
            <a:ext cx="2091349" cy="2039166"/>
          </a:xfrm>
          <a:prstGeom prst="rect">
            <a:avLst/>
          </a:prstGeom>
          <a:ln w="12700">
            <a:miter lim="400000"/>
          </a:ln>
        </p:spPr>
      </p:pic>
      <p:pic>
        <p:nvPicPr>
          <p:cNvPr id="77" name="ed2e00e0-50af-4198-93ab-1e32f516e1fc.jpeg" descr="ed2e00e0-50af-4198-93ab-1e32f516e1fc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346190" y="4815282"/>
            <a:ext cx="1878351" cy="30633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IMG_5039.jpeg" descr="IMG_5039.jpe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443523" y="2278698"/>
            <a:ext cx="1460860" cy="2300604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IMG_5039 2.jpeg" descr="IMG_5039 2.jpe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862685" y="2335539"/>
            <a:ext cx="1626029" cy="2186922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C42FBAD0-BB9D-4BA9-914B-57348D3F4680.jpeg" descr="C42FBAD0-BB9D-4BA9-914B-57348D3F4680.jpe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844811" y="2331958"/>
            <a:ext cx="1640409" cy="2194084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ed2e00e0-50af-4198-93ab-1e32f516e1fc.jpeg" descr="ed2e00e0-50af-4198-93ab-1e32f516e1fc.jpeg"/>
          <p:cNvPicPr>
            <a:picLocks noChangeAspect="1"/>
          </p:cNvPicPr>
          <p:nvPr/>
        </p:nvPicPr>
        <p:blipFill>
          <a:blip r:embed="rId7">
            <a:extLst/>
          </a:blip>
          <a:srcRect l="0" t="0" r="0" b="12860"/>
          <a:stretch>
            <a:fillRect/>
          </a:stretch>
        </p:blipFill>
        <p:spPr>
          <a:xfrm>
            <a:off x="7764403" y="4744399"/>
            <a:ext cx="1822597" cy="214507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4194337;p6"/>
          <p:cNvSpPr txBox="1"/>
          <p:nvPr/>
        </p:nvSpPr>
        <p:spPr>
          <a:xfrm>
            <a:off x="348375" y="1994359"/>
            <a:ext cx="11495250" cy="313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marL="342900" indent="-342900">
              <a:buClr>
                <a:srgbClr val="000000"/>
              </a:buClr>
              <a:buSzPts val="2000"/>
              <a:buChar char="•"/>
              <a:defRPr sz="2000"/>
            </a:pPr>
            <a:r>
              <a:t>PFN showed shorter incision length, reduced operative time, and better post-operative pain scores compared to DHS.</a:t>
            </a:r>
          </a:p>
          <a:p>
            <a:pPr marL="342900" indent="-342900">
              <a:buClr>
                <a:srgbClr val="000000"/>
              </a:buClr>
              <a:buSzPts val="2000"/>
              <a:buChar char="•"/>
              <a:defRPr sz="2000"/>
            </a:pPr>
            <a:r>
              <a:t>Implant cost was less with DHS than with PFN;Proper placement of Lag screw is important in reducing implant failure (Cut-out)</a:t>
            </a:r>
          </a:p>
          <a:p>
            <a:pPr marL="342900" indent="-342900">
              <a:buClr>
                <a:srgbClr val="000000"/>
              </a:buClr>
              <a:buSzPts val="2000"/>
              <a:buChar char="•"/>
              <a:defRPr sz="2000"/>
            </a:pPr>
            <a:r>
              <a:t>PFN resulted in less limb shortening, improved hip range of motion, and faster fracture union.</a:t>
            </a:r>
          </a:p>
          <a:p>
            <a:pPr marL="342900" indent="-342900">
              <a:buClr>
                <a:srgbClr val="000000"/>
              </a:buClr>
              <a:buSzPts val="2000"/>
              <a:buChar char="•"/>
              <a:defRPr sz="2000"/>
            </a:pPr>
            <a:r>
              <a:t>Superiority in unstable fractures:- Functional outcomes were superior with PFN, particularly in unstable intertrochanteric fractures.</a:t>
            </a:r>
          </a:p>
          <a:p>
            <a:pPr marL="342900" indent="-342900">
              <a:buClr>
                <a:srgbClr val="000000"/>
              </a:buClr>
              <a:buSzPts val="2000"/>
              <a:buChar char="•"/>
              <a:defRPr sz="2000"/>
            </a:pPr>
            <a:r>
              <a:t>Overall conclusion: PFN is a more effective and reliable fixation method than DHS for both stable and unstable intertrochanteric fractures, providing better early functional recovery, with a trend toward fewer complications.</a:t>
            </a:r>
          </a:p>
        </p:txBody>
      </p:sp>
      <p:sp>
        <p:nvSpPr>
          <p:cNvPr id="84" name="Google Shape;4194338;p6"/>
          <p:cNvSpPr txBox="1"/>
          <p:nvPr/>
        </p:nvSpPr>
        <p:spPr>
          <a:xfrm>
            <a:off x="342478" y="1279347"/>
            <a:ext cx="3908452" cy="548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b="1" sz="3200" u="sng">
                <a:solidFill>
                  <a:schemeClr val="accent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CONCLUSION :-</a:t>
            </a:r>
          </a:p>
        </p:txBody>
      </p:sp>
      <p:sp>
        <p:nvSpPr>
          <p:cNvPr id="85" name="Google Shape;4194339;p6"/>
          <p:cNvSpPr txBox="1"/>
          <p:nvPr/>
        </p:nvSpPr>
        <p:spPr>
          <a:xfrm>
            <a:off x="527483" y="5137389"/>
            <a:ext cx="11475051" cy="1365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b="1" sz="2800">
                <a:latin typeface="+mn-lt"/>
                <a:ea typeface="+mn-ea"/>
                <a:cs typeface="+mn-cs"/>
                <a:sym typeface="Arial"/>
              </a:defRPr>
            </a:pPr>
            <a:r>
              <a:t>Limitations :</a:t>
            </a:r>
            <a:r>
              <a:rPr b="0" sz="2400" u="sng"/>
              <a:t>-</a:t>
            </a:r>
            <a:endParaRPr sz="2000" u="sng"/>
          </a:p>
          <a:p>
            <a:pPr marL="457200" indent="-457200">
              <a:buClr>
                <a:srgbClr val="000000"/>
              </a:buClr>
              <a:buSzPts val="2000"/>
              <a:buFont typeface="Arial"/>
              <a:buChar char="•"/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Small sample size,</a:t>
            </a:r>
          </a:p>
          <a:p>
            <a:pPr marL="457200" indent="-457200">
              <a:buClr>
                <a:srgbClr val="000000"/>
              </a:buClr>
              <a:buSzPts val="2000"/>
              <a:buFont typeface="Arial"/>
              <a:buChar char="•"/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Randomisation not done</a:t>
            </a:r>
          </a:p>
          <a:p>
            <a:pPr marL="457200" indent="-457200">
              <a:buClr>
                <a:srgbClr val="000000"/>
              </a:buClr>
              <a:buSzPts val="2000"/>
              <a:buFont typeface="Arial"/>
              <a:buChar char="•"/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It is an observational study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4194341;p7"/>
          <p:cNvSpPr txBox="1"/>
          <p:nvPr/>
        </p:nvSpPr>
        <p:spPr>
          <a:xfrm>
            <a:off x="692921" y="-1169367"/>
            <a:ext cx="11647681" cy="396201"/>
          </a:xfrm>
          <a:prstGeom prst="rect">
            <a:avLst/>
          </a:prstGeom>
          <a:ln w="12700">
            <a:miter lim="400000"/>
          </a:ln>
        </p:spPr>
        <p:txBody>
          <a:bodyPr lIns="45699" tIns="45699" rIns="45699" bIns="45699">
            <a:spAutoFit/>
          </a:bodyPr>
          <a:lstStyle/>
          <a:p>
            <a:pPr defTabSz="457200">
              <a:defRPr sz="2000"/>
            </a:pPr>
          </a:p>
        </p:txBody>
      </p:sp>
      <p:sp>
        <p:nvSpPr>
          <p:cNvPr id="88" name="Google Shape;4194342;p7"/>
          <p:cNvSpPr txBox="1"/>
          <p:nvPr/>
        </p:nvSpPr>
        <p:spPr>
          <a:xfrm>
            <a:off x="89544" y="1238365"/>
            <a:ext cx="3908451" cy="609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b="1" sz="3600" u="sng">
                <a:solidFill>
                  <a:schemeClr val="accent2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REFERENCES :-</a:t>
            </a:r>
          </a:p>
        </p:txBody>
      </p:sp>
      <p:sp>
        <p:nvSpPr>
          <p:cNvPr id="89" name="Attum B, Pilson H. Intertrochanteric Femur Fracture. [Updated 2023 Aug 8]. In: StatPearls [Internet]. Treasure Island (FL): StatPearls Publishing; 2025 Jan-. Available from: ht…"/>
          <p:cNvSpPr txBox="1"/>
          <p:nvPr>
            <p:ph type="body" idx="4294967295"/>
          </p:nvPr>
        </p:nvSpPr>
        <p:spPr>
          <a:xfrm>
            <a:off x="44535" y="1903993"/>
            <a:ext cx="11420860" cy="4683159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145381" indent="-145381" defTabSz="228600">
              <a:lnSpc>
                <a:spcPct val="100000"/>
              </a:lnSpc>
              <a:spcBef>
                <a:spcPts val="0"/>
              </a:spcBef>
              <a:buFontTx/>
              <a:defRPr sz="1450"/>
            </a:pPr>
            <a:r>
              <a:t> Attum B, Pilson H. Intertrochanteric Femur Fracture. [Updated 2023 Aug 8]. In:</a:t>
            </a:r>
            <a:br/>
            <a:r>
              <a:t>StatPearls</a:t>
            </a:r>
            <a:br/>
            <a:r>
              <a:t>[Internet]. Treasure Island (FL): StatPearls Publishing; 2025</a:t>
            </a:r>
            <a:br/>
            <a:r>
              <a:t>Jan-. Available from: ht﻿﻿﻿</a:t>
            </a:r>
          </a:p>
          <a:p>
            <a:pPr marL="145381" indent="-145381" defTabSz="228600">
              <a:lnSpc>
                <a:spcPct val="100000"/>
              </a:lnSpc>
              <a:spcBef>
                <a:spcPts val="0"/>
              </a:spcBef>
              <a:buFontTx/>
              <a:defRPr sz="1450"/>
            </a:pPr>
          </a:p>
          <a:p>
            <a:pPr marL="145381" indent="-145381" defTabSz="228600">
              <a:lnSpc>
                <a:spcPct val="100000"/>
              </a:lnSpc>
              <a:spcBef>
                <a:spcPts val="0"/>
              </a:spcBef>
              <a:buFontTx/>
              <a:defRPr sz="1450"/>
            </a:pPr>
            <a:r>
              <a:t> Thorngren, KG. (2014). Fractures of the Femoral Neck and Proximal Femur. In:</a:t>
            </a:r>
            <a:br/>
            <a:r>
              <a:t>Bentley, G. (eds) European Surgical Orthopaedics and Traumatology. Springer, Berlin, Heidelberg. ht</a:t>
            </a:r>
          </a:p>
          <a:p>
            <a:pPr marL="145381" indent="-145381" defTabSz="228600">
              <a:lnSpc>
                <a:spcPct val="100000"/>
              </a:lnSpc>
              <a:spcBef>
                <a:spcPts val="0"/>
              </a:spcBef>
              <a:buFontTx/>
              <a:defRPr sz="1450"/>
            </a:pPr>
          </a:p>
          <a:p>
            <a:pPr marL="145381" indent="-145381" defTabSz="228600">
              <a:lnSpc>
                <a:spcPct val="100000"/>
              </a:lnSpc>
              <a:spcBef>
                <a:spcPts val="0"/>
              </a:spcBef>
              <a:buFontTx/>
              <a:defRPr sz="1450"/>
            </a:pPr>
            <a:r>
              <a:t>﻿﻿﻿Cornell CN. Internal fracture fixation in patients with osteoporosis. J Am Acad Orthop Surg. 2003 Mar-Apr; 11(2):109-19. doi: 10.5435/00124635-200303000-</a:t>
            </a:r>
          </a:p>
          <a:p>
            <a:pPr marL="145381" indent="-145381" defTabSz="228600">
              <a:lnSpc>
                <a:spcPct val="100000"/>
              </a:lnSpc>
              <a:spcBef>
                <a:spcPts val="0"/>
              </a:spcBef>
              <a:buFontTx/>
              <a:defRPr sz="1450"/>
            </a:pPr>
            <a:r>
              <a:t>00005. PMID: 12670137.</a:t>
            </a:r>
          </a:p>
          <a:p>
            <a:pPr marL="145381" indent="-145381" defTabSz="228600">
              <a:lnSpc>
                <a:spcPct val="100000"/>
              </a:lnSpc>
              <a:spcBef>
                <a:spcPts val="0"/>
              </a:spcBef>
              <a:buFontTx/>
              <a:defRPr sz="1450"/>
            </a:pPr>
          </a:p>
          <a:p>
            <a:pPr marL="145381" indent="-145381" defTabSz="228600">
              <a:lnSpc>
                <a:spcPct val="100000"/>
              </a:lnSpc>
              <a:spcBef>
                <a:spcPts val="0"/>
              </a:spcBef>
              <a:buFontTx/>
              <a:defRPr sz="1450"/>
            </a:pPr>
            <a:r>
              <a:t>López-Hualda A, Arruti-Pérez E, Bebea-Zamorano FN, Sosa-Reina MD, Villafañe JH, Martínez-Martin J. Morbidity and Mortality Analysis in the Treatment of Intertrochanteric Hip Fracture with Two Fixation Systems: Dynamic Hip Screw (DHS) or Trochanteric Fixation Nail Advance (TFNA). Geriatrics (Basel). 2023 Jun 8;8(3):66. doi:10.3390/geriatrics8030066. PMID: 37367098;PMCID: PMC10298446</a:t>
            </a:r>
          </a:p>
          <a:p>
            <a:pPr marL="145381" indent="-145381" defTabSz="228600">
              <a:lnSpc>
                <a:spcPct val="100000"/>
              </a:lnSpc>
              <a:spcBef>
                <a:spcPts val="0"/>
              </a:spcBef>
              <a:buFontTx/>
              <a:defRPr sz="1450"/>
            </a:pPr>
          </a:p>
          <a:p>
            <a:pPr marL="145381" indent="-145381" defTabSz="228600">
              <a:lnSpc>
                <a:spcPct val="100000"/>
              </a:lnSpc>
              <a:spcBef>
                <a:spcPts val="0"/>
              </a:spcBef>
              <a:buFontTx/>
              <a:defRPr sz="1450"/>
            </a:pPr>
            <a:r>
              <a:t>﻿﻿﻿Ozkan K, Türkmen I, Sahin A, Yildiz Y, Erturk S, Soylemez MS. A biomechanical</a:t>
            </a:r>
            <a:br/>
            <a:r>
              <a:t>comparison of proximal femoral nails and locking proximal anatomic femoral plates in femoral fracture fixation: A study on synthetic bones. Indian J Orthop. 2015 May-</a:t>
            </a:r>
            <a:br/>
            <a:r>
              <a:t>Jun;49(3):347-51. doi: 10.4103/0019-5413.156220. PMID: 26015637; PMCID:</a:t>
            </a:r>
            <a:br/>
            <a:r>
              <a:t>PMC4443419.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