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12192000" cy="6858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12192000" y="0"/>
                </a:moveTo>
                <a:lnTo>
                  <a:pt x="0" y="0"/>
                </a:lnTo>
                <a:lnTo>
                  <a:pt x="0" y="1280160"/>
                </a:lnTo>
                <a:lnTo>
                  <a:pt x="12192000" y="12801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22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0" y="0"/>
                </a:moveTo>
                <a:lnTo>
                  <a:pt x="12192000" y="0"/>
                </a:lnTo>
                <a:lnTo>
                  <a:pt x="121920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2565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06878" y="74821"/>
            <a:ext cx="1043153" cy="10431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47310" y="123390"/>
            <a:ext cx="884047" cy="88404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27894" y="192302"/>
            <a:ext cx="785939" cy="7859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920" y="1329855"/>
            <a:ext cx="11433810" cy="2585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doi.org/10.1016/j.berh.2019.03.019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88285" y="1282395"/>
            <a:ext cx="11400790" cy="452691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 marL="12700" marR="5080" indent="-1270">
              <a:lnSpc>
                <a:spcPts val="3890"/>
              </a:lnSpc>
              <a:spcBef>
                <a:spcPts val="585"/>
              </a:spcBef>
            </a:pPr>
            <a:r>
              <a:rPr dirty="0" sz="3600" b="1">
                <a:latin typeface="Arial"/>
                <a:cs typeface="Arial"/>
              </a:rPr>
              <a:t>EVALUATION</a:t>
            </a:r>
            <a:r>
              <a:rPr dirty="0" sz="3600" spc="-9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OF</a:t>
            </a:r>
            <a:r>
              <a:rPr dirty="0" sz="3600" spc="-8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CLINICAL</a:t>
            </a:r>
            <a:r>
              <a:rPr dirty="0" sz="3600" spc="-8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AND</a:t>
            </a:r>
            <a:r>
              <a:rPr dirty="0" sz="3600" spc="-85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RADIOLOGICAL </a:t>
            </a:r>
            <a:r>
              <a:rPr dirty="0" sz="3600" b="1">
                <a:latin typeface="Arial"/>
                <a:cs typeface="Arial"/>
              </a:rPr>
              <a:t>OUTCOMES</a:t>
            </a:r>
            <a:r>
              <a:rPr dirty="0" sz="3600" spc="-5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OF</a:t>
            </a:r>
            <a:r>
              <a:rPr dirty="0" sz="3600" spc="-4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SCHATZKER</a:t>
            </a:r>
            <a:r>
              <a:rPr dirty="0" sz="3600" spc="-5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TYPE</a:t>
            </a:r>
            <a:r>
              <a:rPr dirty="0" sz="3600" spc="-4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V</a:t>
            </a:r>
            <a:r>
              <a:rPr dirty="0" sz="3600" spc="-4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AND</a:t>
            </a:r>
            <a:r>
              <a:rPr dirty="0" sz="3600" spc="-4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VI</a:t>
            </a:r>
            <a:r>
              <a:rPr dirty="0" sz="3600" spc="-40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TIBIAL </a:t>
            </a:r>
            <a:r>
              <a:rPr dirty="0" sz="3600" b="1">
                <a:latin typeface="Arial"/>
                <a:cs typeface="Arial"/>
              </a:rPr>
              <a:t>PLATEAU</a:t>
            </a:r>
            <a:r>
              <a:rPr dirty="0" sz="3600" spc="-13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FRACTURES</a:t>
            </a:r>
            <a:r>
              <a:rPr dirty="0" sz="3600" spc="-114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MANAGED</a:t>
            </a:r>
            <a:r>
              <a:rPr dirty="0" sz="3600" spc="-12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BY</a:t>
            </a:r>
            <a:r>
              <a:rPr dirty="0" sz="3600" spc="-120" b="1">
                <a:latin typeface="Arial"/>
                <a:cs typeface="Arial"/>
              </a:rPr>
              <a:t> </a:t>
            </a:r>
            <a:r>
              <a:rPr dirty="0" sz="3600" spc="-20" b="1">
                <a:latin typeface="Arial"/>
                <a:cs typeface="Arial"/>
              </a:rPr>
              <a:t>DUAL </a:t>
            </a:r>
            <a:r>
              <a:rPr dirty="0" sz="3600" b="1">
                <a:latin typeface="Arial"/>
                <a:cs typeface="Arial"/>
              </a:rPr>
              <a:t>PLATING:</a:t>
            </a:r>
            <a:r>
              <a:rPr dirty="0" sz="3600" spc="-9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A</a:t>
            </a:r>
            <a:r>
              <a:rPr dirty="0" sz="3600" spc="-9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PROSPECTIVE</a:t>
            </a:r>
            <a:r>
              <a:rPr dirty="0" sz="3600" spc="-9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ANALYTICAL</a:t>
            </a:r>
            <a:r>
              <a:rPr dirty="0" sz="3600" spc="-95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STUDY</a:t>
            </a:r>
            <a:endParaRPr sz="3600">
              <a:latin typeface="Arial"/>
              <a:cs typeface="Arial"/>
            </a:endParaRPr>
          </a:p>
          <a:p>
            <a:pPr marL="3830320">
              <a:lnSpc>
                <a:spcPct val="100000"/>
              </a:lnSpc>
              <a:spcBef>
                <a:spcPts val="2195"/>
              </a:spcBef>
            </a:pPr>
            <a:r>
              <a:rPr dirty="0" sz="2000">
                <a:latin typeface="Arial MT"/>
                <a:cs typeface="Arial MT"/>
              </a:rPr>
              <a:t>Presenting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author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:Dr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.B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.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IMRAN</a:t>
            </a:r>
            <a:endParaRPr sz="2000">
              <a:latin typeface="Arial MT"/>
              <a:cs typeface="Arial MT"/>
            </a:endParaRPr>
          </a:p>
          <a:p>
            <a:pPr marL="3752850" marR="2743835" indent="2066925">
              <a:lnSpc>
                <a:spcPct val="131700"/>
              </a:lnSpc>
            </a:pPr>
            <a:r>
              <a:rPr dirty="0" sz="2000">
                <a:latin typeface="Arial MT"/>
                <a:cs typeface="Arial MT"/>
              </a:rPr>
              <a:t>Final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year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post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graduate Co-</a:t>
            </a:r>
            <a:r>
              <a:rPr dirty="0" sz="2000">
                <a:latin typeface="Arial MT"/>
                <a:cs typeface="Arial MT"/>
              </a:rPr>
              <a:t>author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.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P.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SUJITH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DEVA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PRASAD</a:t>
            </a:r>
            <a:endParaRPr sz="2000">
              <a:latin typeface="Arial MT"/>
              <a:cs typeface="Arial MT"/>
            </a:endParaRPr>
          </a:p>
          <a:p>
            <a:pPr marL="5149850">
              <a:lnSpc>
                <a:spcPct val="100000"/>
              </a:lnSpc>
              <a:spcBef>
                <a:spcPts val="760"/>
              </a:spcBef>
            </a:pPr>
            <a:r>
              <a:rPr dirty="0" sz="2000">
                <a:latin typeface="Arial MT"/>
                <a:cs typeface="Arial MT"/>
              </a:rPr>
              <a:t>Professor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&amp;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HOD</a:t>
            </a:r>
            <a:endParaRPr sz="2000">
              <a:latin typeface="Arial MT"/>
              <a:cs typeface="Arial MT"/>
            </a:endParaRPr>
          </a:p>
          <a:p>
            <a:pPr marL="3188335" marR="1574165" indent="-395605">
              <a:lnSpc>
                <a:spcPts val="2160"/>
              </a:lnSpc>
              <a:spcBef>
                <a:spcPts val="1030"/>
              </a:spcBef>
              <a:tabLst>
                <a:tab pos="8604885" algn="l"/>
              </a:tabLst>
            </a:pPr>
            <a:r>
              <a:rPr dirty="0" sz="2000">
                <a:latin typeface="Arial MT"/>
                <a:cs typeface="Arial MT"/>
              </a:rPr>
              <a:t>Institute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SANTHIRAM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COLLEGE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AND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10">
                <a:latin typeface="Arial MT"/>
                <a:cs typeface="Arial MT"/>
              </a:rPr>
              <a:t>GENERAL HOSPITAL,NANDYAL,ANDHRA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PRADESH.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Annual</a:t>
            </a:r>
            <a:r>
              <a:rPr dirty="0" sz="1800" spc="-65"/>
              <a:t> </a:t>
            </a:r>
            <a:r>
              <a:rPr dirty="0" sz="1800"/>
              <a:t>Conference</a:t>
            </a:r>
            <a:r>
              <a:rPr dirty="0" sz="1800" spc="-60"/>
              <a:t> </a:t>
            </a:r>
            <a:r>
              <a:rPr dirty="0" sz="1800" spc="-25"/>
              <a:t>of</a:t>
            </a:r>
            <a:endParaRPr sz="1800"/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40739" y="1243837"/>
            <a:ext cx="9859645" cy="490220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INTRODUCTION:</a:t>
            </a:r>
            <a:endParaRPr sz="2400">
              <a:latin typeface="Arial"/>
              <a:cs typeface="Arial"/>
            </a:endParaRPr>
          </a:p>
          <a:p>
            <a:pPr marL="240029" marR="481330" indent="-227329">
              <a:lnSpc>
                <a:spcPts val="2590"/>
              </a:lnSpc>
              <a:spcBef>
                <a:spcPts val="78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 MT"/>
                <a:cs typeface="Arial MT"/>
              </a:rPr>
              <a:t>Schatzker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type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VI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tibial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plateau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fractures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complex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injuries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resulting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high-</a:t>
            </a:r>
            <a:r>
              <a:rPr dirty="0" sz="2400">
                <a:latin typeface="Arial MT"/>
                <a:cs typeface="Arial MT"/>
              </a:rPr>
              <a:t>energy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trauma,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often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associated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soft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tissue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damage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significant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challenges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restoring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joint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congruity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function.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u="sng" sz="2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Aims</a:t>
            </a:r>
            <a:r>
              <a:rPr dirty="0" u="sng" sz="24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24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Objective:</a:t>
            </a:r>
            <a:endParaRPr sz="2400">
              <a:latin typeface="Arial"/>
              <a:cs typeface="Arial"/>
            </a:endParaRPr>
          </a:p>
          <a:p>
            <a:pPr algn="just" marL="240029" marR="5080" indent="-227329">
              <a:lnSpc>
                <a:spcPts val="2590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204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study</a:t>
            </a:r>
            <a:r>
              <a:rPr dirty="0" sz="2400" spc="204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aims</a:t>
            </a:r>
            <a:r>
              <a:rPr dirty="0" sz="2400" spc="204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204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evaluate</a:t>
            </a:r>
            <a:r>
              <a:rPr dirty="0" sz="2400" spc="210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204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functional</a:t>
            </a:r>
            <a:r>
              <a:rPr dirty="0" sz="2400" spc="204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outcomes</a:t>
            </a:r>
            <a:r>
              <a:rPr dirty="0" sz="2400" spc="204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210">
                <a:latin typeface="Arial MT"/>
                <a:cs typeface="Arial MT"/>
              </a:rPr>
              <a:t>  </a:t>
            </a:r>
            <a:r>
              <a:rPr dirty="0" sz="2400" spc="-10">
                <a:latin typeface="Arial MT"/>
                <a:cs typeface="Arial MT"/>
              </a:rPr>
              <a:t>closed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Schatzker</a:t>
            </a:r>
            <a:r>
              <a:rPr dirty="0" sz="2400" spc="2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type</a:t>
            </a:r>
            <a:r>
              <a:rPr dirty="0" sz="2400" spc="2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</a:t>
            </a:r>
            <a:r>
              <a:rPr dirty="0" sz="2400" spc="2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2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VI</a:t>
            </a:r>
            <a:r>
              <a:rPr dirty="0" sz="2400" spc="2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tibial</a:t>
            </a:r>
            <a:r>
              <a:rPr dirty="0" sz="2400" spc="2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plateau</a:t>
            </a:r>
            <a:r>
              <a:rPr dirty="0" sz="2400" spc="2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fractures</a:t>
            </a:r>
            <a:r>
              <a:rPr dirty="0" sz="2400" spc="2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managed</a:t>
            </a:r>
            <a:r>
              <a:rPr dirty="0" sz="2400" spc="2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2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fracture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specific</a:t>
            </a:r>
            <a:r>
              <a:rPr dirty="0" sz="2400" spc="1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dual</a:t>
            </a:r>
            <a:r>
              <a:rPr dirty="0" sz="2400" spc="1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plating,</a:t>
            </a:r>
            <a:r>
              <a:rPr dirty="0" sz="2400" spc="1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assessed</a:t>
            </a:r>
            <a:r>
              <a:rPr dirty="0" sz="2400" spc="1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using</a:t>
            </a:r>
            <a:r>
              <a:rPr dirty="0" sz="2400" spc="1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1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Hospital</a:t>
            </a:r>
            <a:r>
              <a:rPr dirty="0" sz="2400" spc="1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1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Special</a:t>
            </a:r>
            <a:r>
              <a:rPr dirty="0" sz="2400" spc="1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Surgery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(HSS)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knee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scoring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algn="just" marL="240029" marR="6350" indent="-227329">
              <a:lnSpc>
                <a:spcPts val="259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3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seeks</a:t>
            </a:r>
            <a:r>
              <a:rPr dirty="0" sz="2400" spc="4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4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analyze</a:t>
            </a:r>
            <a:r>
              <a:rPr dirty="0" sz="2400" spc="3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4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complications</a:t>
            </a:r>
            <a:r>
              <a:rPr dirty="0" sz="2400" spc="4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associated</a:t>
            </a:r>
            <a:r>
              <a:rPr dirty="0" sz="2400" spc="3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4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4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treatment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method</a:t>
            </a:r>
            <a:r>
              <a:rPr dirty="0" sz="2400" spc="409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409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assess</a:t>
            </a:r>
            <a:r>
              <a:rPr dirty="0" sz="2400" spc="409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its</a:t>
            </a:r>
            <a:r>
              <a:rPr dirty="0" sz="2400" spc="409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advantages</a:t>
            </a:r>
            <a:r>
              <a:rPr dirty="0" sz="2400" spc="409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409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disadvantages</a:t>
            </a:r>
            <a:r>
              <a:rPr dirty="0" sz="2400" spc="4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409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409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fixation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technique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managing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fractures.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Annual</a:t>
            </a:r>
            <a:r>
              <a:rPr dirty="0" sz="1800" spc="-65"/>
              <a:t> </a:t>
            </a:r>
            <a:r>
              <a:rPr dirty="0" sz="1800"/>
              <a:t>Conference</a:t>
            </a:r>
            <a:r>
              <a:rPr dirty="0" sz="1800" spc="-60"/>
              <a:t> </a:t>
            </a:r>
            <a:r>
              <a:rPr dirty="0" sz="1800" spc="-25"/>
              <a:t>of</a:t>
            </a:r>
            <a:endParaRPr sz="1800"/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54939" y="3522357"/>
            <a:ext cx="4851400" cy="250888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u="sng" sz="2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Inclusion</a:t>
            </a: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criteria:</a:t>
            </a:r>
            <a:endParaRPr sz="240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349885" algn="l"/>
              </a:tabLst>
            </a:pPr>
            <a:r>
              <a:rPr dirty="0" sz="2400">
                <a:latin typeface="Arial MT"/>
                <a:cs typeface="Arial MT"/>
              </a:rPr>
              <a:t>Adult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patients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aged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18–60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years.</a:t>
            </a:r>
            <a:endParaRPr sz="2400">
              <a:latin typeface="Arial MT"/>
              <a:cs typeface="Arial MT"/>
            </a:endParaRPr>
          </a:p>
          <a:p>
            <a:pPr marL="12700" marR="189230" indent="337185">
              <a:lnSpc>
                <a:spcPts val="2590"/>
              </a:lnSpc>
              <a:spcBef>
                <a:spcPts val="1040"/>
              </a:spcBef>
              <a:buAutoNum type="arabicPeriod"/>
              <a:tabLst>
                <a:tab pos="349885" algn="l"/>
              </a:tabLst>
            </a:pPr>
            <a:r>
              <a:rPr dirty="0" sz="2400">
                <a:latin typeface="Arial MT"/>
                <a:cs typeface="Arial MT"/>
              </a:rPr>
              <a:t>Closed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Schatzker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type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VI </a:t>
            </a:r>
            <a:r>
              <a:rPr dirty="0" sz="2400">
                <a:latin typeface="Arial MT"/>
                <a:cs typeface="Arial MT"/>
              </a:rPr>
              <a:t>tibia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plateau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fractures.</a:t>
            </a:r>
            <a:endParaRPr sz="2400">
              <a:latin typeface="Arial MT"/>
              <a:cs typeface="Arial MT"/>
            </a:endParaRPr>
          </a:p>
          <a:p>
            <a:pPr marL="12700" marR="5080" indent="337185">
              <a:lnSpc>
                <a:spcPts val="2590"/>
              </a:lnSpc>
              <a:spcBef>
                <a:spcPts val="1000"/>
              </a:spcBef>
              <a:buAutoNum type="arabicPeriod"/>
              <a:tabLst>
                <a:tab pos="349885" algn="l"/>
              </a:tabLst>
            </a:pPr>
            <a:r>
              <a:rPr dirty="0" sz="2400">
                <a:latin typeface="Arial MT"/>
                <a:cs typeface="Arial MT"/>
              </a:rPr>
              <a:t>Patients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willing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give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consent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study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up.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4939" y="1341030"/>
            <a:ext cx="1170559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Materials</a:t>
            </a:r>
            <a:r>
              <a:rPr dirty="0" u="sng" sz="2400" spc="-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2400" spc="-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Methods: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u="sng" sz="24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prospective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analytical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study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conducted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Department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Orthopaedics, </a:t>
            </a:r>
            <a:r>
              <a:rPr dirty="0" sz="2400">
                <a:latin typeface="Arial MT"/>
                <a:cs typeface="Arial MT"/>
              </a:rPr>
              <a:t>SANTHIRAM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Medical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College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General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Hospital,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Nandyal,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Andhra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pradesh,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from </a:t>
            </a:r>
            <a:r>
              <a:rPr dirty="0" sz="2400">
                <a:latin typeface="Arial MT"/>
                <a:cs typeface="Arial MT"/>
              </a:rPr>
              <a:t>July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2024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June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2025.</a:t>
            </a:r>
            <a:endParaRPr sz="2400">
              <a:latin typeface="Arial MT"/>
              <a:cs typeface="Arial MT"/>
            </a:endParaRPr>
          </a:p>
          <a:p>
            <a:pPr marL="12700" marR="37084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study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focused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Schatzker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type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VI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tibial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plateau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fractures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managed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with </a:t>
            </a:r>
            <a:r>
              <a:rPr dirty="0" sz="2400">
                <a:latin typeface="Arial MT"/>
                <a:cs typeface="Arial MT"/>
              </a:rPr>
              <a:t>dual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plating.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21566" y="3649357"/>
            <a:ext cx="5614035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Exclusion</a:t>
            </a:r>
            <a:r>
              <a:rPr dirty="0" u="sng" sz="24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criteria:</a:t>
            </a:r>
            <a:endParaRPr sz="240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buAutoNum type="arabicPeriod"/>
              <a:tabLst>
                <a:tab pos="349885" algn="l"/>
              </a:tabLst>
            </a:pPr>
            <a:r>
              <a:rPr dirty="0" sz="2400">
                <a:latin typeface="Arial MT"/>
                <a:cs typeface="Arial MT"/>
              </a:rPr>
              <a:t>Open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fractures.</a:t>
            </a:r>
            <a:endParaRPr sz="2400">
              <a:latin typeface="Arial MT"/>
              <a:cs typeface="Arial MT"/>
            </a:endParaRPr>
          </a:p>
          <a:p>
            <a:pPr marL="349885" indent="-337185">
              <a:lnSpc>
                <a:spcPct val="100000"/>
              </a:lnSpc>
              <a:buAutoNum type="arabicPeriod"/>
              <a:tabLst>
                <a:tab pos="349885" algn="l"/>
              </a:tabLst>
            </a:pPr>
            <a:r>
              <a:rPr dirty="0" sz="2400">
                <a:latin typeface="Arial MT"/>
                <a:cs typeface="Arial MT"/>
              </a:rPr>
              <a:t>Old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fractures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(&gt;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weeks).</a:t>
            </a:r>
            <a:endParaRPr sz="2400">
              <a:latin typeface="Arial MT"/>
              <a:cs typeface="Arial MT"/>
            </a:endParaRPr>
          </a:p>
          <a:p>
            <a:pPr marL="349885" indent="-337185">
              <a:lnSpc>
                <a:spcPct val="100000"/>
              </a:lnSpc>
              <a:buAutoNum type="arabicPeriod"/>
              <a:tabLst>
                <a:tab pos="349885" algn="l"/>
              </a:tabLst>
            </a:pPr>
            <a:r>
              <a:rPr dirty="0" sz="2400">
                <a:latin typeface="Arial MT"/>
                <a:cs typeface="Arial MT"/>
              </a:rPr>
              <a:t>Fractures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neurovascular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injury.</a:t>
            </a:r>
            <a:endParaRPr sz="2400">
              <a:latin typeface="Arial MT"/>
              <a:cs typeface="Arial MT"/>
            </a:endParaRPr>
          </a:p>
          <a:p>
            <a:pPr marL="12700" marR="5080" indent="337185">
              <a:lnSpc>
                <a:spcPct val="100000"/>
              </a:lnSpc>
              <a:buAutoNum type="arabicPeriod"/>
              <a:tabLst>
                <a:tab pos="349885" algn="l"/>
              </a:tabLst>
            </a:pPr>
            <a:r>
              <a:rPr dirty="0" sz="2400">
                <a:latin typeface="Arial MT"/>
                <a:cs typeface="Arial MT"/>
              </a:rPr>
              <a:t>Patients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unfit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surgery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unwilling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 spc="-10">
                <a:latin typeface="Arial MT"/>
                <a:cs typeface="Arial MT"/>
              </a:rPr>
              <a:t>consent.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8595" y="-24404"/>
            <a:ext cx="46863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/>
              <a:t>55</a:t>
            </a:r>
            <a:r>
              <a:rPr dirty="0" sz="1150" spc="-20"/>
              <a:t>th</a:t>
            </a:r>
            <a:endParaRPr sz="1150"/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47469" y="1271333"/>
            <a:ext cx="1430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RESULTS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729" y="1710448"/>
            <a:ext cx="5527624" cy="252953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9048" y="1710448"/>
            <a:ext cx="5673902" cy="29649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254"/>
            <a:ext cx="11054435" cy="67612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Annual</a:t>
            </a:r>
            <a:r>
              <a:rPr dirty="0" sz="1800" spc="-65"/>
              <a:t> </a:t>
            </a:r>
            <a:r>
              <a:rPr dirty="0" sz="1800"/>
              <a:t>Conference</a:t>
            </a:r>
            <a:r>
              <a:rPr dirty="0" sz="1800" spc="-60"/>
              <a:t> </a:t>
            </a:r>
            <a:r>
              <a:rPr dirty="0" sz="1800" spc="-25"/>
              <a:t>of</a:t>
            </a:r>
            <a:endParaRPr sz="1800"/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Conclusion:</a:t>
            </a:r>
          </a:p>
          <a:p>
            <a:pPr algn="just" marL="12700" marR="5080" indent="84455">
              <a:lnSpc>
                <a:spcPct val="100000"/>
              </a:lnSpc>
            </a:pPr>
            <a:r>
              <a:rPr dirty="0" u="none" b="0">
                <a:latin typeface="Arial MT"/>
                <a:cs typeface="Arial MT"/>
              </a:rPr>
              <a:t>The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findings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of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this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study</a:t>
            </a:r>
            <a:r>
              <a:rPr dirty="0" u="none" spc="24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support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the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use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of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dual</a:t>
            </a:r>
            <a:r>
              <a:rPr dirty="0" u="none" spc="24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plating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for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managing</a:t>
            </a:r>
            <a:r>
              <a:rPr dirty="0" u="none" spc="235" b="0">
                <a:latin typeface="Arial MT"/>
                <a:cs typeface="Arial MT"/>
              </a:rPr>
              <a:t> </a:t>
            </a:r>
            <a:r>
              <a:rPr dirty="0" u="none" spc="-10" b="0">
                <a:latin typeface="Arial MT"/>
                <a:cs typeface="Arial MT"/>
              </a:rPr>
              <a:t>Schatzker </a:t>
            </a:r>
            <a:r>
              <a:rPr dirty="0" u="none" b="0">
                <a:latin typeface="Arial MT"/>
                <a:cs typeface="Arial MT"/>
              </a:rPr>
              <a:t>type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V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and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VI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tibial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plateau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fractures.</a:t>
            </a:r>
            <a:r>
              <a:rPr dirty="0" u="none" spc="12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This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approach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ensures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anatomical</a:t>
            </a:r>
            <a:r>
              <a:rPr dirty="0" u="none" spc="114" b="0">
                <a:latin typeface="Arial MT"/>
                <a:cs typeface="Arial MT"/>
              </a:rPr>
              <a:t> </a:t>
            </a:r>
            <a:r>
              <a:rPr dirty="0" u="none" spc="-10" b="0">
                <a:latin typeface="Arial MT"/>
                <a:cs typeface="Arial MT"/>
              </a:rPr>
              <a:t>reduction, </a:t>
            </a:r>
            <a:r>
              <a:rPr dirty="0" u="none" b="0">
                <a:latin typeface="Arial MT"/>
                <a:cs typeface="Arial MT"/>
              </a:rPr>
              <a:t>biomechanical</a:t>
            </a:r>
            <a:r>
              <a:rPr dirty="0" u="none" spc="30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stability,</a:t>
            </a:r>
            <a:r>
              <a:rPr dirty="0" u="none" spc="30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and</a:t>
            </a:r>
            <a:r>
              <a:rPr dirty="0" u="none" spc="30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early</a:t>
            </a:r>
            <a:r>
              <a:rPr dirty="0" u="none" spc="31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mobilization,</a:t>
            </a:r>
            <a:r>
              <a:rPr dirty="0" u="none" spc="30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leading</a:t>
            </a:r>
            <a:r>
              <a:rPr dirty="0" u="none" spc="30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to</a:t>
            </a:r>
            <a:r>
              <a:rPr dirty="0" u="none" spc="31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excellent</a:t>
            </a:r>
            <a:r>
              <a:rPr dirty="0" u="none" spc="30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functional</a:t>
            </a:r>
            <a:r>
              <a:rPr dirty="0" u="none" spc="305" b="0">
                <a:latin typeface="Arial MT"/>
                <a:cs typeface="Arial MT"/>
              </a:rPr>
              <a:t> </a:t>
            </a:r>
            <a:r>
              <a:rPr dirty="0" u="none" spc="-25" b="0">
                <a:latin typeface="Arial MT"/>
                <a:cs typeface="Arial MT"/>
              </a:rPr>
              <a:t>and </a:t>
            </a:r>
            <a:r>
              <a:rPr dirty="0" u="none" b="0">
                <a:latin typeface="Arial MT"/>
                <a:cs typeface="Arial MT"/>
              </a:rPr>
              <a:t>radiological</a:t>
            </a:r>
            <a:r>
              <a:rPr dirty="0" u="none" spc="-8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outcomes.</a:t>
            </a:r>
            <a:r>
              <a:rPr dirty="0" u="none" spc="-8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The</a:t>
            </a:r>
            <a:r>
              <a:rPr dirty="0" u="none" spc="-8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low</a:t>
            </a:r>
            <a:r>
              <a:rPr dirty="0" u="none" spc="-8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complication</a:t>
            </a:r>
            <a:r>
              <a:rPr dirty="0" u="none" spc="-8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rates</a:t>
            </a:r>
            <a:r>
              <a:rPr dirty="0" u="none" spc="-8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observed</a:t>
            </a:r>
            <a:r>
              <a:rPr dirty="0" u="none" spc="-8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highlight</a:t>
            </a:r>
            <a:r>
              <a:rPr dirty="0" u="none" spc="-8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the</a:t>
            </a:r>
            <a:r>
              <a:rPr dirty="0" u="none" spc="-80" b="0">
                <a:latin typeface="Arial MT"/>
                <a:cs typeface="Arial MT"/>
              </a:rPr>
              <a:t> </a:t>
            </a:r>
            <a:r>
              <a:rPr dirty="0" u="none" spc="-10" b="0">
                <a:latin typeface="Arial MT"/>
                <a:cs typeface="Arial MT"/>
              </a:rPr>
              <a:t>importance </a:t>
            </a:r>
            <a:r>
              <a:rPr dirty="0" u="none" b="0">
                <a:latin typeface="Arial MT"/>
                <a:cs typeface="Arial MT"/>
              </a:rPr>
              <a:t>of</a:t>
            </a:r>
            <a:r>
              <a:rPr dirty="0" u="none" spc="40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minimally</a:t>
            </a:r>
            <a:r>
              <a:rPr dirty="0" u="none" spc="40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invasive</a:t>
            </a:r>
            <a:r>
              <a:rPr dirty="0" u="none" spc="40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techniques</a:t>
            </a:r>
            <a:r>
              <a:rPr dirty="0" u="none" spc="40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in</a:t>
            </a:r>
            <a:r>
              <a:rPr dirty="0" u="none" spc="40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optimizing</a:t>
            </a:r>
            <a:r>
              <a:rPr dirty="0" u="none" spc="40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patient</a:t>
            </a:r>
            <a:r>
              <a:rPr dirty="0" u="none" spc="40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outcomes</a:t>
            </a:r>
            <a:r>
              <a:rPr dirty="0" u="none" spc="400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while</a:t>
            </a:r>
            <a:r>
              <a:rPr dirty="0" u="none" spc="405" b="0">
                <a:latin typeface="Arial MT"/>
                <a:cs typeface="Arial MT"/>
              </a:rPr>
              <a:t> </a:t>
            </a:r>
            <a:r>
              <a:rPr dirty="0" u="none" spc="-10" b="0">
                <a:latin typeface="Arial MT"/>
                <a:cs typeface="Arial MT"/>
              </a:rPr>
              <a:t>minimizing </a:t>
            </a:r>
            <a:r>
              <a:rPr dirty="0" u="none" b="0">
                <a:latin typeface="Arial MT"/>
                <a:cs typeface="Arial MT"/>
              </a:rPr>
              <a:t>soft</a:t>
            </a:r>
            <a:r>
              <a:rPr dirty="0" u="none" spc="-45" b="0">
                <a:latin typeface="Arial MT"/>
                <a:cs typeface="Arial MT"/>
              </a:rPr>
              <a:t> </a:t>
            </a:r>
            <a:r>
              <a:rPr dirty="0" u="none" b="0">
                <a:latin typeface="Arial MT"/>
                <a:cs typeface="Arial MT"/>
              </a:rPr>
              <a:t>tissue</a:t>
            </a:r>
            <a:r>
              <a:rPr dirty="0" u="none" spc="-45" b="0">
                <a:latin typeface="Arial MT"/>
                <a:cs typeface="Arial MT"/>
              </a:rPr>
              <a:t> </a:t>
            </a:r>
            <a:r>
              <a:rPr dirty="0" u="none" spc="-10" b="0">
                <a:latin typeface="Arial MT"/>
                <a:cs typeface="Arial MT"/>
              </a:rPr>
              <a:t>morbidity.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6648" y="55605"/>
            <a:ext cx="23996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Annual</a:t>
            </a:r>
            <a:r>
              <a:rPr dirty="0" sz="1800" spc="-65"/>
              <a:t> </a:t>
            </a:r>
            <a:r>
              <a:rPr dirty="0" sz="1800"/>
              <a:t>Conference</a:t>
            </a:r>
            <a:r>
              <a:rPr dirty="0" sz="1800" spc="-60"/>
              <a:t> </a:t>
            </a:r>
            <a:r>
              <a:rPr dirty="0" sz="1800" spc="-25"/>
              <a:t>of</a:t>
            </a:r>
            <a:endParaRPr sz="18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18225" y="210757"/>
            <a:ext cx="11392535" cy="663765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234823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2374265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234823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>
              <a:latin typeface="Arial"/>
              <a:cs typeface="Arial"/>
            </a:endParaRPr>
          </a:p>
          <a:p>
            <a:pPr marL="415290">
              <a:lnSpc>
                <a:spcPct val="100000"/>
              </a:lnSpc>
            </a:pPr>
            <a:r>
              <a:rPr dirty="0" sz="2400" spc="-10">
                <a:latin typeface="Arial MT"/>
                <a:cs typeface="Arial MT"/>
              </a:rPr>
              <a:t>REFERENCES</a:t>
            </a:r>
            <a:endParaRPr sz="2400">
              <a:latin typeface="Arial MT"/>
              <a:cs typeface="Arial MT"/>
            </a:endParaRPr>
          </a:p>
          <a:p>
            <a:pPr marL="355600" marR="415290" indent="-3429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Zeltser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DW,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Leopold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SS.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Classifications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Brief: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Schatzker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Classification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Tibial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Plateau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Fractures.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Clin </a:t>
            </a:r>
            <a:r>
              <a:rPr dirty="0" sz="1800">
                <a:latin typeface="Arial MT"/>
                <a:cs typeface="Arial MT"/>
              </a:rPr>
              <a:t>Orthop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Relat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Res.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2013;471(2):371–4.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https://doi.org/10.1007/s11999-</a:t>
            </a:r>
            <a:r>
              <a:rPr dirty="0" sz="1800">
                <a:latin typeface="Arial MT"/>
                <a:cs typeface="Arial MT"/>
              </a:rPr>
              <a:t>012-2451-</a:t>
            </a:r>
            <a:r>
              <a:rPr dirty="0" sz="1800" spc="-50">
                <a:latin typeface="Arial MT"/>
                <a:cs typeface="Arial MT"/>
              </a:rPr>
              <a:t>z</a:t>
            </a:r>
            <a:endParaRPr sz="1800">
              <a:latin typeface="Arial MT"/>
              <a:cs typeface="Arial MT"/>
            </a:endParaRPr>
          </a:p>
          <a:p>
            <a:pPr marL="355600" marR="361315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Mills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WJ,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Nork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SE.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Open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reduction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internal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fixation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high-energy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tibial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plateau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fractures.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Orthop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Clin </a:t>
            </a:r>
            <a:r>
              <a:rPr dirty="0" sz="1800">
                <a:latin typeface="Arial MT"/>
                <a:cs typeface="Arial MT"/>
              </a:rPr>
              <a:t>North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Am.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2002;33(1):177–98.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https://doi.org/10.1016/s0030-5898(03)00079-</a:t>
            </a:r>
            <a:r>
              <a:rPr dirty="0" sz="1800" spc="-5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  <a:p>
            <a:pPr marL="355600" marR="46355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Hoffmeyer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Miozzari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Holzer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N.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Non–hip/non-</a:t>
            </a:r>
            <a:r>
              <a:rPr dirty="0" sz="1800">
                <a:latin typeface="Arial MT"/>
                <a:cs typeface="Arial MT"/>
              </a:rPr>
              <a:t>vertebral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fractures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How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treat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best?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Best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Pract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Clin </a:t>
            </a:r>
            <a:r>
              <a:rPr dirty="0" sz="1800">
                <a:latin typeface="Arial MT"/>
                <a:cs typeface="Arial MT"/>
              </a:rPr>
              <a:t>Rheumatol.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2019;33(2):236–63.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  <a:hlinkClick r:id="rId3"/>
              </a:rPr>
              <a:t>https://doi.org/10.1016/j.berh.2019.03.019</a:t>
            </a:r>
            <a:endParaRPr sz="1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Lansinger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Bergman B,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Körner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L, Andersson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GB. Tibial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condylar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fractures. 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twenty-</a:t>
            </a:r>
            <a:r>
              <a:rPr dirty="0" sz="1800">
                <a:latin typeface="Arial MT"/>
                <a:cs typeface="Arial MT"/>
              </a:rPr>
              <a:t>year </a:t>
            </a:r>
            <a:r>
              <a:rPr dirty="0" sz="1800" spc="-10">
                <a:latin typeface="Arial MT"/>
                <a:cs typeface="Arial MT"/>
              </a:rPr>
              <a:t>follow-</a:t>
            </a:r>
            <a:r>
              <a:rPr dirty="0" sz="1800">
                <a:latin typeface="Arial MT"/>
                <a:cs typeface="Arial MT"/>
              </a:rPr>
              <a:t>up.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Bone </a:t>
            </a:r>
            <a:r>
              <a:rPr dirty="0" sz="1800">
                <a:latin typeface="Arial MT"/>
                <a:cs typeface="Arial MT"/>
              </a:rPr>
              <a:t>Joint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Surg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Am.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1986;68(1):13–9.</a:t>
            </a:r>
            <a:endParaRPr sz="1800">
              <a:latin typeface="Arial MT"/>
              <a:cs typeface="Arial MT"/>
            </a:endParaRPr>
          </a:p>
          <a:p>
            <a:pPr marL="355600" marR="67945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Higgins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TF,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Klatt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Bachus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KN.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Biomechanical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analysis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bicondylar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tibial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plateau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fixation: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How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lateral </a:t>
            </a:r>
            <a:r>
              <a:rPr dirty="0" sz="1800">
                <a:latin typeface="Arial MT"/>
                <a:cs typeface="Arial MT"/>
              </a:rPr>
              <a:t>locking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fixation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compare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dual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fixation?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Orthop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Trauma.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2007;21(5):301–6. https://doi.org/10.1097/BOT.0b013e3180500359.</a:t>
            </a:r>
            <a:endParaRPr sz="1800">
              <a:latin typeface="Arial MT"/>
              <a:cs typeface="Arial MT"/>
            </a:endParaRPr>
          </a:p>
          <a:p>
            <a:pPr marL="355600" marR="1905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Eggli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Hartel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MJ,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Kohl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Haupt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Exadaktylos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AK,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Roder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C.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Unstable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bicondylar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tibial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plateau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fractures: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A </a:t>
            </a:r>
            <a:r>
              <a:rPr dirty="0" sz="1800">
                <a:latin typeface="Arial MT"/>
                <a:cs typeface="Arial MT"/>
              </a:rPr>
              <a:t>clinical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investigation.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Orthop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Trauma.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2008;22(10):673–9.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https://doi.</a:t>
            </a:r>
            <a:r>
              <a:rPr dirty="0" sz="1800" spc="500">
                <a:latin typeface="Arial MT"/>
                <a:cs typeface="Arial MT"/>
              </a:rPr>
              <a:t>  </a:t>
            </a:r>
            <a:r>
              <a:rPr dirty="0" sz="1800" spc="-10">
                <a:latin typeface="Arial MT"/>
                <a:cs typeface="Arial MT"/>
              </a:rPr>
              <a:t>org/10.1097/BOT.0b013e31818b1452</a:t>
            </a:r>
            <a:endParaRPr sz="1800">
              <a:latin typeface="Arial MT"/>
              <a:cs typeface="Arial MT"/>
            </a:endParaRPr>
          </a:p>
          <a:p>
            <a:pPr marL="355600" marR="39878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Weil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YA,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Gardner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MJ,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Boraiah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Helfet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DL,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Lorich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DG.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Posteromedial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supine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approach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reduction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>
                <a:latin typeface="Arial MT"/>
                <a:cs typeface="Arial MT"/>
              </a:rPr>
              <a:t>fixation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medial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bicondylar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tibial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plateau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fractures.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Orthop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Trauma.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2008;22(5):357–62.</a:t>
            </a:r>
            <a:endParaRPr sz="1800">
              <a:latin typeface="Arial MT"/>
              <a:cs typeface="Arial MT"/>
            </a:endParaRPr>
          </a:p>
          <a:p>
            <a:pPr marL="355600" marR="131445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Rohra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Suri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HS,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Gangrade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K.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Functional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radiological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outcome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schatzker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tibial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plateau </a:t>
            </a:r>
            <a:r>
              <a:rPr dirty="0" sz="1800">
                <a:latin typeface="Arial MT"/>
                <a:cs typeface="Arial MT"/>
              </a:rPr>
              <a:t>fracture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treatment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dual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minimum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3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years</a:t>
            </a:r>
            <a:r>
              <a:rPr dirty="0" sz="1800" spc="-10">
                <a:latin typeface="Arial MT"/>
                <a:cs typeface="Arial MT"/>
              </a:rPr>
              <a:t> follow-</a:t>
            </a:r>
            <a:r>
              <a:rPr dirty="0" sz="1800">
                <a:latin typeface="Arial MT"/>
                <a:cs typeface="Arial MT"/>
              </a:rPr>
              <a:t>up: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prospective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study.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Diagn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Res.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8595" y="-24404"/>
            <a:ext cx="46863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/>
              <a:t>55</a:t>
            </a:r>
            <a:r>
              <a:rPr dirty="0" sz="1150" spc="-20"/>
              <a:t>th</a:t>
            </a:r>
            <a:endParaRPr sz="1150"/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814023" y="4141368"/>
            <a:ext cx="1803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THANK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YOU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