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71" autoAdjust="0"/>
    <p:restoredTop sz="94624" autoAdjust="0"/>
  </p:normalViewPr>
  <p:slideViewPr>
    <p:cSldViewPr snapToGrid="0">
      <p:cViewPr>
        <p:scale>
          <a:sx n="66" d="100"/>
          <a:sy n="66" d="100"/>
        </p:scale>
        <p:origin x="-78" y="88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FF0522-EE73-4933-B7EA-EC5E56972758}" type="datetimeFigureOut">
              <a:rPr lang="en-US" smtClean="0"/>
              <a:t>01-Feb-26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18DB51-0722-4537-9C1D-82432DC8824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18DB51-0722-4537-9C1D-82432DC8824E}"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5" name="Footer Placeholder 4">
            <a:extLst>
              <a:ext uri="{FF2B5EF4-FFF2-40B4-BE49-F238E27FC236}">
                <a16:creationId xmlns=""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5" name="Footer Placeholder 4">
            <a:extLst>
              <a:ext uri="{FF2B5EF4-FFF2-40B4-BE49-F238E27FC236}">
                <a16:creationId xmlns=""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5" name="Footer Placeholder 4">
            <a:extLst>
              <a:ext uri="{FF2B5EF4-FFF2-40B4-BE49-F238E27FC236}">
                <a16:creationId xmlns=""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6" name="Footer Placeholder 5">
            <a:extLst>
              <a:ext uri="{FF2B5EF4-FFF2-40B4-BE49-F238E27FC236}">
                <a16:creationId xmlns=""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8" name="Footer Placeholder 7">
            <a:extLst>
              <a:ext uri="{FF2B5EF4-FFF2-40B4-BE49-F238E27FC236}">
                <a16:creationId xmlns=""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4" name="Footer Placeholder 3">
            <a:extLst>
              <a:ext uri="{FF2B5EF4-FFF2-40B4-BE49-F238E27FC236}">
                <a16:creationId xmlns=""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3" name="Footer Placeholder 2">
            <a:extLst>
              <a:ext uri="{FF2B5EF4-FFF2-40B4-BE49-F238E27FC236}">
                <a16:creationId xmlns=""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6" name="Footer Placeholder 5">
            <a:extLst>
              <a:ext uri="{FF2B5EF4-FFF2-40B4-BE49-F238E27FC236}">
                <a16:creationId xmlns=""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6" name="Footer Placeholder 5">
            <a:extLst>
              <a:ext uri="{FF2B5EF4-FFF2-40B4-BE49-F238E27FC236}">
                <a16:creationId xmlns=""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5" name="Footer Placeholder 4">
            <a:extLst>
              <a:ext uri="{FF2B5EF4-FFF2-40B4-BE49-F238E27FC236}">
                <a16:creationId xmlns=""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01-Feb-26</a:t>
            </a:fld>
            <a:endParaRPr lang="en-US"/>
          </a:p>
        </p:txBody>
      </p:sp>
      <p:sp>
        <p:nvSpPr>
          <p:cNvPr id="5" name="Footer Placeholder 4">
            <a:extLst>
              <a:ext uri="{FF2B5EF4-FFF2-40B4-BE49-F238E27FC236}">
                <a16:creationId xmlns=""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 xmlns:a16="http://schemas.microsoft.com/office/drawing/2014/main" id="{F2BE4274-EF19-EE7E-5761-D489EED61B88}"/>
              </a:ext>
            </a:extLst>
          </p:cNvPr>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 xmlns:a16="http://schemas.microsoft.com/office/drawing/2014/main" id="{A91A2BA2-F38B-80BA-A985-5949FC76FEA7}"/>
              </a:ext>
            </a:extLst>
          </p:cNvPr>
          <p:cNvPicPr>
            <a:picLocks noChangeAspect="1"/>
          </p:cNvPicPr>
          <p:nvPr userDrawn="1"/>
        </p:nvPicPr>
        <p:blipFill>
          <a:blip r:embed="rId14" cstate="print">
            <a:extLst>
              <a:ext uri="{28A0092B-C50C-407E-A947-70E740481C1C}">
                <a14:useLocalDpi xmlns=""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 xmlns:a16="http://schemas.microsoft.com/office/drawing/2014/main" id="{604524FB-BCF4-1B74-A89E-4EDE85967878}"/>
              </a:ext>
            </a:extLst>
          </p:cNvPr>
          <p:cNvPicPr>
            <a:picLocks noChangeAspect="1"/>
          </p:cNvPicPr>
          <p:nvPr userDrawn="1"/>
        </p:nvPicPr>
        <p:blipFill>
          <a:blip r:embed="rId15" cstate="print">
            <a:extLst>
              <a:ext uri="{28A0092B-C50C-407E-A947-70E740481C1C}">
                <a14:useLocalDpi xmlns=""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cstate="print"/>
            <a:stretch>
              <a:fillRect t="-9937" r="-4895" b="-10857"/>
            </a:stretch>
          </a:blipFill>
        </p:spPr>
        <p:txBody>
          <a:bodyPr/>
          <a:lstStyle/>
          <a:p>
            <a:endParaRPr lang="en-US"/>
          </a:p>
        </p:txBody>
      </p:sp>
    </p:spTree>
    <p:extLst>
      <p:ext uri="{BB962C8B-B14F-4D97-AF65-F5344CB8AC3E}">
        <p14:creationId xmlns=""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5.pn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 xmlns:a16="http://schemas.microsoft.com/office/drawing/2014/main" id="{E872BCCA-09F4-9D91-AE26-B5E437D7714E}"/>
              </a:ext>
            </a:extLst>
          </p:cNvPr>
          <p:cNvSpPr/>
          <p:nvPr/>
        </p:nvSpPr>
        <p:spPr>
          <a:xfrm>
            <a:off x="2"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 xmlns:a16="http://schemas.microsoft.com/office/drawing/2014/main" id="{4D4B9414-324A-B4ED-525E-CF04D2394B1B}"/>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058400" y="0"/>
            <a:ext cx="779038" cy="779038"/>
          </a:xfrm>
          <a:prstGeom prst="rect">
            <a:avLst/>
          </a:prstGeom>
        </p:spPr>
      </p:pic>
      <p:pic>
        <p:nvPicPr>
          <p:cNvPr id="16" name="Picture 15">
            <a:extLst>
              <a:ext uri="{FF2B5EF4-FFF2-40B4-BE49-F238E27FC236}">
                <a16:creationId xmlns="" xmlns:a16="http://schemas.microsoft.com/office/drawing/2014/main" id="{6B23EAFB-E583-3DAF-08B5-661672CE88F0}"/>
              </a:ext>
            </a:extLst>
          </p:cNvPr>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11671300" y="0"/>
            <a:ext cx="520700" cy="884047"/>
          </a:xfrm>
          <a:prstGeom prst="rect">
            <a:avLst/>
          </a:prstGeom>
        </p:spPr>
      </p:pic>
      <p:pic>
        <p:nvPicPr>
          <p:cNvPr id="17" name="Picture 16">
            <a:extLst>
              <a:ext uri="{FF2B5EF4-FFF2-40B4-BE49-F238E27FC236}">
                <a16:creationId xmlns="" xmlns:a16="http://schemas.microsoft.com/office/drawing/2014/main" id="{3C21D24D-75B4-7ADE-170F-FE845B818D4F}"/>
              </a:ext>
            </a:extLst>
          </p:cNvPr>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10915293" y="0"/>
            <a:ext cx="785940" cy="785940"/>
          </a:xfrm>
          <a:prstGeom prst="rect">
            <a:avLst/>
          </a:prstGeom>
        </p:spPr>
      </p:pic>
      <p:sp>
        <p:nvSpPr>
          <p:cNvPr id="18" name="TextBox 17">
            <a:extLst>
              <a:ext uri="{FF2B5EF4-FFF2-40B4-BE49-F238E27FC236}">
                <a16:creationId xmlns="" xmlns:a16="http://schemas.microsoft.com/office/drawing/2014/main" id="{EA6BB7B0-D981-FEB6-4479-7A49704B2B87}"/>
              </a:ext>
            </a:extLst>
          </p:cNvPr>
          <p:cNvSpPr txBox="1"/>
          <p:nvPr/>
        </p:nvSpPr>
        <p:spPr>
          <a:xfrm>
            <a:off x="1041400" y="0"/>
            <a:ext cx="9105900" cy="369332"/>
          </a:xfrm>
          <a:prstGeom prst="rect">
            <a:avLst/>
          </a:prstGeom>
          <a:noFill/>
        </p:spPr>
        <p:txBody>
          <a:bodyPr wrap="square" rtlCol="0">
            <a:spAutoFit/>
          </a:bodyPr>
          <a:lstStyle/>
          <a:p>
            <a:r>
              <a:rPr lang="en-US" b="1" dirty="0" smtClean="0">
                <a:solidFill>
                  <a:schemeClr val="bg1"/>
                </a:solidFill>
                <a:latin typeface="Arial" pitchFamily="34" charset="0"/>
                <a:cs typeface="Arial" pitchFamily="34" charset="0"/>
              </a:rPr>
              <a:t>PRIMARY STERNAL OSTEOMYELITIS IN A CHILD A RARE ORTHOPAEDIC ENTITY</a:t>
            </a:r>
            <a:endParaRPr lang="en-US" b="1" dirty="0">
              <a:solidFill>
                <a:schemeClr val="bg1"/>
              </a:solidFill>
              <a:latin typeface="Arial" pitchFamily="34" charset="0"/>
              <a:cs typeface="Arial" pitchFamily="34" charset="0"/>
            </a:endParaRPr>
          </a:p>
        </p:txBody>
      </p:sp>
      <p:sp>
        <p:nvSpPr>
          <p:cNvPr id="19" name="TextBox 18">
            <a:extLst>
              <a:ext uri="{FF2B5EF4-FFF2-40B4-BE49-F238E27FC236}">
                <a16:creationId xmlns="" xmlns:a16="http://schemas.microsoft.com/office/drawing/2014/main" id="{CF1F608A-7742-BF27-09EC-3BB7CA324D68}"/>
              </a:ext>
            </a:extLst>
          </p:cNvPr>
          <p:cNvSpPr txBox="1"/>
          <p:nvPr/>
        </p:nvSpPr>
        <p:spPr>
          <a:xfrm>
            <a:off x="899886" y="290287"/>
            <a:ext cx="9216571" cy="1200329"/>
          </a:xfrm>
          <a:prstGeom prst="rect">
            <a:avLst/>
          </a:prstGeom>
          <a:noFill/>
        </p:spPr>
        <p:txBody>
          <a:bodyPr wrap="square" rtlCol="0">
            <a:spAutoFit/>
          </a:bodyPr>
          <a:lstStyle/>
          <a:p>
            <a:r>
              <a:rPr lang="en-US" sz="1200" b="1" dirty="0" smtClean="0">
                <a:solidFill>
                  <a:schemeClr val="bg1"/>
                </a:solidFill>
                <a:latin typeface="Arial" pitchFamily="34" charset="0"/>
                <a:cs typeface="Arial" pitchFamily="34" charset="0"/>
              </a:rPr>
              <a:t>                                                     AUTHOR : Dr. REDDYTHOTA LIKHITHA , POST GRADUATE , </a:t>
            </a:r>
            <a:endParaRPr lang="en-US" sz="1200" b="1" dirty="0" smtClean="0">
              <a:solidFill>
                <a:schemeClr val="bg1"/>
              </a:solidFill>
              <a:latin typeface="Arial" pitchFamily="34" charset="0"/>
              <a:cs typeface="Arial" pitchFamily="34" charset="0"/>
            </a:endParaRPr>
          </a:p>
          <a:p>
            <a:r>
              <a:rPr lang="en-US" sz="1200" b="1" dirty="0" smtClean="0">
                <a:solidFill>
                  <a:schemeClr val="bg1"/>
                </a:solidFill>
                <a:latin typeface="Arial" pitchFamily="34" charset="0"/>
                <a:cs typeface="Arial" pitchFamily="34" charset="0"/>
              </a:rPr>
              <a:t>                                           CO-AUTHOR: Dr. K B VIJAY MOHAN REDDY , PROFESSOR AND HOD ,</a:t>
            </a:r>
          </a:p>
          <a:p>
            <a:r>
              <a:rPr lang="en-US" sz="1200" b="1" dirty="0" smtClean="0">
                <a:solidFill>
                  <a:schemeClr val="bg1"/>
                </a:solidFill>
                <a:latin typeface="Arial" pitchFamily="34" charset="0"/>
                <a:cs typeface="Arial" pitchFamily="34" charset="0"/>
              </a:rPr>
              <a:t> </a:t>
            </a:r>
            <a:r>
              <a:rPr lang="en-US" sz="1200" b="1" dirty="0" smtClean="0">
                <a:solidFill>
                  <a:schemeClr val="bg1"/>
                </a:solidFill>
                <a:latin typeface="Arial" pitchFamily="34" charset="0"/>
                <a:cs typeface="Arial" pitchFamily="34" charset="0"/>
              </a:rPr>
              <a:t>                                                                   Dr. U. RAMA MANOHAR, ASSOCIATE PROFESSOR ,</a:t>
            </a:r>
          </a:p>
          <a:p>
            <a:r>
              <a:rPr lang="en-US" sz="1200" b="1" dirty="0" smtClean="0">
                <a:solidFill>
                  <a:schemeClr val="bg1"/>
                </a:solidFill>
                <a:latin typeface="Arial" pitchFamily="34" charset="0"/>
                <a:cs typeface="Arial" pitchFamily="34" charset="0"/>
              </a:rPr>
              <a:t> </a:t>
            </a:r>
            <a:r>
              <a:rPr lang="en-US" sz="1200" b="1" dirty="0" smtClean="0">
                <a:solidFill>
                  <a:schemeClr val="bg1"/>
                </a:solidFill>
                <a:latin typeface="Arial" pitchFamily="34" charset="0"/>
                <a:cs typeface="Arial" pitchFamily="34" charset="0"/>
              </a:rPr>
              <a:t>                                                                   Dr. D.NAGESWARA REDDY, ASSISTANT PROFESSOR      </a:t>
            </a:r>
          </a:p>
          <a:p>
            <a:r>
              <a:rPr lang="en-US" sz="1200" b="1" dirty="0" smtClean="0">
                <a:solidFill>
                  <a:schemeClr val="bg1"/>
                </a:solidFill>
                <a:latin typeface="Arial" pitchFamily="34" charset="0"/>
                <a:cs typeface="Arial" pitchFamily="34" charset="0"/>
              </a:rPr>
              <a:t> </a:t>
            </a:r>
            <a:r>
              <a:rPr lang="en-US" sz="1200" b="1" dirty="0" smtClean="0">
                <a:solidFill>
                  <a:schemeClr val="bg1"/>
                </a:solidFill>
                <a:latin typeface="Arial" pitchFamily="34" charset="0"/>
                <a:cs typeface="Arial" pitchFamily="34" charset="0"/>
              </a:rPr>
              <a:t>                                                                   </a:t>
            </a:r>
            <a:r>
              <a:rPr lang="en-US" sz="1200" b="1" dirty="0" smtClean="0">
                <a:solidFill>
                  <a:schemeClr val="bg1"/>
                </a:solidFill>
                <a:latin typeface="Arial" pitchFamily="34" charset="0"/>
                <a:cs typeface="Arial" pitchFamily="34" charset="0"/>
              </a:rPr>
              <a:t>GOVERNMENT MEDICAL COLLEGE , KADAPA .</a:t>
            </a:r>
          </a:p>
          <a:p>
            <a:r>
              <a:rPr lang="en-US" sz="1200" b="1" dirty="0" smtClean="0">
                <a:solidFill>
                  <a:schemeClr val="bg1"/>
                </a:solidFill>
                <a:latin typeface="Arial" pitchFamily="34" charset="0"/>
                <a:cs typeface="Arial" pitchFamily="34" charset="0"/>
              </a:rPr>
              <a:t> </a:t>
            </a:r>
            <a:r>
              <a:rPr lang="en-US" sz="1200" b="1" dirty="0" smtClean="0">
                <a:solidFill>
                  <a:schemeClr val="bg1"/>
                </a:solidFill>
                <a:latin typeface="Arial" pitchFamily="34" charset="0"/>
                <a:cs typeface="Arial" pitchFamily="34" charset="0"/>
              </a:rPr>
              <a:t>. </a:t>
            </a:r>
            <a:endParaRPr lang="en-US" sz="1200" b="1" dirty="0">
              <a:solidFill>
                <a:schemeClr val="bg1"/>
              </a:solidFill>
              <a:latin typeface="Arial" pitchFamily="34" charset="0"/>
              <a:cs typeface="Arial" pitchFamily="34" charset="0"/>
            </a:endParaRPr>
          </a:p>
        </p:txBody>
      </p:sp>
      <p:sp>
        <p:nvSpPr>
          <p:cNvPr id="20" name="TextBox 19">
            <a:extLst>
              <a:ext uri="{FF2B5EF4-FFF2-40B4-BE49-F238E27FC236}">
                <a16:creationId xmlns="" xmlns:a16="http://schemas.microsoft.com/office/drawing/2014/main" id="{C0616687-624D-607B-6F85-335EE46873F1}"/>
              </a:ext>
            </a:extLst>
          </p:cNvPr>
          <p:cNvSpPr txBox="1"/>
          <p:nvPr/>
        </p:nvSpPr>
        <p:spPr>
          <a:xfrm>
            <a:off x="9920082" y="977900"/>
            <a:ext cx="2500518" cy="276999"/>
          </a:xfrm>
          <a:prstGeom prst="rect">
            <a:avLst/>
          </a:prstGeom>
          <a:noFill/>
        </p:spPr>
        <p:txBody>
          <a:bodyPr wrap="square" rtlCol="0">
            <a:spAutoFit/>
          </a:bodyPr>
          <a:lstStyle/>
          <a:p>
            <a:r>
              <a:rPr lang="en-US" sz="1200" b="1" dirty="0" smtClean="0">
                <a:solidFill>
                  <a:schemeClr val="bg1"/>
                </a:solidFill>
                <a:latin typeface="Gordita "/>
              </a:rPr>
              <a:t>              OSSAPCON ID -139</a:t>
            </a:r>
            <a:endParaRPr lang="en-US" sz="1200" b="1" dirty="0">
              <a:solidFill>
                <a:schemeClr val="bg1"/>
              </a:solidFill>
              <a:latin typeface="Gordita "/>
            </a:endParaRPr>
          </a:p>
        </p:txBody>
      </p:sp>
      <p:sp>
        <p:nvSpPr>
          <p:cNvPr id="4" name="Freeform 13">
            <a:extLst>
              <a:ext uri="{FF2B5EF4-FFF2-40B4-BE49-F238E27FC236}">
                <a16:creationId xmlns="" xmlns:a16="http://schemas.microsoft.com/office/drawing/2014/main" id="{0F401C6F-33A3-A415-AD1A-709059E901BF}"/>
              </a:ext>
            </a:extLst>
          </p:cNvPr>
          <p:cNvSpPr/>
          <p:nvPr/>
        </p:nvSpPr>
        <p:spPr>
          <a:xfrm>
            <a:off x="1" y="0"/>
            <a:ext cx="1041400"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cstate="print"/>
            <a:stretch>
              <a:fillRect t="-9937" r="-4895" b="-10857"/>
            </a:stretch>
          </a:blipFill>
        </p:spPr>
        <p:txBody>
          <a:bodyPr/>
          <a:lstStyle/>
          <a:p>
            <a:endParaRPr lang="en-US"/>
          </a:p>
        </p:txBody>
      </p:sp>
      <p:sp>
        <p:nvSpPr>
          <p:cNvPr id="5" name="Rectangle 4">
            <a:extLst>
              <a:ext uri="{FF2B5EF4-FFF2-40B4-BE49-F238E27FC236}">
                <a16:creationId xmlns="" xmlns:a16="http://schemas.microsoft.com/office/drawing/2014/main" id="{1D4F9D5A-1DDA-4BC3-63F3-F36226B86C87}"/>
              </a:ext>
            </a:extLst>
          </p:cNvPr>
          <p:cNvSpPr/>
          <p:nvPr/>
        </p:nvSpPr>
        <p:spPr>
          <a:xfrm>
            <a:off x="0" y="1674796"/>
            <a:ext cx="3108960"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 xmlns:a16="http://schemas.microsoft.com/office/drawing/2014/main" id="{6D1A47E9-312C-D04A-D368-EE96CE32C982}"/>
              </a:ext>
            </a:extLst>
          </p:cNvPr>
          <p:cNvSpPr/>
          <p:nvPr/>
        </p:nvSpPr>
        <p:spPr>
          <a:xfrm>
            <a:off x="3108806" y="1280158"/>
            <a:ext cx="3495193"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 xmlns:a16="http://schemas.microsoft.com/office/drawing/2014/main" id="{493EBCB5-BB50-7945-E88B-86122853702B}"/>
              </a:ext>
            </a:extLst>
          </p:cNvPr>
          <p:cNvSpPr/>
          <p:nvPr/>
        </p:nvSpPr>
        <p:spPr>
          <a:xfrm>
            <a:off x="3108806" y="1277258"/>
            <a:ext cx="3509707" cy="426566"/>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 xmlns:a16="http://schemas.microsoft.com/office/drawing/2014/main" id="{779DCDE1-7E85-0646-3543-9C1638CEB9CA}"/>
              </a:ext>
            </a:extLst>
          </p:cNvPr>
          <p:cNvSpPr/>
          <p:nvPr/>
        </p:nvSpPr>
        <p:spPr>
          <a:xfrm>
            <a:off x="6633029" y="1280157"/>
            <a:ext cx="5558971"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DISCUSSION</a:t>
            </a:r>
            <a:endParaRPr lang="en-US" b="1" dirty="0">
              <a:solidFill>
                <a:schemeClr val="tx1">
                  <a:lumMod val="95000"/>
                  <a:lumOff val="5000"/>
                </a:schemeClr>
              </a:solidFill>
            </a:endParaRPr>
          </a:p>
        </p:txBody>
      </p:sp>
      <p:sp>
        <p:nvSpPr>
          <p:cNvPr id="13" name="Rectangle 12">
            <a:extLst>
              <a:ext uri="{FF2B5EF4-FFF2-40B4-BE49-F238E27FC236}">
                <a16:creationId xmlns="" xmlns:a16="http://schemas.microsoft.com/office/drawing/2014/main" id="{9A130820-FF42-EA8A-339B-145E1FC668F5}"/>
              </a:ext>
            </a:extLst>
          </p:cNvPr>
          <p:cNvSpPr/>
          <p:nvPr/>
        </p:nvSpPr>
        <p:spPr>
          <a:xfrm>
            <a:off x="0" y="5005136"/>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 xmlns:a16="http://schemas.microsoft.com/office/drawing/2014/main" id="{99633B59-00B8-9FD5-0D31-D1688B16556B}"/>
              </a:ext>
            </a:extLst>
          </p:cNvPr>
          <p:cNvSpPr/>
          <p:nvPr/>
        </p:nvSpPr>
        <p:spPr>
          <a:xfrm>
            <a:off x="6749142" y="5312228"/>
            <a:ext cx="5442857" cy="491671"/>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3" name="Rectangle 22"/>
          <p:cNvSpPr/>
          <p:nvPr/>
        </p:nvSpPr>
        <p:spPr>
          <a:xfrm>
            <a:off x="0" y="1808340"/>
            <a:ext cx="3048000" cy="3193695"/>
          </a:xfrm>
          <a:prstGeom prst="rect">
            <a:avLst/>
          </a:prstGeom>
        </p:spPr>
        <p:txBody>
          <a:bodyPr>
            <a:spAutoFit/>
          </a:bodyPr>
          <a:lstStyle/>
          <a:p>
            <a:pPr lvl="0">
              <a:lnSpc>
                <a:spcPct val="115000"/>
              </a:lnSpc>
              <a:spcAft>
                <a:spcPts val="1000"/>
              </a:spcAft>
            </a:pPr>
            <a:r>
              <a:rPr lang="en-US" sz="1200" dirty="0" smtClean="0">
                <a:solidFill>
                  <a:srgbClr val="000000"/>
                </a:solidFill>
                <a:latin typeface="Arial" pitchFamily="34" charset="0"/>
                <a:ea typeface="宋体"/>
                <a:cs typeface="Arial" pitchFamily="34" charset="0"/>
              </a:rPr>
              <a:t>Primary </a:t>
            </a:r>
            <a:r>
              <a:rPr lang="en-US" sz="1200" dirty="0" err="1" smtClean="0">
                <a:solidFill>
                  <a:srgbClr val="000000"/>
                </a:solidFill>
                <a:latin typeface="Arial" pitchFamily="34" charset="0"/>
                <a:ea typeface="宋体"/>
                <a:cs typeface="Arial" pitchFamily="34" charset="0"/>
              </a:rPr>
              <a:t>Sternal</a:t>
            </a:r>
            <a:r>
              <a:rPr lang="en-US" sz="1200" dirty="0" smtClean="0">
                <a:solidFill>
                  <a:srgbClr val="000000"/>
                </a:solidFill>
                <a:latin typeface="Arial" pitchFamily="34" charset="0"/>
                <a:ea typeface="宋体"/>
                <a:cs typeface="Arial" pitchFamily="34" charset="0"/>
              </a:rPr>
              <a:t> </a:t>
            </a:r>
            <a:r>
              <a:rPr lang="en-US" sz="1200" dirty="0" err="1" smtClean="0">
                <a:solidFill>
                  <a:srgbClr val="000000"/>
                </a:solidFill>
                <a:latin typeface="Arial" pitchFamily="34" charset="0"/>
                <a:ea typeface="宋体"/>
                <a:cs typeface="Arial" pitchFamily="34" charset="0"/>
              </a:rPr>
              <a:t>Osteomyelitis</a:t>
            </a:r>
            <a:r>
              <a:rPr lang="en-US"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(PSO) is an exceptionally rare condition in children, accounting for &lt;1% of </a:t>
            </a:r>
            <a:r>
              <a:rPr lang="en-US" sz="1200" dirty="0" err="1" smtClean="0">
                <a:solidFill>
                  <a:srgbClr val="000000"/>
                </a:solidFill>
                <a:latin typeface="Arial" pitchFamily="34" charset="0"/>
                <a:ea typeface="宋体"/>
                <a:cs typeface="Arial" pitchFamily="34" charset="0"/>
              </a:rPr>
              <a:t>paediatric</a:t>
            </a:r>
            <a:r>
              <a:rPr lang="en-US" sz="1200" dirty="0" smtClean="0">
                <a:solidFill>
                  <a:srgbClr val="000000"/>
                </a:solidFill>
                <a:latin typeface="Arial" pitchFamily="34" charset="0"/>
                <a:ea typeface="宋体"/>
                <a:cs typeface="Arial" pitchFamily="34" charset="0"/>
              </a:rPr>
              <a:t> </a:t>
            </a:r>
            <a:r>
              <a:rPr lang="en-US" sz="1200" dirty="0" err="1" smtClean="0">
                <a:solidFill>
                  <a:srgbClr val="000000"/>
                </a:solidFill>
                <a:latin typeface="Arial" pitchFamily="34" charset="0"/>
                <a:ea typeface="宋体"/>
                <a:cs typeface="Arial" pitchFamily="34" charset="0"/>
              </a:rPr>
              <a:t>Osteomyelitis</a:t>
            </a:r>
            <a:r>
              <a:rPr lang="en-US" sz="1200" dirty="0" smtClean="0">
                <a:solidFill>
                  <a:srgbClr val="000000"/>
                </a:solidFill>
                <a:latin typeface="Arial" pitchFamily="34" charset="0"/>
                <a:ea typeface="宋体"/>
                <a:cs typeface="Arial" pitchFamily="34" charset="0"/>
              </a:rPr>
              <a:t>. </a:t>
            </a:r>
          </a:p>
          <a:p>
            <a:pPr lvl="0">
              <a:lnSpc>
                <a:spcPct val="115000"/>
              </a:lnSpc>
              <a:spcAft>
                <a:spcPts val="1000"/>
              </a:spcAft>
            </a:pPr>
            <a:r>
              <a:rPr lang="en-US" sz="1200" dirty="0" smtClean="0">
                <a:solidFill>
                  <a:srgbClr val="000000"/>
                </a:solidFill>
                <a:latin typeface="Arial" pitchFamily="34" charset="0"/>
                <a:ea typeface="宋体"/>
                <a:cs typeface="Arial" pitchFamily="34" charset="0"/>
              </a:rPr>
              <a:t>Clinical presentation is often non-specific, leading to delayed diagnosis and inappropriate initial treatment. PSO is termed primary when there is no adjacent focus of infection such as thoracic surgery, chest trauma, CPR, or vascular catheterization. Early recognition is crucial to prevent serious complications including </a:t>
            </a:r>
            <a:r>
              <a:rPr lang="en-US" sz="1200" dirty="0" err="1" smtClean="0">
                <a:solidFill>
                  <a:srgbClr val="000000"/>
                </a:solidFill>
                <a:latin typeface="Arial" pitchFamily="34" charset="0"/>
                <a:ea typeface="宋体"/>
                <a:cs typeface="Arial" pitchFamily="34" charset="0"/>
              </a:rPr>
              <a:t>Mediastinitis</a:t>
            </a:r>
            <a:r>
              <a:rPr lang="en-US"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Chronic </a:t>
            </a:r>
            <a:r>
              <a:rPr lang="en-US" sz="1200" dirty="0" err="1" smtClean="0">
                <a:solidFill>
                  <a:srgbClr val="000000"/>
                </a:solidFill>
                <a:latin typeface="Arial" pitchFamily="34" charset="0"/>
                <a:ea typeface="宋体"/>
                <a:cs typeface="Arial" pitchFamily="34" charset="0"/>
              </a:rPr>
              <a:t>osteomyelitis</a:t>
            </a:r>
            <a:r>
              <a:rPr lang="en-US" sz="1200" dirty="0" smtClean="0">
                <a:solidFill>
                  <a:srgbClr val="000000"/>
                </a:solidFill>
                <a:latin typeface="Arial" pitchFamily="34" charset="0"/>
                <a:ea typeface="宋体"/>
                <a:cs typeface="Arial" pitchFamily="34" charset="0"/>
              </a:rPr>
              <a:t>, and chest wall instability</a:t>
            </a:r>
            <a:r>
              <a:rPr lang="en-US" sz="1200" dirty="0" smtClean="0">
                <a:solidFill>
                  <a:srgbClr val="000000"/>
                </a:solidFill>
                <a:latin typeface="Calibri"/>
                <a:ea typeface="宋体"/>
                <a:cs typeface="Times New Roman"/>
              </a:rPr>
              <a:t>. </a:t>
            </a:r>
            <a:endParaRPr lang="en-US" sz="1200" dirty="0">
              <a:solidFill>
                <a:srgbClr val="000000"/>
              </a:solidFill>
              <a:latin typeface="Calibri"/>
              <a:ea typeface="宋体"/>
              <a:cs typeface="Times New Roman"/>
            </a:endParaRPr>
          </a:p>
        </p:txBody>
      </p:sp>
      <p:sp>
        <p:nvSpPr>
          <p:cNvPr id="24" name="Rectangle 23"/>
          <p:cNvSpPr/>
          <p:nvPr/>
        </p:nvSpPr>
        <p:spPr>
          <a:xfrm>
            <a:off x="3145971" y="1660071"/>
            <a:ext cx="3588657" cy="2684838"/>
          </a:xfrm>
          <a:prstGeom prst="rect">
            <a:avLst/>
          </a:prstGeom>
        </p:spPr>
        <p:txBody>
          <a:bodyPr wrap="square">
            <a:spAutoFit/>
          </a:bodyPr>
          <a:lstStyle/>
          <a:p>
            <a:pPr>
              <a:lnSpc>
                <a:spcPct val="115000"/>
              </a:lnSpc>
              <a:spcAft>
                <a:spcPts val="1000"/>
              </a:spcAft>
            </a:pPr>
            <a:r>
              <a:rPr lang="en-US" sz="1200" dirty="0" smtClean="0">
                <a:solidFill>
                  <a:srgbClr val="000000"/>
                </a:solidFill>
                <a:latin typeface="Arial" pitchFamily="34" charset="0"/>
                <a:ea typeface="宋体"/>
                <a:cs typeface="Arial" pitchFamily="34" charset="0"/>
              </a:rPr>
              <a:t>Examination</a:t>
            </a:r>
            <a:r>
              <a:rPr lang="en-US" altLang="en-IN" sz="1200" dirty="0" smtClean="0">
                <a:solidFill>
                  <a:srgbClr val="000000"/>
                </a:solidFill>
                <a:latin typeface="Arial" pitchFamily="34" charset="0"/>
                <a:ea typeface="宋体"/>
                <a:cs typeface="Arial" pitchFamily="34" charset="0"/>
              </a:rPr>
              <a:t> showed </a:t>
            </a:r>
            <a:r>
              <a:rPr lang="en-US" altLang="en-IN" sz="1200" dirty="0" smtClean="0">
                <a:solidFill>
                  <a:srgbClr val="000000"/>
                </a:solidFill>
                <a:latin typeface="Arial" pitchFamily="34" charset="0"/>
                <a:ea typeface="宋体"/>
                <a:cs typeface="Arial" pitchFamily="34" charset="0"/>
              </a:rPr>
              <a:t>i</a:t>
            </a:r>
            <a:r>
              <a:rPr lang="en-US" sz="1200" dirty="0" smtClean="0">
                <a:solidFill>
                  <a:srgbClr val="000000"/>
                </a:solidFill>
                <a:latin typeface="Arial" pitchFamily="34" charset="0"/>
                <a:ea typeface="宋体"/>
                <a:cs typeface="Arial" pitchFamily="34" charset="0"/>
              </a:rPr>
              <a:t>ll-defined</a:t>
            </a:r>
            <a:r>
              <a:rPr lang="en-US" sz="1200" dirty="0" smtClean="0">
                <a:solidFill>
                  <a:srgbClr val="000000"/>
                </a:solidFill>
                <a:latin typeface="Arial" pitchFamily="34" charset="0"/>
                <a:ea typeface="宋体"/>
                <a:cs typeface="Arial" pitchFamily="34" charset="0"/>
              </a:rPr>
              <a:t>, </a:t>
            </a:r>
            <a:r>
              <a:rPr lang="en-US" sz="1200" dirty="0" err="1" smtClean="0">
                <a:solidFill>
                  <a:srgbClr val="000000"/>
                </a:solidFill>
                <a:latin typeface="Arial" pitchFamily="34" charset="0"/>
                <a:ea typeface="宋体"/>
                <a:cs typeface="Arial" pitchFamily="34" charset="0"/>
              </a:rPr>
              <a:t>Erythematous</a:t>
            </a:r>
            <a:r>
              <a:rPr lang="en-US" sz="1200" dirty="0" smtClean="0">
                <a:solidFill>
                  <a:srgbClr val="000000"/>
                </a:solidFill>
                <a:latin typeface="Arial" pitchFamily="34" charset="0"/>
                <a:ea typeface="宋体"/>
                <a:cs typeface="Arial" pitchFamily="34" charset="0"/>
              </a:rPr>
              <a:t>, firm, tender swelling (≈2 cm) over the body of sternum </a:t>
            </a:r>
            <a:r>
              <a:rPr lang="en-US" altLang="en-IN" sz="1200" dirty="0" smtClean="0">
                <a:solidFill>
                  <a:srgbClr val="000000"/>
                </a:solidFill>
                <a:latin typeface="Arial" pitchFamily="34" charset="0"/>
                <a:ea typeface="宋体"/>
                <a:cs typeface="Arial" pitchFamily="34" charset="0"/>
              </a:rPr>
              <a:t>,</a:t>
            </a:r>
            <a:r>
              <a:rPr lang="en-US" sz="1200" dirty="0" smtClean="0">
                <a:solidFill>
                  <a:srgbClr val="000000"/>
                </a:solidFill>
                <a:latin typeface="Arial" pitchFamily="34" charset="0"/>
                <a:ea typeface="宋体"/>
                <a:cs typeface="Arial" pitchFamily="34" charset="0"/>
              </a:rPr>
              <a:t>Fixed to underlying bone</a:t>
            </a:r>
            <a:r>
              <a:rPr lang="en-US" altLang="en-IN" sz="1200" dirty="0" smtClean="0">
                <a:solidFill>
                  <a:srgbClr val="000000"/>
                </a:solidFill>
                <a:latin typeface="Arial" pitchFamily="34" charset="0"/>
                <a:ea typeface="宋体"/>
                <a:cs typeface="Arial" pitchFamily="34" charset="0"/>
              </a:rPr>
              <a:t>. </a:t>
            </a:r>
          </a:p>
          <a:p>
            <a:pPr>
              <a:lnSpc>
                <a:spcPct val="115000"/>
              </a:lnSpc>
              <a:spcAft>
                <a:spcPts val="1000"/>
              </a:spcAft>
            </a:pPr>
            <a:r>
              <a:rPr lang="en-US" sz="1200" dirty="0" smtClean="0">
                <a:solidFill>
                  <a:srgbClr val="000000"/>
                </a:solidFill>
                <a:latin typeface="Arial" pitchFamily="34" charset="0"/>
                <a:ea typeface="宋体"/>
                <a:cs typeface="Arial" pitchFamily="34" charset="0"/>
              </a:rPr>
              <a:t>Laboratory findings</a:t>
            </a:r>
            <a:r>
              <a:rPr lang="en-US" altLang="en-IN"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Elevated </a:t>
            </a:r>
            <a:r>
              <a:rPr lang="en-US" sz="1200" dirty="0" smtClean="0">
                <a:solidFill>
                  <a:srgbClr val="000000"/>
                </a:solidFill>
                <a:latin typeface="Arial" pitchFamily="34" charset="0"/>
                <a:ea typeface="宋体"/>
                <a:cs typeface="Arial" pitchFamily="34" charset="0"/>
              </a:rPr>
              <a:t>WBC count, ESR, and CRP</a:t>
            </a:r>
            <a:r>
              <a:rPr lang="en-US" altLang="en-IN" sz="1200" dirty="0" smtClean="0">
                <a:solidFill>
                  <a:srgbClr val="000000"/>
                </a:solidFill>
                <a:latin typeface="Arial" pitchFamily="34" charset="0"/>
                <a:ea typeface="宋体"/>
                <a:cs typeface="Arial" pitchFamily="34" charset="0"/>
              </a:rPr>
              <a:t>.</a:t>
            </a:r>
            <a:r>
              <a:rPr lang="en-US" sz="1200" dirty="0" smtClean="0">
                <a:solidFill>
                  <a:srgbClr val="000000"/>
                </a:solidFill>
                <a:latin typeface="Arial" pitchFamily="34" charset="0"/>
                <a:ea typeface="宋体"/>
                <a:cs typeface="Arial" pitchFamily="34" charset="0"/>
              </a:rPr>
              <a:t> Imaging -X-ray chest -Normal. HRCT- </a:t>
            </a:r>
            <a:r>
              <a:rPr lang="en-US" sz="1200" dirty="0" smtClean="0">
                <a:solidFill>
                  <a:srgbClr val="000000"/>
                </a:solidFill>
                <a:latin typeface="Arial" pitchFamily="34" charset="0"/>
                <a:ea typeface="宋体"/>
                <a:cs typeface="Arial" pitchFamily="34" charset="0"/>
              </a:rPr>
              <a:t>Cortical erosions and bony destruction of </a:t>
            </a:r>
            <a:r>
              <a:rPr lang="en-US" sz="1200" dirty="0" err="1" smtClean="0">
                <a:solidFill>
                  <a:srgbClr val="000000"/>
                </a:solidFill>
                <a:latin typeface="Arial" pitchFamily="34" charset="0"/>
                <a:ea typeface="宋体"/>
                <a:cs typeface="Arial" pitchFamily="34" charset="0"/>
              </a:rPr>
              <a:t>sternal</a:t>
            </a:r>
            <a:r>
              <a:rPr lang="en-US" sz="1200" dirty="0" smtClean="0">
                <a:solidFill>
                  <a:srgbClr val="000000"/>
                </a:solidFill>
                <a:latin typeface="Arial" pitchFamily="34" charset="0"/>
                <a:ea typeface="宋体"/>
                <a:cs typeface="Arial" pitchFamily="34" charset="0"/>
              </a:rPr>
              <a:t> body with </a:t>
            </a:r>
            <a:r>
              <a:rPr lang="en-US" sz="1200" dirty="0" smtClean="0">
                <a:solidFill>
                  <a:srgbClr val="000000"/>
                </a:solidFill>
                <a:latin typeface="Arial" pitchFamily="34" charset="0"/>
                <a:ea typeface="宋体"/>
                <a:cs typeface="Arial" pitchFamily="34" charset="0"/>
              </a:rPr>
              <a:t>adjacent  </a:t>
            </a:r>
            <a:r>
              <a:rPr lang="en-US" sz="1200" dirty="0" err="1" smtClean="0">
                <a:solidFill>
                  <a:srgbClr val="000000"/>
                </a:solidFill>
                <a:latin typeface="Arial" pitchFamily="34" charset="0"/>
                <a:ea typeface="宋体"/>
                <a:cs typeface="Arial" pitchFamily="34" charset="0"/>
              </a:rPr>
              <a:t>Myositis</a:t>
            </a:r>
            <a:r>
              <a:rPr lang="en-US"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and </a:t>
            </a:r>
            <a:r>
              <a:rPr lang="en-US" sz="1200" dirty="0" err="1" smtClean="0">
                <a:solidFill>
                  <a:srgbClr val="000000"/>
                </a:solidFill>
                <a:latin typeface="Arial" pitchFamily="34" charset="0"/>
                <a:ea typeface="宋体"/>
                <a:cs typeface="Arial" pitchFamily="34" charset="0"/>
              </a:rPr>
              <a:t>C</a:t>
            </a:r>
            <a:r>
              <a:rPr lang="en-US" sz="1200" dirty="0" err="1" smtClean="0">
                <a:solidFill>
                  <a:srgbClr val="000000"/>
                </a:solidFill>
                <a:latin typeface="Arial" pitchFamily="34" charset="0"/>
                <a:ea typeface="宋体"/>
                <a:cs typeface="Arial" pitchFamily="34" charset="0"/>
              </a:rPr>
              <a:t>hondritis</a:t>
            </a:r>
            <a:r>
              <a:rPr lang="en-US" altLang="en-IN" sz="1200" dirty="0" smtClean="0">
                <a:solidFill>
                  <a:srgbClr val="000000"/>
                </a:solidFill>
                <a:latin typeface="Arial" pitchFamily="34" charset="0"/>
                <a:ea typeface="宋体"/>
                <a:cs typeface="Arial" pitchFamily="34" charset="0"/>
              </a:rPr>
              <a:t>. </a:t>
            </a:r>
          </a:p>
          <a:p>
            <a:pPr>
              <a:lnSpc>
                <a:spcPct val="115000"/>
              </a:lnSpc>
              <a:spcAft>
                <a:spcPts val="1000"/>
              </a:spcAft>
            </a:pPr>
            <a:r>
              <a:rPr lang="en-US" sz="1200" dirty="0" smtClean="0">
                <a:solidFill>
                  <a:srgbClr val="000000"/>
                </a:solidFill>
                <a:latin typeface="Arial" pitchFamily="34" charset="0"/>
                <a:ea typeface="宋体"/>
                <a:cs typeface="Arial" pitchFamily="34" charset="0"/>
              </a:rPr>
              <a:t>MRI- </a:t>
            </a:r>
            <a:r>
              <a:rPr lang="en-US" sz="1200" dirty="0" smtClean="0">
                <a:solidFill>
                  <a:srgbClr val="000000"/>
                </a:solidFill>
                <a:latin typeface="Arial" pitchFamily="34" charset="0"/>
                <a:ea typeface="宋体"/>
                <a:cs typeface="Arial" pitchFamily="34" charset="0"/>
              </a:rPr>
              <a:t>Ill-defined </a:t>
            </a:r>
            <a:r>
              <a:rPr lang="en-US" sz="1200" dirty="0" err="1" smtClean="0">
                <a:solidFill>
                  <a:srgbClr val="000000"/>
                </a:solidFill>
                <a:latin typeface="Arial" pitchFamily="34" charset="0"/>
                <a:ea typeface="宋体"/>
                <a:cs typeface="Arial" pitchFamily="34" charset="0"/>
              </a:rPr>
              <a:t>Lytic</a:t>
            </a:r>
            <a:r>
              <a:rPr lang="en-US"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lesion with tiny sinus tract extending into subcutaneous </a:t>
            </a:r>
            <a:r>
              <a:rPr lang="en-US" sz="1200" dirty="0" smtClean="0">
                <a:solidFill>
                  <a:srgbClr val="000000"/>
                </a:solidFill>
                <a:latin typeface="Arial" pitchFamily="34" charset="0"/>
                <a:ea typeface="宋体"/>
                <a:cs typeface="Arial" pitchFamily="34" charset="0"/>
              </a:rPr>
              <a:t>plane</a:t>
            </a:r>
            <a:r>
              <a:rPr lang="en-US" altLang="en-IN"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FNAC- </a:t>
            </a:r>
            <a:r>
              <a:rPr lang="en-US" sz="1200" dirty="0" smtClean="0">
                <a:solidFill>
                  <a:srgbClr val="000000"/>
                </a:solidFill>
                <a:latin typeface="Arial" pitchFamily="34" charset="0"/>
                <a:ea typeface="宋体"/>
                <a:cs typeface="Arial" pitchFamily="34" charset="0"/>
              </a:rPr>
              <a:t>Acute inflammatory infiltrate; sterile culture </a:t>
            </a:r>
            <a:r>
              <a:rPr lang="en-US" sz="1200" dirty="0" smtClean="0">
                <a:solidFill>
                  <a:srgbClr val="000000"/>
                </a:solidFill>
                <a:latin typeface="Arial" pitchFamily="34" charset="0"/>
                <a:ea typeface="宋体"/>
                <a:cs typeface="Arial" pitchFamily="34" charset="0"/>
              </a:rPr>
              <a:t>.Management</a:t>
            </a:r>
            <a:r>
              <a:rPr lang="en-US" sz="1200" dirty="0" smtClean="0">
                <a:solidFill>
                  <a:srgbClr val="000000"/>
                </a:solidFill>
                <a:latin typeface="Arial" pitchFamily="34" charset="0"/>
                <a:ea typeface="宋体"/>
                <a:cs typeface="Arial" pitchFamily="34" charset="0"/>
              </a:rPr>
              <a:t>: Intravenous </a:t>
            </a:r>
            <a:r>
              <a:rPr lang="en-US" sz="1200" dirty="0" smtClean="0">
                <a:solidFill>
                  <a:srgbClr val="000000"/>
                </a:solidFill>
                <a:latin typeface="Arial" pitchFamily="34" charset="0"/>
                <a:ea typeface="宋体"/>
                <a:cs typeface="Arial" pitchFamily="34" charset="0"/>
              </a:rPr>
              <a:t>antibiotics </a:t>
            </a:r>
            <a:endParaRPr lang="zh-CN" altLang="en-US" sz="1200" dirty="0">
              <a:latin typeface="Arial" pitchFamily="34" charset="0"/>
              <a:cs typeface="Arial" pitchFamily="34" charset="0"/>
            </a:endParaRPr>
          </a:p>
        </p:txBody>
      </p:sp>
      <p:sp>
        <p:nvSpPr>
          <p:cNvPr id="25" name="Rectangle 24"/>
          <p:cNvSpPr/>
          <p:nvPr/>
        </p:nvSpPr>
        <p:spPr>
          <a:xfrm>
            <a:off x="0" y="5279106"/>
            <a:ext cx="3048000" cy="1494768"/>
          </a:xfrm>
          <a:prstGeom prst="rect">
            <a:avLst/>
          </a:prstGeom>
        </p:spPr>
        <p:txBody>
          <a:bodyPr>
            <a:spAutoFit/>
          </a:bodyPr>
          <a:lstStyle/>
          <a:p>
            <a:pPr lvl="0">
              <a:lnSpc>
                <a:spcPct val="115000"/>
              </a:lnSpc>
              <a:spcAft>
                <a:spcPts val="1000"/>
              </a:spcAft>
            </a:pPr>
            <a:endParaRPr lang="en-US" sz="1200" dirty="0" smtClean="0">
              <a:solidFill>
                <a:srgbClr val="000000"/>
              </a:solidFill>
              <a:latin typeface="Arial" pitchFamily="34" charset="0"/>
              <a:ea typeface="宋体"/>
              <a:cs typeface="Arial" pitchFamily="34" charset="0"/>
            </a:endParaRPr>
          </a:p>
          <a:p>
            <a:pPr lvl="0">
              <a:lnSpc>
                <a:spcPct val="115000"/>
              </a:lnSpc>
              <a:spcAft>
                <a:spcPts val="1000"/>
              </a:spcAft>
            </a:pPr>
            <a:r>
              <a:rPr lang="en-US" sz="1200" dirty="0" smtClean="0">
                <a:solidFill>
                  <a:srgbClr val="000000"/>
                </a:solidFill>
                <a:latin typeface="Arial" pitchFamily="34" charset="0"/>
                <a:ea typeface="宋体"/>
                <a:cs typeface="Arial" pitchFamily="34" charset="0"/>
              </a:rPr>
              <a:t>A male </a:t>
            </a:r>
            <a:r>
              <a:rPr lang="en-US" sz="1200" dirty="0" smtClean="0">
                <a:solidFill>
                  <a:srgbClr val="000000"/>
                </a:solidFill>
                <a:latin typeface="Arial" pitchFamily="34" charset="0"/>
                <a:ea typeface="宋体"/>
                <a:cs typeface="Arial" pitchFamily="34" charset="0"/>
              </a:rPr>
              <a:t>child </a:t>
            </a:r>
            <a:r>
              <a:rPr lang="en-US" altLang="en-IN" sz="1200" dirty="0" smtClean="0">
                <a:solidFill>
                  <a:srgbClr val="000000"/>
                </a:solidFill>
                <a:latin typeface="Arial" pitchFamily="34" charset="0"/>
                <a:ea typeface="宋体"/>
                <a:cs typeface="Arial" pitchFamily="34" charset="0"/>
              </a:rPr>
              <a:t>presented with symptoms of </a:t>
            </a:r>
            <a:r>
              <a:rPr lang="en-US" sz="1200" dirty="0" smtClean="0">
                <a:solidFill>
                  <a:srgbClr val="000000"/>
                </a:solidFill>
                <a:latin typeface="Arial" pitchFamily="34" charset="0"/>
                <a:ea typeface="宋体"/>
                <a:cs typeface="Arial" pitchFamily="34" charset="0"/>
              </a:rPr>
              <a:t>High-grade continuous fever for 20 days</a:t>
            </a:r>
            <a:r>
              <a:rPr lang="en-US" altLang="en-IN" sz="1200" dirty="0" smtClean="0">
                <a:solidFill>
                  <a:srgbClr val="000000"/>
                </a:solidFill>
                <a:latin typeface="Arial" pitchFamily="34" charset="0"/>
                <a:ea typeface="宋体"/>
                <a:cs typeface="Arial" pitchFamily="34" charset="0"/>
              </a:rPr>
              <a:t>. </a:t>
            </a:r>
            <a:r>
              <a:rPr lang="en-US" sz="1200" dirty="0" smtClean="0">
                <a:solidFill>
                  <a:srgbClr val="000000"/>
                </a:solidFill>
                <a:latin typeface="Arial" pitchFamily="34" charset="0"/>
                <a:ea typeface="宋体"/>
                <a:cs typeface="Arial" pitchFamily="34" charset="0"/>
              </a:rPr>
              <a:t>Anterior </a:t>
            </a:r>
            <a:r>
              <a:rPr lang="en-US" sz="1200" dirty="0" smtClean="0">
                <a:solidFill>
                  <a:srgbClr val="000000"/>
                </a:solidFill>
                <a:latin typeface="Arial" pitchFamily="34" charset="0"/>
                <a:ea typeface="宋体"/>
                <a:cs typeface="Arial" pitchFamily="34" charset="0"/>
              </a:rPr>
              <a:t>chest pain for 15 days, worsening on </a:t>
            </a:r>
            <a:r>
              <a:rPr lang="en-US" altLang="en-IN" sz="1200" dirty="0" smtClean="0">
                <a:solidFill>
                  <a:srgbClr val="000000"/>
                </a:solidFill>
                <a:latin typeface="Arial" pitchFamily="34" charset="0"/>
                <a:ea typeface="宋体"/>
                <a:cs typeface="Arial" pitchFamily="34" charset="0"/>
              </a:rPr>
              <a:t>supine </a:t>
            </a:r>
            <a:r>
              <a:rPr lang="en-US" sz="1200" dirty="0" smtClean="0">
                <a:solidFill>
                  <a:srgbClr val="000000"/>
                </a:solidFill>
                <a:latin typeface="Arial" pitchFamily="34" charset="0"/>
                <a:ea typeface="宋体"/>
                <a:cs typeface="Arial" pitchFamily="34" charset="0"/>
              </a:rPr>
              <a:t>and relieved on sitting up position.</a:t>
            </a:r>
            <a:endParaRPr lang="zh-CN" altLang="en-US" sz="1200" dirty="0">
              <a:solidFill>
                <a:prstClr val="black"/>
              </a:solidFill>
              <a:latin typeface="Arial" pitchFamily="34" charset="0"/>
              <a:cs typeface="Arial" pitchFamily="34" charset="0"/>
            </a:endParaRPr>
          </a:p>
        </p:txBody>
      </p:sp>
      <p:pic>
        <p:nvPicPr>
          <p:cNvPr id="26" name="Picture 25"/>
          <p:cNvPicPr>
            <a:picLocks/>
          </p:cNvPicPr>
          <p:nvPr/>
        </p:nvPicPr>
        <p:blipFill>
          <a:blip r:embed="rId7" cstate="print"/>
          <a:stretch>
            <a:fillRect/>
          </a:stretch>
        </p:blipFill>
        <p:spPr>
          <a:xfrm>
            <a:off x="3179488" y="4660899"/>
            <a:ext cx="871812" cy="952501"/>
          </a:xfrm>
          <a:prstGeom prst="rect">
            <a:avLst/>
          </a:prstGeom>
        </p:spPr>
      </p:pic>
      <p:pic>
        <p:nvPicPr>
          <p:cNvPr id="27" name="Picture 26"/>
          <p:cNvPicPr>
            <a:picLocks/>
          </p:cNvPicPr>
          <p:nvPr/>
        </p:nvPicPr>
        <p:blipFill>
          <a:blip r:embed="rId8" cstate="print"/>
          <a:stretch>
            <a:fillRect/>
          </a:stretch>
        </p:blipFill>
        <p:spPr>
          <a:xfrm>
            <a:off x="3106761" y="5708195"/>
            <a:ext cx="982514" cy="1149805"/>
          </a:xfrm>
          <a:prstGeom prst="rect">
            <a:avLst/>
          </a:prstGeom>
        </p:spPr>
      </p:pic>
      <p:pic>
        <p:nvPicPr>
          <p:cNvPr id="28" name="Picture 27"/>
          <p:cNvPicPr>
            <a:picLocks/>
          </p:cNvPicPr>
          <p:nvPr/>
        </p:nvPicPr>
        <p:blipFill>
          <a:blip r:embed="rId9" cstate="print"/>
          <a:stretch>
            <a:fillRect/>
          </a:stretch>
        </p:blipFill>
        <p:spPr>
          <a:xfrm>
            <a:off x="4201832" y="4406900"/>
            <a:ext cx="2518282" cy="2451100"/>
          </a:xfrm>
          <a:prstGeom prst="rect">
            <a:avLst/>
          </a:prstGeom>
        </p:spPr>
      </p:pic>
      <p:sp>
        <p:nvSpPr>
          <p:cNvPr id="29" name="Rectangle 28"/>
          <p:cNvSpPr/>
          <p:nvPr/>
        </p:nvSpPr>
        <p:spPr>
          <a:xfrm>
            <a:off x="6720114" y="1814286"/>
            <a:ext cx="5471886" cy="3578416"/>
          </a:xfrm>
          <a:prstGeom prst="rect">
            <a:avLst/>
          </a:prstGeom>
        </p:spPr>
        <p:txBody>
          <a:bodyPr wrap="square">
            <a:spAutoFit/>
          </a:bodyPr>
          <a:lstStyle/>
          <a:p>
            <a:pPr>
              <a:lnSpc>
                <a:spcPct val="115000"/>
              </a:lnSpc>
              <a:spcAft>
                <a:spcPts val="1000"/>
              </a:spcAft>
            </a:pPr>
            <a:r>
              <a:rPr lang="en-US" sz="1400" dirty="0" smtClean="0">
                <a:solidFill>
                  <a:srgbClr val="000000"/>
                </a:solidFill>
                <a:latin typeface="Arial" pitchFamily="34" charset="0"/>
                <a:ea typeface="宋体"/>
                <a:cs typeface="Arial" pitchFamily="34" charset="0"/>
              </a:rPr>
              <a:t>Primary </a:t>
            </a:r>
            <a:r>
              <a:rPr lang="en-US" sz="1400" dirty="0" err="1" smtClean="0">
                <a:solidFill>
                  <a:srgbClr val="000000"/>
                </a:solidFill>
                <a:latin typeface="Arial" pitchFamily="34" charset="0"/>
                <a:ea typeface="宋体"/>
                <a:cs typeface="Arial" pitchFamily="34" charset="0"/>
              </a:rPr>
              <a:t>sternal</a:t>
            </a:r>
            <a:r>
              <a:rPr lang="en-US" sz="1400" dirty="0" smtClean="0">
                <a:solidFill>
                  <a:srgbClr val="000000"/>
                </a:solidFill>
                <a:latin typeface="Arial" pitchFamily="34" charset="0"/>
                <a:ea typeface="宋体"/>
                <a:cs typeface="Arial" pitchFamily="34" charset="0"/>
              </a:rPr>
              <a:t> </a:t>
            </a:r>
            <a:r>
              <a:rPr lang="en-US" sz="1400" dirty="0" err="1" smtClean="0">
                <a:solidFill>
                  <a:srgbClr val="000000"/>
                </a:solidFill>
                <a:latin typeface="Arial" pitchFamily="34" charset="0"/>
                <a:ea typeface="宋体"/>
                <a:cs typeface="Arial" pitchFamily="34" charset="0"/>
              </a:rPr>
              <a:t>osteomyelitis</a:t>
            </a:r>
            <a:r>
              <a:rPr lang="en-US" sz="1400" dirty="0" smtClean="0">
                <a:solidFill>
                  <a:srgbClr val="000000"/>
                </a:solidFill>
                <a:latin typeface="Arial" pitchFamily="34" charset="0"/>
                <a:ea typeface="宋体"/>
                <a:cs typeface="Arial" pitchFamily="34" charset="0"/>
              </a:rPr>
              <a:t> (PSO) is extremely rare in children, accounting for &lt;1% of </a:t>
            </a:r>
            <a:r>
              <a:rPr lang="en-US" sz="1400" dirty="0" err="1" smtClean="0">
                <a:solidFill>
                  <a:srgbClr val="000000"/>
                </a:solidFill>
                <a:latin typeface="Arial" pitchFamily="34" charset="0"/>
                <a:ea typeface="宋体"/>
                <a:cs typeface="Arial" pitchFamily="34" charset="0"/>
              </a:rPr>
              <a:t>paediatric</a:t>
            </a:r>
            <a:r>
              <a:rPr lang="en-US" sz="1400" dirty="0" smtClean="0">
                <a:solidFill>
                  <a:srgbClr val="000000"/>
                </a:solidFill>
                <a:latin typeface="Arial" pitchFamily="34" charset="0"/>
                <a:ea typeface="宋体"/>
                <a:cs typeface="Arial" pitchFamily="34" charset="0"/>
              </a:rPr>
              <a:t> </a:t>
            </a:r>
            <a:r>
              <a:rPr lang="en-US" sz="1400" dirty="0" err="1" smtClean="0">
                <a:solidFill>
                  <a:srgbClr val="000000"/>
                </a:solidFill>
                <a:latin typeface="Arial" pitchFamily="34" charset="0"/>
                <a:ea typeface="宋体"/>
                <a:cs typeface="Arial" pitchFamily="34" charset="0"/>
              </a:rPr>
              <a:t>osteomyelitis</a:t>
            </a:r>
            <a:r>
              <a:rPr lang="en-US" sz="1400" dirty="0" smtClean="0">
                <a:solidFill>
                  <a:srgbClr val="000000"/>
                </a:solidFill>
                <a:latin typeface="Arial" pitchFamily="34" charset="0"/>
                <a:ea typeface="宋体"/>
                <a:cs typeface="Arial" pitchFamily="34" charset="0"/>
              </a:rPr>
              <a:t>. </a:t>
            </a:r>
          </a:p>
          <a:p>
            <a:pPr>
              <a:lnSpc>
                <a:spcPct val="115000"/>
              </a:lnSpc>
              <a:spcAft>
                <a:spcPts val="1000"/>
              </a:spcAft>
            </a:pPr>
            <a:r>
              <a:rPr lang="en-US" sz="1400" dirty="0" smtClean="0">
                <a:solidFill>
                  <a:srgbClr val="000000"/>
                </a:solidFill>
                <a:latin typeface="Arial" pitchFamily="34" charset="0"/>
                <a:ea typeface="宋体"/>
                <a:cs typeface="Arial" pitchFamily="34" charset="0"/>
              </a:rPr>
              <a:t>• Absence of preceding trauma or surgery and non-specific symptoms </a:t>
            </a:r>
            <a:r>
              <a:rPr lang="en-US" sz="1400" dirty="0" smtClean="0">
                <a:solidFill>
                  <a:srgbClr val="000000"/>
                </a:solidFill>
                <a:latin typeface="Arial" pitchFamily="34" charset="0"/>
                <a:ea typeface="宋体"/>
                <a:cs typeface="Arial" pitchFamily="34" charset="0"/>
              </a:rPr>
              <a:t>often result in delayed diagnosis. </a:t>
            </a:r>
          </a:p>
          <a:p>
            <a:pPr>
              <a:lnSpc>
                <a:spcPct val="115000"/>
              </a:lnSpc>
              <a:spcAft>
                <a:spcPts val="1000"/>
              </a:spcAft>
            </a:pPr>
            <a:r>
              <a:rPr lang="en-US" sz="1400" dirty="0" smtClean="0">
                <a:solidFill>
                  <a:srgbClr val="000000"/>
                </a:solidFill>
                <a:latin typeface="Arial" pitchFamily="34" charset="0"/>
                <a:ea typeface="宋体"/>
                <a:cs typeface="Arial" pitchFamily="34" charset="0"/>
              </a:rPr>
              <a:t>• Pre </a:t>
            </a:r>
            <a:r>
              <a:rPr lang="en-US" sz="1400" dirty="0" err="1" smtClean="0">
                <a:solidFill>
                  <a:srgbClr val="000000"/>
                </a:solidFill>
                <a:latin typeface="Arial" pitchFamily="34" charset="0"/>
                <a:ea typeface="宋体"/>
                <a:cs typeface="Arial" pitchFamily="34" charset="0"/>
              </a:rPr>
              <a:t>sternal</a:t>
            </a:r>
            <a:r>
              <a:rPr lang="en-US" sz="1400" dirty="0" smtClean="0">
                <a:solidFill>
                  <a:srgbClr val="000000"/>
                </a:solidFill>
                <a:latin typeface="Arial" pitchFamily="34" charset="0"/>
                <a:ea typeface="宋体"/>
                <a:cs typeface="Arial" pitchFamily="34" charset="0"/>
              </a:rPr>
              <a:t> chest pain worsening in the supine position may serve as an important early clinical clue.  Initial plain radiographs are frequently normal, making early diagnosis challenging. </a:t>
            </a:r>
          </a:p>
          <a:p>
            <a:pPr>
              <a:lnSpc>
                <a:spcPct val="115000"/>
              </a:lnSpc>
              <a:spcAft>
                <a:spcPts val="1000"/>
              </a:spcAft>
            </a:pPr>
            <a:r>
              <a:rPr lang="en-US" sz="1400" dirty="0" smtClean="0">
                <a:solidFill>
                  <a:srgbClr val="000000"/>
                </a:solidFill>
                <a:latin typeface="Arial" pitchFamily="34" charset="0"/>
                <a:ea typeface="宋体"/>
                <a:cs typeface="Arial" pitchFamily="34" charset="0"/>
              </a:rPr>
              <a:t>• </a:t>
            </a:r>
            <a:r>
              <a:rPr lang="en-US" sz="1400" dirty="0" smtClean="0">
                <a:solidFill>
                  <a:srgbClr val="000000"/>
                </a:solidFill>
                <a:latin typeface="Arial" pitchFamily="34" charset="0"/>
                <a:ea typeface="宋体"/>
                <a:cs typeface="Arial" pitchFamily="34" charset="0"/>
              </a:rPr>
              <a:t>MRI is the imaging modality of choice, accurately detecting early marrow involvement, cortical destruction, and soft-tissue extension. </a:t>
            </a:r>
          </a:p>
          <a:p>
            <a:pPr>
              <a:lnSpc>
                <a:spcPct val="115000"/>
              </a:lnSpc>
              <a:spcAft>
                <a:spcPts val="1000"/>
              </a:spcAft>
            </a:pPr>
            <a:r>
              <a:rPr lang="en-US" sz="1400" dirty="0" smtClean="0">
                <a:solidFill>
                  <a:srgbClr val="000000"/>
                </a:solidFill>
                <a:latin typeface="Arial" pitchFamily="34" charset="0"/>
                <a:ea typeface="宋体"/>
                <a:cs typeface="Arial" pitchFamily="34" charset="0"/>
              </a:rPr>
              <a:t>• Prompt initiation of appropriate antibiotic therapy leads to excellent </a:t>
            </a:r>
            <a:r>
              <a:rPr lang="en-US" sz="1400" dirty="0" err="1" smtClean="0">
                <a:solidFill>
                  <a:srgbClr val="000000"/>
                </a:solidFill>
                <a:latin typeface="Arial" pitchFamily="34" charset="0"/>
                <a:ea typeface="宋体"/>
                <a:cs typeface="Arial" pitchFamily="34" charset="0"/>
              </a:rPr>
              <a:t>outcomes.Delayed</a:t>
            </a:r>
            <a:r>
              <a:rPr lang="en-US" sz="1400" dirty="0" smtClean="0">
                <a:solidFill>
                  <a:srgbClr val="000000"/>
                </a:solidFill>
                <a:latin typeface="Arial" pitchFamily="34" charset="0"/>
                <a:ea typeface="宋体"/>
                <a:cs typeface="Arial" pitchFamily="34" charset="0"/>
              </a:rPr>
              <a:t> </a:t>
            </a:r>
            <a:r>
              <a:rPr lang="en-US" sz="1400" dirty="0" smtClean="0">
                <a:solidFill>
                  <a:srgbClr val="000000"/>
                </a:solidFill>
                <a:latin typeface="Arial" pitchFamily="34" charset="0"/>
                <a:ea typeface="宋体"/>
                <a:cs typeface="Arial" pitchFamily="34" charset="0"/>
              </a:rPr>
              <a:t>treatment can result in </a:t>
            </a:r>
            <a:r>
              <a:rPr lang="en-US" sz="1400" dirty="0" err="1" smtClean="0">
                <a:solidFill>
                  <a:srgbClr val="000000"/>
                </a:solidFill>
                <a:latin typeface="Arial" pitchFamily="34" charset="0"/>
                <a:ea typeface="宋体"/>
                <a:cs typeface="Arial" pitchFamily="34" charset="0"/>
              </a:rPr>
              <a:t>Mediastinitis,Chronic</a:t>
            </a:r>
            <a:r>
              <a:rPr lang="en-US" sz="1400" dirty="0" smtClean="0">
                <a:solidFill>
                  <a:srgbClr val="000000"/>
                </a:solidFill>
                <a:latin typeface="Arial" pitchFamily="34" charset="0"/>
                <a:ea typeface="宋体"/>
                <a:cs typeface="Arial" pitchFamily="34" charset="0"/>
              </a:rPr>
              <a:t> </a:t>
            </a:r>
            <a:r>
              <a:rPr lang="en-US" sz="1400" dirty="0" err="1" smtClean="0">
                <a:solidFill>
                  <a:srgbClr val="000000"/>
                </a:solidFill>
                <a:latin typeface="Arial" pitchFamily="34" charset="0"/>
                <a:ea typeface="宋体"/>
                <a:cs typeface="Arial" pitchFamily="34" charset="0"/>
              </a:rPr>
              <a:t>osteomyelitis</a:t>
            </a:r>
            <a:r>
              <a:rPr lang="en-US" sz="1400" dirty="0" smtClean="0">
                <a:solidFill>
                  <a:srgbClr val="000000"/>
                </a:solidFill>
                <a:latin typeface="Arial" pitchFamily="34" charset="0"/>
                <a:ea typeface="宋体"/>
                <a:cs typeface="Arial" pitchFamily="34" charset="0"/>
              </a:rPr>
              <a:t>, and chest wall deformity.</a:t>
            </a:r>
            <a:endParaRPr lang="en-US" sz="1400" dirty="0">
              <a:solidFill>
                <a:srgbClr val="000000"/>
              </a:solidFill>
              <a:latin typeface="Arial" pitchFamily="34" charset="0"/>
              <a:ea typeface="宋体"/>
              <a:cs typeface="Arial" pitchFamily="34" charset="0"/>
            </a:endParaRPr>
          </a:p>
        </p:txBody>
      </p:sp>
      <p:sp>
        <p:nvSpPr>
          <p:cNvPr id="34" name="Rectangle 33"/>
          <p:cNvSpPr/>
          <p:nvPr/>
        </p:nvSpPr>
        <p:spPr>
          <a:xfrm>
            <a:off x="6823529" y="5473005"/>
            <a:ext cx="5600700" cy="1384995"/>
          </a:xfrm>
          <a:prstGeom prst="rect">
            <a:avLst/>
          </a:prstGeom>
        </p:spPr>
        <p:txBody>
          <a:bodyPr wrap="square">
            <a:spAutoFit/>
          </a:bodyPr>
          <a:lstStyle/>
          <a:p>
            <a:endParaRPr lang="en-US" sz="1400" dirty="0" smtClean="0">
              <a:latin typeface="Arial" pitchFamily="34" charset="0"/>
              <a:ea typeface="宋体"/>
              <a:cs typeface="Arial" pitchFamily="34" charset="0"/>
            </a:endParaRPr>
          </a:p>
          <a:p>
            <a:endParaRPr lang="en-US" sz="1400" dirty="0" smtClean="0">
              <a:latin typeface="Arial" pitchFamily="34" charset="0"/>
              <a:ea typeface="宋体"/>
              <a:cs typeface="Arial" pitchFamily="34" charset="0"/>
            </a:endParaRPr>
          </a:p>
          <a:p>
            <a:r>
              <a:rPr lang="en-US" sz="1400" dirty="0" smtClean="0">
                <a:latin typeface="Arial" pitchFamily="34" charset="0"/>
                <a:ea typeface="宋体"/>
                <a:cs typeface="Arial" pitchFamily="34" charset="0"/>
              </a:rPr>
              <a:t>T</a:t>
            </a:r>
            <a:r>
              <a:rPr lang="en-US" sz="1400" dirty="0" smtClean="0">
                <a:solidFill>
                  <a:srgbClr val="000000"/>
                </a:solidFill>
                <a:latin typeface="Arial" pitchFamily="34" charset="0"/>
                <a:ea typeface="宋体"/>
                <a:cs typeface="Arial" pitchFamily="34" charset="0"/>
              </a:rPr>
              <a:t>his </a:t>
            </a:r>
            <a:r>
              <a:rPr lang="en-US" sz="1400" dirty="0" smtClean="0">
                <a:solidFill>
                  <a:srgbClr val="000000"/>
                </a:solidFill>
                <a:latin typeface="Arial" pitchFamily="34" charset="0"/>
                <a:ea typeface="宋体"/>
                <a:cs typeface="Arial" pitchFamily="34" charset="0"/>
              </a:rPr>
              <a:t>rare case underscores that early clinical suspicion ,timely imaging and prompt surgical debridement  with targeted antibiotic  therapy are pivotal in achieving excellent outcomes in </a:t>
            </a:r>
            <a:r>
              <a:rPr lang="en-US" sz="1400" dirty="0" err="1" smtClean="0">
                <a:solidFill>
                  <a:srgbClr val="000000"/>
                </a:solidFill>
                <a:latin typeface="Arial" pitchFamily="34" charset="0"/>
                <a:ea typeface="宋体"/>
                <a:cs typeface="Arial" pitchFamily="34" charset="0"/>
              </a:rPr>
              <a:t>paediatric</a:t>
            </a:r>
            <a:r>
              <a:rPr lang="en-US" sz="1400" dirty="0" smtClean="0">
                <a:solidFill>
                  <a:srgbClr val="000000"/>
                </a:solidFill>
                <a:latin typeface="Arial" pitchFamily="34" charset="0"/>
                <a:ea typeface="宋体"/>
                <a:cs typeface="Arial" pitchFamily="34" charset="0"/>
              </a:rPr>
              <a:t>  </a:t>
            </a:r>
            <a:r>
              <a:rPr lang="en-US" sz="1400" dirty="0" smtClean="0">
                <a:solidFill>
                  <a:srgbClr val="000000"/>
                </a:solidFill>
                <a:latin typeface="Arial" pitchFamily="34" charset="0"/>
                <a:ea typeface="宋体"/>
                <a:cs typeface="Arial" pitchFamily="34" charset="0"/>
              </a:rPr>
              <a:t>Primary </a:t>
            </a:r>
            <a:r>
              <a:rPr lang="en-US" sz="1400" dirty="0" err="1" smtClean="0">
                <a:solidFill>
                  <a:srgbClr val="000000"/>
                </a:solidFill>
                <a:latin typeface="Arial" pitchFamily="34" charset="0"/>
                <a:ea typeface="宋体"/>
                <a:cs typeface="Arial" pitchFamily="34" charset="0"/>
              </a:rPr>
              <a:t>Sternal</a:t>
            </a:r>
            <a:r>
              <a:rPr lang="en-US" sz="1400" dirty="0" smtClean="0">
                <a:solidFill>
                  <a:srgbClr val="000000"/>
                </a:solidFill>
                <a:latin typeface="Arial" pitchFamily="34" charset="0"/>
                <a:ea typeface="宋体"/>
                <a:cs typeface="Arial" pitchFamily="34" charset="0"/>
              </a:rPr>
              <a:t> </a:t>
            </a:r>
            <a:r>
              <a:rPr lang="en-US" sz="1400" dirty="0" err="1" smtClean="0">
                <a:solidFill>
                  <a:srgbClr val="000000"/>
                </a:solidFill>
                <a:latin typeface="Arial" pitchFamily="34" charset="0"/>
                <a:ea typeface="宋体"/>
                <a:cs typeface="Arial" pitchFamily="34" charset="0"/>
              </a:rPr>
              <a:t>Osteomyelitis</a:t>
            </a:r>
            <a:r>
              <a:rPr lang="en-US" sz="1400" dirty="0" smtClean="0">
                <a:solidFill>
                  <a:srgbClr val="000000"/>
                </a:solidFill>
                <a:latin typeface="Arial" pitchFamily="34" charset="0"/>
                <a:ea typeface="宋体"/>
                <a:cs typeface="Arial" pitchFamily="34" charset="0"/>
              </a:rPr>
              <a:t> </a:t>
            </a:r>
            <a:r>
              <a:rPr lang="en-US" sz="1400" dirty="0" smtClean="0">
                <a:solidFill>
                  <a:srgbClr val="000000"/>
                </a:solidFill>
                <a:latin typeface="Arial" pitchFamily="34" charset="0"/>
                <a:ea typeface="宋体"/>
                <a:cs typeface="Arial" pitchFamily="34" charset="0"/>
              </a:rPr>
              <a:t>.</a:t>
            </a:r>
            <a:endParaRPr lang="en-US" sz="1400" dirty="0">
              <a:solidFill>
                <a:srgbClr val="000000"/>
              </a:solidFill>
              <a:latin typeface="Arial" pitchFamily="34" charset="0"/>
              <a:ea typeface="宋体"/>
              <a:cs typeface="Arial" pitchFamily="34" charset="0"/>
            </a:endParaRPr>
          </a:p>
        </p:txBody>
      </p:sp>
    </p:spTree>
    <p:extLst>
      <p:ext uri="{BB962C8B-B14F-4D97-AF65-F5344CB8AC3E}">
        <p14:creationId xmlns=""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420</Words>
  <Application>Microsoft Office PowerPoint</Application>
  <PresentationFormat>Custom</PresentationFormat>
  <Paragraphs>29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Virinchi Vinay</dc:creator>
  <cp:lastModifiedBy>my</cp:lastModifiedBy>
  <cp:revision>13</cp:revision>
  <dcterms:created xsi:type="dcterms:W3CDTF">2026-01-11T06:24:43Z</dcterms:created>
  <dcterms:modified xsi:type="dcterms:W3CDTF">2026-02-01T15:06:12Z</dcterms:modified>
</cp:coreProperties>
</file>