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2/15/2026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A44D43F-1B53-AAA9-B551-4D46D6B629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9F3FAB85-38C0-CBC3-894D-F14B0983660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AAAF0D4-F34A-1980-C65B-0B020591390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73F3-C719-2568-FC4F-163C0BF5A30F}"/>
              </a:ext>
            </a:extLst>
          </p:cNvPr>
          <p:cNvSpPr>
            <a:spLocks noGrp="1"/>
          </p:cNvSpPr>
          <p:nvPr>
            <p:ph type="ctrTitle"/>
          </p:nvPr>
        </p:nvSpPr>
        <p:spPr>
          <a:xfrm>
            <a:off x="1524000" y="1334029"/>
            <a:ext cx="9144000" cy="2387600"/>
          </a:xfrm>
        </p:spPr>
        <p:txBody>
          <a:bodyPr/>
          <a:lstStyle/>
          <a:p>
            <a:r>
              <a:rPr lang="en-US" sz="4000" b="1" dirty="0">
                <a:latin typeface="Arial" panose="020B0604020202020204" pitchFamily="34" charset="0"/>
                <a:cs typeface="Arial" panose="020B0604020202020204" pitchFamily="34" charset="0"/>
              </a:rPr>
              <a:t>Functional Outcome of Comminuted Distal Radius Fractures Managed with External Fixation </a:t>
            </a:r>
            <a:endParaRPr lang="en-US" sz="4000" dirty="0"/>
          </a:p>
        </p:txBody>
      </p:sp>
      <p:sp>
        <p:nvSpPr>
          <p:cNvPr id="3" name="Subtitle 2">
            <a:extLst>
              <a:ext uri="{FF2B5EF4-FFF2-40B4-BE49-F238E27FC236}">
                <a16:creationId xmlns:a16="http://schemas.microsoft.com/office/drawing/2014/main" id="{83CB94E2-323B-D11D-3C33-261914828952}"/>
              </a:ext>
            </a:extLst>
          </p:cNvPr>
          <p:cNvSpPr>
            <a:spLocks noGrp="1"/>
          </p:cNvSpPr>
          <p:nvPr>
            <p:ph type="subTitle" idx="1"/>
          </p:nvPr>
        </p:nvSpPr>
        <p:spPr>
          <a:xfrm>
            <a:off x="1524000" y="3868209"/>
            <a:ext cx="9144000" cy="1655762"/>
          </a:xfrm>
        </p:spPr>
        <p:txBody>
          <a:bodyPr/>
          <a:lstStyle/>
          <a:p>
            <a:r>
              <a:rPr lang="en-US" dirty="0">
                <a:latin typeface="Arial" panose="020B0604020202020204" pitchFamily="34" charset="0"/>
                <a:cs typeface="Arial" panose="020B0604020202020204" pitchFamily="34" charset="0"/>
              </a:rPr>
              <a:t>PRESENTER </a:t>
            </a:r>
            <a:r>
              <a:rPr lang="en-US" dirty="0" err="1">
                <a:latin typeface="Arial" panose="020B0604020202020204" pitchFamily="34" charset="0"/>
                <a:cs typeface="Arial" panose="020B0604020202020204" pitchFamily="34" charset="0"/>
              </a:rPr>
              <a:t>Dr.V.SRI</a:t>
            </a:r>
            <a:r>
              <a:rPr lang="en-US" dirty="0">
                <a:latin typeface="Arial" panose="020B0604020202020204" pitchFamily="34" charset="0"/>
                <a:cs typeface="Arial" panose="020B0604020202020204" pitchFamily="34" charset="0"/>
              </a:rPr>
              <a:t> RAM KUMAR</a:t>
            </a:r>
          </a:p>
          <a:p>
            <a:r>
              <a:rPr lang="en-US" dirty="0">
                <a:latin typeface="Arial" panose="020B0604020202020204" pitchFamily="34" charset="0"/>
                <a:cs typeface="Arial" panose="020B0604020202020204" pitchFamily="34" charset="0"/>
              </a:rPr>
              <a:t>MODERATOR- </a:t>
            </a:r>
            <a:r>
              <a:rPr lang="en-US" dirty="0" err="1">
                <a:latin typeface="Arial" panose="020B0604020202020204" pitchFamily="34" charset="0"/>
                <a:cs typeface="Arial" panose="020B0604020202020204" pitchFamily="34" charset="0"/>
              </a:rPr>
              <a:t>Dr.G.VARAPRASAD</a:t>
            </a:r>
            <a:r>
              <a:rPr lang="en-US" dirty="0">
                <a:latin typeface="Arial" panose="020B0604020202020204" pitchFamily="34" charset="0"/>
                <a:cs typeface="Arial" panose="020B0604020202020204" pitchFamily="34" charset="0"/>
              </a:rPr>
              <a:t> SIR</a:t>
            </a:r>
          </a:p>
          <a:p>
            <a:endParaRPr lang="en-US" dirty="0"/>
          </a:p>
        </p:txBody>
      </p:sp>
    </p:spTree>
    <p:extLst>
      <p:ext uri="{BB962C8B-B14F-4D97-AF65-F5344CB8AC3E}">
        <p14:creationId xmlns:p14="http://schemas.microsoft.com/office/powerpoint/2010/main" val="3294158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CB7D9-BA3D-31AB-CB66-15B4B1054D70}"/>
              </a:ext>
            </a:extLst>
          </p:cNvPr>
          <p:cNvSpPr>
            <a:spLocks noGrp="1"/>
          </p:cNvSpPr>
          <p:nvPr>
            <p:ph idx="1"/>
          </p:nvPr>
        </p:nvSpPr>
        <p:spPr>
          <a:xfrm>
            <a:off x="838200" y="1507067"/>
            <a:ext cx="10515600" cy="4893733"/>
          </a:xfrm>
        </p:spPr>
        <p:txBody>
          <a:bodyPr/>
          <a:lstStyle/>
          <a:p>
            <a:pPr marL="0" indent="0">
              <a:buNone/>
            </a:pPr>
            <a:r>
              <a:rPr lang="en-US" b="1" dirty="0"/>
              <a:t>INTRODUCTION</a:t>
            </a:r>
          </a:p>
          <a:p>
            <a:pPr lvl="0"/>
            <a:r>
              <a:rPr lang="en-US" sz="2400" dirty="0">
                <a:latin typeface="Arial" panose="020B0604020202020204" pitchFamily="34" charset="0"/>
                <a:cs typeface="Arial" panose="020B0604020202020204" pitchFamily="34" charset="0"/>
              </a:rPr>
              <a:t>Distal radius fractures account for </a:t>
            </a:r>
            <a:r>
              <a:rPr lang="en-US" sz="2400" b="1" dirty="0">
                <a:latin typeface="Arial" panose="020B0604020202020204" pitchFamily="34" charset="0"/>
                <a:cs typeface="Arial" panose="020B0604020202020204" pitchFamily="34" charset="0"/>
              </a:rPr>
              <a:t>8–15% of all adult bone injuries</a:t>
            </a:r>
            <a:r>
              <a:rPr lang="en-US" sz="2400" dirty="0">
                <a:latin typeface="Arial" panose="020B0604020202020204" pitchFamily="34" charset="0"/>
                <a:cs typeface="Arial" panose="020B0604020202020204" pitchFamily="34" charset="0"/>
              </a:rPr>
              <a:t> and are the </a:t>
            </a:r>
            <a:r>
              <a:rPr lang="en-US" sz="2400" b="1" dirty="0">
                <a:latin typeface="Arial" panose="020B0604020202020204" pitchFamily="34" charset="0"/>
                <a:cs typeface="Arial" panose="020B0604020202020204" pitchFamily="34" charset="0"/>
              </a:rPr>
              <a:t>most common upper limb fractures</a:t>
            </a:r>
            <a:r>
              <a:rPr lang="en-US" sz="2400" dirty="0">
                <a:latin typeface="Arial" panose="020B0604020202020204" pitchFamily="34" charset="0"/>
                <a:cs typeface="Arial" panose="020B0604020202020204" pitchFamily="34" charset="0"/>
              </a:rPr>
              <a:t>.</a:t>
            </a:r>
          </a:p>
          <a:p>
            <a:pPr lvl="0"/>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incidence is increasing</a:t>
            </a:r>
            <a:r>
              <a:rPr lang="en-US" sz="2400" dirty="0">
                <a:latin typeface="Arial" panose="020B0604020202020204" pitchFamily="34" charset="0"/>
                <a:cs typeface="Arial" panose="020B0604020202020204" pitchFamily="34" charset="0"/>
              </a:rPr>
              <a:t>, with reported rates of </a:t>
            </a:r>
            <a:r>
              <a:rPr lang="en-US" sz="2400" b="1" dirty="0">
                <a:latin typeface="Arial" panose="020B0604020202020204" pitchFamily="34" charset="0"/>
                <a:cs typeface="Arial" panose="020B0604020202020204" pitchFamily="34" charset="0"/>
              </a:rPr>
              <a:t>178.1–252.4 per 100,000 person-years</a:t>
            </a:r>
            <a:r>
              <a:rPr lang="en-US" sz="2400" dirty="0">
                <a:latin typeface="Arial" panose="020B0604020202020204" pitchFamily="34" charset="0"/>
                <a:cs typeface="Arial" panose="020B0604020202020204" pitchFamily="34" charset="0"/>
              </a:rPr>
              <a:t>.</a:t>
            </a:r>
          </a:p>
          <a:p>
            <a:pPr lvl="0"/>
            <a:r>
              <a:rPr lang="en-US" sz="2400" dirty="0">
                <a:latin typeface="Arial" panose="020B0604020202020204" pitchFamily="34" charset="0"/>
                <a:cs typeface="Arial" panose="020B0604020202020204" pitchFamily="34" charset="0"/>
              </a:rPr>
              <a:t>The most common </a:t>
            </a:r>
            <a:r>
              <a:rPr lang="en-US" sz="2400" b="1" dirty="0">
                <a:latin typeface="Arial" panose="020B0604020202020204" pitchFamily="34" charset="0"/>
                <a:cs typeface="Arial" panose="020B0604020202020204" pitchFamily="34" charset="0"/>
              </a:rPr>
              <a:t>mechanism of injury</a:t>
            </a:r>
            <a:r>
              <a:rPr lang="en-US" sz="2400" dirty="0">
                <a:latin typeface="Arial" panose="020B0604020202020204" pitchFamily="34" charset="0"/>
                <a:cs typeface="Arial" panose="020B0604020202020204" pitchFamily="34" charset="0"/>
              </a:rPr>
              <a:t> is a </a:t>
            </a:r>
            <a:r>
              <a:rPr lang="en-US" sz="2400" b="1" dirty="0">
                <a:latin typeface="Arial" panose="020B0604020202020204" pitchFamily="34" charset="0"/>
                <a:cs typeface="Arial" panose="020B0604020202020204" pitchFamily="34" charset="0"/>
              </a:rPr>
              <a:t>fall on an outstretched hand (FOOSH)</a:t>
            </a:r>
            <a:r>
              <a:rPr lang="en-US" sz="2400" dirty="0">
                <a:latin typeface="Arial" panose="020B0604020202020204" pitchFamily="34" charset="0"/>
                <a:cs typeface="Arial" panose="020B0604020202020204" pitchFamily="34" charset="0"/>
              </a:rPr>
              <a:t>.</a:t>
            </a:r>
          </a:p>
          <a:p>
            <a:pPr lvl="0"/>
            <a:r>
              <a:rPr lang="en-US" sz="2400" dirty="0">
                <a:latin typeface="Arial" panose="020B0604020202020204" pitchFamily="34" charset="0"/>
                <a:cs typeface="Arial" panose="020B0604020202020204" pitchFamily="34" charset="0"/>
              </a:rPr>
              <a:t>These fractures show a </a:t>
            </a:r>
            <a:r>
              <a:rPr lang="en-US" sz="2400" b="1" dirty="0">
                <a:latin typeface="Arial" panose="020B0604020202020204" pitchFamily="34" charset="0"/>
                <a:cs typeface="Arial" panose="020B0604020202020204" pitchFamily="34" charset="0"/>
              </a:rPr>
              <a:t>bimodal age distribution</a:t>
            </a:r>
            <a:r>
              <a:rPr lang="en-US" sz="2400" dirty="0">
                <a:latin typeface="Arial" panose="020B0604020202020204" pitchFamily="34" charset="0"/>
                <a:cs typeface="Arial" panose="020B0604020202020204" pitchFamily="34" charset="0"/>
              </a:rPr>
              <a:t>:</a:t>
            </a:r>
          </a:p>
          <a:p>
            <a:pPr lvl="1"/>
            <a:r>
              <a:rPr lang="en-US" b="1" dirty="0">
                <a:latin typeface="Arial" panose="020B0604020202020204" pitchFamily="34" charset="0"/>
                <a:cs typeface="Arial" panose="020B0604020202020204" pitchFamily="34" charset="0"/>
              </a:rPr>
              <a:t>Young adults (18–25 years)</a:t>
            </a:r>
            <a:r>
              <a:rPr lang="en-US" dirty="0">
                <a:latin typeface="Arial" panose="020B0604020202020204" pitchFamily="34" charset="0"/>
                <a:cs typeface="Arial" panose="020B0604020202020204" pitchFamily="34" charset="0"/>
              </a:rPr>
              <a:t> – usually high-energy trauma</a:t>
            </a:r>
          </a:p>
          <a:p>
            <a:pPr lvl="1"/>
            <a:r>
              <a:rPr lang="en-US" b="1" dirty="0">
                <a:latin typeface="Arial" panose="020B0604020202020204" pitchFamily="34" charset="0"/>
                <a:cs typeface="Arial" panose="020B0604020202020204" pitchFamily="34" charset="0"/>
              </a:rPr>
              <a:t>Elderly (6th decade)</a:t>
            </a:r>
            <a:r>
              <a:rPr lang="en-US" dirty="0">
                <a:latin typeface="Arial" panose="020B0604020202020204" pitchFamily="34" charset="0"/>
                <a:cs typeface="Arial" panose="020B0604020202020204" pitchFamily="34" charset="0"/>
              </a:rPr>
              <a:t> – low-energy falls, often osteoporotic</a:t>
            </a:r>
          </a:p>
          <a:p>
            <a:pPr lvl="0"/>
            <a:r>
              <a:rPr lang="en-US" sz="2400" b="1" dirty="0">
                <a:latin typeface="Arial" panose="020B0604020202020204" pitchFamily="34" charset="0"/>
                <a:cs typeface="Arial" panose="020B0604020202020204" pitchFamily="34" charset="0"/>
              </a:rPr>
              <a:t>Colles’ fracture</a:t>
            </a:r>
            <a:r>
              <a:rPr lang="en-US" sz="2400" dirty="0">
                <a:latin typeface="Arial" panose="020B0604020202020204" pitchFamily="34" charset="0"/>
                <a:cs typeface="Arial" panose="020B0604020202020204" pitchFamily="34" charset="0"/>
              </a:rPr>
              <a:t>, first described by </a:t>
            </a:r>
            <a:r>
              <a:rPr lang="en-US" sz="2400" b="1" dirty="0">
                <a:latin typeface="Arial" panose="020B0604020202020204" pitchFamily="34" charset="0"/>
                <a:cs typeface="Arial" panose="020B0604020202020204" pitchFamily="34" charset="0"/>
              </a:rPr>
              <a:t>Abraham Colles in 1814</a:t>
            </a:r>
            <a:r>
              <a:rPr lang="en-US" sz="2400" dirty="0">
                <a:latin typeface="Arial" panose="020B0604020202020204" pitchFamily="34" charset="0"/>
                <a:cs typeface="Arial" panose="020B0604020202020204" pitchFamily="34" charset="0"/>
              </a:rPr>
              <a:t>, remains the classic distal radius fracture pattern.</a:t>
            </a:r>
          </a:p>
          <a:p>
            <a:endParaRPr lang="en-US" b="1" dirty="0"/>
          </a:p>
        </p:txBody>
      </p:sp>
    </p:spTree>
    <p:extLst>
      <p:ext uri="{BB962C8B-B14F-4D97-AF65-F5344CB8AC3E}">
        <p14:creationId xmlns:p14="http://schemas.microsoft.com/office/powerpoint/2010/main" val="19160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8FDC4-D7A9-636C-D0A1-BB61A266424B}"/>
              </a:ext>
            </a:extLst>
          </p:cNvPr>
          <p:cNvSpPr>
            <a:spLocks noGrp="1"/>
          </p:cNvSpPr>
          <p:nvPr>
            <p:ph idx="1"/>
          </p:nvPr>
        </p:nvSpPr>
        <p:spPr>
          <a:xfrm>
            <a:off x="838200" y="1430867"/>
            <a:ext cx="10515600" cy="4746096"/>
          </a:xfrm>
        </p:spPr>
        <p:txBody>
          <a:bodyPr/>
          <a:lstStyle/>
          <a:p>
            <a:pPr lvl="0"/>
            <a:r>
              <a:rPr lang="en-US" sz="2000" dirty="0">
                <a:latin typeface="Arial" panose="020B0604020202020204" pitchFamily="34" charset="0"/>
                <a:cs typeface="Arial" panose="020B0604020202020204" pitchFamily="34" charset="0"/>
              </a:rPr>
              <a:t>Common fracture patterns include:</a:t>
            </a:r>
          </a:p>
          <a:p>
            <a:pPr marL="914400" lvl="1" indent="-457200">
              <a:buFont typeface="+mj-lt"/>
              <a:buAutoNum type="arabicPeriod"/>
            </a:pPr>
            <a:r>
              <a:rPr lang="en-US" sz="2000" b="1" dirty="0">
                <a:latin typeface="Arial" panose="020B0604020202020204" pitchFamily="34" charset="0"/>
                <a:cs typeface="Arial" panose="020B0604020202020204" pitchFamily="34" charset="0"/>
              </a:rPr>
              <a:t>Colles’ fracture</a:t>
            </a:r>
            <a:r>
              <a:rPr lang="en-US" sz="2000" dirty="0">
                <a:latin typeface="Arial" panose="020B0604020202020204" pitchFamily="34" charset="0"/>
                <a:cs typeface="Arial" panose="020B0604020202020204" pitchFamily="34" charset="0"/>
              </a:rPr>
              <a:t> (dorsal tilt)</a:t>
            </a:r>
          </a:p>
          <a:p>
            <a:pPr marL="914400" lvl="1" indent="-457200">
              <a:buFont typeface="+mj-lt"/>
              <a:buAutoNum type="arabicPeriod"/>
            </a:pPr>
            <a:r>
              <a:rPr lang="en-US" sz="2000" b="1" dirty="0">
                <a:latin typeface="Arial" panose="020B0604020202020204" pitchFamily="34" charset="0"/>
                <a:cs typeface="Arial" panose="020B0604020202020204" pitchFamily="34" charset="0"/>
              </a:rPr>
              <a:t>Smith’s fracture</a:t>
            </a:r>
            <a:r>
              <a:rPr lang="en-US" sz="2000" dirty="0">
                <a:latin typeface="Arial" panose="020B0604020202020204" pitchFamily="34" charset="0"/>
                <a:cs typeface="Arial" panose="020B0604020202020204" pitchFamily="34" charset="0"/>
              </a:rPr>
              <a:t> (palmar tilt)</a:t>
            </a:r>
          </a:p>
          <a:p>
            <a:pPr marL="914400" lvl="1" indent="-457200">
              <a:buFont typeface="+mj-lt"/>
              <a:buAutoNum type="arabicPeriod"/>
            </a:pPr>
            <a:r>
              <a:rPr lang="en-US" sz="2000" b="1" dirty="0">
                <a:latin typeface="Arial" panose="020B0604020202020204" pitchFamily="34" charset="0"/>
                <a:cs typeface="Arial" panose="020B0604020202020204" pitchFamily="34" charset="0"/>
              </a:rPr>
              <a:t>Barton’s and reverse Barton’s fractures</a:t>
            </a:r>
            <a:r>
              <a:rPr lang="en-US" sz="2000" dirty="0">
                <a:latin typeface="Arial" panose="020B0604020202020204" pitchFamily="34" charset="0"/>
                <a:cs typeface="Arial" panose="020B0604020202020204" pitchFamily="34" charset="0"/>
              </a:rPr>
              <a:t> (dorsal/volar lip involvement)</a:t>
            </a:r>
          </a:p>
          <a:p>
            <a:pPr marL="914400" lvl="1" indent="-457200">
              <a:buFont typeface="+mj-lt"/>
              <a:buAutoNum type="arabicPeriod"/>
            </a:pPr>
            <a:r>
              <a:rPr lang="en-US" sz="2000" b="1" dirty="0">
                <a:latin typeface="Arial" panose="020B0604020202020204" pitchFamily="34" charset="0"/>
                <a:cs typeface="Arial" panose="020B0604020202020204" pitchFamily="34" charset="0"/>
              </a:rPr>
              <a:t>Chauffeur’s fracture</a:t>
            </a:r>
            <a:r>
              <a:rPr lang="en-US" sz="2000" dirty="0">
                <a:latin typeface="Arial" panose="020B0604020202020204" pitchFamily="34" charset="0"/>
                <a:cs typeface="Arial" panose="020B0604020202020204" pitchFamily="34" charset="0"/>
              </a:rPr>
              <a:t> (radial styloid)</a:t>
            </a:r>
          </a:p>
          <a:p>
            <a:pPr marL="914400" lvl="1" indent="-457200">
              <a:buFont typeface="+mj-lt"/>
              <a:buAutoNum type="arabicPeriod"/>
            </a:pPr>
            <a:r>
              <a:rPr lang="en-US" sz="2000" b="1" dirty="0">
                <a:latin typeface="Arial" panose="020B0604020202020204" pitchFamily="34" charset="0"/>
                <a:cs typeface="Arial" panose="020B0604020202020204" pitchFamily="34" charset="0"/>
              </a:rPr>
              <a:t>Die-punch fracture</a:t>
            </a:r>
            <a:r>
              <a:rPr lang="en-US" sz="2000" dirty="0">
                <a:latin typeface="Arial" panose="020B0604020202020204" pitchFamily="34" charset="0"/>
                <a:cs typeface="Arial" panose="020B0604020202020204" pitchFamily="34" charset="0"/>
              </a:rPr>
              <a:t> (articular depression)</a:t>
            </a:r>
          </a:p>
          <a:p>
            <a:pPr lvl="0"/>
            <a:r>
              <a:rPr lang="en-US" sz="2000" b="1" dirty="0">
                <a:latin typeface="Arial" panose="020B0604020202020204" pitchFamily="34" charset="0"/>
                <a:cs typeface="Arial" panose="020B0604020202020204" pitchFamily="34" charset="0"/>
              </a:rPr>
              <a:t>Intra-articular and unstable fractures</a:t>
            </a:r>
            <a:r>
              <a:rPr lang="en-US" sz="2000" dirty="0">
                <a:latin typeface="Arial" panose="020B0604020202020204" pitchFamily="34" charset="0"/>
                <a:cs typeface="Arial" panose="020B0604020202020204" pitchFamily="34" charset="0"/>
              </a:rPr>
              <a:t> require </a:t>
            </a:r>
            <a:r>
              <a:rPr lang="en-US" sz="2000" b="1" dirty="0">
                <a:latin typeface="Arial" panose="020B0604020202020204" pitchFamily="34" charset="0"/>
                <a:cs typeface="Arial" panose="020B0604020202020204" pitchFamily="34" charset="0"/>
              </a:rPr>
              <a:t>anatomical reduction and stable fixation</a:t>
            </a:r>
            <a:r>
              <a:rPr lang="en-US" sz="2000" dirty="0">
                <a:latin typeface="Arial" panose="020B0604020202020204" pitchFamily="34" charset="0"/>
                <a:cs typeface="Arial" panose="020B0604020202020204" pitchFamily="34" charset="0"/>
              </a:rPr>
              <a:t>.</a:t>
            </a:r>
          </a:p>
          <a:p>
            <a:pPr lvl="0"/>
            <a:r>
              <a:rPr lang="en-US" sz="2000" dirty="0">
                <a:latin typeface="Arial" panose="020B0604020202020204" pitchFamily="34" charset="0"/>
                <a:cs typeface="Arial" panose="020B0604020202020204" pitchFamily="34" charset="0"/>
              </a:rPr>
              <a:t>Inadequate fixation may lead to </a:t>
            </a:r>
            <a:r>
              <a:rPr lang="en-US" sz="2000" b="1" dirty="0">
                <a:latin typeface="Arial" panose="020B0604020202020204" pitchFamily="34" charset="0"/>
                <a:cs typeface="Arial" panose="020B0604020202020204" pitchFamily="34" charset="0"/>
              </a:rPr>
              <a:t>malunion, nonunion, carpal subluxation, and early post-traumatic arthritis</a:t>
            </a:r>
            <a:r>
              <a:rPr lang="en-US" sz="2000" dirty="0">
                <a:latin typeface="Arial" panose="020B0604020202020204" pitchFamily="34" charset="0"/>
                <a:cs typeface="Arial" panose="020B0604020202020204" pitchFamily="34" charset="0"/>
              </a:rPr>
              <a:t>, resulting in poor wrist function.</a:t>
            </a:r>
          </a:p>
          <a:p>
            <a:pPr lvl="0"/>
            <a:r>
              <a:rPr lang="en-US" sz="2000" b="1" dirty="0">
                <a:latin typeface="Arial" panose="020B0604020202020204" pitchFamily="34" charset="0"/>
                <a:cs typeface="Arial" panose="020B0604020202020204" pitchFamily="34" charset="0"/>
              </a:rPr>
              <a:t>External fixation</a:t>
            </a:r>
            <a:r>
              <a:rPr lang="en-US" sz="2000" dirty="0">
                <a:latin typeface="Arial" panose="020B0604020202020204" pitchFamily="34" charset="0"/>
                <a:cs typeface="Arial" panose="020B0604020202020204" pitchFamily="34" charset="0"/>
              </a:rPr>
              <a:t> was developed to manage </a:t>
            </a:r>
            <a:r>
              <a:rPr lang="en-US" sz="2000" b="1" dirty="0">
                <a:latin typeface="Arial" panose="020B0604020202020204" pitchFamily="34" charset="0"/>
                <a:cs typeface="Arial" panose="020B0604020202020204" pitchFamily="34" charset="0"/>
              </a:rPr>
              <a:t>displaced, unstable, and comminuted distal radius fractures</a:t>
            </a:r>
            <a:r>
              <a:rPr lang="en-US" sz="2000" dirty="0">
                <a:latin typeface="Arial" panose="020B0604020202020204" pitchFamily="34" charset="0"/>
                <a:cs typeface="Arial" panose="020B0604020202020204" pitchFamily="34" charset="0"/>
              </a:rPr>
              <a:t>.</a:t>
            </a:r>
          </a:p>
          <a:p>
            <a:pPr lvl="0"/>
            <a:r>
              <a:rPr lang="en-US" sz="2000" dirty="0">
                <a:latin typeface="Arial" panose="020B0604020202020204" pitchFamily="34" charset="0"/>
                <a:cs typeface="Arial" panose="020B0604020202020204" pitchFamily="34" charset="0"/>
              </a:rPr>
              <a:t>It is a </a:t>
            </a:r>
            <a:r>
              <a:rPr lang="en-US" sz="2000" b="1" dirty="0">
                <a:latin typeface="Arial" panose="020B0604020202020204" pitchFamily="34" charset="0"/>
                <a:cs typeface="Arial" panose="020B0604020202020204" pitchFamily="34" charset="0"/>
              </a:rPr>
              <a:t>minimally invasive technique</a:t>
            </a:r>
            <a:r>
              <a:rPr lang="en-US" sz="2000" dirty="0">
                <a:latin typeface="Arial" panose="020B0604020202020204" pitchFamily="34" charset="0"/>
                <a:cs typeface="Arial" panose="020B0604020202020204" pitchFamily="34" charset="0"/>
              </a:rPr>
              <a:t> that provides </a:t>
            </a:r>
            <a:r>
              <a:rPr lang="en-US" sz="2000" b="1" dirty="0">
                <a:latin typeface="Arial" panose="020B0604020202020204" pitchFamily="34" charset="0"/>
                <a:cs typeface="Arial" panose="020B0604020202020204" pitchFamily="34" charset="0"/>
              </a:rPr>
              <a:t>subchondral support</a:t>
            </a:r>
            <a:r>
              <a:rPr lang="en-US" sz="2000" dirty="0">
                <a:latin typeface="Arial" panose="020B0604020202020204" pitchFamily="34" charset="0"/>
                <a:cs typeface="Arial" panose="020B0604020202020204" pitchFamily="34" charset="0"/>
              </a:rPr>
              <a:t> and achieves reduction through </a:t>
            </a:r>
            <a:r>
              <a:rPr lang="en-US" sz="2000" b="1" dirty="0">
                <a:latin typeface="Arial" panose="020B0604020202020204" pitchFamily="34" charset="0"/>
                <a:cs typeface="Arial" panose="020B0604020202020204" pitchFamily="34" charset="0"/>
              </a:rPr>
              <a:t>ligamentotaxis</a:t>
            </a:r>
            <a:r>
              <a:rPr lang="en-US" sz="2000"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02989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2ED71-3B0F-4DBA-2E7E-D7915911B3E1}"/>
              </a:ext>
            </a:extLst>
          </p:cNvPr>
          <p:cNvSpPr>
            <a:spLocks noGrp="1"/>
          </p:cNvSpPr>
          <p:nvPr>
            <p:ph idx="1"/>
          </p:nvPr>
        </p:nvSpPr>
        <p:spPr>
          <a:xfrm>
            <a:off x="838200" y="1413932"/>
            <a:ext cx="10515600" cy="5012267"/>
          </a:xfrm>
        </p:spPr>
        <p:txBody>
          <a:bodyPr/>
          <a:lstStyle/>
          <a:p>
            <a:pPr marL="0" indent="0">
              <a:buNone/>
            </a:pPr>
            <a:r>
              <a:rPr lang="en-US" sz="2400" b="1" dirty="0">
                <a:latin typeface="Arial" panose="020B0604020202020204" pitchFamily="34" charset="0"/>
                <a:cs typeface="Arial" panose="020B0604020202020204" pitchFamily="34" charset="0"/>
              </a:rPr>
              <a:t>AIM</a:t>
            </a:r>
          </a:p>
          <a:p>
            <a:r>
              <a:rPr lang="en-US" sz="2400" dirty="0">
                <a:latin typeface="Arial" panose="020B0604020202020204" pitchFamily="34" charset="0"/>
                <a:cs typeface="Arial" panose="020B0604020202020204" pitchFamily="34" charset="0"/>
              </a:rPr>
              <a:t>To study the functional outcome of external fixation in the treatment of comminuted distal radius fractures and complications . </a:t>
            </a:r>
          </a:p>
          <a:p>
            <a:pPr marL="0" indent="0">
              <a:buNone/>
            </a:pPr>
            <a:r>
              <a:rPr lang="en-US" sz="2400" b="1" dirty="0">
                <a:latin typeface="Arial" panose="020B0604020202020204" pitchFamily="34" charset="0"/>
                <a:cs typeface="Arial" panose="020B0604020202020204" pitchFamily="34" charset="0"/>
              </a:rPr>
              <a:t>METHODS</a:t>
            </a:r>
          </a:p>
          <a:p>
            <a:r>
              <a:rPr lang="en-US" sz="2400" dirty="0">
                <a:latin typeface="Arial" panose="020B0604020202020204" pitchFamily="34" charset="0"/>
                <a:cs typeface="Arial" panose="020B0604020202020204" pitchFamily="34" charset="0"/>
              </a:rPr>
              <a:t>Patients with distal radius fracture admitted in our institute after meeting the inclusion and exclusion criteria will be taken up. </a:t>
            </a:r>
          </a:p>
          <a:p>
            <a:r>
              <a:rPr lang="en-US" sz="2400" dirty="0">
                <a:latin typeface="Arial" panose="020B0604020202020204" pitchFamily="34" charset="0"/>
                <a:cs typeface="Arial" panose="020B0604020202020204" pitchFamily="34" charset="0"/>
              </a:rPr>
              <a:t>All patients will be evaluated preoperatively by clinical and radiological examination.</a:t>
            </a:r>
          </a:p>
          <a:p>
            <a:r>
              <a:rPr lang="en-US" sz="2400" dirty="0">
                <a:latin typeface="Arial" panose="020B0604020202020204" pitchFamily="34" charset="0"/>
                <a:cs typeface="Arial" panose="020B0604020202020204" pitchFamily="34" charset="0"/>
              </a:rPr>
              <a:t> Patients will be informed about the operative procedure and consent will be taken. </a:t>
            </a:r>
          </a:p>
          <a:p>
            <a:r>
              <a:rPr lang="en-US" sz="2400" dirty="0">
                <a:latin typeface="Arial" panose="020B0604020202020204" pitchFamily="34" charset="0"/>
                <a:cs typeface="Arial" panose="020B0604020202020204" pitchFamily="34" charset="0"/>
              </a:rPr>
              <a:t>DESIGN : PROSPECTIVE STUDY </a:t>
            </a:r>
          </a:p>
          <a:p>
            <a:r>
              <a:rPr lang="en-US" sz="2400" dirty="0">
                <a:latin typeface="Arial" panose="020B0604020202020204" pitchFamily="34" charset="0"/>
                <a:cs typeface="Arial" panose="020B0604020202020204" pitchFamily="34" charset="0"/>
              </a:rPr>
              <a:t>SAMPLE SIZE :30 </a:t>
            </a:r>
          </a:p>
          <a:p>
            <a:endParaRPr lang="en-US" dirty="0"/>
          </a:p>
        </p:txBody>
      </p:sp>
    </p:spTree>
    <p:extLst>
      <p:ext uri="{BB962C8B-B14F-4D97-AF65-F5344CB8AC3E}">
        <p14:creationId xmlns:p14="http://schemas.microsoft.com/office/powerpoint/2010/main" val="51226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05EA6-ABBE-C78F-B419-B1AE684206CC}"/>
              </a:ext>
            </a:extLst>
          </p:cNvPr>
          <p:cNvSpPr>
            <a:spLocks noGrp="1"/>
          </p:cNvSpPr>
          <p:nvPr>
            <p:ph idx="1"/>
          </p:nvPr>
        </p:nvSpPr>
        <p:spPr>
          <a:xfrm>
            <a:off x="838200" y="1456266"/>
            <a:ext cx="10515600" cy="5096933"/>
          </a:xfrm>
        </p:spPr>
        <p:txBody>
          <a:bodyPr/>
          <a:lstStyle/>
          <a:p>
            <a:r>
              <a:rPr lang="en-US" sz="2400" b="1" dirty="0">
                <a:latin typeface="Arial" panose="020B0604020202020204" pitchFamily="34" charset="0"/>
                <a:cs typeface="Arial" panose="020B0604020202020204" pitchFamily="34" charset="0"/>
              </a:rPr>
              <a:t>INCLUSION CRITERIA</a:t>
            </a:r>
          </a:p>
          <a:p>
            <a:r>
              <a:rPr lang="en-US" sz="2400" dirty="0">
                <a:latin typeface="Arial" panose="020B0604020202020204" pitchFamily="34" charset="0"/>
                <a:cs typeface="Arial" panose="020B0604020202020204" pitchFamily="34" charset="0"/>
              </a:rPr>
              <a:t>Comminuted extra articular fractures </a:t>
            </a:r>
          </a:p>
          <a:p>
            <a:r>
              <a:rPr lang="en-US" sz="2400" dirty="0">
                <a:latin typeface="Arial" panose="020B0604020202020204" pitchFamily="34" charset="0"/>
                <a:cs typeface="Arial" panose="020B0604020202020204" pitchFamily="34" charset="0"/>
              </a:rPr>
              <a:t>Comminuted intra articular Fractures </a:t>
            </a:r>
          </a:p>
          <a:p>
            <a:r>
              <a:rPr lang="en-US" sz="2400" dirty="0">
                <a:latin typeface="Arial" panose="020B0604020202020204" pitchFamily="34" charset="0"/>
                <a:cs typeface="Arial" panose="020B0604020202020204" pitchFamily="34" charset="0"/>
              </a:rPr>
              <a:t>TYPE 1 Compound fractures </a:t>
            </a:r>
          </a:p>
          <a:p>
            <a:r>
              <a:rPr lang="en-US" sz="2400" dirty="0">
                <a:latin typeface="Arial" panose="020B0604020202020204" pitchFamily="34" charset="0"/>
                <a:cs typeface="Arial" panose="020B0604020202020204" pitchFamily="34" charset="0"/>
              </a:rPr>
              <a:t>Age 20-70 years</a:t>
            </a:r>
          </a:p>
          <a:p>
            <a:r>
              <a:rPr lang="en-US" sz="2400" b="1" dirty="0">
                <a:latin typeface="Arial" panose="020B0604020202020204" pitchFamily="34" charset="0"/>
                <a:cs typeface="Arial" panose="020B0604020202020204" pitchFamily="34" charset="0"/>
              </a:rPr>
              <a:t>EXCLUSION CRITERIA</a:t>
            </a:r>
          </a:p>
          <a:p>
            <a:r>
              <a:rPr lang="en-US" sz="2400" dirty="0">
                <a:latin typeface="Arial" panose="020B0604020202020204" pitchFamily="34" charset="0"/>
                <a:cs typeface="Arial" panose="020B0604020202020204" pitchFamily="34" charset="0"/>
              </a:rPr>
              <a:t>Compound injuries grade2 and grade3 are excluded from the study.</a:t>
            </a:r>
          </a:p>
          <a:p>
            <a:r>
              <a:rPr lang="en-US" sz="2400" dirty="0">
                <a:latin typeface="Arial" panose="020B0604020202020204" pitchFamily="34" charset="0"/>
                <a:cs typeface="Arial" panose="020B0604020202020204" pitchFamily="34" charset="0"/>
              </a:rPr>
              <a:t> Elderly people &amp; osteoporotic fractures were excluded. </a:t>
            </a:r>
          </a:p>
          <a:p>
            <a:r>
              <a:rPr lang="en-US" sz="2400" dirty="0">
                <a:latin typeface="Arial" panose="020B0604020202020204" pitchFamily="34" charset="0"/>
                <a:cs typeface="Arial" panose="020B0604020202020204" pitchFamily="34" charset="0"/>
              </a:rPr>
              <a:t>Patients who are not willing </a:t>
            </a:r>
          </a:p>
          <a:p>
            <a:r>
              <a:rPr lang="en-US" sz="2400" dirty="0">
                <a:latin typeface="Arial" panose="020B0604020202020204" pitchFamily="34" charset="0"/>
                <a:cs typeface="Arial" panose="020B0604020202020204" pitchFamily="34" charset="0"/>
              </a:rPr>
              <a:t>Active infection </a:t>
            </a:r>
          </a:p>
          <a:p>
            <a:r>
              <a:rPr lang="en-US" sz="2400" dirty="0">
                <a:latin typeface="Arial" panose="020B0604020202020204" pitchFamily="34" charset="0"/>
                <a:cs typeface="Arial" panose="020B0604020202020204" pitchFamily="34" charset="0"/>
              </a:rPr>
              <a:t>Age &gt; 70 years </a:t>
            </a:r>
            <a:endParaRPr lang="en-US" sz="2400"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79566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E7E70-D183-44CC-F6ED-467798F2730D}"/>
              </a:ext>
            </a:extLst>
          </p:cNvPr>
          <p:cNvSpPr>
            <a:spLocks noGrp="1"/>
          </p:cNvSpPr>
          <p:nvPr>
            <p:ph idx="1"/>
          </p:nvPr>
        </p:nvSpPr>
        <p:spPr>
          <a:xfrm>
            <a:off x="838200" y="1447800"/>
            <a:ext cx="10515600" cy="4729163"/>
          </a:xfrm>
        </p:spPr>
        <p:txBody>
          <a:bodyPr/>
          <a:lstStyle/>
          <a:p>
            <a:pPr marL="0" indent="0">
              <a:buNone/>
            </a:pPr>
            <a:r>
              <a:rPr lang="en-US" b="1" dirty="0"/>
              <a:t>RESULTS</a:t>
            </a:r>
          </a:p>
          <a:p>
            <a:r>
              <a:rPr lang="en-US" dirty="0">
                <a:latin typeface="Arial" panose="020B0604020202020204" pitchFamily="34" charset="0"/>
                <a:cs typeface="Arial" panose="020B0604020202020204" pitchFamily="34" charset="0"/>
              </a:rPr>
              <a:t>Our study consists 30 cases of extra and intraarticular distal radius fracture treated by external fixation.</a:t>
            </a:r>
          </a:p>
          <a:p>
            <a:r>
              <a:rPr lang="en-US" dirty="0">
                <a:latin typeface="Arial" panose="020B0604020202020204" pitchFamily="34" charset="0"/>
                <a:cs typeface="Arial" panose="020B0604020202020204" pitchFamily="34" charset="0"/>
              </a:rPr>
              <a:t>The results were assessed both clinically and radiologically </a:t>
            </a:r>
          </a:p>
          <a:p>
            <a:pPr marL="0" indent="0">
              <a:buNone/>
            </a:pPr>
            <a:r>
              <a:rPr lang="en-US" sz="2400" b="1" dirty="0">
                <a:latin typeface="Arial" panose="020B0604020202020204" pitchFamily="34" charset="0"/>
                <a:cs typeface="Arial" panose="020B0604020202020204" pitchFamily="34" charset="0"/>
              </a:rPr>
              <a:t>AGE INCIDENCE</a:t>
            </a:r>
          </a:p>
          <a:p>
            <a:pPr marL="0" indent="0" fontAlgn="t">
              <a:buNone/>
            </a:pPr>
            <a:endParaRPr lang="en-US" dirty="0"/>
          </a:p>
        </p:txBody>
      </p:sp>
      <p:graphicFrame>
        <p:nvGraphicFramePr>
          <p:cNvPr id="4" name="Table 3">
            <a:extLst>
              <a:ext uri="{FF2B5EF4-FFF2-40B4-BE49-F238E27FC236}">
                <a16:creationId xmlns:a16="http://schemas.microsoft.com/office/drawing/2014/main" id="{4E15FDAF-9750-E2D2-52BC-D32B22C16A6F}"/>
              </a:ext>
            </a:extLst>
          </p:cNvPr>
          <p:cNvGraphicFramePr>
            <a:graphicFrameLocks noGrp="1"/>
          </p:cNvGraphicFramePr>
          <p:nvPr>
            <p:extLst>
              <p:ext uri="{D42A27DB-BD31-4B8C-83A1-F6EECF244321}">
                <p14:modId xmlns:p14="http://schemas.microsoft.com/office/powerpoint/2010/main" val="3348336832"/>
              </p:ext>
            </p:extLst>
          </p:nvPr>
        </p:nvGraphicFramePr>
        <p:xfrm>
          <a:off x="1507067" y="3926840"/>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953884798"/>
                    </a:ext>
                  </a:extLst>
                </a:gridCol>
                <a:gridCol w="2709333">
                  <a:extLst>
                    <a:ext uri="{9D8B030D-6E8A-4147-A177-3AD203B41FA5}">
                      <a16:colId xmlns:a16="http://schemas.microsoft.com/office/drawing/2014/main" val="175900422"/>
                    </a:ext>
                  </a:extLst>
                </a:gridCol>
                <a:gridCol w="2709333">
                  <a:extLst>
                    <a:ext uri="{9D8B030D-6E8A-4147-A177-3AD203B41FA5}">
                      <a16:colId xmlns:a16="http://schemas.microsoft.com/office/drawing/2014/main" val="3578359892"/>
                    </a:ext>
                  </a:extLst>
                </a:gridCol>
              </a:tblGrid>
              <a:tr h="370840">
                <a:tc>
                  <a:txBody>
                    <a:bodyPr/>
                    <a:lstStyle/>
                    <a:p>
                      <a:r>
                        <a:rPr lang="en-US" dirty="0"/>
                        <a:t>AGE IN YEARS</a:t>
                      </a:r>
                    </a:p>
                  </a:txBody>
                  <a:tcPr/>
                </a:tc>
                <a:tc>
                  <a:txBody>
                    <a:bodyPr/>
                    <a:lstStyle/>
                    <a:p>
                      <a:r>
                        <a:rPr lang="en-US" dirty="0"/>
                        <a:t>NO OF PATIENTS</a:t>
                      </a:r>
                    </a:p>
                  </a:txBody>
                  <a:tcPr/>
                </a:tc>
                <a:tc>
                  <a:txBody>
                    <a:bodyPr/>
                    <a:lstStyle/>
                    <a:p>
                      <a:r>
                        <a:rPr lang="en-US" dirty="0"/>
                        <a:t>PERCENTAGE</a:t>
                      </a:r>
                    </a:p>
                  </a:txBody>
                  <a:tcPr/>
                </a:tc>
                <a:extLst>
                  <a:ext uri="{0D108BD9-81ED-4DB2-BD59-A6C34878D82A}">
                    <a16:rowId xmlns:a16="http://schemas.microsoft.com/office/drawing/2014/main" val="2919139030"/>
                  </a:ext>
                </a:extLst>
              </a:tr>
              <a:tr h="370840">
                <a:tc>
                  <a:txBody>
                    <a:bodyPr/>
                    <a:lstStyle/>
                    <a:p>
                      <a:r>
                        <a:rPr lang="en-US" dirty="0"/>
                        <a:t>20-40Y</a:t>
                      </a:r>
                    </a:p>
                  </a:txBody>
                  <a:tcPr/>
                </a:tc>
                <a:tc>
                  <a:txBody>
                    <a:bodyPr/>
                    <a:lstStyle/>
                    <a:p>
                      <a:r>
                        <a:rPr lang="en-US" dirty="0"/>
                        <a:t>9</a:t>
                      </a:r>
                    </a:p>
                  </a:txBody>
                  <a:tcPr/>
                </a:tc>
                <a:tc>
                  <a:txBody>
                    <a:bodyPr/>
                    <a:lstStyle/>
                    <a:p>
                      <a:r>
                        <a:rPr lang="en-US" dirty="0"/>
                        <a:t>30%</a:t>
                      </a:r>
                    </a:p>
                  </a:txBody>
                  <a:tcPr/>
                </a:tc>
                <a:extLst>
                  <a:ext uri="{0D108BD9-81ED-4DB2-BD59-A6C34878D82A}">
                    <a16:rowId xmlns:a16="http://schemas.microsoft.com/office/drawing/2014/main" val="3538718751"/>
                  </a:ext>
                </a:extLst>
              </a:tr>
              <a:tr h="370840">
                <a:tc>
                  <a:txBody>
                    <a:bodyPr/>
                    <a:lstStyle/>
                    <a:p>
                      <a:r>
                        <a:rPr lang="en-US" dirty="0"/>
                        <a:t>41-60Y</a:t>
                      </a:r>
                    </a:p>
                  </a:txBody>
                  <a:tcPr/>
                </a:tc>
                <a:tc>
                  <a:txBody>
                    <a:bodyPr/>
                    <a:lstStyle/>
                    <a:p>
                      <a:r>
                        <a:rPr lang="en-US" dirty="0"/>
                        <a:t>16</a:t>
                      </a:r>
                    </a:p>
                  </a:txBody>
                  <a:tcPr/>
                </a:tc>
                <a:tc>
                  <a:txBody>
                    <a:bodyPr/>
                    <a:lstStyle/>
                    <a:p>
                      <a:r>
                        <a:rPr lang="en-US" dirty="0"/>
                        <a:t>53.3%</a:t>
                      </a:r>
                    </a:p>
                  </a:txBody>
                  <a:tcPr/>
                </a:tc>
                <a:extLst>
                  <a:ext uri="{0D108BD9-81ED-4DB2-BD59-A6C34878D82A}">
                    <a16:rowId xmlns:a16="http://schemas.microsoft.com/office/drawing/2014/main" val="3245479039"/>
                  </a:ext>
                </a:extLst>
              </a:tr>
              <a:tr h="370840">
                <a:tc>
                  <a:txBody>
                    <a:bodyPr/>
                    <a:lstStyle/>
                    <a:p>
                      <a:r>
                        <a:rPr lang="en-US" dirty="0"/>
                        <a:t>61-70Y</a:t>
                      </a:r>
                    </a:p>
                  </a:txBody>
                  <a:tcPr/>
                </a:tc>
                <a:tc>
                  <a:txBody>
                    <a:bodyPr/>
                    <a:lstStyle/>
                    <a:p>
                      <a:r>
                        <a:rPr lang="en-US" dirty="0"/>
                        <a:t>5</a:t>
                      </a:r>
                    </a:p>
                  </a:txBody>
                  <a:tcPr/>
                </a:tc>
                <a:tc>
                  <a:txBody>
                    <a:bodyPr/>
                    <a:lstStyle/>
                    <a:p>
                      <a:r>
                        <a:rPr lang="en-US" dirty="0"/>
                        <a:t>16.66%</a:t>
                      </a:r>
                    </a:p>
                  </a:txBody>
                  <a:tcPr/>
                </a:tc>
                <a:extLst>
                  <a:ext uri="{0D108BD9-81ED-4DB2-BD59-A6C34878D82A}">
                    <a16:rowId xmlns:a16="http://schemas.microsoft.com/office/drawing/2014/main" val="2613380787"/>
                  </a:ext>
                </a:extLst>
              </a:tr>
            </a:tbl>
          </a:graphicData>
        </a:graphic>
      </p:graphicFrame>
    </p:spTree>
    <p:extLst>
      <p:ext uri="{BB962C8B-B14F-4D97-AF65-F5344CB8AC3E}">
        <p14:creationId xmlns:p14="http://schemas.microsoft.com/office/powerpoint/2010/main" val="2941575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F5A943-34A0-A891-7358-0B4F74617677}"/>
              </a:ext>
            </a:extLst>
          </p:cNvPr>
          <p:cNvSpPr>
            <a:spLocks noGrp="1"/>
          </p:cNvSpPr>
          <p:nvPr>
            <p:ph idx="1"/>
          </p:nvPr>
        </p:nvSpPr>
        <p:spPr>
          <a:xfrm>
            <a:off x="838200" y="1473200"/>
            <a:ext cx="10515600" cy="4703763"/>
          </a:xfrm>
        </p:spPr>
        <p:txBody>
          <a:bodyPr/>
          <a:lstStyle/>
          <a:p>
            <a:r>
              <a:rPr lang="en-US" b="1" dirty="0">
                <a:latin typeface="Arial" panose="020B0604020202020204" pitchFamily="34" charset="0"/>
                <a:cs typeface="Arial" panose="020B0604020202020204" pitchFamily="34" charset="0"/>
              </a:rPr>
              <a:t>SEX INCIDENCE</a:t>
            </a: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0" indent="0">
              <a:buNone/>
            </a:pP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FUNCTIONAL OUTCOME</a:t>
            </a: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18788073-9929-DB0A-8E87-05115F2DEB35}"/>
              </a:ext>
            </a:extLst>
          </p:cNvPr>
          <p:cNvGraphicFramePr>
            <a:graphicFrameLocks noGrp="1"/>
          </p:cNvGraphicFramePr>
          <p:nvPr>
            <p:extLst>
              <p:ext uri="{D42A27DB-BD31-4B8C-83A1-F6EECF244321}">
                <p14:modId xmlns:p14="http://schemas.microsoft.com/office/powerpoint/2010/main" val="1061235570"/>
              </p:ext>
            </p:extLst>
          </p:nvPr>
        </p:nvGraphicFramePr>
        <p:xfrm>
          <a:off x="1684867" y="2023533"/>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90078118"/>
                    </a:ext>
                  </a:extLst>
                </a:gridCol>
                <a:gridCol w="2709333">
                  <a:extLst>
                    <a:ext uri="{9D8B030D-6E8A-4147-A177-3AD203B41FA5}">
                      <a16:colId xmlns:a16="http://schemas.microsoft.com/office/drawing/2014/main" val="56946751"/>
                    </a:ext>
                  </a:extLst>
                </a:gridCol>
                <a:gridCol w="2709333">
                  <a:extLst>
                    <a:ext uri="{9D8B030D-6E8A-4147-A177-3AD203B41FA5}">
                      <a16:colId xmlns:a16="http://schemas.microsoft.com/office/drawing/2014/main" val="318686880"/>
                    </a:ext>
                  </a:extLst>
                </a:gridCol>
              </a:tblGrid>
              <a:tr h="370840">
                <a:tc>
                  <a:txBody>
                    <a:bodyPr/>
                    <a:lstStyle/>
                    <a:p>
                      <a:r>
                        <a:rPr lang="en-US" dirty="0"/>
                        <a:t>SEX</a:t>
                      </a:r>
                    </a:p>
                  </a:txBody>
                  <a:tcPr/>
                </a:tc>
                <a:tc>
                  <a:txBody>
                    <a:bodyPr/>
                    <a:lstStyle/>
                    <a:p>
                      <a:r>
                        <a:rPr lang="en-US" dirty="0"/>
                        <a:t>NO OF PATIENTS</a:t>
                      </a:r>
                    </a:p>
                  </a:txBody>
                  <a:tcPr/>
                </a:tc>
                <a:tc>
                  <a:txBody>
                    <a:bodyPr/>
                    <a:lstStyle/>
                    <a:p>
                      <a:r>
                        <a:rPr lang="en-US" dirty="0"/>
                        <a:t>PERCENTAGE</a:t>
                      </a:r>
                    </a:p>
                  </a:txBody>
                  <a:tcPr/>
                </a:tc>
                <a:extLst>
                  <a:ext uri="{0D108BD9-81ED-4DB2-BD59-A6C34878D82A}">
                    <a16:rowId xmlns:a16="http://schemas.microsoft.com/office/drawing/2014/main" val="2011808999"/>
                  </a:ext>
                </a:extLst>
              </a:tr>
              <a:tr h="370840">
                <a:tc>
                  <a:txBody>
                    <a:bodyPr/>
                    <a:lstStyle/>
                    <a:p>
                      <a:r>
                        <a:rPr lang="en-US" dirty="0"/>
                        <a:t>MALES</a:t>
                      </a:r>
                    </a:p>
                  </a:txBody>
                  <a:tcPr/>
                </a:tc>
                <a:tc>
                  <a:txBody>
                    <a:bodyPr/>
                    <a:lstStyle/>
                    <a:p>
                      <a:r>
                        <a:rPr lang="en-US" dirty="0"/>
                        <a:t>22</a:t>
                      </a:r>
                    </a:p>
                  </a:txBody>
                  <a:tcPr/>
                </a:tc>
                <a:tc>
                  <a:txBody>
                    <a:bodyPr/>
                    <a:lstStyle/>
                    <a:p>
                      <a:r>
                        <a:rPr lang="en-US" dirty="0"/>
                        <a:t>73%</a:t>
                      </a:r>
                    </a:p>
                  </a:txBody>
                  <a:tcPr/>
                </a:tc>
                <a:extLst>
                  <a:ext uri="{0D108BD9-81ED-4DB2-BD59-A6C34878D82A}">
                    <a16:rowId xmlns:a16="http://schemas.microsoft.com/office/drawing/2014/main" val="78005190"/>
                  </a:ext>
                </a:extLst>
              </a:tr>
              <a:tr h="370840">
                <a:tc>
                  <a:txBody>
                    <a:bodyPr/>
                    <a:lstStyle/>
                    <a:p>
                      <a:r>
                        <a:rPr lang="en-US" dirty="0"/>
                        <a:t>FEMALES</a:t>
                      </a:r>
                    </a:p>
                  </a:txBody>
                  <a:tcPr/>
                </a:tc>
                <a:tc>
                  <a:txBody>
                    <a:bodyPr/>
                    <a:lstStyle/>
                    <a:p>
                      <a:r>
                        <a:rPr lang="en-US" dirty="0"/>
                        <a:t>08</a:t>
                      </a:r>
                    </a:p>
                  </a:txBody>
                  <a:tcPr/>
                </a:tc>
                <a:tc>
                  <a:txBody>
                    <a:bodyPr/>
                    <a:lstStyle/>
                    <a:p>
                      <a:r>
                        <a:rPr lang="en-US" dirty="0"/>
                        <a:t>27%</a:t>
                      </a:r>
                    </a:p>
                  </a:txBody>
                  <a:tcPr/>
                </a:tc>
                <a:extLst>
                  <a:ext uri="{0D108BD9-81ED-4DB2-BD59-A6C34878D82A}">
                    <a16:rowId xmlns:a16="http://schemas.microsoft.com/office/drawing/2014/main" val="1321341557"/>
                  </a:ext>
                </a:extLst>
              </a:tr>
              <a:tr h="370840">
                <a:tc>
                  <a:txBody>
                    <a:bodyPr/>
                    <a:lstStyle/>
                    <a:p>
                      <a:r>
                        <a:rPr lang="en-US" dirty="0"/>
                        <a:t>TOTAL</a:t>
                      </a:r>
                    </a:p>
                  </a:txBody>
                  <a:tcPr/>
                </a:tc>
                <a:tc>
                  <a:txBody>
                    <a:bodyPr/>
                    <a:lstStyle/>
                    <a:p>
                      <a:r>
                        <a:rPr lang="en-US" dirty="0"/>
                        <a:t>30</a:t>
                      </a:r>
                    </a:p>
                  </a:txBody>
                  <a:tcPr/>
                </a:tc>
                <a:tc>
                  <a:txBody>
                    <a:bodyPr/>
                    <a:lstStyle/>
                    <a:p>
                      <a:r>
                        <a:rPr lang="en-US" dirty="0"/>
                        <a:t>100%</a:t>
                      </a:r>
                    </a:p>
                  </a:txBody>
                  <a:tcPr/>
                </a:tc>
                <a:extLst>
                  <a:ext uri="{0D108BD9-81ED-4DB2-BD59-A6C34878D82A}">
                    <a16:rowId xmlns:a16="http://schemas.microsoft.com/office/drawing/2014/main" val="458847224"/>
                  </a:ext>
                </a:extLst>
              </a:tr>
            </a:tbl>
          </a:graphicData>
        </a:graphic>
      </p:graphicFrame>
      <p:graphicFrame>
        <p:nvGraphicFramePr>
          <p:cNvPr id="5" name="Table 4">
            <a:extLst>
              <a:ext uri="{FF2B5EF4-FFF2-40B4-BE49-F238E27FC236}">
                <a16:creationId xmlns:a16="http://schemas.microsoft.com/office/drawing/2014/main" id="{79E3D7A2-55FF-BCDA-8348-A1BA7AEEE033}"/>
              </a:ext>
            </a:extLst>
          </p:cNvPr>
          <p:cNvGraphicFramePr>
            <a:graphicFrameLocks noGrp="1"/>
          </p:cNvGraphicFramePr>
          <p:nvPr>
            <p:extLst>
              <p:ext uri="{D42A27DB-BD31-4B8C-83A1-F6EECF244321}">
                <p14:modId xmlns:p14="http://schemas.microsoft.com/office/powerpoint/2010/main" val="1210210498"/>
              </p:ext>
            </p:extLst>
          </p:nvPr>
        </p:nvGraphicFramePr>
        <p:xfrm>
          <a:off x="1684867" y="4190999"/>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761090701"/>
                    </a:ext>
                  </a:extLst>
                </a:gridCol>
                <a:gridCol w="2709333">
                  <a:extLst>
                    <a:ext uri="{9D8B030D-6E8A-4147-A177-3AD203B41FA5}">
                      <a16:colId xmlns:a16="http://schemas.microsoft.com/office/drawing/2014/main" val="2501833652"/>
                    </a:ext>
                  </a:extLst>
                </a:gridCol>
                <a:gridCol w="2709333">
                  <a:extLst>
                    <a:ext uri="{9D8B030D-6E8A-4147-A177-3AD203B41FA5}">
                      <a16:colId xmlns:a16="http://schemas.microsoft.com/office/drawing/2014/main" val="3114259690"/>
                    </a:ext>
                  </a:extLst>
                </a:gridCol>
              </a:tblGrid>
              <a:tr h="370840">
                <a:tc>
                  <a:txBody>
                    <a:bodyPr/>
                    <a:lstStyle/>
                    <a:p>
                      <a:r>
                        <a:rPr lang="en-US" dirty="0"/>
                        <a:t>RESULTS</a:t>
                      </a:r>
                    </a:p>
                  </a:txBody>
                  <a:tcPr/>
                </a:tc>
                <a:tc>
                  <a:txBody>
                    <a:bodyPr/>
                    <a:lstStyle/>
                    <a:p>
                      <a:r>
                        <a:rPr lang="en-US" dirty="0"/>
                        <a:t>NO OF CASES</a:t>
                      </a:r>
                    </a:p>
                  </a:txBody>
                  <a:tcPr/>
                </a:tc>
                <a:tc>
                  <a:txBody>
                    <a:bodyPr/>
                    <a:lstStyle/>
                    <a:p>
                      <a:r>
                        <a:rPr lang="en-US" dirty="0"/>
                        <a:t>PERCENTAGE</a:t>
                      </a:r>
                    </a:p>
                  </a:txBody>
                  <a:tcPr/>
                </a:tc>
                <a:extLst>
                  <a:ext uri="{0D108BD9-81ED-4DB2-BD59-A6C34878D82A}">
                    <a16:rowId xmlns:a16="http://schemas.microsoft.com/office/drawing/2014/main" val="329202928"/>
                  </a:ext>
                </a:extLst>
              </a:tr>
              <a:tr h="370840">
                <a:tc>
                  <a:txBody>
                    <a:bodyPr/>
                    <a:lstStyle/>
                    <a:p>
                      <a:r>
                        <a:rPr lang="en-US" dirty="0"/>
                        <a:t>EXCELLENT</a:t>
                      </a:r>
                    </a:p>
                  </a:txBody>
                  <a:tcPr/>
                </a:tc>
                <a:tc>
                  <a:txBody>
                    <a:bodyPr/>
                    <a:lstStyle/>
                    <a:p>
                      <a:r>
                        <a:rPr lang="en-US" dirty="0"/>
                        <a:t>13</a:t>
                      </a:r>
                    </a:p>
                  </a:txBody>
                  <a:tcPr/>
                </a:tc>
                <a:tc>
                  <a:txBody>
                    <a:bodyPr/>
                    <a:lstStyle/>
                    <a:p>
                      <a:r>
                        <a:rPr lang="en-US" dirty="0"/>
                        <a:t>43.3%</a:t>
                      </a:r>
                    </a:p>
                  </a:txBody>
                  <a:tcPr/>
                </a:tc>
                <a:extLst>
                  <a:ext uri="{0D108BD9-81ED-4DB2-BD59-A6C34878D82A}">
                    <a16:rowId xmlns:a16="http://schemas.microsoft.com/office/drawing/2014/main" val="3280948475"/>
                  </a:ext>
                </a:extLst>
              </a:tr>
              <a:tr h="370840">
                <a:tc>
                  <a:txBody>
                    <a:bodyPr/>
                    <a:lstStyle/>
                    <a:p>
                      <a:r>
                        <a:rPr lang="en-US" dirty="0"/>
                        <a:t>GOOD</a:t>
                      </a:r>
                    </a:p>
                  </a:txBody>
                  <a:tcPr/>
                </a:tc>
                <a:tc>
                  <a:txBody>
                    <a:bodyPr/>
                    <a:lstStyle/>
                    <a:p>
                      <a:r>
                        <a:rPr lang="en-US" dirty="0"/>
                        <a:t>13</a:t>
                      </a:r>
                    </a:p>
                  </a:txBody>
                  <a:tcPr/>
                </a:tc>
                <a:tc>
                  <a:txBody>
                    <a:bodyPr/>
                    <a:lstStyle/>
                    <a:p>
                      <a:r>
                        <a:rPr lang="en-US" dirty="0"/>
                        <a:t>43.3%</a:t>
                      </a:r>
                    </a:p>
                  </a:txBody>
                  <a:tcPr/>
                </a:tc>
                <a:extLst>
                  <a:ext uri="{0D108BD9-81ED-4DB2-BD59-A6C34878D82A}">
                    <a16:rowId xmlns:a16="http://schemas.microsoft.com/office/drawing/2014/main" val="1422720877"/>
                  </a:ext>
                </a:extLst>
              </a:tr>
              <a:tr h="370840">
                <a:tc>
                  <a:txBody>
                    <a:bodyPr/>
                    <a:lstStyle/>
                    <a:p>
                      <a:r>
                        <a:rPr lang="en-US" dirty="0"/>
                        <a:t>FAIR</a:t>
                      </a:r>
                    </a:p>
                  </a:txBody>
                  <a:tcPr/>
                </a:tc>
                <a:tc>
                  <a:txBody>
                    <a:bodyPr/>
                    <a:lstStyle/>
                    <a:p>
                      <a:r>
                        <a:rPr lang="en-US" dirty="0"/>
                        <a:t>4</a:t>
                      </a:r>
                    </a:p>
                  </a:txBody>
                  <a:tcPr/>
                </a:tc>
                <a:tc>
                  <a:txBody>
                    <a:bodyPr/>
                    <a:lstStyle/>
                    <a:p>
                      <a:r>
                        <a:rPr lang="en-US" dirty="0"/>
                        <a:t>13.4%</a:t>
                      </a:r>
                    </a:p>
                  </a:txBody>
                  <a:tcPr/>
                </a:tc>
                <a:extLst>
                  <a:ext uri="{0D108BD9-81ED-4DB2-BD59-A6C34878D82A}">
                    <a16:rowId xmlns:a16="http://schemas.microsoft.com/office/drawing/2014/main" val="341434974"/>
                  </a:ext>
                </a:extLst>
              </a:tr>
              <a:tr h="370840">
                <a:tc>
                  <a:txBody>
                    <a:bodyPr/>
                    <a:lstStyle/>
                    <a:p>
                      <a:r>
                        <a:rPr lang="en-US" dirty="0"/>
                        <a:t>POOR</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152739441"/>
                  </a:ext>
                </a:extLst>
              </a:tr>
            </a:tbl>
          </a:graphicData>
        </a:graphic>
      </p:graphicFrame>
    </p:spTree>
    <p:extLst>
      <p:ext uri="{BB962C8B-B14F-4D97-AF65-F5344CB8AC3E}">
        <p14:creationId xmlns:p14="http://schemas.microsoft.com/office/powerpoint/2010/main" val="2867017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6285FE4-C8F0-CF17-3F90-F92461E743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8936" y="1430866"/>
            <a:ext cx="3542043" cy="2446867"/>
          </a:xfrm>
          <a:prstGeom prst="rect">
            <a:avLst/>
          </a:prstGeom>
        </p:spPr>
      </p:pic>
      <p:pic>
        <p:nvPicPr>
          <p:cNvPr id="5" name="Picture 4">
            <a:extLst>
              <a:ext uri="{FF2B5EF4-FFF2-40B4-BE49-F238E27FC236}">
                <a16:creationId xmlns:a16="http://schemas.microsoft.com/office/drawing/2014/main" id="{90464017-6DAC-07CC-3888-44E1ED300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935" y="4079874"/>
            <a:ext cx="3542043" cy="2446867"/>
          </a:xfrm>
          <a:prstGeom prst="rect">
            <a:avLst/>
          </a:prstGeom>
        </p:spPr>
      </p:pic>
      <p:pic>
        <p:nvPicPr>
          <p:cNvPr id="2" name="Picture 1">
            <a:extLst>
              <a:ext uri="{FF2B5EF4-FFF2-40B4-BE49-F238E27FC236}">
                <a16:creationId xmlns:a16="http://schemas.microsoft.com/office/drawing/2014/main" id="{7F653D18-7BFE-1A08-2879-1CA14A1FC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0733" y="1430866"/>
            <a:ext cx="3884527" cy="2446867"/>
          </a:xfrm>
          <a:prstGeom prst="rect">
            <a:avLst/>
          </a:prstGeom>
        </p:spPr>
      </p:pic>
      <p:pic>
        <p:nvPicPr>
          <p:cNvPr id="3" name="Picture 2">
            <a:extLst>
              <a:ext uri="{FF2B5EF4-FFF2-40B4-BE49-F238E27FC236}">
                <a16:creationId xmlns:a16="http://schemas.microsoft.com/office/drawing/2014/main" id="{75FD3EE8-82DA-CB4F-BCED-C0149C0CD4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0733" y="3975782"/>
            <a:ext cx="3884527" cy="2550959"/>
          </a:xfrm>
          <a:prstGeom prst="rect">
            <a:avLst/>
          </a:prstGeom>
        </p:spPr>
      </p:pic>
      <p:sp>
        <p:nvSpPr>
          <p:cNvPr id="6" name="Arrow: Right 5">
            <a:extLst>
              <a:ext uri="{FF2B5EF4-FFF2-40B4-BE49-F238E27FC236}">
                <a16:creationId xmlns:a16="http://schemas.microsoft.com/office/drawing/2014/main" id="{306172A1-1748-8324-0ED3-5D470ABAFBA2}"/>
              </a:ext>
            </a:extLst>
          </p:cNvPr>
          <p:cNvSpPr/>
          <p:nvPr/>
        </p:nvSpPr>
        <p:spPr>
          <a:xfrm>
            <a:off x="5410200" y="1955800"/>
            <a:ext cx="2150533" cy="5757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 month follow up</a:t>
            </a:r>
          </a:p>
        </p:txBody>
      </p:sp>
      <p:sp>
        <p:nvSpPr>
          <p:cNvPr id="9" name="Arrow: Right 8">
            <a:extLst>
              <a:ext uri="{FF2B5EF4-FFF2-40B4-BE49-F238E27FC236}">
                <a16:creationId xmlns:a16="http://schemas.microsoft.com/office/drawing/2014/main" id="{071A9A44-26A1-45E7-A597-1A4F9694B684}"/>
              </a:ext>
            </a:extLst>
          </p:cNvPr>
          <p:cNvSpPr/>
          <p:nvPr/>
        </p:nvSpPr>
        <p:spPr>
          <a:xfrm>
            <a:off x="135466" y="2446867"/>
            <a:ext cx="1663469" cy="4995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PRE-OP</a:t>
            </a:r>
          </a:p>
        </p:txBody>
      </p:sp>
      <p:sp>
        <p:nvSpPr>
          <p:cNvPr id="10" name="Arrow: Right 9">
            <a:extLst>
              <a:ext uri="{FF2B5EF4-FFF2-40B4-BE49-F238E27FC236}">
                <a16:creationId xmlns:a16="http://schemas.microsoft.com/office/drawing/2014/main" id="{59E83714-B824-B399-C208-0354417160B2}"/>
              </a:ext>
            </a:extLst>
          </p:cNvPr>
          <p:cNvSpPr/>
          <p:nvPr/>
        </p:nvSpPr>
        <p:spPr>
          <a:xfrm>
            <a:off x="76199" y="5046133"/>
            <a:ext cx="1722735" cy="4995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 -OP</a:t>
            </a:r>
          </a:p>
        </p:txBody>
      </p:sp>
      <p:sp>
        <p:nvSpPr>
          <p:cNvPr id="11" name="Arrow: Right 10">
            <a:extLst>
              <a:ext uri="{FF2B5EF4-FFF2-40B4-BE49-F238E27FC236}">
                <a16:creationId xmlns:a16="http://schemas.microsoft.com/office/drawing/2014/main" id="{AFC60548-09B4-6489-4308-8B8DF094F07F}"/>
              </a:ext>
            </a:extLst>
          </p:cNvPr>
          <p:cNvSpPr/>
          <p:nvPr/>
        </p:nvSpPr>
        <p:spPr>
          <a:xfrm>
            <a:off x="5410200" y="4868333"/>
            <a:ext cx="2150533" cy="482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 MONTHS</a:t>
            </a:r>
          </a:p>
        </p:txBody>
      </p:sp>
    </p:spTree>
    <p:extLst>
      <p:ext uri="{BB962C8B-B14F-4D97-AF65-F5344CB8AC3E}">
        <p14:creationId xmlns:p14="http://schemas.microsoft.com/office/powerpoint/2010/main" val="939677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A9404-81AD-388D-1A2A-9E176C512C43}"/>
              </a:ext>
            </a:extLst>
          </p:cNvPr>
          <p:cNvSpPr>
            <a:spLocks noGrp="1"/>
          </p:cNvSpPr>
          <p:nvPr>
            <p:ph idx="1"/>
          </p:nvPr>
        </p:nvSpPr>
        <p:spPr>
          <a:xfrm>
            <a:off x="838200" y="1456267"/>
            <a:ext cx="10515600" cy="4720696"/>
          </a:xfrm>
        </p:spPr>
        <p:txBody>
          <a:bodyPr/>
          <a:lstStyle/>
          <a:p>
            <a:pPr marL="0" indent="0">
              <a:buNone/>
            </a:pPr>
            <a:r>
              <a:rPr lang="en-US" b="1" dirty="0"/>
              <a:t>CONCLUSION</a:t>
            </a:r>
          </a:p>
          <a:p>
            <a:r>
              <a:rPr lang="en-US" sz="1800" dirty="0">
                <a:latin typeface="Arial" panose="020B0604020202020204" pitchFamily="34" charset="0"/>
                <a:cs typeface="Arial" panose="020B0604020202020204" pitchFamily="34" charset="0"/>
              </a:rPr>
              <a:t>The present study was regarding the assessment of Functional Outcome Of comminuted Distal Radius Fracture Treated With the external fixation and the following conclusions were assessed. </a:t>
            </a:r>
          </a:p>
          <a:p>
            <a:r>
              <a:rPr lang="en-US" sz="1800" dirty="0">
                <a:latin typeface="Arial" panose="020B0604020202020204" pitchFamily="34" charset="0"/>
                <a:cs typeface="Arial" panose="020B0604020202020204" pitchFamily="34" charset="0"/>
              </a:rPr>
              <a:t>External fixation produces Excellent to Good results with the lower complication rate and good outcome when compared to the other methods of treatment. </a:t>
            </a:r>
          </a:p>
          <a:p>
            <a:r>
              <a:rPr lang="en-US" sz="1800" dirty="0">
                <a:latin typeface="Arial" panose="020B0604020202020204" pitchFamily="34" charset="0"/>
                <a:cs typeface="Arial" panose="020B0604020202020204" pitchFamily="34" charset="0"/>
              </a:rPr>
              <a:t>It is a simple, easy, rapid, reliable and effective method for the treatment of distal radius fracture above 50years, with minimum operative time, less loss of blood, shorter stay at hospital, and reasonable time to bone healing. </a:t>
            </a:r>
          </a:p>
          <a:p>
            <a:r>
              <a:rPr lang="en-US" sz="1800" dirty="0">
                <a:latin typeface="Arial" panose="020B0604020202020204" pitchFamily="34" charset="0"/>
                <a:cs typeface="Arial" panose="020B0604020202020204" pitchFamily="34" charset="0"/>
              </a:rPr>
              <a:t>Because of early mobilization, rapid healing and minimal disturbance of bony growth. </a:t>
            </a:r>
          </a:p>
          <a:p>
            <a:r>
              <a:rPr lang="en-US" sz="1800" dirty="0">
                <a:latin typeface="Arial" panose="020B0604020202020204" pitchFamily="34" charset="0"/>
                <a:cs typeface="Arial" panose="020B0604020202020204" pitchFamily="34" charset="0"/>
              </a:rPr>
              <a:t>Use of external fixation in the distal radius fractures are effective in correcting and maintaining of anatomy of distal radius.</a:t>
            </a:r>
          </a:p>
          <a:p>
            <a:r>
              <a:rPr lang="en-US" sz="1800" dirty="0">
                <a:latin typeface="Arial" panose="020B0604020202020204" pitchFamily="34" charset="0"/>
                <a:cs typeface="Arial" panose="020B0604020202020204" pitchFamily="34" charset="0"/>
              </a:rPr>
              <a:t> By the use of this external fixators, joint movements &amp; daily functioning are recovered in a shorter time. </a:t>
            </a:r>
          </a:p>
          <a:p>
            <a:r>
              <a:rPr lang="en-US" sz="1800" dirty="0">
                <a:latin typeface="Arial" panose="020B0604020202020204" pitchFamily="34" charset="0"/>
                <a:cs typeface="Arial" panose="020B0604020202020204" pitchFamily="34" charset="0"/>
              </a:rPr>
              <a:t>Thus, we conclude that comminuted distal radius fractures treated with external fixation have the good radiological and functional results, as 90 % of our patients went back to their daily activities with good recovery.</a:t>
            </a:r>
          </a:p>
          <a:p>
            <a:endParaRPr lang="en-US" dirty="0"/>
          </a:p>
        </p:txBody>
      </p:sp>
    </p:spTree>
    <p:extLst>
      <p:ext uri="{BB962C8B-B14F-4D97-AF65-F5344CB8AC3E}">
        <p14:creationId xmlns:p14="http://schemas.microsoft.com/office/powerpoint/2010/main" val="1551349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92FA6-C9EC-5D92-4518-B79ED6AB59C8}"/>
              </a:ext>
            </a:extLst>
          </p:cNvPr>
          <p:cNvSpPr>
            <a:spLocks noGrp="1"/>
          </p:cNvSpPr>
          <p:nvPr>
            <p:ph idx="1"/>
          </p:nvPr>
        </p:nvSpPr>
        <p:spPr>
          <a:xfrm>
            <a:off x="838200" y="1481667"/>
            <a:ext cx="10515600" cy="4695296"/>
          </a:xfrm>
        </p:spPr>
        <p:txBody>
          <a:bodyPr/>
          <a:lstStyle/>
          <a:p>
            <a:r>
              <a:rPr lang="en-US" b="1" dirty="0"/>
              <a:t>REFERENCES</a:t>
            </a:r>
          </a:p>
          <a:p>
            <a:pPr marL="0" indent="0">
              <a:buNone/>
            </a:pPr>
            <a:r>
              <a:rPr lang="en-US" sz="1600" dirty="0">
                <a:latin typeface="Arial" panose="020B0604020202020204" pitchFamily="34" charset="0"/>
                <a:cs typeface="Arial" panose="020B0604020202020204" pitchFamily="34" charset="0"/>
              </a:rPr>
              <a:t>1. Nellans KW, Kowalski E, Chung KC. The epidemiology of distal radius fractures. Hand Clinics. 2021;28(2):113-125. (Comprehensive review of incidence, bimodal distribution, and mechanisms of injury) </a:t>
            </a:r>
          </a:p>
          <a:p>
            <a:pPr marL="0" indent="0">
              <a:buNone/>
            </a:pPr>
            <a:r>
              <a:rPr lang="en-US" sz="1600" dirty="0">
                <a:latin typeface="Arial" panose="020B0604020202020204" pitchFamily="34" charset="0"/>
                <a:cs typeface="Arial" panose="020B0604020202020204" pitchFamily="34" charset="0"/>
              </a:rPr>
              <a:t>2. Fernandez DL, Jupiter JB. Fractures of the Distal Radius: A Practical Approach to Management. 3rd ed. New York, NY: Springer; 2020. (Standard textbook covering historical classification systems including Colles, Smith, and Barton fractures) </a:t>
            </a:r>
          </a:p>
          <a:p>
            <a:pPr marL="0" indent="0">
              <a:buNone/>
            </a:pPr>
            <a:r>
              <a:rPr lang="en-US" sz="1600" dirty="0">
                <a:latin typeface="Arial" panose="020B0604020202020204" pitchFamily="34" charset="0"/>
                <a:cs typeface="Arial" panose="020B0604020202020204" pitchFamily="34" charset="0"/>
              </a:rPr>
              <a:t>3. Lafontaine M, Hardy D, </a:t>
            </a:r>
            <a:r>
              <a:rPr lang="en-US" sz="1600" dirty="0" err="1">
                <a:latin typeface="Arial" panose="020B0604020202020204" pitchFamily="34" charset="0"/>
                <a:cs typeface="Arial" panose="020B0604020202020204" pitchFamily="34" charset="0"/>
              </a:rPr>
              <a:t>Delince</a:t>
            </a:r>
            <a:r>
              <a:rPr lang="en-US" sz="1600" dirty="0">
                <a:latin typeface="Arial" panose="020B0604020202020204" pitchFamily="34" charset="0"/>
                <a:cs typeface="Arial" panose="020B0604020202020204" pitchFamily="34" charset="0"/>
              </a:rPr>
              <a:t> P. Stability assessment of distal radius fractures. Injury. 2019;20(4):208-210. (Classic paper on predictors of instability in distal radius fractures) </a:t>
            </a:r>
          </a:p>
          <a:p>
            <a:pPr marL="0" indent="0">
              <a:buNone/>
            </a:pPr>
            <a:r>
              <a:rPr lang="en-US" sz="1600" dirty="0">
                <a:latin typeface="Arial" panose="020B0604020202020204" pitchFamily="34" charset="0"/>
                <a:cs typeface="Arial" panose="020B0604020202020204" pitchFamily="34" charset="0"/>
              </a:rPr>
              <a:t>4. Orbay JL, Fernandez DL. Volar fixed-angle plate fixation for unstable distal radius fractures in the elderly patient. Journal of Hand Surgery American. 2021;29(1):96-102. (Seminal paper on volar plating techniques for elderly patients) </a:t>
            </a:r>
          </a:p>
          <a:p>
            <a:pPr marL="0" indent="0">
              <a:buNone/>
            </a:pPr>
            <a:r>
              <a:rPr lang="en-US" sz="1600" dirty="0">
                <a:latin typeface="Arial" panose="020B0604020202020204" pitchFamily="34" charset="0"/>
                <a:cs typeface="Arial" panose="020B0604020202020204" pitchFamily="34" charset="0"/>
              </a:rPr>
              <a:t>5. Slutsky DJ, Osterman AL. Fractures and Injuries of the Distal Radius and Carpus: The Cutting Edge. Philadelphia, PA: Saunders Elsevier; 2019. (Comprehensive textbook with emphasis on surgical techniques and fracture classification) </a:t>
            </a:r>
          </a:p>
          <a:p>
            <a:pPr marL="0" indent="0">
              <a:buNone/>
            </a:pPr>
            <a:r>
              <a:rPr lang="en-US" sz="1600" dirty="0">
                <a:latin typeface="Arial" panose="020B0604020202020204" pitchFamily="34" charset="0"/>
                <a:cs typeface="Arial" panose="020B0604020202020204" pitchFamily="34" charset="0"/>
              </a:rPr>
              <a:t>6. </a:t>
            </a:r>
            <a:r>
              <a:rPr lang="en-US" sz="1600" dirty="0" err="1">
                <a:latin typeface="Arial" panose="020B0604020202020204" pitchFamily="34" charset="0"/>
                <a:cs typeface="Arial" panose="020B0604020202020204" pitchFamily="34" charset="0"/>
              </a:rPr>
              <a:t>Handoll</a:t>
            </a:r>
            <a:r>
              <a:rPr lang="en-US" sz="1600" dirty="0">
                <a:latin typeface="Arial" panose="020B0604020202020204" pitchFamily="34" charset="0"/>
                <a:cs typeface="Arial" panose="020B0604020202020204" pitchFamily="34" charset="0"/>
              </a:rPr>
              <a:t> HH, Madhok R. Surgical interventions for treating distal radial fractures in adults. Cochrane Database of Systematic Reviews. 2020;3</a:t>
            </a:r>
          </a:p>
          <a:p>
            <a:endParaRPr lang="en-US" b="1" dirty="0"/>
          </a:p>
        </p:txBody>
      </p:sp>
    </p:spTree>
    <p:extLst>
      <p:ext uri="{BB962C8B-B14F-4D97-AF65-F5344CB8AC3E}">
        <p14:creationId xmlns:p14="http://schemas.microsoft.com/office/powerpoint/2010/main" val="813693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886</Words>
  <Application>Microsoft Office PowerPoint</Application>
  <PresentationFormat>Widescreen</PresentationFormat>
  <Paragraphs>109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Gordita </vt:lpstr>
      <vt:lpstr>Office Theme</vt:lpstr>
      <vt:lpstr>Functional Outcome of Comminuted Distal Radius Fractures Managed with External Fixation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DR.SRI RAM KUMAR</cp:lastModifiedBy>
  <cp:revision>6</cp:revision>
  <dcterms:created xsi:type="dcterms:W3CDTF">2026-01-11T06:24:43Z</dcterms:created>
  <dcterms:modified xsi:type="dcterms:W3CDTF">2026-02-15T17:13:59Z</dcterms:modified>
</cp:coreProperties>
</file>