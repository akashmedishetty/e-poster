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57" r:id="rId4"/>
    <p:sldId id="258" r:id="rId5"/>
    <p:sldId id="259" r:id="rId6"/>
    <p:sldId id="260" r:id="rId7"/>
    <p:sldId id="261" r:id="rId8"/>
    <p:sldId id="262" r:id="rId9"/>
    <p:sldId id="263" r:id="rId10"/>
  </p:sldIdLst>
  <p:sldSz cx="12192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48" d="100"/>
          <a:sy n="48" d="100"/>
        </p:scale>
        <p:origin x="67" y="7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8" name="Footer Placeholder 7"/>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4" name="Footer Placeholder 3"/>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3" name="Footer Placeholder 2"/>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endParaRPr lang="en-US" b="1" dirty="0">
              <a:solidFill>
                <a:schemeClr val="bg1"/>
              </a:solidFill>
              <a:latin typeface="Gordita "/>
            </a:endParaRPr>
          </a:p>
          <a:p>
            <a:r>
              <a:rPr lang="en-US" b="1" dirty="0">
                <a:solidFill>
                  <a:schemeClr val="bg1"/>
                </a:solidFill>
                <a:latin typeface="Gordita "/>
              </a:rPr>
              <a:t>Orthopedic Surgeon Society of Andhra Pradesh</a:t>
            </a:r>
            <a:endParaRPr lang="en-US" b="1" dirty="0">
              <a:solidFill>
                <a:schemeClr val="bg1"/>
              </a:solidFill>
              <a:latin typeface="Gordita "/>
            </a:endParaRPr>
          </a:p>
        </p:txBody>
      </p:sp>
      <p:sp>
        <p:nvSpPr>
          <p:cNvPr id="19" name="TextBox 18"/>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endParaRPr lang="en-US" sz="1200" b="1" dirty="0">
              <a:solidFill>
                <a:schemeClr val="bg1"/>
              </a:solidFill>
              <a:latin typeface="Gordita "/>
            </a:endParaRPr>
          </a:p>
        </p:txBody>
      </p:sp>
      <p:sp>
        <p:nvSpPr>
          <p:cNvPr id="20" name="TextBox 19"/>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endParaRPr lang="en-US" sz="1200" b="1" dirty="0">
              <a:solidFill>
                <a:schemeClr val="bg1"/>
              </a:solidFill>
              <a:latin typeface="Gordita "/>
            </a:endParaRPr>
          </a:p>
        </p:txBody>
      </p:sp>
      <p:sp>
        <p:nvSpPr>
          <p:cNvPr id="21" name="Freeform 13"/>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5"/>
            <a:stretch>
              <a:fillRect t="-9937" r="-4895" b="-10857"/>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20153" y="2244406"/>
            <a:ext cx="11032959" cy="954107"/>
          </a:xfrm>
          <a:prstGeom prst="rect">
            <a:avLst/>
          </a:prstGeom>
          <a:noFill/>
        </p:spPr>
        <p:txBody>
          <a:bodyPr wrap="square">
            <a:spAutoFit/>
          </a:bodyPr>
          <a:lstStyle/>
          <a:p>
            <a:r>
              <a:rPr lang="en-IN" sz="2800" b="1" dirty="0">
                <a:latin typeface="Arial" charset="0"/>
                <a:cs typeface="Arial" charset="0"/>
              </a:rPr>
              <a:t>Comparative Evaluation of Autologous Platelet Rich Plasma and Corticosteroid Injection in Chronic Plantar Fasciitis</a:t>
            </a:r>
            <a:endParaRPr lang="en-IN" sz="2800" b="1" dirty="0">
              <a:latin typeface="Arial" charset="0"/>
              <a:cs typeface="Arial" charset="0"/>
            </a:endParaRPr>
          </a:p>
        </p:txBody>
      </p:sp>
      <p:sp>
        <p:nvSpPr>
          <p:cNvPr id="5" name="TextBox 4"/>
          <p:cNvSpPr txBox="1"/>
          <p:nvPr/>
        </p:nvSpPr>
        <p:spPr>
          <a:xfrm>
            <a:off x="5041232" y="4136540"/>
            <a:ext cx="6104020" cy="1323439"/>
          </a:xfrm>
          <a:prstGeom prst="rect">
            <a:avLst/>
          </a:prstGeom>
          <a:noFill/>
        </p:spPr>
        <p:txBody>
          <a:bodyPr wrap="square">
            <a:spAutoFit/>
          </a:bodyPr>
          <a:lstStyle/>
          <a:p>
            <a:r>
              <a:rPr lang="en-IN" sz="2000" dirty="0">
                <a:latin typeface="Arial" charset="0"/>
                <a:cs typeface="Arial" charset="0"/>
              </a:rPr>
              <a:t>Presenter : Dr R Shravya Chandana </a:t>
            </a:r>
            <a:endParaRPr lang="en-IN" sz="2000" dirty="0">
              <a:latin typeface="Arial" charset="0"/>
              <a:cs typeface="Arial" charset="0"/>
            </a:endParaRPr>
          </a:p>
          <a:p>
            <a:r>
              <a:rPr lang="en-IN" sz="2000" dirty="0">
                <a:latin typeface="Arial" charset="0"/>
                <a:cs typeface="Arial" charset="0"/>
              </a:rPr>
              <a:t>Moderator : Dr R M Mallikarjuna Reddy (Professor)</a:t>
            </a:r>
            <a:endParaRPr lang="en-IN" sz="2000" dirty="0">
              <a:latin typeface="Arial" charset="0"/>
              <a:cs typeface="Arial" charset="0"/>
            </a:endParaRPr>
          </a:p>
          <a:p>
            <a:r>
              <a:rPr lang="en-IN" sz="2000" dirty="0">
                <a:latin typeface="Arial" charset="0"/>
                <a:cs typeface="Arial" charset="0"/>
              </a:rPr>
              <a:t>Department of Orthopaedics </a:t>
            </a:r>
            <a:endParaRPr lang="en-IN" sz="2000" dirty="0">
              <a:latin typeface="Arial" charset="0"/>
              <a:cs typeface="Arial" charset="0"/>
            </a:endParaRPr>
          </a:p>
          <a:p>
            <a:r>
              <a:rPr lang="en-IN" sz="2000" dirty="0" err="1">
                <a:latin typeface="Arial" charset="0"/>
                <a:cs typeface="Arial" charset="0"/>
              </a:rPr>
              <a:t>Asram</a:t>
            </a:r>
            <a:r>
              <a:rPr lang="en-IN" sz="2000" dirty="0">
                <a:latin typeface="Arial" charset="0"/>
                <a:cs typeface="Arial" charset="0"/>
              </a:rPr>
              <a:t> medical college and hospital</a:t>
            </a:r>
            <a:endParaRPr lang="en-IN" sz="2000" dirty="0">
              <a:latin typeface="Arial" charset="0"/>
              <a:cs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p:nvPr>
            <p:ph type="title"/>
          </p:nvPr>
        </p:nvSpPr>
        <p:spPr>
          <a:xfrm>
            <a:off x="533400" y="1452812"/>
            <a:ext cx="4231105" cy="712871"/>
          </a:xfrm>
        </p:spPr>
        <p:txBody>
          <a:bodyPr/>
          <a:lstStyle/>
          <a:p>
            <a:r>
              <a:rPr lang="en-IN" b="1" dirty="0">
                <a:latin typeface="Arial" charset="0"/>
                <a:cs typeface="Arial" charset="0"/>
              </a:rPr>
              <a:t>Introduction</a:t>
            </a:r>
            <a:r>
              <a:rPr lang="en-IN" dirty="0"/>
              <a:t> </a:t>
            </a:r>
            <a:endParaRPr lang="en-IN" dirty="0"/>
          </a:p>
        </p:txBody>
      </p:sp>
      <p:sp>
        <p:nvSpPr>
          <p:cNvPr id="3" name="Content Placeholder 2"/>
          <p:cNvSpPr/>
          <p:nvPr>
            <p:ph idx="1"/>
          </p:nvPr>
        </p:nvSpPr>
        <p:spPr>
          <a:xfrm>
            <a:off x="583531" y="2165683"/>
            <a:ext cx="6621379" cy="4351338"/>
          </a:xfrm>
        </p:spPr>
        <p:txBody>
          <a:bodyPr/>
          <a:lstStyle/>
          <a:p>
            <a:r>
              <a:rPr lang="en-US" sz="2400" dirty="0">
                <a:latin typeface="Arial" charset="0"/>
                <a:cs typeface="Arial" charset="0"/>
              </a:rPr>
              <a:t>Chronic plantar fasciitis is a degenerative </a:t>
            </a:r>
            <a:r>
              <a:rPr lang="en-US" sz="2400" dirty="0" err="1">
                <a:latin typeface="Arial" charset="0"/>
                <a:cs typeface="Arial" charset="0"/>
              </a:rPr>
              <a:t>fasciosis</a:t>
            </a:r>
            <a:r>
              <a:rPr lang="en-US" sz="2400" dirty="0">
                <a:latin typeface="Arial" charset="0"/>
                <a:cs typeface="Arial" charset="0"/>
              </a:rPr>
              <a:t>, not purely inflammatory.</a:t>
            </a:r>
            <a:endParaRPr lang="en-US" sz="2400" dirty="0">
              <a:latin typeface="Arial" charset="0"/>
              <a:cs typeface="Arial" charset="0"/>
            </a:endParaRPr>
          </a:p>
          <a:p>
            <a:r>
              <a:rPr lang="en-US" sz="2400" dirty="0">
                <a:latin typeface="Arial" charset="0"/>
                <a:cs typeface="Arial" charset="0"/>
              </a:rPr>
              <a:t> It is a common cause of chronic heel pain affecting daily activities.</a:t>
            </a:r>
            <a:endParaRPr lang="en-US" sz="2400" dirty="0">
              <a:latin typeface="Arial" charset="0"/>
              <a:cs typeface="Arial" charset="0"/>
            </a:endParaRPr>
          </a:p>
          <a:p>
            <a:r>
              <a:rPr lang="en-US" sz="2400" dirty="0">
                <a:latin typeface="Arial" charset="0"/>
                <a:cs typeface="Arial" charset="0"/>
              </a:rPr>
              <a:t> Most cases respond to conservative treatment; recalcitrant cases need injections.</a:t>
            </a:r>
            <a:endParaRPr lang="en-US" sz="2400" dirty="0">
              <a:latin typeface="Arial" charset="0"/>
              <a:cs typeface="Arial" charset="0"/>
            </a:endParaRPr>
          </a:p>
          <a:p>
            <a:r>
              <a:rPr lang="en-US" sz="2400" dirty="0">
                <a:latin typeface="Arial" charset="0"/>
                <a:cs typeface="Arial" charset="0"/>
              </a:rPr>
              <a:t> Corticosteroids give rapid short-term relief but have limited long-term benefit and risk of complications.</a:t>
            </a:r>
            <a:endParaRPr lang="en-US" sz="2400" dirty="0">
              <a:latin typeface="Arial" charset="0"/>
              <a:cs typeface="Arial" charset="0"/>
            </a:endParaRPr>
          </a:p>
          <a:p>
            <a:r>
              <a:rPr lang="en-US" sz="2400" dirty="0">
                <a:latin typeface="Arial" charset="0"/>
                <a:cs typeface="Arial" charset="0"/>
              </a:rPr>
              <a:t> PRP is an autologous therapy promoting tissue healing and regeneration</a:t>
            </a:r>
            <a:endParaRPr lang="en-IN" sz="2400" dirty="0">
              <a:latin typeface="Arial" charset="0"/>
              <a:cs typeface="Arial" charset="0"/>
            </a:endParaRPr>
          </a:p>
        </p:txBody>
      </p:sp>
      <p:pic>
        <p:nvPicPr>
          <p:cNvPr id="7" name="Picture 6"/>
          <p:cNvPicPr>
            <a:picLocks noChangeAspect="1"/>
          </p:cNvPicPr>
          <p:nvPr/>
        </p:nvPicPr>
        <p:blipFill>
          <a:blip r:embed="rId1"/>
          <a:srcRect t="27602" b="27018"/>
          <a:stretch>
            <a:fillRect/>
          </a:stretch>
        </p:blipFill>
        <p:spPr>
          <a:xfrm>
            <a:off x="6984462" y="1619007"/>
            <a:ext cx="4998990" cy="50713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p:nvPr>
            <p:ph type="title"/>
          </p:nvPr>
        </p:nvSpPr>
        <p:spPr>
          <a:xfrm>
            <a:off x="517359" y="1455990"/>
            <a:ext cx="5225716" cy="678948"/>
          </a:xfrm>
        </p:spPr>
        <p:txBody>
          <a:bodyPr/>
          <a:lstStyle/>
          <a:p>
            <a:r>
              <a:rPr lang="en-IN" sz="2400" b="1" dirty="0">
                <a:latin typeface="Arial" charset="0"/>
                <a:cs typeface="Arial" charset="0"/>
              </a:rPr>
              <a:t>Rationale : PRP vs Corticosteroid</a:t>
            </a:r>
            <a:endParaRPr lang="en-IN" sz="2400" b="1" dirty="0">
              <a:latin typeface="Arial" charset="0"/>
              <a:cs typeface="Arial" charset="0"/>
            </a:endParaRPr>
          </a:p>
        </p:txBody>
      </p:sp>
      <p:sp>
        <p:nvSpPr>
          <p:cNvPr id="4" name="Rectangle 1"/>
          <p:cNvSpPr/>
          <p:nvPr>
            <p:ph idx="1"/>
          </p:nvPr>
        </p:nvSpPr>
        <p:spPr bwMode="auto">
          <a:xfrm>
            <a:off x="372979" y="2022642"/>
            <a:ext cx="509737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Arial" charset="0"/>
              </a:rPr>
              <a:t>Corticosteroid injections, although effective in reducing pain rapidly, primarily address inflammation and do not reverse the underlying degenerative pathology. Repeated use may predispose to complications such as plantar fascia rupture and fat pad atrophy, limiting their long-term utility.</a:t>
            </a:r>
            <a:endParaRPr kumimoji="0" lang="en-US" altLang="en-US" sz="2000" i="0" u="none" strike="noStrike" cap="none" normalizeH="0" baseline="0" dirty="0">
              <a:ln>
                <a:noFill/>
              </a:ln>
              <a:solidFill>
                <a:schemeClr val="tx1"/>
              </a:solidFill>
              <a:effectLst/>
              <a:latin typeface="Arial" charset="0"/>
            </a:endParaRPr>
          </a:p>
          <a:p>
            <a:pPr eaLnBrk="0" fontAlgn="base" hangingPunct="0">
              <a:lnSpc>
                <a:spcPct val="100000"/>
              </a:lnSpc>
              <a:spcBef>
                <a:spcPct val="0"/>
              </a:spcBef>
              <a:spcAft>
                <a:spcPct val="0"/>
              </a:spcAft>
            </a:pPr>
            <a:r>
              <a:rPr kumimoji="0" lang="en-US" altLang="en-US" sz="2000" i="0" u="none" strike="noStrike" cap="none" normalizeH="0" baseline="0" dirty="0">
                <a:ln>
                  <a:noFill/>
                </a:ln>
                <a:solidFill>
                  <a:schemeClr val="tx1"/>
                </a:solidFill>
                <a:effectLst/>
                <a:latin typeface="Arial" charset="0"/>
              </a:rPr>
              <a:t>Platelet-rich plasma (PRP) is an autologous biological treatment rich in growth factors (PDGF, TGF-β, VEGF) that stimulate fibroblast proliferation, angiogenesis, and collagen remodeling, directly targeting the degenerative process</a:t>
            </a:r>
            <a:endParaRPr kumimoji="0" lang="en-US" altLang="en-US" sz="2000" i="0" u="none" strike="noStrike" cap="none" normalizeH="0" baseline="0" dirty="0">
              <a:ln>
                <a:noFill/>
              </a:ln>
              <a:solidFill>
                <a:schemeClr val="tx1"/>
              </a:solidFill>
              <a:effectLst/>
              <a:latin typeface="Arial" charset="0"/>
            </a:endParaRPr>
          </a:p>
        </p:txBody>
      </p:sp>
      <p:pic>
        <p:nvPicPr>
          <p:cNvPr id="5" name="Picture 4"/>
          <p:cNvPicPr>
            <a:picLocks noChangeAspect="1"/>
          </p:cNvPicPr>
          <p:nvPr/>
        </p:nvPicPr>
        <p:blipFill>
          <a:blip r:embed="rId1"/>
          <a:stretch>
            <a:fillRect/>
          </a:stretch>
        </p:blipFill>
        <p:spPr>
          <a:xfrm>
            <a:off x="5743075" y="1343695"/>
            <a:ext cx="6448925" cy="55143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p:nvPr>
            <p:ph type="title"/>
          </p:nvPr>
        </p:nvSpPr>
        <p:spPr>
          <a:xfrm>
            <a:off x="549442" y="1455989"/>
            <a:ext cx="2145632" cy="918243"/>
          </a:xfrm>
        </p:spPr>
        <p:txBody>
          <a:bodyPr/>
          <a:lstStyle/>
          <a:p>
            <a:r>
              <a:rPr lang="en-IN" b="1" dirty="0">
                <a:latin typeface="Arial" charset="0"/>
                <a:cs typeface="Arial" charset="0"/>
              </a:rPr>
              <a:t>Aim </a:t>
            </a:r>
            <a:endParaRPr lang="en-IN" b="1" dirty="0">
              <a:latin typeface="Arial" charset="0"/>
              <a:cs typeface="Arial" charset="0"/>
            </a:endParaRPr>
          </a:p>
        </p:txBody>
      </p:sp>
      <p:sp>
        <p:nvSpPr>
          <p:cNvPr id="4" name="Rectangle 1"/>
          <p:cNvSpPr/>
          <p:nvPr>
            <p:ph idx="1"/>
          </p:nvPr>
        </p:nvSpPr>
        <p:spPr bwMode="auto">
          <a:xfrm>
            <a:off x="549442" y="2374232"/>
            <a:ext cx="1007059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To compare the effectiveness of a single-dose autologous platelet-rich plasma (PRP) injection with a single-dose corticosteroid injection in patients with chronic plantar fasciitis.</a:t>
            </a:r>
            <a:endParaRPr kumimoji="0" lang="en-US" altLang="en-US" sz="240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To evaluate and compare pain relief and functional outcomes at 4, 8, 12, and 24 weeks of follow-up. </a:t>
            </a:r>
            <a:endParaRPr kumimoji="0" lang="en-US" altLang="en-US" sz="2400" i="0" u="none" strike="noStrike" cap="none" normalizeH="0" baseline="0" dirty="0">
              <a:ln>
                <a:noFill/>
              </a:ln>
              <a:solidFill>
                <a:schemeClr val="tx1"/>
              </a:solidFill>
              <a:effectLst/>
              <a:latin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p:nvPr>
            <p:ph type="title"/>
          </p:nvPr>
        </p:nvSpPr>
        <p:spPr>
          <a:xfrm>
            <a:off x="372979" y="1359737"/>
            <a:ext cx="5723021" cy="741780"/>
          </a:xfrm>
        </p:spPr>
        <p:txBody>
          <a:bodyPr/>
          <a:lstStyle/>
          <a:p>
            <a:r>
              <a:rPr lang="en-IN" sz="4000" b="1" dirty="0">
                <a:latin typeface="Arial" charset="0"/>
                <a:cs typeface="Arial" charset="0"/>
              </a:rPr>
              <a:t>Materials and Methods</a:t>
            </a:r>
            <a:endParaRPr lang="en-IN" sz="4000" b="1" dirty="0">
              <a:latin typeface="Arial" charset="0"/>
              <a:cs typeface="Arial" charset="0"/>
            </a:endParaRPr>
          </a:p>
        </p:txBody>
      </p:sp>
      <p:sp>
        <p:nvSpPr>
          <p:cNvPr id="4" name="Rectangle 1"/>
          <p:cNvSpPr/>
          <p:nvPr>
            <p:ph idx="1"/>
          </p:nvPr>
        </p:nvSpPr>
        <p:spPr bwMode="auto">
          <a:xfrm>
            <a:off x="372979" y="2101517"/>
            <a:ext cx="618423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charset="0"/>
              </a:rPr>
              <a:t>Design:</a:t>
            </a:r>
            <a:r>
              <a:rPr kumimoji="0" lang="en-US" altLang="en-US" sz="1800" b="0" i="0" u="none" strike="noStrike" cap="none" normalizeH="0" baseline="0" dirty="0">
                <a:ln>
                  <a:noFill/>
                </a:ln>
                <a:solidFill>
                  <a:schemeClr val="tx1"/>
                </a:solidFill>
                <a:effectLst/>
                <a:latin typeface="Arial" charset="0"/>
              </a:rPr>
              <a:t> Prospective randomized controlled study (Oct 202</a:t>
            </a:r>
            <a:r>
              <a:rPr lang="en-US" altLang="en-US" sz="1800" dirty="0">
                <a:latin typeface="Arial" charset="0"/>
              </a:rPr>
              <a:t>3</a:t>
            </a:r>
            <a:r>
              <a:rPr kumimoji="0" lang="en-US" altLang="en-US" sz="1800" b="0" i="0" u="none" strike="noStrike" cap="none" normalizeH="0" baseline="0" dirty="0">
                <a:ln>
                  <a:noFill/>
                </a:ln>
                <a:solidFill>
                  <a:schemeClr val="tx1"/>
                </a:solidFill>
                <a:effectLst/>
                <a:latin typeface="Arial" charset="0"/>
              </a:rPr>
              <a:t>–Jan 2026)</a:t>
            </a:r>
            <a:endParaRPr kumimoji="0" lang="en-US" alt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charset="0"/>
              </a:rPr>
              <a:t>Sample:</a:t>
            </a:r>
            <a:r>
              <a:rPr kumimoji="0" lang="en-US" altLang="en-US" sz="1800" b="0" i="0" u="none" strike="noStrike" cap="none" normalizeH="0" baseline="0" dirty="0">
                <a:ln>
                  <a:noFill/>
                </a:ln>
                <a:solidFill>
                  <a:schemeClr val="tx1"/>
                </a:solidFill>
                <a:effectLst/>
                <a:latin typeface="Arial" charset="0"/>
              </a:rPr>
              <a:t> 180 patients</a:t>
            </a:r>
            <a:endParaRPr kumimoji="0" lang="en-US" alt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Arial" charset="0"/>
              </a:rPr>
              <a:t>   PRP: 90 | Steroid: 90</a:t>
            </a:r>
            <a:endParaRPr kumimoji="0" lang="en-US" alt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charset="0"/>
              </a:rPr>
              <a:t>Inclusion:</a:t>
            </a:r>
            <a:r>
              <a:rPr kumimoji="0" lang="en-US" altLang="en-US" sz="1800" b="0" i="0" u="none" strike="noStrike" cap="none" normalizeH="0" baseline="0" dirty="0">
                <a:ln>
                  <a:noFill/>
                </a:ln>
                <a:solidFill>
                  <a:schemeClr val="tx1"/>
                </a:solidFill>
                <a:effectLst/>
                <a:latin typeface="Arial" charset="0"/>
              </a:rPr>
              <a:t> Age &gt;20 yrs, symptoms &gt;6 months, failed conservative care</a:t>
            </a:r>
            <a:endParaRPr kumimoji="0" lang="en-US" alt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charset="0"/>
              </a:rPr>
              <a:t>Intervention:</a:t>
            </a:r>
            <a:endParaRPr kumimoji="0" lang="en-US" alt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charset="0"/>
              </a:rPr>
              <a:t>PRP: 2 ml autologous PRP (double-spin)</a:t>
            </a:r>
            <a:endParaRPr kumimoji="0" lang="en-US" alt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charset="0"/>
              </a:rPr>
              <a:t>Steroid: 2 ml Triamcinolone (40 mg/ml)</a:t>
            </a:r>
            <a:endParaRPr kumimoji="0" lang="en-US" alt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charset="0"/>
              </a:rPr>
              <a:t>Peppering technique at maximal tenderness</a:t>
            </a:r>
            <a:endParaRPr kumimoji="0" lang="en-US" alt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charset="0"/>
              </a:rPr>
              <a:t>Assessment:</a:t>
            </a:r>
            <a:r>
              <a:rPr kumimoji="0" lang="en-US" altLang="en-US" sz="1800" b="0" i="0" u="none" strike="noStrike" cap="none" normalizeH="0" baseline="0" dirty="0">
                <a:ln>
                  <a:noFill/>
                </a:ln>
                <a:solidFill>
                  <a:schemeClr val="tx1"/>
                </a:solidFill>
                <a:effectLst/>
                <a:latin typeface="Arial" charset="0"/>
              </a:rPr>
              <a:t> VAS &amp; Nirschl scores at 4, 8, 12, 24 weeks</a:t>
            </a:r>
            <a:endParaRPr kumimoji="0" lang="en-US" altLang="en-US" sz="1800" b="0" i="0" u="none" strike="noStrike" cap="none" normalizeH="0" baseline="0" dirty="0">
              <a:ln>
                <a:noFill/>
              </a:ln>
              <a:solidFill>
                <a:schemeClr val="tx1"/>
              </a:solidFill>
              <a:effectLst/>
              <a:latin typeface="Arial" charset="0"/>
            </a:endParaRPr>
          </a:p>
        </p:txBody>
      </p:sp>
      <p:pic>
        <p:nvPicPr>
          <p:cNvPr id="5123" name="Picture 3" descr="/private/var/mobile/Containers/Data/Application/D1A9134A-6215-4369-A9D7-2F75E6AA2D36/tmp/insert_image_tmp_dir/2026-01-23 13:11:32.328000.png2026-01-23 13:11:32.328000"/>
          <p:cNvPicPr>
            <a:picLocks noChangeAspect="1" noChangeArrowheads="1"/>
          </p:cNvPicPr>
          <p:nvPr/>
        </p:nvPicPr>
        <p:blipFill>
          <a:blip r:embed="rId1"/>
          <a:srcRect/>
          <a:stretch>
            <a:fillRect/>
          </a:stretch>
        </p:blipFill>
        <p:spPr bwMode="auto">
          <a:xfrm>
            <a:off x="6483067" y="4224318"/>
            <a:ext cx="3030855" cy="241449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2"/>
          <a:stretch>
            <a:fillRect/>
          </a:stretch>
        </p:blipFill>
        <p:spPr>
          <a:xfrm>
            <a:off x="6047095" y="1426433"/>
            <a:ext cx="5952399" cy="2279293"/>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rcRect l="14057" r="8921"/>
          <a:stretch>
            <a:fillRect/>
          </a:stretch>
        </p:blipFill>
        <p:spPr>
          <a:xfrm>
            <a:off x="9564979" y="4620321"/>
            <a:ext cx="2627021" cy="1828616"/>
          </a:xfrm>
          <a:prstGeom prst="rect">
            <a:avLst/>
          </a:prstGeom>
        </p:spPr>
      </p:pic>
      <p:pic>
        <p:nvPicPr>
          <p:cNvPr id="7" name="Picture 6"/>
          <p:cNvPicPr>
            <a:picLocks noChangeAspect="1"/>
          </p:cNvPicPr>
          <p:nvPr/>
        </p:nvPicPr>
        <p:blipFill>
          <a:blip r:embed="rId4"/>
          <a:stretch>
            <a:fillRect/>
          </a:stretch>
        </p:blipFill>
        <p:spPr>
          <a:xfrm>
            <a:off x="708895" y="5327336"/>
            <a:ext cx="4691582" cy="15280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p:nvPr>
            <p:ph type="title"/>
          </p:nvPr>
        </p:nvSpPr>
        <p:spPr>
          <a:xfrm>
            <a:off x="340895" y="1407862"/>
            <a:ext cx="3573379" cy="709696"/>
          </a:xfrm>
        </p:spPr>
        <p:txBody>
          <a:bodyPr/>
          <a:lstStyle/>
          <a:p>
            <a:r>
              <a:rPr lang="en-IN" sz="4000" b="1" dirty="0">
                <a:latin typeface="Arial" charset="0"/>
                <a:cs typeface="Arial" charset="0"/>
              </a:rPr>
              <a:t>Results </a:t>
            </a:r>
            <a:endParaRPr lang="en-IN" sz="4000" b="1" dirty="0">
              <a:latin typeface="Arial" charset="0"/>
              <a:cs typeface="Arial" charset="0"/>
            </a:endParaRPr>
          </a:p>
        </p:txBody>
      </p:sp>
      <p:sp>
        <p:nvSpPr>
          <p:cNvPr id="4" name="Rectangle 1"/>
          <p:cNvSpPr/>
          <p:nvPr>
            <p:ph idx="1"/>
          </p:nvPr>
        </p:nvSpPr>
        <p:spPr bwMode="auto">
          <a:xfrm>
            <a:off x="340895" y="2117558"/>
            <a:ext cx="6027821"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Baseline pain scores: Comparable in both groups</a:t>
            </a:r>
            <a:endParaRPr kumimoji="0" lang="en-US" altLang="en-US" sz="240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4 weeks: Corticosteroid group showed better early pain relief</a:t>
            </a:r>
            <a:endParaRPr kumimoji="0" lang="en-US" altLang="en-US" sz="240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12 &amp; 24 weeks: PRP group had significantly lower VAS and Nirschl scores</a:t>
            </a:r>
            <a:endParaRPr kumimoji="0" lang="en-US" altLang="en-US" sz="240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Outcome: PRP showed sustained improvement (</a:t>
            </a:r>
            <a:r>
              <a:rPr kumimoji="0" lang="en-US" altLang="en-US" sz="2400" i="1" u="none" strike="noStrike" cap="none" normalizeH="0" baseline="0" dirty="0">
                <a:ln>
                  <a:noFill/>
                </a:ln>
                <a:solidFill>
                  <a:schemeClr val="tx1"/>
                </a:solidFill>
                <a:effectLst/>
                <a:latin typeface="Arial" charset="0"/>
              </a:rPr>
              <a:t>p</a:t>
            </a:r>
            <a:r>
              <a:rPr kumimoji="0" lang="en-US" altLang="en-US" sz="2400" i="0" u="none" strike="noStrike" cap="none" normalizeH="0" baseline="0" dirty="0">
                <a:ln>
                  <a:noFill/>
                </a:ln>
                <a:solidFill>
                  <a:schemeClr val="tx1"/>
                </a:solidFill>
                <a:effectLst/>
                <a:latin typeface="Arial" charset="0"/>
              </a:rPr>
              <a:t> &lt; 0.001 at 24 weeks)</a:t>
            </a:r>
            <a:endParaRPr kumimoji="0" lang="en-US" altLang="en-US" sz="240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2400" b="1" i="0" u="none" strike="noStrike" cap="none" normalizeH="0" baseline="0" dirty="0">
                <a:ln>
                  <a:noFill/>
                </a:ln>
                <a:solidFill>
                  <a:schemeClr val="tx1"/>
                </a:solidFill>
                <a:effectLst/>
                <a:latin typeface="Arial" charset="0"/>
              </a:rPr>
              <a:t>Complications:</a:t>
            </a:r>
            <a:endParaRPr kumimoji="0" lang="en-US" altLang="en-US" sz="2400" b="1"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Steroid: 1 case of transient </a:t>
            </a:r>
            <a:r>
              <a:rPr kumimoji="0" lang="en-US" altLang="en-US" sz="2400" i="0" u="none" strike="noStrike" cap="none" normalizeH="0" baseline="0" dirty="0" err="1">
                <a:ln>
                  <a:noFill/>
                </a:ln>
                <a:solidFill>
                  <a:schemeClr val="tx1"/>
                </a:solidFill>
                <a:effectLst/>
                <a:latin typeface="Arial" charset="0"/>
              </a:rPr>
              <a:t>paraesthesia</a:t>
            </a:r>
            <a:endParaRPr kumimoji="0" lang="en-US" altLang="en-US" sz="240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PRP: No significant complications</a:t>
            </a:r>
            <a:endParaRPr kumimoji="0" lang="en-US" altLang="en-US" sz="240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charset="0"/>
            </a:endParaRPr>
          </a:p>
        </p:txBody>
      </p:sp>
      <p:pic>
        <p:nvPicPr>
          <p:cNvPr id="5" name="Picture 4"/>
          <p:cNvPicPr>
            <a:picLocks noChangeAspect="1"/>
          </p:cNvPicPr>
          <p:nvPr/>
        </p:nvPicPr>
        <p:blipFill>
          <a:blip r:embed="rId1"/>
          <a:stretch>
            <a:fillRect/>
          </a:stretch>
        </p:blipFill>
        <p:spPr>
          <a:xfrm>
            <a:off x="6580585" y="2117558"/>
            <a:ext cx="5611415" cy="40105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p:nvPr>
            <p:ph type="title"/>
          </p:nvPr>
        </p:nvSpPr>
        <p:spPr>
          <a:xfrm>
            <a:off x="469232" y="1327652"/>
            <a:ext cx="3974432" cy="682458"/>
          </a:xfrm>
        </p:spPr>
        <p:txBody>
          <a:bodyPr/>
          <a:lstStyle/>
          <a:p>
            <a:r>
              <a:rPr lang="en-IN" b="1" dirty="0">
                <a:latin typeface="Arial" charset="0"/>
                <a:cs typeface="Arial" charset="0"/>
              </a:rPr>
              <a:t>Conclusion </a:t>
            </a:r>
            <a:endParaRPr lang="en-IN" b="1" dirty="0">
              <a:latin typeface="Arial" charset="0"/>
              <a:cs typeface="Arial" charset="0"/>
            </a:endParaRPr>
          </a:p>
        </p:txBody>
      </p:sp>
      <p:sp>
        <p:nvSpPr>
          <p:cNvPr id="3" name="Content Placeholder 2"/>
          <p:cNvSpPr/>
          <p:nvPr>
            <p:ph idx="1"/>
          </p:nvPr>
        </p:nvSpPr>
        <p:spPr>
          <a:xfrm>
            <a:off x="469232" y="2010110"/>
            <a:ext cx="5097379" cy="4847890"/>
          </a:xfrm>
        </p:spPr>
        <p:txBody>
          <a:bodyPr/>
          <a:lstStyle/>
          <a:p>
            <a:r>
              <a:rPr lang="en-US" sz="2400" dirty="0">
                <a:latin typeface="Arial" charset="0"/>
                <a:cs typeface="Arial" charset="0"/>
              </a:rPr>
              <a:t>Both PRP and corticosteroid injections are effective in managing chronic plantar fasciitis.</a:t>
            </a:r>
            <a:endParaRPr lang="en-US" sz="2400" dirty="0">
              <a:latin typeface="Arial" charset="0"/>
              <a:cs typeface="Arial" charset="0"/>
            </a:endParaRPr>
          </a:p>
          <a:p>
            <a:r>
              <a:rPr lang="en-US" sz="2400" dirty="0">
                <a:latin typeface="Arial" charset="0"/>
                <a:cs typeface="Arial" charset="0"/>
              </a:rPr>
              <a:t>Corticosteroids provide early symptomatic relief.</a:t>
            </a:r>
            <a:endParaRPr lang="en-US" sz="2400" dirty="0">
              <a:latin typeface="Arial" charset="0"/>
              <a:cs typeface="Arial" charset="0"/>
            </a:endParaRPr>
          </a:p>
          <a:p>
            <a:r>
              <a:rPr lang="en-US" sz="2400" dirty="0">
                <a:latin typeface="Arial" charset="0"/>
                <a:cs typeface="Arial" charset="0"/>
              </a:rPr>
              <a:t>PRP offers better long-term pain relief and functional improvement with minimal complications.</a:t>
            </a:r>
            <a:endParaRPr lang="en-US" sz="2400" dirty="0">
              <a:latin typeface="Arial" charset="0"/>
              <a:cs typeface="Arial" charset="0"/>
            </a:endParaRPr>
          </a:p>
          <a:p>
            <a:r>
              <a:rPr lang="en-US" sz="2400" b="1" dirty="0">
                <a:latin typeface="Arial" charset="0"/>
                <a:cs typeface="Arial" charset="0"/>
              </a:rPr>
              <a:t>Clinical Implication:</a:t>
            </a:r>
            <a:br>
              <a:rPr lang="en-US" sz="2400" dirty="0">
                <a:latin typeface="Arial" charset="0"/>
                <a:cs typeface="Arial" charset="0"/>
              </a:rPr>
            </a:br>
            <a:r>
              <a:rPr lang="en-US" sz="2400" dirty="0">
                <a:latin typeface="Arial" charset="0"/>
                <a:cs typeface="Arial" charset="0"/>
              </a:rPr>
              <a:t>PRP should be considered a preferred biological option for chronic plantar fasciitis, especially in recalcitrant cases</a:t>
            </a:r>
            <a:endParaRPr lang="en-US" sz="2400" dirty="0">
              <a:latin typeface="Arial" charset="0"/>
              <a:cs typeface="Arial" charset="0"/>
            </a:endParaRPr>
          </a:p>
          <a:p>
            <a:pPr marL="0" indent="0">
              <a:buNone/>
            </a:pPr>
            <a:endParaRPr lang="en-IN" dirty="0"/>
          </a:p>
        </p:txBody>
      </p:sp>
      <p:pic>
        <p:nvPicPr>
          <p:cNvPr id="7170" name="Picture 2" descr="Effect of platelet-rich plasma versus steroid injection in plantar fasciitis:  a randomized clinical trial | BMC Musculoskeletal Disorders | Springer  Nature Link"/>
          <p:cNvPicPr>
            <a:picLocks noChangeAspect="1" noChangeArrowheads="1"/>
          </p:cNvPicPr>
          <p:nvPr/>
        </p:nvPicPr>
        <p:blipFill rotWithShape="1">
          <a:blip r:embed="rId1">
            <a:extLst>
              <a:ext uri="{28A0092B-C50C-407E-A947-70E740481C1C}">
                <a14:useLocalDpi xmlns:a14="http://schemas.microsoft.com/office/drawing/2010/main" val="0"/>
              </a:ext>
            </a:extLst>
          </a:blip>
          <a:srcRect l="3686" t="2807" r="6915" b="68655"/>
          <a:stretch>
            <a:fillRect/>
          </a:stretch>
        </p:blipFill>
        <p:spPr bwMode="auto">
          <a:xfrm>
            <a:off x="5743074" y="1327652"/>
            <a:ext cx="6272463" cy="28471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2"/>
          <a:srcRect l="3193" t="68538" r="6468" b="3158"/>
          <a:stretch>
            <a:fillRect/>
          </a:stretch>
        </p:blipFill>
        <p:spPr>
          <a:xfrm>
            <a:off x="5743073" y="4232995"/>
            <a:ext cx="6272463" cy="26250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p:nvPr>
            <p:ph type="title"/>
          </p:nvPr>
        </p:nvSpPr>
        <p:spPr>
          <a:xfrm>
            <a:off x="838200" y="1375778"/>
            <a:ext cx="10515600" cy="854075"/>
          </a:xfrm>
        </p:spPr>
        <p:txBody>
          <a:bodyPr/>
          <a:lstStyle/>
          <a:p>
            <a:r>
              <a:rPr lang="en-IN" b="1" dirty="0">
                <a:latin typeface="Arial" charset="0"/>
                <a:cs typeface="Arial" charset="0"/>
              </a:rPr>
              <a:t>References</a:t>
            </a:r>
            <a:endParaRPr lang="en-IN" b="1" dirty="0">
              <a:latin typeface="Arial" charset="0"/>
              <a:cs typeface="Arial" charset="0"/>
            </a:endParaRPr>
          </a:p>
        </p:txBody>
      </p:sp>
      <p:sp>
        <p:nvSpPr>
          <p:cNvPr id="4" name="Rectangle 1"/>
          <p:cNvSpPr/>
          <p:nvPr>
            <p:ph idx="1"/>
          </p:nvPr>
        </p:nvSpPr>
        <p:spPr bwMode="auto">
          <a:xfrm>
            <a:off x="966537" y="2381184"/>
            <a:ext cx="1076024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Lemont H, Ammirati KM, Usen N. </a:t>
            </a:r>
            <a:r>
              <a:rPr kumimoji="0" lang="en-US" altLang="en-US" sz="2400" i="1" u="none" strike="noStrike" cap="none" normalizeH="0" baseline="0" dirty="0">
                <a:ln>
                  <a:noFill/>
                </a:ln>
                <a:solidFill>
                  <a:schemeClr val="tx1"/>
                </a:solidFill>
                <a:effectLst/>
                <a:latin typeface="Arial" charset="0"/>
              </a:rPr>
              <a:t>Plantar fasciitis: a degenerative process (</a:t>
            </a:r>
            <a:r>
              <a:rPr kumimoji="0" lang="en-US" altLang="en-US" sz="2400" i="1" u="none" strike="noStrike" cap="none" normalizeH="0" baseline="0" dirty="0" err="1">
                <a:ln>
                  <a:noFill/>
                </a:ln>
                <a:solidFill>
                  <a:schemeClr val="tx1"/>
                </a:solidFill>
                <a:effectLst/>
                <a:latin typeface="Arial" charset="0"/>
              </a:rPr>
              <a:t>fasciosis</a:t>
            </a:r>
            <a:r>
              <a:rPr kumimoji="0" lang="en-US" altLang="en-US" sz="2400" i="1" u="none" strike="noStrike" cap="none" normalizeH="0" baseline="0" dirty="0">
                <a:ln>
                  <a:noFill/>
                </a:ln>
                <a:solidFill>
                  <a:schemeClr val="tx1"/>
                </a:solidFill>
                <a:effectLst/>
                <a:latin typeface="Arial" charset="0"/>
              </a:rPr>
              <a:t>) without inflammation.</a:t>
            </a:r>
            <a:r>
              <a:rPr kumimoji="0" lang="en-US" altLang="en-US" sz="2400" i="0" u="none" strike="noStrike" cap="none" normalizeH="0" baseline="0" dirty="0">
                <a:ln>
                  <a:noFill/>
                </a:ln>
                <a:solidFill>
                  <a:schemeClr val="tx1"/>
                </a:solidFill>
                <a:effectLst/>
                <a:latin typeface="Arial" charset="0"/>
              </a:rPr>
              <a:t> J Am </a:t>
            </a:r>
            <a:r>
              <a:rPr kumimoji="0" lang="en-US" altLang="en-US" sz="2400" i="0" u="none" strike="noStrike" cap="none" normalizeH="0" baseline="0" dirty="0" err="1">
                <a:ln>
                  <a:noFill/>
                </a:ln>
                <a:solidFill>
                  <a:schemeClr val="tx1"/>
                </a:solidFill>
                <a:effectLst/>
                <a:latin typeface="Arial" charset="0"/>
              </a:rPr>
              <a:t>Podiatr</a:t>
            </a:r>
            <a:r>
              <a:rPr kumimoji="0" lang="en-US" altLang="en-US" sz="2400" i="0" u="none" strike="noStrike" cap="none" normalizeH="0" baseline="0" dirty="0">
                <a:ln>
                  <a:noFill/>
                </a:ln>
                <a:solidFill>
                  <a:schemeClr val="tx1"/>
                </a:solidFill>
                <a:effectLst/>
                <a:latin typeface="Arial" charset="0"/>
              </a:rPr>
              <a:t> Med Assoc, 2003;93:234–237.</a:t>
            </a:r>
            <a:endParaRPr kumimoji="0" lang="en-US" altLang="en-US" sz="240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Monto RR. </a:t>
            </a:r>
            <a:r>
              <a:rPr kumimoji="0" lang="en-US" altLang="en-US" sz="2400" i="1" u="none" strike="noStrike" cap="none" normalizeH="0" baseline="0" dirty="0">
                <a:ln>
                  <a:noFill/>
                </a:ln>
                <a:solidFill>
                  <a:schemeClr val="tx1"/>
                </a:solidFill>
                <a:effectLst/>
                <a:latin typeface="Arial" charset="0"/>
              </a:rPr>
              <a:t>Platelet-rich plasma efficacy versus corticosteroid injection treatment for chronic severe plantar fasciitis.</a:t>
            </a:r>
            <a:r>
              <a:rPr kumimoji="0" lang="en-US" altLang="en-US" sz="2400" i="0" u="none" strike="noStrike" cap="none" normalizeH="0" baseline="0" dirty="0">
                <a:ln>
                  <a:noFill/>
                </a:ln>
                <a:solidFill>
                  <a:schemeClr val="tx1"/>
                </a:solidFill>
                <a:effectLst/>
                <a:latin typeface="Arial" charset="0"/>
              </a:rPr>
              <a:t> Foot Ankle Int, 2014;35:313–318.</a:t>
            </a:r>
            <a:endParaRPr kumimoji="0" lang="en-US" altLang="en-US" sz="240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Arial" charset="0"/>
              </a:rPr>
              <a:t>Mahindra P, Yamin M, </a:t>
            </a:r>
            <a:r>
              <a:rPr kumimoji="0" lang="en-US" altLang="en-US" sz="2400" i="0" u="none" strike="noStrike" cap="none" normalizeH="0" baseline="0" dirty="0" err="1">
                <a:ln>
                  <a:noFill/>
                </a:ln>
                <a:solidFill>
                  <a:schemeClr val="tx1"/>
                </a:solidFill>
                <a:effectLst/>
                <a:latin typeface="Arial" charset="0"/>
              </a:rPr>
              <a:t>Selhi</a:t>
            </a:r>
            <a:r>
              <a:rPr kumimoji="0" lang="en-US" altLang="en-US" sz="2400" i="0" u="none" strike="noStrike" cap="none" normalizeH="0" baseline="0" dirty="0">
                <a:ln>
                  <a:noFill/>
                </a:ln>
                <a:solidFill>
                  <a:schemeClr val="tx1"/>
                </a:solidFill>
                <a:effectLst/>
                <a:latin typeface="Arial" charset="0"/>
              </a:rPr>
              <a:t> HS, Singla S, Soni A. </a:t>
            </a:r>
            <a:r>
              <a:rPr kumimoji="0" lang="en-US" altLang="en-US" sz="2400" i="1" u="none" strike="noStrike" cap="none" normalizeH="0" baseline="0" dirty="0">
                <a:ln>
                  <a:noFill/>
                </a:ln>
                <a:solidFill>
                  <a:schemeClr val="tx1"/>
                </a:solidFill>
                <a:effectLst/>
                <a:latin typeface="Arial" charset="0"/>
              </a:rPr>
              <a:t>Chronic plantar fasciitis: Effect of platelet-rich plasma, corticosteroid, and placebo.</a:t>
            </a:r>
            <a:r>
              <a:rPr kumimoji="0" lang="en-US" altLang="en-US" sz="2400" i="0" u="none" strike="noStrike" cap="none" normalizeH="0" baseline="0" dirty="0">
                <a:ln>
                  <a:noFill/>
                </a:ln>
                <a:solidFill>
                  <a:schemeClr val="tx1"/>
                </a:solidFill>
                <a:effectLst/>
                <a:latin typeface="Arial" charset="0"/>
              </a:rPr>
              <a:t> Orthopedics, 2016;39:e285–e289.</a:t>
            </a:r>
            <a:endParaRPr kumimoji="0" lang="en-US" altLang="en-US" sz="240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err="1">
                <a:ln>
                  <a:noFill/>
                </a:ln>
                <a:solidFill>
                  <a:schemeClr val="tx1"/>
                </a:solidFill>
                <a:effectLst/>
                <a:latin typeface="Arial" charset="0"/>
              </a:rPr>
              <a:t>Peerbooms</a:t>
            </a:r>
            <a:r>
              <a:rPr kumimoji="0" lang="en-US" altLang="en-US" sz="2400" i="0" u="none" strike="noStrike" cap="none" normalizeH="0" baseline="0" dirty="0">
                <a:ln>
                  <a:noFill/>
                </a:ln>
                <a:solidFill>
                  <a:schemeClr val="tx1"/>
                </a:solidFill>
                <a:effectLst/>
                <a:latin typeface="Arial" charset="0"/>
              </a:rPr>
              <a:t> JC, </a:t>
            </a:r>
            <a:r>
              <a:rPr kumimoji="0" lang="en-US" altLang="en-US" sz="2400" i="0" u="none" strike="noStrike" cap="none" normalizeH="0" baseline="0" dirty="0" err="1">
                <a:ln>
                  <a:noFill/>
                </a:ln>
                <a:solidFill>
                  <a:schemeClr val="tx1"/>
                </a:solidFill>
                <a:effectLst/>
                <a:latin typeface="Arial" charset="0"/>
              </a:rPr>
              <a:t>Sluimer</a:t>
            </a:r>
            <a:r>
              <a:rPr kumimoji="0" lang="en-US" altLang="en-US" sz="2400" i="0" u="none" strike="noStrike" cap="none" normalizeH="0" baseline="0" dirty="0">
                <a:ln>
                  <a:noFill/>
                </a:ln>
                <a:solidFill>
                  <a:schemeClr val="tx1"/>
                </a:solidFill>
                <a:effectLst/>
                <a:latin typeface="Arial" charset="0"/>
              </a:rPr>
              <a:t> J, Bruijn DJ, Gosens T. </a:t>
            </a:r>
            <a:r>
              <a:rPr kumimoji="0" lang="en-US" altLang="en-US" sz="2400" i="1" u="none" strike="noStrike" cap="none" normalizeH="0" baseline="0" dirty="0">
                <a:ln>
                  <a:noFill/>
                </a:ln>
                <a:solidFill>
                  <a:schemeClr val="tx1"/>
                </a:solidFill>
                <a:effectLst/>
                <a:latin typeface="Arial" charset="0"/>
              </a:rPr>
              <a:t>Positive effect of an autologous platelet concentrate in chronic tendinopathies.</a:t>
            </a:r>
            <a:r>
              <a:rPr kumimoji="0" lang="en-US" altLang="en-US" sz="2400" i="0" u="none" strike="noStrike" cap="none" normalizeH="0" baseline="0" dirty="0">
                <a:ln>
                  <a:noFill/>
                </a:ln>
                <a:solidFill>
                  <a:schemeClr val="tx1"/>
                </a:solidFill>
                <a:effectLst/>
                <a:latin typeface="Arial" charset="0"/>
              </a:rPr>
              <a:t> Am J Sports Med, 2009;37:255–262</a:t>
            </a:r>
            <a:endParaRPr kumimoji="0" lang="en-US" altLang="en-US" sz="2400" i="0" u="none" strike="noStrike" cap="none" normalizeH="0" baseline="0" dirty="0">
              <a:ln>
                <a:noFill/>
              </a:ln>
              <a:solidFill>
                <a:schemeClr val="tx1"/>
              </a:solidFill>
              <a:effectLst/>
              <a:latin typeface="Arial"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Widescreen</PresentationFormat>
  <Paragraphs>45</Paragraphs>
  <Slides>0</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8</vt:i4>
      </vt:variant>
    </vt:vector>
  </HeadingPairs>
  <TitlesOfParts>
    <vt:vector size="27" baseType="lpstr">
      <vt:lpstr>Arial</vt:lpstr>
      <vt:lpstr>SimSun</vt:lpstr>
      <vt:lpstr>Wingdings</vt:lpstr>
      <vt:lpstr>Gordita </vt:lpstr>
      <vt:lpstr>Gordita </vt:lpstr>
      <vt:lpstr>Gordita </vt:lpstr>
      <vt:lpstr>Gordita </vt:lpstr>
      <vt:lpstr>Gordita </vt:lpstr>
      <vt:lpstr>Gordita </vt:lpstr>
      <vt:lpstr>Gordita </vt:lpstr>
      <vt:lpstr>Gordita </vt:lpstr>
      <vt:lpstr>Gordita </vt:lpstr>
      <vt:lpstr>Gordita </vt:lpstr>
      <vt:lpstr>Gordita </vt:lpstr>
      <vt:lpstr>Gordita </vt:lpstr>
      <vt:lpstr>Aptos</vt:lpstr>
      <vt:lpstr>Aptos Display</vt:lpstr>
      <vt:lpstr>Calibri</vt:lpstr>
      <vt:lpstr>Office Theme</vt:lpstr>
      <vt:lpstr>PowerPoint 演示文稿</vt:lpstr>
      <vt:lpstr>Introduction </vt:lpstr>
      <vt:lpstr>Rationale : PRP vs Corticosteroid</vt:lpstr>
      <vt:lpstr>Aim </vt:lpstr>
      <vt:lpstr>Materials and Methods</vt:lpstr>
      <vt:lpstr>Results </vt:lpstr>
      <vt:lpstr>Conclusion </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iPhone</cp:lastModifiedBy>
  <cp:revision>3</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FCCE81479B4D1A1F22197769206443C2_32</vt:lpwstr>
  </property>
  <property fmtid="{D5CDD505-2E9C-101B-9397-08002B2CF9AE}" pid="3" name="KSOProductBuildVer">
    <vt:lpwstr>3081-11.37.30</vt:lpwstr>
  </property>
</Properties>
</file>