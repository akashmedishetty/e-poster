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Lst>
  <p:sldSz cx="32918400" cy="438912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5852160"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j-lt"/>
        <a:ea typeface="+mj-ea"/>
        <a:cs typeface="+mj-cs"/>
        <a:sym typeface="Aptos"/>
      </a:defRPr>
    </a:lvl1pPr>
    <a:lvl2pPr marL="0" marR="0" indent="457200" algn="l" defTabSz="5852160"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j-lt"/>
        <a:ea typeface="+mj-ea"/>
        <a:cs typeface="+mj-cs"/>
        <a:sym typeface="Aptos"/>
      </a:defRPr>
    </a:lvl2pPr>
    <a:lvl3pPr marL="0" marR="0" indent="914400" algn="l" defTabSz="5852160"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j-lt"/>
        <a:ea typeface="+mj-ea"/>
        <a:cs typeface="+mj-cs"/>
        <a:sym typeface="Aptos"/>
      </a:defRPr>
    </a:lvl3pPr>
    <a:lvl4pPr marL="0" marR="0" indent="1371600" algn="l" defTabSz="5852160"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j-lt"/>
        <a:ea typeface="+mj-ea"/>
        <a:cs typeface="+mj-cs"/>
        <a:sym typeface="Aptos"/>
      </a:defRPr>
    </a:lvl4pPr>
    <a:lvl5pPr marL="0" marR="0" indent="1828800" algn="l" defTabSz="5852160"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j-lt"/>
        <a:ea typeface="+mj-ea"/>
        <a:cs typeface="+mj-cs"/>
        <a:sym typeface="Aptos"/>
      </a:defRPr>
    </a:lvl5pPr>
    <a:lvl6pPr marL="0" marR="0" indent="2286000" algn="l" defTabSz="5852160"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j-lt"/>
        <a:ea typeface="+mj-ea"/>
        <a:cs typeface="+mj-cs"/>
        <a:sym typeface="Aptos"/>
      </a:defRPr>
    </a:lvl6pPr>
    <a:lvl7pPr marL="0" marR="0" indent="2743200" algn="l" defTabSz="5852160"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j-lt"/>
        <a:ea typeface="+mj-ea"/>
        <a:cs typeface="+mj-cs"/>
        <a:sym typeface="Aptos"/>
      </a:defRPr>
    </a:lvl7pPr>
    <a:lvl8pPr marL="0" marR="0" indent="3200400" algn="l" defTabSz="5852160"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j-lt"/>
        <a:ea typeface="+mj-ea"/>
        <a:cs typeface="+mj-cs"/>
        <a:sym typeface="Aptos"/>
      </a:defRPr>
    </a:lvl8pPr>
    <a:lvl9pPr marL="0" marR="0" indent="3657600" algn="l" defTabSz="5852160"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j-lt"/>
        <a:ea typeface="+mj-ea"/>
        <a:cs typeface="+mj-cs"/>
        <a:sym typeface="Apto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889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889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889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889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889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889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25400" cap="flat">
              <a:noFill/>
              <a:miter lim="400000"/>
            </a:ln>
          </a:left>
          <a:right>
            <a:ln w="25400" cap="flat">
              <a:noFill/>
              <a:miter lim="400000"/>
            </a:ln>
          </a:right>
          <a:top>
            <a:ln w="25400" cap="flat">
              <a:noFill/>
              <a:miter lim="400000"/>
            </a:ln>
          </a:top>
          <a:bottom>
            <a:ln w="25400" cap="flat">
              <a:noFill/>
              <a:miter lim="400000"/>
            </a:ln>
          </a:bottom>
          <a:insideH>
            <a:ln w="25400" cap="flat">
              <a:noFill/>
              <a:miter lim="400000"/>
            </a:ln>
          </a:insideH>
          <a:insideV>
            <a:ln w="254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25400" cap="flat">
              <a:noFill/>
              <a:miter lim="400000"/>
            </a:ln>
          </a:left>
          <a:right>
            <a:ln w="25400" cap="flat">
              <a:noFill/>
              <a:miter lim="400000"/>
            </a:ln>
          </a:right>
          <a:top>
            <a:ln w="25400" cap="flat">
              <a:noFill/>
              <a:miter lim="400000"/>
            </a:ln>
          </a:top>
          <a:bottom>
            <a:ln w="25400" cap="flat">
              <a:noFill/>
              <a:miter lim="400000"/>
            </a:ln>
          </a:bottom>
          <a:insideH>
            <a:ln w="25400" cap="flat">
              <a:noFill/>
              <a:miter lim="400000"/>
            </a:ln>
          </a:insideH>
          <a:insideV>
            <a:ln w="25400" cap="flat">
              <a:noFill/>
              <a:miter lim="400000"/>
            </a:ln>
          </a:insideV>
        </a:tcBdr>
        <a:fill>
          <a:solidFill>
            <a:schemeClr val="accent1"/>
          </a:solidFill>
        </a:fill>
      </a:tcStyle>
    </a:firstCol>
    <a:lastRow>
      <a:tcTxStyle b="on" i="off">
        <a:fontRef idx="major">
          <a:srgbClr val="000000"/>
        </a:fontRef>
        <a:srgbClr val="000000"/>
      </a:tcTxStyle>
      <a:tcStyle>
        <a:tcBdr>
          <a:left>
            <a:ln w="25400" cap="flat">
              <a:noFill/>
              <a:miter lim="400000"/>
            </a:ln>
          </a:left>
          <a:right>
            <a:ln w="25400" cap="flat">
              <a:noFill/>
              <a:miter lim="400000"/>
            </a:ln>
          </a:right>
          <a:top>
            <a:ln w="127000" cap="flat">
              <a:solidFill>
                <a:srgbClr val="000000"/>
              </a:solidFill>
              <a:prstDash val="solid"/>
              <a:round/>
            </a:ln>
          </a:top>
          <a:bottom>
            <a:ln w="63500" cap="flat">
              <a:solidFill>
                <a:srgbClr val="000000"/>
              </a:solidFill>
              <a:prstDash val="solid"/>
              <a:round/>
            </a:ln>
          </a:bottom>
          <a:insideH>
            <a:ln w="25400" cap="flat">
              <a:noFill/>
              <a:miter lim="400000"/>
            </a:ln>
          </a:insideH>
          <a:insideV>
            <a:ln w="25400" cap="flat">
              <a:noFill/>
              <a:miter lim="400000"/>
            </a:ln>
          </a:insideV>
        </a:tcBdr>
        <a:fill>
          <a:solidFill>
            <a:srgbClr val="FFFFFF"/>
          </a:solidFill>
        </a:fill>
      </a:tcStyle>
    </a:lastRow>
    <a:firstRow>
      <a:tcTxStyle b="on" i="off">
        <a:fontRef idx="major">
          <a:srgbClr val="FFFFFF"/>
        </a:fontRef>
        <a:srgbClr val="FFFFFF"/>
      </a:tcTxStyle>
      <a:tcStyle>
        <a:tcBdr>
          <a:left>
            <a:ln w="25400" cap="flat">
              <a:noFill/>
              <a:miter lim="400000"/>
            </a:ln>
          </a:left>
          <a:right>
            <a:ln w="25400" cap="flat">
              <a:noFill/>
              <a:miter lim="400000"/>
            </a:ln>
          </a:right>
          <a:top>
            <a:ln w="63500" cap="flat">
              <a:solidFill>
                <a:srgbClr val="000000"/>
              </a:solidFill>
              <a:prstDash val="solid"/>
              <a:round/>
            </a:ln>
          </a:top>
          <a:bottom>
            <a:ln w="63500" cap="flat">
              <a:solidFill>
                <a:srgbClr val="000000"/>
              </a:solidFill>
              <a:prstDash val="solid"/>
              <a:round/>
            </a:ln>
          </a:bottom>
          <a:insideH>
            <a:ln w="25400" cap="flat">
              <a:noFill/>
              <a:miter lim="400000"/>
            </a:ln>
          </a:insideH>
          <a:insideV>
            <a:ln w="254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889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889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25400" cap="flat">
              <a:solidFill>
                <a:srgbClr val="000000"/>
              </a:solidFill>
              <a:prstDash val="solid"/>
              <a:round/>
            </a:ln>
          </a:left>
          <a:right>
            <a:ln w="25400" cap="flat">
              <a:solidFill>
                <a:srgbClr val="000000"/>
              </a:solidFill>
              <a:prstDash val="solid"/>
              <a:round/>
            </a:ln>
          </a:right>
          <a:top>
            <a:ln w="25400" cap="flat">
              <a:solidFill>
                <a:srgbClr val="000000"/>
              </a:solidFill>
              <a:prstDash val="solid"/>
              <a:round/>
            </a:ln>
          </a:top>
          <a:bottom>
            <a:ln w="25400" cap="flat">
              <a:solidFill>
                <a:srgbClr val="000000"/>
              </a:solidFill>
              <a:prstDash val="solid"/>
              <a:round/>
            </a:ln>
          </a:bottom>
          <a:insideH>
            <a:ln w="25400" cap="flat">
              <a:solidFill>
                <a:srgbClr val="000000"/>
              </a:solidFill>
              <a:prstDash val="solid"/>
              <a:round/>
            </a:ln>
          </a:insideH>
          <a:insideV>
            <a:ln w="254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25400" cap="flat">
              <a:solidFill>
                <a:srgbClr val="000000"/>
              </a:solidFill>
              <a:prstDash val="solid"/>
              <a:round/>
            </a:ln>
          </a:left>
          <a:right>
            <a:ln w="25400" cap="flat">
              <a:solidFill>
                <a:srgbClr val="000000"/>
              </a:solidFill>
              <a:prstDash val="solid"/>
              <a:round/>
            </a:ln>
          </a:right>
          <a:top>
            <a:ln w="25400" cap="flat">
              <a:solidFill>
                <a:srgbClr val="000000"/>
              </a:solidFill>
              <a:prstDash val="solid"/>
              <a:round/>
            </a:ln>
          </a:top>
          <a:bottom>
            <a:ln w="25400" cap="flat">
              <a:solidFill>
                <a:srgbClr val="000000"/>
              </a:solidFill>
              <a:prstDash val="solid"/>
              <a:round/>
            </a:ln>
          </a:bottom>
          <a:insideH>
            <a:ln w="25400" cap="flat">
              <a:solidFill>
                <a:srgbClr val="000000"/>
              </a:solidFill>
              <a:prstDash val="solid"/>
              <a:round/>
            </a:ln>
          </a:insideH>
          <a:insideV>
            <a:ln w="254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25400" cap="flat">
              <a:solidFill>
                <a:srgbClr val="000000"/>
              </a:solidFill>
              <a:prstDash val="solid"/>
              <a:round/>
            </a:ln>
          </a:left>
          <a:right>
            <a:ln w="25400" cap="flat">
              <a:solidFill>
                <a:srgbClr val="000000"/>
              </a:solidFill>
              <a:prstDash val="solid"/>
              <a:round/>
            </a:ln>
          </a:right>
          <a:top>
            <a:ln w="127000" cap="flat">
              <a:solidFill>
                <a:srgbClr val="000000"/>
              </a:solidFill>
              <a:prstDash val="solid"/>
              <a:round/>
            </a:ln>
          </a:top>
          <a:bottom>
            <a:ln w="25400" cap="flat">
              <a:solidFill>
                <a:srgbClr val="000000"/>
              </a:solidFill>
              <a:prstDash val="solid"/>
              <a:round/>
            </a:ln>
          </a:bottom>
          <a:insideH>
            <a:ln w="25400" cap="flat">
              <a:solidFill>
                <a:srgbClr val="000000"/>
              </a:solidFill>
              <a:prstDash val="solid"/>
              <a:round/>
            </a:ln>
          </a:insideH>
          <a:insideV>
            <a:ln w="25400" cap="flat">
              <a:solidFill>
                <a:srgbClr val="000000"/>
              </a:solidFill>
              <a:prstDash val="solid"/>
              <a:round/>
            </a:ln>
          </a:insideV>
        </a:tcBdr>
        <a:fill>
          <a:noFill/>
        </a:fill>
      </a:tcStyle>
    </a:lastRow>
    <a:firstRow>
      <a:tcTxStyle b="on" i="off">
        <a:fontRef idx="major">
          <a:srgbClr val="000000"/>
        </a:fontRef>
        <a:srgbClr val="000000"/>
      </a:tcTxStyle>
      <a:tcStyle>
        <a:tcBdr>
          <a:left>
            <a:ln w="25400" cap="flat">
              <a:solidFill>
                <a:srgbClr val="000000"/>
              </a:solidFill>
              <a:prstDash val="solid"/>
              <a:round/>
            </a:ln>
          </a:left>
          <a:right>
            <a:ln w="25400" cap="flat">
              <a:solidFill>
                <a:srgbClr val="000000"/>
              </a:solidFill>
              <a:prstDash val="solid"/>
              <a:round/>
            </a:ln>
          </a:right>
          <a:top>
            <a:ln w="25400" cap="flat">
              <a:solidFill>
                <a:srgbClr val="000000"/>
              </a:solidFill>
              <a:prstDash val="solid"/>
              <a:round/>
            </a:ln>
          </a:top>
          <a:bottom>
            <a:ln w="63500" cap="flat">
              <a:solidFill>
                <a:srgbClr val="000000"/>
              </a:solidFill>
              <a:prstDash val="solid"/>
              <a:round/>
            </a:ln>
          </a:bottom>
          <a:insideH>
            <a:ln w="25400" cap="flat">
              <a:solidFill>
                <a:srgbClr val="000000"/>
              </a:solidFill>
              <a:prstDash val="solid"/>
              <a:round/>
            </a:ln>
          </a:insideH>
          <a:insideV>
            <a:ln w="254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4" name="Shape 104"/>
          <p:cNvSpPr/>
          <p:nvPr>
            <p:ph type="sldImg"/>
          </p:nvPr>
        </p:nvSpPr>
        <p:spPr>
          <a:xfrm>
            <a:off x="1143000" y="685800"/>
            <a:ext cx="4572000" cy="3429000"/>
          </a:xfrm>
          <a:prstGeom prst="rect">
            <a:avLst/>
          </a:prstGeom>
        </p:spPr>
        <p:txBody>
          <a:bodyPr/>
          <a:lstStyle/>
          <a:p>
            <a:pPr/>
          </a:p>
        </p:txBody>
      </p:sp>
      <p:sp>
        <p:nvSpPr>
          <p:cNvPr id="105" name="Shape 10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5852160" latinLnBrk="0">
      <a:defRPr sz="7400">
        <a:latin typeface="+mj-lt"/>
        <a:ea typeface="+mj-ea"/>
        <a:cs typeface="+mj-cs"/>
        <a:sym typeface="Aptos"/>
      </a:defRPr>
    </a:lvl1pPr>
    <a:lvl2pPr indent="228600" defTabSz="5852160" latinLnBrk="0">
      <a:defRPr sz="7400">
        <a:latin typeface="+mj-lt"/>
        <a:ea typeface="+mj-ea"/>
        <a:cs typeface="+mj-cs"/>
        <a:sym typeface="Aptos"/>
      </a:defRPr>
    </a:lvl2pPr>
    <a:lvl3pPr indent="457200" defTabSz="5852160" latinLnBrk="0">
      <a:defRPr sz="7400">
        <a:latin typeface="+mj-lt"/>
        <a:ea typeface="+mj-ea"/>
        <a:cs typeface="+mj-cs"/>
        <a:sym typeface="Aptos"/>
      </a:defRPr>
    </a:lvl3pPr>
    <a:lvl4pPr indent="685800" defTabSz="5852160" latinLnBrk="0">
      <a:defRPr sz="7400">
        <a:latin typeface="+mj-lt"/>
        <a:ea typeface="+mj-ea"/>
        <a:cs typeface="+mj-cs"/>
        <a:sym typeface="Aptos"/>
      </a:defRPr>
    </a:lvl4pPr>
    <a:lvl5pPr indent="914400" defTabSz="5852160" latinLnBrk="0">
      <a:defRPr sz="7400">
        <a:latin typeface="+mj-lt"/>
        <a:ea typeface="+mj-ea"/>
        <a:cs typeface="+mj-cs"/>
        <a:sym typeface="Aptos"/>
      </a:defRPr>
    </a:lvl5pPr>
    <a:lvl6pPr indent="1143000" defTabSz="5852160" latinLnBrk="0">
      <a:defRPr sz="7400">
        <a:latin typeface="+mj-lt"/>
        <a:ea typeface="+mj-ea"/>
        <a:cs typeface="+mj-cs"/>
        <a:sym typeface="Aptos"/>
      </a:defRPr>
    </a:lvl6pPr>
    <a:lvl7pPr indent="1371600" defTabSz="5852160" latinLnBrk="0">
      <a:defRPr sz="7400">
        <a:latin typeface="+mj-lt"/>
        <a:ea typeface="+mj-ea"/>
        <a:cs typeface="+mj-cs"/>
        <a:sym typeface="Aptos"/>
      </a:defRPr>
    </a:lvl7pPr>
    <a:lvl8pPr indent="1600200" defTabSz="5852160" latinLnBrk="0">
      <a:defRPr sz="7400">
        <a:latin typeface="+mj-lt"/>
        <a:ea typeface="+mj-ea"/>
        <a:cs typeface="+mj-cs"/>
        <a:sym typeface="Aptos"/>
      </a:defRPr>
    </a:lvl8pPr>
    <a:lvl9pPr indent="1828800" defTabSz="5852160" latinLnBrk="0">
      <a:defRPr sz="7400">
        <a:latin typeface="+mj-lt"/>
        <a:ea typeface="+mj-ea"/>
        <a:cs typeface="+mj-cs"/>
        <a:sym typeface="Aptos"/>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Slide">
    <p:spTree>
      <p:nvGrpSpPr>
        <p:cNvPr id="1" name=""/>
        <p:cNvGrpSpPr/>
        <p:nvPr/>
      </p:nvGrpSpPr>
      <p:grpSpPr>
        <a:xfrm>
          <a:off x="0" y="0"/>
          <a:ext cx="0" cy="0"/>
          <a:chOff x="0" y="0"/>
          <a:chExt cx="0" cy="0"/>
        </a:xfrm>
      </p:grpSpPr>
      <p:sp>
        <p:nvSpPr>
          <p:cNvPr id="19" name="Rectangle 1"/>
          <p:cNvSpPr/>
          <p:nvPr/>
        </p:nvSpPr>
        <p:spPr>
          <a:xfrm>
            <a:off x="3" y="-1685"/>
            <a:ext cx="32918392" cy="5140041"/>
          </a:xfrm>
          <a:prstGeom prst="rect">
            <a:avLst/>
          </a:prstGeom>
          <a:solidFill>
            <a:srgbClr val="01234D"/>
          </a:solidFill>
          <a:ln w="38100">
            <a:solidFill>
              <a:srgbClr val="525755"/>
            </a:solidFill>
            <a:miter/>
          </a:ln>
        </p:spPr>
        <p:txBody>
          <a:bodyPr lIns="123443" tIns="123443" rIns="123443" bIns="123443" anchor="ctr"/>
          <a:lstStyle/>
          <a:p>
            <a:pPr algn="ctr">
              <a:defRPr>
                <a:solidFill>
                  <a:srgbClr val="FFFFFF"/>
                </a:solidFill>
              </a:defRPr>
            </a:pPr>
          </a:p>
        </p:txBody>
      </p:sp>
      <p:pic>
        <p:nvPicPr>
          <p:cNvPr id="20" name="Picture 15" descr="Picture 15"/>
          <p:cNvPicPr>
            <a:picLocks noChangeAspect="1"/>
          </p:cNvPicPr>
          <p:nvPr/>
        </p:nvPicPr>
        <p:blipFill>
          <a:blip r:embed="rId2">
            <a:extLst/>
          </a:blip>
          <a:stretch>
            <a:fillRect/>
          </a:stretch>
        </p:blipFill>
        <p:spPr>
          <a:xfrm>
            <a:off x="26435143" y="751217"/>
            <a:ext cx="2979890" cy="2979891"/>
          </a:xfrm>
          <a:prstGeom prst="rect">
            <a:avLst/>
          </a:prstGeom>
          <a:ln w="12700">
            <a:miter lim="400000"/>
          </a:ln>
        </p:spPr>
      </p:pic>
      <p:sp>
        <p:nvSpPr>
          <p:cNvPr id="21" name="TextBox 18"/>
          <p:cNvSpPr txBox="1"/>
          <p:nvPr/>
        </p:nvSpPr>
        <p:spPr>
          <a:xfrm>
            <a:off x="7146732" y="14452821"/>
            <a:ext cx="16783347" cy="2507489"/>
          </a:xfrm>
          <a:prstGeom prst="rect">
            <a:avLst/>
          </a:prstGeom>
          <a:ln w="25400">
            <a:miter lim="400000"/>
          </a:ln>
          <a:extLst>
            <a:ext uri="{C572A759-6A51-4108-AA02-DFA0A04FC94B}">
              <ma14:wrappingTextBoxFlag xmlns:ma14="http://schemas.microsoft.com/office/mac/drawingml/2011/main" val="1"/>
            </a:ext>
          </a:extLst>
        </p:spPr>
        <p:txBody>
          <a:bodyPr lIns="123443" tIns="123443" rIns="123443" bIns="123443">
            <a:spAutoFit/>
          </a:bodyPr>
          <a:lstStyle>
            <a:lvl1pPr>
              <a:defRPr b="1" sz="7400">
                <a:solidFill>
                  <a:srgbClr val="FFFFFF"/>
                </a:solidFill>
                <a:latin typeface="Gordita "/>
                <a:ea typeface="Gordita "/>
                <a:cs typeface="Gordita "/>
                <a:sym typeface="Gordita "/>
              </a:defRPr>
            </a:lvl1pPr>
          </a:lstStyle>
          <a:p>
            <a:pPr/>
            <a:r>
              <a:t>Date 6 – 8 February,2026, Venue : Kurnool Medical College</a:t>
            </a:r>
          </a:p>
        </p:txBody>
      </p:sp>
      <p:sp>
        <p:nvSpPr>
          <p:cNvPr id="22" name="Freeform 13"/>
          <p:cNvSpPr/>
          <p:nvPr/>
        </p:nvSpPr>
        <p:spPr>
          <a:xfrm>
            <a:off x="160960" y="840123"/>
            <a:ext cx="4065016" cy="3456425"/>
          </a:xfrm>
          <a:prstGeom prst="rect">
            <a:avLst/>
          </a:prstGeom>
          <a:blipFill>
            <a:blip r:embed="rId3"/>
            <a:stretch>
              <a:fillRect/>
            </a:stretch>
          </a:blipFill>
          <a:ln w="12700">
            <a:miter lim="400000"/>
          </a:ln>
        </p:spPr>
        <p:txBody>
          <a:bodyPr lIns="123443" tIns="123443" rIns="123443" bIns="123443"/>
          <a:lstStyle/>
          <a:p>
            <a:pPr/>
          </a:p>
        </p:txBody>
      </p:sp>
      <p:pic>
        <p:nvPicPr>
          <p:cNvPr id="23" name="Picture 17" descr="Picture 17"/>
          <p:cNvPicPr>
            <a:picLocks noChangeAspect="1"/>
          </p:cNvPicPr>
          <p:nvPr/>
        </p:nvPicPr>
        <p:blipFill>
          <a:blip r:embed="rId4">
            <a:extLst/>
          </a:blip>
          <a:stretch>
            <a:fillRect/>
          </a:stretch>
        </p:blipFill>
        <p:spPr>
          <a:xfrm>
            <a:off x="29905495" y="809524"/>
            <a:ext cx="2386014" cy="2863217"/>
          </a:xfrm>
          <a:prstGeom prst="rect">
            <a:avLst/>
          </a:prstGeom>
          <a:ln w="12700">
            <a:miter lim="400000"/>
          </a:ln>
        </p:spPr>
      </p:pic>
      <p:sp>
        <p:nvSpPr>
          <p:cNvPr id="24" name="Bilateral Slipped Capital Femoral Epiphysis Managed…"/>
          <p:cNvSpPr txBox="1"/>
          <p:nvPr/>
        </p:nvSpPr>
        <p:spPr>
          <a:xfrm>
            <a:off x="3915120" y="285592"/>
            <a:ext cx="22553893" cy="2621153"/>
          </a:xfrm>
          <a:prstGeom prst="rect">
            <a:avLst/>
          </a:prstGeom>
          <a:ln w="25400">
            <a:miter lim="400000"/>
          </a:ln>
          <a:extLst>
            <a:ext uri="{C572A759-6A51-4108-AA02-DFA0A04FC94B}">
              <ma14:wrappingTextBoxFlag xmlns:ma14="http://schemas.microsoft.com/office/mac/drawingml/2011/main" val="1"/>
            </a:ext>
          </a:extLst>
        </p:spPr>
        <p:txBody>
          <a:bodyPr wrap="none" lIns="123443" tIns="123443" rIns="123443" bIns="123443">
            <a:spAutoFit/>
          </a:bodyPr>
          <a:lstStyle/>
          <a:p>
            <a:pPr defTabSz="457200">
              <a:spcBef>
                <a:spcPts val="1400"/>
              </a:spcBef>
              <a:defRPr sz="7200">
                <a:solidFill>
                  <a:srgbClr val="FFFFFF"/>
                </a:solidFill>
                <a:uFill>
                  <a:solidFill>
                    <a:srgbClr val="000000"/>
                  </a:solidFill>
                </a:uFill>
                <a:latin typeface="Helvetica Neue"/>
                <a:ea typeface="Helvetica Neue"/>
                <a:cs typeface="Helvetica Neue"/>
                <a:sym typeface="Helvetica Neue"/>
              </a:defRPr>
            </a:pPr>
            <a:r>
              <a:rPr b="1">
                <a:latin typeface="Times Roman"/>
                <a:ea typeface="Times Roman"/>
                <a:cs typeface="Times Roman"/>
                <a:sym typeface="Times Roman"/>
              </a:rPr>
              <a:t>Bilateral Slipped Capital Femoral Epiphysis Managed </a:t>
            </a:r>
            <a:endParaRPr b="1">
              <a:latin typeface="Times Roman"/>
              <a:ea typeface="Times Roman"/>
              <a:cs typeface="Times Roman"/>
              <a:sym typeface="Times Roman"/>
            </a:endParaRPr>
          </a:p>
          <a:p>
            <a:pPr defTabSz="457200">
              <a:spcBef>
                <a:spcPts val="1400"/>
              </a:spcBef>
              <a:defRPr sz="7200">
                <a:solidFill>
                  <a:srgbClr val="FFFFFF"/>
                </a:solidFill>
                <a:uFill>
                  <a:solidFill>
                    <a:srgbClr val="000000"/>
                  </a:solidFill>
                </a:uFill>
                <a:latin typeface="Helvetica Neue"/>
                <a:ea typeface="Helvetica Neue"/>
                <a:cs typeface="Helvetica Neue"/>
                <a:sym typeface="Helvetica Neue"/>
              </a:defRPr>
            </a:pPr>
            <a:r>
              <a:rPr b="1">
                <a:latin typeface="Times Roman"/>
                <a:ea typeface="Times Roman"/>
                <a:cs typeface="Times Roman"/>
                <a:sym typeface="Times Roman"/>
              </a:rPr>
              <a:t>with Prophylactic Cannulated Cancellous Screw Fixation</a:t>
            </a:r>
          </a:p>
        </p:txBody>
      </p:sp>
      <p:sp>
        <p:nvSpPr>
          <p:cNvPr id="25" name="AUTHOR – DR  C.SAI.BHARATH POST GRADUATE, GSL MEDICAL COLLEGE…"/>
          <p:cNvSpPr txBox="1"/>
          <p:nvPr/>
        </p:nvSpPr>
        <p:spPr>
          <a:xfrm>
            <a:off x="4719576" y="2879619"/>
            <a:ext cx="21637658" cy="1599377"/>
          </a:xfrm>
          <a:prstGeom prst="rect">
            <a:avLst/>
          </a:prstGeom>
          <a:ln w="25400">
            <a:miter lim="400000"/>
          </a:ln>
          <a:extLst>
            <a:ext uri="{C572A759-6A51-4108-AA02-DFA0A04FC94B}">
              <ma14:wrappingTextBoxFlag xmlns:ma14="http://schemas.microsoft.com/office/mac/drawingml/2011/main" val="1"/>
            </a:ext>
          </a:extLst>
        </p:spPr>
        <p:txBody>
          <a:bodyPr wrap="none" lIns="123443" tIns="123443" rIns="123443" bIns="123443">
            <a:spAutoFit/>
          </a:bodyPr>
          <a:lstStyle/>
          <a:p>
            <a:pPr algn="ctr" defTabSz="914400">
              <a:defRPr b="1" sz="4600">
                <a:solidFill>
                  <a:srgbClr val="FFFFFF"/>
                </a:solidFill>
                <a:latin typeface="Arial"/>
                <a:ea typeface="Arial"/>
                <a:cs typeface="Arial"/>
                <a:sym typeface="Arial"/>
              </a:defRPr>
            </a:pPr>
            <a:r>
              <a:t>A</a:t>
            </a:r>
            <a:r>
              <a:t>UTHOR – DR  C.SAI.BHARATH POST GRADUATE, GSL MEDICAL COLLEGE</a:t>
            </a:r>
          </a:p>
          <a:p>
            <a:pPr algn="ctr" defTabSz="914400">
              <a:defRPr b="1" sz="4600">
                <a:solidFill>
                  <a:srgbClr val="FFFFFF"/>
                </a:solidFill>
                <a:latin typeface="Arial"/>
                <a:ea typeface="Arial"/>
                <a:cs typeface="Arial"/>
                <a:sym typeface="Arial"/>
              </a:defRPr>
            </a:pPr>
            <a:r>
              <a:t>CO – AUTHOR – DR V NAGESWARA RAO</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33" name="Title Text"/>
          <p:cNvSpPr txBox="1"/>
          <p:nvPr>
            <p:ph type="title"/>
          </p:nvPr>
        </p:nvSpPr>
        <p:spPr>
          <a:prstGeom prst="rect">
            <a:avLst/>
          </a:prstGeom>
        </p:spPr>
        <p:txBody>
          <a:bodyPr/>
          <a:lstStyle/>
          <a:p>
            <a:pPr/>
            <a:r>
              <a:t>Title Text</a:t>
            </a:r>
          </a:p>
        </p:txBody>
      </p:sp>
      <p:sp>
        <p:nvSpPr>
          <p:cNvPr id="34" name="Body Level One…"/>
          <p:cNvSpPr txBox="1"/>
          <p:nvPr>
            <p:ph type="body" sz="half"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42" name="Title Text"/>
          <p:cNvSpPr txBox="1"/>
          <p:nvPr>
            <p:ph type="title"/>
          </p:nvPr>
        </p:nvSpPr>
        <p:spPr>
          <a:xfrm>
            <a:off x="2245995" y="17303593"/>
            <a:ext cx="28392119" cy="7702390"/>
          </a:xfrm>
          <a:prstGeom prst="rect">
            <a:avLst/>
          </a:prstGeom>
        </p:spPr>
        <p:txBody>
          <a:bodyPr anchor="b"/>
          <a:lstStyle>
            <a:lvl1pPr>
              <a:defRPr sz="38400"/>
            </a:lvl1pPr>
          </a:lstStyle>
          <a:p>
            <a:pPr/>
            <a:r>
              <a:t>Title Text</a:t>
            </a:r>
          </a:p>
        </p:txBody>
      </p:sp>
      <p:sp>
        <p:nvSpPr>
          <p:cNvPr id="43" name="Body Level One…"/>
          <p:cNvSpPr txBox="1"/>
          <p:nvPr>
            <p:ph type="body" sz="quarter" idx="1"/>
          </p:nvPr>
        </p:nvSpPr>
        <p:spPr>
          <a:xfrm>
            <a:off x="2245995" y="25078849"/>
            <a:ext cx="28392119" cy="4050505"/>
          </a:xfrm>
          <a:prstGeom prst="rect">
            <a:avLst/>
          </a:prstGeom>
        </p:spPr>
        <p:txBody>
          <a:bodyPr/>
          <a:lstStyle>
            <a:lvl1pPr marL="0" indent="0">
              <a:buSzTx/>
              <a:buFontTx/>
              <a:buNone/>
              <a:defRPr sz="15200">
                <a:solidFill>
                  <a:srgbClr val="757575"/>
                </a:solidFill>
              </a:defRPr>
            </a:lvl1pPr>
            <a:lvl2pPr marL="0" indent="457200">
              <a:buSzTx/>
              <a:buFontTx/>
              <a:buNone/>
              <a:defRPr sz="15200">
                <a:solidFill>
                  <a:srgbClr val="757575"/>
                </a:solidFill>
              </a:defRPr>
            </a:lvl2pPr>
            <a:lvl3pPr marL="0" indent="914400">
              <a:buSzTx/>
              <a:buFontTx/>
              <a:buNone/>
              <a:defRPr sz="15200">
                <a:solidFill>
                  <a:srgbClr val="757575"/>
                </a:solidFill>
              </a:defRPr>
            </a:lvl3pPr>
            <a:lvl4pPr marL="0" indent="1371600">
              <a:buSzTx/>
              <a:buFontTx/>
              <a:buNone/>
              <a:defRPr sz="15200">
                <a:solidFill>
                  <a:srgbClr val="757575"/>
                </a:solidFill>
              </a:defRPr>
            </a:lvl4pPr>
            <a:lvl5pPr marL="0" indent="1828800">
              <a:buSzTx/>
              <a:buFontTx/>
              <a:buNone/>
              <a:defRPr sz="15200">
                <a:solidFill>
                  <a:srgbClr val="757575"/>
                </a:solidFill>
              </a:defRPr>
            </a:lvl5pPr>
          </a:lstStyle>
          <a:p>
            <a:pPr/>
            <a:r>
              <a:t>Body Level One</a:t>
            </a:r>
          </a:p>
          <a:p>
            <a:pPr lvl="1"/>
            <a:r>
              <a:t>Body Level Two</a:t>
            </a:r>
          </a:p>
          <a:p>
            <a:pPr lvl="2"/>
            <a:r>
              <a:t>Body Level Three</a:t>
            </a:r>
          </a:p>
          <a:p>
            <a:pPr lvl="3"/>
            <a:r>
              <a:t>Body Level Four</a:t>
            </a:r>
          </a:p>
          <a:p>
            <a:pPr lvl="4"/>
            <a:r>
              <a:t>Body Level Five</a:t>
            </a:r>
          </a:p>
        </p:txBody>
      </p:sp>
      <p:sp>
        <p:nvSpPr>
          <p:cNvPr id="4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51" name="Title Text"/>
          <p:cNvSpPr txBox="1"/>
          <p:nvPr>
            <p:ph type="title"/>
          </p:nvPr>
        </p:nvSpPr>
        <p:spPr>
          <a:prstGeom prst="rect">
            <a:avLst/>
          </a:prstGeom>
        </p:spPr>
        <p:txBody>
          <a:bodyPr/>
          <a:lstStyle/>
          <a:p>
            <a:pPr/>
            <a:r>
              <a:t>Title Text</a:t>
            </a:r>
          </a:p>
        </p:txBody>
      </p:sp>
      <p:sp>
        <p:nvSpPr>
          <p:cNvPr id="52" name="Body Level One…"/>
          <p:cNvSpPr txBox="1"/>
          <p:nvPr>
            <p:ph type="body" sz="quarter" idx="1"/>
          </p:nvPr>
        </p:nvSpPr>
        <p:spPr>
          <a:xfrm>
            <a:off x="2263140" y="17616487"/>
            <a:ext cx="13990321" cy="117486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60" name="Title Text"/>
          <p:cNvSpPr txBox="1"/>
          <p:nvPr>
            <p:ph type="title"/>
          </p:nvPr>
        </p:nvSpPr>
        <p:spPr>
          <a:xfrm>
            <a:off x="2267427" y="13673137"/>
            <a:ext cx="28392120" cy="3579021"/>
          </a:xfrm>
          <a:prstGeom prst="rect">
            <a:avLst/>
          </a:prstGeom>
        </p:spPr>
        <p:txBody>
          <a:bodyPr/>
          <a:lstStyle/>
          <a:p>
            <a:pPr/>
            <a:r>
              <a:t>Title Text</a:t>
            </a:r>
          </a:p>
        </p:txBody>
      </p:sp>
      <p:sp>
        <p:nvSpPr>
          <p:cNvPr id="61" name="Body Level One…"/>
          <p:cNvSpPr txBox="1"/>
          <p:nvPr>
            <p:ph type="body" sz="quarter" idx="1"/>
          </p:nvPr>
        </p:nvSpPr>
        <p:spPr>
          <a:xfrm>
            <a:off x="2267427" y="17226439"/>
            <a:ext cx="13926026" cy="2224564"/>
          </a:xfrm>
          <a:prstGeom prst="rect">
            <a:avLst/>
          </a:prstGeom>
        </p:spPr>
        <p:txBody>
          <a:bodyPr anchor="b"/>
          <a:lstStyle>
            <a:lvl1pPr marL="0" indent="0">
              <a:buSzTx/>
              <a:buFontTx/>
              <a:buNone/>
              <a:defRPr b="1" sz="15200"/>
            </a:lvl1pPr>
            <a:lvl2pPr marL="0" indent="457200">
              <a:buSzTx/>
              <a:buFontTx/>
              <a:buNone/>
              <a:defRPr b="1" sz="15200"/>
            </a:lvl2pPr>
            <a:lvl3pPr marL="0" indent="914400">
              <a:buSzTx/>
              <a:buFontTx/>
              <a:buNone/>
              <a:defRPr b="1" sz="15200"/>
            </a:lvl3pPr>
            <a:lvl4pPr marL="0" indent="1371600">
              <a:buSzTx/>
              <a:buFontTx/>
              <a:buNone/>
              <a:defRPr b="1" sz="15200"/>
            </a:lvl4pPr>
            <a:lvl5pPr marL="0" indent="1828800">
              <a:buSzTx/>
              <a:buFontTx/>
              <a:buNone/>
              <a:defRPr b="1" sz="15200"/>
            </a:lvl5pPr>
          </a:lstStyle>
          <a:p>
            <a:pPr/>
            <a:r>
              <a:t>Body Level One</a:t>
            </a:r>
          </a:p>
          <a:p>
            <a:pPr lvl="1"/>
            <a:r>
              <a:t>Body Level Two</a:t>
            </a:r>
          </a:p>
          <a:p>
            <a:pPr lvl="2"/>
            <a:r>
              <a:t>Body Level Three</a:t>
            </a:r>
          </a:p>
          <a:p>
            <a:pPr lvl="3"/>
            <a:r>
              <a:t>Body Level Four</a:t>
            </a:r>
          </a:p>
          <a:p>
            <a:pPr lvl="4"/>
            <a:r>
              <a:t>Body Level Five</a:t>
            </a:r>
          </a:p>
        </p:txBody>
      </p:sp>
      <p:sp>
        <p:nvSpPr>
          <p:cNvPr id="62" name="Text Placeholder 4"/>
          <p:cNvSpPr/>
          <p:nvPr>
            <p:ph type="body" sz="quarter" idx="21"/>
          </p:nvPr>
        </p:nvSpPr>
        <p:spPr>
          <a:xfrm>
            <a:off x="16664939" y="17226439"/>
            <a:ext cx="13994607" cy="2224564"/>
          </a:xfrm>
          <a:prstGeom prst="rect">
            <a:avLst/>
          </a:prstGeom>
          <a:ln w="12700"/>
        </p:spPr>
        <p:txBody>
          <a:bodyPr anchor="b"/>
          <a:lstStyle/>
          <a:p>
            <a:pPr marL="0" indent="0">
              <a:buSzTx/>
              <a:buFontTx/>
              <a:buNone/>
              <a:defRPr b="1" sz="15200"/>
            </a:pP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0" name="Title Text"/>
          <p:cNvSpPr txBox="1"/>
          <p:nvPr>
            <p:ph type="title"/>
          </p:nvPr>
        </p:nvSpPr>
        <p:spPr>
          <a:prstGeom prst="rect">
            <a:avLst/>
          </a:prstGeom>
        </p:spPr>
        <p:txBody>
          <a:bodyPr/>
          <a:lstStyle/>
          <a:p>
            <a:pPr/>
            <a:r>
              <a:t>Title Text</a:t>
            </a:r>
          </a:p>
        </p:txBody>
      </p:sp>
      <p:sp>
        <p:nvSpPr>
          <p:cNvPr id="7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7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85" name="Title Text"/>
          <p:cNvSpPr txBox="1"/>
          <p:nvPr>
            <p:ph type="title"/>
          </p:nvPr>
        </p:nvSpPr>
        <p:spPr>
          <a:xfrm>
            <a:off x="2267427" y="13921740"/>
            <a:ext cx="10617041" cy="4320541"/>
          </a:xfrm>
          <a:prstGeom prst="rect">
            <a:avLst/>
          </a:prstGeom>
        </p:spPr>
        <p:txBody>
          <a:bodyPr anchor="b"/>
          <a:lstStyle>
            <a:lvl1pPr>
              <a:defRPr sz="20200"/>
            </a:lvl1pPr>
          </a:lstStyle>
          <a:p>
            <a:pPr/>
            <a:r>
              <a:t>Title Text</a:t>
            </a:r>
          </a:p>
        </p:txBody>
      </p:sp>
      <p:sp>
        <p:nvSpPr>
          <p:cNvPr id="86" name="Body Level One…"/>
          <p:cNvSpPr txBox="1"/>
          <p:nvPr>
            <p:ph type="body" sz="quarter" idx="1"/>
          </p:nvPr>
        </p:nvSpPr>
        <p:spPr>
          <a:xfrm>
            <a:off x="13994607" y="15353348"/>
            <a:ext cx="16664941" cy="13158788"/>
          </a:xfrm>
          <a:prstGeom prst="rect">
            <a:avLst/>
          </a:prstGeom>
        </p:spPr>
        <p:txBody>
          <a:bodyPr/>
          <a:lstStyle>
            <a:lvl1pPr marL="1443037" indent="-1443037">
              <a:defRPr sz="20200"/>
            </a:lvl1pPr>
            <a:lvl2pPr marL="2106385" indent="-1649185">
              <a:defRPr sz="20200"/>
            </a:lvl2pPr>
            <a:lvl3pPr marL="2838450" indent="-1924050">
              <a:defRPr sz="20200"/>
            </a:lvl3pPr>
            <a:lvl4pPr marL="3680459" indent="-2308859">
              <a:defRPr sz="20200"/>
            </a:lvl4pPr>
            <a:lvl5pPr marL="4137659" indent="-2308859">
              <a:defRPr sz="20200"/>
            </a:lvl5pPr>
          </a:lstStyle>
          <a:p>
            <a:pPr/>
            <a:r>
              <a:t>Body Level One</a:t>
            </a:r>
          </a:p>
          <a:p>
            <a:pPr lvl="1"/>
            <a:r>
              <a:t>Body Level Two</a:t>
            </a:r>
          </a:p>
          <a:p>
            <a:pPr lvl="2"/>
            <a:r>
              <a:t>Body Level Three</a:t>
            </a:r>
          </a:p>
          <a:p>
            <a:pPr lvl="3"/>
            <a:r>
              <a:t>Body Level Four</a:t>
            </a:r>
          </a:p>
          <a:p>
            <a:pPr lvl="4"/>
            <a:r>
              <a:t>Body Level Five</a:t>
            </a:r>
          </a:p>
        </p:txBody>
      </p:sp>
      <p:sp>
        <p:nvSpPr>
          <p:cNvPr id="87" name="Text Placeholder 3"/>
          <p:cNvSpPr/>
          <p:nvPr>
            <p:ph type="body" sz="quarter" idx="21"/>
          </p:nvPr>
        </p:nvSpPr>
        <p:spPr>
          <a:xfrm>
            <a:off x="2267427" y="18242280"/>
            <a:ext cx="10617041" cy="10291288"/>
          </a:xfrm>
          <a:prstGeom prst="rect">
            <a:avLst/>
          </a:prstGeom>
          <a:ln w="12700"/>
        </p:spPr>
        <p:txBody>
          <a:bodyPr/>
          <a:lstStyle/>
          <a:p>
            <a:pPr marL="0" indent="0">
              <a:buSzTx/>
              <a:buFontTx/>
              <a:buNone/>
              <a:defRPr sz="10000"/>
            </a:pPr>
          </a:p>
        </p:txBody>
      </p:sp>
      <p:sp>
        <p:nvSpPr>
          <p:cNvPr id="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95" name="Title Text"/>
          <p:cNvSpPr txBox="1"/>
          <p:nvPr>
            <p:ph type="title"/>
          </p:nvPr>
        </p:nvSpPr>
        <p:spPr>
          <a:xfrm>
            <a:off x="2267427" y="13921740"/>
            <a:ext cx="10617041" cy="4320541"/>
          </a:xfrm>
          <a:prstGeom prst="rect">
            <a:avLst/>
          </a:prstGeom>
        </p:spPr>
        <p:txBody>
          <a:bodyPr anchor="b"/>
          <a:lstStyle>
            <a:lvl1pPr>
              <a:defRPr sz="20200"/>
            </a:lvl1pPr>
          </a:lstStyle>
          <a:p>
            <a:pPr/>
            <a:r>
              <a:t>Title Text</a:t>
            </a:r>
          </a:p>
        </p:txBody>
      </p:sp>
      <p:sp>
        <p:nvSpPr>
          <p:cNvPr id="96" name="Picture Placeholder 2"/>
          <p:cNvSpPr/>
          <p:nvPr>
            <p:ph type="pic" sz="quarter" idx="21"/>
          </p:nvPr>
        </p:nvSpPr>
        <p:spPr>
          <a:xfrm>
            <a:off x="13994607" y="15353348"/>
            <a:ext cx="16664941" cy="13158788"/>
          </a:xfrm>
          <a:prstGeom prst="rect">
            <a:avLst/>
          </a:prstGeom>
          <a:ln w="12700"/>
        </p:spPr>
        <p:txBody>
          <a:bodyPr lIns="91439" tIns="45719" rIns="91439" bIns="45719">
            <a:noAutofit/>
          </a:bodyPr>
          <a:lstStyle/>
          <a:p>
            <a:pPr/>
          </a:p>
        </p:txBody>
      </p:sp>
      <p:sp>
        <p:nvSpPr>
          <p:cNvPr id="97" name="Body Level One…"/>
          <p:cNvSpPr txBox="1"/>
          <p:nvPr>
            <p:ph type="body" sz="quarter" idx="1"/>
          </p:nvPr>
        </p:nvSpPr>
        <p:spPr>
          <a:xfrm>
            <a:off x="2267427" y="18242280"/>
            <a:ext cx="10617041" cy="10291288"/>
          </a:xfrm>
          <a:prstGeom prst="rect">
            <a:avLst/>
          </a:prstGeom>
        </p:spPr>
        <p:txBody>
          <a:bodyPr/>
          <a:lstStyle>
            <a:lvl1pPr marL="0" indent="0">
              <a:buSzTx/>
              <a:buFontTx/>
              <a:buNone/>
              <a:defRPr sz="10000"/>
            </a:lvl1pPr>
            <a:lvl2pPr marL="0" indent="457200">
              <a:buSzTx/>
              <a:buFontTx/>
              <a:buNone/>
              <a:defRPr sz="10000"/>
            </a:lvl2pPr>
            <a:lvl3pPr marL="0" indent="914400">
              <a:buSzTx/>
              <a:buFontTx/>
              <a:buNone/>
              <a:defRPr sz="10000"/>
            </a:lvl3pPr>
            <a:lvl4pPr marL="0" indent="1371600">
              <a:buSzTx/>
              <a:buFontTx/>
              <a:buNone/>
              <a:defRPr sz="10000"/>
            </a:lvl4pPr>
            <a:lvl5pPr marL="0" indent="1828800">
              <a:buSzTx/>
              <a:buFontTx/>
              <a:buNone/>
              <a:defRPr sz="10000"/>
            </a:lvl5pPr>
          </a:lstStyle>
          <a:p>
            <a:pPr/>
            <a:r>
              <a:t>Body Level One</a:t>
            </a:r>
          </a:p>
          <a:p>
            <a:pPr lvl="1"/>
            <a:r>
              <a:t>Body Level Two</a:t>
            </a:r>
          </a:p>
          <a:p>
            <a:pPr lvl="2"/>
            <a:r>
              <a:t>Body Level Three</a:t>
            </a:r>
          </a:p>
          <a:p>
            <a:pPr lvl="3"/>
            <a:r>
              <a:t>Body Level Four</a:t>
            </a:r>
          </a:p>
          <a:p>
            <a:pPr lvl="4"/>
            <a:r>
              <a:t>Body Level Five</a:t>
            </a:r>
          </a:p>
        </p:txBody>
      </p:sp>
      <p:sp>
        <p:nvSpPr>
          <p:cNvPr id="9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slideLayout" Target="../slideLayouts/slideLayout1.xml"/><Relationship Id="rId7" Type="http://schemas.openxmlformats.org/officeDocument/2006/relationships/slideLayout" Target="../slideLayouts/slideLayout2.xml"/><Relationship Id="rId8" Type="http://schemas.openxmlformats.org/officeDocument/2006/relationships/slideLayout" Target="../slideLayouts/slideLayout3.xml"/><Relationship Id="rId9" Type="http://schemas.openxmlformats.org/officeDocument/2006/relationships/slideLayout" Target="../slideLayouts/slideLayout4.xml"/><Relationship Id="rId10" Type="http://schemas.openxmlformats.org/officeDocument/2006/relationships/slideLayout" Target="../slideLayouts/slideLayout5.xml"/><Relationship Id="rId11" Type="http://schemas.openxmlformats.org/officeDocument/2006/relationships/slideLayout" Target="../slideLayouts/slideLayout6.xml"/><Relationship Id="rId12" Type="http://schemas.openxmlformats.org/officeDocument/2006/relationships/slideLayout" Target="../slideLayouts/slideLayout7.xml"/><Relationship Id="rId13" Type="http://schemas.openxmlformats.org/officeDocument/2006/relationships/slideLayout" Target="../slideLayouts/slideLayout8.xml"/><Relationship Id="rId1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Rectangle 1"/>
          <p:cNvSpPr/>
          <p:nvPr/>
        </p:nvSpPr>
        <p:spPr>
          <a:xfrm>
            <a:off x="-1" y="12687300"/>
            <a:ext cx="32918395" cy="3456422"/>
          </a:xfrm>
          <a:prstGeom prst="rect">
            <a:avLst/>
          </a:prstGeom>
          <a:solidFill>
            <a:srgbClr val="01234D"/>
          </a:solidFill>
          <a:ln w="38100">
            <a:solidFill>
              <a:srgbClr val="525755"/>
            </a:solidFill>
            <a:miter/>
          </a:ln>
        </p:spPr>
        <p:txBody>
          <a:bodyPr lIns="123443" tIns="123443" rIns="123443" bIns="123443" anchor="ctr"/>
          <a:lstStyle/>
          <a:p>
            <a:pPr algn="ctr">
              <a:defRPr>
                <a:solidFill>
                  <a:srgbClr val="FFFFFF"/>
                </a:solidFill>
              </a:defRPr>
            </a:pPr>
          </a:p>
        </p:txBody>
      </p:sp>
      <p:pic>
        <p:nvPicPr>
          <p:cNvPr id="3" name="Picture 14" descr="Picture 14"/>
          <p:cNvPicPr>
            <a:picLocks noChangeAspect="1"/>
          </p:cNvPicPr>
          <p:nvPr/>
        </p:nvPicPr>
        <p:blipFill>
          <a:blip r:embed="rId2">
            <a:extLst/>
          </a:blip>
          <a:stretch>
            <a:fillRect/>
          </a:stretch>
        </p:blipFill>
        <p:spPr>
          <a:xfrm>
            <a:off x="24318586" y="12889319"/>
            <a:ext cx="2816517" cy="2816517"/>
          </a:xfrm>
          <a:prstGeom prst="rect">
            <a:avLst/>
          </a:prstGeom>
          <a:ln w="12700">
            <a:miter lim="400000"/>
          </a:ln>
        </p:spPr>
      </p:pic>
      <p:pic>
        <p:nvPicPr>
          <p:cNvPr id="4" name="Picture 15" descr="Picture 15"/>
          <p:cNvPicPr>
            <a:picLocks noChangeAspect="1"/>
          </p:cNvPicPr>
          <p:nvPr/>
        </p:nvPicPr>
        <p:blipFill>
          <a:blip r:embed="rId3">
            <a:extLst/>
          </a:blip>
          <a:stretch>
            <a:fillRect/>
          </a:stretch>
        </p:blipFill>
        <p:spPr>
          <a:xfrm>
            <a:off x="29557752" y="13020453"/>
            <a:ext cx="2386928" cy="2386928"/>
          </a:xfrm>
          <a:prstGeom prst="rect">
            <a:avLst/>
          </a:prstGeom>
          <a:ln w="12700">
            <a:miter lim="400000"/>
          </a:ln>
        </p:spPr>
      </p:pic>
      <p:pic>
        <p:nvPicPr>
          <p:cNvPr id="5" name="Picture 16" descr="Picture 16"/>
          <p:cNvPicPr>
            <a:picLocks noChangeAspect="1"/>
          </p:cNvPicPr>
          <p:nvPr/>
        </p:nvPicPr>
        <p:blipFill>
          <a:blip r:embed="rId4">
            <a:extLst/>
          </a:blip>
          <a:stretch>
            <a:fillRect/>
          </a:stretch>
        </p:blipFill>
        <p:spPr>
          <a:xfrm>
            <a:off x="27345310" y="13206517"/>
            <a:ext cx="2122039" cy="2122039"/>
          </a:xfrm>
          <a:prstGeom prst="rect">
            <a:avLst/>
          </a:prstGeom>
          <a:ln w="12700">
            <a:miter lim="400000"/>
          </a:ln>
        </p:spPr>
      </p:pic>
      <p:sp>
        <p:nvSpPr>
          <p:cNvPr id="6" name="TextBox 17"/>
          <p:cNvSpPr txBox="1"/>
          <p:nvPr/>
        </p:nvSpPr>
        <p:spPr>
          <a:xfrm>
            <a:off x="7076616" y="12761345"/>
            <a:ext cx="15948652" cy="8946389"/>
          </a:xfrm>
          <a:prstGeom prst="rect">
            <a:avLst/>
          </a:prstGeom>
          <a:ln w="25400">
            <a:miter lim="400000"/>
          </a:ln>
          <a:extLst>
            <a:ext uri="{C572A759-6A51-4108-AA02-DFA0A04FC94B}">
              <ma14:wrappingTextBoxFlag xmlns:ma14="http://schemas.microsoft.com/office/mac/drawingml/2011/main" val="1"/>
            </a:ext>
          </a:extLst>
        </p:spPr>
        <p:txBody>
          <a:bodyPr lIns="123443" tIns="123443" rIns="123443" bIns="123443">
            <a:spAutoFit/>
          </a:bodyPr>
          <a:lstStyle/>
          <a:p>
            <a:pPr>
              <a:defRPr b="1">
                <a:solidFill>
                  <a:srgbClr val="FFFFFF"/>
                </a:solidFill>
                <a:latin typeface="Gordita "/>
                <a:ea typeface="Gordita "/>
                <a:cs typeface="Gordita "/>
                <a:sym typeface="Gordita "/>
              </a:defRPr>
            </a:pPr>
            <a:r>
              <a:t>55</a:t>
            </a:r>
            <a:r>
              <a:rPr baseline="31684"/>
              <a:t>th</a:t>
            </a:r>
            <a:r>
              <a:t>   Annual Conference of </a:t>
            </a:r>
          </a:p>
          <a:p>
            <a:pPr>
              <a:defRPr b="1">
                <a:solidFill>
                  <a:srgbClr val="FFFFFF"/>
                </a:solidFill>
                <a:latin typeface="Gordita "/>
                <a:ea typeface="Gordita "/>
                <a:cs typeface="Gordita "/>
                <a:sym typeface="Gordita "/>
              </a:defRPr>
            </a:pPr>
            <a:r>
              <a:t>Orthopedic Surgeon Society of Andhra Pradesh</a:t>
            </a:r>
          </a:p>
        </p:txBody>
      </p:sp>
      <p:sp>
        <p:nvSpPr>
          <p:cNvPr id="7" name="TextBox 18"/>
          <p:cNvSpPr txBox="1"/>
          <p:nvPr/>
        </p:nvSpPr>
        <p:spPr>
          <a:xfrm>
            <a:off x="7146732" y="14452821"/>
            <a:ext cx="16783347" cy="2507489"/>
          </a:xfrm>
          <a:prstGeom prst="rect">
            <a:avLst/>
          </a:prstGeom>
          <a:ln w="25400">
            <a:miter lim="400000"/>
          </a:ln>
          <a:extLst>
            <a:ext uri="{C572A759-6A51-4108-AA02-DFA0A04FC94B}">
              <ma14:wrappingTextBoxFlag xmlns:ma14="http://schemas.microsoft.com/office/mac/drawingml/2011/main" val="1"/>
            </a:ext>
          </a:extLst>
        </p:spPr>
        <p:txBody>
          <a:bodyPr lIns="123443" tIns="123443" rIns="123443" bIns="123443">
            <a:spAutoFit/>
          </a:bodyPr>
          <a:lstStyle>
            <a:lvl1pPr>
              <a:defRPr b="1" sz="7400">
                <a:solidFill>
                  <a:srgbClr val="FFFFFF"/>
                </a:solidFill>
                <a:latin typeface="Gordita "/>
                <a:ea typeface="Gordita "/>
                <a:cs typeface="Gordita "/>
                <a:sym typeface="Gordita "/>
              </a:defRPr>
            </a:lvl1pPr>
          </a:lstStyle>
          <a:p>
            <a:pPr/>
            <a:r>
              <a:t>Date 6 – 8 February,2026, Venue : Kurnool Medical College</a:t>
            </a:r>
          </a:p>
        </p:txBody>
      </p:sp>
      <p:sp>
        <p:nvSpPr>
          <p:cNvPr id="8" name="TextBox 19"/>
          <p:cNvSpPr txBox="1"/>
          <p:nvPr/>
        </p:nvSpPr>
        <p:spPr>
          <a:xfrm>
            <a:off x="7076616" y="15153318"/>
            <a:ext cx="18960996" cy="3637789"/>
          </a:xfrm>
          <a:prstGeom prst="rect">
            <a:avLst/>
          </a:prstGeom>
          <a:ln w="25400">
            <a:miter lim="400000"/>
          </a:ln>
          <a:extLst>
            <a:ext uri="{C572A759-6A51-4108-AA02-DFA0A04FC94B}">
              <ma14:wrappingTextBoxFlag xmlns:ma14="http://schemas.microsoft.com/office/mac/drawingml/2011/main" val="1"/>
            </a:ext>
          </a:extLst>
        </p:spPr>
        <p:txBody>
          <a:bodyPr lIns="123443" tIns="123443" rIns="123443" bIns="123443">
            <a:spAutoFit/>
          </a:bodyPr>
          <a:lstStyle>
            <a:lvl1pPr>
              <a:defRPr b="1" sz="7400">
                <a:solidFill>
                  <a:srgbClr val="FFFFFF"/>
                </a:solidFill>
                <a:latin typeface="Gordita "/>
                <a:ea typeface="Gordita "/>
                <a:cs typeface="Gordita "/>
                <a:sym typeface="Gordita "/>
              </a:defRPr>
            </a:lvl1pPr>
          </a:lstStyle>
          <a:p>
            <a:pPr/>
            <a:r>
              <a:t>Organized by : Department of Orthopaedics, Kurnool Medical College Kurnool</a:t>
            </a:r>
          </a:p>
        </p:txBody>
      </p:sp>
      <p:sp>
        <p:nvSpPr>
          <p:cNvPr id="9" name="Freeform 13"/>
          <p:cNvSpPr/>
          <p:nvPr/>
        </p:nvSpPr>
        <p:spPr>
          <a:xfrm>
            <a:off x="1514198" y="12725788"/>
            <a:ext cx="4065015" cy="3456425"/>
          </a:xfrm>
          <a:prstGeom prst="rect">
            <a:avLst/>
          </a:prstGeom>
          <a:blipFill>
            <a:blip r:embed="rId5"/>
            <a:stretch>
              <a:fillRect/>
            </a:stretch>
          </a:blipFill>
          <a:ln w="12700">
            <a:miter lim="400000"/>
          </a:ln>
        </p:spPr>
        <p:txBody>
          <a:bodyPr lIns="123443" tIns="123443" rIns="123443" bIns="123443"/>
          <a:lstStyle/>
          <a:p>
            <a:pPr/>
          </a:p>
        </p:txBody>
      </p:sp>
      <p:sp>
        <p:nvSpPr>
          <p:cNvPr id="10" name="Title Text"/>
          <p:cNvSpPr txBox="1"/>
          <p:nvPr>
            <p:ph type="title"/>
          </p:nvPr>
        </p:nvSpPr>
        <p:spPr>
          <a:xfrm>
            <a:off x="2263140" y="13673137"/>
            <a:ext cx="28392119" cy="3579021"/>
          </a:xfrm>
          <a:prstGeom prst="rect">
            <a:avLst/>
          </a:prstGeom>
          <a:ln w="25400">
            <a:miter lim="400000"/>
          </a:ln>
          <a:extLst>
            <a:ext uri="{C572A759-6A51-4108-AA02-DFA0A04FC94B}">
              <ma14:wrappingTextBoxFlag xmlns:ma14="http://schemas.microsoft.com/office/mac/drawingml/2011/main" val="1"/>
            </a:ext>
          </a:extLst>
        </p:spPr>
        <p:txBody>
          <a:bodyPr lIns="123443" tIns="123443" rIns="123443" bIns="123443">
            <a:normAutofit fontScale="100000" lnSpcReduction="0"/>
          </a:bodyPr>
          <a:lstStyle/>
          <a:p>
            <a:pPr/>
            <a:r>
              <a:t>Title Text</a:t>
            </a:r>
          </a:p>
        </p:txBody>
      </p:sp>
      <p:sp>
        <p:nvSpPr>
          <p:cNvPr id="11" name="Body Level One…"/>
          <p:cNvSpPr txBox="1"/>
          <p:nvPr>
            <p:ph type="body" idx="1"/>
          </p:nvPr>
        </p:nvSpPr>
        <p:spPr>
          <a:xfrm>
            <a:off x="2263140" y="17616487"/>
            <a:ext cx="28392119" cy="11748613"/>
          </a:xfrm>
          <a:prstGeom prst="rect">
            <a:avLst/>
          </a:prstGeom>
          <a:ln w="25400">
            <a:miter lim="400000"/>
          </a:ln>
          <a:extLst>
            <a:ext uri="{C572A759-6A51-4108-AA02-DFA0A04FC94B}">
              <ma14:wrappingTextBoxFlag xmlns:ma14="http://schemas.microsoft.com/office/mac/drawingml/2011/main" val="1"/>
            </a:ext>
          </a:extLst>
        </p:spPr>
        <p:txBody>
          <a:bodyPr lIns="123443" tIns="123443" rIns="123443" bIns="123443">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12" name="Slide Number"/>
          <p:cNvSpPr txBox="1"/>
          <p:nvPr>
            <p:ph type="sldNum" sz="quarter" idx="2"/>
          </p:nvPr>
        </p:nvSpPr>
        <p:spPr>
          <a:xfrm>
            <a:off x="23248619" y="29849446"/>
            <a:ext cx="1869984" cy="1986789"/>
          </a:xfrm>
          <a:prstGeom prst="rect">
            <a:avLst/>
          </a:prstGeom>
          <a:ln w="25400">
            <a:miter lim="400000"/>
          </a:ln>
        </p:spPr>
        <p:txBody>
          <a:bodyPr wrap="none" lIns="123443" tIns="123443" rIns="123443" bIns="123443">
            <a:spAutoFit/>
          </a:body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Lst>
  <p:transition xmlns:p14="http://schemas.microsoft.com/office/powerpoint/2010/main" spd="med" advClick="1"/>
  <p:txStyles>
    <p:titleStyle>
      <a:lvl1pPr marL="0" marR="0" indent="0" algn="l" defTabSz="5852160"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1pPr>
      <a:lvl2pPr marL="0" marR="0" indent="0" algn="l" defTabSz="5852160"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2pPr>
      <a:lvl3pPr marL="0" marR="0" indent="0" algn="l" defTabSz="5852160"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3pPr>
      <a:lvl4pPr marL="0" marR="0" indent="0" algn="l" defTabSz="5852160"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4pPr>
      <a:lvl5pPr marL="0" marR="0" indent="0" algn="l" defTabSz="5852160"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5pPr>
      <a:lvl6pPr marL="0" marR="0" indent="0" algn="l" defTabSz="5852160"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6pPr>
      <a:lvl7pPr marL="0" marR="0" indent="0" algn="l" defTabSz="5852160"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7pPr>
      <a:lvl8pPr marL="0" marR="0" indent="0" algn="l" defTabSz="5852160"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8pPr>
      <a:lvl9pPr marL="0" marR="0" indent="0" algn="l" defTabSz="5852160" rtl="0" latinLnBrk="0">
        <a:lnSpc>
          <a:spcPct val="90000"/>
        </a:lnSpc>
        <a:spcBef>
          <a:spcPts val="0"/>
        </a:spcBef>
        <a:spcAft>
          <a:spcPts val="0"/>
        </a:spcAft>
        <a:buClrTx/>
        <a:buSzTx/>
        <a:buFontTx/>
        <a:buNone/>
        <a:tabLst/>
        <a:defRPr b="0" baseline="0" cap="none" i="0" spc="0" strike="noStrike" sz="28000" u="none">
          <a:solidFill>
            <a:srgbClr val="000000"/>
          </a:solidFill>
          <a:uFillTx/>
          <a:latin typeface="Aptos Display"/>
          <a:ea typeface="Aptos Display"/>
          <a:cs typeface="Aptos Display"/>
          <a:sym typeface="Aptos Display"/>
        </a:defRPr>
      </a:lvl9pPr>
    </p:titleStyle>
    <p:bodyStyle>
      <a:lvl1pPr marL="1453242" marR="0" indent="-1453242" algn="l" defTabSz="5852160"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1pPr>
      <a:lvl2pPr marL="2152650" marR="0" indent="-1695450" algn="l" defTabSz="5852160"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2pPr>
      <a:lvl3pPr marL="2948939" marR="0" indent="-2034539" algn="l" defTabSz="5852160"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3pPr>
      <a:lvl4pPr marL="3632200" marR="0" indent="-2260600" algn="l" defTabSz="5852160"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4pPr>
      <a:lvl5pPr marL="4089400" marR="0" indent="-2260600" algn="l" defTabSz="5852160"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5pPr>
      <a:lvl6pPr marL="4546600" marR="0" indent="-2260600" algn="l" defTabSz="5852160"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6pPr>
      <a:lvl7pPr marL="5003800" marR="0" indent="-2260600" algn="l" defTabSz="5852160"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7pPr>
      <a:lvl8pPr marL="5461000" marR="0" indent="-2260600" algn="l" defTabSz="5852160"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8pPr>
      <a:lvl9pPr marL="5918200" marR="0" indent="-2260600" algn="l" defTabSz="5852160" rtl="0" latinLnBrk="0">
        <a:lnSpc>
          <a:spcPct val="90000"/>
        </a:lnSpc>
        <a:spcBef>
          <a:spcPts val="6400"/>
        </a:spcBef>
        <a:spcAft>
          <a:spcPts val="0"/>
        </a:spcAft>
        <a:buClrTx/>
        <a:buSzPct val="100000"/>
        <a:buFont typeface="Arial"/>
        <a:buChar char="•"/>
        <a:tabLst/>
        <a:defRPr b="0" baseline="0" cap="none" i="0" spc="0" strike="noStrike" sz="17800" u="none">
          <a:solidFill>
            <a:srgbClr val="000000"/>
          </a:solidFill>
          <a:uFillTx/>
          <a:latin typeface="+mj-lt"/>
          <a:ea typeface="+mj-ea"/>
          <a:cs typeface="+mj-cs"/>
          <a:sym typeface="Aptos"/>
        </a:defRPr>
      </a:lvl9pPr>
    </p:bodyStyle>
    <p:otherStyle>
      <a:lvl1pPr marL="0" marR="0" indent="0" algn="l" defTabSz="5852160"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1pPr>
      <a:lvl2pPr marL="0" marR="0" indent="457200" algn="l" defTabSz="5852160"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2pPr>
      <a:lvl3pPr marL="0" marR="0" indent="914400" algn="l" defTabSz="5852160"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3pPr>
      <a:lvl4pPr marL="0" marR="0" indent="1371600" algn="l" defTabSz="5852160"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4pPr>
      <a:lvl5pPr marL="0" marR="0" indent="1828800" algn="l" defTabSz="5852160"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5pPr>
      <a:lvl6pPr marL="0" marR="0" indent="2286000" algn="l" defTabSz="5852160"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6pPr>
      <a:lvl7pPr marL="0" marR="0" indent="2743200" algn="l" defTabSz="5852160"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7pPr>
      <a:lvl8pPr marL="0" marR="0" indent="3200400" algn="l" defTabSz="5852160"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8pPr>
      <a:lvl9pPr marL="0" marR="0" indent="3657600" algn="l" defTabSz="5852160" rtl="0" latinLnBrk="0">
        <a:lnSpc>
          <a:spcPct val="100000"/>
        </a:lnSpc>
        <a:spcBef>
          <a:spcPts val="0"/>
        </a:spcBef>
        <a:spcAft>
          <a:spcPts val="0"/>
        </a:spcAft>
        <a:buClrTx/>
        <a:buSzTx/>
        <a:buFontTx/>
        <a:buNone/>
        <a:tabLst/>
        <a:defRPr b="0" baseline="0" cap="none" i="0" spc="0" strike="noStrike" sz="11400" u="none">
          <a:solidFill>
            <a:schemeClr val="tx1"/>
          </a:solidFill>
          <a:uFillTx/>
          <a:latin typeface="+mn-lt"/>
          <a:ea typeface="+mn-ea"/>
          <a:cs typeface="+mn-cs"/>
          <a:sym typeface="Apto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jpeg"/><Relationship Id="rId6" Type="http://schemas.openxmlformats.org/officeDocument/2006/relationships/image" Target="../media/image9.png"/><Relationship Id="rId7" Type="http://schemas.openxmlformats.org/officeDocument/2006/relationships/image" Target="../media/image2.jpe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Introduction: Slipped Capital Femoral Epiphysis (SCFE) is one of the most common hip disorders in adolescents, characterized by posterior and inferior displacement of the femoral head relative to the femoral neck through the physis. It commonly affects a"/>
          <p:cNvSpPr/>
          <p:nvPr/>
        </p:nvSpPr>
        <p:spPr>
          <a:xfrm>
            <a:off x="1306892" y="6052886"/>
            <a:ext cx="9949274" cy="13681041"/>
          </a:xfrm>
          <a:prstGeom prst="rect">
            <a:avLst/>
          </a:prstGeom>
          <a:solidFill>
            <a:srgbClr val="FFFFFF"/>
          </a:solidFill>
          <a:ln w="38100">
            <a:solidFill>
              <a:schemeClr val="accent1"/>
            </a:solidFill>
            <a:miter/>
          </a:ln>
          <a:extLst>
            <a:ext uri="{C572A759-6A51-4108-AA02-DFA0A04FC94B}">
              <ma14:wrappingTextBoxFlag xmlns:ma14="http://schemas.microsoft.com/office/mac/drawingml/2011/main" val="1"/>
            </a:ext>
          </a:extLst>
        </p:spPr>
        <p:txBody>
          <a:bodyPr lIns="123443" tIns="123443" rIns="123443" bIns="123443"/>
          <a:lstStyle/>
          <a:p>
            <a:pPr defTabSz="457200">
              <a:spcBef>
                <a:spcPts val="1200"/>
              </a:spcBef>
              <a:defRPr sz="3500">
                <a:latin typeface="Arial"/>
                <a:ea typeface="Arial"/>
                <a:cs typeface="Arial"/>
                <a:sym typeface="Arial"/>
              </a:defRPr>
            </a:pPr>
            <a:r>
              <a:rPr b="1"/>
              <a:t>Introduction:</a:t>
            </a:r>
            <a:br/>
            <a:r>
              <a:t>Slipped Capital Femoral Epiphysis (SCFE) is one of the most common hip disorders in adolescents, characterized by posterior and inferior displacement of the femoral head relative to the femoral neck through the physis. It commonly affects adolescent males during periods of rapid growth. Bilateral involvement is frequently reported, either simultaneously or sequentially. Early diagnosis and timely surgical stabilization are crucial to prevent progression, complications, and long-term disability. Prophylactic fixation of the contralateral hip remains a widely accepted strategy to prevent future slip.</a:t>
            </a:r>
          </a:p>
          <a:p>
            <a:pPr defTabSz="457200">
              <a:spcBef>
                <a:spcPts val="1200"/>
              </a:spcBef>
              <a:defRPr sz="3500">
                <a:latin typeface="Arial"/>
                <a:ea typeface="Arial"/>
                <a:cs typeface="Arial"/>
                <a:sym typeface="Arial"/>
              </a:defRPr>
            </a:pPr>
            <a:r>
              <a:rPr b="1"/>
              <a:t>Abstract:</a:t>
            </a:r>
            <a:br/>
            <a:r>
              <a:rPr b="1"/>
              <a:t>Background:</a:t>
            </a:r>
            <a:r>
              <a:t> Slipped Capital Femoral Epiphysis is a potentially debilitating adolescent hip disorder. Bilateral slips carry a higher risk of complications if not managed appropriately.</a:t>
            </a:r>
          </a:p>
          <a:p>
            <a:pPr defTabSz="457200">
              <a:spcBef>
                <a:spcPts val="1200"/>
              </a:spcBef>
              <a:defRPr sz="3500">
                <a:latin typeface="Arial"/>
                <a:ea typeface="Arial"/>
                <a:cs typeface="Arial"/>
                <a:sym typeface="Arial"/>
              </a:defRPr>
            </a:pPr>
            <a:r>
              <a:rPr b="1"/>
              <a:t>Case Summary:</a:t>
            </a:r>
            <a:r>
              <a:t> We present a case of a 16-year-old male with bilateral SCFE, more pronounced on the left side, managed successfully with bilateral in-situ fixation using cannulated cancellous screws.</a:t>
            </a:r>
          </a:p>
        </p:txBody>
      </p:sp>
      <p:sp>
        <p:nvSpPr>
          <p:cNvPr id="108" name="MATERIAL &amp; METHODS…"/>
          <p:cNvSpPr/>
          <p:nvPr/>
        </p:nvSpPr>
        <p:spPr>
          <a:xfrm>
            <a:off x="1266813" y="20335674"/>
            <a:ext cx="10029432" cy="14614835"/>
          </a:xfrm>
          <a:prstGeom prst="rect">
            <a:avLst/>
          </a:prstGeom>
          <a:solidFill>
            <a:srgbClr val="FFFFFF"/>
          </a:solidFill>
          <a:ln w="38100">
            <a:solidFill>
              <a:schemeClr val="accent1"/>
            </a:solidFill>
            <a:miter/>
          </a:ln>
          <a:extLst>
            <a:ext uri="{C572A759-6A51-4108-AA02-DFA0A04FC94B}">
              <ma14:wrappingTextBoxFlag xmlns:ma14="http://schemas.microsoft.com/office/mac/drawingml/2011/main" val="1"/>
            </a:ext>
          </a:extLst>
        </p:spPr>
        <p:txBody>
          <a:bodyPr lIns="123443" tIns="123443" rIns="123443" bIns="123443" anchor="ctr"/>
          <a:lstStyle/>
          <a:p>
            <a:pPr defTabSz="457200">
              <a:spcBef>
                <a:spcPts val="1600"/>
              </a:spcBef>
              <a:defRPr b="1" sz="3500">
                <a:latin typeface="Arial"/>
                <a:ea typeface="Arial"/>
                <a:cs typeface="Arial"/>
                <a:sym typeface="Arial"/>
              </a:defRPr>
            </a:pPr>
            <a:r>
              <a:t>MATERIAL &amp; METHODS</a:t>
            </a:r>
          </a:p>
          <a:p>
            <a:pPr defTabSz="457200">
              <a:spcBef>
                <a:spcPts val="1400"/>
              </a:spcBef>
              <a:defRPr b="1" sz="3500">
                <a:latin typeface="Arial"/>
                <a:ea typeface="Arial"/>
                <a:cs typeface="Arial"/>
                <a:sym typeface="Arial"/>
              </a:defRPr>
            </a:pPr>
            <a:r>
              <a:t>Case Presentation</a:t>
            </a:r>
          </a:p>
          <a:p>
            <a:pPr marL="457200" indent="-317500" defTabSz="457200">
              <a:spcBef>
                <a:spcPts val="1200"/>
              </a:spcBef>
              <a:buSzPct val="100000"/>
              <a:buFont typeface="Times Roman"/>
              <a:buChar char="•"/>
              <a:defRPr sz="3500">
                <a:latin typeface="Arial"/>
                <a:ea typeface="Arial"/>
                <a:cs typeface="Arial"/>
                <a:sym typeface="Arial"/>
              </a:defRPr>
            </a:pPr>
            <a:r>
              <a:t>16-year-old male apparently normal 3 months prior developed pain in bilateral hip region while walking, pain which is insidious onset gradually progressive dull aching in nature non-radiating no diurnal variation partially relieved with rest and medication</a:t>
            </a:r>
          </a:p>
          <a:p>
            <a:pPr defTabSz="457200">
              <a:spcBef>
                <a:spcPts val="1200"/>
              </a:spcBef>
              <a:defRPr sz="3500">
                <a:latin typeface="Arial"/>
                <a:ea typeface="Arial"/>
                <a:cs typeface="Arial"/>
                <a:sym typeface="Arial"/>
              </a:defRPr>
            </a:pPr>
          </a:p>
          <a:p>
            <a:pPr defTabSz="457200">
              <a:defRPr sz="3500">
                <a:solidFill>
                  <a:srgbClr val="808080"/>
                </a:solidFill>
                <a:latin typeface="Arial"/>
                <a:ea typeface="Arial"/>
                <a:cs typeface="Arial"/>
                <a:sym typeface="Arial"/>
              </a:defRPr>
            </a:pPr>
          </a:p>
          <a:p>
            <a:pPr defTabSz="457200">
              <a:spcBef>
                <a:spcPts val="1400"/>
              </a:spcBef>
              <a:defRPr b="1" sz="3500">
                <a:latin typeface="Arial"/>
                <a:ea typeface="Arial"/>
                <a:cs typeface="Arial"/>
                <a:sym typeface="Arial"/>
              </a:defRPr>
            </a:pPr>
            <a:r>
              <a:t>CLINICAL &amp; RADIOLOGICAL FINDINGS</a:t>
            </a:r>
          </a:p>
          <a:p>
            <a:pPr defTabSz="457200">
              <a:spcBef>
                <a:spcPts val="1400"/>
              </a:spcBef>
              <a:defRPr b="1" sz="3500">
                <a:latin typeface="Arial"/>
                <a:ea typeface="Arial"/>
                <a:cs typeface="Arial"/>
                <a:sym typeface="Arial"/>
              </a:defRPr>
            </a:pPr>
            <a:r>
              <a:t>Clinical Examination</a:t>
            </a:r>
          </a:p>
          <a:p>
            <a:pPr marL="457200" indent="-317500" defTabSz="457200">
              <a:spcBef>
                <a:spcPts val="1200"/>
              </a:spcBef>
              <a:buSzPct val="100000"/>
              <a:buFont typeface="Times Roman"/>
              <a:buChar char="•"/>
              <a:defRPr sz="3500">
                <a:latin typeface="Arial"/>
                <a:ea typeface="Arial"/>
                <a:cs typeface="Arial"/>
                <a:sym typeface="Arial"/>
              </a:defRPr>
            </a:pPr>
            <a:r>
              <a:t>Antalgic gait ,Restricted internal rotation of hip ,Limb length discrepancy: minimal</a:t>
            </a:r>
          </a:p>
          <a:p>
            <a:pPr defTabSz="457200">
              <a:spcBef>
                <a:spcPts val="1400"/>
              </a:spcBef>
              <a:defRPr b="1" sz="3500">
                <a:latin typeface="Arial"/>
                <a:ea typeface="Arial"/>
                <a:cs typeface="Arial"/>
                <a:sym typeface="Arial"/>
              </a:defRPr>
            </a:pPr>
            <a:r>
              <a:t>Radiological Evaluation</a:t>
            </a:r>
          </a:p>
          <a:p>
            <a:pPr marL="457200" indent="-317500" defTabSz="457200">
              <a:spcBef>
                <a:spcPts val="1200"/>
              </a:spcBef>
              <a:buSzPct val="100000"/>
              <a:buFont typeface="Times Roman"/>
              <a:buChar char="•"/>
              <a:defRPr b="1" sz="3500">
                <a:latin typeface="Arial"/>
                <a:ea typeface="Arial"/>
                <a:cs typeface="Arial"/>
                <a:sym typeface="Arial"/>
              </a:defRPr>
            </a:pPr>
            <a:r>
              <a:t>X-ray pelvis with both hips:</a:t>
            </a:r>
            <a:r>
              <a:rPr b="0"/>
              <a:t> Bilateral Slipped Capital Femoral Epiphysis ,Left side more severe than right , sectoral sign </a:t>
            </a:r>
          </a:p>
          <a:p>
            <a:pPr marL="457200" indent="-317500" defTabSz="457200">
              <a:spcBef>
                <a:spcPts val="1200"/>
              </a:spcBef>
              <a:buSzPct val="100000"/>
              <a:buFont typeface="Times Roman"/>
              <a:buChar char="•"/>
              <a:defRPr b="1" sz="3500">
                <a:latin typeface="Arial"/>
                <a:ea typeface="Arial"/>
                <a:cs typeface="Arial"/>
                <a:sym typeface="Arial"/>
              </a:defRPr>
            </a:pPr>
            <a:r>
              <a:t>MRI Hip Joint:</a:t>
            </a:r>
            <a:r>
              <a:rPr b="0"/>
              <a:t> Confirmed bilateral SCFE</a:t>
            </a:r>
          </a:p>
          <a:p>
            <a:pPr defTabSz="457200">
              <a:spcBef>
                <a:spcPts val="1200"/>
              </a:spcBef>
              <a:defRPr sz="3000">
                <a:latin typeface="Arial"/>
                <a:ea typeface="Arial"/>
                <a:cs typeface="Arial"/>
                <a:sym typeface="Arial"/>
              </a:defRPr>
            </a:pPr>
          </a:p>
        </p:txBody>
      </p:sp>
      <p:sp>
        <p:nvSpPr>
          <p:cNvPr id="109" name="METHODOLOGY…"/>
          <p:cNvSpPr/>
          <p:nvPr/>
        </p:nvSpPr>
        <p:spPr>
          <a:xfrm>
            <a:off x="11665226" y="6052886"/>
            <a:ext cx="10632629" cy="9765999"/>
          </a:xfrm>
          <a:prstGeom prst="rect">
            <a:avLst/>
          </a:prstGeom>
          <a:solidFill>
            <a:srgbClr val="FFFFFF"/>
          </a:solidFill>
          <a:ln w="38100">
            <a:solidFill>
              <a:schemeClr val="accent1"/>
            </a:solidFill>
            <a:miter/>
          </a:ln>
          <a:extLst>
            <a:ext uri="{C572A759-6A51-4108-AA02-DFA0A04FC94B}">
              <ma14:wrappingTextBoxFlag xmlns:ma14="http://schemas.microsoft.com/office/mac/drawingml/2011/main" val="1"/>
            </a:ext>
          </a:extLst>
        </p:spPr>
        <p:txBody>
          <a:bodyPr lIns="123443" tIns="123443" rIns="123443" bIns="123443" anchor="ctr"/>
          <a:lstStyle/>
          <a:p>
            <a:pPr defTabSz="457200">
              <a:spcBef>
                <a:spcPts val="1600"/>
              </a:spcBef>
              <a:defRPr b="1" sz="3500">
                <a:latin typeface="Arial"/>
                <a:ea typeface="Arial"/>
                <a:cs typeface="Arial"/>
                <a:sym typeface="Arial"/>
              </a:defRPr>
            </a:pPr>
            <a:r>
              <a:t> METHODOLOGY</a:t>
            </a:r>
          </a:p>
          <a:p>
            <a:pPr defTabSz="457200">
              <a:spcBef>
                <a:spcPts val="1400"/>
              </a:spcBef>
              <a:defRPr b="1" sz="3500">
                <a:latin typeface="Arial"/>
                <a:ea typeface="Arial"/>
                <a:cs typeface="Arial"/>
                <a:sym typeface="Arial"/>
              </a:defRPr>
            </a:pPr>
            <a:r>
              <a:t>Left Hip</a:t>
            </a:r>
          </a:p>
          <a:p>
            <a:pPr marL="457200" indent="-317500" defTabSz="457200">
              <a:spcBef>
                <a:spcPts val="1200"/>
              </a:spcBef>
              <a:buSzPct val="100000"/>
              <a:buFont typeface="Times Roman"/>
              <a:buChar char="•"/>
              <a:defRPr sz="3500">
                <a:latin typeface="Arial"/>
                <a:ea typeface="Arial"/>
                <a:cs typeface="Arial"/>
                <a:sym typeface="Arial"/>
              </a:defRPr>
            </a:pPr>
            <a:r>
              <a:t>Under C-arm guidance:</a:t>
            </a:r>
          </a:p>
          <a:p>
            <a:pPr lvl="1" marL="914400" indent="-317500" defTabSz="457200">
              <a:spcBef>
                <a:spcPts val="1200"/>
              </a:spcBef>
              <a:buSzPct val="100000"/>
              <a:buFont typeface="Times Roman"/>
              <a:buChar char="◦"/>
              <a:defRPr b="1" sz="3500">
                <a:latin typeface="Arial"/>
                <a:ea typeface="Arial"/>
                <a:cs typeface="Arial"/>
                <a:sym typeface="Arial"/>
              </a:defRPr>
            </a:pPr>
            <a:r>
              <a:t>6.5 mm, 16-threaded, 75 mm cannulated cancellous screw with washer</a:t>
            </a:r>
            <a:r>
              <a:rPr b="0"/>
              <a:t> inserted</a:t>
            </a:r>
            <a:endParaRPr b="0"/>
          </a:p>
          <a:p>
            <a:pPr marL="457200" indent="-317500" defTabSz="457200">
              <a:spcBef>
                <a:spcPts val="1200"/>
              </a:spcBef>
              <a:buSzPct val="100000"/>
              <a:buFont typeface="Times Roman"/>
              <a:buChar char="•"/>
              <a:defRPr sz="3500">
                <a:latin typeface="Arial"/>
                <a:ea typeface="Arial"/>
                <a:cs typeface="Arial"/>
                <a:sym typeface="Arial"/>
              </a:defRPr>
            </a:pPr>
            <a:r>
              <a:t>Screw threads crossed perpendicular to the physis into the epiphysis</a:t>
            </a:r>
          </a:p>
          <a:p>
            <a:pPr marL="457200" indent="-317500" defTabSz="457200">
              <a:spcBef>
                <a:spcPts val="1200"/>
              </a:spcBef>
              <a:buSzPct val="100000"/>
              <a:buFont typeface="Times Roman"/>
              <a:buChar char="•"/>
              <a:defRPr sz="3500">
                <a:latin typeface="Arial"/>
                <a:ea typeface="Arial"/>
                <a:cs typeface="Arial"/>
                <a:sym typeface="Arial"/>
              </a:defRPr>
            </a:pPr>
            <a:r>
              <a:t>Position confirmed under image intensifier</a:t>
            </a:r>
          </a:p>
          <a:p>
            <a:pPr defTabSz="457200">
              <a:spcBef>
                <a:spcPts val="1400"/>
              </a:spcBef>
              <a:defRPr b="1" sz="3500">
                <a:latin typeface="Arial"/>
                <a:ea typeface="Arial"/>
                <a:cs typeface="Arial"/>
                <a:sym typeface="Arial"/>
              </a:defRPr>
            </a:pPr>
            <a:r>
              <a:t>Right Hip (Prophylactic Fixation)</a:t>
            </a:r>
          </a:p>
          <a:p>
            <a:pPr marL="457200" indent="-317500" defTabSz="457200">
              <a:spcBef>
                <a:spcPts val="1200"/>
              </a:spcBef>
              <a:buSzPct val="100000"/>
              <a:buFont typeface="Times Roman"/>
              <a:buChar char="•"/>
              <a:defRPr b="1" sz="3500">
                <a:latin typeface="Arial"/>
                <a:ea typeface="Arial"/>
                <a:cs typeface="Arial"/>
                <a:sym typeface="Arial"/>
              </a:defRPr>
            </a:pPr>
            <a:r>
              <a:t>6.5 mm, 16-threaded, 80 mm cannulated cancellous screw with washer</a:t>
            </a:r>
            <a:r>
              <a:rPr b="0"/>
              <a:t> inserted</a:t>
            </a:r>
            <a:endParaRPr b="0"/>
          </a:p>
          <a:p>
            <a:pPr marL="457200" indent="-317500" defTabSz="457200">
              <a:spcBef>
                <a:spcPts val="1200"/>
              </a:spcBef>
              <a:buSzPct val="100000"/>
              <a:buFont typeface="Times Roman"/>
              <a:buChar char="•"/>
              <a:defRPr sz="3500">
                <a:latin typeface="Arial"/>
                <a:ea typeface="Arial"/>
                <a:cs typeface="Arial"/>
                <a:sym typeface="Arial"/>
              </a:defRPr>
            </a:pPr>
            <a:r>
              <a:t>Threads ensured to crossed perpendicular to the  physis into epiphysis</a:t>
            </a:r>
          </a:p>
          <a:p>
            <a:pPr marL="457200" indent="-317500" defTabSz="457200">
              <a:spcBef>
                <a:spcPts val="1200"/>
              </a:spcBef>
              <a:buSzPct val="100000"/>
              <a:buFont typeface="Times Roman"/>
              <a:buChar char="•"/>
              <a:defRPr sz="3500">
                <a:latin typeface="Arial"/>
                <a:ea typeface="Arial"/>
                <a:cs typeface="Arial"/>
                <a:sym typeface="Arial"/>
              </a:defRPr>
            </a:pPr>
            <a:r>
              <a:t>Final position confirmed under C-arm guidance</a:t>
            </a:r>
          </a:p>
        </p:txBody>
      </p:sp>
      <p:sp>
        <p:nvSpPr>
          <p:cNvPr id="110" name="RESULTS…"/>
          <p:cNvSpPr/>
          <p:nvPr/>
        </p:nvSpPr>
        <p:spPr>
          <a:xfrm>
            <a:off x="22920940" y="6038595"/>
            <a:ext cx="8635998" cy="6443979"/>
          </a:xfrm>
          <a:prstGeom prst="rect">
            <a:avLst/>
          </a:prstGeom>
          <a:solidFill>
            <a:srgbClr val="FFFFFF"/>
          </a:solidFill>
          <a:ln w="38100">
            <a:solidFill>
              <a:schemeClr val="accent1"/>
            </a:solidFill>
            <a:miter/>
          </a:ln>
          <a:extLst>
            <a:ext uri="{C572A759-6A51-4108-AA02-DFA0A04FC94B}">
              <ma14:wrappingTextBoxFlag xmlns:ma14="http://schemas.microsoft.com/office/mac/drawingml/2011/main" val="1"/>
            </a:ext>
          </a:extLst>
        </p:spPr>
        <p:txBody>
          <a:bodyPr lIns="123443" tIns="123443" rIns="123443" bIns="123443" anchor="ctr"/>
          <a:lstStyle/>
          <a:p>
            <a:pPr defTabSz="457200">
              <a:spcBef>
                <a:spcPts val="1600"/>
              </a:spcBef>
              <a:defRPr b="1" sz="3500">
                <a:latin typeface="Arial"/>
                <a:ea typeface="Arial"/>
                <a:cs typeface="Arial"/>
                <a:sym typeface="Arial"/>
              </a:defRPr>
            </a:pPr>
            <a:r>
              <a:t> RESULTS</a:t>
            </a:r>
          </a:p>
          <a:p>
            <a:pPr marL="457200" indent="-317500" defTabSz="457200">
              <a:spcBef>
                <a:spcPts val="1200"/>
              </a:spcBef>
              <a:buSzPct val="100000"/>
              <a:buFont typeface="Times Roman"/>
              <a:buChar char="•"/>
              <a:defRPr sz="3500">
                <a:latin typeface="Arial"/>
                <a:ea typeface="Arial"/>
                <a:cs typeface="Arial"/>
                <a:sym typeface="Arial"/>
              </a:defRPr>
            </a:pPr>
            <a:r>
              <a:t>Successful bilateral in-situ fixation achieved</a:t>
            </a:r>
          </a:p>
          <a:p>
            <a:pPr marL="457200" indent="-317500" defTabSz="457200">
              <a:spcBef>
                <a:spcPts val="1200"/>
              </a:spcBef>
              <a:buSzPct val="100000"/>
              <a:buFont typeface="Times Roman"/>
              <a:buChar char="•"/>
              <a:defRPr sz="3500">
                <a:latin typeface="Arial"/>
                <a:ea typeface="Arial"/>
                <a:cs typeface="Arial"/>
                <a:sym typeface="Arial"/>
              </a:defRPr>
            </a:pPr>
            <a:r>
              <a:t>No intraoperative complications</a:t>
            </a:r>
          </a:p>
          <a:p>
            <a:pPr marL="457200" indent="-317500" defTabSz="457200">
              <a:spcBef>
                <a:spcPts val="1200"/>
              </a:spcBef>
              <a:buSzPct val="100000"/>
              <a:buFont typeface="Times Roman"/>
              <a:buChar char="•"/>
              <a:defRPr sz="3500">
                <a:latin typeface="Arial"/>
                <a:ea typeface="Arial"/>
                <a:cs typeface="Arial"/>
                <a:sym typeface="Arial"/>
              </a:defRPr>
            </a:pPr>
            <a:r>
              <a:t>Postoperative period uneventful</a:t>
            </a:r>
          </a:p>
          <a:p>
            <a:pPr marL="457200" indent="-317500" defTabSz="457200">
              <a:spcBef>
                <a:spcPts val="1200"/>
              </a:spcBef>
              <a:buSzPct val="100000"/>
              <a:buFont typeface="Times Roman"/>
              <a:buChar char="•"/>
              <a:defRPr sz="3500">
                <a:latin typeface="Arial"/>
                <a:ea typeface="Arial"/>
                <a:cs typeface="Arial"/>
                <a:sym typeface="Arial"/>
              </a:defRPr>
            </a:pPr>
            <a:r>
              <a:t>Pain significantly reduced</a:t>
            </a:r>
          </a:p>
          <a:p>
            <a:pPr marL="457200" indent="-317500" defTabSz="457200">
              <a:spcBef>
                <a:spcPts val="1200"/>
              </a:spcBef>
              <a:buSzPct val="100000"/>
              <a:buFont typeface="Times Roman"/>
              <a:buChar char="•"/>
              <a:defRPr sz="3500">
                <a:latin typeface="Arial"/>
                <a:ea typeface="Arial"/>
                <a:cs typeface="Arial"/>
                <a:sym typeface="Arial"/>
              </a:defRPr>
            </a:pPr>
            <a:r>
              <a:t>Improved gait on follow-up</a:t>
            </a:r>
          </a:p>
          <a:p>
            <a:pPr marL="457200" indent="-317500" defTabSz="457200">
              <a:spcBef>
                <a:spcPts val="1200"/>
              </a:spcBef>
              <a:buSzPct val="100000"/>
              <a:buFont typeface="Times Roman"/>
              <a:buChar char="•"/>
              <a:defRPr sz="3500">
                <a:latin typeface="Arial"/>
                <a:ea typeface="Arial"/>
                <a:cs typeface="Arial"/>
                <a:sym typeface="Arial"/>
              </a:defRPr>
            </a:pPr>
            <a:r>
              <a:t>No evidence of further slip or hardware failure</a:t>
            </a:r>
          </a:p>
        </p:txBody>
      </p:sp>
      <p:sp>
        <p:nvSpPr>
          <p:cNvPr id="111" name="DISCUSSION…"/>
          <p:cNvSpPr/>
          <p:nvPr/>
        </p:nvSpPr>
        <p:spPr>
          <a:xfrm>
            <a:off x="23042590" y="12978083"/>
            <a:ext cx="8761072" cy="8778751"/>
          </a:xfrm>
          <a:prstGeom prst="rect">
            <a:avLst/>
          </a:prstGeom>
          <a:solidFill>
            <a:srgbClr val="FFFFFF"/>
          </a:solidFill>
          <a:ln w="38100">
            <a:solidFill>
              <a:schemeClr val="accent1"/>
            </a:solidFill>
            <a:miter/>
          </a:ln>
          <a:extLst>
            <a:ext uri="{C572A759-6A51-4108-AA02-DFA0A04FC94B}">
              <ma14:wrappingTextBoxFlag xmlns:ma14="http://schemas.microsoft.com/office/mac/drawingml/2011/main" val="1"/>
            </a:ext>
          </a:extLst>
        </p:spPr>
        <p:txBody>
          <a:bodyPr lIns="123443" tIns="123443" rIns="123443" bIns="123443" anchor="ctr"/>
          <a:lstStyle/>
          <a:p>
            <a:pPr defTabSz="457200">
              <a:spcBef>
                <a:spcPts val="1600"/>
              </a:spcBef>
              <a:defRPr b="1" sz="3500">
                <a:latin typeface="Arial"/>
                <a:ea typeface="Arial"/>
                <a:cs typeface="Arial"/>
                <a:sym typeface="Arial"/>
              </a:defRPr>
            </a:pPr>
            <a:r>
              <a:t>DISCUSSION</a:t>
            </a:r>
          </a:p>
          <a:p>
            <a:pPr marL="457200" indent="-317500" defTabSz="457200">
              <a:spcBef>
                <a:spcPts val="1200"/>
              </a:spcBef>
              <a:buSzPct val="100000"/>
              <a:buFont typeface="Times Roman"/>
              <a:buChar char="•"/>
              <a:defRPr sz="3500">
                <a:latin typeface="Arial"/>
                <a:ea typeface="Arial"/>
                <a:cs typeface="Arial"/>
                <a:sym typeface="Arial"/>
              </a:defRPr>
            </a:pPr>
            <a:r>
              <a:t>SCFE commonly affects adolescent males and may present bilaterally</a:t>
            </a:r>
          </a:p>
          <a:p>
            <a:pPr marL="457200" indent="-317500" defTabSz="457200">
              <a:spcBef>
                <a:spcPts val="1200"/>
              </a:spcBef>
              <a:buSzPct val="100000"/>
              <a:buFont typeface="Times Roman"/>
              <a:buChar char="•"/>
              <a:defRPr sz="3500">
                <a:latin typeface="Arial"/>
                <a:ea typeface="Arial"/>
                <a:cs typeface="Arial"/>
                <a:sym typeface="Arial"/>
              </a:defRPr>
            </a:pPr>
            <a:r>
              <a:t>Bilateral involvement occurs in up to </a:t>
            </a:r>
            <a:r>
              <a:rPr b="1"/>
              <a:t>20–40%</a:t>
            </a:r>
            <a:r>
              <a:t> of cases</a:t>
            </a:r>
          </a:p>
          <a:p>
            <a:pPr marL="457200" indent="-317500" defTabSz="457200">
              <a:spcBef>
                <a:spcPts val="1200"/>
              </a:spcBef>
              <a:buSzPct val="100000"/>
              <a:buFont typeface="Times Roman"/>
              <a:buChar char="•"/>
              <a:defRPr sz="3500">
                <a:latin typeface="Arial"/>
                <a:ea typeface="Arial"/>
                <a:cs typeface="Arial"/>
                <a:sym typeface="Arial"/>
              </a:defRPr>
            </a:pPr>
            <a:r>
              <a:t>Prophylactic fixation of the contralateral hip reduces the risk of subsequent slip</a:t>
            </a:r>
          </a:p>
          <a:p>
            <a:pPr marL="457200" indent="-317500" defTabSz="457200">
              <a:spcBef>
                <a:spcPts val="1200"/>
              </a:spcBef>
              <a:buSzPct val="100000"/>
              <a:buFont typeface="Times Roman"/>
              <a:buChar char="•"/>
              <a:defRPr sz="3500">
                <a:latin typeface="Arial"/>
                <a:ea typeface="Arial"/>
                <a:cs typeface="Arial"/>
                <a:sym typeface="Arial"/>
              </a:defRPr>
            </a:pPr>
            <a:r>
              <a:t>In-situ screw fixation is the treatment of choice for stable SCFE</a:t>
            </a:r>
          </a:p>
          <a:p>
            <a:pPr marL="457200" indent="-317500" defTabSz="457200">
              <a:spcBef>
                <a:spcPts val="1200"/>
              </a:spcBef>
              <a:buSzPct val="100000"/>
              <a:buFont typeface="Times Roman"/>
              <a:buChar char="•"/>
              <a:defRPr sz="3500">
                <a:latin typeface="Arial"/>
                <a:ea typeface="Arial"/>
                <a:cs typeface="Arial"/>
                <a:sym typeface="Arial"/>
              </a:defRPr>
            </a:pPr>
            <a:r>
              <a:t>MRI helps in early diagnosis and assessment of stability</a:t>
            </a:r>
          </a:p>
          <a:p>
            <a:pPr marL="457200" indent="-317500" defTabSz="457200">
              <a:spcBef>
                <a:spcPts val="1200"/>
              </a:spcBef>
              <a:buSzPct val="100000"/>
              <a:buFont typeface="Times Roman"/>
              <a:buChar char="•"/>
              <a:defRPr sz="3500">
                <a:latin typeface="Arial"/>
                <a:ea typeface="Arial"/>
                <a:cs typeface="Arial"/>
                <a:sym typeface="Arial"/>
              </a:defRPr>
            </a:pPr>
            <a:r>
              <a:t>Early surgical intervention prevents complications such as avascular necrosis and chondrolysis</a:t>
            </a:r>
          </a:p>
        </p:txBody>
      </p:sp>
      <p:sp>
        <p:nvSpPr>
          <p:cNvPr id="112" name="CONCLUSION…"/>
          <p:cNvSpPr/>
          <p:nvPr/>
        </p:nvSpPr>
        <p:spPr>
          <a:xfrm>
            <a:off x="23122258" y="22174965"/>
            <a:ext cx="8601736" cy="7170438"/>
          </a:xfrm>
          <a:prstGeom prst="rect">
            <a:avLst/>
          </a:prstGeom>
          <a:solidFill>
            <a:srgbClr val="FFFFFF"/>
          </a:solidFill>
          <a:ln w="38100">
            <a:solidFill>
              <a:schemeClr val="accent1"/>
            </a:solidFill>
            <a:miter/>
          </a:ln>
          <a:extLst>
            <a:ext uri="{C572A759-6A51-4108-AA02-DFA0A04FC94B}">
              <ma14:wrappingTextBoxFlag xmlns:ma14="http://schemas.microsoft.com/office/mac/drawingml/2011/main" val="1"/>
            </a:ext>
          </a:extLst>
        </p:spPr>
        <p:txBody>
          <a:bodyPr lIns="123443" tIns="123443" rIns="123443" bIns="123443" anchor="ctr"/>
          <a:lstStyle/>
          <a:p>
            <a:pPr defTabSz="457200">
              <a:spcBef>
                <a:spcPts val="1600"/>
              </a:spcBef>
              <a:defRPr b="1" sz="3500">
                <a:latin typeface="Arial"/>
                <a:ea typeface="Arial"/>
                <a:cs typeface="Arial"/>
                <a:sym typeface="Arial"/>
              </a:defRPr>
            </a:pPr>
            <a:r>
              <a:t>CONCLUSION</a:t>
            </a:r>
          </a:p>
          <a:p>
            <a:pPr marL="457200" indent="-317500" defTabSz="457200">
              <a:spcBef>
                <a:spcPts val="1200"/>
              </a:spcBef>
              <a:buSzPct val="100000"/>
              <a:buFont typeface="Times Roman"/>
              <a:buChar char="•"/>
              <a:defRPr sz="3500">
                <a:latin typeface="Arial"/>
                <a:ea typeface="Arial"/>
                <a:cs typeface="Arial"/>
                <a:sym typeface="Arial"/>
              </a:defRPr>
            </a:pPr>
            <a:r>
              <a:t>Bilateral SCFE should always be considered in adolescent hip pain</a:t>
            </a:r>
          </a:p>
          <a:p>
            <a:pPr marL="457200" indent="-317500" defTabSz="457200">
              <a:spcBef>
                <a:spcPts val="1200"/>
              </a:spcBef>
              <a:buSzPct val="100000"/>
              <a:buFont typeface="Times Roman"/>
              <a:buChar char="•"/>
              <a:defRPr sz="3500">
                <a:latin typeface="Arial"/>
                <a:ea typeface="Arial"/>
                <a:cs typeface="Arial"/>
                <a:sym typeface="Arial"/>
              </a:defRPr>
            </a:pPr>
            <a:r>
              <a:t>Early diagnosis with appropriate imaging is essential</a:t>
            </a:r>
          </a:p>
          <a:p>
            <a:pPr marL="457200" indent="-317500" defTabSz="457200">
              <a:spcBef>
                <a:spcPts val="1200"/>
              </a:spcBef>
              <a:buSzPct val="100000"/>
              <a:buFont typeface="Times Roman"/>
              <a:buChar char="•"/>
              <a:defRPr sz="3500">
                <a:latin typeface="Arial"/>
                <a:ea typeface="Arial"/>
                <a:cs typeface="Arial"/>
                <a:sym typeface="Arial"/>
              </a:defRPr>
            </a:pPr>
            <a:r>
              <a:t>In-situ fixation using cannulated cancellous screws is safe and effective</a:t>
            </a:r>
          </a:p>
          <a:p>
            <a:pPr marL="457200" indent="-317500" defTabSz="457200">
              <a:spcBef>
                <a:spcPts val="1200"/>
              </a:spcBef>
              <a:buSzPct val="100000"/>
              <a:buFont typeface="Times Roman"/>
              <a:buChar char="•"/>
              <a:defRPr sz="3500">
                <a:latin typeface="Arial"/>
                <a:ea typeface="Arial"/>
                <a:cs typeface="Arial"/>
                <a:sym typeface="Arial"/>
              </a:defRPr>
            </a:pPr>
            <a:r>
              <a:t>Prophylactic fixation of the contralateral hip prevents future slips and improves outcomes</a:t>
            </a:r>
          </a:p>
          <a:p>
            <a:pPr marL="457200" indent="-317500" defTabSz="457200">
              <a:spcBef>
                <a:spcPts val="1200"/>
              </a:spcBef>
              <a:buSzPct val="100000"/>
              <a:buFont typeface="Times Roman"/>
              <a:buChar char="•"/>
              <a:defRPr sz="3000">
                <a:latin typeface="Arial"/>
                <a:ea typeface="Arial"/>
                <a:cs typeface="Arial"/>
                <a:sym typeface="Arial"/>
              </a:defRPr>
            </a:pPr>
          </a:p>
        </p:txBody>
      </p:sp>
      <p:sp>
        <p:nvSpPr>
          <p:cNvPr id="113" name="REFERENCES…"/>
          <p:cNvSpPr/>
          <p:nvPr/>
        </p:nvSpPr>
        <p:spPr>
          <a:xfrm>
            <a:off x="23122258" y="29596560"/>
            <a:ext cx="8509395" cy="8208987"/>
          </a:xfrm>
          <a:prstGeom prst="rect">
            <a:avLst/>
          </a:prstGeom>
          <a:solidFill>
            <a:srgbClr val="FFFFFF"/>
          </a:solidFill>
          <a:ln w="38100">
            <a:solidFill>
              <a:schemeClr val="accent1"/>
            </a:solidFill>
            <a:miter/>
          </a:ln>
          <a:extLst>
            <a:ext uri="{C572A759-6A51-4108-AA02-DFA0A04FC94B}">
              <ma14:wrappingTextBoxFlag xmlns:ma14="http://schemas.microsoft.com/office/mac/drawingml/2011/main" val="1"/>
            </a:ext>
          </a:extLst>
        </p:spPr>
        <p:txBody>
          <a:bodyPr lIns="123443" tIns="123443" rIns="123443" bIns="123443" anchor="ctr"/>
          <a:lstStyle/>
          <a:p>
            <a:pPr defTabSz="457200">
              <a:spcBef>
                <a:spcPts val="1600"/>
              </a:spcBef>
              <a:defRPr b="1" sz="3000">
                <a:latin typeface="Arial"/>
                <a:ea typeface="Arial"/>
                <a:cs typeface="Arial"/>
                <a:sym typeface="Arial"/>
              </a:defRPr>
            </a:pPr>
            <a:r>
              <a:t> REFERENCES</a:t>
            </a:r>
          </a:p>
          <a:p>
            <a:pPr marL="457200" indent="-317500" defTabSz="457200">
              <a:spcBef>
                <a:spcPts val="1200"/>
              </a:spcBef>
              <a:buSzPct val="100000"/>
              <a:buFont typeface="Times Roman"/>
              <a:buAutoNum type="arabicPeriod" startAt="1"/>
              <a:defRPr sz="3000">
                <a:latin typeface="Arial"/>
                <a:ea typeface="Arial"/>
                <a:cs typeface="Arial"/>
                <a:sym typeface="Arial"/>
              </a:defRPr>
            </a:pPr>
            <a:r>
              <a:t>Loder RT, et al. Slipped capital femoral epiphysis. </a:t>
            </a:r>
            <a:r>
              <a:rPr i="1"/>
              <a:t>J Bone Joint Surg Am</a:t>
            </a:r>
            <a:r>
              <a:t>. 2000;82(8):1170–1188.</a:t>
            </a:r>
          </a:p>
          <a:p>
            <a:pPr marL="457200" indent="-317500" defTabSz="457200">
              <a:spcBef>
                <a:spcPts val="1200"/>
              </a:spcBef>
              <a:buSzPct val="100000"/>
              <a:buFont typeface="Times Roman"/>
              <a:buAutoNum type="arabicPeriod" startAt="1"/>
              <a:defRPr sz="3000">
                <a:latin typeface="Arial"/>
                <a:ea typeface="Arial"/>
                <a:cs typeface="Arial"/>
                <a:sym typeface="Arial"/>
              </a:defRPr>
            </a:pPr>
            <a:r>
              <a:t>Aronsson DD, et al. Slipped capital femoral epiphysis: current concepts. </a:t>
            </a:r>
            <a:r>
              <a:rPr i="1"/>
              <a:t>J Am Acad Orthop Surg</a:t>
            </a:r>
            <a:r>
              <a:t>. 2006;14(12):666–679.</a:t>
            </a:r>
          </a:p>
          <a:p>
            <a:pPr marL="457200" indent="-317500" defTabSz="457200">
              <a:spcBef>
                <a:spcPts val="1200"/>
              </a:spcBef>
              <a:buSzPct val="100000"/>
              <a:buFont typeface="Times Roman"/>
              <a:buAutoNum type="arabicPeriod" startAt="1"/>
              <a:defRPr sz="3000">
                <a:latin typeface="Arial"/>
                <a:ea typeface="Arial"/>
                <a:cs typeface="Arial"/>
                <a:sym typeface="Arial"/>
              </a:defRPr>
            </a:pPr>
            <a:r>
              <a:t>Kocher MS, et al. Prophylactic pinning of the contralateral hip in SCFE. </a:t>
            </a:r>
            <a:r>
              <a:rPr i="1"/>
              <a:t>Clin Orthop Relat Res</a:t>
            </a:r>
            <a:r>
              <a:t>. 2004;427:157–164.</a:t>
            </a:r>
          </a:p>
          <a:p>
            <a:pPr marL="457200" indent="-317500" defTabSz="457200">
              <a:spcBef>
                <a:spcPts val="1200"/>
              </a:spcBef>
              <a:buSzPct val="100000"/>
              <a:buFont typeface="Times Roman"/>
              <a:buAutoNum type="arabicPeriod" startAt="1"/>
              <a:defRPr sz="3000">
                <a:latin typeface="Arial"/>
                <a:ea typeface="Arial"/>
                <a:cs typeface="Arial"/>
                <a:sym typeface="Arial"/>
              </a:defRPr>
            </a:pPr>
            <a:r>
              <a:t>Weinstein SL. </a:t>
            </a:r>
            <a:r>
              <a:rPr i="1"/>
              <a:t>Lovell and Winter’s Pediatric Orthopaedics</a:t>
            </a:r>
            <a:r>
              <a:t>. 7th ed. Lippincott Williams &amp; Wilkins; 2014.</a:t>
            </a:r>
          </a:p>
        </p:txBody>
      </p:sp>
      <p:sp>
        <p:nvSpPr>
          <p:cNvPr id="114" name="ACKNOWLEDGEMENT…"/>
          <p:cNvSpPr/>
          <p:nvPr/>
        </p:nvSpPr>
        <p:spPr>
          <a:xfrm>
            <a:off x="23210958" y="38355153"/>
            <a:ext cx="8635998" cy="4195807"/>
          </a:xfrm>
          <a:prstGeom prst="rect">
            <a:avLst/>
          </a:prstGeom>
          <a:solidFill>
            <a:srgbClr val="FFFFFF"/>
          </a:solidFill>
          <a:ln w="38100">
            <a:solidFill>
              <a:schemeClr val="accent1"/>
            </a:solidFill>
            <a:miter/>
          </a:ln>
          <a:extLst>
            <a:ext uri="{C572A759-6A51-4108-AA02-DFA0A04FC94B}">
              <ma14:wrappingTextBoxFlag xmlns:ma14="http://schemas.microsoft.com/office/mac/drawingml/2011/main" val="1"/>
            </a:ext>
          </a:extLst>
        </p:spPr>
        <p:txBody>
          <a:bodyPr lIns="123443" tIns="123443" rIns="123443" bIns="123443" anchor="ctr"/>
          <a:lstStyle/>
          <a:p>
            <a:pPr defTabSz="457200">
              <a:spcBef>
                <a:spcPts val="1600"/>
              </a:spcBef>
              <a:defRPr b="1" sz="3500">
                <a:latin typeface="Arial"/>
                <a:ea typeface="Arial"/>
                <a:cs typeface="Arial"/>
                <a:sym typeface="Arial"/>
              </a:defRPr>
            </a:pPr>
            <a:r>
              <a:t>ACKNOWLEDGEMENT</a:t>
            </a:r>
          </a:p>
          <a:p>
            <a:pPr defTabSz="457200">
              <a:spcBef>
                <a:spcPts val="1200"/>
              </a:spcBef>
              <a:defRPr sz="3500">
                <a:latin typeface="Arial"/>
                <a:ea typeface="Arial"/>
                <a:cs typeface="Arial"/>
                <a:sym typeface="Arial"/>
              </a:defRPr>
            </a:pPr>
            <a:r>
              <a:t>I express my gratitude to HOD and faculty  from department of orthopaedics,I sincerely thank the Radiology,</a:t>
            </a:r>
            <a:r>
              <a:rPr b="1"/>
              <a:t>GSL Medical College &amp; General Hospital</a:t>
            </a:r>
            <a:r>
              <a:t>, for their guidance and support.</a:t>
            </a:r>
          </a:p>
        </p:txBody>
      </p:sp>
      <p:pic>
        <p:nvPicPr>
          <p:cNvPr id="115" name="pasted-movie.png" descr="pasted-movie.png"/>
          <p:cNvPicPr>
            <a:picLocks noChangeAspect="1"/>
          </p:cNvPicPr>
          <p:nvPr/>
        </p:nvPicPr>
        <p:blipFill>
          <a:blip r:embed="rId2">
            <a:extLst/>
          </a:blip>
          <a:srcRect l="0" t="0" r="0" b="10407"/>
          <a:stretch>
            <a:fillRect/>
          </a:stretch>
        </p:blipFill>
        <p:spPr>
          <a:xfrm>
            <a:off x="4750452" y="35533206"/>
            <a:ext cx="6761363" cy="6956206"/>
          </a:xfrm>
          <a:prstGeom prst="rect">
            <a:avLst/>
          </a:prstGeom>
          <a:ln w="12700">
            <a:miter lim="400000"/>
          </a:ln>
        </p:spPr>
      </p:pic>
      <p:pic>
        <p:nvPicPr>
          <p:cNvPr id="116" name="pasted-movie.png" descr="pasted-movie.png"/>
          <p:cNvPicPr>
            <a:picLocks noChangeAspect="1"/>
          </p:cNvPicPr>
          <p:nvPr/>
        </p:nvPicPr>
        <p:blipFill>
          <a:blip r:embed="rId3">
            <a:extLst/>
          </a:blip>
          <a:srcRect l="0" t="0" r="0" b="0"/>
          <a:stretch>
            <a:fillRect/>
          </a:stretch>
        </p:blipFill>
        <p:spPr>
          <a:xfrm>
            <a:off x="12115982" y="26107627"/>
            <a:ext cx="10870361" cy="5548413"/>
          </a:xfrm>
          <a:prstGeom prst="rect">
            <a:avLst/>
          </a:prstGeom>
          <a:ln w="12700">
            <a:miter lim="400000"/>
          </a:ln>
        </p:spPr>
      </p:pic>
      <p:sp>
        <p:nvSpPr>
          <p:cNvPr id="117" name="Right side"/>
          <p:cNvSpPr txBox="1"/>
          <p:nvPr/>
        </p:nvSpPr>
        <p:spPr>
          <a:xfrm>
            <a:off x="12093119" y="25390011"/>
            <a:ext cx="2531574" cy="740347"/>
          </a:xfrm>
          <a:prstGeom prst="rect">
            <a:avLst/>
          </a:prstGeom>
          <a:ln w="25400">
            <a:miter lim="400000"/>
          </a:ln>
          <a:extLst>
            <a:ext uri="{C572A759-6A51-4108-AA02-DFA0A04FC94B}">
              <ma14:wrappingTextBoxFlag xmlns:ma14="http://schemas.microsoft.com/office/mac/drawingml/2011/main" val="1"/>
            </a:ext>
          </a:extLst>
        </p:spPr>
        <p:txBody>
          <a:bodyPr wrap="none" lIns="123443" tIns="123443" rIns="123443" bIns="123443">
            <a:spAutoFit/>
          </a:bodyPr>
          <a:lstStyle>
            <a:lvl1pPr>
              <a:defRPr b="1" sz="3500">
                <a:latin typeface="Arial"/>
                <a:ea typeface="Arial"/>
                <a:cs typeface="Arial"/>
                <a:sym typeface="Arial"/>
              </a:defRPr>
            </a:lvl1pPr>
          </a:lstStyle>
          <a:p>
            <a:pPr/>
            <a:r>
              <a:t>Right side </a:t>
            </a:r>
          </a:p>
        </p:txBody>
      </p:sp>
      <p:pic>
        <p:nvPicPr>
          <p:cNvPr id="118" name="pasted-movie.png" descr="pasted-movie.png"/>
          <p:cNvPicPr>
            <a:picLocks noChangeAspect="1"/>
          </p:cNvPicPr>
          <p:nvPr/>
        </p:nvPicPr>
        <p:blipFill>
          <a:blip r:embed="rId4">
            <a:extLst/>
          </a:blip>
          <a:stretch>
            <a:fillRect/>
          </a:stretch>
        </p:blipFill>
        <p:spPr>
          <a:xfrm>
            <a:off x="12082951" y="32581128"/>
            <a:ext cx="10936469" cy="5548313"/>
          </a:xfrm>
          <a:prstGeom prst="rect">
            <a:avLst/>
          </a:prstGeom>
          <a:ln w="12700">
            <a:miter lim="400000"/>
          </a:ln>
        </p:spPr>
      </p:pic>
      <p:sp>
        <p:nvSpPr>
          <p:cNvPr id="119" name="Left side"/>
          <p:cNvSpPr txBox="1"/>
          <p:nvPr/>
        </p:nvSpPr>
        <p:spPr>
          <a:xfrm>
            <a:off x="12057674" y="31828171"/>
            <a:ext cx="2210788" cy="740347"/>
          </a:xfrm>
          <a:prstGeom prst="rect">
            <a:avLst/>
          </a:prstGeom>
          <a:ln w="25400">
            <a:miter lim="400000"/>
          </a:ln>
          <a:extLst>
            <a:ext uri="{C572A759-6A51-4108-AA02-DFA0A04FC94B}">
              <ma14:wrappingTextBoxFlag xmlns:ma14="http://schemas.microsoft.com/office/mac/drawingml/2011/main" val="1"/>
            </a:ext>
          </a:extLst>
        </p:spPr>
        <p:txBody>
          <a:bodyPr wrap="none" lIns="123443" tIns="123443" rIns="123443" bIns="123443">
            <a:spAutoFit/>
          </a:bodyPr>
          <a:lstStyle>
            <a:lvl1pPr>
              <a:defRPr b="1" sz="3500">
                <a:latin typeface="Arial"/>
                <a:ea typeface="Arial"/>
                <a:cs typeface="Arial"/>
                <a:sym typeface="Arial"/>
              </a:defRPr>
            </a:lvl1pPr>
          </a:lstStyle>
          <a:p>
            <a:pPr/>
            <a:r>
              <a:t>Left side </a:t>
            </a:r>
          </a:p>
        </p:txBody>
      </p:sp>
      <p:pic>
        <p:nvPicPr>
          <p:cNvPr id="120" name="13c096fe-5f7b-416f-bd26-2e2a70ec6f00.jpeg" descr="13c096fe-5f7b-416f-bd26-2e2a70ec6f00.jpeg"/>
          <p:cNvPicPr>
            <a:picLocks noChangeAspect="1"/>
          </p:cNvPicPr>
          <p:nvPr/>
        </p:nvPicPr>
        <p:blipFill>
          <a:blip r:embed="rId5">
            <a:extLst/>
          </a:blip>
          <a:stretch>
            <a:fillRect/>
          </a:stretch>
        </p:blipFill>
        <p:spPr>
          <a:xfrm>
            <a:off x="12115982" y="38898182"/>
            <a:ext cx="10870407" cy="3609314"/>
          </a:xfrm>
          <a:prstGeom prst="rect">
            <a:avLst/>
          </a:prstGeom>
          <a:ln w="12700">
            <a:miter lim="400000"/>
          </a:ln>
        </p:spPr>
      </p:pic>
      <p:sp>
        <p:nvSpPr>
          <p:cNvPr id="121" name="Post op x ray"/>
          <p:cNvSpPr txBox="1"/>
          <p:nvPr/>
        </p:nvSpPr>
        <p:spPr>
          <a:xfrm>
            <a:off x="12045358" y="38097989"/>
            <a:ext cx="3174450" cy="740347"/>
          </a:xfrm>
          <a:prstGeom prst="rect">
            <a:avLst/>
          </a:prstGeom>
          <a:ln w="25400">
            <a:miter lim="400000"/>
          </a:ln>
          <a:extLst>
            <a:ext uri="{C572A759-6A51-4108-AA02-DFA0A04FC94B}">
              <ma14:wrappingTextBoxFlag xmlns:ma14="http://schemas.microsoft.com/office/mac/drawingml/2011/main" val="1"/>
            </a:ext>
          </a:extLst>
        </p:spPr>
        <p:txBody>
          <a:bodyPr wrap="none" lIns="123443" tIns="123443" rIns="123443" bIns="123443">
            <a:spAutoFit/>
          </a:bodyPr>
          <a:lstStyle>
            <a:lvl1pPr>
              <a:defRPr b="1" sz="3500">
                <a:latin typeface="Arial"/>
                <a:ea typeface="Arial"/>
                <a:cs typeface="Arial"/>
                <a:sym typeface="Arial"/>
              </a:defRPr>
            </a:lvl1pPr>
          </a:lstStyle>
          <a:p>
            <a:pPr/>
            <a:r>
              <a:t>Post op x ray </a:t>
            </a:r>
          </a:p>
        </p:txBody>
      </p:sp>
      <p:pic>
        <p:nvPicPr>
          <p:cNvPr id="122" name="pasted-movie.png" descr="pasted-movie.png"/>
          <p:cNvPicPr>
            <a:picLocks noChangeAspect="1"/>
          </p:cNvPicPr>
          <p:nvPr/>
        </p:nvPicPr>
        <p:blipFill>
          <a:blip r:embed="rId6">
            <a:extLst/>
          </a:blip>
          <a:stretch>
            <a:fillRect/>
          </a:stretch>
        </p:blipFill>
        <p:spPr>
          <a:xfrm>
            <a:off x="11692688" y="21307019"/>
            <a:ext cx="11033243" cy="3456508"/>
          </a:xfrm>
          <a:prstGeom prst="rect">
            <a:avLst/>
          </a:prstGeom>
          <a:ln w="12700">
            <a:miter lim="400000"/>
          </a:ln>
        </p:spPr>
      </p:pic>
      <p:sp>
        <p:nvSpPr>
          <p:cNvPr id="123" name="Pre op x ray"/>
          <p:cNvSpPr txBox="1"/>
          <p:nvPr/>
        </p:nvSpPr>
        <p:spPr>
          <a:xfrm>
            <a:off x="11699122" y="20582636"/>
            <a:ext cx="2927892" cy="780289"/>
          </a:xfrm>
          <a:prstGeom prst="rect">
            <a:avLst/>
          </a:prstGeom>
          <a:ln w="25400">
            <a:miter lim="400000"/>
          </a:ln>
          <a:extLst>
            <a:ext uri="{C572A759-6A51-4108-AA02-DFA0A04FC94B}">
              <ma14:wrappingTextBoxFlag xmlns:ma14="http://schemas.microsoft.com/office/mac/drawingml/2011/main" val="1"/>
            </a:ext>
          </a:extLst>
        </p:spPr>
        <p:txBody>
          <a:bodyPr wrap="none" lIns="123443" tIns="123443" rIns="123443" bIns="123443">
            <a:spAutoFit/>
          </a:bodyPr>
          <a:lstStyle>
            <a:lvl1pPr>
              <a:defRPr b="1" sz="3500"/>
            </a:lvl1pPr>
          </a:lstStyle>
          <a:p>
            <a:pPr/>
            <a:r>
              <a:t>Pre op x ray </a:t>
            </a:r>
          </a:p>
        </p:txBody>
      </p:sp>
      <p:pic>
        <p:nvPicPr>
          <p:cNvPr id="124" name="b761a787-126b-4f54-8fbf-9dfbc0a4b729.jpeg" descr="b761a787-126b-4f54-8fbf-9dfbc0a4b729.jpeg"/>
          <p:cNvPicPr>
            <a:picLocks noChangeAspect="1"/>
          </p:cNvPicPr>
          <p:nvPr/>
        </p:nvPicPr>
        <p:blipFill>
          <a:blip r:embed="rId7">
            <a:extLst/>
          </a:blip>
          <a:stretch>
            <a:fillRect/>
          </a:stretch>
        </p:blipFill>
        <p:spPr>
          <a:xfrm>
            <a:off x="605154" y="35533206"/>
            <a:ext cx="3906030" cy="6956030"/>
          </a:xfrm>
          <a:prstGeom prst="rect">
            <a:avLst/>
          </a:prstGeom>
          <a:ln w="12700">
            <a:miter lim="400000"/>
          </a:ln>
        </p:spPr>
      </p:pic>
      <p:sp>
        <p:nvSpPr>
          <p:cNvPr id="125" name="Southwick angle Left hip 23’ , Right hip 11’"/>
          <p:cNvSpPr txBox="1"/>
          <p:nvPr/>
        </p:nvSpPr>
        <p:spPr>
          <a:xfrm>
            <a:off x="13360517" y="24832283"/>
            <a:ext cx="7397200" cy="666224"/>
          </a:xfrm>
          <a:prstGeom prst="rect">
            <a:avLst/>
          </a:prstGeom>
          <a:ln w="25400">
            <a:miter lim="400000"/>
          </a:ln>
          <a:extLst>
            <a:ext uri="{C572A759-6A51-4108-AA02-DFA0A04FC94B}">
              <ma14:wrappingTextBoxFlag xmlns:ma14="http://schemas.microsoft.com/office/mac/drawingml/2011/main" val="1"/>
            </a:ext>
          </a:extLst>
        </p:spPr>
        <p:txBody>
          <a:bodyPr wrap="none" lIns="123443" tIns="123443" rIns="123443" bIns="123443">
            <a:spAutoFit/>
          </a:bodyPr>
          <a:lstStyle>
            <a:lvl1pPr>
              <a:defRPr sz="3000">
                <a:latin typeface="Arial"/>
                <a:ea typeface="Arial"/>
                <a:cs typeface="Arial"/>
                <a:sym typeface="Arial"/>
              </a:defRPr>
            </a:lvl1pPr>
          </a:lstStyle>
          <a:p>
            <a:pPr/>
            <a:r>
              <a:t>Southwick angle Left hip 23’ , Right hip 11’</a:t>
            </a:r>
          </a:p>
        </p:txBody>
      </p:sp>
      <p:pic>
        <p:nvPicPr>
          <p:cNvPr id="126" name="pasted-movie.png" descr="pasted-movie.png"/>
          <p:cNvPicPr>
            <a:picLocks noChangeAspect="1"/>
          </p:cNvPicPr>
          <p:nvPr/>
        </p:nvPicPr>
        <p:blipFill>
          <a:blip r:embed="rId8">
            <a:extLst/>
          </a:blip>
          <a:stretch>
            <a:fillRect/>
          </a:stretch>
        </p:blipFill>
        <p:spPr>
          <a:xfrm>
            <a:off x="18988332" y="16726241"/>
            <a:ext cx="2834751" cy="3730204"/>
          </a:xfrm>
          <a:prstGeom prst="rect">
            <a:avLst/>
          </a:prstGeom>
          <a:ln w="12700">
            <a:miter lim="400000"/>
          </a:ln>
        </p:spPr>
      </p:pic>
      <p:pic>
        <p:nvPicPr>
          <p:cNvPr id="127" name="pasted-movie.png" descr="pasted-movie.png"/>
          <p:cNvPicPr>
            <a:picLocks noChangeAspect="1"/>
          </p:cNvPicPr>
          <p:nvPr/>
        </p:nvPicPr>
        <p:blipFill>
          <a:blip r:embed="rId9">
            <a:extLst/>
          </a:blip>
          <a:stretch>
            <a:fillRect/>
          </a:stretch>
        </p:blipFill>
        <p:spPr>
          <a:xfrm>
            <a:off x="12058775" y="16833239"/>
            <a:ext cx="2927892" cy="3847174"/>
          </a:xfrm>
          <a:prstGeom prst="rect">
            <a:avLst/>
          </a:prstGeom>
          <a:ln w="12700">
            <a:miter lim="400000"/>
          </a:ln>
        </p:spPr>
      </p:pic>
      <p:pic>
        <p:nvPicPr>
          <p:cNvPr id="128" name="pasted-movie.png" descr="pasted-movie.png"/>
          <p:cNvPicPr>
            <a:picLocks noChangeAspect="1"/>
          </p:cNvPicPr>
          <p:nvPr/>
        </p:nvPicPr>
        <p:blipFill>
          <a:blip r:embed="rId10">
            <a:extLst/>
          </a:blip>
          <a:stretch>
            <a:fillRect/>
          </a:stretch>
        </p:blipFill>
        <p:spPr>
          <a:xfrm>
            <a:off x="15525476" y="16823808"/>
            <a:ext cx="2834750" cy="3743323"/>
          </a:xfrm>
          <a:prstGeom prst="rect">
            <a:avLst/>
          </a:prstGeom>
          <a:ln w="12700">
            <a:miter lim="400000"/>
          </a:ln>
        </p:spPr>
      </p:pic>
      <p:sp>
        <p:nvSpPr>
          <p:cNvPr id="129" name="Intra op pics"/>
          <p:cNvSpPr txBox="1"/>
          <p:nvPr/>
        </p:nvSpPr>
        <p:spPr>
          <a:xfrm>
            <a:off x="11907766" y="15965413"/>
            <a:ext cx="2902281" cy="740347"/>
          </a:xfrm>
          <a:prstGeom prst="rect">
            <a:avLst/>
          </a:prstGeom>
          <a:ln w="25400">
            <a:miter lim="400000"/>
          </a:ln>
          <a:extLst>
            <a:ext uri="{C572A759-6A51-4108-AA02-DFA0A04FC94B}">
              <ma14:wrappingTextBoxFlag xmlns:ma14="http://schemas.microsoft.com/office/mac/drawingml/2011/main" val="1"/>
            </a:ext>
          </a:extLst>
        </p:spPr>
        <p:txBody>
          <a:bodyPr wrap="none" lIns="123443" tIns="123443" rIns="123443" bIns="123443">
            <a:spAutoFit/>
          </a:bodyPr>
          <a:lstStyle>
            <a:lvl1pPr>
              <a:defRPr b="1" sz="3500">
                <a:latin typeface="Arial"/>
                <a:ea typeface="Arial"/>
                <a:cs typeface="Arial"/>
                <a:sym typeface="Arial"/>
              </a:defRPr>
            </a:lvl1pPr>
          </a:lstStyle>
          <a:p>
            <a:pPr/>
            <a:r>
              <a:t>Intra op pics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38100" cap="flat">
          <a:solidFill>
            <a:schemeClr val="accent1"/>
          </a:solidFill>
          <a:prstDash val="solid"/>
          <a:miter lim="800000"/>
        </a:ln>
        <a:effectLst/>
        <a:sp3d/>
      </a:spPr>
      <a:bodyPr rot="0" spcFirstLastPara="1" vertOverflow="overflow" horzOverflow="overflow" vert="horz" wrap="square" lIns="123443" tIns="123443" rIns="123443" bIns="123443" numCol="1" spcCol="38100" rtlCol="0" anchor="ctr" upright="0">
        <a:spAutoFit/>
      </a:bodyPr>
      <a:lstStyle>
        <a:defPPr marL="0" marR="0" indent="0" algn="l" defTabSz="5852160"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81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25400" cap="flat">
          <a:noFill/>
          <a:miter lim="400000"/>
        </a:ln>
        <a:effectLst/>
        <a:sp3d/>
      </a:spPr>
      <a:bodyPr rot="0" spcFirstLastPara="1" vertOverflow="overflow" horzOverflow="overflow" vert="horz" wrap="square" lIns="123443" tIns="123443" rIns="123443" bIns="123443" numCol="1" spcCol="38100" rtlCol="0" anchor="t" upright="0">
        <a:spAutoFit/>
      </a:bodyPr>
      <a:lstStyle>
        <a:defPPr marL="0" marR="0" indent="0" algn="l" defTabSz="5852160"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38100" cap="flat">
          <a:solidFill>
            <a:schemeClr val="accent1"/>
          </a:solidFill>
          <a:prstDash val="solid"/>
          <a:miter lim="800000"/>
        </a:ln>
        <a:effectLst/>
        <a:sp3d/>
      </a:spPr>
      <a:bodyPr rot="0" spcFirstLastPara="1" vertOverflow="overflow" horzOverflow="overflow" vert="horz" wrap="square" lIns="123443" tIns="123443" rIns="123443" bIns="123443" numCol="1" spcCol="38100" rtlCol="0" anchor="ctr" upright="0">
        <a:spAutoFit/>
      </a:bodyPr>
      <a:lstStyle>
        <a:defPPr marL="0" marR="0" indent="0" algn="l" defTabSz="5852160"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81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25400" cap="flat">
          <a:noFill/>
          <a:miter lim="400000"/>
        </a:ln>
        <a:effectLst/>
        <a:sp3d/>
      </a:spPr>
      <a:bodyPr rot="0" spcFirstLastPara="1" vertOverflow="overflow" horzOverflow="overflow" vert="horz" wrap="square" lIns="123443" tIns="123443" rIns="123443" bIns="123443" numCol="1" spcCol="38100" rtlCol="0" anchor="t" upright="0">
        <a:spAutoFit/>
      </a:bodyPr>
      <a:lstStyle>
        <a:defPPr marL="0" marR="0" indent="0" algn="l" defTabSz="5852160" rtl="0" fontAlgn="auto" latinLnBrk="0" hangingPunct="0">
          <a:lnSpc>
            <a:spcPct val="100000"/>
          </a:lnSpc>
          <a:spcBef>
            <a:spcPts val="0"/>
          </a:spcBef>
          <a:spcAft>
            <a:spcPts val="0"/>
          </a:spcAft>
          <a:buClrTx/>
          <a:buSzTx/>
          <a:buFontTx/>
          <a:buNone/>
          <a:tabLst/>
          <a:defRPr b="0" baseline="0" cap="none" i="0" spc="0" strike="noStrike" sz="114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