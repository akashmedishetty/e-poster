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e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>
  <p:sldMasterIdLst>
    <p:sldMasterId id="2147483660" r:id="rId1"/>
  </p:sldMasterIdLst>
  <p:notesMasterIdLst>
    <p:notesMasterId r:id="rId2"/>
  </p:notesMasterIdLst>
  <p:sldIdLst>
    <p:sldId id="271" r:id="rId3"/>
    <p:sldId id="272" r:id="rId4"/>
    <p:sldId id="273" r:id="rId5"/>
    <p:sldId id="274" r:id="rId6"/>
    <p:sldId id="275" r:id="rId7"/>
    <p:sldId id="276" r:id="rId8"/>
    <p:sldId id="277" r:id="rId9"/>
    <p:sldId id="278" r:id="rId10"/>
    <p:sldId id="279" r:id="rId11"/>
    <p:sldId id="280" r:id="rId12"/>
    <p:sldId id="281" r:id="rId13"/>
    <p:sldId id="282" r:id="rId14"/>
    <p:sldId id="283" r:id="rId15"/>
    <p:sldId id="284" r:id="rId16"/>
  </p:sldIdLst>
  <p:sldSz type="screen16x9" cy="6858000" cx="12192000"/>
  <p:notesSz cx="6858000" cy="9144000"/>
  <p:defaultTextStyle>
    <a:defPPr>
      <a:defRPr lang="en-US"/>
    </a:defPPr>
    <a:lvl1pPr algn="l" defTabSz="914400" eaLnBrk="1" hangingPunct="1" latinLnBrk="0" marL="0" rtl="0">
      <a:defRPr sz="1800" kern="12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sz="1800" kern="12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sz="1800" kern="12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sz="1800" kern="12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sz="1800" kern="12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sz="18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8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8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 xmlns:r="http://schemas.openxmlformats.org/officeDocument/2006/relationships" xmlns:a="http://schemas.openxmlformats.org/drawing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r="http://schemas.openxmlformats.org/officeDocument/2006/relationships" xmlns:a="http://schemas.openxmlformats.org/drawingml/2006/main">
  <p:normalViewPr>
    <p:restoredLeft sz="14995" autoAdjust="0"/>
    <p:restoredTop sz="94660"/>
  </p:normalViewPr>
  <p:slideViewPr>
    <p:cSldViewPr snapToGrid="0">
      <p:cViewPr varScale="1">
        <p:scale>
          <a:sx n="74" d="100"/>
          <a:sy n="74" d="100"/>
        </p:scale>
        <p:origin x="1042" y="67"/>
      </p:cViewPr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tableStyles" Target="tableStyles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5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9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1"/>
            <a:ext cx="3076575" cy="512763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670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9" y="1"/>
            <a:ext cx="3076575" cy="512763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lstStyle>
            <a:lvl1pPr algn="r">
              <a:defRPr sz="1100"/>
            </a:lvl1pPr>
          </a:lstStyle>
          <a:p>
            <a:endParaRPr lang="en-US"/>
          </a:p>
        </p:txBody>
      </p:sp>
      <p:sp>
        <p:nvSpPr>
          <p:cNvPr id="1048671" name="Rectangle 4"/>
          <p:cNvSpPr>
            <a:spLocks noChangeAspect="1" noRot="1" noGrp="1" noChangeArrowheads="1" noTextEdit="1"/>
          </p:cNvSpPr>
          <p:nvPr>
            <p:ph type="sldImg" idx="2"/>
          </p:nvPr>
        </p:nvSpPr>
        <p:spPr bwMode="auto">
          <a:xfrm>
            <a:off x="990600" y="766763"/>
            <a:ext cx="5118100" cy="3838575"/>
          </a:xfrm>
          <a:prstGeom prst="rect"/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1048672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4" y="4862514"/>
            <a:ext cx="5680075" cy="4605337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048673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9720264"/>
            <a:ext cx="3076575" cy="512762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b" anchorCtr="0" bIns="45745" compatLnSpc="1" lIns="91492" numCol="1" rIns="91492" tIns="45745" vert="horz" wrap="square">
            <a:prstTxWarp prst="textNoShape"/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674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9" y="9720264"/>
            <a:ext cx="3076575" cy="512762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b" anchorCtr="0" bIns="45745" compatLnSpc="1" lIns="91492" numCol="1" rIns="91492" tIns="45745" vert="horz" wrap="square">
            <a:prstTxWarp prst="textNoShape"/>
          </a:bodyPr>
          <a:lstStyle>
            <a:lvl1pPr algn="r">
              <a:defRPr sz="1100"/>
            </a:lvl1pPr>
          </a:lstStyle>
          <a:p>
            <a:fld id="{A9A0EA98-5831-4853-B862-C702E6EB345C}" type="slidenum">
              <a:rPr lang="en-US"/>
              <a:t>‹#›</a:t>
            </a:fld>
            <a:endParaRPr lang="en-US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notesStyle>
    <a:lvl1pPr algn="l" fontAlgn="base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algn="l" fontAlgn="base" marL="4572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algn="l" fontAlgn="base" marL="9144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algn="l" fontAlgn="base" marL="13716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algn="l" fontAlgn="base" marL="18288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algn="l" defTabSz="914400" eaLnBrk="1" hangingPunct="1" latinLnBrk="0" marL="2286000" rtl="0">
      <a:defRPr sz="12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2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2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">
  <p:cSld name="Title Slide">
    <p:spTree>
      <p:nvGrpSpPr>
        <p:cNvPr id="3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8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/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48609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/>
        </p:spPr>
        <p:txBody>
          <a:bodyPr/>
          <a:lstStyle>
            <a:lvl1pPr algn="ctr" indent="0" marL="0">
              <a:buNone/>
              <a:defRPr sz="2400"/>
            </a:lvl1pPr>
            <a:lvl2pPr algn="ctr" indent="0" marL="457200">
              <a:buNone/>
              <a:defRPr sz="2000"/>
            </a:lvl2pPr>
            <a:lvl3pPr algn="ctr" indent="0" marL="914400">
              <a:buNone/>
              <a:defRPr sz="1800"/>
            </a:lvl3pPr>
            <a:lvl4pPr algn="ctr" indent="0" marL="1371600">
              <a:buNone/>
              <a:defRPr sz="1600"/>
            </a:lvl4pPr>
            <a:lvl5pPr algn="ctr" indent="0" marL="1828800">
              <a:buNone/>
              <a:defRPr sz="1600"/>
            </a:lvl5pPr>
            <a:lvl6pPr algn="ctr" indent="0" marL="2286000">
              <a:buNone/>
              <a:defRPr sz="1600"/>
            </a:lvl6pPr>
            <a:lvl7pPr algn="ctr" indent="0" marL="2743200">
              <a:buNone/>
              <a:defRPr sz="1600"/>
            </a:lvl7pPr>
            <a:lvl8pPr algn="ctr" indent="0" marL="3200400">
              <a:buNone/>
              <a:defRPr sz="1600"/>
            </a:lvl8pPr>
            <a:lvl9pPr algn="ctr" indent="0" marL="3657600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1048610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/>
        </p:spPr>
        <p:txBody>
          <a:bodyPr/>
          <a:p>
            <a:fld id="{FD73274A-A2CD-4D7F-B977-66E290A1AB78}" type="datetimeFigureOut">
              <a:rPr lang="en-US" smtClean="0"/>
            </a:fld>
            <a:endParaRPr lang="en-US"/>
          </a:p>
        </p:txBody>
      </p:sp>
      <p:sp>
        <p:nvSpPr>
          <p:cNvPr id="1048611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/>
        </p:spPr>
        <p:txBody>
          <a:bodyPr/>
          <a:p>
            <a:endParaRPr lang="en-US"/>
          </a:p>
        </p:txBody>
      </p:sp>
      <p:sp>
        <p:nvSpPr>
          <p:cNvPr id="10486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/>
        </p:spPr>
        <p:txBody>
          <a:bodyPr/>
          <a:p>
            <a:fld id="{32FB2461-14E4-41EF-9449-AE0E6559CB6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2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/>
        </p:spPr>
        <p:txBody>
          <a:bodyPr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48582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/>
        </p:spPr>
        <p:txBody>
          <a:bodyPr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1048583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/>
        </p:spPr>
        <p:txBody>
          <a:bodyPr/>
          <a:p>
            <a:fld id="{FD73274A-A2CD-4D7F-B977-66E290A1AB78}" type="datetimeFigureOut">
              <a:rPr lang="en-US" smtClean="0"/>
            </a:fld>
            <a:endParaRPr lang="en-US"/>
          </a:p>
        </p:txBody>
      </p:sp>
      <p:sp>
        <p:nvSpPr>
          <p:cNvPr id="1048584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/>
        </p:spPr>
        <p:txBody>
          <a:bodyPr/>
          <a:p>
            <a:endParaRPr lang="en-US"/>
          </a:p>
        </p:txBody>
      </p:sp>
      <p:sp>
        <p:nvSpPr>
          <p:cNvPr id="104858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/>
        </p:spPr>
        <p:txBody>
          <a:bodyPr/>
          <a:p>
            <a:fld id="{32FB2461-14E4-41EF-9449-AE0E6559CB6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secHead">
  <p:cSld name="Section Header">
    <p:spTree>
      <p:nvGrpSpPr>
        <p:cNvPr id="4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/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4865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/>
        </p:spPr>
        <p:txBody>
          <a:bodyPr/>
          <a:lstStyle>
            <a:lvl1pPr indent="0" marL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indent="0" marL="45720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indent="0" marL="91440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indent="0" marL="137160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indent="0" marL="182880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indent="0" marL="228600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indent="0" marL="274320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indent="0" marL="320040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indent="0" marL="365760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04865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/>
        </p:spPr>
        <p:txBody>
          <a:bodyPr/>
          <a:p>
            <a:fld id="{FD73274A-A2CD-4D7F-B977-66E290A1AB78}" type="datetimeFigureOut">
              <a:rPr lang="en-US" smtClean="0"/>
            </a:fld>
            <a:endParaRPr lang="en-US"/>
          </a:p>
        </p:txBody>
      </p:sp>
      <p:sp>
        <p:nvSpPr>
          <p:cNvPr id="104865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/>
        </p:spPr>
        <p:txBody>
          <a:bodyPr/>
          <a:p>
            <a:endParaRPr lang="en-US"/>
          </a:p>
        </p:txBody>
      </p:sp>
      <p:sp>
        <p:nvSpPr>
          <p:cNvPr id="104865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/>
        </p:spPr>
        <p:txBody>
          <a:bodyPr/>
          <a:p>
            <a:fld id="{32FB2461-14E4-41EF-9449-AE0E6559CB6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Obj">
  <p:cSld name="Two Content">
    <p:spTree>
      <p:nvGrpSpPr>
        <p:cNvPr id="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7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/>
        </p:spPr>
        <p:txBody>
          <a:bodyPr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48658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/>
        </p:spPr>
        <p:txBody>
          <a:bodyPr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1048659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/>
        </p:spPr>
        <p:txBody>
          <a:bodyPr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1048660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/>
        </p:spPr>
        <p:txBody>
          <a:bodyPr/>
          <a:p>
            <a:fld id="{FD73274A-A2CD-4D7F-B977-66E290A1AB78}" type="datetimeFigureOut">
              <a:rPr lang="en-US" smtClean="0"/>
            </a:fld>
            <a:endParaRPr lang="en-US"/>
          </a:p>
        </p:txBody>
      </p:sp>
      <p:sp>
        <p:nvSpPr>
          <p:cNvPr id="1048661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/>
        </p:spPr>
        <p:txBody>
          <a:bodyPr/>
          <a:p>
            <a:endParaRPr lang="en-US"/>
          </a:p>
        </p:txBody>
      </p:sp>
      <p:sp>
        <p:nvSpPr>
          <p:cNvPr id="1048662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/>
        </p:spPr>
        <p:txBody>
          <a:bodyPr/>
          <a:p>
            <a:fld id="{32FB2461-14E4-41EF-9449-AE0E6559CB6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TxTwoObj">
  <p:cSld name="Comparison">
    <p:spTree>
      <p:nvGrpSpPr>
        <p:cNvPr id="3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/>
        </p:spPr>
        <p:txBody>
          <a:bodyPr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4859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/>
        </p:spPr>
        <p:txBody>
          <a:bodyPr anchor="b"/>
          <a:lstStyle>
            <a:lvl1pPr indent="0" marL="0">
              <a:buNone/>
              <a:defRPr b="1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04859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/>
        </p:spPr>
        <p:txBody>
          <a:bodyPr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104859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/>
        </p:spPr>
        <p:txBody>
          <a:bodyPr anchor="b"/>
          <a:lstStyle>
            <a:lvl1pPr indent="0" marL="0">
              <a:buNone/>
              <a:defRPr b="1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04859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/>
        </p:spPr>
        <p:txBody>
          <a:bodyPr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104859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/>
        </p:spPr>
        <p:txBody>
          <a:bodyPr/>
          <a:p>
            <a:fld id="{FD73274A-A2CD-4D7F-B977-66E290A1AB78}" type="datetimeFigureOut">
              <a:rPr lang="en-US" smtClean="0"/>
            </a:fld>
            <a:endParaRPr lang="en-US"/>
          </a:p>
        </p:txBody>
      </p:sp>
      <p:sp>
        <p:nvSpPr>
          <p:cNvPr id="104859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/>
        </p:spPr>
        <p:txBody>
          <a:bodyPr/>
          <a:p>
            <a:endParaRPr lang="en-US"/>
          </a:p>
        </p:txBody>
      </p:sp>
      <p:sp>
        <p:nvSpPr>
          <p:cNvPr id="104859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/>
        </p:spPr>
        <p:txBody>
          <a:bodyPr/>
          <a:p>
            <a:fld id="{32FB2461-14E4-41EF-9449-AE0E6559CB6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Only">
  <p:cSld name="Title Only">
    <p:spTree>
      <p:nvGrpSpPr>
        <p:cNvPr id="4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/>
        </p:spPr>
        <p:txBody>
          <a:bodyPr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4863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/>
        </p:spPr>
        <p:txBody>
          <a:bodyPr/>
          <a:p>
            <a:fld id="{FD73274A-A2CD-4D7F-B977-66E290A1AB78}" type="datetimeFigureOut">
              <a:rPr lang="en-US" smtClean="0"/>
            </a:fld>
            <a:endParaRPr lang="en-US"/>
          </a:p>
        </p:txBody>
      </p:sp>
      <p:sp>
        <p:nvSpPr>
          <p:cNvPr id="104863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/>
        </p:spPr>
        <p:txBody>
          <a:bodyPr/>
          <a:p>
            <a:endParaRPr lang="en-US"/>
          </a:p>
        </p:txBody>
      </p:sp>
      <p:sp>
        <p:nvSpPr>
          <p:cNvPr id="104863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/>
        </p:spPr>
        <p:txBody>
          <a:bodyPr/>
          <a:p>
            <a:fld id="{32FB2461-14E4-41EF-9449-AE0E6559CB6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blank">
  <p:cSld name="Blank">
    <p:spTree>
      <p:nvGrpSpPr>
        <p:cNvPr id="3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7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/>
        </p:spPr>
        <p:txBody>
          <a:bodyPr/>
          <a:p>
            <a:fld id="{FD73274A-A2CD-4D7F-B977-66E290A1AB78}" type="datetimeFigureOut">
              <a:rPr lang="en-US" smtClean="0"/>
            </a:fld>
            <a:endParaRPr lang="en-US"/>
          </a:p>
        </p:txBody>
      </p:sp>
      <p:sp>
        <p:nvSpPr>
          <p:cNvPr id="1048618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/>
        </p:spPr>
        <p:txBody>
          <a:bodyPr/>
          <a:p>
            <a:endParaRPr lang="en-US"/>
          </a:p>
        </p:txBody>
      </p:sp>
      <p:sp>
        <p:nvSpPr>
          <p:cNvPr id="1048619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/>
        </p:spPr>
        <p:txBody>
          <a:bodyPr/>
          <a:p>
            <a:fld id="{32FB2461-14E4-41EF-9449-AE0E6559CB6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Tx">
  <p:cSld name="Content with Caption">
    <p:spTree>
      <p:nvGrpSpPr>
        <p:cNvPr id="5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3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/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48664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/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1048665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/>
        </p:spPr>
        <p:txBody>
          <a:bodyPr/>
          <a:lstStyle>
            <a:lvl1pPr indent="0" marL="0">
              <a:buNone/>
              <a:defRPr sz="1600"/>
            </a:lvl1pPr>
            <a:lvl2pPr indent="0" marL="457200">
              <a:buNone/>
              <a:defRPr sz="1400"/>
            </a:lvl2pPr>
            <a:lvl3pPr indent="0" marL="914400">
              <a:buNone/>
              <a:defRPr sz="1200"/>
            </a:lvl3pPr>
            <a:lvl4pPr indent="0" marL="1371600">
              <a:buNone/>
              <a:defRPr sz="1000"/>
            </a:lvl4pPr>
            <a:lvl5pPr indent="0" marL="1828800">
              <a:buNone/>
              <a:defRPr sz="1000"/>
            </a:lvl5pPr>
            <a:lvl6pPr indent="0" marL="2286000">
              <a:buNone/>
              <a:defRPr sz="1000"/>
            </a:lvl6pPr>
            <a:lvl7pPr indent="0" marL="2743200">
              <a:buNone/>
              <a:defRPr sz="1000"/>
            </a:lvl7pPr>
            <a:lvl8pPr indent="0" marL="3200400">
              <a:buNone/>
              <a:defRPr sz="1000"/>
            </a:lvl8pPr>
            <a:lvl9pPr indent="0" marL="365760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048666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/>
        </p:spPr>
        <p:txBody>
          <a:bodyPr/>
          <a:p>
            <a:fld id="{FD73274A-A2CD-4D7F-B977-66E290A1AB78}" type="datetimeFigureOut">
              <a:rPr lang="en-US" smtClean="0"/>
            </a:fld>
            <a:endParaRPr lang="en-US"/>
          </a:p>
        </p:txBody>
      </p:sp>
      <p:sp>
        <p:nvSpPr>
          <p:cNvPr id="1048667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/>
        </p:spPr>
        <p:txBody>
          <a:bodyPr/>
          <a:p>
            <a:endParaRPr lang="en-US"/>
          </a:p>
        </p:txBody>
      </p:sp>
      <p:sp>
        <p:nvSpPr>
          <p:cNvPr id="1048668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/>
        </p:spPr>
        <p:txBody>
          <a:bodyPr/>
          <a:p>
            <a:fld id="{32FB2461-14E4-41EF-9449-AE0E6559CB6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picTx">
  <p:cSld name="Picture with Caption">
    <p:spTree>
      <p:nvGrpSpPr>
        <p:cNvPr id="4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1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/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48642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/>
        </p:spPr>
        <p:txBody>
          <a:bodyPr/>
          <a:lstStyle>
            <a:lvl1pPr indent="0" marL="0">
              <a:buNone/>
              <a:defRPr sz="3200"/>
            </a:lvl1pPr>
            <a:lvl2pPr indent="0" marL="457200">
              <a:buNone/>
              <a:defRPr sz="2800"/>
            </a:lvl2pPr>
            <a:lvl3pPr indent="0" marL="914400">
              <a:buNone/>
              <a:defRPr sz="2400"/>
            </a:lvl3pPr>
            <a:lvl4pPr indent="0" marL="1371600">
              <a:buNone/>
              <a:defRPr sz="2000"/>
            </a:lvl4pPr>
            <a:lvl5pPr indent="0" marL="1828800">
              <a:buNone/>
              <a:defRPr sz="2000"/>
            </a:lvl5pPr>
            <a:lvl6pPr indent="0" marL="2286000">
              <a:buNone/>
              <a:defRPr sz="2000"/>
            </a:lvl6pPr>
            <a:lvl7pPr indent="0" marL="2743200">
              <a:buNone/>
              <a:defRPr sz="2000"/>
            </a:lvl7pPr>
            <a:lvl8pPr indent="0" marL="3200400">
              <a:buNone/>
              <a:defRPr sz="2000"/>
            </a:lvl8pPr>
            <a:lvl9pPr indent="0" marL="3657600">
              <a:buNone/>
              <a:defRPr sz="2000"/>
            </a:lvl9pPr>
          </a:lstStyle>
          <a:p>
            <a:endParaRPr lang="en-US"/>
          </a:p>
        </p:txBody>
      </p:sp>
      <p:sp>
        <p:nvSpPr>
          <p:cNvPr id="1048643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/>
        </p:spPr>
        <p:txBody>
          <a:bodyPr/>
          <a:lstStyle>
            <a:lvl1pPr indent="0" marL="0">
              <a:buNone/>
              <a:defRPr sz="1600"/>
            </a:lvl1pPr>
            <a:lvl2pPr indent="0" marL="457200">
              <a:buNone/>
              <a:defRPr sz="1400"/>
            </a:lvl2pPr>
            <a:lvl3pPr indent="0" marL="914400">
              <a:buNone/>
              <a:defRPr sz="1200"/>
            </a:lvl3pPr>
            <a:lvl4pPr indent="0" marL="1371600">
              <a:buNone/>
              <a:defRPr sz="1000"/>
            </a:lvl4pPr>
            <a:lvl5pPr indent="0" marL="1828800">
              <a:buNone/>
              <a:defRPr sz="1000"/>
            </a:lvl5pPr>
            <a:lvl6pPr indent="0" marL="2286000">
              <a:buNone/>
              <a:defRPr sz="1000"/>
            </a:lvl6pPr>
            <a:lvl7pPr indent="0" marL="2743200">
              <a:buNone/>
              <a:defRPr sz="1000"/>
            </a:lvl7pPr>
            <a:lvl8pPr indent="0" marL="3200400">
              <a:buNone/>
              <a:defRPr sz="1000"/>
            </a:lvl8pPr>
            <a:lvl9pPr indent="0" marL="365760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048644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/>
        </p:spPr>
        <p:txBody>
          <a:bodyPr/>
          <a:p>
            <a:fld id="{FD73274A-A2CD-4D7F-B977-66E290A1AB78}" type="datetimeFigureOut">
              <a:rPr lang="en-US" smtClean="0"/>
            </a:fld>
            <a:endParaRPr lang="en-US"/>
          </a:p>
        </p:txBody>
      </p:sp>
      <p:sp>
        <p:nvSpPr>
          <p:cNvPr id="1048645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/>
        </p:spPr>
        <p:txBody>
          <a:bodyPr/>
          <a:p>
            <a:endParaRPr lang="en-US"/>
          </a:p>
        </p:txBody>
      </p:sp>
      <p:sp>
        <p:nvSpPr>
          <p:cNvPr id="1048646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/>
        </p:spPr>
        <p:txBody>
          <a:bodyPr/>
          <a:p>
            <a:fld id="{32FB2461-14E4-41EF-9449-AE0E6559CB6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x">
  <p:cSld name="Title and Vertical Text">
    <p:spTree>
      <p:nvGrpSpPr>
        <p:cNvPr id="4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7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/>
        </p:spPr>
        <p:txBody>
          <a:bodyPr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48648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/>
        </p:spPr>
        <p:txBody>
          <a:bodyPr vert="eaVert"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1048649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/>
        </p:spPr>
        <p:txBody>
          <a:bodyPr/>
          <a:p>
            <a:fld id="{FD73274A-A2CD-4D7F-B977-66E290A1AB78}" type="datetimeFigureOut">
              <a:rPr lang="en-US" smtClean="0"/>
            </a:fld>
            <a:endParaRPr lang="en-US"/>
          </a:p>
        </p:txBody>
      </p:sp>
      <p:sp>
        <p:nvSpPr>
          <p:cNvPr id="104865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/>
        </p:spPr>
        <p:txBody>
          <a:bodyPr/>
          <a:p>
            <a:endParaRPr lang="en-US"/>
          </a:p>
        </p:txBody>
      </p:sp>
      <p:sp>
        <p:nvSpPr>
          <p:cNvPr id="104865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/>
        </p:spPr>
        <p:txBody>
          <a:bodyPr/>
          <a:p>
            <a:fld id="{32FB2461-14E4-41EF-9449-AE0E6559CB6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itleAndTx">
  <p:cSld name="Vertical Title and Text">
    <p:spTree>
      <p:nvGrpSpPr>
        <p:cNvPr id="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6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/>
        </p:spPr>
        <p:txBody>
          <a:bodyPr vert="eaVert"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48637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/>
        </p:spPr>
        <p:txBody>
          <a:bodyPr vert="eaVert"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1048638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/>
        </p:spPr>
        <p:txBody>
          <a:bodyPr/>
          <a:p>
            <a:fld id="{FD73274A-A2CD-4D7F-B977-66E290A1AB78}" type="datetimeFigureOut">
              <a:rPr lang="en-US" smtClean="0"/>
            </a:fld>
            <a:endParaRPr lang="en-US"/>
          </a:p>
        </p:txBody>
      </p:sp>
      <p:sp>
        <p:nvSpPr>
          <p:cNvPr id="1048639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/>
        </p:spPr>
        <p:txBody>
          <a:bodyPr/>
          <a:p>
            <a:endParaRPr lang="en-US"/>
          </a:p>
        </p:txBody>
      </p:sp>
      <p:sp>
        <p:nvSpPr>
          <p:cNvPr id="104864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/>
        </p:spPr>
        <p:txBody>
          <a:bodyPr/>
          <a:p>
            <a:fld id="{32FB2461-14E4-41EF-9449-AE0E6559CB6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image" Target="../media/image1.png"/><Relationship Id="rId13" Type="http://schemas.openxmlformats.org/officeDocument/2006/relationships/image" Target="../media/image2.png"/><Relationship Id="rId14" Type="http://schemas.openxmlformats.org/officeDocument/2006/relationships/image" Target="../media/image3.png"/><Relationship Id="rId15" Type="http://schemas.openxmlformats.org/officeDocument/2006/relationships/image" Target="../media/image4.png"/><Relationship Id="rId1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Rectangle 1"/>
          <p:cNvSpPr/>
          <p:nvPr userDrawn="1"/>
        </p:nvSpPr>
        <p:spPr>
          <a:xfrm>
            <a:off x="0" y="0"/>
            <a:ext cx="12191998" cy="1280156"/>
          </a:xfrm>
          <a:prstGeom prst="rect"/>
          <a:solidFill>
            <a:srgbClr val="01234D"/>
          </a:solidFill>
          <a:ln>
            <a:solidFill>
              <a:srgbClr val="5257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dirty="0" lang="en-US"/>
          </a:p>
        </p:txBody>
      </p:sp>
      <p:pic>
        <p:nvPicPr>
          <p:cNvPr id="2097152" name="Picture 14"/>
          <p:cNvPicPr>
            <a:picLocks noChangeAspect="1"/>
          </p:cNvPicPr>
          <p:nvPr userDrawn="1"/>
        </p:nvPicPr>
        <p:blipFill>
          <a:blip xmlns:r="http://schemas.openxmlformats.org/officeDocument/2006/relationships" r:embed="rId12"/>
          <a:stretch>
            <a:fillRect/>
          </a:stretch>
        </p:blipFill>
        <p:spPr>
          <a:xfrm>
            <a:off x="9006884" y="74822"/>
            <a:ext cx="1043154" cy="1043154"/>
          </a:xfrm>
          <a:prstGeom prst="rect"/>
        </p:spPr>
      </p:pic>
      <p:pic>
        <p:nvPicPr>
          <p:cNvPr id="2097153" name="Picture 15"/>
          <p:cNvPicPr>
            <a:picLocks noChangeAspect="1"/>
          </p:cNvPicPr>
          <p:nvPr userDrawn="1"/>
        </p:nvPicPr>
        <p:blipFill>
          <a:blip xmlns:r="http://schemas.openxmlformats.org/officeDocument/2006/relationships" r:embed="rId13"/>
          <a:stretch>
            <a:fillRect/>
          </a:stretch>
        </p:blipFill>
        <p:spPr>
          <a:xfrm>
            <a:off x="10947316" y="123390"/>
            <a:ext cx="884047" cy="884047"/>
          </a:xfrm>
          <a:prstGeom prst="rect"/>
        </p:spPr>
      </p:pic>
      <p:pic>
        <p:nvPicPr>
          <p:cNvPr id="2097154" name="Picture 16"/>
          <p:cNvPicPr>
            <a:picLocks noChangeAspect="1"/>
          </p:cNvPicPr>
          <p:nvPr userDrawn="1"/>
        </p:nvPicPr>
        <p:blipFill>
          <a:blip xmlns:r="http://schemas.openxmlformats.org/officeDocument/2006/relationships" r:embed="rId14"/>
          <a:stretch>
            <a:fillRect/>
          </a:stretch>
        </p:blipFill>
        <p:spPr>
          <a:xfrm>
            <a:off x="10127893" y="192303"/>
            <a:ext cx="785940" cy="785940"/>
          </a:xfrm>
          <a:prstGeom prst="rect"/>
        </p:spPr>
      </p:pic>
      <p:sp>
        <p:nvSpPr>
          <p:cNvPr id="1048577" name="TextBox 17"/>
          <p:cNvSpPr txBox="1"/>
          <p:nvPr userDrawn="1"/>
        </p:nvSpPr>
        <p:spPr>
          <a:xfrm>
            <a:off x="2575249" y="27424"/>
            <a:ext cx="5998348" cy="548640"/>
          </a:xfrm>
          <a:prstGeom prst="rect"/>
          <a:noFill/>
        </p:spPr>
        <p:txBody>
          <a:bodyPr rtlCol="0" wrap="square">
            <a:spAutoFit/>
          </a:bodyPr>
          <a:p>
            <a:r>
              <a:rPr b="1" dirty="0" lang="en-US">
                <a:solidFill>
                  <a:schemeClr val="bg1"/>
                </a:solidFill>
                <a:latin typeface="Gordita"/>
              </a:rPr>
              <a:t>55</a:t>
            </a:r>
            <a:r>
              <a:rPr baseline="30000" b="1" dirty="0" lang="en-US">
                <a:solidFill>
                  <a:schemeClr val="bg1"/>
                </a:solidFill>
                <a:latin typeface="Gordita "/>
              </a:rPr>
              <a:t>th</a:t>
            </a:r>
            <a:r>
              <a:rPr b="1" dirty="0" lang="en-US">
                <a:solidFill>
                  <a:schemeClr val="bg1"/>
                </a:solidFill>
                <a:latin typeface="Gordita "/>
              </a:rPr>
              <a:t>   Annual Conference of </a:t>
            </a:r>
            <a:endParaRPr b="1" dirty="0" lang="en-US">
              <a:solidFill>
                <a:schemeClr val="bg1"/>
              </a:solidFill>
              <a:latin typeface="Gordita "/>
            </a:endParaRPr>
          </a:p>
          <a:p>
            <a:r>
              <a:rPr b="1" dirty="0" lang="en-US">
                <a:solidFill>
                  <a:schemeClr val="bg1"/>
                </a:solidFill>
                <a:latin typeface="Gordita "/>
              </a:rPr>
              <a:t>Orthopedic Surgeon Society of Andhra Pradesh</a:t>
            </a:r>
            <a:endParaRPr b="1" dirty="0" lang="en-US">
              <a:solidFill>
                <a:schemeClr val="bg1"/>
              </a:solidFill>
              <a:latin typeface="Gordita "/>
            </a:endParaRPr>
          </a:p>
        </p:txBody>
      </p:sp>
      <p:sp>
        <p:nvSpPr>
          <p:cNvPr id="1048578" name="TextBox 18"/>
          <p:cNvSpPr txBox="1"/>
          <p:nvPr userDrawn="1"/>
        </p:nvSpPr>
        <p:spPr>
          <a:xfrm>
            <a:off x="2601218" y="653897"/>
            <a:ext cx="6307494" cy="231141"/>
          </a:xfrm>
          <a:prstGeom prst="rect"/>
          <a:noFill/>
        </p:spPr>
        <p:txBody>
          <a:bodyPr rtlCol="0" wrap="square">
            <a:spAutoFit/>
          </a:bodyPr>
          <a:p>
            <a:r>
              <a:rPr b="1" dirty="0" sz="1200" lang="en-US">
                <a:solidFill>
                  <a:schemeClr val="bg1"/>
                </a:solidFill>
                <a:latin typeface="Gordita "/>
              </a:rPr>
              <a:t>Date 6 – 8 February,2026, Venue : Kurnool Medical College</a:t>
            </a:r>
            <a:endParaRPr b="1" dirty="0" sz="1200" lang="en-US">
              <a:solidFill>
                <a:schemeClr val="bg1"/>
              </a:solidFill>
              <a:latin typeface="Gordita "/>
            </a:endParaRPr>
          </a:p>
        </p:txBody>
      </p:sp>
      <p:sp>
        <p:nvSpPr>
          <p:cNvPr id="1048579" name="TextBox 19"/>
          <p:cNvSpPr txBox="1"/>
          <p:nvPr userDrawn="1"/>
        </p:nvSpPr>
        <p:spPr>
          <a:xfrm>
            <a:off x="2575249" y="913340"/>
            <a:ext cx="7114032" cy="231141"/>
          </a:xfrm>
          <a:prstGeom prst="rect"/>
          <a:noFill/>
        </p:spPr>
        <p:txBody>
          <a:bodyPr rtlCol="0" wrap="square">
            <a:spAutoFit/>
          </a:bodyPr>
          <a:p>
            <a:r>
              <a:rPr b="1" dirty="0" sz="1200" lang="en-US">
                <a:solidFill>
                  <a:schemeClr val="bg1"/>
                </a:solidFill>
                <a:latin typeface="Gordita "/>
              </a:rPr>
              <a:t>Organized by : Department of </a:t>
            </a:r>
            <a:r>
              <a:rPr b="1" dirty="0" sz="1200" lang="en-US" err="1">
                <a:solidFill>
                  <a:schemeClr val="bg1"/>
                </a:solidFill>
                <a:latin typeface="Gordita "/>
              </a:rPr>
              <a:t>Orthopaedics</a:t>
            </a:r>
            <a:r>
              <a:rPr b="1" dirty="0" sz="1200" lang="en-US">
                <a:solidFill>
                  <a:schemeClr val="bg1"/>
                </a:solidFill>
                <a:latin typeface="Gordita "/>
              </a:rPr>
              <a:t>, Kurnool Medical College Kurnool</a:t>
            </a:r>
            <a:endParaRPr b="1" dirty="0" sz="1200" lang="en-US">
              <a:solidFill>
                <a:schemeClr val="bg1"/>
              </a:solidFill>
              <a:latin typeface="Gordita "/>
            </a:endParaRPr>
          </a:p>
        </p:txBody>
      </p:sp>
      <p:sp>
        <p:nvSpPr>
          <p:cNvPr id="1048580" name="Freeform 13"/>
          <p:cNvSpPr/>
          <p:nvPr userDrawn="1"/>
        </p:nvSpPr>
        <p:spPr>
          <a:xfrm>
            <a:off x="560814" y="14255"/>
            <a:ext cx="1505561" cy="1280157"/>
          </a:xfrm>
          <a:custGeom>
            <a:avLst/>
            <a:ahLst/>
            <a:rect l="l" t="t" r="r" b="b"/>
            <a:pathLst>
              <a:path w="2254612" h="1957865">
                <a:moveTo>
                  <a:pt x="0" y="0"/>
                </a:moveTo>
                <a:lnTo>
                  <a:pt x="2254612" y="0"/>
                </a:lnTo>
                <a:lnTo>
                  <a:pt x="2254612" y="1957865"/>
                </a:lnTo>
                <a:lnTo>
                  <a:pt x="0" y="1957865"/>
                </a:lnTo>
                <a:lnTo>
                  <a:pt x="0" y="0"/>
                </a:lnTo>
                <a:close/>
              </a:path>
            </a:pathLst>
          </a:custGeom>
          <a:blipFill>
            <a:blip xmlns:r="http://schemas.openxmlformats.org/officeDocument/2006/relationships" r:embed="rId15"/>
            <a:stretch>
              <a:fillRect t="-9937" r="-4895" b="-10857"/>
            </a:stretch>
          </a:blipFill>
        </p:spPr>
        <p:txBody>
          <a:bodyPr/>
          <a:p>
            <a:endParaRPr lang="en-US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eaLnBrk="1" hangingPunct="1" latinLnBrk="0" rtl="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914400" eaLnBrk="1" hangingPunct="1" indent="-228600" latinLnBrk="0" marL="228600" rtl="0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228600" latinLnBrk="0" marL="6858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228600" latinLnBrk="0" marL="11430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228600" latinLnBrk="0" marL="16002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228600" latinLnBrk="0" marL="20574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914400" eaLnBrk="1" hangingPunct="1" latinLnBrk="0" marL="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image" Target="../media/image5.jpeg"/><Relationship Id="rId2" Type="http://schemas.openxmlformats.org/officeDocument/2006/relationships/slideLayout" Target="../slideLayouts/slideLayout5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image" Target="../media/image6.jpeg"/><Relationship Id="rId2" Type="http://schemas.openxmlformats.org/officeDocument/2006/relationships/image" Target="../media/image7.jpeg"/><Relationship Id="rId3" Type="http://schemas.openxmlformats.org/officeDocument/2006/relationships/slideLayout" Target="../slideLayouts/slideLayout5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image" Target="../media/image8.jpeg"/><Relationship Id="rId2" Type="http://schemas.openxmlformats.org/officeDocument/2006/relationships/slideLayout" Target="../slideLayouts/slideLayout2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image" Target="../media/image9.jpeg"/><Relationship Id="rId2" Type="http://schemas.openxmlformats.org/officeDocument/2006/relationships/image" Target="../media/image10.jpeg"/><Relationship Id="rId3" Type="http://schemas.openxmlformats.org/officeDocument/2006/relationships/image" Target="../media/image11.jpeg"/><Relationship Id="rId4" Type="http://schemas.openxmlformats.org/officeDocument/2006/relationships/slideLayout" Target="../slideLayouts/slideLayout5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3" name="TextBox 1048585"/>
          <p:cNvSpPr txBox="1"/>
          <p:nvPr/>
        </p:nvSpPr>
        <p:spPr>
          <a:xfrm>
            <a:off x="1524001" y="1190914"/>
            <a:ext cx="9144000" cy="825246"/>
          </a:xfrm>
          <a:prstGeom prst="rect"/>
        </p:spPr>
        <p:txBody>
          <a:bodyPr rtlCol="0" wrap="square">
            <a:spAutoFit/>
          </a:bodyPr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b="1" dirty="0" sz="2800" lang="en-US">
                <a:solidFill>
                  <a:srgbClr val="0070C0"/>
                </a:solidFill>
                <a:effectLst/>
                <a:latin typeface="Times New Roman" panose="02020603050405020304" pitchFamily="18" charset="0"/>
                <a:ea typeface="Calibri" panose="020F0502020204030204" charset="0"/>
                <a:cs typeface="Times New Roman" panose="02020603050405020304" pitchFamily="18" charset="0"/>
              </a:rPr>
              <a:t>CLINICAL OUTCOME OF PLATELET RICH PLASMA (PRP) INJECTIONS IN SYMPTOMATIC EARLY OSTEOARTHRITIS OF KNEE JOINT</a:t>
            </a:r>
            <a:endParaRPr dirty="0" sz="2800" lang="en-IN">
              <a:solidFill>
                <a:srgbClr val="0070C0"/>
              </a:solidFill>
              <a:effectLst/>
              <a:latin typeface="Calibri" panose="020F0502020204030204" charset="0"/>
              <a:ea typeface="Calibri" panose="020F0502020204030204" charset="0"/>
              <a:cs typeface="Times New Roman" panose="02020603050405020304" pitchFamily="18" charset="0"/>
            </a:endParaRPr>
          </a:p>
        </p:txBody>
      </p:sp>
      <p:sp>
        <p:nvSpPr>
          <p:cNvPr id="1048614" name="TextBox 1"/>
          <p:cNvSpPr txBox="1"/>
          <p:nvPr/>
        </p:nvSpPr>
        <p:spPr>
          <a:xfrm>
            <a:off x="1524001" y="4205852"/>
            <a:ext cx="9143999" cy="1551941"/>
          </a:xfrm>
          <a:prstGeom prst="rect"/>
          <a:noFill/>
        </p:spPr>
        <p:txBody>
          <a:bodyPr rtlCol="0" wrap="square">
            <a:spAutoFit/>
          </a:bodyPr>
          <a:p>
            <a:pPr algn="ctr"/>
            <a:r>
              <a:rPr dirty="0" sz="2400" lang="en-US">
                <a:solidFill>
                  <a:srgbClr val="C00000"/>
                </a:solidFill>
                <a:latin typeface="Bernard MT Condensed" panose="02050806060905020404" pitchFamily="18" charset="0"/>
              </a:rPr>
              <a:t>PRESENTED BY</a:t>
            </a:r>
            <a:endParaRPr dirty="0" sz="2400" lang="en-US">
              <a:solidFill>
                <a:srgbClr val="C00000"/>
              </a:solidFill>
              <a:latin typeface="Bernard MT Condensed" panose="02050806060905020404" pitchFamily="18" charset="0"/>
            </a:endParaRPr>
          </a:p>
          <a:p>
            <a:pPr algn="ctr"/>
            <a:r>
              <a:rPr dirty="0" sz="2400" kern="0" lang="en-IN" spc="-20">
                <a:solidFill>
                  <a:srgbClr val="C00000"/>
                </a:solidFill>
                <a:latin typeface="Bernard MT Condensed" panose="02050806060905020404" pitchFamily="18" charset="0"/>
                <a:ea typeface="Arial" panose="020B0604020202020204" pitchFamily="34" charset="0"/>
                <a:cs typeface="Arial" panose="020B0604020202020204" pitchFamily="34" charset="0"/>
              </a:rPr>
              <a:t>DR</a:t>
            </a:r>
            <a:r>
              <a:rPr dirty="0" sz="2400" kern="0" lang="en-IN" spc="-30">
                <a:solidFill>
                  <a:srgbClr val="C00000"/>
                </a:solidFill>
                <a:latin typeface="Bernard MT Condensed" panose="02050806060905020404" pitchFamily="18" charset="0"/>
                <a:ea typeface="Arial" panose="020B0604020202020204" pitchFamily="34" charset="0"/>
                <a:cs typeface="Arial" panose="020B0604020202020204" pitchFamily="34" charset="0"/>
              </a:rPr>
              <a:t>.SOMNATH DAS</a:t>
            </a:r>
            <a:r>
              <a:rPr dirty="0" sz="2400" lang="en-US">
                <a:solidFill>
                  <a:srgbClr val="C00000"/>
                </a:solidFill>
                <a:latin typeface="Bernard MT Condensed" panose="02050806060905020404" pitchFamily="18" charset="0"/>
              </a:rPr>
              <a:t>, POST GRADUATE</a:t>
            </a:r>
            <a:endParaRPr dirty="0" sz="2400" lang="en-US">
              <a:solidFill>
                <a:srgbClr val="C00000"/>
              </a:solidFill>
              <a:latin typeface="Bernard MT Condensed" panose="02050806060905020404" pitchFamily="18" charset="0"/>
            </a:endParaRPr>
          </a:p>
          <a:p>
            <a:pPr algn="ctr"/>
            <a:r>
              <a:rPr altLang="en-US" dirty="0" sz="2400" lang="en-IN">
                <a:solidFill>
                  <a:srgbClr val="C00000"/>
                </a:solidFill>
                <a:latin typeface="Bernard MT Condensed" panose="02050806060905020404" pitchFamily="18" charset="0"/>
              </a:rPr>
              <a:t>SV</a:t>
            </a:r>
            <a:r>
              <a:rPr dirty="0" sz="2400" lang="en-US">
                <a:solidFill>
                  <a:srgbClr val="C00000"/>
                </a:solidFill>
                <a:latin typeface="Bernard MT Condensed" panose="02050806060905020404" pitchFamily="18" charset="0"/>
              </a:rPr>
              <a:t> MEDICAL COLLEGE, </a:t>
            </a:r>
            <a:r>
              <a:rPr altLang="en-US" dirty="0" sz="2400" lang="en-IN">
                <a:solidFill>
                  <a:srgbClr val="C00000"/>
                </a:solidFill>
                <a:latin typeface="Bernard MT Condensed" panose="02050806060905020404" pitchFamily="18" charset="0"/>
              </a:rPr>
              <a:t>TIRUPATI</a:t>
            </a:r>
            <a:endParaRPr dirty="0" sz="2400" lang="en-US">
              <a:solidFill>
                <a:srgbClr val="C00000"/>
              </a:solidFill>
              <a:latin typeface="Bernard MT Condensed" panose="02050806060905020404" pitchFamily="18" charset="0"/>
            </a:endParaRPr>
          </a:p>
          <a:p>
            <a:pPr algn="ctr"/>
            <a:endParaRPr dirty="0" sz="2400" lang="en-US">
              <a:solidFill>
                <a:srgbClr val="C00000"/>
              </a:solidFill>
              <a:latin typeface="Bernard MT Condensed" panose="02050806060905020404" pitchFamily="18" charset="0"/>
            </a:endParaRPr>
          </a:p>
          <a:p>
            <a:pPr algn="ctr"/>
            <a:endParaRPr dirty="0" sz="2400" lang="en-IN">
              <a:solidFill>
                <a:srgbClr val="C00000"/>
              </a:solidFill>
              <a:latin typeface="Bernard MT Condensed" panose="020508060609050204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2" name="Title 1048712"/>
          <p:cNvSpPr>
            <a:spLocks noGrp="1"/>
          </p:cNvSpPr>
          <p:nvPr>
            <p:ph type="title"/>
          </p:nvPr>
        </p:nvSpPr>
        <p:spPr>
          <a:xfrm>
            <a:off x="1524000" y="1423670"/>
            <a:ext cx="9144000" cy="893831"/>
          </a:xfrm>
        </p:spPr>
        <p:txBody>
          <a:bodyPr>
            <a:normAutofit/>
          </a:bodyPr>
          <a:p>
            <a:r>
              <a:rPr dirty="0" sz="4000" lang="en-US">
                <a:solidFill>
                  <a:srgbClr val="C00000"/>
                </a:solidFill>
                <a:latin typeface="Algerian" panose="04020705040A02060702" pitchFamily="82" charset="0"/>
              </a:rPr>
              <a:t>AIM OF THE STUDY …..</a:t>
            </a:r>
            <a:endParaRPr dirty="0" sz="4000" lang="en-GB">
              <a:solidFill>
                <a:srgbClr val="C00000"/>
              </a:solidFill>
              <a:latin typeface="Algerian" panose="04020705040A02060702" pitchFamily="82" charset="0"/>
            </a:endParaRPr>
          </a:p>
        </p:txBody>
      </p:sp>
      <p:sp>
        <p:nvSpPr>
          <p:cNvPr id="1048603" name="Content Placeholder 1048713"/>
          <p:cNvSpPr>
            <a:spLocks noGrp="1"/>
          </p:cNvSpPr>
          <p:nvPr>
            <p:ph idx="1"/>
          </p:nvPr>
        </p:nvSpPr>
        <p:spPr>
          <a:xfrm>
            <a:off x="1769164" y="2318039"/>
            <a:ext cx="8653671" cy="3861284"/>
          </a:xfrm>
        </p:spPr>
        <p:txBody>
          <a:bodyPr>
            <a:noAutofit/>
          </a:bodyPr>
          <a:p>
            <a:pPr algn="just" indent="0" marL="0">
              <a:buNone/>
            </a:pPr>
            <a:r>
              <a:rPr dirty="0" sz="4400" lang="en-IN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Georgia" panose="02040502050405020303" pitchFamily="18" charset="0"/>
              </a:rPr>
              <a:t>To establish the clinical efficacy of intra-articular platelet rich plasma (PRP) injections, in patients with symptomatic early osteoarthritis of knee joint.</a:t>
            </a:r>
            <a:endParaRPr b="1" dirty="0" sz="4400" i="0" lang="en-US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0" name="Title 1048708"/>
          <p:cNvSpPr>
            <a:spLocks noGrp="1"/>
          </p:cNvSpPr>
          <p:nvPr>
            <p:ph type="title"/>
          </p:nvPr>
        </p:nvSpPr>
        <p:spPr>
          <a:xfrm>
            <a:off x="1407795" y="1291431"/>
            <a:ext cx="9144000" cy="829884"/>
          </a:xfrm>
        </p:spPr>
        <p:txBody>
          <a:bodyPr/>
          <a:p>
            <a:r>
              <a:rPr dirty="0" lang="en-US">
                <a:solidFill>
                  <a:srgbClr val="C00000"/>
                </a:solidFill>
                <a:latin typeface="Algerian" panose="04020705040A02060702" pitchFamily="82" charset="0"/>
              </a:rPr>
              <a:t>INTRODUCTION…..</a:t>
            </a:r>
            <a:endParaRPr dirty="0" lang="en-GB">
              <a:solidFill>
                <a:srgbClr val="C00000"/>
              </a:solidFill>
              <a:latin typeface="Algerian" panose="04020705040A02060702" pitchFamily="82" charset="0"/>
            </a:endParaRPr>
          </a:p>
        </p:txBody>
      </p:sp>
      <p:sp>
        <p:nvSpPr>
          <p:cNvPr id="1048591" name="Content Placeholder 1048709"/>
          <p:cNvSpPr>
            <a:spLocks noGrp="1"/>
          </p:cNvSpPr>
          <p:nvPr>
            <p:ph idx="1"/>
          </p:nvPr>
        </p:nvSpPr>
        <p:spPr>
          <a:xfrm>
            <a:off x="1524000" y="1870710"/>
            <a:ext cx="9144000" cy="4705350"/>
          </a:xfrm>
        </p:spPr>
        <p:txBody>
          <a:bodyPr>
            <a:noAutofit/>
          </a:bodyPr>
          <a:p>
            <a:pPr algn="just" defTabSz="0" eaLnBrk="0" indent="-342900" marL="354965">
              <a:lnSpc>
                <a:spcPct val="108000"/>
              </a:lnSpc>
              <a:buFontTx/>
              <a:buChar char="-"/>
            </a:pPr>
            <a:r>
              <a:rPr dirty="0" sz="2400" lang="en-IN">
                <a:effectLst/>
                <a:latin typeface="Times New Roman" panose="02020603050405020304" pitchFamily="18" charset="0"/>
                <a:ea typeface="Georgia" panose="02040502050405020303" pitchFamily="18" charset="0"/>
              </a:rPr>
              <a:t>Osteoarthritis (OA) is a degenerative joint disease resulting from the degradation of articular cartilage, proliferative reformation of subchondral bone and a low degree of synovitis that leads to a reduced quality of life (QoL). </a:t>
            </a:r>
            <a:endParaRPr dirty="0" sz="2400" lang="en-IN">
              <a:effectLst/>
              <a:latin typeface="Times New Roman" panose="02020603050405020304" pitchFamily="18" charset="0"/>
              <a:ea typeface="Georgia" panose="02040502050405020303" pitchFamily="18" charset="0"/>
            </a:endParaRPr>
          </a:p>
          <a:p>
            <a:pPr algn="just" defTabSz="0" eaLnBrk="0" indent="-342900" marL="354965">
              <a:lnSpc>
                <a:spcPct val="108000"/>
              </a:lnSpc>
              <a:buFontTx/>
              <a:buChar char="-"/>
            </a:pPr>
            <a:r>
              <a:rPr dirty="0" sz="2400" lang="en-IN">
                <a:effectLst/>
                <a:latin typeface="Times New Roman" panose="02020603050405020304" pitchFamily="18" charset="0"/>
                <a:ea typeface="Georgia" panose="02040502050405020303" pitchFamily="18" charset="0"/>
              </a:rPr>
              <a:t>It is a major cause of pain and disability in the elderly population. OA alters the normal joint metabolism favouring increased catabolism and decreased anabolism. </a:t>
            </a:r>
            <a:endParaRPr dirty="0" sz="2400" lang="en-IN">
              <a:effectLst/>
              <a:latin typeface="Times New Roman" panose="02020603050405020304" pitchFamily="18" charset="0"/>
              <a:ea typeface="Georgia" panose="02040502050405020303" pitchFamily="18" charset="0"/>
            </a:endParaRPr>
          </a:p>
          <a:p>
            <a:pPr algn="just" defTabSz="0" eaLnBrk="0" indent="-342900" marL="354965">
              <a:lnSpc>
                <a:spcPct val="108000"/>
              </a:lnSpc>
              <a:buFontTx/>
              <a:buChar char="-"/>
            </a:pPr>
            <a:r>
              <a:rPr dirty="0" sz="2400" lang="en-IN">
                <a:effectLst/>
                <a:latin typeface="Times New Roman" panose="02020603050405020304" pitchFamily="18" charset="0"/>
                <a:ea typeface="Georgia" panose="02040502050405020303" pitchFamily="18" charset="0"/>
              </a:rPr>
              <a:t>Inflammation and vascular pathology in combination with cell death, meniscal changes, bone remodelling and subchondral sclerosis produces a vicious cycle of progressive joint degeneration. As the age advances, this can be exacerbated by excessive mechanical stress and oxidative damage.</a:t>
            </a:r>
            <a:endParaRPr dirty="0" sz="2400" lang="en-GB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6" name="Title 1"/>
          <p:cNvSpPr>
            <a:spLocks noGrp="1"/>
          </p:cNvSpPr>
          <p:nvPr>
            <p:ph type="title"/>
          </p:nvPr>
        </p:nvSpPr>
        <p:spPr>
          <a:xfrm>
            <a:off x="1524000" y="1224915"/>
            <a:ext cx="9144000" cy="874643"/>
          </a:xfrm>
        </p:spPr>
        <p:txBody>
          <a:bodyPr/>
          <a:p>
            <a:pPr algn="l"/>
            <a:r>
              <a:rPr dirty="0" lang="en-US">
                <a:solidFill>
                  <a:srgbClr val="C00000"/>
                </a:solidFill>
                <a:latin typeface="Algerian" panose="04020705040A02060702" pitchFamily="82" charset="0"/>
              </a:rPr>
              <a:t>Material &amp; methods …..</a:t>
            </a:r>
            <a:endParaRPr dirty="0" lang="en-US">
              <a:solidFill>
                <a:srgbClr val="C00000"/>
              </a:solidFill>
              <a:latin typeface="Algerian" panose="04020705040A02060702" pitchFamily="82" charset="0"/>
            </a:endParaRPr>
          </a:p>
        </p:txBody>
      </p:sp>
      <p:sp>
        <p:nvSpPr>
          <p:cNvPr id="1048587" name="Content Placeholder 2"/>
          <p:cNvSpPr>
            <a:spLocks noGrp="1"/>
          </p:cNvSpPr>
          <p:nvPr>
            <p:ph idx="1"/>
          </p:nvPr>
        </p:nvSpPr>
        <p:spPr>
          <a:xfrm>
            <a:off x="1524000" y="1799590"/>
            <a:ext cx="9144000" cy="5955665"/>
          </a:xfrm>
        </p:spPr>
        <p:txBody>
          <a:bodyPr>
            <a:noAutofit/>
          </a:bodyPr>
          <a:p>
            <a:pPr algn="just">
              <a:buNone/>
            </a:pPr>
            <a:r>
              <a:rPr b="1" dirty="0" sz="200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Source of data :  </a:t>
            </a:r>
            <a:r>
              <a:rPr dirty="0" sz="200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endParaRPr dirty="0" sz="2000"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dirty="0" sz="200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This is a prospective study done </a:t>
            </a:r>
            <a:r>
              <a:rPr dirty="0" sz="2000" kern="0" lang="en-US" spc="70"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in</a:t>
            </a:r>
            <a:r>
              <a:rPr dirty="0" sz="2000" kern="0" lang="en-US" spc="60"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altLang="en-US" dirty="0" sz="2000" kern="0" lang="en-IN" spc="60"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S</a:t>
            </a:r>
            <a:r>
              <a:rPr dirty="0" sz="2000" kern="0" lang="en-US" spc="70"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V</a:t>
            </a:r>
            <a:r>
              <a:rPr altLang="en-US" dirty="0" sz="2000" kern="0" lang="en-IN" spc="70"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dirty="0" sz="2000" kern="0" lang="en-US" spc="70"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Medical</a:t>
            </a:r>
            <a:r>
              <a:rPr dirty="0" sz="2000" kern="0" lang="en-US" spc="140"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dirty="0" sz="2000" kern="0" lang="en-US" spc="70"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college</a:t>
            </a:r>
            <a:r>
              <a:rPr dirty="0" sz="2000" kern="0" lang="en-US" spc="20"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,</a:t>
            </a:r>
            <a:r>
              <a:rPr dirty="0" sz="2000" kern="0" lang="en-US" spc="180"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altLang="en-US" dirty="0" sz="2000" kern="0" lang="en-IN" spc="180"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Tirupati</a:t>
            </a:r>
            <a:r>
              <a:rPr dirty="0" sz="2000" kern="0" lang="en-US" spc="20"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 involving 40 patients with </a:t>
            </a:r>
            <a:r>
              <a:rPr dirty="0" sz="2000" kern="0" lang="en-US" spc="20" err="1"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Kellgren</a:t>
            </a:r>
            <a:r>
              <a:rPr dirty="0" sz="2000" kern="0" lang="en-US" spc="20"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 Lawrence Grade 1 &amp; 2 osteoarthritis of knee joint. </a:t>
            </a:r>
            <a:r>
              <a:rPr dirty="0" sz="2000" lang="en-US">
                <a:effectLst/>
                <a:latin typeface="Times New Roman" panose="02020603050405020304" pitchFamily="18" charset="0"/>
                <a:ea typeface="Calibri" panose="020F0502020204030204" charset="0"/>
              </a:rPr>
              <a:t>The study group comprised of patients between 50 to 70 years. The duration of the study was for </a:t>
            </a:r>
            <a:r>
              <a:rPr altLang="en-US" dirty="0" sz="2000" lang="en-IN">
                <a:effectLst/>
                <a:latin typeface="Times New Roman" panose="02020603050405020304" pitchFamily="18" charset="0"/>
                <a:ea typeface="Calibri" panose="020F0502020204030204" charset="0"/>
              </a:rPr>
              <a:t>6 months</a:t>
            </a:r>
            <a:r>
              <a:rPr dirty="0" sz="2000" lang="en-US">
                <a:effectLst/>
                <a:latin typeface="Times New Roman" panose="02020603050405020304" pitchFamily="18" charset="0"/>
                <a:ea typeface="Calibri" panose="020F0502020204030204" charset="0"/>
              </a:rPr>
              <a:t> from </a:t>
            </a:r>
            <a:r>
              <a:rPr altLang="en-US" dirty="0" sz="2000" lang="en-IN">
                <a:effectLst/>
                <a:latin typeface="Times New Roman" panose="02020603050405020304" pitchFamily="18" charset="0"/>
                <a:ea typeface="Calibri" panose="020F0502020204030204" charset="0"/>
              </a:rPr>
              <a:t>January</a:t>
            </a:r>
            <a:r>
              <a:rPr dirty="0" sz="2000" lang="en-US">
                <a:effectLst/>
                <a:latin typeface="Times New Roman" panose="02020603050405020304" pitchFamily="18" charset="0"/>
                <a:ea typeface="Calibri" panose="020F0502020204030204" charset="0"/>
              </a:rPr>
              <a:t> 202</a:t>
            </a:r>
            <a:r>
              <a:rPr altLang="en-US" dirty="0" sz="2000" lang="en-IN">
                <a:effectLst/>
                <a:latin typeface="Times New Roman" panose="02020603050405020304" pitchFamily="18" charset="0"/>
                <a:ea typeface="Calibri" panose="020F0502020204030204" charset="0"/>
              </a:rPr>
              <a:t>5</a:t>
            </a:r>
            <a:r>
              <a:rPr dirty="0" sz="2000" lang="en-US">
                <a:effectLst/>
                <a:latin typeface="Times New Roman" panose="02020603050405020304" pitchFamily="18" charset="0"/>
                <a:ea typeface="Calibri" panose="020F0502020204030204" charset="0"/>
              </a:rPr>
              <a:t> to J</a:t>
            </a:r>
            <a:r>
              <a:rPr altLang="en-US" dirty="0" sz="2000" lang="en-IN">
                <a:effectLst/>
                <a:latin typeface="Times New Roman" panose="02020603050405020304" pitchFamily="18" charset="0"/>
                <a:ea typeface="Calibri" panose="020F0502020204030204" charset="0"/>
              </a:rPr>
              <a:t>uly</a:t>
            </a:r>
            <a:r>
              <a:rPr dirty="0" sz="2000" lang="en-US">
                <a:effectLst/>
                <a:latin typeface="Times New Roman" panose="02020603050405020304" pitchFamily="18" charset="0"/>
                <a:ea typeface="Calibri" panose="020F0502020204030204" charset="0"/>
              </a:rPr>
              <a:t> 202</a:t>
            </a:r>
            <a:r>
              <a:rPr altLang="en-US" dirty="0" sz="2000" lang="en-IN">
                <a:effectLst/>
                <a:latin typeface="Times New Roman" panose="02020603050405020304" pitchFamily="18" charset="0"/>
                <a:ea typeface="Calibri" panose="020F0502020204030204" charset="0"/>
              </a:rPr>
              <a:t>5</a:t>
            </a:r>
            <a:endParaRPr dirty="0" sz="2000" lang="en-US">
              <a:effectLst/>
              <a:latin typeface="Times New Roman" panose="02020603050405020304" pitchFamily="18" charset="0"/>
              <a:ea typeface="Calibri" panose="020F0502020204030204" charset="0"/>
            </a:endParaRPr>
          </a:p>
          <a:p>
            <a:pPr algn="just" indent="0" marL="0">
              <a:buNone/>
            </a:pPr>
            <a:r>
              <a:rPr b="1" dirty="0" sz="200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Inclusion criteria</a:t>
            </a:r>
            <a:endParaRPr b="1" dirty="0" sz="2000"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defTabSz="905510" indent="0" marL="0">
              <a:lnSpc>
                <a:spcPct val="136000"/>
              </a:lnSpc>
              <a:spcBef>
                <a:spcPts val="600"/>
              </a:spcBef>
              <a:buNone/>
              <a:defRPr sz="2300">
                <a:latin typeface="+mn-lt"/>
                <a:ea typeface="+mn-ea"/>
                <a:cs typeface="+mn-cs"/>
                <a:sym typeface="Calibri" panose="020F0502020204030204"/>
              </a:defRPr>
            </a:pPr>
            <a:r>
              <a:rPr dirty="0" sz="200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- Patients between 50 - 70 years</a:t>
            </a:r>
            <a:endParaRPr dirty="0" sz="2000"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defTabSz="905510" indent="0" marL="0">
              <a:lnSpc>
                <a:spcPct val="136000"/>
              </a:lnSpc>
              <a:spcBef>
                <a:spcPts val="600"/>
              </a:spcBef>
              <a:buNone/>
              <a:defRPr sz="2300">
                <a:latin typeface="+mn-lt"/>
                <a:ea typeface="+mn-ea"/>
                <a:cs typeface="+mn-cs"/>
                <a:sym typeface="Calibri" panose="020F0502020204030204"/>
              </a:defRPr>
            </a:pPr>
            <a:r>
              <a:rPr dirty="0" sz="200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dirty="0" sz="200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sz="200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dirty="0" sz="200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dirty="0" sz="200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dirty="0" sz="200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dirty="0" sz="200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dirty="0" sz="200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dirty="0" sz="200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dirty="0" sz="200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dirty="0" sz="200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sz="200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dirty="0" sz="200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dirty="0" sz="200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dirty="0" sz="200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dirty="0" sz="200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dirty="0" sz="200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dirty="0" sz="200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dirty="0" sz="200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dirty="0" sz="200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sz="200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dirty="0" sz="200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dirty="0" sz="200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dirty="0" sz="200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dirty="0" sz="200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dirty="0" sz="200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sz="200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dirty="0" sz="200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sz="200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&amp;</a:t>
            </a:r>
            <a:r>
              <a:rPr dirty="0" sz="200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sz="200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dirty="0" sz="200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sz="200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dirty="0" sz="200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dirty="0" sz="200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dirty="0" sz="200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dirty="0" sz="200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oarthritis </a:t>
            </a:r>
            <a:endParaRPr dirty="0" sz="2000"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defTabSz="905510" indent="0" marL="0">
              <a:lnSpc>
                <a:spcPct val="80000"/>
              </a:lnSpc>
              <a:spcBef>
                <a:spcPts val="600"/>
              </a:spcBef>
              <a:buNone/>
              <a:defRPr sz="2300">
                <a:latin typeface="+mn-lt"/>
                <a:ea typeface="+mn-ea"/>
                <a:cs typeface="+mn-cs"/>
                <a:sym typeface="Calibri" panose="020F0502020204030204"/>
              </a:defRPr>
            </a:pPr>
            <a:r>
              <a:rPr dirty="0" sz="200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- Informed consent taken from all patients.</a:t>
            </a:r>
            <a:endParaRPr dirty="0" sz="2000"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defTabSz="905510" indent="0" marL="0">
              <a:lnSpc>
                <a:spcPct val="80000"/>
              </a:lnSpc>
              <a:spcBef>
                <a:spcPts val="600"/>
              </a:spcBef>
              <a:buFontTx/>
              <a:buNone/>
              <a:defRPr sz="2300">
                <a:latin typeface="+mn-lt"/>
                <a:ea typeface="+mn-ea"/>
                <a:cs typeface="+mn-cs"/>
                <a:sym typeface="Calibri" panose="020F0502020204030204"/>
              </a:defRPr>
            </a:pPr>
            <a:endParaRPr dirty="0" sz="2000"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defTabSz="905510" indent="0" marL="0">
              <a:lnSpc>
                <a:spcPct val="80000"/>
              </a:lnSpc>
              <a:spcBef>
                <a:spcPts val="600"/>
              </a:spcBef>
              <a:buNone/>
              <a:defRPr sz="2300">
                <a:latin typeface="+mn-lt"/>
                <a:ea typeface="+mn-ea"/>
                <a:cs typeface="+mn-cs"/>
                <a:sym typeface="Calibri" panose="020F0502020204030204"/>
              </a:defRPr>
            </a:pPr>
            <a:endParaRPr dirty="0" sz="2000"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indent="0" marL="0">
              <a:buNone/>
            </a:pPr>
            <a:endParaRPr dirty="0" sz="2000"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9" name=""/>
        <p:cNvGrpSpPr/>
        <p:nvPr/>
      </p:nvGrpSpPr>
      <p:grpSpPr>
        <a:xfrm/>
      </p:grpSpPr>
      <p:sp>
        <p:nvSpPr>
          <p:cNvPr id="1048588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1048589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algn="just" indent="0" marL="0">
              <a:buNone/>
            </a:pPr>
            <a:r>
              <a:rPr b="1" dirty="0" lang="en-US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Exclusion criteria</a:t>
            </a:r>
            <a:endParaRPr b="1" dirty="0"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 marL="0">
              <a:buNone/>
              <a:defRPr sz="2400">
                <a:latin typeface="+mn-lt"/>
                <a:ea typeface="+mn-ea"/>
                <a:cs typeface="+mn-cs"/>
                <a:sym typeface="Calibri" panose="020F0502020204030204"/>
              </a:defRPr>
            </a:pPr>
            <a:r>
              <a:rPr dirty="0" lang="en-US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- History of diabetes mellitus</a:t>
            </a:r>
            <a:endParaRPr dirty="0"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 marL="0">
              <a:buNone/>
              <a:defRPr sz="2400">
                <a:latin typeface="+mn-lt"/>
                <a:ea typeface="+mn-ea"/>
                <a:cs typeface="+mn-cs"/>
                <a:sym typeface="Calibri" panose="020F0502020204030204"/>
              </a:defRPr>
            </a:pPr>
            <a:r>
              <a:rPr dirty="0" lang="en-US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- Patients with infective focus in the periarticular area of the knee </a:t>
            </a:r>
            <a:endParaRPr dirty="0"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 marL="0">
              <a:buSzTx/>
              <a:buNone/>
              <a:defRPr sz="2400">
                <a:latin typeface="+mn-lt"/>
                <a:ea typeface="+mn-ea"/>
                <a:cs typeface="+mn-cs"/>
                <a:sym typeface="Calibri" panose="020F0502020204030204"/>
              </a:defRPr>
            </a:pPr>
            <a:r>
              <a:rPr dirty="0" lang="en-US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- Patients on anticoagulant and antiplatelet medications</a:t>
            </a:r>
            <a:endParaRPr dirty="0"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 marL="0">
              <a:buNone/>
              <a:defRPr sz="2400">
                <a:latin typeface="+mn-lt"/>
                <a:ea typeface="+mn-ea"/>
                <a:cs typeface="+mn-cs"/>
                <a:sym typeface="Calibri" panose="020F0502020204030204"/>
              </a:defRPr>
            </a:pPr>
            <a:r>
              <a:rPr dirty="0" lang="en-US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- Use of NSAIDS 2 days before injection</a:t>
            </a:r>
            <a:endParaRPr dirty="0"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 marL="0">
              <a:buNone/>
              <a:defRPr sz="2400">
                <a:latin typeface="+mn-lt"/>
                <a:ea typeface="+mn-ea"/>
                <a:cs typeface="+mn-cs"/>
                <a:sym typeface="Calibri" panose="020F0502020204030204"/>
              </a:defRPr>
            </a:pPr>
            <a:r>
              <a:rPr dirty="0" lang="en-US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- History of intraarticular steroid injections within 2 preceding weeks</a:t>
            </a:r>
            <a:endParaRPr dirty="0"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indent="0" marL="0">
              <a:buNone/>
            </a:pPr>
            <a:endParaRPr dirty="0"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0" name="TextBox 11"/>
          <p:cNvSpPr txBox="1"/>
          <p:nvPr/>
        </p:nvSpPr>
        <p:spPr>
          <a:xfrm>
            <a:off x="1776095" y="1206500"/>
            <a:ext cx="8627110" cy="596900"/>
          </a:xfrm>
          <a:prstGeom prst="rect"/>
          <a:noFill/>
        </p:spPr>
        <p:txBody>
          <a:bodyPr rtlCol="0" wrap="square">
            <a:noAutofit/>
          </a:bodyPr>
          <a:p>
            <a:r>
              <a:rPr dirty="0" sz="3600" lang="en-US">
                <a:solidFill>
                  <a:srgbClr val="C00000"/>
                </a:solidFill>
                <a:latin typeface="Algerian" panose="04020705040A02060702" pitchFamily="82" charset="0"/>
                <a:cs typeface="Times New Roman" panose="02020603050405020304" pitchFamily="18" charset="0"/>
              </a:rPr>
              <a:t>PREPARATION  OF  PRP …..</a:t>
            </a:r>
            <a:endParaRPr dirty="0" sz="3600" lang="en-IN">
              <a:solidFill>
                <a:srgbClr val="C00000"/>
              </a:solidFill>
              <a:latin typeface="Algerian" panose="04020705040A02060702" pitchFamily="82" charset="0"/>
              <a:cs typeface="Times New Roman" panose="02020603050405020304" pitchFamily="18" charset="0"/>
            </a:endParaRPr>
          </a:p>
        </p:txBody>
      </p:sp>
      <p:pic>
        <p:nvPicPr>
          <p:cNvPr id="2097155" name="Picture 2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6650603" y="1928495"/>
            <a:ext cx="4041914" cy="3752850"/>
          </a:xfrm>
          <a:prstGeom prst="rect"/>
        </p:spPr>
      </p:pic>
      <p:sp>
        <p:nvSpPr>
          <p:cNvPr id="1048601" name="TextBox 4"/>
          <p:cNvSpPr txBox="1"/>
          <p:nvPr/>
        </p:nvSpPr>
        <p:spPr>
          <a:xfrm>
            <a:off x="1776095" y="1803400"/>
            <a:ext cx="4250055" cy="4962525"/>
          </a:xfrm>
          <a:prstGeom prst="rect"/>
          <a:noFill/>
        </p:spPr>
        <p:txBody>
          <a:bodyPr rtlCol="0" wrap="square">
            <a:noAutofit/>
          </a:bodyPr>
          <a:p>
            <a:pPr algn="just" defTabSz="850265" indent="-297815" marL="297815">
              <a:spcBef>
                <a:spcPts val="600"/>
              </a:spcBef>
              <a:defRPr sz="2200">
                <a:latin typeface="+mn-lt"/>
                <a:ea typeface="+mn-ea"/>
                <a:cs typeface="+mn-cs"/>
                <a:sym typeface="Calibri" panose="020F0502020204030204"/>
              </a:defRPr>
            </a:pPr>
            <a:r>
              <a:rPr dirty="0" sz="240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-  </a:t>
            </a:r>
            <a:r>
              <a:rPr b="1" dirty="0" sz="200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Is by differential centrifugation</a:t>
            </a:r>
            <a:endParaRPr baseline="30000" b="1" dirty="0" sz="2000"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defTabSz="850265" indent="-297815" marL="297815">
              <a:spcBef>
                <a:spcPts val="600"/>
              </a:spcBef>
              <a:defRPr sz="2200">
                <a:latin typeface="+mn-lt"/>
                <a:ea typeface="+mn-ea"/>
                <a:cs typeface="+mn-cs"/>
                <a:sym typeface="Calibri" panose="020F0502020204030204"/>
              </a:defRPr>
            </a:pPr>
            <a:r>
              <a:rPr dirty="0" sz="240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- 30 ml of venous blood harvested from the patient into acid citrate dextrose tubes. (Mixing rate 9:1).</a:t>
            </a:r>
            <a:endParaRPr dirty="0" sz="2400"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defTabSz="850265" indent="-297815" marL="297815">
              <a:spcBef>
                <a:spcPts val="600"/>
              </a:spcBef>
              <a:defRPr sz="2200">
                <a:latin typeface="+mn-lt"/>
                <a:ea typeface="+mn-ea"/>
                <a:cs typeface="+mn-cs"/>
                <a:sym typeface="Calibri" panose="020F0502020204030204"/>
              </a:defRPr>
            </a:pPr>
            <a:r>
              <a:rPr dirty="0" sz="240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- First soft spin at 1500 rpm for 3 minutes - supernatant is collected.</a:t>
            </a:r>
            <a:endParaRPr dirty="0" sz="2400"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defTabSz="850265" indent="-297815" marL="297815">
              <a:spcBef>
                <a:spcPts val="600"/>
              </a:spcBef>
              <a:defRPr sz="2200">
                <a:latin typeface="+mn-lt"/>
                <a:ea typeface="+mn-ea"/>
                <a:cs typeface="+mn-cs"/>
                <a:sym typeface="Calibri" panose="020F0502020204030204"/>
              </a:defRPr>
            </a:pPr>
            <a:r>
              <a:rPr dirty="0" sz="240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- Hard spin the supernatant at 2700 rpm for 15 minutes.</a:t>
            </a:r>
            <a:endParaRPr dirty="0" sz="2400"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defTabSz="850265" indent="-297815" marL="297815">
              <a:spcBef>
                <a:spcPts val="600"/>
              </a:spcBef>
              <a:defRPr sz="2200">
                <a:latin typeface="+mn-lt"/>
                <a:ea typeface="+mn-ea"/>
                <a:cs typeface="+mn-cs"/>
                <a:sym typeface="Calibri" panose="020F0502020204030204"/>
              </a:defRPr>
            </a:pPr>
            <a:r>
              <a:rPr dirty="0" sz="240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b="1" dirty="0" sz="240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Lower half is the platelet rich plasma.</a:t>
            </a:r>
            <a:endParaRPr b="1" dirty="0" sz="2400"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dirty="0" lang="en-I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4" name="TextBox 11"/>
          <p:cNvSpPr txBox="1"/>
          <p:nvPr/>
        </p:nvSpPr>
        <p:spPr>
          <a:xfrm>
            <a:off x="1782417" y="1273175"/>
            <a:ext cx="8627166" cy="574041"/>
          </a:xfrm>
          <a:prstGeom prst="rect"/>
          <a:noFill/>
        </p:spPr>
        <p:txBody>
          <a:bodyPr rtlCol="0" wrap="square">
            <a:spAutoFit/>
          </a:bodyPr>
          <a:p>
            <a:r>
              <a:rPr dirty="0" sz="4000" lang="en-US">
                <a:solidFill>
                  <a:srgbClr val="C00000"/>
                </a:solidFill>
                <a:latin typeface="Algerian" panose="04020705040A02060702" pitchFamily="82" charset="0"/>
                <a:cs typeface="Times New Roman" panose="02020603050405020304" pitchFamily="18" charset="0"/>
              </a:rPr>
              <a:t>PROCEDURE …..</a:t>
            </a:r>
            <a:endParaRPr dirty="0" sz="4000" lang="en-IN">
              <a:solidFill>
                <a:srgbClr val="C00000"/>
              </a:solidFill>
              <a:latin typeface="Algerian" panose="04020705040A02060702" pitchFamily="82" charset="0"/>
              <a:cs typeface="Times New Roman" panose="02020603050405020304" pitchFamily="18" charset="0"/>
            </a:endParaRPr>
          </a:p>
        </p:txBody>
      </p:sp>
      <p:pic>
        <p:nvPicPr>
          <p:cNvPr id="2097156" name="Picture 2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8598535" y="1572260"/>
            <a:ext cx="1654810" cy="1374140"/>
          </a:xfrm>
          <a:prstGeom prst="rect"/>
        </p:spPr>
      </p:pic>
      <p:pic>
        <p:nvPicPr>
          <p:cNvPr id="2097157" name="Picture 4"/>
          <p:cNvPicPr>
            <a:picLocks noChangeAspect="1"/>
          </p:cNvPicPr>
          <p:nvPr/>
        </p:nvPicPr>
        <p:blipFill>
          <a:blip xmlns:r="http://schemas.openxmlformats.org/officeDocument/2006/relationships" r:embed="rId2"/>
          <a:stretch>
            <a:fillRect/>
          </a:stretch>
        </p:blipFill>
        <p:spPr>
          <a:xfrm>
            <a:off x="8519795" y="4268470"/>
            <a:ext cx="1812925" cy="1505585"/>
          </a:xfrm>
          <a:prstGeom prst="rect"/>
        </p:spPr>
      </p:pic>
      <p:sp>
        <p:nvSpPr>
          <p:cNvPr id="1048605" name="TextBox 5"/>
          <p:cNvSpPr txBox="1"/>
          <p:nvPr/>
        </p:nvSpPr>
        <p:spPr>
          <a:xfrm>
            <a:off x="8155842" y="3244574"/>
            <a:ext cx="2695575" cy="320040"/>
          </a:xfrm>
          <a:prstGeom prst="rect"/>
          <a:noFill/>
        </p:spPr>
        <p:txBody>
          <a:bodyPr rtlCol="0" wrap="square">
            <a:spAutoFit/>
          </a:bodyPr>
          <a:p>
            <a:pPr algn="ctr"/>
            <a:r>
              <a:rPr b="1" dirty="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ACTIVATION OF PRP</a:t>
            </a:r>
            <a:endParaRPr b="1" dirty="0"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606" name="TextBox 6"/>
          <p:cNvSpPr txBox="1"/>
          <p:nvPr/>
        </p:nvSpPr>
        <p:spPr>
          <a:xfrm>
            <a:off x="8155940" y="6049645"/>
            <a:ext cx="2695575" cy="366395"/>
          </a:xfrm>
          <a:prstGeom prst="rect"/>
          <a:noFill/>
        </p:spPr>
        <p:txBody>
          <a:bodyPr rtlCol="0" wrap="square">
            <a:noAutofit/>
          </a:bodyPr>
          <a:p>
            <a:pPr algn="ctr"/>
            <a:r>
              <a:rPr b="1" dirty="0" sz="160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PRP ADMINISTRATION</a:t>
            </a:r>
            <a:endParaRPr b="1" dirty="0" sz="1600"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607" name="TextBox 7"/>
          <p:cNvSpPr txBox="1"/>
          <p:nvPr/>
        </p:nvSpPr>
        <p:spPr>
          <a:xfrm>
            <a:off x="2187575" y="1887220"/>
            <a:ext cx="4564380" cy="4722495"/>
          </a:xfrm>
          <a:prstGeom prst="rect"/>
          <a:noFill/>
        </p:spPr>
        <p:txBody>
          <a:bodyPr rtlCol="0" wrap="square">
            <a:noAutofit/>
          </a:bodyPr>
          <a:p>
            <a:pPr algn="just">
              <a:lnSpc>
                <a:spcPct val="100000"/>
              </a:lnSpc>
              <a:defRPr sz="2400">
                <a:latin typeface="+mn-lt"/>
                <a:ea typeface="+mn-ea"/>
                <a:cs typeface="+mn-cs"/>
                <a:sym typeface="Calibri" panose="020F0502020204030204"/>
              </a:defRPr>
            </a:pPr>
            <a:r>
              <a:rPr dirty="0" sz="280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- Under strict aseptic precautions, patient  thoroughly prepped &amp; draped with the knee in extension.</a:t>
            </a:r>
            <a:endParaRPr dirty="0" sz="2800"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defRPr sz="2400">
                <a:latin typeface="+mn-lt"/>
                <a:ea typeface="+mn-ea"/>
                <a:cs typeface="+mn-cs"/>
                <a:sym typeface="Calibri" panose="020F0502020204030204"/>
              </a:defRPr>
            </a:pPr>
            <a:r>
              <a:rPr dirty="0" sz="280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- PRP is activated with calcium chloride and injected into the knee joint.</a:t>
            </a:r>
            <a:endParaRPr dirty="0" sz="2800"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defRPr sz="2400">
                <a:latin typeface="+mn-lt"/>
                <a:ea typeface="+mn-ea"/>
                <a:cs typeface="+mn-cs"/>
                <a:sym typeface="Calibri" panose="020F0502020204030204"/>
              </a:defRPr>
            </a:pPr>
            <a:r>
              <a:rPr dirty="0" sz="280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- Total   three </a:t>
            </a:r>
            <a:r>
              <a:rPr dirty="0" sz="2800" lang="en-US" err="1">
                <a:latin typeface="Times New Roman" panose="02020603050405020304" pitchFamily="18" charset="0"/>
                <a:cs typeface="Times New Roman" panose="02020603050405020304" pitchFamily="18" charset="0"/>
              </a:rPr>
              <a:t>prp</a:t>
            </a:r>
            <a:r>
              <a:rPr dirty="0" sz="280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injections  given at 3 weekly intervals with review at 3 weeks, 6 weeks and  6 months.</a:t>
            </a:r>
            <a:endParaRPr dirty="0" sz="2800"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5" name="Title 1"/>
          <p:cNvSpPr>
            <a:spLocks noGrp="1"/>
          </p:cNvSpPr>
          <p:nvPr>
            <p:ph type="title"/>
          </p:nvPr>
        </p:nvSpPr>
        <p:spPr>
          <a:xfrm>
            <a:off x="1643380" y="1196052"/>
            <a:ext cx="9143999" cy="822944"/>
          </a:xfrm>
        </p:spPr>
        <p:txBody>
          <a:bodyPr>
            <a:normAutofit/>
          </a:bodyPr>
          <a:p>
            <a:pPr algn="l"/>
            <a:r>
              <a:rPr dirty="0" sz="4000" lang="en-US">
                <a:solidFill>
                  <a:srgbClr val="C00000"/>
                </a:solidFill>
                <a:latin typeface="Algerian" panose="04020705040A02060702" pitchFamily="82" charset="0"/>
              </a:rPr>
              <a:t>Post injection advice …..</a:t>
            </a:r>
            <a:endParaRPr dirty="0" sz="4000" lang="en-US">
              <a:solidFill>
                <a:srgbClr val="C00000"/>
              </a:solidFill>
              <a:latin typeface="Algerian" panose="04020705040A02060702" pitchFamily="82" charset="0"/>
            </a:endParaRPr>
          </a:p>
        </p:txBody>
      </p:sp>
      <p:sp>
        <p:nvSpPr>
          <p:cNvPr id="1048616" name="TextBox 1"/>
          <p:cNvSpPr txBox="1"/>
          <p:nvPr/>
        </p:nvSpPr>
        <p:spPr>
          <a:xfrm>
            <a:off x="1643380" y="1701165"/>
            <a:ext cx="8839200" cy="2698750"/>
          </a:xfrm>
          <a:prstGeom prst="rect"/>
          <a:noFill/>
        </p:spPr>
        <p:txBody>
          <a:bodyPr rtlCol="0" wrap="square">
            <a:noAutofit/>
          </a:bodyPr>
          <a:p>
            <a:pPr algn="just">
              <a:defRPr sz="2400">
                <a:latin typeface="+mn-lt"/>
                <a:ea typeface="+mn-ea"/>
                <a:cs typeface="+mn-cs"/>
                <a:sym typeface="Calibri" panose="020F0502020204030204"/>
              </a:defRPr>
            </a:pPr>
            <a:r>
              <a:rPr dirty="0" sz="320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- Compression crepe bandage applied. </a:t>
            </a:r>
            <a:endParaRPr dirty="0" sz="3200"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defRPr sz="2400">
                <a:latin typeface="+mn-lt"/>
                <a:ea typeface="+mn-ea"/>
                <a:cs typeface="+mn-cs"/>
                <a:sym typeface="Calibri" panose="020F0502020204030204"/>
              </a:defRPr>
            </a:pPr>
            <a:r>
              <a:rPr dirty="0" sz="320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- Advised rest for 24 hours with avoidance of vigorous activities.</a:t>
            </a:r>
            <a:endParaRPr dirty="0" sz="3200"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defRPr sz="2400">
                <a:latin typeface="+mn-lt"/>
                <a:ea typeface="+mn-ea"/>
                <a:cs typeface="+mn-cs"/>
                <a:sym typeface="Calibri" panose="020F0502020204030204"/>
              </a:defRPr>
            </a:pPr>
            <a:r>
              <a:rPr dirty="0" sz="320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- Ice compression and  limb elevation  to reduce pain and swelling.</a:t>
            </a:r>
            <a:endParaRPr dirty="0" sz="3200"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defRPr sz="2400">
                <a:latin typeface="+mn-lt"/>
                <a:ea typeface="+mn-ea"/>
                <a:cs typeface="+mn-cs"/>
                <a:sym typeface="Calibri" panose="020F0502020204030204"/>
              </a:defRPr>
            </a:pPr>
            <a:r>
              <a:rPr dirty="0" sz="320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- Three days of oral antibiotics.</a:t>
            </a:r>
            <a:endParaRPr dirty="0" sz="3200"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defRPr sz="2400">
                <a:latin typeface="+mn-lt"/>
                <a:ea typeface="+mn-ea"/>
                <a:cs typeface="+mn-cs"/>
                <a:sym typeface="Calibri" panose="020F0502020204030204"/>
              </a:defRPr>
            </a:pPr>
            <a:r>
              <a:rPr dirty="0" sz="320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- Patients are advised to quit taking NSAIDS</a:t>
            </a:r>
            <a:endParaRPr dirty="0" sz="3200"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97158" name="Picture 4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5314950" y="5253355"/>
            <a:ext cx="2265045" cy="1428115"/>
          </a:xfrm>
          <a:prstGeom prst="rect"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0" name="TextBox 1"/>
          <p:cNvSpPr txBox="1"/>
          <p:nvPr/>
        </p:nvSpPr>
        <p:spPr>
          <a:xfrm>
            <a:off x="2055191" y="1225909"/>
            <a:ext cx="8653670" cy="574040"/>
          </a:xfrm>
          <a:prstGeom prst="rect"/>
          <a:noFill/>
        </p:spPr>
        <p:txBody>
          <a:bodyPr rtlCol="0" wrap="square">
            <a:spAutoFit/>
          </a:bodyPr>
          <a:p>
            <a:r>
              <a:rPr altLang="en-US" dirty="0" sz="4000" lang="en-IN">
                <a:solidFill>
                  <a:srgbClr val="C00000"/>
                </a:solidFill>
                <a:latin typeface="Algerian" panose="04020705040A02060702" pitchFamily="82" charset="0"/>
              </a:rPr>
              <a:t>     </a:t>
            </a:r>
            <a:r>
              <a:rPr dirty="0" sz="4000" lang="en-US">
                <a:solidFill>
                  <a:srgbClr val="C00000"/>
                </a:solidFill>
                <a:latin typeface="Algerian" panose="04020705040A02060702" pitchFamily="82" charset="0"/>
              </a:rPr>
              <a:t>results …..</a:t>
            </a:r>
            <a:endParaRPr dirty="0" sz="4000" lang="en-IN">
              <a:solidFill>
                <a:srgbClr val="C00000"/>
              </a:solidFill>
              <a:latin typeface="Algerian" panose="04020705040A02060702" pitchFamily="82" charset="0"/>
            </a:endParaRPr>
          </a:p>
        </p:txBody>
      </p:sp>
      <p:sp>
        <p:nvSpPr>
          <p:cNvPr id="1048621" name="TextBox 3"/>
          <p:cNvSpPr txBox="1"/>
          <p:nvPr/>
        </p:nvSpPr>
        <p:spPr>
          <a:xfrm>
            <a:off x="2148205" y="1750695"/>
            <a:ext cx="8122285" cy="4118610"/>
          </a:xfrm>
          <a:prstGeom prst="rect"/>
          <a:noFill/>
        </p:spPr>
        <p:txBody>
          <a:bodyPr rtlCol="0" wrap="square">
            <a:noAutofit/>
          </a:bodyPr>
          <a:p>
            <a:pPr algn="just" indent="-457200" marL="457200">
              <a:buFontTx/>
              <a:buChar char="-"/>
            </a:pPr>
            <a:r>
              <a:rPr dirty="0" sz="3200" lang="en-US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Georgia" panose="02040502050405020303" pitchFamily="18" charset="0"/>
              </a:rPr>
              <a:t>All the patients were followed up at regular intervals and there are no drop outs. </a:t>
            </a:r>
            <a:endParaRPr dirty="0" sz="3200" lang="en-US">
              <a:solidFill>
                <a:srgbClr val="333333"/>
              </a:solidFill>
              <a:effectLst/>
              <a:latin typeface="Times New Roman" panose="02020603050405020304" pitchFamily="18" charset="0"/>
              <a:ea typeface="Georgia" panose="02040502050405020303" pitchFamily="18" charset="0"/>
            </a:endParaRPr>
          </a:p>
          <a:p>
            <a:pPr algn="just" indent="-457200" marL="457200">
              <a:buFontTx/>
              <a:buChar char="-"/>
            </a:pPr>
            <a:r>
              <a:rPr dirty="0" sz="3200" lang="en-US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Georgia" panose="02040502050405020303" pitchFamily="18" charset="0"/>
              </a:rPr>
              <a:t>There was a statistically significant improvement in the pain intensity and activities of daily living at the end of 6 weeks. </a:t>
            </a:r>
            <a:endParaRPr dirty="0" sz="3200" lang="en-US">
              <a:solidFill>
                <a:srgbClr val="333333"/>
              </a:solidFill>
              <a:effectLst/>
              <a:latin typeface="Times New Roman" panose="02020603050405020304" pitchFamily="18" charset="0"/>
              <a:ea typeface="Georgia" panose="02040502050405020303" pitchFamily="18" charset="0"/>
            </a:endParaRPr>
          </a:p>
          <a:p>
            <a:pPr algn="just" indent="-457200" marL="457200">
              <a:buFontTx/>
              <a:buChar char="-"/>
            </a:pPr>
            <a:r>
              <a:rPr dirty="0" sz="3200" lang="en-US">
                <a:effectLst/>
                <a:latin typeface="Times New Roman" panose="02020603050405020304" pitchFamily="18" charset="0"/>
                <a:ea typeface="Calibri" panose="020F0502020204030204" charset="0"/>
              </a:rPr>
              <a:t>Two patients had persistent swelling for 4 days which resolved with ice compressions.</a:t>
            </a:r>
            <a:r>
              <a:rPr b="1" dirty="0" sz="3200" lang="en-US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Georgia" panose="02040502050405020303" pitchFamily="18" charset="0"/>
              </a:rPr>
              <a:t> </a:t>
            </a:r>
            <a:endParaRPr b="1" dirty="0" sz="3200" lang="en-US">
              <a:solidFill>
                <a:srgbClr val="333333"/>
              </a:solidFill>
              <a:effectLst/>
              <a:latin typeface="Times New Roman" panose="02020603050405020304" pitchFamily="18" charset="0"/>
              <a:ea typeface="Georgia" panose="02040502050405020303" pitchFamily="18" charset="0"/>
            </a:endParaRPr>
          </a:p>
          <a:p>
            <a:pPr algn="just" indent="-457200" marL="457200">
              <a:buFontTx/>
              <a:buChar char="-"/>
            </a:pPr>
            <a:r>
              <a:rPr dirty="0" sz="3200" lang="en-US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Georgia" panose="02040502050405020303" pitchFamily="18" charset="0"/>
              </a:rPr>
              <a:t>I</a:t>
            </a:r>
            <a:r>
              <a:rPr dirty="0" sz="3200" lang="en-US">
                <a:effectLst/>
                <a:latin typeface="Times New Roman" panose="02020603050405020304" pitchFamily="18" charset="0"/>
                <a:ea typeface="Calibri" panose="020F0502020204030204" charset="0"/>
              </a:rPr>
              <a:t>nfection was not seen in any case.</a:t>
            </a:r>
            <a:r>
              <a:rPr b="1" dirty="0" sz="3200" lang="en-US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Georgia" panose="02040502050405020303" pitchFamily="18" charset="0"/>
              </a:rPr>
              <a:t> </a:t>
            </a:r>
            <a:endParaRPr b="1" dirty="0" sz="3200" lang="en-US">
              <a:solidFill>
                <a:srgbClr val="333333"/>
              </a:solidFill>
              <a:effectLst/>
              <a:latin typeface="Times New Roman" panose="02020603050405020304" pitchFamily="18" charset="0"/>
              <a:ea typeface="Georgia" panose="02040502050405020303" pitchFamily="18" charset="0"/>
            </a:endParaRPr>
          </a:p>
          <a:p>
            <a:pPr algn="just" indent="-457200" marL="457200">
              <a:buFontTx/>
              <a:buChar char="-"/>
            </a:pPr>
            <a:r>
              <a:rPr dirty="0" sz="3200" lang="en-US">
                <a:effectLst/>
                <a:latin typeface="Times New Roman" panose="02020603050405020304" pitchFamily="18" charset="0"/>
                <a:ea typeface="Calibri" panose="020F0502020204030204" charset="0"/>
              </a:rPr>
              <a:t>Patients were evaluated for improvement by </a:t>
            </a:r>
            <a:r>
              <a:rPr b="1" dirty="0" sz="3200" lang="en-US">
                <a:effectLst/>
                <a:latin typeface="Times New Roman" panose="02020603050405020304" pitchFamily="18" charset="0"/>
                <a:ea typeface="Calibri" panose="020F0502020204030204" charset="0"/>
              </a:rPr>
              <a:t>KOOS, WOMAC</a:t>
            </a:r>
            <a:r>
              <a:rPr dirty="0" sz="3200" lang="en-US">
                <a:effectLst/>
                <a:latin typeface="Times New Roman" panose="02020603050405020304" pitchFamily="18" charset="0"/>
                <a:ea typeface="Calibri" panose="020F0502020204030204" charset="0"/>
              </a:rPr>
              <a:t> and </a:t>
            </a:r>
            <a:r>
              <a:rPr b="1" dirty="0" sz="3200" lang="en-US">
                <a:effectLst/>
                <a:latin typeface="Times New Roman" panose="02020603050405020304" pitchFamily="18" charset="0"/>
                <a:ea typeface="Calibri" panose="020F0502020204030204" charset="0"/>
              </a:rPr>
              <a:t>VAS</a:t>
            </a:r>
            <a:r>
              <a:rPr dirty="0" sz="3200" lang="en-US">
                <a:effectLst/>
                <a:latin typeface="Times New Roman" panose="02020603050405020304" pitchFamily="18" charset="0"/>
                <a:ea typeface="Calibri" panose="020F0502020204030204" charset="0"/>
              </a:rPr>
              <a:t> scores.</a:t>
            </a:r>
            <a:endParaRPr dirty="0" sz="3200" lang="en-IN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2" name="TextBox 3"/>
          <p:cNvSpPr txBox="1"/>
          <p:nvPr/>
        </p:nvSpPr>
        <p:spPr>
          <a:xfrm>
            <a:off x="1752600" y="3564255"/>
            <a:ext cx="2885661" cy="320040"/>
          </a:xfrm>
          <a:prstGeom prst="rect"/>
          <a:noFill/>
        </p:spPr>
        <p:txBody>
          <a:bodyPr rtlCol="0" wrap="square">
            <a:spAutoFit/>
          </a:bodyPr>
          <a:p>
            <a:pPr algn="ctr"/>
            <a:r>
              <a:rPr dirty="0" lang="en-US">
                <a:solidFill>
                  <a:srgbClr val="FF0000"/>
                </a:solidFill>
                <a:latin typeface="Britannic Bold" panose="020B0903060703020204" pitchFamily="34" charset="0"/>
                <a:cs typeface="Times New Roman" panose="02020603050405020304" pitchFamily="18" charset="0"/>
              </a:rPr>
              <a:t>XRAY</a:t>
            </a:r>
            <a:endParaRPr dirty="0" lang="en-IN">
              <a:solidFill>
                <a:srgbClr val="FF0000"/>
              </a:solidFill>
              <a:latin typeface="Britannic Bold" panose="020B0903060703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48623" name="TextBox 5"/>
          <p:cNvSpPr txBox="1"/>
          <p:nvPr/>
        </p:nvSpPr>
        <p:spPr>
          <a:xfrm>
            <a:off x="7553740" y="3472935"/>
            <a:ext cx="2885660" cy="320040"/>
          </a:xfrm>
          <a:prstGeom prst="rect"/>
          <a:noFill/>
        </p:spPr>
        <p:txBody>
          <a:bodyPr rtlCol="0" wrap="square">
            <a:spAutoFit/>
          </a:bodyPr>
          <a:p>
            <a:pPr algn="ctr"/>
            <a:r>
              <a:rPr dirty="0" lang="en-US">
                <a:solidFill>
                  <a:srgbClr val="FF0000"/>
                </a:solidFill>
                <a:latin typeface="Britannic Bold" panose="020B0903060703020204" pitchFamily="34" charset="0"/>
              </a:rPr>
              <a:t>BEFORE PRP INJECTION</a:t>
            </a:r>
            <a:endParaRPr dirty="0" lang="en-IN">
              <a:solidFill>
                <a:srgbClr val="FF0000"/>
              </a:solidFill>
              <a:latin typeface="Britannic Bold" panose="020B0903060703020204" pitchFamily="34" charset="0"/>
            </a:endParaRPr>
          </a:p>
        </p:txBody>
      </p:sp>
      <p:sp>
        <p:nvSpPr>
          <p:cNvPr id="1048624" name="TextBox 9"/>
          <p:cNvSpPr txBox="1"/>
          <p:nvPr/>
        </p:nvSpPr>
        <p:spPr>
          <a:xfrm>
            <a:off x="4638261" y="6467061"/>
            <a:ext cx="2885660" cy="320040"/>
          </a:xfrm>
          <a:prstGeom prst="rect"/>
          <a:noFill/>
        </p:spPr>
        <p:txBody>
          <a:bodyPr rtlCol="0" wrap="square">
            <a:spAutoFit/>
          </a:bodyPr>
          <a:p>
            <a:pPr algn="ctr"/>
            <a:r>
              <a:rPr dirty="0" lang="en-US">
                <a:solidFill>
                  <a:srgbClr val="FF0000"/>
                </a:solidFill>
                <a:latin typeface="Britannic Bold" panose="020B0903060703020204" pitchFamily="34" charset="0"/>
              </a:rPr>
              <a:t>AFTER PRP INJECTION</a:t>
            </a:r>
            <a:endParaRPr dirty="0" lang="en-IN">
              <a:solidFill>
                <a:srgbClr val="FF0000"/>
              </a:solidFill>
              <a:latin typeface="Britannic Bold" panose="020B0903060703020204" pitchFamily="34" charset="0"/>
            </a:endParaRPr>
          </a:p>
        </p:txBody>
      </p:sp>
      <p:pic>
        <p:nvPicPr>
          <p:cNvPr id="2097159" name="Picture 2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2186940" y="1528445"/>
            <a:ext cx="2312670" cy="2035810"/>
          </a:xfrm>
          <a:prstGeom prst="rect"/>
        </p:spPr>
      </p:pic>
      <p:pic>
        <p:nvPicPr>
          <p:cNvPr id="2097160" name="Picture 13"/>
          <p:cNvPicPr>
            <a:picLocks noChangeAspect="1"/>
          </p:cNvPicPr>
          <p:nvPr/>
        </p:nvPicPr>
        <p:blipFill>
          <a:blip xmlns:r="http://schemas.openxmlformats.org/officeDocument/2006/relationships" r:embed="rId2"/>
          <a:stretch>
            <a:fillRect/>
          </a:stretch>
        </p:blipFill>
        <p:spPr>
          <a:xfrm>
            <a:off x="8026400" y="1663700"/>
            <a:ext cx="2042795" cy="1765300"/>
          </a:xfrm>
          <a:prstGeom prst="rect"/>
        </p:spPr>
      </p:pic>
      <p:pic>
        <p:nvPicPr>
          <p:cNvPr id="2097161" name="Picture 17"/>
          <p:cNvPicPr>
            <a:picLocks noChangeAspect="1"/>
          </p:cNvPicPr>
          <p:nvPr/>
        </p:nvPicPr>
        <p:blipFill>
          <a:blip xmlns:r="http://schemas.openxmlformats.org/officeDocument/2006/relationships" r:embed="rId3"/>
          <a:stretch>
            <a:fillRect/>
          </a:stretch>
        </p:blipFill>
        <p:spPr>
          <a:xfrm>
            <a:off x="4638260" y="3842267"/>
            <a:ext cx="2885661" cy="2326620"/>
          </a:xfrm>
          <a:prstGeom prst="rect"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5" name="Title 1048718"/>
          <p:cNvSpPr>
            <a:spLocks noGrp="1"/>
          </p:cNvSpPr>
          <p:nvPr>
            <p:ph type="title"/>
          </p:nvPr>
        </p:nvSpPr>
        <p:spPr>
          <a:xfrm>
            <a:off x="1524000" y="1260344"/>
            <a:ext cx="9144000" cy="742529"/>
          </a:xfrm>
        </p:spPr>
        <p:txBody>
          <a:bodyPr/>
          <a:p>
            <a:r>
              <a:rPr dirty="0" lang="en-US">
                <a:solidFill>
                  <a:srgbClr val="C00000"/>
                </a:solidFill>
                <a:latin typeface="Algerian" panose="04020705040A02060702" pitchFamily="82" charset="0"/>
              </a:rPr>
              <a:t>DISCUSSION …..</a:t>
            </a:r>
            <a:endParaRPr dirty="0" lang="en-GB">
              <a:solidFill>
                <a:srgbClr val="C00000"/>
              </a:solidFill>
              <a:latin typeface="Algerian" panose="04020705040A02060702" pitchFamily="82" charset="0"/>
            </a:endParaRPr>
          </a:p>
        </p:txBody>
      </p:sp>
      <p:sp>
        <p:nvSpPr>
          <p:cNvPr id="1048626" name="Content Placeholder 1048719"/>
          <p:cNvSpPr>
            <a:spLocks noGrp="1"/>
          </p:cNvSpPr>
          <p:nvPr>
            <p:ph idx="1"/>
          </p:nvPr>
        </p:nvSpPr>
        <p:spPr>
          <a:xfrm>
            <a:off x="1118870" y="2002790"/>
            <a:ext cx="8372475" cy="4626610"/>
          </a:xfrm>
        </p:spPr>
        <p:txBody>
          <a:bodyPr>
            <a:noAutofit/>
          </a:bodyPr>
          <a:p>
            <a:pPr algn="just">
              <a:buFontTx/>
              <a:buChar char="-"/>
            </a:pPr>
            <a:r>
              <a:rPr dirty="0" lang="en-US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Georgia" panose="02040502050405020303" pitchFamily="18" charset="0"/>
              </a:rPr>
              <a:t>The International osteoarthritis research society (OARSI) states that there is little evidence that currently used drugs in osteoarthritis have action against progression of osteoarthritis. </a:t>
            </a:r>
            <a:endParaRPr dirty="0" lang="en-US">
              <a:solidFill>
                <a:srgbClr val="333333"/>
              </a:solidFill>
              <a:effectLst/>
              <a:latin typeface="Times New Roman" panose="02020603050405020304" pitchFamily="18" charset="0"/>
              <a:ea typeface="Georgia" panose="02040502050405020303" pitchFamily="18" charset="0"/>
            </a:endParaRPr>
          </a:p>
          <a:p>
            <a:pPr algn="just">
              <a:buFontTx/>
              <a:buChar char="-"/>
            </a:pPr>
            <a:r>
              <a:rPr dirty="0" lang="en-US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Georgia" panose="02040502050405020303" pitchFamily="18" charset="0"/>
              </a:rPr>
              <a:t>A relatively new strategy is the use of cell elements and bio-mediators of tissue response in osteoarthritis.</a:t>
            </a:r>
            <a:r>
              <a:rPr b="1" dirty="0" lang="en-US">
                <a:effectLst/>
                <a:latin typeface="Times New Roman" panose="02020603050405020304" pitchFamily="18" charset="0"/>
                <a:ea typeface="Calibri" panose="020F0502020204030204" charset="0"/>
              </a:rPr>
              <a:t> </a:t>
            </a:r>
            <a:r>
              <a:rPr dirty="0" lang="en-US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Georgia" panose="02040502050405020303" pitchFamily="18" charset="0"/>
              </a:rPr>
              <a:t>PRP stimulates the natural healing cascade of tissue regeneration by supra-physiologic release of platelet-derived factors directly at the site of treatment.</a:t>
            </a:r>
            <a:r>
              <a:rPr b="1" dirty="0" lang="en-US">
                <a:effectLst/>
                <a:latin typeface="Times New Roman" panose="02020603050405020304" pitchFamily="18" charset="0"/>
                <a:ea typeface="Calibri" panose="020F0502020204030204" charset="0"/>
              </a:rPr>
              <a:t> </a:t>
            </a:r>
            <a:endParaRPr b="1" dirty="0" lang="en-US">
              <a:effectLst/>
              <a:latin typeface="Times New Roman" panose="02020603050405020304" pitchFamily="18" charset="0"/>
              <a:ea typeface="Calibri" panose="020F0502020204030204" charset="0"/>
            </a:endParaRPr>
          </a:p>
          <a:p>
            <a:pPr algn="just" indent="0" marL="0">
              <a:buFontTx/>
              <a:buNone/>
            </a:pPr>
            <a:endParaRPr dirty="0"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2" name=""/>
        <p:cNvGrpSpPr/>
        <p:nvPr/>
      </p:nvGrpSpPr>
      <p:grpSpPr>
        <a:xfrm/>
      </p:grpSpPr>
      <p:sp>
        <p:nvSpPr>
          <p:cNvPr id="1048627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1048628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dirty="0" lang="en-US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Georgia" panose="02040502050405020303" pitchFamily="18" charset="0"/>
                <a:sym typeface="+mn-ea"/>
              </a:rPr>
              <a:t>Patel et al Showed significant improvement in PRP treated osteoarthritis knee group compared to placebo.</a:t>
            </a:r>
            <a:r>
              <a:rPr b="1" dirty="0" lang="en-US">
                <a:effectLst/>
                <a:latin typeface="Times New Roman" panose="02020603050405020304" pitchFamily="18" charset="0"/>
                <a:ea typeface="Calibri" panose="020F0502020204030204" charset="0"/>
                <a:sym typeface="+mn-ea"/>
              </a:rPr>
              <a:t> </a:t>
            </a:r>
            <a:r>
              <a:rPr dirty="0" lang="en-US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Georgia" panose="02040502050405020303" pitchFamily="18" charset="0"/>
                <a:sym typeface="+mn-ea"/>
              </a:rPr>
              <a:t>Negative clinical results are mostly associated with injection of poor quality PRP.</a:t>
            </a:r>
            <a:r>
              <a:rPr baseline="30000" dirty="0" lang="en-US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Georgia" panose="02040502050405020303" pitchFamily="18" charset="0"/>
                <a:sym typeface="+mn-ea"/>
              </a:rPr>
              <a:t> </a:t>
            </a:r>
            <a:r>
              <a:rPr dirty="0" lang="en-US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Georgia" panose="02040502050405020303" pitchFamily="18" charset="0"/>
                <a:sym typeface="+mn-ea"/>
              </a:rPr>
              <a:t>The variability in platelet concentrating techniques may alter platelet degranulation characteristics that could affect clinical outcomes.</a:t>
            </a:r>
            <a:endParaRPr dirty="0"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 marL="0">
              <a:buNone/>
            </a:pPr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9" name="Title 1048720"/>
          <p:cNvSpPr>
            <a:spLocks noGrp="1"/>
          </p:cNvSpPr>
          <p:nvPr>
            <p:ph type="title"/>
          </p:nvPr>
        </p:nvSpPr>
        <p:spPr>
          <a:xfrm>
            <a:off x="1446530" y="1566545"/>
            <a:ext cx="9144000" cy="368935"/>
          </a:xfrm>
        </p:spPr>
        <p:txBody>
          <a:bodyPr/>
          <a:p>
            <a:r>
              <a:rPr altLang="en-US" dirty="0" lang="en-IN">
                <a:solidFill>
                  <a:srgbClr val="C00000"/>
                </a:solidFill>
                <a:latin typeface="Algerian" panose="04020705040A02060702" pitchFamily="82" charset="0"/>
              </a:rPr>
              <a:t>    </a:t>
            </a:r>
            <a:r>
              <a:rPr dirty="0" lang="en-US">
                <a:solidFill>
                  <a:srgbClr val="C00000"/>
                </a:solidFill>
                <a:latin typeface="Algerian" panose="04020705040A02060702" pitchFamily="82" charset="0"/>
              </a:rPr>
              <a:t>CONCLUSION …..</a:t>
            </a:r>
            <a:endParaRPr dirty="0" lang="en-GB">
              <a:solidFill>
                <a:srgbClr val="C00000"/>
              </a:solidFill>
              <a:latin typeface="Algerian" panose="04020705040A02060702" pitchFamily="82" charset="0"/>
            </a:endParaRPr>
          </a:p>
        </p:txBody>
      </p:sp>
      <p:sp>
        <p:nvSpPr>
          <p:cNvPr id="1048630" name="Content Placeholder 1048721"/>
          <p:cNvSpPr>
            <a:spLocks noGrp="1"/>
          </p:cNvSpPr>
          <p:nvPr>
            <p:ph idx="1"/>
          </p:nvPr>
        </p:nvSpPr>
        <p:spPr>
          <a:xfrm>
            <a:off x="1782445" y="2218055"/>
            <a:ext cx="8627110" cy="3608070"/>
          </a:xfrm>
        </p:spPr>
        <p:txBody>
          <a:bodyPr>
            <a:normAutofit/>
          </a:bodyPr>
          <a:p>
            <a:pPr algn="just">
              <a:buFontTx/>
              <a:buChar char="-"/>
            </a:pPr>
            <a:r>
              <a:rPr dirty="0" lang="en-US">
                <a:effectLst/>
                <a:latin typeface="Times New Roman" panose="02020603050405020304" pitchFamily="18" charset="0"/>
                <a:ea typeface="Georgia" panose="02040502050405020303" pitchFamily="18" charset="0"/>
              </a:rPr>
              <a:t>PRP is a novel therapy in the treatment of early osteoarthritic knee pain.</a:t>
            </a:r>
            <a:r>
              <a:rPr b="1" dirty="0" lang="en-US">
                <a:effectLst/>
                <a:latin typeface="Times New Roman" panose="02020603050405020304" pitchFamily="18" charset="0"/>
                <a:ea typeface="Georgia" panose="02040502050405020303" pitchFamily="18" charset="0"/>
              </a:rPr>
              <a:t> </a:t>
            </a:r>
            <a:r>
              <a:rPr dirty="0" lang="en-US">
                <a:effectLst/>
                <a:latin typeface="Times New Roman" panose="02020603050405020304" pitchFamily="18" charset="0"/>
                <a:ea typeface="Georgia" panose="02040502050405020303" pitchFamily="18" charset="0"/>
              </a:rPr>
              <a:t>It’s a simple and cost effective day care procedure which provides natural environment for regeneration of articular tissue.</a:t>
            </a:r>
            <a:r>
              <a:rPr b="1" dirty="0" lang="en-US">
                <a:effectLst/>
                <a:latin typeface="Times New Roman" panose="02020603050405020304" pitchFamily="18" charset="0"/>
                <a:ea typeface="Georgia" panose="02040502050405020303" pitchFamily="18" charset="0"/>
              </a:rPr>
              <a:t> </a:t>
            </a:r>
            <a:endParaRPr b="1" dirty="0" lang="en-US">
              <a:effectLst/>
              <a:latin typeface="Times New Roman" panose="02020603050405020304" pitchFamily="18" charset="0"/>
              <a:ea typeface="Georgia" panose="02040502050405020303" pitchFamily="18" charset="0"/>
            </a:endParaRPr>
          </a:p>
          <a:p>
            <a:pPr algn="just">
              <a:buFontTx/>
              <a:buChar char="-"/>
            </a:pPr>
            <a:r>
              <a:rPr dirty="0" lang="en-US">
                <a:effectLst/>
                <a:latin typeface="Times New Roman" panose="02020603050405020304" pitchFamily="18" charset="0"/>
                <a:ea typeface="Georgia" panose="02040502050405020303" pitchFamily="18" charset="0"/>
              </a:rPr>
              <a:t>Our study showed significant improvement in pain and activities of daily living with measurable increase in pain free range of motion.</a:t>
            </a:r>
            <a:r>
              <a:rPr b="1" dirty="0" lang="en-US">
                <a:effectLst/>
                <a:latin typeface="Times New Roman" panose="02020603050405020304" pitchFamily="18" charset="0"/>
                <a:ea typeface="Georgia" panose="02040502050405020303" pitchFamily="18" charset="0"/>
              </a:rPr>
              <a:t> </a:t>
            </a:r>
            <a:r>
              <a:rPr dirty="0" lang="en-US">
                <a:effectLst/>
                <a:latin typeface="Times New Roman" panose="02020603050405020304" pitchFamily="18" charset="0"/>
                <a:ea typeface="Georgia" panose="02040502050405020303" pitchFamily="18" charset="0"/>
              </a:rPr>
              <a:t>Hence, we conclude that PRP is a promising therapy for early osteoarthritic knee pain.</a:t>
            </a:r>
            <a:endParaRPr dirty="0" lang="en-GB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1" name="Title 1048714"/>
          <p:cNvSpPr>
            <a:spLocks noGrp="1"/>
          </p:cNvSpPr>
          <p:nvPr>
            <p:ph type="ctrTitle"/>
          </p:nvPr>
        </p:nvSpPr>
        <p:spPr>
          <a:xfrm>
            <a:off x="1616765" y="2235200"/>
            <a:ext cx="9144000" cy="2387600"/>
          </a:xfrm>
        </p:spPr>
        <p:txBody>
          <a:bodyPr anchor="ctr">
            <a:normAutofit/>
          </a:bodyPr>
          <a:p>
            <a:r>
              <a:rPr dirty="0" sz="9600" lang="en-US">
                <a:solidFill>
                  <a:srgbClr val="C00000"/>
                </a:solidFill>
                <a:latin typeface="Algerian" panose="04020705040A02060702" pitchFamily="82" charset="0"/>
              </a:rPr>
              <a:t>THANK YOU</a:t>
            </a:r>
            <a:endParaRPr dirty="0" sz="9600" lang="en-GB">
              <a:solidFill>
                <a:srgbClr val="C00000"/>
              </a:solidFill>
              <a:latin typeface="Algerian" panose="04020705040A02060702" pitchFamily="82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lastClr="000000" val="windowText"/>
      </a:dk1>
      <a:lt1>
        <a:sysClr lastClr="FFFFFF" val="window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ppt/theme/theme2.xml><?xml version="1.0" encoding="utf-8"?>
<a:theme xmlns:a="http://schemas.openxmlformats.org/drawingml/2006/main" name="Office 主题">
  <a:themeElements>
    <a:clrScheme name="Offic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TH Sarabun PSK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TH Sarabun PSK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>
  <Application>WPS Presentation</Application>
  <ScaleCrop>0</ScaleCrop>
  <LinksUpToDate>0</LinksUpToDate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Virinchi Vinay</dc:creator>
  <cp:lastModifiedBy>SOMNATH DAS</cp:lastModifiedBy>
  <dcterms:created xsi:type="dcterms:W3CDTF">2026-01-10T19:24:00Z</dcterms:created>
  <dcterms:modified xsi:type="dcterms:W3CDTF">2026-02-13T15:27:05Z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32c9242eac4e4a319e5eb660b48b2521</vt:lpwstr>
  </property>
  <property fmtid="{D5CDD505-2E9C-101B-9397-08002B2CF9AE}" pid="3" name="KSOProductBuildVer">
    <vt:lpwstr>1033-12.2.0.23196</vt:lpwstr>
  </property>
</Properties>
</file>