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62"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311B43-DAE3-4912-A317-ED0885D13FD1}" type="datetimeFigureOut">
              <a:rPr lang="en-IN" smtClean="0"/>
              <a:t>27-01-2026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59E2B8-1C2D-4C07-BB2F-4A6E7FFFD4AF}" type="slidenum">
              <a:rPr lang="en-IN" smtClean="0"/>
              <a:t>‹#›</a:t>
            </a:fld>
            <a:endParaRPr lang="en-IN"/>
          </a:p>
        </p:txBody>
      </p:sp>
    </p:spTree>
    <p:extLst>
      <p:ext uri="{BB962C8B-B14F-4D97-AF65-F5344CB8AC3E}">
        <p14:creationId xmlns:p14="http://schemas.microsoft.com/office/powerpoint/2010/main" val="424687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29D90-D7C0-DF77-1954-C3A7FF74E2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5F95F1-3B63-DF80-17E8-DFB4B7031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50294-8B80-7F7E-D39B-A03BD4DF227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2A2D4AA-F746-1028-0D8C-ABA85704725E}"/>
              </a:ext>
            </a:extLst>
          </p:cNvPr>
          <p:cNvSpPr>
            <a:spLocks noGrp="1"/>
          </p:cNvSpPr>
          <p:nvPr>
            <p:ph type="sldNum" sz="quarter" idx="5"/>
          </p:nvPr>
        </p:nvSpPr>
        <p:spPr/>
        <p:txBody>
          <a:bodyPr/>
          <a:lstStyle/>
          <a:p>
            <a:fld id="{14EEBB50-21D7-44CD-BBB5-777DF9D67C9E}" type="slidenum">
              <a:rPr lang="en-IN" smtClean="0"/>
              <a:t>1</a:t>
            </a:fld>
            <a:endParaRPr lang="en-IN"/>
          </a:p>
        </p:txBody>
      </p:sp>
    </p:spTree>
    <p:extLst>
      <p:ext uri="{BB962C8B-B14F-4D97-AF65-F5344CB8AC3E}">
        <p14:creationId xmlns:p14="http://schemas.microsoft.com/office/powerpoint/2010/main" val="1380206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89506-7107-5452-45F0-0ECCA27DB2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4F77677-5B79-5D29-29CC-6DEAD5235B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C3485D4-C6EB-4C59-32F6-13C604D9D744}"/>
              </a:ext>
            </a:extLst>
          </p:cNvPr>
          <p:cNvSpPr>
            <a:spLocks noGrp="1"/>
          </p:cNvSpPr>
          <p:nvPr>
            <p:ph type="dt" sz="half" idx="10"/>
          </p:nvPr>
        </p:nvSpPr>
        <p:spPr/>
        <p:txBody>
          <a:bodyPr/>
          <a:lstStyle/>
          <a:p>
            <a:fld id="{EE4E5925-1341-4A34-BB28-BC4CD4E7090E}" type="datetimeFigureOut">
              <a:rPr lang="en-IN" smtClean="0"/>
              <a:t>27-01-2026</a:t>
            </a:fld>
            <a:endParaRPr lang="en-IN"/>
          </a:p>
        </p:txBody>
      </p:sp>
      <p:sp>
        <p:nvSpPr>
          <p:cNvPr id="5" name="Footer Placeholder 4">
            <a:extLst>
              <a:ext uri="{FF2B5EF4-FFF2-40B4-BE49-F238E27FC236}">
                <a16:creationId xmlns:a16="http://schemas.microsoft.com/office/drawing/2014/main" id="{0848A4B5-203A-6CF2-5697-DDCBA8999B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B0D174-163F-DFC4-29C5-736A7539E12D}"/>
              </a:ext>
            </a:extLst>
          </p:cNvPr>
          <p:cNvSpPr>
            <a:spLocks noGrp="1"/>
          </p:cNvSpPr>
          <p:nvPr>
            <p:ph type="sldNum" sz="quarter" idx="12"/>
          </p:nvPr>
        </p:nvSpPr>
        <p:spPr/>
        <p:txBody>
          <a:bodyPr/>
          <a:lstStyle/>
          <a:p>
            <a:fld id="{8E8E6FD7-1905-4570-AF44-8A3E940C9968}" type="slidenum">
              <a:rPr lang="en-IN" smtClean="0"/>
              <a:t>‹#›</a:t>
            </a:fld>
            <a:endParaRPr lang="en-IN"/>
          </a:p>
        </p:txBody>
      </p:sp>
    </p:spTree>
    <p:extLst>
      <p:ext uri="{BB962C8B-B14F-4D97-AF65-F5344CB8AC3E}">
        <p14:creationId xmlns:p14="http://schemas.microsoft.com/office/powerpoint/2010/main" val="2421756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A480E-D651-3B87-6798-998823D81B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84F9802-31C9-AE8F-9531-E43AAF055B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5F6469-DAC0-0602-C25E-DD9349A025BC}"/>
              </a:ext>
            </a:extLst>
          </p:cNvPr>
          <p:cNvSpPr>
            <a:spLocks noGrp="1"/>
          </p:cNvSpPr>
          <p:nvPr>
            <p:ph type="dt" sz="half" idx="10"/>
          </p:nvPr>
        </p:nvSpPr>
        <p:spPr/>
        <p:txBody>
          <a:bodyPr/>
          <a:lstStyle/>
          <a:p>
            <a:fld id="{EE4E5925-1341-4A34-BB28-BC4CD4E7090E}" type="datetimeFigureOut">
              <a:rPr lang="en-IN" smtClean="0"/>
              <a:t>27-01-2026</a:t>
            </a:fld>
            <a:endParaRPr lang="en-IN"/>
          </a:p>
        </p:txBody>
      </p:sp>
      <p:sp>
        <p:nvSpPr>
          <p:cNvPr id="5" name="Footer Placeholder 4">
            <a:extLst>
              <a:ext uri="{FF2B5EF4-FFF2-40B4-BE49-F238E27FC236}">
                <a16:creationId xmlns:a16="http://schemas.microsoft.com/office/drawing/2014/main" id="{936B79BD-85F3-3949-74CC-1B921D1A61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282EC7-E85B-FDAB-8239-B02A1227FB9F}"/>
              </a:ext>
            </a:extLst>
          </p:cNvPr>
          <p:cNvSpPr>
            <a:spLocks noGrp="1"/>
          </p:cNvSpPr>
          <p:nvPr>
            <p:ph type="sldNum" sz="quarter" idx="12"/>
          </p:nvPr>
        </p:nvSpPr>
        <p:spPr/>
        <p:txBody>
          <a:bodyPr/>
          <a:lstStyle/>
          <a:p>
            <a:fld id="{8E8E6FD7-1905-4570-AF44-8A3E940C9968}" type="slidenum">
              <a:rPr lang="en-IN" smtClean="0"/>
              <a:t>‹#›</a:t>
            </a:fld>
            <a:endParaRPr lang="en-IN"/>
          </a:p>
        </p:txBody>
      </p:sp>
    </p:spTree>
    <p:extLst>
      <p:ext uri="{BB962C8B-B14F-4D97-AF65-F5344CB8AC3E}">
        <p14:creationId xmlns:p14="http://schemas.microsoft.com/office/powerpoint/2010/main" val="1914459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75060-5D0A-A258-516F-5B022F56DC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F66BA6E-7C0F-7079-75EA-4CC50485FA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2DCDF7-D283-3698-4E0F-F493D8CA1955}"/>
              </a:ext>
            </a:extLst>
          </p:cNvPr>
          <p:cNvSpPr>
            <a:spLocks noGrp="1"/>
          </p:cNvSpPr>
          <p:nvPr>
            <p:ph type="dt" sz="half" idx="10"/>
          </p:nvPr>
        </p:nvSpPr>
        <p:spPr/>
        <p:txBody>
          <a:bodyPr/>
          <a:lstStyle/>
          <a:p>
            <a:fld id="{EE4E5925-1341-4A34-BB28-BC4CD4E7090E}" type="datetimeFigureOut">
              <a:rPr lang="en-IN" smtClean="0"/>
              <a:t>27-01-2026</a:t>
            </a:fld>
            <a:endParaRPr lang="en-IN"/>
          </a:p>
        </p:txBody>
      </p:sp>
      <p:sp>
        <p:nvSpPr>
          <p:cNvPr id="5" name="Footer Placeholder 4">
            <a:extLst>
              <a:ext uri="{FF2B5EF4-FFF2-40B4-BE49-F238E27FC236}">
                <a16:creationId xmlns:a16="http://schemas.microsoft.com/office/drawing/2014/main" id="{47E8ABF9-5AB6-A0D4-2ED1-555B29B3DB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7BFF9D-26FC-5ED9-7C3C-11FA9FD192B2}"/>
              </a:ext>
            </a:extLst>
          </p:cNvPr>
          <p:cNvSpPr>
            <a:spLocks noGrp="1"/>
          </p:cNvSpPr>
          <p:nvPr>
            <p:ph type="sldNum" sz="quarter" idx="12"/>
          </p:nvPr>
        </p:nvSpPr>
        <p:spPr/>
        <p:txBody>
          <a:bodyPr/>
          <a:lstStyle/>
          <a:p>
            <a:fld id="{8E8E6FD7-1905-4570-AF44-8A3E940C9968}" type="slidenum">
              <a:rPr lang="en-IN" smtClean="0"/>
              <a:t>‹#›</a:t>
            </a:fld>
            <a:endParaRPr lang="en-IN"/>
          </a:p>
        </p:txBody>
      </p:sp>
    </p:spTree>
    <p:extLst>
      <p:ext uri="{BB962C8B-B14F-4D97-AF65-F5344CB8AC3E}">
        <p14:creationId xmlns:p14="http://schemas.microsoft.com/office/powerpoint/2010/main" val="3638370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45D78-7D51-C171-0A5E-0230224A69D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D4E9696-9E0D-D669-6266-C25A750B24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1B9B2E1-A98C-562D-B4D2-F3CA45D1D0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76C0FF3-9A76-EAE9-CC27-9914DCB92AC6}"/>
              </a:ext>
            </a:extLst>
          </p:cNvPr>
          <p:cNvSpPr>
            <a:spLocks noGrp="1"/>
          </p:cNvSpPr>
          <p:nvPr>
            <p:ph type="dt" sz="half" idx="10"/>
          </p:nvPr>
        </p:nvSpPr>
        <p:spPr/>
        <p:txBody>
          <a:bodyPr/>
          <a:lstStyle/>
          <a:p>
            <a:fld id="{EE4E5925-1341-4A34-BB28-BC4CD4E7090E}" type="datetimeFigureOut">
              <a:rPr lang="en-IN" smtClean="0"/>
              <a:t>27-01-2026</a:t>
            </a:fld>
            <a:endParaRPr lang="en-IN"/>
          </a:p>
        </p:txBody>
      </p:sp>
      <p:sp>
        <p:nvSpPr>
          <p:cNvPr id="6" name="Footer Placeholder 5">
            <a:extLst>
              <a:ext uri="{FF2B5EF4-FFF2-40B4-BE49-F238E27FC236}">
                <a16:creationId xmlns:a16="http://schemas.microsoft.com/office/drawing/2014/main" id="{3B7DF804-8FB1-AEF3-AE93-AF94CD16EE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5D01BE-97DD-821E-048F-9ABB3F7F8696}"/>
              </a:ext>
            </a:extLst>
          </p:cNvPr>
          <p:cNvSpPr>
            <a:spLocks noGrp="1"/>
          </p:cNvSpPr>
          <p:nvPr>
            <p:ph type="sldNum" sz="quarter" idx="12"/>
          </p:nvPr>
        </p:nvSpPr>
        <p:spPr/>
        <p:txBody>
          <a:bodyPr/>
          <a:lstStyle/>
          <a:p>
            <a:fld id="{8E8E6FD7-1905-4570-AF44-8A3E940C9968}" type="slidenum">
              <a:rPr lang="en-IN" smtClean="0"/>
              <a:t>‹#›</a:t>
            </a:fld>
            <a:endParaRPr lang="en-IN"/>
          </a:p>
        </p:txBody>
      </p:sp>
    </p:spTree>
    <p:extLst>
      <p:ext uri="{BB962C8B-B14F-4D97-AF65-F5344CB8AC3E}">
        <p14:creationId xmlns:p14="http://schemas.microsoft.com/office/powerpoint/2010/main" val="3865143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67EEF-651B-5A58-926F-EF85905399E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2C2E81-71AC-97CF-D694-AA9B299111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7482B7-0802-DAF0-057B-6074591F8D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564D122-3F27-8310-C096-1711E85F0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437420-3F91-A0E9-4EB9-9917CD6D32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FEAE06C-E8B2-4D48-2841-4D6835F9C971}"/>
              </a:ext>
            </a:extLst>
          </p:cNvPr>
          <p:cNvSpPr>
            <a:spLocks noGrp="1"/>
          </p:cNvSpPr>
          <p:nvPr>
            <p:ph type="dt" sz="half" idx="10"/>
          </p:nvPr>
        </p:nvSpPr>
        <p:spPr/>
        <p:txBody>
          <a:bodyPr/>
          <a:lstStyle/>
          <a:p>
            <a:fld id="{EE4E5925-1341-4A34-BB28-BC4CD4E7090E}" type="datetimeFigureOut">
              <a:rPr lang="en-IN" smtClean="0"/>
              <a:t>27-01-2026</a:t>
            </a:fld>
            <a:endParaRPr lang="en-IN"/>
          </a:p>
        </p:txBody>
      </p:sp>
      <p:sp>
        <p:nvSpPr>
          <p:cNvPr id="8" name="Footer Placeholder 7">
            <a:extLst>
              <a:ext uri="{FF2B5EF4-FFF2-40B4-BE49-F238E27FC236}">
                <a16:creationId xmlns:a16="http://schemas.microsoft.com/office/drawing/2014/main" id="{0DD302A1-32F2-DA30-B0B9-0076040EBCF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56D5647-7EC7-A5DB-7AF0-998432B67B01}"/>
              </a:ext>
            </a:extLst>
          </p:cNvPr>
          <p:cNvSpPr>
            <a:spLocks noGrp="1"/>
          </p:cNvSpPr>
          <p:nvPr>
            <p:ph type="sldNum" sz="quarter" idx="12"/>
          </p:nvPr>
        </p:nvSpPr>
        <p:spPr/>
        <p:txBody>
          <a:bodyPr/>
          <a:lstStyle/>
          <a:p>
            <a:fld id="{8E8E6FD7-1905-4570-AF44-8A3E940C9968}" type="slidenum">
              <a:rPr lang="en-IN" smtClean="0"/>
              <a:t>‹#›</a:t>
            </a:fld>
            <a:endParaRPr lang="en-IN"/>
          </a:p>
        </p:txBody>
      </p:sp>
    </p:spTree>
    <p:extLst>
      <p:ext uri="{BB962C8B-B14F-4D97-AF65-F5344CB8AC3E}">
        <p14:creationId xmlns:p14="http://schemas.microsoft.com/office/powerpoint/2010/main" val="3864041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2159F-F25A-D3D1-A9B8-65EAE150C2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05B4A65-369A-F668-A41F-76D401E98314}"/>
              </a:ext>
            </a:extLst>
          </p:cNvPr>
          <p:cNvSpPr>
            <a:spLocks noGrp="1"/>
          </p:cNvSpPr>
          <p:nvPr>
            <p:ph type="dt" sz="half" idx="10"/>
          </p:nvPr>
        </p:nvSpPr>
        <p:spPr/>
        <p:txBody>
          <a:bodyPr/>
          <a:lstStyle/>
          <a:p>
            <a:fld id="{EE4E5925-1341-4A34-BB28-BC4CD4E7090E}" type="datetimeFigureOut">
              <a:rPr lang="en-IN" smtClean="0"/>
              <a:t>27-01-2026</a:t>
            </a:fld>
            <a:endParaRPr lang="en-IN"/>
          </a:p>
        </p:txBody>
      </p:sp>
      <p:sp>
        <p:nvSpPr>
          <p:cNvPr id="4" name="Footer Placeholder 3">
            <a:extLst>
              <a:ext uri="{FF2B5EF4-FFF2-40B4-BE49-F238E27FC236}">
                <a16:creationId xmlns:a16="http://schemas.microsoft.com/office/drawing/2014/main" id="{972DB576-69A1-3B25-50FA-5AA825E353B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0819FF7-AB0F-197F-A712-6420B6E999D3}"/>
              </a:ext>
            </a:extLst>
          </p:cNvPr>
          <p:cNvSpPr>
            <a:spLocks noGrp="1"/>
          </p:cNvSpPr>
          <p:nvPr>
            <p:ph type="sldNum" sz="quarter" idx="12"/>
          </p:nvPr>
        </p:nvSpPr>
        <p:spPr/>
        <p:txBody>
          <a:bodyPr/>
          <a:lstStyle/>
          <a:p>
            <a:fld id="{8E8E6FD7-1905-4570-AF44-8A3E940C9968}" type="slidenum">
              <a:rPr lang="en-IN" smtClean="0"/>
              <a:t>‹#›</a:t>
            </a:fld>
            <a:endParaRPr lang="en-IN"/>
          </a:p>
        </p:txBody>
      </p:sp>
    </p:spTree>
    <p:extLst>
      <p:ext uri="{BB962C8B-B14F-4D97-AF65-F5344CB8AC3E}">
        <p14:creationId xmlns:p14="http://schemas.microsoft.com/office/powerpoint/2010/main" val="2679775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562DE4-A5E3-0F22-1204-37E76C2D8389}"/>
              </a:ext>
            </a:extLst>
          </p:cNvPr>
          <p:cNvSpPr>
            <a:spLocks noGrp="1"/>
          </p:cNvSpPr>
          <p:nvPr>
            <p:ph type="dt" sz="half" idx="10"/>
          </p:nvPr>
        </p:nvSpPr>
        <p:spPr/>
        <p:txBody>
          <a:bodyPr/>
          <a:lstStyle/>
          <a:p>
            <a:fld id="{EE4E5925-1341-4A34-BB28-BC4CD4E7090E}" type="datetimeFigureOut">
              <a:rPr lang="en-IN" smtClean="0"/>
              <a:t>27-01-2026</a:t>
            </a:fld>
            <a:endParaRPr lang="en-IN"/>
          </a:p>
        </p:txBody>
      </p:sp>
      <p:sp>
        <p:nvSpPr>
          <p:cNvPr id="3" name="Footer Placeholder 2">
            <a:extLst>
              <a:ext uri="{FF2B5EF4-FFF2-40B4-BE49-F238E27FC236}">
                <a16:creationId xmlns:a16="http://schemas.microsoft.com/office/drawing/2014/main" id="{2B071A8E-F66D-F47C-A9F3-845CD654591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33E2EA7-5ED4-1476-6D0F-A99E5AD022DA}"/>
              </a:ext>
            </a:extLst>
          </p:cNvPr>
          <p:cNvSpPr>
            <a:spLocks noGrp="1"/>
          </p:cNvSpPr>
          <p:nvPr>
            <p:ph type="sldNum" sz="quarter" idx="12"/>
          </p:nvPr>
        </p:nvSpPr>
        <p:spPr/>
        <p:txBody>
          <a:bodyPr/>
          <a:lstStyle/>
          <a:p>
            <a:fld id="{8E8E6FD7-1905-4570-AF44-8A3E940C9968}" type="slidenum">
              <a:rPr lang="en-IN" smtClean="0"/>
              <a:t>‹#›</a:t>
            </a:fld>
            <a:endParaRPr lang="en-IN"/>
          </a:p>
        </p:txBody>
      </p:sp>
    </p:spTree>
    <p:extLst>
      <p:ext uri="{BB962C8B-B14F-4D97-AF65-F5344CB8AC3E}">
        <p14:creationId xmlns:p14="http://schemas.microsoft.com/office/powerpoint/2010/main" val="2598375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4558C-3636-A4C6-2ED7-1B2067249E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AF313E3-66BF-87F0-661B-EAC0BC10D0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A53F618-A3D9-21EB-08D7-9D78795027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8096C6-8B96-18D4-1CC6-F2A8EEC17B45}"/>
              </a:ext>
            </a:extLst>
          </p:cNvPr>
          <p:cNvSpPr>
            <a:spLocks noGrp="1"/>
          </p:cNvSpPr>
          <p:nvPr>
            <p:ph type="dt" sz="half" idx="10"/>
          </p:nvPr>
        </p:nvSpPr>
        <p:spPr/>
        <p:txBody>
          <a:bodyPr/>
          <a:lstStyle/>
          <a:p>
            <a:fld id="{EE4E5925-1341-4A34-BB28-BC4CD4E7090E}" type="datetimeFigureOut">
              <a:rPr lang="en-IN" smtClean="0"/>
              <a:t>27-01-2026</a:t>
            </a:fld>
            <a:endParaRPr lang="en-IN"/>
          </a:p>
        </p:txBody>
      </p:sp>
      <p:sp>
        <p:nvSpPr>
          <p:cNvPr id="6" name="Footer Placeholder 5">
            <a:extLst>
              <a:ext uri="{FF2B5EF4-FFF2-40B4-BE49-F238E27FC236}">
                <a16:creationId xmlns:a16="http://schemas.microsoft.com/office/drawing/2014/main" id="{B86E4C9E-629A-A9DC-F582-F29E251D52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00D8A7-B9A2-BBAD-939F-C299ABEFD911}"/>
              </a:ext>
            </a:extLst>
          </p:cNvPr>
          <p:cNvSpPr>
            <a:spLocks noGrp="1"/>
          </p:cNvSpPr>
          <p:nvPr>
            <p:ph type="sldNum" sz="quarter" idx="12"/>
          </p:nvPr>
        </p:nvSpPr>
        <p:spPr/>
        <p:txBody>
          <a:bodyPr/>
          <a:lstStyle/>
          <a:p>
            <a:fld id="{8E8E6FD7-1905-4570-AF44-8A3E940C9968}" type="slidenum">
              <a:rPr lang="en-IN" smtClean="0"/>
              <a:t>‹#›</a:t>
            </a:fld>
            <a:endParaRPr lang="en-IN"/>
          </a:p>
        </p:txBody>
      </p:sp>
    </p:spTree>
    <p:extLst>
      <p:ext uri="{BB962C8B-B14F-4D97-AF65-F5344CB8AC3E}">
        <p14:creationId xmlns:p14="http://schemas.microsoft.com/office/powerpoint/2010/main" val="3336592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73FF2-5AA9-9125-AB20-0BEF05A8CF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6C2C6C-D014-6C9A-908D-D0D0EFAE48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5A431FF-D2CD-07AA-A951-AD563D0CC9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0CF114-12C2-01E4-CB05-16B4B123C791}"/>
              </a:ext>
            </a:extLst>
          </p:cNvPr>
          <p:cNvSpPr>
            <a:spLocks noGrp="1"/>
          </p:cNvSpPr>
          <p:nvPr>
            <p:ph type="dt" sz="half" idx="10"/>
          </p:nvPr>
        </p:nvSpPr>
        <p:spPr/>
        <p:txBody>
          <a:bodyPr/>
          <a:lstStyle/>
          <a:p>
            <a:fld id="{EE4E5925-1341-4A34-BB28-BC4CD4E7090E}" type="datetimeFigureOut">
              <a:rPr lang="en-IN" smtClean="0"/>
              <a:t>27-01-2026</a:t>
            </a:fld>
            <a:endParaRPr lang="en-IN"/>
          </a:p>
        </p:txBody>
      </p:sp>
      <p:sp>
        <p:nvSpPr>
          <p:cNvPr id="6" name="Footer Placeholder 5">
            <a:extLst>
              <a:ext uri="{FF2B5EF4-FFF2-40B4-BE49-F238E27FC236}">
                <a16:creationId xmlns:a16="http://schemas.microsoft.com/office/drawing/2014/main" id="{D3F6E449-178B-785C-BA5C-BB0A6DEC22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DB7A03-1768-2763-1FEA-DDEDC9E0F58B}"/>
              </a:ext>
            </a:extLst>
          </p:cNvPr>
          <p:cNvSpPr>
            <a:spLocks noGrp="1"/>
          </p:cNvSpPr>
          <p:nvPr>
            <p:ph type="sldNum" sz="quarter" idx="12"/>
          </p:nvPr>
        </p:nvSpPr>
        <p:spPr/>
        <p:txBody>
          <a:bodyPr/>
          <a:lstStyle/>
          <a:p>
            <a:fld id="{8E8E6FD7-1905-4570-AF44-8A3E940C9968}" type="slidenum">
              <a:rPr lang="en-IN" smtClean="0"/>
              <a:t>‹#›</a:t>
            </a:fld>
            <a:endParaRPr lang="en-IN"/>
          </a:p>
        </p:txBody>
      </p:sp>
    </p:spTree>
    <p:extLst>
      <p:ext uri="{BB962C8B-B14F-4D97-AF65-F5344CB8AC3E}">
        <p14:creationId xmlns:p14="http://schemas.microsoft.com/office/powerpoint/2010/main" val="1704381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1A5DC-1E7C-054F-8D84-3CB42C15F9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D3F3DD3-D7CC-1256-AF3F-089DF6A2F9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7ADD01-6B9F-04D5-7111-A8FD15B5DAA8}"/>
              </a:ext>
            </a:extLst>
          </p:cNvPr>
          <p:cNvSpPr>
            <a:spLocks noGrp="1"/>
          </p:cNvSpPr>
          <p:nvPr>
            <p:ph type="dt" sz="half" idx="10"/>
          </p:nvPr>
        </p:nvSpPr>
        <p:spPr/>
        <p:txBody>
          <a:bodyPr/>
          <a:lstStyle/>
          <a:p>
            <a:fld id="{EE4E5925-1341-4A34-BB28-BC4CD4E7090E}" type="datetimeFigureOut">
              <a:rPr lang="en-IN" smtClean="0"/>
              <a:t>27-01-2026</a:t>
            </a:fld>
            <a:endParaRPr lang="en-IN"/>
          </a:p>
        </p:txBody>
      </p:sp>
      <p:sp>
        <p:nvSpPr>
          <p:cNvPr id="5" name="Footer Placeholder 4">
            <a:extLst>
              <a:ext uri="{FF2B5EF4-FFF2-40B4-BE49-F238E27FC236}">
                <a16:creationId xmlns:a16="http://schemas.microsoft.com/office/drawing/2014/main" id="{9D6840DA-1F61-BA24-E598-42511A2069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6AFDD9-33A3-BEB9-5898-A0AEE6290C6C}"/>
              </a:ext>
            </a:extLst>
          </p:cNvPr>
          <p:cNvSpPr>
            <a:spLocks noGrp="1"/>
          </p:cNvSpPr>
          <p:nvPr>
            <p:ph type="sldNum" sz="quarter" idx="12"/>
          </p:nvPr>
        </p:nvSpPr>
        <p:spPr/>
        <p:txBody>
          <a:bodyPr/>
          <a:lstStyle/>
          <a:p>
            <a:fld id="{8E8E6FD7-1905-4570-AF44-8A3E940C9968}" type="slidenum">
              <a:rPr lang="en-IN" smtClean="0"/>
              <a:t>‹#›</a:t>
            </a:fld>
            <a:endParaRPr lang="en-IN"/>
          </a:p>
        </p:txBody>
      </p:sp>
    </p:spTree>
    <p:extLst>
      <p:ext uri="{BB962C8B-B14F-4D97-AF65-F5344CB8AC3E}">
        <p14:creationId xmlns:p14="http://schemas.microsoft.com/office/powerpoint/2010/main" val="3039611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3E8BD6-E946-29DE-22BE-5B2D4B7B33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B2970B6-AFD5-BC58-1140-CA7DE824B3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EC80C0-A3C2-06C7-F986-7E54F7796462}"/>
              </a:ext>
            </a:extLst>
          </p:cNvPr>
          <p:cNvSpPr>
            <a:spLocks noGrp="1"/>
          </p:cNvSpPr>
          <p:nvPr>
            <p:ph type="dt" sz="half" idx="10"/>
          </p:nvPr>
        </p:nvSpPr>
        <p:spPr/>
        <p:txBody>
          <a:bodyPr/>
          <a:lstStyle/>
          <a:p>
            <a:fld id="{EE4E5925-1341-4A34-BB28-BC4CD4E7090E}" type="datetimeFigureOut">
              <a:rPr lang="en-IN" smtClean="0"/>
              <a:t>27-01-2026</a:t>
            </a:fld>
            <a:endParaRPr lang="en-IN"/>
          </a:p>
        </p:txBody>
      </p:sp>
      <p:sp>
        <p:nvSpPr>
          <p:cNvPr id="5" name="Footer Placeholder 4">
            <a:extLst>
              <a:ext uri="{FF2B5EF4-FFF2-40B4-BE49-F238E27FC236}">
                <a16:creationId xmlns:a16="http://schemas.microsoft.com/office/drawing/2014/main" id="{9E172F29-F975-1B8A-9020-8FBC77092B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309C52-1F64-D10B-7833-08372065AA8A}"/>
              </a:ext>
            </a:extLst>
          </p:cNvPr>
          <p:cNvSpPr>
            <a:spLocks noGrp="1"/>
          </p:cNvSpPr>
          <p:nvPr>
            <p:ph type="sldNum" sz="quarter" idx="12"/>
          </p:nvPr>
        </p:nvSpPr>
        <p:spPr/>
        <p:txBody>
          <a:bodyPr/>
          <a:lstStyle/>
          <a:p>
            <a:fld id="{8E8E6FD7-1905-4570-AF44-8A3E940C9968}" type="slidenum">
              <a:rPr lang="en-IN" smtClean="0"/>
              <a:t>‹#›</a:t>
            </a:fld>
            <a:endParaRPr lang="en-IN"/>
          </a:p>
        </p:txBody>
      </p:sp>
    </p:spTree>
    <p:extLst>
      <p:ext uri="{BB962C8B-B14F-4D97-AF65-F5344CB8AC3E}">
        <p14:creationId xmlns:p14="http://schemas.microsoft.com/office/powerpoint/2010/main" val="1192679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E6BE20-0B85-334C-7323-20804C3302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F6D00B-75C0-4911-B84D-F61115479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DFA33E-245F-43B2-DFDB-4CE718D6A4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4E5925-1341-4A34-BB28-BC4CD4E7090E}" type="datetimeFigureOut">
              <a:rPr lang="en-IN" smtClean="0"/>
              <a:t>27-01-2026</a:t>
            </a:fld>
            <a:endParaRPr lang="en-IN"/>
          </a:p>
        </p:txBody>
      </p:sp>
      <p:sp>
        <p:nvSpPr>
          <p:cNvPr id="5" name="Footer Placeholder 4">
            <a:extLst>
              <a:ext uri="{FF2B5EF4-FFF2-40B4-BE49-F238E27FC236}">
                <a16:creationId xmlns:a16="http://schemas.microsoft.com/office/drawing/2014/main" id="{007F2EBB-FA21-C096-14FB-3B0C5E2506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69B14F3-C2DD-67F6-23A0-B78A02D033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8E6FD7-1905-4570-AF44-8A3E940C9968}" type="slidenum">
              <a:rPr lang="en-IN" smtClean="0"/>
              <a:t>‹#›</a:t>
            </a:fld>
            <a:endParaRPr lang="en-IN"/>
          </a:p>
        </p:txBody>
      </p:sp>
    </p:spTree>
    <p:extLst>
      <p:ext uri="{BB962C8B-B14F-4D97-AF65-F5344CB8AC3E}">
        <p14:creationId xmlns:p14="http://schemas.microsoft.com/office/powerpoint/2010/main" val="337254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495E6-E707-E0C9-6C8D-B974929106AA}"/>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566866B7-B775-4FAD-2622-296F25A468AF}"/>
              </a:ext>
            </a:extLst>
          </p:cNvPr>
          <p:cNvSpPr/>
          <p:nvPr/>
        </p:nvSpPr>
        <p:spPr>
          <a:xfrm>
            <a:off x="0" y="-1"/>
            <a:ext cx="12192000" cy="899775"/>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91445099-97DF-4034-FD60-8F314D528008}"/>
              </a:ext>
            </a:extLst>
          </p:cNvPr>
          <p:cNvSpPr txBox="1"/>
          <p:nvPr/>
        </p:nvSpPr>
        <p:spPr>
          <a:xfrm>
            <a:off x="1371602" y="0"/>
            <a:ext cx="8659366" cy="892552"/>
          </a:xfrm>
          <a:prstGeom prst="rect">
            <a:avLst/>
          </a:prstGeom>
          <a:noFill/>
        </p:spPr>
        <p:txBody>
          <a:bodyPr wrap="square" rtlCol="0">
            <a:spAutoFit/>
          </a:bodyPr>
          <a:lstStyle/>
          <a:p>
            <a:pPr algn="ctr"/>
            <a:r>
              <a:rPr lang="en-US" b="1" dirty="0">
                <a:solidFill>
                  <a:schemeClr val="bg1"/>
                </a:solidFill>
                <a:latin typeface="Arial" panose="020B0604020202020204" pitchFamily="34" charset="0"/>
                <a:cs typeface="Arial" panose="020B0604020202020204" pitchFamily="34" charset="0"/>
              </a:rPr>
              <a:t>BREAKING THE STIFFNESS BARRIER: </a:t>
            </a:r>
            <a:r>
              <a:rPr lang="en-IN" b="1" dirty="0">
                <a:solidFill>
                  <a:schemeClr val="bg1"/>
                </a:solidFill>
                <a:latin typeface="Arial" panose="020B0604020202020204" pitchFamily="34" charset="0"/>
                <a:cs typeface="Arial" panose="020B0604020202020204" pitchFamily="34" charset="0"/>
              </a:rPr>
              <a:t>Bilateral Hip and Knee Arthroplasty in WISP3-Related PPRD</a:t>
            </a:r>
          </a:p>
          <a:p>
            <a:pPr algn="ctr"/>
            <a:r>
              <a:rPr lang="en-IN" sz="1600" dirty="0">
                <a:solidFill>
                  <a:schemeClr val="bg1"/>
                </a:solidFill>
                <a:latin typeface="Arial" panose="020B0604020202020204" pitchFamily="34" charset="0"/>
                <a:cs typeface="Arial" panose="020B0604020202020204" pitchFamily="34" charset="0"/>
              </a:rPr>
              <a:t>DR. CHINTA NITISH, DR. THADI MOHAN</a:t>
            </a:r>
            <a:endParaRPr lang="en-US" sz="1600" b="1" dirty="0">
              <a:solidFill>
                <a:schemeClr val="bg1"/>
              </a:solidFill>
              <a:latin typeface="Gordita "/>
            </a:endParaRPr>
          </a:p>
        </p:txBody>
      </p:sp>
      <p:sp>
        <p:nvSpPr>
          <p:cNvPr id="4" name="Freeform 13">
            <a:extLst>
              <a:ext uri="{FF2B5EF4-FFF2-40B4-BE49-F238E27FC236}">
                <a16:creationId xmlns:a16="http://schemas.microsoft.com/office/drawing/2014/main" id="{5FB5ADFF-73DD-DE6A-5DA2-0895422E3666}"/>
              </a:ext>
            </a:extLst>
          </p:cNvPr>
          <p:cNvSpPr/>
          <p:nvPr/>
        </p:nvSpPr>
        <p:spPr>
          <a:xfrm>
            <a:off x="165335" y="23351"/>
            <a:ext cx="1101113" cy="869202"/>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3"/>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ADF18BB6-181B-5144-2817-A11653F6582D}"/>
              </a:ext>
            </a:extLst>
          </p:cNvPr>
          <p:cNvSpPr/>
          <p:nvPr/>
        </p:nvSpPr>
        <p:spPr>
          <a:xfrm>
            <a:off x="0" y="1241131"/>
            <a:ext cx="2916936" cy="20836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1050" b="1" dirty="0">
                <a:solidFill>
                  <a:schemeClr val="tx1"/>
                </a:solidFill>
                <a:latin typeface="Arial" panose="020B0604020202020204" pitchFamily="34" charset="0"/>
                <a:cs typeface="Arial" panose="020B0604020202020204" pitchFamily="34" charset="0"/>
              </a:rPr>
              <a:t>Progressive Pseudo-Rheumatoid Dysplasia (PPRD)</a:t>
            </a:r>
            <a:r>
              <a:rPr lang="en-IN" sz="1050" dirty="0">
                <a:solidFill>
                  <a:schemeClr val="tx1"/>
                </a:solidFill>
                <a:latin typeface="Arial" panose="020B0604020202020204" pitchFamily="34" charset="0"/>
                <a:cs typeface="Arial" panose="020B0604020202020204" pitchFamily="34" charset="0"/>
              </a:rPr>
              <a:t> is a rare autosomal recessive skeletal dysplasia caused by </a:t>
            </a:r>
            <a:r>
              <a:rPr lang="en-IN" sz="1050" i="1" dirty="0">
                <a:solidFill>
                  <a:schemeClr val="tx1"/>
                </a:solidFill>
                <a:latin typeface="Arial" panose="020B0604020202020204" pitchFamily="34" charset="0"/>
                <a:cs typeface="Arial" panose="020B0604020202020204" pitchFamily="34" charset="0"/>
              </a:rPr>
              <a:t>WISP3 (CCN6)</a:t>
            </a:r>
            <a:r>
              <a:rPr lang="en-IN" sz="1050" dirty="0">
                <a:solidFill>
                  <a:schemeClr val="tx1"/>
                </a:solidFill>
                <a:latin typeface="Arial" panose="020B0604020202020204" pitchFamily="34" charset="0"/>
                <a:cs typeface="Arial" panose="020B0604020202020204" pitchFamily="34" charset="0"/>
              </a:rPr>
              <a:t> mutations, leading to defective cartilage homeostasis. It presents with progressive cartilage degeneration, </a:t>
            </a:r>
            <a:r>
              <a:rPr lang="en-IN" sz="1050" dirty="0" err="1">
                <a:solidFill>
                  <a:schemeClr val="tx1"/>
                </a:solidFill>
                <a:latin typeface="Arial" panose="020B0604020202020204" pitchFamily="34" charset="0"/>
                <a:cs typeface="Arial" panose="020B0604020202020204" pitchFamily="34" charset="0"/>
              </a:rPr>
              <a:t>epimetaphyseal</a:t>
            </a:r>
            <a:r>
              <a:rPr lang="en-IN" sz="1050" dirty="0">
                <a:solidFill>
                  <a:schemeClr val="tx1"/>
                </a:solidFill>
                <a:latin typeface="Arial" panose="020B0604020202020204" pitchFamily="34" charset="0"/>
                <a:cs typeface="Arial" panose="020B0604020202020204" pitchFamily="34" charset="0"/>
              </a:rPr>
              <a:t> enlargement, and early joint stiffness without systemic inflammation. Frequently misdiagnosed as juvenile idiopathic arthritis, delayed diagnosis results in advanced joint destruction, posing significant challenges for arthroplasty.</a:t>
            </a:r>
          </a:p>
        </p:txBody>
      </p:sp>
      <p:sp>
        <p:nvSpPr>
          <p:cNvPr id="6" name="Rectangle 5">
            <a:extLst>
              <a:ext uri="{FF2B5EF4-FFF2-40B4-BE49-F238E27FC236}">
                <a16:creationId xmlns:a16="http://schemas.microsoft.com/office/drawing/2014/main" id="{D3A06652-EBD2-4E8E-6927-76B2A42B66DA}"/>
              </a:ext>
            </a:extLst>
          </p:cNvPr>
          <p:cNvSpPr/>
          <p:nvPr/>
        </p:nvSpPr>
        <p:spPr>
          <a:xfrm>
            <a:off x="0" y="3710439"/>
            <a:ext cx="2916936" cy="31475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050" dirty="0">
              <a:solidFill>
                <a:schemeClr val="tx1"/>
              </a:solidFill>
              <a:latin typeface="Arial" panose="020B0604020202020204" pitchFamily="34" charset="0"/>
              <a:cs typeface="Arial" panose="020B0604020202020204" pitchFamily="34" charset="0"/>
            </a:endParaRPr>
          </a:p>
          <a:p>
            <a:pPr algn="just"/>
            <a:r>
              <a:rPr lang="en-US" sz="1050" dirty="0">
                <a:solidFill>
                  <a:schemeClr val="tx1"/>
                </a:solidFill>
                <a:latin typeface="Arial" panose="020B0604020202020204" pitchFamily="34" charset="0"/>
                <a:cs typeface="Arial" panose="020B0604020202020204" pitchFamily="34" charset="0"/>
              </a:rPr>
              <a:t>A 22-year-old male, a known case of </a:t>
            </a:r>
            <a:r>
              <a:rPr lang="en-US" sz="1050" b="1" dirty="0">
                <a:solidFill>
                  <a:schemeClr val="tx1"/>
                </a:solidFill>
                <a:latin typeface="Arial" panose="020B0604020202020204" pitchFamily="34" charset="0"/>
                <a:cs typeface="Arial" panose="020B0604020202020204" pitchFamily="34" charset="0"/>
              </a:rPr>
              <a:t>WISP3-related Progressive Pseudo-Rheumatoid Dysplasia (PPRD)</a:t>
            </a:r>
            <a:r>
              <a:rPr lang="en-US" sz="1050" dirty="0">
                <a:solidFill>
                  <a:schemeClr val="tx1"/>
                </a:solidFill>
                <a:latin typeface="Arial" panose="020B0604020202020204" pitchFamily="34" charset="0"/>
                <a:cs typeface="Arial" panose="020B0604020202020204" pitchFamily="34" charset="0"/>
              </a:rPr>
              <a:t>, presented with bilateral knee and hip pain for the past 2 years. The pain was insidious in onset, gradually progressive, mild to moderate in intensity, non-radiating, and more pronounced on the left side. It was associated with progressive difficulty in walking and deformity of both hips and knees, with inability to achieve full joint extension. He had a long-standing history of polyarthralgia and delayed ambulation, having started walking at 15 months with anterior bowing of both lower limbs. Following childhood conservative management and a prolonged functional plateau, his symptoms worsened over the last 2 years, prompting presentation to our tertiary care Centre for further evaluation and management	</a:t>
            </a:r>
          </a:p>
        </p:txBody>
      </p:sp>
      <p:sp>
        <p:nvSpPr>
          <p:cNvPr id="7" name="Rectangle 6">
            <a:extLst>
              <a:ext uri="{FF2B5EF4-FFF2-40B4-BE49-F238E27FC236}">
                <a16:creationId xmlns:a16="http://schemas.microsoft.com/office/drawing/2014/main" id="{A5AA04DB-AB28-1E15-AEE2-80EED3806830}"/>
              </a:ext>
            </a:extLst>
          </p:cNvPr>
          <p:cNvSpPr/>
          <p:nvPr/>
        </p:nvSpPr>
        <p:spPr>
          <a:xfrm>
            <a:off x="2916932" y="1241131"/>
            <a:ext cx="6428218" cy="56168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B03A0730-55EA-DFF7-91CB-7A641645499C}"/>
              </a:ext>
            </a:extLst>
          </p:cNvPr>
          <p:cNvSpPr/>
          <p:nvPr/>
        </p:nvSpPr>
        <p:spPr>
          <a:xfrm>
            <a:off x="9345168" y="1256849"/>
            <a:ext cx="2846832" cy="19681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tx1"/>
                </a:solidFill>
                <a:latin typeface="Arial" panose="020B0604020202020204" pitchFamily="34" charset="0"/>
                <a:cs typeface="Arial" panose="020B0604020202020204" pitchFamily="34" charset="0"/>
              </a:rPr>
              <a:t>Literature on arthroplasty in PPRD is limited, with most reports describing isolated joint replacement. This case demonstrates that:</a:t>
            </a:r>
          </a:p>
          <a:p>
            <a:r>
              <a:rPr lang="en-US" sz="1050" dirty="0">
                <a:solidFill>
                  <a:schemeClr val="tx1"/>
                </a:solidFill>
                <a:latin typeface="Arial" panose="020B0604020202020204" pitchFamily="34" charset="0"/>
                <a:cs typeface="Arial" panose="020B0604020202020204" pitchFamily="34" charset="0"/>
              </a:rPr>
              <a:t> • Severe stiffness and deformity are not absolute contraindications to arthroplasty</a:t>
            </a:r>
          </a:p>
          <a:p>
            <a:r>
              <a:rPr lang="en-US" sz="1050" dirty="0">
                <a:solidFill>
                  <a:schemeClr val="tx1"/>
                </a:solidFill>
                <a:latin typeface="Arial" panose="020B0604020202020204" pitchFamily="34" charset="0"/>
                <a:cs typeface="Arial" panose="020B0604020202020204" pitchFamily="34" charset="0"/>
              </a:rPr>
              <a:t> • A staged approach reduces perioperative risk</a:t>
            </a:r>
          </a:p>
          <a:p>
            <a:r>
              <a:rPr lang="en-US" sz="1050" dirty="0">
                <a:solidFill>
                  <a:schemeClr val="tx1"/>
                </a:solidFill>
                <a:latin typeface="Arial" panose="020B0604020202020204" pitchFamily="34" charset="0"/>
                <a:cs typeface="Arial" panose="020B0604020202020204" pitchFamily="34" charset="0"/>
              </a:rPr>
              <a:t> • Deformity-specific techniques and constrained implants are critical for success</a:t>
            </a:r>
          </a:p>
          <a:p>
            <a:r>
              <a:rPr lang="en-US" sz="1050" dirty="0">
                <a:solidFill>
                  <a:schemeClr val="tx1"/>
                </a:solidFill>
                <a:latin typeface="Arial" panose="020B0604020202020204" pitchFamily="34" charset="0"/>
                <a:cs typeface="Arial" panose="020B0604020202020204" pitchFamily="34" charset="0"/>
              </a:rPr>
              <a:t> • Multidisciplinary planning and meticulous surgical execution are essential</a:t>
            </a:r>
          </a:p>
        </p:txBody>
      </p:sp>
      <p:sp>
        <p:nvSpPr>
          <p:cNvPr id="9" name="Rectangle 8">
            <a:extLst>
              <a:ext uri="{FF2B5EF4-FFF2-40B4-BE49-F238E27FC236}">
                <a16:creationId xmlns:a16="http://schemas.microsoft.com/office/drawing/2014/main" id="{72A8BB94-1573-DD2B-2552-A945B9F610AA}"/>
              </a:ext>
            </a:extLst>
          </p:cNvPr>
          <p:cNvSpPr/>
          <p:nvPr/>
        </p:nvSpPr>
        <p:spPr>
          <a:xfrm>
            <a:off x="9345160" y="3558465"/>
            <a:ext cx="2846840" cy="12325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050" dirty="0">
                <a:solidFill>
                  <a:schemeClr val="tx1"/>
                </a:solidFill>
                <a:latin typeface="Arial" panose="020B0604020202020204" pitchFamily="34" charset="0"/>
                <a:cs typeface="Arial" panose="020B0604020202020204" pitchFamily="34" charset="0"/>
              </a:rPr>
              <a:t>Staged bilateral hip and knee arthroplasty can safely and effectively restore mobility, alignment, and function in advanced WISP3-related PPRD. Individualized surgical planning and tailored implant selection are key determinants of successful outcomes.</a:t>
            </a:r>
          </a:p>
        </p:txBody>
      </p:sp>
      <p:sp>
        <p:nvSpPr>
          <p:cNvPr id="10" name="Rectangle 9">
            <a:extLst>
              <a:ext uri="{FF2B5EF4-FFF2-40B4-BE49-F238E27FC236}">
                <a16:creationId xmlns:a16="http://schemas.microsoft.com/office/drawing/2014/main" id="{804ECD34-3CDF-7481-D5EE-C2917CD0819B}"/>
              </a:ext>
            </a:extLst>
          </p:cNvPr>
          <p:cNvSpPr/>
          <p:nvPr/>
        </p:nvSpPr>
        <p:spPr>
          <a:xfrm>
            <a:off x="0" y="894481"/>
            <a:ext cx="2916936" cy="354509"/>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INTRODUCTION</a:t>
            </a:r>
          </a:p>
        </p:txBody>
      </p:sp>
      <p:sp>
        <p:nvSpPr>
          <p:cNvPr id="11" name="Rectangle 10">
            <a:extLst>
              <a:ext uri="{FF2B5EF4-FFF2-40B4-BE49-F238E27FC236}">
                <a16:creationId xmlns:a16="http://schemas.microsoft.com/office/drawing/2014/main" id="{56E17845-AC3F-A63C-42FC-740A5DD00D7C}"/>
              </a:ext>
            </a:extLst>
          </p:cNvPr>
          <p:cNvSpPr/>
          <p:nvPr/>
        </p:nvSpPr>
        <p:spPr>
          <a:xfrm>
            <a:off x="2916932" y="897846"/>
            <a:ext cx="6428220" cy="343285"/>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lumMod val="95000"/>
                    <a:lumOff val="5000"/>
                  </a:schemeClr>
                </a:solidFill>
                <a:latin typeface="Arial" panose="020B0604020202020204" pitchFamily="34" charset="0"/>
                <a:cs typeface="Arial" panose="020B0604020202020204" pitchFamily="34" charset="0"/>
              </a:rPr>
              <a:t>CASE REPORT</a:t>
            </a:r>
          </a:p>
        </p:txBody>
      </p:sp>
      <p:sp>
        <p:nvSpPr>
          <p:cNvPr id="12" name="Rectangle 11">
            <a:extLst>
              <a:ext uri="{FF2B5EF4-FFF2-40B4-BE49-F238E27FC236}">
                <a16:creationId xmlns:a16="http://schemas.microsoft.com/office/drawing/2014/main" id="{3BC6EC00-38EF-1E10-6962-09894A1E2010}"/>
              </a:ext>
            </a:extLst>
          </p:cNvPr>
          <p:cNvSpPr/>
          <p:nvPr/>
        </p:nvSpPr>
        <p:spPr>
          <a:xfrm>
            <a:off x="9345160" y="910837"/>
            <a:ext cx="2846832" cy="338153"/>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lumMod val="95000"/>
                    <a:lumOff val="5000"/>
                  </a:schemeClr>
                </a:solidFill>
                <a:latin typeface="Arial" panose="020B0604020202020204" pitchFamily="34" charset="0"/>
                <a:cs typeface="Arial" panose="020B0604020202020204" pitchFamily="34" charset="0"/>
              </a:rPr>
              <a:t>DISCUSSION</a:t>
            </a:r>
          </a:p>
        </p:txBody>
      </p:sp>
      <p:sp>
        <p:nvSpPr>
          <p:cNvPr id="13" name="Rectangle 12">
            <a:extLst>
              <a:ext uri="{FF2B5EF4-FFF2-40B4-BE49-F238E27FC236}">
                <a16:creationId xmlns:a16="http://schemas.microsoft.com/office/drawing/2014/main" id="{8DBFFE1C-D9F2-C5B7-D814-2AA3D9FDE39A}"/>
              </a:ext>
            </a:extLst>
          </p:cNvPr>
          <p:cNvSpPr/>
          <p:nvPr/>
        </p:nvSpPr>
        <p:spPr>
          <a:xfrm>
            <a:off x="0" y="3338472"/>
            <a:ext cx="2916936" cy="358255"/>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lumMod val="95000"/>
                    <a:lumOff val="5000"/>
                  </a:schemeClr>
                </a:solidFill>
                <a:latin typeface="Arial" panose="020B0604020202020204" pitchFamily="34" charset="0"/>
                <a:cs typeface="Arial" panose="020B0604020202020204" pitchFamily="34" charset="0"/>
              </a:rPr>
              <a:t>HISTORY &amp; PRESENTATION</a:t>
            </a:r>
          </a:p>
        </p:txBody>
      </p:sp>
      <p:sp>
        <p:nvSpPr>
          <p:cNvPr id="22" name="Rectangle 21">
            <a:extLst>
              <a:ext uri="{FF2B5EF4-FFF2-40B4-BE49-F238E27FC236}">
                <a16:creationId xmlns:a16="http://schemas.microsoft.com/office/drawing/2014/main" id="{C0BAE279-72AA-EAD9-E774-2998B82698BF}"/>
              </a:ext>
            </a:extLst>
          </p:cNvPr>
          <p:cNvSpPr/>
          <p:nvPr/>
        </p:nvSpPr>
        <p:spPr>
          <a:xfrm>
            <a:off x="9345158" y="3238729"/>
            <a:ext cx="2846836"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lumMod val="95000"/>
                    <a:lumOff val="5000"/>
                  </a:schemeClr>
                </a:solidFill>
                <a:latin typeface="Arial" panose="020B0604020202020204" pitchFamily="34" charset="0"/>
                <a:cs typeface="Arial" panose="020B0604020202020204" pitchFamily="34" charset="0"/>
              </a:rPr>
              <a:t>CONCLUSION</a:t>
            </a:r>
          </a:p>
        </p:txBody>
      </p:sp>
      <p:pic>
        <p:nvPicPr>
          <p:cNvPr id="2" name="Picture 1">
            <a:extLst>
              <a:ext uri="{FF2B5EF4-FFF2-40B4-BE49-F238E27FC236}">
                <a16:creationId xmlns:a16="http://schemas.microsoft.com/office/drawing/2014/main" id="{87D6F0D8-834B-4A25-3F39-425BFC1FFA5D}"/>
              </a:ext>
            </a:extLst>
          </p:cNvPr>
          <p:cNvPicPr>
            <a:picLocks noChangeAspect="1"/>
          </p:cNvPicPr>
          <p:nvPr/>
        </p:nvPicPr>
        <p:blipFill>
          <a:blip r:embed="rId4">
            <a:extLst>
              <a:ext uri="{28A0092B-C50C-407E-A947-70E740481C1C}">
                <a14:useLocalDpi xmlns:a14="http://schemas.microsoft.com/office/drawing/2010/main" val="0"/>
              </a:ext>
            </a:extLst>
          </a:blip>
          <a:srcRect l="9111" t="32667" r="8666" b="35333"/>
          <a:stretch>
            <a:fillRect/>
          </a:stretch>
        </p:blipFill>
        <p:spPr>
          <a:xfrm>
            <a:off x="10136122" y="140110"/>
            <a:ext cx="1755837" cy="683353"/>
          </a:xfrm>
          <a:prstGeom prst="rect">
            <a:avLst/>
          </a:prstGeom>
        </p:spPr>
      </p:pic>
      <p:sp>
        <p:nvSpPr>
          <p:cNvPr id="3" name="Rectangle 2">
            <a:extLst>
              <a:ext uri="{FF2B5EF4-FFF2-40B4-BE49-F238E27FC236}">
                <a16:creationId xmlns:a16="http://schemas.microsoft.com/office/drawing/2014/main" id="{8A82E8B3-6044-DBFF-B5C1-7D2617B61478}"/>
              </a:ext>
            </a:extLst>
          </p:cNvPr>
          <p:cNvSpPr/>
          <p:nvPr/>
        </p:nvSpPr>
        <p:spPr>
          <a:xfrm>
            <a:off x="9360611" y="4791558"/>
            <a:ext cx="284684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lumMod val="95000"/>
                    <a:lumOff val="5000"/>
                  </a:schemeClr>
                </a:solidFill>
                <a:latin typeface="Arial" panose="020B0604020202020204" pitchFamily="34" charset="0"/>
                <a:cs typeface="Arial" panose="020B0604020202020204" pitchFamily="34" charset="0"/>
              </a:rPr>
              <a:t>TAKE HOME MESSAGE`</a:t>
            </a:r>
          </a:p>
        </p:txBody>
      </p:sp>
      <p:sp>
        <p:nvSpPr>
          <p:cNvPr id="21" name="Rectangle 20">
            <a:extLst>
              <a:ext uri="{FF2B5EF4-FFF2-40B4-BE49-F238E27FC236}">
                <a16:creationId xmlns:a16="http://schemas.microsoft.com/office/drawing/2014/main" id="{DF1D9C38-9C19-1216-35CD-5775FA021AD1}"/>
              </a:ext>
            </a:extLst>
          </p:cNvPr>
          <p:cNvSpPr/>
          <p:nvPr/>
        </p:nvSpPr>
        <p:spPr>
          <a:xfrm>
            <a:off x="9345156" y="5194054"/>
            <a:ext cx="2846840" cy="10156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i="1" dirty="0">
                <a:solidFill>
                  <a:schemeClr val="tx1"/>
                </a:solidFill>
                <a:latin typeface="Arial" panose="020B0604020202020204" pitchFamily="34" charset="0"/>
                <a:cs typeface="Arial" panose="020B0604020202020204" pitchFamily="34" charset="0"/>
              </a:rPr>
              <a:t>“Even extreme stiffness and deformity in PPRD can be overcome with meticulous planning, staged surgery, and appropriate implant choice”</a:t>
            </a:r>
          </a:p>
        </p:txBody>
      </p:sp>
      <p:sp>
        <p:nvSpPr>
          <p:cNvPr id="24" name="Rectangle 23">
            <a:extLst>
              <a:ext uri="{FF2B5EF4-FFF2-40B4-BE49-F238E27FC236}">
                <a16:creationId xmlns:a16="http://schemas.microsoft.com/office/drawing/2014/main" id="{BC4539F6-284D-CF1F-7904-A32F60809503}"/>
              </a:ext>
            </a:extLst>
          </p:cNvPr>
          <p:cNvSpPr/>
          <p:nvPr/>
        </p:nvSpPr>
        <p:spPr>
          <a:xfrm>
            <a:off x="9360610" y="6217576"/>
            <a:ext cx="2854109" cy="7160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1" i="1" dirty="0">
                <a:solidFill>
                  <a:schemeClr val="tx1"/>
                </a:solidFill>
                <a:latin typeface="Arial" panose="020B0604020202020204" pitchFamily="34" charset="0"/>
                <a:cs typeface="Arial" panose="020B0604020202020204" pitchFamily="34" charset="0"/>
              </a:rPr>
              <a:t>REFERENCES: </a:t>
            </a:r>
            <a:r>
              <a:rPr lang="en-US" sz="800" dirty="0">
                <a:solidFill>
                  <a:schemeClr val="tx1"/>
                </a:solidFill>
                <a:latin typeface="Arial" panose="020B0604020202020204" pitchFamily="34" charset="0"/>
                <a:cs typeface="Arial" panose="020B0604020202020204" pitchFamily="34" charset="0"/>
              </a:rPr>
              <a:t>Hurvitz JR et al. Nat Genet. 1999; Garcia-Segarra N et al. Am J Med Genet C. 2012; Wang W et al. Medicine (Baltimore). 2023; </a:t>
            </a:r>
            <a:r>
              <a:rPr lang="en-US" sz="800" dirty="0" err="1">
                <a:solidFill>
                  <a:schemeClr val="tx1"/>
                </a:solidFill>
                <a:latin typeface="Arial" panose="020B0604020202020204" pitchFamily="34" charset="0"/>
                <a:cs typeface="Arial" panose="020B0604020202020204" pitchFamily="34" charset="0"/>
              </a:rPr>
              <a:t>Outrequin</a:t>
            </a:r>
            <a:r>
              <a:rPr lang="en-US" sz="800" dirty="0">
                <a:solidFill>
                  <a:schemeClr val="tx1"/>
                </a:solidFill>
                <a:latin typeface="Arial" panose="020B0604020202020204" pitchFamily="34" charset="0"/>
                <a:cs typeface="Arial" panose="020B0604020202020204" pitchFamily="34" charset="0"/>
              </a:rPr>
              <a:t> A et al. J </a:t>
            </a:r>
            <a:r>
              <a:rPr lang="en-US" sz="800" dirty="0" err="1">
                <a:solidFill>
                  <a:schemeClr val="tx1"/>
                </a:solidFill>
                <a:latin typeface="Arial" panose="020B0604020202020204" pitchFamily="34" charset="0"/>
                <a:cs typeface="Arial" panose="020B0604020202020204" pitchFamily="34" charset="0"/>
              </a:rPr>
              <a:t>Orthop</a:t>
            </a:r>
            <a:r>
              <a:rPr lang="en-US" sz="800" dirty="0">
                <a:solidFill>
                  <a:schemeClr val="tx1"/>
                </a:solidFill>
                <a:latin typeface="Arial" panose="020B0604020202020204" pitchFamily="34" charset="0"/>
                <a:cs typeface="Arial" panose="020B0604020202020204" pitchFamily="34" charset="0"/>
              </a:rPr>
              <a:t> Case Rep. 2024</a:t>
            </a:r>
          </a:p>
          <a:p>
            <a:endParaRPr lang="en-US" sz="800" b="1" i="1" dirty="0">
              <a:solidFill>
                <a:schemeClr val="tx1"/>
              </a:solidFill>
              <a:latin typeface="Arial" panose="020B0604020202020204" pitchFamily="34" charset="0"/>
              <a:cs typeface="Arial" panose="020B0604020202020204" pitchFamily="34" charset="0"/>
            </a:endParaRPr>
          </a:p>
        </p:txBody>
      </p:sp>
      <p:pic>
        <p:nvPicPr>
          <p:cNvPr id="25" name="Picture 24">
            <a:extLst>
              <a:ext uri="{FF2B5EF4-FFF2-40B4-BE49-F238E27FC236}">
                <a16:creationId xmlns:a16="http://schemas.microsoft.com/office/drawing/2014/main" id="{30EC5C76-099B-B21C-FC39-DC69A5EA1C3C}"/>
              </a:ext>
            </a:extLst>
          </p:cNvPr>
          <p:cNvPicPr>
            <a:picLocks noChangeAspect="1"/>
          </p:cNvPicPr>
          <p:nvPr/>
        </p:nvPicPr>
        <p:blipFill>
          <a:blip r:embed="rId5"/>
          <a:stretch>
            <a:fillRect/>
          </a:stretch>
        </p:blipFill>
        <p:spPr>
          <a:xfrm>
            <a:off x="4072296" y="2509042"/>
            <a:ext cx="886574" cy="1441154"/>
          </a:xfrm>
          <a:prstGeom prst="rect">
            <a:avLst/>
          </a:prstGeom>
        </p:spPr>
      </p:pic>
      <p:pic>
        <p:nvPicPr>
          <p:cNvPr id="26" name="Picture 25">
            <a:extLst>
              <a:ext uri="{FF2B5EF4-FFF2-40B4-BE49-F238E27FC236}">
                <a16:creationId xmlns:a16="http://schemas.microsoft.com/office/drawing/2014/main" id="{D51E99C0-7FA3-33C3-47B3-C06AFA42C241}"/>
              </a:ext>
            </a:extLst>
          </p:cNvPr>
          <p:cNvPicPr>
            <a:picLocks noChangeAspect="1"/>
          </p:cNvPicPr>
          <p:nvPr/>
        </p:nvPicPr>
        <p:blipFill>
          <a:blip r:embed="rId6"/>
          <a:srcRect b="22140"/>
          <a:stretch>
            <a:fillRect/>
          </a:stretch>
        </p:blipFill>
        <p:spPr>
          <a:xfrm>
            <a:off x="4064688" y="1321093"/>
            <a:ext cx="1648569" cy="1224125"/>
          </a:xfrm>
          <a:prstGeom prst="rect">
            <a:avLst/>
          </a:prstGeom>
        </p:spPr>
      </p:pic>
      <p:pic>
        <p:nvPicPr>
          <p:cNvPr id="27" name="Picture 26">
            <a:extLst>
              <a:ext uri="{FF2B5EF4-FFF2-40B4-BE49-F238E27FC236}">
                <a16:creationId xmlns:a16="http://schemas.microsoft.com/office/drawing/2014/main" id="{5E882A39-843E-C7C6-4413-103C11DAC435}"/>
              </a:ext>
            </a:extLst>
          </p:cNvPr>
          <p:cNvPicPr>
            <a:picLocks noChangeAspect="1"/>
          </p:cNvPicPr>
          <p:nvPr/>
        </p:nvPicPr>
        <p:blipFill>
          <a:blip r:embed="rId7"/>
          <a:stretch>
            <a:fillRect/>
          </a:stretch>
        </p:blipFill>
        <p:spPr>
          <a:xfrm>
            <a:off x="2939660" y="1309505"/>
            <a:ext cx="1125028" cy="2640691"/>
          </a:xfrm>
          <a:prstGeom prst="rect">
            <a:avLst/>
          </a:prstGeom>
        </p:spPr>
      </p:pic>
      <p:pic>
        <p:nvPicPr>
          <p:cNvPr id="28" name="Picture 27">
            <a:extLst>
              <a:ext uri="{FF2B5EF4-FFF2-40B4-BE49-F238E27FC236}">
                <a16:creationId xmlns:a16="http://schemas.microsoft.com/office/drawing/2014/main" id="{BA1A7C57-13BE-310B-71F5-23020438D8DC}"/>
              </a:ext>
            </a:extLst>
          </p:cNvPr>
          <p:cNvPicPr>
            <a:picLocks noChangeAspect="1"/>
          </p:cNvPicPr>
          <p:nvPr/>
        </p:nvPicPr>
        <p:blipFill>
          <a:blip r:embed="rId8"/>
          <a:srcRect t="14354" b="12441"/>
          <a:stretch>
            <a:fillRect/>
          </a:stretch>
        </p:blipFill>
        <p:spPr>
          <a:xfrm>
            <a:off x="4956462" y="2545219"/>
            <a:ext cx="751191" cy="742219"/>
          </a:xfrm>
          <a:prstGeom prst="rect">
            <a:avLst/>
          </a:prstGeom>
        </p:spPr>
      </p:pic>
      <p:pic>
        <p:nvPicPr>
          <p:cNvPr id="29" name="Picture 28">
            <a:extLst>
              <a:ext uri="{FF2B5EF4-FFF2-40B4-BE49-F238E27FC236}">
                <a16:creationId xmlns:a16="http://schemas.microsoft.com/office/drawing/2014/main" id="{ECBD3626-B83A-61CB-7D4E-70897445A4D1}"/>
              </a:ext>
            </a:extLst>
          </p:cNvPr>
          <p:cNvPicPr>
            <a:picLocks noChangeAspect="1"/>
          </p:cNvPicPr>
          <p:nvPr/>
        </p:nvPicPr>
        <p:blipFill>
          <a:blip r:embed="rId9"/>
          <a:srcRect t="13243" b="22667"/>
          <a:stretch>
            <a:fillRect/>
          </a:stretch>
        </p:blipFill>
        <p:spPr>
          <a:xfrm>
            <a:off x="4941003" y="3294113"/>
            <a:ext cx="772253" cy="673178"/>
          </a:xfrm>
          <a:prstGeom prst="rect">
            <a:avLst/>
          </a:prstGeom>
        </p:spPr>
      </p:pic>
      <p:pic>
        <p:nvPicPr>
          <p:cNvPr id="30" name="Picture 29">
            <a:extLst>
              <a:ext uri="{FF2B5EF4-FFF2-40B4-BE49-F238E27FC236}">
                <a16:creationId xmlns:a16="http://schemas.microsoft.com/office/drawing/2014/main" id="{7D104A72-1E90-40BD-9950-6883040FC97A}"/>
              </a:ext>
            </a:extLst>
          </p:cNvPr>
          <p:cNvPicPr>
            <a:picLocks noChangeAspect="1"/>
          </p:cNvPicPr>
          <p:nvPr/>
        </p:nvPicPr>
        <p:blipFill>
          <a:blip r:embed="rId10"/>
          <a:stretch>
            <a:fillRect/>
          </a:stretch>
        </p:blipFill>
        <p:spPr>
          <a:xfrm>
            <a:off x="5833868" y="4016512"/>
            <a:ext cx="1106420" cy="2841488"/>
          </a:xfrm>
          <a:prstGeom prst="rect">
            <a:avLst/>
          </a:prstGeom>
        </p:spPr>
      </p:pic>
      <p:pic>
        <p:nvPicPr>
          <p:cNvPr id="31" name="Picture 30">
            <a:extLst>
              <a:ext uri="{FF2B5EF4-FFF2-40B4-BE49-F238E27FC236}">
                <a16:creationId xmlns:a16="http://schemas.microsoft.com/office/drawing/2014/main" id="{7EB34644-2CB5-4524-5554-D41ECD2289D5}"/>
              </a:ext>
            </a:extLst>
          </p:cNvPr>
          <p:cNvPicPr>
            <a:picLocks noChangeAspect="1"/>
          </p:cNvPicPr>
          <p:nvPr/>
        </p:nvPicPr>
        <p:blipFill>
          <a:blip r:embed="rId11"/>
          <a:srcRect t="4134" b="2534"/>
          <a:stretch>
            <a:fillRect/>
          </a:stretch>
        </p:blipFill>
        <p:spPr>
          <a:xfrm>
            <a:off x="7066503" y="4053554"/>
            <a:ext cx="1009486" cy="1132641"/>
          </a:xfrm>
          <a:prstGeom prst="rect">
            <a:avLst/>
          </a:prstGeom>
        </p:spPr>
      </p:pic>
      <p:pic>
        <p:nvPicPr>
          <p:cNvPr id="32" name="Picture 31">
            <a:extLst>
              <a:ext uri="{FF2B5EF4-FFF2-40B4-BE49-F238E27FC236}">
                <a16:creationId xmlns:a16="http://schemas.microsoft.com/office/drawing/2014/main" id="{A05D78CF-BF9E-7C80-98A3-FBE3795061B9}"/>
              </a:ext>
            </a:extLst>
          </p:cNvPr>
          <p:cNvPicPr>
            <a:picLocks noChangeAspect="1"/>
          </p:cNvPicPr>
          <p:nvPr/>
        </p:nvPicPr>
        <p:blipFill>
          <a:blip r:embed="rId12"/>
          <a:srcRect t="26088" b="5247"/>
          <a:stretch>
            <a:fillRect/>
          </a:stretch>
        </p:blipFill>
        <p:spPr>
          <a:xfrm>
            <a:off x="7074234" y="5207796"/>
            <a:ext cx="1049901" cy="1646826"/>
          </a:xfrm>
          <a:prstGeom prst="rect">
            <a:avLst/>
          </a:prstGeom>
        </p:spPr>
      </p:pic>
      <p:pic>
        <p:nvPicPr>
          <p:cNvPr id="33" name="Picture 32">
            <a:extLst>
              <a:ext uri="{FF2B5EF4-FFF2-40B4-BE49-F238E27FC236}">
                <a16:creationId xmlns:a16="http://schemas.microsoft.com/office/drawing/2014/main" id="{4A5B8730-F1BD-2954-4624-E94704176A7E}"/>
              </a:ext>
            </a:extLst>
          </p:cNvPr>
          <p:cNvPicPr>
            <a:picLocks noChangeAspect="1"/>
          </p:cNvPicPr>
          <p:nvPr/>
        </p:nvPicPr>
        <p:blipFill>
          <a:blip r:embed="rId13"/>
          <a:stretch>
            <a:fillRect/>
          </a:stretch>
        </p:blipFill>
        <p:spPr>
          <a:xfrm>
            <a:off x="8242243" y="4033377"/>
            <a:ext cx="984799" cy="1338215"/>
          </a:xfrm>
          <a:prstGeom prst="rect">
            <a:avLst/>
          </a:prstGeom>
        </p:spPr>
      </p:pic>
      <p:pic>
        <p:nvPicPr>
          <p:cNvPr id="34" name="Picture 33">
            <a:extLst>
              <a:ext uri="{FF2B5EF4-FFF2-40B4-BE49-F238E27FC236}">
                <a16:creationId xmlns:a16="http://schemas.microsoft.com/office/drawing/2014/main" id="{B5AE53D9-1B6A-E61D-F151-C555595510A0}"/>
              </a:ext>
            </a:extLst>
          </p:cNvPr>
          <p:cNvPicPr>
            <a:picLocks noChangeAspect="1"/>
          </p:cNvPicPr>
          <p:nvPr/>
        </p:nvPicPr>
        <p:blipFill>
          <a:blip r:embed="rId14"/>
          <a:stretch>
            <a:fillRect/>
          </a:stretch>
        </p:blipFill>
        <p:spPr>
          <a:xfrm>
            <a:off x="8242242" y="5388399"/>
            <a:ext cx="984799" cy="1452794"/>
          </a:xfrm>
          <a:prstGeom prst="rect">
            <a:avLst/>
          </a:prstGeom>
        </p:spPr>
      </p:pic>
      <p:sp>
        <p:nvSpPr>
          <p:cNvPr id="36" name="TextBox 35">
            <a:extLst>
              <a:ext uri="{FF2B5EF4-FFF2-40B4-BE49-F238E27FC236}">
                <a16:creationId xmlns:a16="http://schemas.microsoft.com/office/drawing/2014/main" id="{2BDFD819-E143-3148-C8DB-C8F70B117539}"/>
              </a:ext>
            </a:extLst>
          </p:cNvPr>
          <p:cNvSpPr txBox="1"/>
          <p:nvPr/>
        </p:nvSpPr>
        <p:spPr>
          <a:xfrm>
            <a:off x="2947708" y="5381266"/>
            <a:ext cx="2751895" cy="1384995"/>
          </a:xfrm>
          <a:prstGeom prst="rect">
            <a:avLst/>
          </a:prstGeom>
          <a:noFill/>
          <a:ln>
            <a:solidFill>
              <a:schemeClr val="accent1"/>
            </a:solidFill>
          </a:ln>
        </p:spPr>
        <p:txBody>
          <a:bodyPr wrap="square" rtlCol="0">
            <a:spAutoFit/>
          </a:bodyPr>
          <a:lstStyle/>
          <a:p>
            <a:pPr algn="just"/>
            <a:r>
              <a:rPr lang="en-IN" sz="1200" b="1" dirty="0">
                <a:latin typeface="Arial" panose="020B0604020202020204" pitchFamily="34" charset="0"/>
                <a:cs typeface="Arial" panose="020B0604020202020204" pitchFamily="34" charset="0"/>
              </a:rPr>
              <a:t>What was done:</a:t>
            </a:r>
          </a:p>
          <a:p>
            <a:pPr marL="171450" indent="-171450" algn="just">
              <a:buFont typeface="Arial" panose="020B0604020202020204" pitchFamily="34" charset="0"/>
              <a:buChar char="•"/>
            </a:pPr>
            <a:r>
              <a:rPr lang="en-IN" sz="1200" b="1" dirty="0">
                <a:latin typeface="Arial" panose="020B0604020202020204" pitchFamily="34" charset="0"/>
                <a:cs typeface="Arial" panose="020B0604020202020204" pitchFamily="34" charset="0"/>
              </a:rPr>
              <a:t>Stage 1</a:t>
            </a:r>
            <a:r>
              <a:rPr lang="en-IN" sz="1200" dirty="0">
                <a:latin typeface="Arial" panose="020B0604020202020204" pitchFamily="34" charset="0"/>
                <a:cs typeface="Arial" panose="020B0604020202020204" pitchFamily="34" charset="0"/>
              </a:rPr>
              <a:t>: Left Total Hip Replacement + Left Total knee Replacement</a:t>
            </a:r>
          </a:p>
          <a:p>
            <a:pPr marL="171450" indent="-171450" algn="just">
              <a:buFont typeface="Arial" panose="020B0604020202020204" pitchFamily="34" charset="0"/>
              <a:buChar char="•"/>
            </a:pPr>
            <a:r>
              <a:rPr lang="en-IN" sz="1200" b="1" dirty="0">
                <a:latin typeface="Arial" panose="020B0604020202020204" pitchFamily="34" charset="0"/>
                <a:cs typeface="Arial" panose="020B0604020202020204" pitchFamily="34" charset="0"/>
              </a:rPr>
              <a:t>Stage 2</a:t>
            </a:r>
            <a:r>
              <a:rPr lang="en-IN" sz="1200" dirty="0">
                <a:latin typeface="Arial" panose="020B0604020202020204" pitchFamily="34" charset="0"/>
                <a:cs typeface="Arial" panose="020B0604020202020204" pitchFamily="34" charset="0"/>
              </a:rPr>
              <a:t>: Right Total Hip Replacement + Right Total Knee Replacement</a:t>
            </a:r>
          </a:p>
        </p:txBody>
      </p:sp>
      <p:sp>
        <p:nvSpPr>
          <p:cNvPr id="17" name="TextBox 16">
            <a:extLst>
              <a:ext uri="{FF2B5EF4-FFF2-40B4-BE49-F238E27FC236}">
                <a16:creationId xmlns:a16="http://schemas.microsoft.com/office/drawing/2014/main" id="{828E5525-6EC6-8D8F-FA8D-AA0769F82758}"/>
              </a:ext>
            </a:extLst>
          </p:cNvPr>
          <p:cNvSpPr txBox="1"/>
          <p:nvPr/>
        </p:nvSpPr>
        <p:spPr>
          <a:xfrm>
            <a:off x="2939660" y="3987323"/>
            <a:ext cx="2767993" cy="1200329"/>
          </a:xfrm>
          <a:prstGeom prst="rect">
            <a:avLst/>
          </a:prstGeom>
          <a:solidFill>
            <a:schemeClr val="bg2">
              <a:lumMod val="75000"/>
            </a:schemeClr>
          </a:solidFill>
        </p:spPr>
        <p:txBody>
          <a:bodyPr wrap="square" rtlCol="0">
            <a:spAutoFit/>
          </a:bodyPr>
          <a:lstStyle/>
          <a:p>
            <a:pPr algn="ctr"/>
            <a:r>
              <a:rPr lang="en-IN" sz="1200" b="1" dirty="0">
                <a:latin typeface="Arial" panose="020B0604020202020204" pitchFamily="34" charset="0"/>
                <a:cs typeface="Arial" panose="020B0604020202020204" pitchFamily="34" charset="0"/>
              </a:rPr>
              <a:t>PRE-OP</a:t>
            </a:r>
          </a:p>
          <a:p>
            <a:endParaRPr lang="en-IN" sz="1200" dirty="0">
              <a:latin typeface="Arial" panose="020B0604020202020204" pitchFamily="34" charset="0"/>
              <a:cs typeface="Arial" panose="020B0604020202020204" pitchFamily="34" charset="0"/>
            </a:endParaRPr>
          </a:p>
          <a:p>
            <a:r>
              <a:rPr lang="en-IN" sz="1200" dirty="0">
                <a:latin typeface="Arial" panose="020B0604020202020204" pitchFamily="34" charset="0"/>
                <a:cs typeface="Arial" panose="020B0604020202020204" pitchFamily="34" charset="0"/>
              </a:rPr>
              <a:t>B/L HIPS: NO MOVEMENTS, FFD – 60</a:t>
            </a:r>
            <a:r>
              <a:rPr lang="en-IN" sz="1200" baseline="30000" dirty="0">
                <a:latin typeface="Arial" panose="020B0604020202020204" pitchFamily="34" charset="0"/>
                <a:cs typeface="Arial" panose="020B0604020202020204" pitchFamily="34" charset="0"/>
              </a:rPr>
              <a:t>0</a:t>
            </a:r>
          </a:p>
          <a:p>
            <a:r>
              <a:rPr lang="en-IN" sz="1200" dirty="0">
                <a:latin typeface="Arial" panose="020B0604020202020204" pitchFamily="34" charset="0"/>
                <a:cs typeface="Arial" panose="020B0604020202020204" pitchFamily="34" charset="0"/>
              </a:rPr>
              <a:t>B/L KNEES: FFD – 40</a:t>
            </a:r>
            <a:r>
              <a:rPr lang="en-IN" sz="1200" baseline="30000" dirty="0">
                <a:latin typeface="Arial" panose="020B0604020202020204" pitchFamily="34" charset="0"/>
                <a:cs typeface="Arial" panose="020B0604020202020204" pitchFamily="34" charset="0"/>
              </a:rPr>
              <a:t>0 </a:t>
            </a:r>
            <a:r>
              <a:rPr lang="en-IN" sz="1200" dirty="0">
                <a:latin typeface="Arial" panose="020B0604020202020204" pitchFamily="34" charset="0"/>
                <a:cs typeface="Arial" panose="020B0604020202020204" pitchFamily="34" charset="0"/>
              </a:rPr>
              <a:t>,FLEXION 40-110</a:t>
            </a:r>
            <a:r>
              <a:rPr lang="en-IN" sz="1200" baseline="30000" dirty="0">
                <a:latin typeface="Arial" panose="020B0604020202020204" pitchFamily="34" charset="0"/>
                <a:cs typeface="Arial" panose="020B0604020202020204" pitchFamily="34" charset="0"/>
              </a:rPr>
              <a:t>0</a:t>
            </a:r>
            <a:endParaRPr lang="en-IN" sz="12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807EFF00-0CC4-03BF-9FAE-BDAAFEBDEFC1}"/>
              </a:ext>
            </a:extLst>
          </p:cNvPr>
          <p:cNvSpPr txBox="1"/>
          <p:nvPr/>
        </p:nvSpPr>
        <p:spPr>
          <a:xfrm>
            <a:off x="5827577" y="3067299"/>
            <a:ext cx="3424502" cy="923330"/>
          </a:xfrm>
          <a:prstGeom prst="rect">
            <a:avLst/>
          </a:prstGeom>
          <a:noFill/>
          <a:ln>
            <a:solidFill>
              <a:schemeClr val="accent1"/>
            </a:solidFill>
          </a:ln>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RESULTS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Marked reduction in pain</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Significant improvement in hip and knee range of motion</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Correction of severe deformities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Achieved independent ambulation</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Improved overall quality of life</a:t>
            </a:r>
          </a:p>
        </p:txBody>
      </p:sp>
      <p:graphicFrame>
        <p:nvGraphicFramePr>
          <p:cNvPr id="20" name="Table 19">
            <a:extLst>
              <a:ext uri="{FF2B5EF4-FFF2-40B4-BE49-F238E27FC236}">
                <a16:creationId xmlns:a16="http://schemas.microsoft.com/office/drawing/2014/main" id="{CBBB8995-DA8A-A53E-A626-1162DC61DC47}"/>
              </a:ext>
            </a:extLst>
          </p:cNvPr>
          <p:cNvGraphicFramePr>
            <a:graphicFrameLocks noGrp="1"/>
          </p:cNvGraphicFramePr>
          <p:nvPr/>
        </p:nvGraphicFramePr>
        <p:xfrm>
          <a:off x="5810491" y="1304056"/>
          <a:ext cx="3464573" cy="1737360"/>
        </p:xfrm>
        <a:graphic>
          <a:graphicData uri="http://schemas.openxmlformats.org/drawingml/2006/table">
            <a:tbl>
              <a:tblPr firstRow="1" bandRow="1">
                <a:tableStyleId>{5C22544A-7EE6-4342-B048-85BDC9FD1C3A}</a:tableStyleId>
              </a:tblPr>
              <a:tblGrid>
                <a:gridCol w="1777081">
                  <a:extLst>
                    <a:ext uri="{9D8B030D-6E8A-4147-A177-3AD203B41FA5}">
                      <a16:colId xmlns:a16="http://schemas.microsoft.com/office/drawing/2014/main" val="1174602792"/>
                    </a:ext>
                  </a:extLst>
                </a:gridCol>
                <a:gridCol w="1687492">
                  <a:extLst>
                    <a:ext uri="{9D8B030D-6E8A-4147-A177-3AD203B41FA5}">
                      <a16:colId xmlns:a16="http://schemas.microsoft.com/office/drawing/2014/main" val="1084178816"/>
                    </a:ext>
                  </a:extLst>
                </a:gridCol>
              </a:tblGrid>
              <a:tr h="204606">
                <a:tc gridSpan="2">
                  <a:txBody>
                    <a:bodyPr/>
                    <a:lstStyle/>
                    <a:p>
                      <a:pPr algn="ctr"/>
                      <a:r>
                        <a:rPr lang="en-IN" sz="900" dirty="0">
                          <a:solidFill>
                            <a:schemeClr val="tx1"/>
                          </a:solidFill>
                          <a:latin typeface="Arial" panose="020B0604020202020204" pitchFamily="34" charset="0"/>
                          <a:cs typeface="Arial" panose="020B0604020202020204" pitchFamily="34" charset="0"/>
                        </a:rPr>
                        <a:t>POST-OP</a:t>
                      </a:r>
                    </a:p>
                  </a:txBody>
                  <a:tcPr>
                    <a:solidFill>
                      <a:schemeClr val="bg2">
                        <a:lumMod val="75000"/>
                      </a:schemeClr>
                    </a:solidFill>
                  </a:tcPr>
                </a:tc>
                <a:tc hMerge="1">
                  <a:txBody>
                    <a:bodyPr/>
                    <a:lstStyle/>
                    <a:p>
                      <a:endParaRPr lang="en-IN"/>
                    </a:p>
                  </a:txBody>
                  <a:tcPr/>
                </a:tc>
                <a:extLst>
                  <a:ext uri="{0D108BD9-81ED-4DB2-BD59-A6C34878D82A}">
                    <a16:rowId xmlns:a16="http://schemas.microsoft.com/office/drawing/2014/main" val="3098139406"/>
                  </a:ext>
                </a:extLst>
              </a:tr>
              <a:tr h="204606">
                <a:tc>
                  <a:txBody>
                    <a:bodyPr/>
                    <a:lstStyle/>
                    <a:p>
                      <a:pPr algn="ctr"/>
                      <a:r>
                        <a:rPr lang="en-IN" sz="900" dirty="0">
                          <a:latin typeface="Arial" panose="020B0604020202020204" pitchFamily="34" charset="0"/>
                          <a:cs typeface="Arial" panose="020B0604020202020204" pitchFamily="34" charset="0"/>
                        </a:rPr>
                        <a:t>LEFT</a:t>
                      </a:r>
                    </a:p>
                  </a:txBody>
                  <a:tcPr>
                    <a:lnR w="12700" cap="flat" cmpd="sng" algn="ctr">
                      <a:solidFill>
                        <a:schemeClr val="tx1"/>
                      </a:solidFill>
                      <a:prstDash val="solid"/>
                      <a:round/>
                      <a:headEnd type="none" w="med" len="med"/>
                      <a:tailEnd type="none" w="med" len="med"/>
                    </a:lnR>
                  </a:tcPr>
                </a:tc>
                <a:tc>
                  <a:txBody>
                    <a:bodyPr/>
                    <a:lstStyle/>
                    <a:p>
                      <a:pPr algn="ctr"/>
                      <a:r>
                        <a:rPr lang="en-IN" sz="900" dirty="0">
                          <a:latin typeface="Arial" panose="020B0604020202020204" pitchFamily="34" charset="0"/>
                          <a:cs typeface="Arial" panose="020B0604020202020204" pitchFamily="34" charset="0"/>
                        </a:rPr>
                        <a:t>RIGHT</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905042634"/>
                  </a:ext>
                </a:extLst>
              </a:tr>
              <a:tr h="7365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1" dirty="0">
                          <a:latin typeface="Arial" panose="020B0604020202020204" pitchFamily="34" charset="0"/>
                          <a:cs typeface="Arial" panose="020B0604020202020204" pitchFamily="34" charset="0"/>
                        </a:rPr>
                        <a:t>HIP</a:t>
                      </a:r>
                      <a:endParaRPr lang="en-IN" sz="8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latin typeface="Arial" panose="020B0604020202020204" pitchFamily="34" charset="0"/>
                          <a:cs typeface="Arial" panose="020B0604020202020204" pitchFamily="34" charset="0"/>
                        </a:rPr>
                        <a:t>FLEXION: 0</a:t>
                      </a:r>
                      <a:r>
                        <a:rPr lang="en-IN" sz="800" baseline="30000" dirty="0">
                          <a:latin typeface="Arial" panose="020B0604020202020204" pitchFamily="34" charset="0"/>
                          <a:cs typeface="Arial" panose="020B0604020202020204" pitchFamily="34" charset="0"/>
                        </a:rPr>
                        <a:t>0</a:t>
                      </a:r>
                      <a:r>
                        <a:rPr lang="en-IN" sz="800" baseline="0" dirty="0">
                          <a:latin typeface="Arial" panose="020B0604020202020204" pitchFamily="34" charset="0"/>
                          <a:cs typeface="Arial" panose="020B0604020202020204" pitchFamily="34" charset="0"/>
                        </a:rPr>
                        <a:t>-90</a:t>
                      </a:r>
                      <a:r>
                        <a:rPr lang="en-IN" sz="800" baseline="30000" dirty="0">
                          <a:latin typeface="Arial" panose="020B0604020202020204" pitchFamily="34" charset="0"/>
                          <a:cs typeface="Arial" panose="020B0604020202020204" pitchFamily="34" charset="0"/>
                        </a:rPr>
                        <a:t>0</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latin typeface="Arial" panose="020B0604020202020204" pitchFamily="34" charset="0"/>
                          <a:cs typeface="Arial" panose="020B0604020202020204" pitchFamily="34" charset="0"/>
                        </a:rPr>
                        <a:t>ABDUCTION: 0</a:t>
                      </a:r>
                      <a:r>
                        <a:rPr lang="en-IN" sz="800" baseline="30000" dirty="0">
                          <a:latin typeface="Arial" panose="020B0604020202020204" pitchFamily="34" charset="0"/>
                          <a:cs typeface="Arial" panose="020B0604020202020204" pitchFamily="34" charset="0"/>
                        </a:rPr>
                        <a:t>0</a:t>
                      </a:r>
                      <a:r>
                        <a:rPr lang="en-IN" sz="800" dirty="0">
                          <a:latin typeface="Arial" panose="020B0604020202020204" pitchFamily="34" charset="0"/>
                          <a:cs typeface="Arial" panose="020B0604020202020204" pitchFamily="34" charset="0"/>
                        </a:rPr>
                        <a:t>-30</a:t>
                      </a:r>
                      <a:r>
                        <a:rPr lang="en-IN" sz="800" baseline="30000" dirty="0">
                          <a:latin typeface="Arial" panose="020B0604020202020204" pitchFamily="34" charset="0"/>
                          <a:cs typeface="Arial" panose="020B0604020202020204" pitchFamily="34" charset="0"/>
                        </a:rPr>
                        <a:t>0</a:t>
                      </a:r>
                      <a:endParaRPr lang="en-IN" sz="8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latin typeface="Arial" panose="020B0604020202020204" pitchFamily="34" charset="0"/>
                          <a:cs typeface="Arial" panose="020B0604020202020204" pitchFamily="34" charset="0"/>
                        </a:rPr>
                        <a:t>ADDUCTION: 0</a:t>
                      </a:r>
                      <a:r>
                        <a:rPr lang="en-IN" sz="800" baseline="30000" dirty="0">
                          <a:latin typeface="Arial" panose="020B0604020202020204" pitchFamily="34" charset="0"/>
                          <a:cs typeface="Arial" panose="020B0604020202020204" pitchFamily="34" charset="0"/>
                        </a:rPr>
                        <a:t>0</a:t>
                      </a:r>
                      <a:r>
                        <a:rPr lang="en-IN" sz="800" dirty="0">
                          <a:latin typeface="Arial" panose="020B0604020202020204" pitchFamily="34" charset="0"/>
                          <a:cs typeface="Arial" panose="020B0604020202020204" pitchFamily="34" charset="0"/>
                        </a:rPr>
                        <a:t>-15</a:t>
                      </a:r>
                      <a:r>
                        <a:rPr lang="en-IN" sz="800" baseline="30000" dirty="0">
                          <a:latin typeface="Arial" panose="020B0604020202020204" pitchFamily="34" charset="0"/>
                          <a:cs typeface="Arial" panose="020B0604020202020204" pitchFamily="34" charset="0"/>
                        </a:rPr>
                        <a:t>0</a:t>
                      </a:r>
                      <a:endParaRPr lang="en-IN" sz="8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latin typeface="Arial" panose="020B0604020202020204" pitchFamily="34" charset="0"/>
                          <a:cs typeface="Arial" panose="020B0604020202020204" pitchFamily="34" charset="0"/>
                        </a:rPr>
                        <a:t>IR: 0</a:t>
                      </a:r>
                      <a:r>
                        <a:rPr lang="en-IN" sz="800" baseline="30000" dirty="0">
                          <a:latin typeface="Arial" panose="020B0604020202020204" pitchFamily="34" charset="0"/>
                          <a:cs typeface="Arial" panose="020B0604020202020204" pitchFamily="34" charset="0"/>
                        </a:rPr>
                        <a:t>0</a:t>
                      </a:r>
                      <a:r>
                        <a:rPr lang="en-IN" sz="800" dirty="0">
                          <a:latin typeface="Arial" panose="020B0604020202020204" pitchFamily="34" charset="0"/>
                          <a:cs typeface="Arial" panose="020B0604020202020204" pitchFamily="34" charset="0"/>
                        </a:rPr>
                        <a:t>-20</a:t>
                      </a:r>
                      <a:r>
                        <a:rPr lang="en-IN" sz="800" baseline="30000" dirty="0">
                          <a:latin typeface="Arial" panose="020B0604020202020204" pitchFamily="34" charset="0"/>
                          <a:cs typeface="Arial" panose="020B0604020202020204" pitchFamily="34" charset="0"/>
                        </a:rPr>
                        <a:t>0</a:t>
                      </a:r>
                      <a:endParaRPr lang="en-IN" sz="8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latin typeface="Arial" panose="020B0604020202020204" pitchFamily="34" charset="0"/>
                          <a:cs typeface="Arial" panose="020B0604020202020204" pitchFamily="34" charset="0"/>
                        </a:rPr>
                        <a:t>ER: 0</a:t>
                      </a:r>
                      <a:r>
                        <a:rPr lang="en-IN" sz="800" baseline="30000" dirty="0">
                          <a:latin typeface="Arial" panose="020B0604020202020204" pitchFamily="34" charset="0"/>
                          <a:cs typeface="Arial" panose="020B0604020202020204" pitchFamily="34" charset="0"/>
                        </a:rPr>
                        <a:t>0</a:t>
                      </a:r>
                      <a:r>
                        <a:rPr lang="en-IN" sz="800" dirty="0">
                          <a:latin typeface="Arial" panose="020B0604020202020204" pitchFamily="34" charset="0"/>
                          <a:cs typeface="Arial" panose="020B0604020202020204" pitchFamily="34" charset="0"/>
                        </a:rPr>
                        <a:t>-30</a:t>
                      </a:r>
                      <a:r>
                        <a:rPr lang="en-IN" sz="800" baseline="30000" dirty="0">
                          <a:latin typeface="Arial" panose="020B0604020202020204" pitchFamily="34" charset="0"/>
                          <a:cs typeface="Arial" panose="020B0604020202020204" pitchFamily="34" charset="0"/>
                        </a:rPr>
                        <a:t>0</a:t>
                      </a:r>
                      <a:endParaRPr lang="en-IN"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1" dirty="0">
                          <a:latin typeface="Arial" panose="020B0604020202020204" pitchFamily="34" charset="0"/>
                          <a:cs typeface="Arial" panose="020B0604020202020204" pitchFamily="34" charset="0"/>
                        </a:rPr>
                        <a:t>HIP</a:t>
                      </a:r>
                      <a:endParaRPr lang="en-IN" sz="8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latin typeface="Arial" panose="020B0604020202020204" pitchFamily="34" charset="0"/>
                          <a:cs typeface="Arial" panose="020B0604020202020204" pitchFamily="34" charset="0"/>
                        </a:rPr>
                        <a:t>FLEXION: 0</a:t>
                      </a:r>
                      <a:r>
                        <a:rPr lang="en-IN" sz="800" baseline="30000" dirty="0">
                          <a:latin typeface="Arial" panose="020B0604020202020204" pitchFamily="34" charset="0"/>
                          <a:cs typeface="Arial" panose="020B0604020202020204" pitchFamily="34" charset="0"/>
                        </a:rPr>
                        <a:t>0</a:t>
                      </a:r>
                      <a:r>
                        <a:rPr lang="en-IN" sz="800" dirty="0">
                          <a:latin typeface="Arial" panose="020B0604020202020204" pitchFamily="34" charset="0"/>
                          <a:cs typeface="Arial" panose="020B0604020202020204" pitchFamily="34" charset="0"/>
                        </a:rPr>
                        <a:t>-90</a:t>
                      </a:r>
                      <a:r>
                        <a:rPr lang="en-IN" sz="800" baseline="30000" dirty="0">
                          <a:latin typeface="Arial" panose="020B0604020202020204" pitchFamily="34" charset="0"/>
                          <a:cs typeface="Arial" panose="020B0604020202020204" pitchFamily="34" charset="0"/>
                        </a:rPr>
                        <a:t>0</a:t>
                      </a:r>
                      <a:endParaRPr lang="en-IN" sz="8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latin typeface="Arial" panose="020B0604020202020204" pitchFamily="34" charset="0"/>
                          <a:cs typeface="Arial" panose="020B0604020202020204" pitchFamily="34" charset="0"/>
                        </a:rPr>
                        <a:t>ABDUCTION: 0</a:t>
                      </a:r>
                      <a:r>
                        <a:rPr lang="en-IN" sz="800" baseline="30000" dirty="0">
                          <a:latin typeface="Arial" panose="020B0604020202020204" pitchFamily="34" charset="0"/>
                          <a:cs typeface="Arial" panose="020B0604020202020204" pitchFamily="34" charset="0"/>
                        </a:rPr>
                        <a:t>0</a:t>
                      </a:r>
                      <a:r>
                        <a:rPr lang="en-IN" sz="800" dirty="0">
                          <a:latin typeface="Arial" panose="020B0604020202020204" pitchFamily="34" charset="0"/>
                          <a:cs typeface="Arial" panose="020B0604020202020204" pitchFamily="34" charset="0"/>
                        </a:rPr>
                        <a:t>-40</a:t>
                      </a:r>
                      <a:r>
                        <a:rPr lang="en-IN" sz="800" baseline="30000" dirty="0">
                          <a:latin typeface="Arial" panose="020B0604020202020204" pitchFamily="34" charset="0"/>
                          <a:cs typeface="Arial" panose="020B0604020202020204" pitchFamily="34" charset="0"/>
                        </a:rPr>
                        <a:t>0</a:t>
                      </a:r>
                      <a:endParaRPr lang="en-IN" sz="8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latin typeface="Arial" panose="020B0604020202020204" pitchFamily="34" charset="0"/>
                          <a:cs typeface="Arial" panose="020B0604020202020204" pitchFamily="34" charset="0"/>
                        </a:rPr>
                        <a:t>ADDUCTION: 0</a:t>
                      </a:r>
                      <a:r>
                        <a:rPr lang="en-IN" sz="800" baseline="30000" dirty="0">
                          <a:latin typeface="Arial" panose="020B0604020202020204" pitchFamily="34" charset="0"/>
                          <a:cs typeface="Arial" panose="020B0604020202020204" pitchFamily="34" charset="0"/>
                        </a:rPr>
                        <a:t>0</a:t>
                      </a:r>
                      <a:r>
                        <a:rPr lang="en-IN" sz="800" dirty="0">
                          <a:latin typeface="Arial" panose="020B0604020202020204" pitchFamily="34" charset="0"/>
                          <a:cs typeface="Arial" panose="020B0604020202020204" pitchFamily="34" charset="0"/>
                        </a:rPr>
                        <a:t>-10</a:t>
                      </a:r>
                      <a:r>
                        <a:rPr lang="en-IN" sz="800" baseline="30000" dirty="0">
                          <a:latin typeface="Arial" panose="020B0604020202020204" pitchFamily="34" charset="0"/>
                          <a:cs typeface="Arial" panose="020B0604020202020204" pitchFamily="34" charset="0"/>
                        </a:rPr>
                        <a:t>0</a:t>
                      </a:r>
                      <a:endParaRPr lang="en-IN" sz="8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latin typeface="Arial" panose="020B0604020202020204" pitchFamily="34" charset="0"/>
                          <a:cs typeface="Arial" panose="020B0604020202020204" pitchFamily="34" charset="0"/>
                        </a:rPr>
                        <a:t>IR: 0</a:t>
                      </a:r>
                      <a:r>
                        <a:rPr lang="en-IN" sz="800" baseline="30000" dirty="0">
                          <a:latin typeface="Arial" panose="020B0604020202020204" pitchFamily="34" charset="0"/>
                          <a:cs typeface="Arial" panose="020B0604020202020204" pitchFamily="34" charset="0"/>
                        </a:rPr>
                        <a:t>0</a:t>
                      </a:r>
                      <a:r>
                        <a:rPr lang="en-IN" sz="800" dirty="0">
                          <a:latin typeface="Arial" panose="020B0604020202020204" pitchFamily="34" charset="0"/>
                          <a:cs typeface="Arial" panose="020B0604020202020204" pitchFamily="34" charset="0"/>
                        </a:rPr>
                        <a:t>-20</a:t>
                      </a:r>
                      <a:r>
                        <a:rPr lang="en-IN" sz="800" baseline="30000" dirty="0">
                          <a:latin typeface="Arial" panose="020B0604020202020204" pitchFamily="34" charset="0"/>
                          <a:cs typeface="Arial" panose="020B0604020202020204" pitchFamily="34" charset="0"/>
                        </a:rPr>
                        <a:t>0</a:t>
                      </a:r>
                      <a:endParaRPr lang="en-IN" sz="8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latin typeface="Arial" panose="020B0604020202020204" pitchFamily="34" charset="0"/>
                          <a:cs typeface="Arial" panose="020B0604020202020204" pitchFamily="34" charset="0"/>
                        </a:rPr>
                        <a:t>ER: 0</a:t>
                      </a:r>
                      <a:r>
                        <a:rPr lang="en-IN" sz="800" baseline="30000" dirty="0">
                          <a:latin typeface="Arial" panose="020B0604020202020204" pitchFamily="34" charset="0"/>
                          <a:cs typeface="Arial" panose="020B0604020202020204" pitchFamily="34" charset="0"/>
                        </a:rPr>
                        <a:t>0</a:t>
                      </a:r>
                      <a:r>
                        <a:rPr lang="en-IN" sz="800" dirty="0">
                          <a:latin typeface="Arial" panose="020B0604020202020204" pitchFamily="34" charset="0"/>
                          <a:cs typeface="Arial" panose="020B0604020202020204" pitchFamily="34" charset="0"/>
                        </a:rPr>
                        <a:t>-30</a:t>
                      </a:r>
                      <a:r>
                        <a:rPr lang="en-IN" sz="800" baseline="30000" dirty="0">
                          <a:latin typeface="Arial" panose="020B0604020202020204" pitchFamily="34" charset="0"/>
                          <a:cs typeface="Arial" panose="020B0604020202020204" pitchFamily="34" charset="0"/>
                        </a:rPr>
                        <a:t>0</a:t>
                      </a:r>
                      <a:endParaRPr lang="en-IN"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407636994"/>
                  </a:ext>
                </a:extLst>
              </a:tr>
              <a:tr h="409213">
                <a:tc>
                  <a:txBody>
                    <a:bodyPr/>
                    <a:lstStyle/>
                    <a:p>
                      <a:r>
                        <a:rPr lang="en-IN" sz="800" b="1" dirty="0">
                          <a:latin typeface="Arial" panose="020B0604020202020204" pitchFamily="34" charset="0"/>
                          <a:cs typeface="Arial" panose="020B0604020202020204" pitchFamily="34" charset="0"/>
                        </a:rPr>
                        <a:t>KNEE</a:t>
                      </a:r>
                    </a:p>
                    <a:p>
                      <a:r>
                        <a:rPr lang="en-IN" sz="800" dirty="0">
                          <a:latin typeface="Arial" panose="020B0604020202020204" pitchFamily="34" charset="0"/>
                          <a:cs typeface="Arial" panose="020B0604020202020204" pitchFamily="34" charset="0"/>
                        </a:rPr>
                        <a:t>FLEXION: 0</a:t>
                      </a:r>
                      <a:r>
                        <a:rPr lang="en-IN" sz="800" baseline="30000" dirty="0">
                          <a:latin typeface="Arial" panose="020B0604020202020204" pitchFamily="34" charset="0"/>
                          <a:cs typeface="Arial" panose="020B0604020202020204" pitchFamily="34" charset="0"/>
                        </a:rPr>
                        <a:t>0</a:t>
                      </a:r>
                      <a:r>
                        <a:rPr lang="en-IN" sz="800" dirty="0">
                          <a:latin typeface="Arial" panose="020B0604020202020204" pitchFamily="34" charset="0"/>
                          <a:cs typeface="Arial" panose="020B0604020202020204" pitchFamily="34" charset="0"/>
                        </a:rPr>
                        <a:t>-110</a:t>
                      </a:r>
                      <a:r>
                        <a:rPr lang="en-IN" sz="800" baseline="30000" dirty="0">
                          <a:latin typeface="Arial" panose="020B0604020202020204" pitchFamily="34" charset="0"/>
                          <a:cs typeface="Arial" panose="020B0604020202020204" pitchFamily="34" charset="0"/>
                        </a:rPr>
                        <a:t>0</a:t>
                      </a:r>
                    </a:p>
                    <a:p>
                      <a:endParaRPr lang="en-IN"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tcPr>
                </a:tc>
                <a:tc>
                  <a:txBody>
                    <a:bodyPr/>
                    <a:lstStyle/>
                    <a:p>
                      <a:r>
                        <a:rPr lang="en-IN" sz="800" b="1" dirty="0">
                          <a:latin typeface="Arial" panose="020B0604020202020204" pitchFamily="34" charset="0"/>
                          <a:cs typeface="Arial" panose="020B0604020202020204" pitchFamily="34" charset="0"/>
                        </a:rPr>
                        <a:t>KNEE</a:t>
                      </a:r>
                    </a:p>
                    <a:p>
                      <a:r>
                        <a:rPr lang="en-IN" sz="800" dirty="0">
                          <a:latin typeface="Arial" panose="020B0604020202020204" pitchFamily="34" charset="0"/>
                          <a:cs typeface="Arial" panose="020B0604020202020204" pitchFamily="34" charset="0"/>
                        </a:rPr>
                        <a:t>FLEXION: 0</a:t>
                      </a:r>
                      <a:r>
                        <a:rPr lang="en-IN" sz="800" baseline="30000" dirty="0">
                          <a:latin typeface="Arial" panose="020B0604020202020204" pitchFamily="34" charset="0"/>
                          <a:cs typeface="Arial" panose="020B0604020202020204" pitchFamily="34" charset="0"/>
                        </a:rPr>
                        <a:t>0</a:t>
                      </a:r>
                      <a:r>
                        <a:rPr lang="en-IN" sz="800" dirty="0">
                          <a:latin typeface="Arial" panose="020B0604020202020204" pitchFamily="34" charset="0"/>
                          <a:cs typeface="Arial" panose="020B0604020202020204" pitchFamily="34" charset="0"/>
                        </a:rPr>
                        <a:t>-110</a:t>
                      </a:r>
                      <a:r>
                        <a:rPr lang="en-IN" sz="800" baseline="30000" dirty="0">
                          <a:latin typeface="Arial" panose="020B0604020202020204" pitchFamily="34" charset="0"/>
                          <a:cs typeface="Arial" panose="020B0604020202020204" pitchFamily="34" charset="0"/>
                        </a:rPr>
                        <a:t>0</a:t>
                      </a:r>
                      <a:endParaRPr lang="en-IN"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502265603"/>
                  </a:ext>
                </a:extLst>
              </a:tr>
            </a:tbl>
          </a:graphicData>
        </a:graphic>
      </p:graphicFrame>
    </p:spTree>
    <p:extLst>
      <p:ext uri="{BB962C8B-B14F-4D97-AF65-F5344CB8AC3E}">
        <p14:creationId xmlns:p14="http://schemas.microsoft.com/office/powerpoint/2010/main" val="1797799647"/>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TotalTime>
  <Words>524</Words>
  <Application>Microsoft Office PowerPoint</Application>
  <PresentationFormat>Widescreen</PresentationFormat>
  <Paragraphs>52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Gordita </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Nitish Chinta</dc:creator>
  <cp:lastModifiedBy>Nitish Chinta</cp:lastModifiedBy>
  <cp:revision>1</cp:revision>
  <dcterms:created xsi:type="dcterms:W3CDTF">2026-01-27T08:02:21Z</dcterms:created>
  <dcterms:modified xsi:type="dcterms:W3CDTF">2026-01-27T08:07:03Z</dcterms:modified>
</cp:coreProperties>
</file>