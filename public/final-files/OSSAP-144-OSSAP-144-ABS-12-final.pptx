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a:tcStyle>
        <a:tcBdr/>
        <a:fill>
          <a:solidFill>
            <a:srgbClr val="E7E9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a:tcStyle>
        <a:tcBdr/>
        <a:fill>
          <a:solidFill>
            <a:srgbClr val="E7EA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 /><Relationship Id="rId7"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heme" Target="theme/theme1.xml" /><Relationship Id="rId5" Type="http://schemas.openxmlformats.org/officeDocument/2006/relationships/viewProps" Target="viewProps.xml" /><Relationship Id="rId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7" name="Shape 107"/>
          <p:cNvSpPr>
            <a:spLocks noGrp="1" noRot="1" noChangeAspect="1"/>
          </p:cNvSpPr>
          <p:nvPr>
            <p:ph type="sldImg"/>
          </p:nvPr>
        </p:nvSpPr>
        <p:spPr>
          <a:xfrm>
            <a:off x="1143000" y="685800"/>
            <a:ext cx="4572000" cy="3429000"/>
          </a:xfrm>
          <a:prstGeom prst="rect">
            <a:avLst/>
          </a:prstGeom>
        </p:spPr>
        <p:txBody>
          <a:bodyPr/>
          <a:lstStyle/>
          <a:p>
            <a:endParaRPr/>
          </a:p>
        </p:txBody>
      </p:sp>
      <p:sp>
        <p:nvSpPr>
          <p:cNvPr id="108" name="Shape 10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ptos"/>
      </a:defRPr>
    </a:lvl1pPr>
    <a:lvl2pPr indent="228600" latinLnBrk="0">
      <a:defRPr sz="1200">
        <a:latin typeface="+mj-lt"/>
        <a:ea typeface="+mj-ea"/>
        <a:cs typeface="+mj-cs"/>
        <a:sym typeface="Aptos"/>
      </a:defRPr>
    </a:lvl2pPr>
    <a:lvl3pPr indent="457200" latinLnBrk="0">
      <a:defRPr sz="1200">
        <a:latin typeface="+mj-lt"/>
        <a:ea typeface="+mj-ea"/>
        <a:cs typeface="+mj-cs"/>
        <a:sym typeface="Aptos"/>
      </a:defRPr>
    </a:lvl3pPr>
    <a:lvl4pPr indent="685800" latinLnBrk="0">
      <a:defRPr sz="1200">
        <a:latin typeface="+mj-lt"/>
        <a:ea typeface="+mj-ea"/>
        <a:cs typeface="+mj-cs"/>
        <a:sym typeface="Aptos"/>
      </a:defRPr>
    </a:lvl4pPr>
    <a:lvl5pPr indent="914400" latinLnBrk="0">
      <a:defRPr sz="1200">
        <a:latin typeface="+mj-lt"/>
        <a:ea typeface="+mj-ea"/>
        <a:cs typeface="+mj-cs"/>
        <a:sym typeface="Aptos"/>
      </a:defRPr>
    </a:lvl5pPr>
    <a:lvl6pPr indent="1143000" latinLnBrk="0">
      <a:defRPr sz="1200">
        <a:latin typeface="+mj-lt"/>
        <a:ea typeface="+mj-ea"/>
        <a:cs typeface="+mj-cs"/>
        <a:sym typeface="Aptos"/>
      </a:defRPr>
    </a:lvl6pPr>
    <a:lvl7pPr indent="1371600" latinLnBrk="0">
      <a:defRPr sz="1200">
        <a:latin typeface="+mj-lt"/>
        <a:ea typeface="+mj-ea"/>
        <a:cs typeface="+mj-cs"/>
        <a:sym typeface="Aptos"/>
      </a:defRPr>
    </a:lvl7pPr>
    <a:lvl8pPr indent="1600200" latinLnBrk="0">
      <a:defRPr sz="1200">
        <a:latin typeface="+mj-lt"/>
        <a:ea typeface="+mj-ea"/>
        <a:cs typeface="+mj-cs"/>
        <a:sym typeface="Aptos"/>
      </a:defRPr>
    </a:lvl8pPr>
    <a:lvl9pPr indent="1828800" latinLnBrk="0">
      <a:defRPr sz="1200">
        <a:latin typeface="+mj-lt"/>
        <a:ea typeface="+mj-ea"/>
        <a:cs typeface="+mj-cs"/>
        <a:sym typeface="Apto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Master" Target="../slideMasters/slideMaster1.xml" /><Relationship Id="rId5" Type="http://schemas.openxmlformats.org/officeDocument/2006/relationships/image" Target="../media/image4.png" /><Relationship Id="rId4" Type="http://schemas.openxmlformats.org/officeDocument/2006/relationships/image" Target="../media/image3.png"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9" name="Rectangle 1"/>
          <p:cNvSpPr/>
          <p:nvPr/>
        </p:nvSpPr>
        <p:spPr>
          <a:xfrm>
            <a:off x="-1" y="-1"/>
            <a:ext cx="12192000" cy="1280158"/>
          </a:xfrm>
          <a:prstGeom prst="rect">
            <a:avLst/>
          </a:prstGeom>
          <a:solidFill>
            <a:srgbClr val="01234D"/>
          </a:solidFill>
          <a:ln w="19050">
            <a:solidFill>
              <a:srgbClr val="525755"/>
            </a:solidFill>
            <a:miter/>
          </a:ln>
        </p:spPr>
        <p:txBody>
          <a:bodyPr lIns="45719" rIns="45719" anchor="ctr"/>
          <a:lstStyle/>
          <a:p>
            <a:pPr algn="ctr">
              <a:defRPr>
                <a:solidFill>
                  <a:srgbClr val="FFFFFF"/>
                </a:solidFill>
              </a:defRPr>
            </a:pPr>
            <a:endParaRPr/>
          </a:p>
        </p:txBody>
      </p:sp>
      <p:pic>
        <p:nvPicPr>
          <p:cNvPr id="20" name="Picture 14" descr="Picture 14"/>
          <p:cNvPicPr>
            <a:picLocks noChangeAspect="1"/>
          </p:cNvPicPr>
          <p:nvPr/>
        </p:nvPicPr>
        <p:blipFill>
          <a:blip r:embed="rId2"/>
          <a:stretch>
            <a:fillRect/>
          </a:stretch>
        </p:blipFill>
        <p:spPr>
          <a:xfrm>
            <a:off x="9006884" y="74822"/>
            <a:ext cx="1043155" cy="1043154"/>
          </a:xfrm>
          <a:prstGeom prst="rect">
            <a:avLst/>
          </a:prstGeom>
          <a:ln w="12700">
            <a:miter lim="400000"/>
          </a:ln>
        </p:spPr>
      </p:pic>
      <p:pic>
        <p:nvPicPr>
          <p:cNvPr id="21" name="Picture 15" descr="Picture 15"/>
          <p:cNvPicPr>
            <a:picLocks noChangeAspect="1"/>
          </p:cNvPicPr>
          <p:nvPr/>
        </p:nvPicPr>
        <p:blipFill>
          <a:blip r:embed="rId3"/>
          <a:stretch>
            <a:fillRect/>
          </a:stretch>
        </p:blipFill>
        <p:spPr>
          <a:xfrm>
            <a:off x="10947316" y="123389"/>
            <a:ext cx="884048" cy="884049"/>
          </a:xfrm>
          <a:prstGeom prst="rect">
            <a:avLst/>
          </a:prstGeom>
          <a:ln w="12700">
            <a:miter lim="400000"/>
          </a:ln>
        </p:spPr>
      </p:pic>
      <p:pic>
        <p:nvPicPr>
          <p:cNvPr id="22" name="Picture 16" descr="Picture 16"/>
          <p:cNvPicPr>
            <a:picLocks noChangeAspect="1"/>
          </p:cNvPicPr>
          <p:nvPr/>
        </p:nvPicPr>
        <p:blipFill>
          <a:blip r:embed="rId4"/>
          <a:stretch>
            <a:fillRect/>
          </a:stretch>
        </p:blipFill>
        <p:spPr>
          <a:xfrm>
            <a:off x="10127892" y="192303"/>
            <a:ext cx="785941" cy="785941"/>
          </a:xfrm>
          <a:prstGeom prst="rect">
            <a:avLst/>
          </a:prstGeom>
          <a:ln w="12700">
            <a:miter lim="400000"/>
          </a:ln>
        </p:spPr>
      </p:pic>
      <p:sp>
        <p:nvSpPr>
          <p:cNvPr id="23" name="TextBox 17"/>
          <p:cNvSpPr txBox="1"/>
          <p:nvPr/>
        </p:nvSpPr>
        <p:spPr>
          <a:xfrm>
            <a:off x="2620968" y="27424"/>
            <a:ext cx="5906909" cy="650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b="1">
                <a:solidFill>
                  <a:srgbClr val="FFFFFF"/>
                </a:solidFill>
                <a:latin typeface="Gordita "/>
                <a:ea typeface="Gordita "/>
                <a:cs typeface="Gordita "/>
                <a:sym typeface="Gordita "/>
              </a:defRPr>
            </a:pPr>
            <a:r>
              <a:t>55</a:t>
            </a:r>
            <a:r>
              <a:rPr baseline="30000"/>
              <a:t>th</a:t>
            </a:r>
            <a:r>
              <a:t>   Annual Conference of </a:t>
            </a:r>
          </a:p>
          <a:p>
            <a:pPr>
              <a:defRPr b="1">
                <a:solidFill>
                  <a:srgbClr val="FFFFFF"/>
                </a:solidFill>
                <a:latin typeface="Gordita "/>
                <a:ea typeface="Gordita "/>
                <a:cs typeface="Gordita "/>
                <a:sym typeface="Gordita "/>
              </a:defRPr>
            </a:pPr>
            <a:r>
              <a:t>Orthopedic Surgeon Society of Andhra Pradesh</a:t>
            </a:r>
          </a:p>
        </p:txBody>
      </p:sp>
      <p:sp>
        <p:nvSpPr>
          <p:cNvPr id="24" name="TextBox 18"/>
          <p:cNvSpPr txBox="1"/>
          <p:nvPr/>
        </p:nvSpPr>
        <p:spPr>
          <a:xfrm>
            <a:off x="2646937" y="653897"/>
            <a:ext cx="6216055"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b="1">
                <a:solidFill>
                  <a:srgbClr val="FFFFFF"/>
                </a:solidFill>
                <a:latin typeface="Gordita "/>
                <a:ea typeface="Gordita "/>
                <a:cs typeface="Gordita "/>
                <a:sym typeface="Gordita "/>
              </a:defRPr>
            </a:lvl1pPr>
          </a:lstStyle>
          <a:p>
            <a:r>
              <a:t>Date 6 – 8 February,2026, Venue : Kurnool Medical College</a:t>
            </a:r>
          </a:p>
        </p:txBody>
      </p:sp>
      <p:sp>
        <p:nvSpPr>
          <p:cNvPr id="25" name="TextBox 19"/>
          <p:cNvSpPr txBox="1"/>
          <p:nvPr/>
        </p:nvSpPr>
        <p:spPr>
          <a:xfrm>
            <a:off x="2620969" y="913339"/>
            <a:ext cx="7022591" cy="269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b="1">
                <a:solidFill>
                  <a:srgbClr val="FFFFFF"/>
                </a:solidFill>
                <a:latin typeface="Gordita "/>
                <a:ea typeface="Gordita "/>
                <a:cs typeface="Gordita "/>
                <a:sym typeface="Gordita "/>
              </a:defRPr>
            </a:lvl1pPr>
          </a:lstStyle>
          <a:p>
            <a:r>
              <a:t>Organized by : Department of Orthopaedics, Kurnool Medical College Kurnool</a:t>
            </a:r>
          </a:p>
        </p:txBody>
      </p:sp>
      <p:sp>
        <p:nvSpPr>
          <p:cNvPr id="26" name="Freeform 13"/>
          <p:cNvSpPr/>
          <p:nvPr/>
        </p:nvSpPr>
        <p:spPr>
          <a:xfrm>
            <a:off x="560813" y="14254"/>
            <a:ext cx="1505562" cy="1280159"/>
          </a:xfrm>
          <a:prstGeom prst="rect">
            <a:avLst/>
          </a:prstGeom>
          <a:blipFill>
            <a:blip r:embed="rId5"/>
            <a:stretch>
              <a:fillRect/>
            </a:stretch>
          </a:blipFill>
          <a:ln w="12700">
            <a:miter lim="400000"/>
          </a:ln>
        </p:spPr>
        <p:txBody>
          <a:bodyPr lIns="45719" rIns="45719"/>
          <a:lstStyle/>
          <a:p>
            <a:endParaRPr/>
          </a:p>
        </p:txBody>
      </p:sp>
      <p:sp>
        <p:nvSpPr>
          <p:cNvPr id="27"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28"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theme" Target="../theme/theme1.xml" /><Relationship Id="rId1" Type="http://schemas.openxmlformats.org/officeDocument/2006/relationships/slideLayout" Target="../slideLayouts/slideLayout1.xml" /><Relationship Id="rId6" Type="http://schemas.openxmlformats.org/officeDocument/2006/relationships/image" Target="../media/image4.png" /><Relationship Id="rId5" Type="http://schemas.openxmlformats.org/officeDocument/2006/relationships/image" Target="../media/image3.png" /><Relationship Id="rId4" Type="http://schemas.openxmlformats.org/officeDocument/2006/relationships/image" Target="../media/image2.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 y="-1"/>
            <a:ext cx="12192000" cy="1280158"/>
          </a:xfrm>
          <a:prstGeom prst="rect">
            <a:avLst/>
          </a:prstGeom>
          <a:solidFill>
            <a:srgbClr val="01234D"/>
          </a:solidFill>
          <a:ln w="19050">
            <a:solidFill>
              <a:srgbClr val="525755"/>
            </a:solidFill>
            <a:miter/>
          </a:ln>
        </p:spPr>
        <p:txBody>
          <a:bodyPr lIns="45719" rIns="45719" anchor="ctr"/>
          <a:lstStyle/>
          <a:p>
            <a:pPr algn="ctr">
              <a:defRPr>
                <a:solidFill>
                  <a:srgbClr val="FFFFFF"/>
                </a:solidFill>
              </a:defRPr>
            </a:pPr>
            <a:endParaRPr/>
          </a:p>
        </p:txBody>
      </p:sp>
      <p:pic>
        <p:nvPicPr>
          <p:cNvPr id="3" name="Picture 14" descr="Picture 14"/>
          <p:cNvPicPr>
            <a:picLocks noChangeAspect="1"/>
          </p:cNvPicPr>
          <p:nvPr/>
        </p:nvPicPr>
        <p:blipFill>
          <a:blip r:embed="rId3"/>
          <a:stretch>
            <a:fillRect/>
          </a:stretch>
        </p:blipFill>
        <p:spPr>
          <a:xfrm>
            <a:off x="9006884" y="74822"/>
            <a:ext cx="1043155" cy="1043154"/>
          </a:xfrm>
          <a:prstGeom prst="rect">
            <a:avLst/>
          </a:prstGeom>
          <a:ln w="12700">
            <a:miter lim="400000"/>
          </a:ln>
        </p:spPr>
      </p:pic>
      <p:pic>
        <p:nvPicPr>
          <p:cNvPr id="4" name="Picture 15" descr="Picture 15"/>
          <p:cNvPicPr>
            <a:picLocks noChangeAspect="1"/>
          </p:cNvPicPr>
          <p:nvPr/>
        </p:nvPicPr>
        <p:blipFill>
          <a:blip r:embed="rId4"/>
          <a:stretch>
            <a:fillRect/>
          </a:stretch>
        </p:blipFill>
        <p:spPr>
          <a:xfrm>
            <a:off x="10947316" y="123389"/>
            <a:ext cx="884048" cy="884049"/>
          </a:xfrm>
          <a:prstGeom prst="rect">
            <a:avLst/>
          </a:prstGeom>
          <a:ln w="12700">
            <a:miter lim="400000"/>
          </a:ln>
        </p:spPr>
      </p:pic>
      <p:pic>
        <p:nvPicPr>
          <p:cNvPr id="5" name="Picture 16" descr="Picture 16"/>
          <p:cNvPicPr>
            <a:picLocks noChangeAspect="1"/>
          </p:cNvPicPr>
          <p:nvPr/>
        </p:nvPicPr>
        <p:blipFill>
          <a:blip r:embed="rId5"/>
          <a:stretch>
            <a:fillRect/>
          </a:stretch>
        </p:blipFill>
        <p:spPr>
          <a:xfrm>
            <a:off x="10127892" y="192303"/>
            <a:ext cx="785941" cy="785941"/>
          </a:xfrm>
          <a:prstGeom prst="rect">
            <a:avLst/>
          </a:prstGeom>
          <a:ln w="12700">
            <a:miter lim="400000"/>
          </a:ln>
        </p:spPr>
      </p:pic>
      <p:sp>
        <p:nvSpPr>
          <p:cNvPr id="6" name="TextBox 17"/>
          <p:cNvSpPr txBox="1"/>
          <p:nvPr/>
        </p:nvSpPr>
        <p:spPr>
          <a:xfrm>
            <a:off x="2620968" y="27424"/>
            <a:ext cx="5906909" cy="65024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spAutoFit/>
          </a:bodyPr>
          <a:lstStyle/>
          <a:p>
            <a:pPr>
              <a:defRPr b="1">
                <a:solidFill>
                  <a:srgbClr val="FFFFFF"/>
                </a:solidFill>
                <a:latin typeface="Gordita "/>
                <a:ea typeface="Gordita "/>
                <a:cs typeface="Gordita "/>
                <a:sym typeface="Gordita "/>
              </a:defRPr>
            </a:pPr>
            <a:r>
              <a:t>55</a:t>
            </a:r>
            <a:r>
              <a:rPr baseline="30000"/>
              <a:t>th</a:t>
            </a:r>
            <a:r>
              <a:t>   Annual Conference of </a:t>
            </a:r>
          </a:p>
          <a:p>
            <a:pPr>
              <a:defRPr b="1">
                <a:solidFill>
                  <a:srgbClr val="FFFFFF"/>
                </a:solidFill>
                <a:latin typeface="Gordita "/>
                <a:ea typeface="Gordita "/>
                <a:cs typeface="Gordita "/>
                <a:sym typeface="Gordita "/>
              </a:defRPr>
            </a:pPr>
            <a:r>
              <a:t>Orthopedic Surgeon Society of Andhra Pradesh</a:t>
            </a:r>
          </a:p>
        </p:txBody>
      </p:sp>
      <p:sp>
        <p:nvSpPr>
          <p:cNvPr id="7" name="TextBox 18"/>
          <p:cNvSpPr txBox="1"/>
          <p:nvPr/>
        </p:nvSpPr>
        <p:spPr>
          <a:xfrm>
            <a:off x="2646937" y="653897"/>
            <a:ext cx="6216055" cy="26924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spAutoFit/>
          </a:bodyPr>
          <a:lstStyle>
            <a:lvl1pPr>
              <a:defRPr sz="1200" b="1">
                <a:solidFill>
                  <a:srgbClr val="FFFFFF"/>
                </a:solidFill>
                <a:latin typeface="Gordita "/>
                <a:ea typeface="Gordita "/>
                <a:cs typeface="Gordita "/>
                <a:sym typeface="Gordita "/>
              </a:defRPr>
            </a:lvl1pPr>
          </a:lstStyle>
          <a:p>
            <a:r>
              <a:t>Date 6 – 8 February,2026, Venue : Kurnool Medical College</a:t>
            </a:r>
          </a:p>
        </p:txBody>
      </p:sp>
      <p:sp>
        <p:nvSpPr>
          <p:cNvPr id="8" name="TextBox 19"/>
          <p:cNvSpPr txBox="1"/>
          <p:nvPr/>
        </p:nvSpPr>
        <p:spPr>
          <a:xfrm>
            <a:off x="2620969" y="913339"/>
            <a:ext cx="7022591" cy="26924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spAutoFit/>
          </a:bodyPr>
          <a:lstStyle>
            <a:lvl1pPr>
              <a:defRPr sz="1200" b="1">
                <a:solidFill>
                  <a:srgbClr val="FFFFFF"/>
                </a:solidFill>
                <a:latin typeface="Gordita "/>
                <a:ea typeface="Gordita "/>
                <a:cs typeface="Gordita "/>
                <a:sym typeface="Gordita "/>
              </a:defRPr>
            </a:lvl1pPr>
          </a:lstStyle>
          <a:p>
            <a:r>
              <a:t>Organized by : Department of Orthopaedics, Kurnool Medical College Kurnool</a:t>
            </a:r>
          </a:p>
        </p:txBody>
      </p:sp>
      <p:sp>
        <p:nvSpPr>
          <p:cNvPr id="9" name="Freeform 13"/>
          <p:cNvSpPr/>
          <p:nvPr/>
        </p:nvSpPr>
        <p:spPr>
          <a:xfrm>
            <a:off x="560813" y="14254"/>
            <a:ext cx="1505562" cy="1280159"/>
          </a:xfrm>
          <a:prstGeom prst="rect">
            <a:avLst/>
          </a:prstGeom>
          <a:blipFill>
            <a:blip r:embed="rId6"/>
            <a:stretch>
              <a:fillRect/>
            </a:stretch>
          </a:blipFill>
          <a:ln w="12700">
            <a:miter lim="400000"/>
          </a:ln>
        </p:spPr>
        <p:txBody>
          <a:bodyPr lIns="45719" rIns="45719"/>
          <a:lstStyle/>
          <a:p>
            <a:endParaRPr/>
          </a:p>
        </p:txBody>
      </p:sp>
      <p:sp>
        <p:nvSpPr>
          <p:cNvPr id="10"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Title Text</a:t>
            </a:r>
          </a:p>
        </p:txBody>
      </p:sp>
      <p:sp>
        <p:nvSpPr>
          <p:cNvPr id="11"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2" name="Slide Number"/>
          <p:cNvSpPr txBox="1">
            <a:spLocks noGrp="1"/>
          </p:cNvSpPr>
          <p:nvPr>
            <p:ph type="sldNum" sz="quarter" idx="2"/>
          </p:nvPr>
        </p:nvSpPr>
        <p:spPr>
          <a:xfrm>
            <a:off x="8610600" y="6356350"/>
            <a:ext cx="358413" cy="370840"/>
          </a:xfrm>
          <a:prstGeom prst="rect">
            <a:avLst/>
          </a:prstGeom>
          <a:ln w="12700">
            <a:miter lim="400000"/>
          </a:ln>
        </p:spPr>
        <p:txBody>
          <a:bodyPr wrap="none" lIns="45719" rIns="45719">
            <a:spAutoFit/>
          </a:body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9pPr>
    </p:bodyStyle>
    <p:otherStyle>
      <a:lvl1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1pPr>
      <a:lvl2pPr marL="0" marR="0" indent="4572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2pPr>
      <a:lvl3pPr marL="0" marR="0" indent="9144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3pPr>
      <a:lvl4pPr marL="0" marR="0" indent="13716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4pPr>
      <a:lvl5pPr marL="0" marR="0" indent="18288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5pPr>
      <a:lvl6pPr marL="0" marR="0" indent="22860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6pPr>
      <a:lvl7pPr marL="0" marR="0" indent="27432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7pPr>
      <a:lvl8pPr marL="0" marR="0" indent="32004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8pPr>
      <a:lvl9pPr marL="0" marR="0" indent="36576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 /><Relationship Id="rId13" Type="http://schemas.openxmlformats.org/officeDocument/2006/relationships/image" Target="../media/image12.jpeg" /><Relationship Id="rId3" Type="http://schemas.openxmlformats.org/officeDocument/2006/relationships/image" Target="../media/image2.png" /><Relationship Id="rId7" Type="http://schemas.openxmlformats.org/officeDocument/2006/relationships/image" Target="../media/image6.jpeg" /><Relationship Id="rId12" Type="http://schemas.openxmlformats.org/officeDocument/2006/relationships/image" Target="../media/image11.jpeg" /><Relationship Id="rId2" Type="http://schemas.openxmlformats.org/officeDocument/2006/relationships/image" Target="../media/image1.png" /><Relationship Id="rId16" Type="http://schemas.openxmlformats.org/officeDocument/2006/relationships/image" Target="../media/image15.png" /><Relationship Id="rId1" Type="http://schemas.openxmlformats.org/officeDocument/2006/relationships/slideLayout" Target="../slideLayouts/slideLayout1.xml" /><Relationship Id="rId6" Type="http://schemas.openxmlformats.org/officeDocument/2006/relationships/image" Target="../media/image5.jpeg" /><Relationship Id="rId11" Type="http://schemas.openxmlformats.org/officeDocument/2006/relationships/image" Target="../media/image10.jpeg" /><Relationship Id="rId5" Type="http://schemas.openxmlformats.org/officeDocument/2006/relationships/image" Target="../media/image4.png" /><Relationship Id="rId15" Type="http://schemas.openxmlformats.org/officeDocument/2006/relationships/image" Target="../media/image14.png" /><Relationship Id="rId10" Type="http://schemas.openxmlformats.org/officeDocument/2006/relationships/image" Target="../media/image9.jpeg" /><Relationship Id="rId4" Type="http://schemas.openxmlformats.org/officeDocument/2006/relationships/image" Target="../media/image3.png" /><Relationship Id="rId9" Type="http://schemas.openxmlformats.org/officeDocument/2006/relationships/image" Target="../media/image8.jpeg" /><Relationship Id="rId14" Type="http://schemas.openxmlformats.org/officeDocument/2006/relationships/image" Target="../media/image13.jpe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3"/>
          <p:cNvSpPr/>
          <p:nvPr/>
        </p:nvSpPr>
        <p:spPr>
          <a:xfrm>
            <a:off x="-1" y="-1"/>
            <a:ext cx="12192000" cy="1280158"/>
          </a:xfrm>
          <a:prstGeom prst="rect">
            <a:avLst/>
          </a:prstGeom>
          <a:solidFill>
            <a:srgbClr val="01234D"/>
          </a:solidFill>
          <a:ln w="19050">
            <a:solidFill>
              <a:srgbClr val="525755"/>
            </a:solidFill>
            <a:miter/>
          </a:ln>
        </p:spPr>
        <p:txBody>
          <a:bodyPr lIns="45719" rIns="45719" anchor="ctr"/>
          <a:lstStyle/>
          <a:p>
            <a:pPr algn="ctr">
              <a:defRPr>
                <a:latin typeface="Arial"/>
                <a:ea typeface="Arial"/>
                <a:cs typeface="Arial"/>
                <a:sym typeface="Arial"/>
              </a:defRPr>
            </a:pPr>
            <a:endParaRPr/>
          </a:p>
        </p:txBody>
      </p:sp>
      <p:pic>
        <p:nvPicPr>
          <p:cNvPr id="111" name="Picture 14" descr="Picture 14"/>
          <p:cNvPicPr>
            <a:picLocks noChangeAspect="1"/>
          </p:cNvPicPr>
          <p:nvPr/>
        </p:nvPicPr>
        <p:blipFill>
          <a:blip r:embed="rId2"/>
          <a:stretch>
            <a:fillRect/>
          </a:stretch>
        </p:blipFill>
        <p:spPr>
          <a:xfrm>
            <a:off x="9006884" y="74822"/>
            <a:ext cx="1043155" cy="1043154"/>
          </a:xfrm>
          <a:prstGeom prst="rect">
            <a:avLst/>
          </a:prstGeom>
          <a:ln w="12700">
            <a:miter lim="400000"/>
          </a:ln>
        </p:spPr>
      </p:pic>
      <p:pic>
        <p:nvPicPr>
          <p:cNvPr id="112" name="Picture 15" descr="Picture 15"/>
          <p:cNvPicPr>
            <a:picLocks noChangeAspect="1"/>
          </p:cNvPicPr>
          <p:nvPr/>
        </p:nvPicPr>
        <p:blipFill>
          <a:blip r:embed="rId3"/>
          <a:stretch>
            <a:fillRect/>
          </a:stretch>
        </p:blipFill>
        <p:spPr>
          <a:xfrm>
            <a:off x="10947316" y="123389"/>
            <a:ext cx="884048" cy="884049"/>
          </a:xfrm>
          <a:prstGeom prst="rect">
            <a:avLst/>
          </a:prstGeom>
          <a:ln w="12700">
            <a:miter lim="400000"/>
          </a:ln>
        </p:spPr>
      </p:pic>
      <p:pic>
        <p:nvPicPr>
          <p:cNvPr id="113" name="Picture 16" descr="Picture 16"/>
          <p:cNvPicPr>
            <a:picLocks noChangeAspect="1"/>
          </p:cNvPicPr>
          <p:nvPr/>
        </p:nvPicPr>
        <p:blipFill>
          <a:blip r:embed="rId4"/>
          <a:stretch>
            <a:fillRect/>
          </a:stretch>
        </p:blipFill>
        <p:spPr>
          <a:xfrm>
            <a:off x="10127892" y="192303"/>
            <a:ext cx="785941" cy="785941"/>
          </a:xfrm>
          <a:prstGeom prst="rect">
            <a:avLst/>
          </a:prstGeom>
          <a:ln w="12700">
            <a:miter lim="400000"/>
          </a:ln>
        </p:spPr>
      </p:pic>
      <p:sp>
        <p:nvSpPr>
          <p:cNvPr id="114" name="TextBox 17"/>
          <p:cNvSpPr txBox="1"/>
          <p:nvPr/>
        </p:nvSpPr>
        <p:spPr>
          <a:xfrm>
            <a:off x="8943591" y="985278"/>
            <a:ext cx="5906909" cy="218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800" b="1">
                <a:solidFill>
                  <a:srgbClr val="FFFFFF"/>
                </a:solidFill>
                <a:latin typeface="Gordita "/>
                <a:ea typeface="Gordita "/>
                <a:cs typeface="Gordita "/>
                <a:sym typeface="Gordita "/>
              </a:defRPr>
            </a:pPr>
            <a:r>
              <a:t>55</a:t>
            </a:r>
            <a:r>
              <a:rPr baseline="27500"/>
              <a:t>th</a:t>
            </a:r>
            <a:r>
              <a:t>   Annual Conference of Orthopedic Surgeon Society of Andhra Pradesh</a:t>
            </a:r>
          </a:p>
        </p:txBody>
      </p:sp>
      <p:sp>
        <p:nvSpPr>
          <p:cNvPr id="115" name="TextBox 19"/>
          <p:cNvSpPr txBox="1"/>
          <p:nvPr/>
        </p:nvSpPr>
        <p:spPr>
          <a:xfrm>
            <a:off x="8824354" y="1094087"/>
            <a:ext cx="7022591" cy="218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0" b="1">
                <a:solidFill>
                  <a:srgbClr val="FFFFFF"/>
                </a:solidFill>
                <a:latin typeface="Gordita "/>
                <a:ea typeface="Gordita "/>
                <a:cs typeface="Gordita "/>
                <a:sym typeface="Gordita "/>
              </a:defRPr>
            </a:lvl1pPr>
          </a:lstStyle>
          <a:p>
            <a:r>
              <a:t>Organized by : Department of Orthopaedics, Kurnool Medical College Kurnool</a:t>
            </a:r>
          </a:p>
        </p:txBody>
      </p:sp>
      <p:sp>
        <p:nvSpPr>
          <p:cNvPr id="116" name="Freeform 13"/>
          <p:cNvSpPr/>
          <p:nvPr/>
        </p:nvSpPr>
        <p:spPr>
          <a:xfrm>
            <a:off x="52911" y="14254"/>
            <a:ext cx="1505562" cy="1280159"/>
          </a:xfrm>
          <a:prstGeom prst="rect">
            <a:avLst/>
          </a:prstGeom>
          <a:blipFill>
            <a:blip r:embed="rId5"/>
            <a:stretch>
              <a:fillRect/>
            </a:stretch>
          </a:blipFill>
          <a:ln w="12700">
            <a:miter lim="400000"/>
          </a:ln>
        </p:spPr>
        <p:txBody>
          <a:bodyPr lIns="45719" rIns="45719"/>
          <a:lstStyle/>
          <a:p>
            <a:endParaRPr/>
          </a:p>
        </p:txBody>
      </p:sp>
      <p:sp>
        <p:nvSpPr>
          <p:cNvPr id="117" name="Rectangle 4"/>
          <p:cNvSpPr/>
          <p:nvPr/>
        </p:nvSpPr>
        <p:spPr>
          <a:xfrm>
            <a:off x="-1" y="1587464"/>
            <a:ext cx="3108962" cy="2811998"/>
          </a:xfrm>
          <a:prstGeom prst="rect">
            <a:avLst/>
          </a:prstGeom>
          <a:ln w="19050">
            <a:solidFill>
              <a:srgbClr val="0F465F"/>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algn="just" defTabSz="457200">
              <a:spcBef>
                <a:spcPts val="1200"/>
              </a:spcBef>
              <a:defRPr sz="1200">
                <a:latin typeface="Times New Roman"/>
                <a:ea typeface="Times New Roman"/>
                <a:cs typeface="Times New Roman"/>
                <a:sym typeface="Times New Roman"/>
              </a:defRPr>
            </a:lvl1pPr>
          </a:lstStyle>
          <a:p>
            <a:r>
              <a:t>Bony mallet finger is an avulsion fracture of the dorsal base of the distal phalanx resulting in loss of active extension at the DIP joint. Surgical intervention is indicated in fractures involving more than one-third of the articular surface, volar subluxation of the distal phalanx, or failure of conservative management. Extension block K-wire technique is commonly employed; however, it demands precise wire placement and may be associated with joint penetration, pin migration, and loss of reduction. Delta frame external fixation offers a minimally invasive alternative that provides stable fixation, controlled reduction, and maintenance of joint congruity.</a:t>
            </a:r>
          </a:p>
        </p:txBody>
      </p:sp>
      <p:sp>
        <p:nvSpPr>
          <p:cNvPr id="118" name="Rectangle 5"/>
          <p:cNvSpPr/>
          <p:nvPr/>
        </p:nvSpPr>
        <p:spPr>
          <a:xfrm>
            <a:off x="-1" y="4706770"/>
            <a:ext cx="3108962" cy="2151231"/>
          </a:xfrm>
          <a:prstGeom prst="rect">
            <a:avLst/>
          </a:prstGeom>
          <a:ln w="19050">
            <a:solidFill>
              <a:srgbClr val="0F465F"/>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algn="just" defTabSz="457200">
              <a:spcBef>
                <a:spcPts val="1200"/>
              </a:spcBef>
              <a:defRPr sz="1200">
                <a:latin typeface="Times New Roman"/>
                <a:ea typeface="Times New Roman"/>
                <a:cs typeface="Times New Roman"/>
                <a:sym typeface="Times New Roman"/>
              </a:defRPr>
            </a:lvl1pPr>
          </a:lstStyle>
          <a:p>
            <a:r>
              <a:t>This case series includes three patients diagnosed with unstable bony mallet finger injuries involving more than one-third of the articular surface, with or without volar subluxation of the distal phalanx. All patients underwent clinical and radiological evaluation. Functional outcome was assessed using the DASH score. The mean preoperative DASH score was 42, indicating significant functional impairment. Delta frame external fixation was performed in all cases after obtaining informed consent.</a:t>
            </a:r>
          </a:p>
        </p:txBody>
      </p:sp>
      <p:sp>
        <p:nvSpPr>
          <p:cNvPr id="119" name="Rectangle 6"/>
          <p:cNvSpPr/>
          <p:nvPr/>
        </p:nvSpPr>
        <p:spPr>
          <a:xfrm>
            <a:off x="3133224" y="1587464"/>
            <a:ext cx="4649173" cy="2473123"/>
          </a:xfrm>
          <a:prstGeom prst="rect">
            <a:avLst/>
          </a:prstGeom>
          <a:ln w="19050">
            <a:solidFill>
              <a:srgbClr val="0F465F"/>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algn="just" defTabSz="457200">
              <a:spcBef>
                <a:spcPts val="1200"/>
              </a:spcBef>
              <a:defRPr sz="1200">
                <a:latin typeface="Times New Roman"/>
                <a:ea typeface="Times New Roman"/>
                <a:cs typeface="Times New Roman"/>
                <a:sym typeface="Times New Roman"/>
              </a:defRPr>
            </a:lvl1pPr>
          </a:lstStyle>
          <a:p>
            <a:r>
              <a:t>All procedures were performed under digital block anesthesia with strict aseptic precautions and fluoroscopic guidance. Following closed reduction, a percutaneous Kirschner wire was inserted transversely into the head of the middle phalanx to serve as a proximal anchor. A second Kirschner wire was placed into the distal phalanx distal to the fracture fragment. These wires were connected externally using clamps to construct a delta-shaped frame.Gradual and controlled distraction across the DIP joint achieved indirect reduction of the dorsal avulsion fragment through ligamentotaxis. Intraoperative fluoroscopy confirmed anatomical restoration of the articular surface, correction of volar subluxation where present, and maintenance of DIP joint congruity. The DIP joint was not transfixed in any case. Stable fixation was obtained in all three patients.</a:t>
            </a:r>
          </a:p>
        </p:txBody>
      </p:sp>
      <p:sp>
        <p:nvSpPr>
          <p:cNvPr id="120" name="Rectangle 7"/>
          <p:cNvSpPr/>
          <p:nvPr/>
        </p:nvSpPr>
        <p:spPr>
          <a:xfrm>
            <a:off x="7810765" y="1587464"/>
            <a:ext cx="4381235" cy="3189020"/>
          </a:xfrm>
          <a:prstGeom prst="rect">
            <a:avLst/>
          </a:prstGeom>
          <a:ln w="19050">
            <a:solidFill>
              <a:srgbClr val="0F465F"/>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algn="just" defTabSz="457200">
              <a:spcBef>
                <a:spcPts val="1200"/>
              </a:spcBef>
              <a:defRPr sz="1200">
                <a:latin typeface="Times New Roman"/>
                <a:ea typeface="Times New Roman"/>
                <a:cs typeface="Times New Roman"/>
                <a:sym typeface="Times New Roman"/>
              </a:defRPr>
            </a:lvl1pPr>
          </a:lstStyle>
          <a:p>
            <a:r>
              <a:t>Although the extension block K-wire technique is effective, it carries risks related to joint transfixation, technical difficulty, and loss of reduction. Delta frame external fixation provides adjustable and controlled reduction while preserving soft tissues and avoiding joint penetration.Postoperatively, the delta frame allowed stability while facilitating early mobilization of adjacent joints. Pin tract care was performed regularly. The external fixator was retained for a mean duration of 5 weeks, after which it was removed once radiological signs of union were evident. Supervised DIP joint mobilization was initiated following frame removal.All fractures achieved union without loss of reduction. At final follow-up, the mean DASH score improved from 42 preoperatively to 6, reflecting significant functional recovery. No major complications such as pin loosening, infection, or residual extensor lag were observed. These outcomes are comparable to those reported with the extension block K-wire technique while minimizing joint-related complications.</a:t>
            </a:r>
          </a:p>
        </p:txBody>
      </p:sp>
      <p:sp>
        <p:nvSpPr>
          <p:cNvPr id="121" name="Rectangle 8"/>
          <p:cNvSpPr/>
          <p:nvPr/>
        </p:nvSpPr>
        <p:spPr>
          <a:xfrm>
            <a:off x="7810765" y="5080784"/>
            <a:ext cx="4381236" cy="1781565"/>
          </a:xfrm>
          <a:prstGeom prst="rect">
            <a:avLst/>
          </a:prstGeom>
          <a:ln w="19050">
            <a:solidFill>
              <a:srgbClr val="0F465F"/>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algn="just" defTabSz="457200">
              <a:spcBef>
                <a:spcPts val="1200"/>
              </a:spcBef>
              <a:defRPr sz="1200">
                <a:latin typeface="Times New Roman"/>
                <a:ea typeface="Times New Roman"/>
                <a:cs typeface="Times New Roman"/>
                <a:sym typeface="Times New Roman"/>
              </a:defRPr>
            </a:lvl1pPr>
          </a:lstStyle>
          <a:p>
            <a:r>
              <a:t>Delta frame external fixation is a reliable and minimally invasive technique for the management of unstable bony mallet finger injuries. In this three-case series, it provided stable fixation, maintained joint congruity, allowed early rehabilitation, and resulted in significant improvement in DASH scores at follow-up. The technique offers outcomes comparable to the extension block K-wire method while reducing the risk of joint penetration and loss of reduction, making it an effective alternative in selected cases.</a:t>
            </a:r>
          </a:p>
        </p:txBody>
      </p:sp>
      <p:grpSp>
        <p:nvGrpSpPr>
          <p:cNvPr id="124" name="Rectangle 9"/>
          <p:cNvGrpSpPr/>
          <p:nvPr/>
        </p:nvGrpSpPr>
        <p:grpSpPr>
          <a:xfrm>
            <a:off x="7682" y="1280157"/>
            <a:ext cx="3101580" cy="381001"/>
            <a:chOff x="0" y="0"/>
            <a:chExt cx="3101578" cy="381000"/>
          </a:xfrm>
        </p:grpSpPr>
        <p:sp>
          <p:nvSpPr>
            <p:cNvPr id="122" name="Rectangle"/>
            <p:cNvSpPr/>
            <p:nvPr/>
          </p:nvSpPr>
          <p:spPr>
            <a:xfrm>
              <a:off x="-1" y="-1"/>
              <a:ext cx="3101580" cy="381001"/>
            </a:xfrm>
            <a:prstGeom prst="rect">
              <a:avLst/>
            </a:prstGeom>
            <a:solidFill>
              <a:srgbClr val="A6CAEC"/>
            </a:solidFill>
            <a:ln w="19050" cap="flat">
              <a:solidFill>
                <a:srgbClr val="0F465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123" name="INTRODUCTION"/>
            <p:cNvSpPr txBox="1"/>
            <p:nvPr/>
          </p:nvSpPr>
          <p:spPr>
            <a:xfrm>
              <a:off x="55113" y="11487"/>
              <a:ext cx="2991352" cy="35802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lvl1pPr algn="ctr">
                <a:defRPr b="1"/>
              </a:lvl1pPr>
            </a:lstStyle>
            <a:p>
              <a:r>
                <a:t>INTRODUCTION </a:t>
              </a:r>
            </a:p>
          </p:txBody>
        </p:sp>
      </p:grpSp>
      <p:grpSp>
        <p:nvGrpSpPr>
          <p:cNvPr id="127" name="Rectangle 10">
            <a:hlinkClick r:id="" action="ppaction://hlinkshowjump?jump=nextslide"/>
          </p:cNvPr>
          <p:cNvGrpSpPr/>
          <p:nvPr/>
        </p:nvGrpSpPr>
        <p:grpSpPr>
          <a:xfrm>
            <a:off x="3135438" y="1280157"/>
            <a:ext cx="4645744" cy="381001"/>
            <a:chOff x="0" y="0"/>
            <a:chExt cx="4645743" cy="381000"/>
          </a:xfrm>
        </p:grpSpPr>
        <p:sp>
          <p:nvSpPr>
            <p:cNvPr id="125" name="Rectangle"/>
            <p:cNvSpPr/>
            <p:nvPr/>
          </p:nvSpPr>
          <p:spPr>
            <a:xfrm>
              <a:off x="-1" y="0"/>
              <a:ext cx="4645744" cy="381001"/>
            </a:xfrm>
            <a:prstGeom prst="rect">
              <a:avLst/>
            </a:prstGeom>
            <a:solidFill>
              <a:srgbClr val="A6CAEC"/>
            </a:solidFill>
            <a:ln w="19050" cap="flat">
              <a:solidFill>
                <a:srgbClr val="0F465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126" name="OPERATIVE FINDINGS"/>
            <p:cNvSpPr txBox="1"/>
            <p:nvPr/>
          </p:nvSpPr>
          <p:spPr>
            <a:xfrm>
              <a:off x="80557" y="11487"/>
              <a:ext cx="4484629" cy="35802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lvl1pPr algn="ctr">
                <a:defRPr b="1">
                  <a:solidFill>
                    <a:srgbClr val="0D0D0D"/>
                  </a:solidFill>
                </a:defRPr>
              </a:lvl1pPr>
            </a:lstStyle>
            <a:p>
              <a:r>
                <a:t>OPERATIVE FINDINGS</a:t>
              </a:r>
            </a:p>
          </p:txBody>
        </p:sp>
      </p:grpSp>
      <p:grpSp>
        <p:nvGrpSpPr>
          <p:cNvPr id="130" name="Rectangle 11"/>
          <p:cNvGrpSpPr/>
          <p:nvPr/>
        </p:nvGrpSpPr>
        <p:grpSpPr>
          <a:xfrm>
            <a:off x="7810767" y="1278091"/>
            <a:ext cx="4381232" cy="381001"/>
            <a:chOff x="0" y="0"/>
            <a:chExt cx="4381230" cy="381000"/>
          </a:xfrm>
        </p:grpSpPr>
        <p:sp>
          <p:nvSpPr>
            <p:cNvPr id="128" name="Rectangle"/>
            <p:cNvSpPr/>
            <p:nvPr/>
          </p:nvSpPr>
          <p:spPr>
            <a:xfrm>
              <a:off x="-1" y="0"/>
              <a:ext cx="4381232" cy="381001"/>
            </a:xfrm>
            <a:prstGeom prst="rect">
              <a:avLst/>
            </a:prstGeom>
            <a:solidFill>
              <a:srgbClr val="A6CAEC"/>
            </a:solidFill>
            <a:ln w="19050" cap="flat">
              <a:solidFill>
                <a:srgbClr val="0F465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129" name="DISCUSSION"/>
            <p:cNvSpPr txBox="1"/>
            <p:nvPr/>
          </p:nvSpPr>
          <p:spPr>
            <a:xfrm>
              <a:off x="41450" y="11487"/>
              <a:ext cx="4298330" cy="35802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lvl1pPr algn="ctr">
                <a:defRPr b="1">
                  <a:solidFill>
                    <a:srgbClr val="0D0D0D"/>
                  </a:solidFill>
                </a:defRPr>
              </a:lvl1pPr>
            </a:lstStyle>
            <a:p>
              <a:r>
                <a:t>DISCUSSION</a:t>
              </a:r>
            </a:p>
          </p:txBody>
        </p:sp>
      </p:grpSp>
      <p:grpSp>
        <p:nvGrpSpPr>
          <p:cNvPr id="133" name="Rectangle 12"/>
          <p:cNvGrpSpPr/>
          <p:nvPr/>
        </p:nvGrpSpPr>
        <p:grpSpPr>
          <a:xfrm>
            <a:off x="-1" y="4371172"/>
            <a:ext cx="3108962" cy="368301"/>
            <a:chOff x="0" y="0"/>
            <a:chExt cx="3108960" cy="368300"/>
          </a:xfrm>
        </p:grpSpPr>
        <p:sp>
          <p:nvSpPr>
            <p:cNvPr id="131" name="Rectangle"/>
            <p:cNvSpPr/>
            <p:nvPr/>
          </p:nvSpPr>
          <p:spPr>
            <a:xfrm>
              <a:off x="-1" y="-1"/>
              <a:ext cx="3108962" cy="368301"/>
            </a:xfrm>
            <a:prstGeom prst="rect">
              <a:avLst/>
            </a:prstGeom>
            <a:solidFill>
              <a:srgbClr val="A6CAEC"/>
            </a:solidFill>
            <a:ln w="19050" cap="flat">
              <a:solidFill>
                <a:srgbClr val="0F465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132" name="CASE REPORT"/>
            <p:cNvSpPr txBox="1"/>
            <p:nvPr/>
          </p:nvSpPr>
          <p:spPr>
            <a:xfrm>
              <a:off x="55244" y="11104"/>
              <a:ext cx="2998472" cy="34609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lvl1pPr algn="ctr">
                <a:defRPr b="1">
                  <a:solidFill>
                    <a:srgbClr val="0D0D0D"/>
                  </a:solidFill>
                </a:defRPr>
              </a:lvl1pPr>
            </a:lstStyle>
            <a:p>
              <a:r>
                <a:t>CASE REPORT</a:t>
              </a:r>
            </a:p>
          </p:txBody>
        </p:sp>
      </p:grpSp>
      <p:grpSp>
        <p:nvGrpSpPr>
          <p:cNvPr id="136" name="Rectangle 21"/>
          <p:cNvGrpSpPr/>
          <p:nvPr/>
        </p:nvGrpSpPr>
        <p:grpSpPr>
          <a:xfrm>
            <a:off x="7809870" y="4715452"/>
            <a:ext cx="4383025" cy="387012"/>
            <a:chOff x="0" y="0"/>
            <a:chExt cx="4383023" cy="387010"/>
          </a:xfrm>
        </p:grpSpPr>
        <p:sp>
          <p:nvSpPr>
            <p:cNvPr id="134" name="Rectangle"/>
            <p:cNvSpPr/>
            <p:nvPr/>
          </p:nvSpPr>
          <p:spPr>
            <a:xfrm>
              <a:off x="-1" y="-1"/>
              <a:ext cx="4383025" cy="387012"/>
            </a:xfrm>
            <a:prstGeom prst="rect">
              <a:avLst/>
            </a:prstGeom>
            <a:solidFill>
              <a:srgbClr val="A6CAEC"/>
            </a:solidFill>
            <a:ln w="19050" cap="flat">
              <a:solidFill>
                <a:srgbClr val="0F465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135" name="CONCLUSION"/>
            <p:cNvSpPr txBox="1"/>
            <p:nvPr/>
          </p:nvSpPr>
          <p:spPr>
            <a:xfrm>
              <a:off x="41356" y="11668"/>
              <a:ext cx="4300091" cy="36367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lvl1pPr algn="ctr">
                <a:defRPr b="1">
                  <a:solidFill>
                    <a:srgbClr val="0D0D0D"/>
                  </a:solidFill>
                </a:defRPr>
              </a:lvl1pPr>
            </a:lstStyle>
            <a:p>
              <a:r>
                <a:t>CONCLUSION</a:t>
              </a:r>
            </a:p>
          </p:txBody>
        </p:sp>
      </p:grpSp>
      <p:pic>
        <p:nvPicPr>
          <p:cNvPr id="137" name="WhatsApp Image 2026-01-30 at 12.08.36 AM.jpeg" descr="WhatsApp Image 2026-01-30 at 12.08.36 AM.jpeg"/>
          <p:cNvPicPr>
            <a:picLocks noChangeAspect="1"/>
          </p:cNvPicPr>
          <p:nvPr/>
        </p:nvPicPr>
        <p:blipFill>
          <a:blip r:embed="rId6"/>
          <a:srcRect l="17272" t="17272" r="17272" b="17272"/>
          <a:stretch>
            <a:fillRect/>
          </a:stretch>
        </p:blipFill>
        <p:spPr>
          <a:xfrm rot="10800000" flipH="1">
            <a:off x="5015362" y="4110822"/>
            <a:ext cx="889001" cy="889001"/>
          </a:xfrm>
          <a:prstGeom prst="rect">
            <a:avLst/>
          </a:prstGeom>
          <a:ln w="25400">
            <a:solidFill>
              <a:srgbClr val="000000"/>
            </a:solidFill>
            <a:miter lim="400000"/>
          </a:ln>
        </p:spPr>
      </p:pic>
      <p:pic>
        <p:nvPicPr>
          <p:cNvPr id="138" name="WhatsApp Image 2026-01-30 at 12.08.33 AM.jpeg" descr="WhatsApp Image 2026-01-30 at 12.08.33 AM.jpeg"/>
          <p:cNvPicPr>
            <a:picLocks/>
          </p:cNvPicPr>
          <p:nvPr/>
        </p:nvPicPr>
        <p:blipFill>
          <a:blip r:embed="rId7"/>
          <a:srcRect l="32718" t="33729" r="28675" b="27664"/>
          <a:stretch>
            <a:fillRect/>
          </a:stretch>
        </p:blipFill>
        <p:spPr>
          <a:xfrm>
            <a:off x="3150349" y="4110822"/>
            <a:ext cx="889001" cy="889001"/>
          </a:xfrm>
          <a:prstGeom prst="rect">
            <a:avLst/>
          </a:prstGeom>
          <a:ln w="25400">
            <a:solidFill>
              <a:srgbClr val="000000"/>
            </a:solidFill>
            <a:miter lim="400000"/>
          </a:ln>
        </p:spPr>
      </p:pic>
      <p:pic>
        <p:nvPicPr>
          <p:cNvPr id="139" name="WhatsApp Image 2026-01-30 at 12.08.32 AM.jpeg" descr="WhatsApp Image 2026-01-30 at 12.08.32 AM.jpeg"/>
          <p:cNvPicPr>
            <a:picLocks/>
          </p:cNvPicPr>
          <p:nvPr/>
        </p:nvPicPr>
        <p:blipFill>
          <a:blip r:embed="rId8"/>
          <a:srcRect l="36486" t="28635" r="20783" b="28635"/>
          <a:stretch>
            <a:fillRect/>
          </a:stretch>
        </p:blipFill>
        <p:spPr>
          <a:xfrm>
            <a:off x="4082855" y="4110822"/>
            <a:ext cx="889001" cy="889001"/>
          </a:xfrm>
          <a:prstGeom prst="rect">
            <a:avLst/>
          </a:prstGeom>
          <a:ln w="25400">
            <a:solidFill>
              <a:srgbClr val="000000"/>
            </a:solidFill>
            <a:miter lim="400000"/>
          </a:ln>
        </p:spPr>
      </p:pic>
      <p:pic>
        <p:nvPicPr>
          <p:cNvPr id="140" name="WhatsApp Image 2026-01-30 at 12.08.35 AM.jpeg" descr="WhatsApp Image 2026-01-30 at 12.08.35 AM.jpeg"/>
          <p:cNvPicPr>
            <a:picLocks/>
          </p:cNvPicPr>
          <p:nvPr/>
        </p:nvPicPr>
        <p:blipFill>
          <a:blip r:embed="rId9"/>
          <a:srcRect l="35051" t="22745" r="16300" b="28605"/>
          <a:stretch>
            <a:fillRect/>
          </a:stretch>
        </p:blipFill>
        <p:spPr>
          <a:xfrm>
            <a:off x="5949953" y="4110822"/>
            <a:ext cx="889001" cy="889001"/>
          </a:xfrm>
          <a:prstGeom prst="rect">
            <a:avLst/>
          </a:prstGeom>
          <a:ln w="25400">
            <a:solidFill>
              <a:srgbClr val="000000"/>
            </a:solidFill>
            <a:miter lim="400000"/>
          </a:ln>
        </p:spPr>
      </p:pic>
      <p:pic>
        <p:nvPicPr>
          <p:cNvPr id="141" name="WhatsApp Image 2026-01-30 at 12.08.35 AM.jpeg" descr="WhatsApp Image 2026-01-30 at 12.08.35 AM.jpeg"/>
          <p:cNvPicPr>
            <a:picLocks/>
          </p:cNvPicPr>
          <p:nvPr/>
        </p:nvPicPr>
        <p:blipFill>
          <a:blip r:embed="rId10"/>
          <a:srcRect l="20850" t="16661" r="20850" b="25038"/>
          <a:stretch>
            <a:fillRect/>
          </a:stretch>
        </p:blipFill>
        <p:spPr>
          <a:xfrm>
            <a:off x="6881433" y="4110822"/>
            <a:ext cx="889001" cy="889001"/>
          </a:xfrm>
          <a:prstGeom prst="rect">
            <a:avLst/>
          </a:prstGeom>
          <a:ln w="25400">
            <a:solidFill>
              <a:srgbClr val="000000"/>
            </a:solidFill>
            <a:miter lim="400000"/>
          </a:ln>
        </p:spPr>
      </p:pic>
      <p:pic>
        <p:nvPicPr>
          <p:cNvPr id="142" name="WhatsApp Image 2026-01-30 at 12.08.43 AM.jpeg" descr="WhatsApp Image 2026-01-30 at 12.08.43 AM.jpeg"/>
          <p:cNvPicPr>
            <a:picLocks/>
          </p:cNvPicPr>
          <p:nvPr/>
        </p:nvPicPr>
        <p:blipFill>
          <a:blip r:embed="rId11"/>
          <a:srcRect l="9235" t="4688" r="23787" b="28334"/>
          <a:stretch>
            <a:fillRect/>
          </a:stretch>
        </p:blipFill>
        <p:spPr>
          <a:xfrm>
            <a:off x="5015363" y="5053233"/>
            <a:ext cx="889001" cy="889001"/>
          </a:xfrm>
          <a:prstGeom prst="rect">
            <a:avLst/>
          </a:prstGeom>
          <a:ln w="25400">
            <a:solidFill>
              <a:srgbClr val="000000"/>
            </a:solidFill>
            <a:miter lim="400000"/>
          </a:ln>
        </p:spPr>
      </p:pic>
      <p:pic>
        <p:nvPicPr>
          <p:cNvPr id="143" name="WhatsApp Image 2026-01-30 at 12.08.42 AM.jpeg" descr="WhatsApp Image 2026-01-30 at 12.08.42 AM.jpeg"/>
          <p:cNvPicPr>
            <a:picLocks/>
          </p:cNvPicPr>
          <p:nvPr/>
        </p:nvPicPr>
        <p:blipFill>
          <a:blip r:embed="rId12"/>
          <a:srcRect l="32018" t="5964" r="8230" b="34284"/>
          <a:stretch>
            <a:fillRect/>
          </a:stretch>
        </p:blipFill>
        <p:spPr>
          <a:xfrm>
            <a:off x="5949953" y="5053233"/>
            <a:ext cx="889001" cy="889001"/>
          </a:xfrm>
          <a:prstGeom prst="rect">
            <a:avLst/>
          </a:prstGeom>
          <a:ln w="25400">
            <a:solidFill>
              <a:srgbClr val="000000"/>
            </a:solidFill>
            <a:miter lim="400000"/>
          </a:ln>
        </p:spPr>
      </p:pic>
      <p:pic>
        <p:nvPicPr>
          <p:cNvPr id="144" name="WhatsApp Image 2026-01-30 at 12.08.43 AM.jpeg" descr="WhatsApp Image 2026-01-30 at 12.08.43 AM.jpeg"/>
          <p:cNvPicPr>
            <a:picLocks/>
          </p:cNvPicPr>
          <p:nvPr/>
        </p:nvPicPr>
        <p:blipFill>
          <a:blip r:embed="rId13"/>
          <a:srcRect l="22845" t="12930" r="30702" b="40617"/>
          <a:stretch>
            <a:fillRect/>
          </a:stretch>
        </p:blipFill>
        <p:spPr>
          <a:xfrm>
            <a:off x="4083595" y="5053233"/>
            <a:ext cx="889001" cy="889001"/>
          </a:xfrm>
          <a:prstGeom prst="rect">
            <a:avLst/>
          </a:prstGeom>
          <a:ln w="25400">
            <a:solidFill>
              <a:srgbClr val="000000"/>
            </a:solidFill>
            <a:miter lim="400000"/>
          </a:ln>
        </p:spPr>
      </p:pic>
      <p:pic>
        <p:nvPicPr>
          <p:cNvPr id="145" name="WhatsApp Image 2026-01-30 at 12.08.40 AM.jpeg" descr="WhatsApp Image 2026-01-30 at 12.08.40 AM.jpeg"/>
          <p:cNvPicPr>
            <a:picLocks/>
          </p:cNvPicPr>
          <p:nvPr/>
        </p:nvPicPr>
        <p:blipFill>
          <a:blip r:embed="rId14"/>
          <a:srcRect l="25086" t="25086" r="25086" b="25086"/>
          <a:stretch>
            <a:fillRect/>
          </a:stretch>
        </p:blipFill>
        <p:spPr>
          <a:xfrm>
            <a:off x="3150349" y="5053233"/>
            <a:ext cx="889001" cy="889001"/>
          </a:xfrm>
          <a:prstGeom prst="rect">
            <a:avLst/>
          </a:prstGeom>
          <a:ln w="25400">
            <a:solidFill>
              <a:srgbClr val="000000"/>
            </a:solidFill>
            <a:miter lim="400000"/>
          </a:ln>
        </p:spPr>
      </p:pic>
      <p:pic>
        <p:nvPicPr>
          <p:cNvPr id="146" name="IMG_1704.png" descr="IMG_1704.png"/>
          <p:cNvPicPr>
            <a:picLocks/>
          </p:cNvPicPr>
          <p:nvPr/>
        </p:nvPicPr>
        <p:blipFill>
          <a:blip r:embed="rId15"/>
          <a:srcRect l="24741" t="29616" r="41925" b="37050"/>
          <a:stretch>
            <a:fillRect/>
          </a:stretch>
        </p:blipFill>
        <p:spPr>
          <a:xfrm>
            <a:off x="6881433" y="5053233"/>
            <a:ext cx="889001" cy="429412"/>
          </a:xfrm>
          <a:prstGeom prst="rect">
            <a:avLst/>
          </a:prstGeom>
          <a:ln w="25400">
            <a:solidFill>
              <a:srgbClr val="000000"/>
            </a:solidFill>
            <a:miter lim="400000"/>
          </a:ln>
        </p:spPr>
      </p:pic>
      <p:pic>
        <p:nvPicPr>
          <p:cNvPr id="147" name="IMG_1705.png" descr="IMG_1705.png"/>
          <p:cNvPicPr>
            <a:picLocks/>
          </p:cNvPicPr>
          <p:nvPr/>
        </p:nvPicPr>
        <p:blipFill>
          <a:blip r:embed="rId16"/>
          <a:srcRect l="20982" t="30165" r="39348" b="30165"/>
          <a:stretch>
            <a:fillRect/>
          </a:stretch>
        </p:blipFill>
        <p:spPr>
          <a:xfrm>
            <a:off x="6881433" y="5510433"/>
            <a:ext cx="889001" cy="431801"/>
          </a:xfrm>
          <a:prstGeom prst="rect">
            <a:avLst/>
          </a:prstGeom>
          <a:ln w="25400">
            <a:solidFill>
              <a:srgbClr val="000000"/>
            </a:solidFill>
            <a:miter lim="400000"/>
          </a:ln>
        </p:spPr>
      </p:pic>
      <p:graphicFrame>
        <p:nvGraphicFramePr>
          <p:cNvPr id="148" name="Table 1"/>
          <p:cNvGraphicFramePr/>
          <p:nvPr>
            <p:extLst>
              <p:ext uri="{D42A27DB-BD31-4B8C-83A1-F6EECF244321}">
                <p14:modId xmlns:p14="http://schemas.microsoft.com/office/powerpoint/2010/main" val="1199445070"/>
              </p:ext>
            </p:extLst>
          </p:nvPr>
        </p:nvGraphicFramePr>
        <p:xfrm>
          <a:off x="3145222" y="5982944"/>
          <a:ext cx="4628067" cy="863823"/>
        </p:xfrm>
        <a:graphic>
          <a:graphicData uri="http://schemas.openxmlformats.org/drawingml/2006/table">
            <a:tbl>
              <a:tblPr bandRow="1">
                <a:tableStyleId>{EEE7283C-3CF3-47DC-8721-378D4A62B228}</a:tableStyleId>
              </a:tblPr>
              <a:tblGrid>
                <a:gridCol w="407018">
                  <a:extLst>
                    <a:ext uri="{9D8B030D-6E8A-4147-A177-3AD203B41FA5}">
                      <a16:colId xmlns:a16="http://schemas.microsoft.com/office/drawing/2014/main" val="20000"/>
                    </a:ext>
                  </a:extLst>
                </a:gridCol>
                <a:gridCol w="575224">
                  <a:extLst>
                    <a:ext uri="{9D8B030D-6E8A-4147-A177-3AD203B41FA5}">
                      <a16:colId xmlns:a16="http://schemas.microsoft.com/office/drawing/2014/main" val="20001"/>
                    </a:ext>
                  </a:extLst>
                </a:gridCol>
                <a:gridCol w="536475">
                  <a:extLst>
                    <a:ext uri="{9D8B030D-6E8A-4147-A177-3AD203B41FA5}">
                      <a16:colId xmlns:a16="http://schemas.microsoft.com/office/drawing/2014/main" val="20002"/>
                    </a:ext>
                  </a:extLst>
                </a:gridCol>
                <a:gridCol w="581479">
                  <a:extLst>
                    <a:ext uri="{9D8B030D-6E8A-4147-A177-3AD203B41FA5}">
                      <a16:colId xmlns:a16="http://schemas.microsoft.com/office/drawing/2014/main" val="20003"/>
                    </a:ext>
                  </a:extLst>
                </a:gridCol>
                <a:gridCol w="508061">
                  <a:extLst>
                    <a:ext uri="{9D8B030D-6E8A-4147-A177-3AD203B41FA5}">
                      <a16:colId xmlns:a16="http://schemas.microsoft.com/office/drawing/2014/main" val="20004"/>
                    </a:ext>
                  </a:extLst>
                </a:gridCol>
                <a:gridCol w="524676">
                  <a:extLst>
                    <a:ext uri="{9D8B030D-6E8A-4147-A177-3AD203B41FA5}">
                      <a16:colId xmlns:a16="http://schemas.microsoft.com/office/drawing/2014/main" val="20005"/>
                    </a:ext>
                  </a:extLst>
                </a:gridCol>
                <a:gridCol w="450148">
                  <a:extLst>
                    <a:ext uri="{9D8B030D-6E8A-4147-A177-3AD203B41FA5}">
                      <a16:colId xmlns:a16="http://schemas.microsoft.com/office/drawing/2014/main" val="20006"/>
                    </a:ext>
                  </a:extLst>
                </a:gridCol>
                <a:gridCol w="1044986">
                  <a:extLst>
                    <a:ext uri="{9D8B030D-6E8A-4147-A177-3AD203B41FA5}">
                      <a16:colId xmlns:a16="http://schemas.microsoft.com/office/drawing/2014/main" val="20007"/>
                    </a:ext>
                  </a:extLst>
                </a:gridCol>
              </a:tblGrid>
              <a:tr h="273609">
                <a:tc>
                  <a:txBody>
                    <a:bodyPr/>
                    <a:lstStyle/>
                    <a:p>
                      <a:pPr algn="ctr"/>
                      <a:r>
                        <a:rPr sz="900" b="1"/>
                        <a:t>Case no.</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Age/Sex</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Finger Involved</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Fixator Duration</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Pre Op DASH</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Post Op DASH</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UNION</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Complications</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extLst>
                  <a:ext uri="{0D108BD9-81ED-4DB2-BD59-A6C34878D82A}">
                    <a16:rowId xmlns:a16="http://schemas.microsoft.com/office/drawing/2014/main" val="10000"/>
                  </a:ext>
                </a:extLst>
              </a:tr>
              <a:tr h="196501">
                <a:tc>
                  <a:txBody>
                    <a:bodyPr/>
                    <a:lstStyle/>
                    <a:p>
                      <a:pPr algn="ctr"/>
                      <a:r>
                        <a:rPr sz="900" b="1"/>
                        <a:t>1</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19/F</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3rd</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6 wks</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45</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8</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Yes</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Nil</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extLst>
                  <a:ext uri="{0D108BD9-81ED-4DB2-BD59-A6C34878D82A}">
                    <a16:rowId xmlns:a16="http://schemas.microsoft.com/office/drawing/2014/main" val="10001"/>
                  </a:ext>
                </a:extLst>
              </a:tr>
              <a:tr h="196501">
                <a:tc>
                  <a:txBody>
                    <a:bodyPr/>
                    <a:lstStyle/>
                    <a:p>
                      <a:pPr algn="ctr"/>
                      <a:r>
                        <a:rPr sz="900" b="1"/>
                        <a:t>2</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32/F</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4th </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6 wks</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40</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5</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Yes</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Nil</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extLst>
                  <a:ext uri="{0D108BD9-81ED-4DB2-BD59-A6C34878D82A}">
                    <a16:rowId xmlns:a16="http://schemas.microsoft.com/office/drawing/2014/main" val="10002"/>
                  </a:ext>
                </a:extLst>
              </a:tr>
              <a:tr h="196501">
                <a:tc>
                  <a:txBody>
                    <a:bodyPr/>
                    <a:lstStyle/>
                    <a:p>
                      <a:pPr algn="ctr"/>
                      <a:r>
                        <a:rPr sz="900" b="1"/>
                        <a:t>3</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24/M</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2nd</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6 wks</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41</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6</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a:t>Yes</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lgn="ctr"/>
                      <a:r>
                        <a:rPr sz="900" b="1" dirty="0"/>
                        <a:t>Nil</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tcPr>
                </a:tc>
                <a:extLst>
                  <a:ext uri="{0D108BD9-81ED-4DB2-BD59-A6C34878D82A}">
                    <a16:rowId xmlns:a16="http://schemas.microsoft.com/office/drawing/2014/main" val="10003"/>
                  </a:ext>
                </a:extLst>
              </a:tr>
            </a:tbl>
          </a:graphicData>
        </a:graphic>
      </p:graphicFrame>
      <p:sp>
        <p:nvSpPr>
          <p:cNvPr id="149" name="Rectangle 7"/>
          <p:cNvSpPr/>
          <p:nvPr/>
        </p:nvSpPr>
        <p:spPr>
          <a:xfrm>
            <a:off x="2125569" y="177596"/>
            <a:ext cx="6810516" cy="16153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defTabSz="457200">
              <a:spcBef>
                <a:spcPts val="1200"/>
              </a:spcBef>
              <a:defRPr>
                <a:solidFill>
                  <a:srgbClr val="FFFFFF"/>
                </a:solidFill>
                <a:latin typeface="Arial"/>
                <a:ea typeface="Arial"/>
                <a:cs typeface="Arial"/>
                <a:sym typeface="Arial"/>
              </a:defRPr>
            </a:pPr>
            <a:endParaRPr/>
          </a:p>
          <a:p>
            <a:pPr algn="ctr" defTabSz="457200">
              <a:spcBef>
                <a:spcPts val="600"/>
              </a:spcBef>
              <a:defRPr b="1">
                <a:solidFill>
                  <a:srgbClr val="FFFFFF"/>
                </a:solidFill>
                <a:latin typeface="Arial"/>
                <a:ea typeface="Arial"/>
                <a:cs typeface="Arial"/>
                <a:sym typeface="Arial"/>
              </a:defRPr>
            </a:pPr>
            <a:r>
              <a:t>DELTA FRAME EXTERNAL FIXATION FOR BONY MALLET FINGER – A CASE SERIES</a:t>
            </a:r>
          </a:p>
          <a:p>
            <a:pPr algn="ctr" defTabSz="457200">
              <a:lnSpc>
                <a:spcPct val="10000"/>
              </a:lnSpc>
              <a:spcBef>
                <a:spcPts val="1400"/>
              </a:spcBef>
              <a:defRPr sz="1400" b="1">
                <a:solidFill>
                  <a:srgbClr val="FFFFFF"/>
                </a:solidFill>
                <a:latin typeface="Arial"/>
                <a:ea typeface="Arial"/>
                <a:cs typeface="Arial"/>
                <a:sym typeface="Arial"/>
              </a:defRPr>
            </a:pPr>
            <a:r>
              <a:t>Dr Kumar Asutosh</a:t>
            </a:r>
          </a:p>
          <a:p>
            <a:pPr algn="ctr" defTabSz="457200">
              <a:lnSpc>
                <a:spcPct val="10000"/>
              </a:lnSpc>
              <a:spcBef>
                <a:spcPts val="1200"/>
              </a:spcBef>
              <a:defRPr sz="1400" b="1">
                <a:solidFill>
                  <a:srgbClr val="FFFFFF"/>
                </a:solidFill>
                <a:latin typeface="Arial"/>
                <a:ea typeface="Arial"/>
                <a:cs typeface="Arial"/>
                <a:sym typeface="Arial"/>
              </a:defRPr>
            </a:pPr>
            <a:r>
              <a:t>Rangaraya Medical College </a:t>
            </a:r>
          </a:p>
          <a:p>
            <a:pPr algn="ctr" defTabSz="457200">
              <a:spcBef>
                <a:spcPts val="1400"/>
              </a:spcBef>
              <a:defRPr b="1">
                <a:solidFill>
                  <a:srgbClr val="FFFFFF"/>
                </a:solidFill>
                <a:latin typeface="Arial"/>
                <a:ea typeface="Arial"/>
                <a:cs typeface="Arial"/>
                <a:sym typeface="Arial"/>
              </a:defRPr>
            </a:pPr>
            <a:endParaRPr/>
          </a:p>
          <a:p>
            <a:pPr algn="ctr" defTabSz="457200">
              <a:spcBef>
                <a:spcPts val="1200"/>
              </a:spcBef>
              <a:defRPr>
                <a:latin typeface="Times New Roman"/>
                <a:ea typeface="Times New Roman"/>
                <a:cs typeface="Times New Roman"/>
                <a:sym typeface="Times New Roman"/>
              </a:defRPr>
            </a:pPr>
            <a:endParaRPr/>
          </a:p>
        </p:txBody>
      </p:sp>
      <p:sp>
        <p:nvSpPr>
          <p:cNvPr id="150" name="Rectangle 7"/>
          <p:cNvSpPr/>
          <p:nvPr/>
        </p:nvSpPr>
        <p:spPr>
          <a:xfrm>
            <a:off x="1436547" y="698862"/>
            <a:ext cx="2905304" cy="4846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defTabSz="457200">
              <a:defRPr sz="1300" b="1">
                <a:solidFill>
                  <a:srgbClr val="FFFFFF"/>
                </a:solidFill>
                <a:latin typeface="+mn-lt"/>
                <a:ea typeface="+mn-ea"/>
                <a:cs typeface="+mn-cs"/>
                <a:sym typeface="Helvetica"/>
              </a:defRPr>
            </a:lvl1pPr>
          </a:lstStyle>
          <a:p>
            <a:r>
              <a:t>OSSAP-144-ABS-12</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KUMAR ASUTOSH</cp:lastModifiedBy>
  <cp:revision>2</cp:revision>
  <dcterms:modified xsi:type="dcterms:W3CDTF">2026-02-01T05:53:58Z</dcterms:modified>
</cp:coreProperties>
</file>