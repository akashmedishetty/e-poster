
<file path=[Content_Types].xml><?xml version="1.0" encoding="utf-8"?>
<Types xmlns="http://schemas.openxmlformats.org/package/2006/content-types">
  <Default Extension="jpeg" ContentType="image/jpeg"/>
  <Default Extension="JPG" ContentType="image/.jpg"/>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9" r:id="rId4"/>
    <p:sldId id="265" r:id="rId5"/>
    <p:sldId id="266" r:id="rId6"/>
    <p:sldId id="269" r:id="rId7"/>
    <p:sldId id="287" r:id="rId8"/>
    <p:sldId id="270" r:id="rId9"/>
    <p:sldId id="275" r:id="rId10"/>
    <p:sldId id="271" r:id="rId11"/>
    <p:sldId id="272" r:id="rId12"/>
    <p:sldId id="273" r:id="rId13"/>
    <p:sldId id="274" r:id="rId14"/>
    <p:sldId id="276" r:id="rId15"/>
    <p:sldId id="286" r:id="rId16"/>
    <p:sldId id="277" r:id="rId17"/>
    <p:sldId id="279" r:id="rId18"/>
    <p:sldId id="281" r:id="rId19"/>
    <p:sldId id="284" r:id="rId20"/>
    <p:sldId id="280" r:id="rId21"/>
    <p:sldId id="283"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860" b="0" i="0" u="none" strike="noStrike" kern="1200" spc="0" baseline="0">
                <a:solidFill>
                  <a:schemeClr val="tx1">
                    <a:lumMod val="65000"/>
                    <a:lumOff val="35000"/>
                  </a:schemeClr>
                </a:solidFill>
                <a:latin typeface="+mn-lt"/>
                <a:ea typeface="+mn-ea"/>
                <a:cs typeface="+mn-cs"/>
              </a:defRPr>
            </a:pPr>
            <a:r>
              <a:rPr lang="en-US" dirty="0"/>
              <a:t>SEX</a:t>
            </a:r>
            <a:r>
              <a:rPr lang="en-US" baseline="0" dirty="0"/>
              <a:t> DISTRIBUTION</a:t>
            </a:r>
            <a:endParaRPr lang="en-US" dirty="0"/>
          </a:p>
        </c:rich>
      </c:tx>
      <c:layout/>
      <c:overlay val="0"/>
      <c:spPr>
        <a:noFill/>
        <a:ln>
          <a:noFill/>
        </a:ln>
        <a:effectLst/>
      </c:spPr>
    </c:title>
    <c:autoTitleDeleted val="0"/>
    <c:view3D>
      <c:rotX val="75"/>
      <c:rotY val="0"/>
      <c:depthPercent val="100"/>
      <c:rAngAx val="0"/>
    </c:view3D>
    <c:floor>
      <c:thickness val="0"/>
      <c:spPr>
        <a:noFill/>
        <a:ln>
          <a:noFill/>
        </a:ln>
        <a:effectLst/>
      </c:spPr>
    </c:floor>
    <c:sideWall>
      <c:thickness val="0"/>
      <c:spPr>
        <a:noFill/>
        <a:ln>
          <a:noFill/>
        </a:ln>
        <a:effectLst/>
      </c:spPr>
    </c:sideWall>
    <c:backWall>
      <c:thickness val="0"/>
      <c:spPr>
        <a:noFill/>
        <a:ln>
          <a:noFill/>
        </a:ln>
        <a:effectLst/>
      </c:spPr>
    </c:backWall>
    <c:plotArea>
      <c:layout>
        <c:manualLayout>
          <c:layoutTarget val="inner"/>
          <c:xMode val="edge"/>
          <c:yMode val="edge"/>
          <c:x val="0.0291052620120183"/>
          <c:y val="0.156081421558126"/>
          <c:w val="0.9542631596954"/>
          <c:h val="0.692688836520212"/>
        </c:manualLayout>
      </c:layout>
      <c:pie3DChart>
        <c:varyColors val="1"/>
        <c:ser>
          <c:idx val="0"/>
          <c:order val="0"/>
          <c:tx>
            <c:strRef>
              <c:f>Sheet1!$B$1</c:f>
              <c:strCache>
                <c:ptCount val="1"/>
                <c:pt idx="0">
                  <c:v>Number of patients</c:v>
                </c:pt>
              </c:strCache>
            </c:strRef>
          </c:tx>
          <c:spPr/>
          <c:explosion val="0"/>
          <c:dPt>
            <c:idx val="0"/>
            <c:bubble3D val="0"/>
            <c:spPr>
              <a:solidFill>
                <a:schemeClr val="accent1"/>
              </a:solidFill>
              <a:ln w="25400">
                <a:solidFill>
                  <a:schemeClr val="lt1"/>
                </a:solidFill>
              </a:ln>
              <a:effectLst/>
              <a:scene3d>
                <a:camera prst="orthographicFront"/>
                <a:lightRig rig="threePt" dir="t"/>
              </a:scene3d>
              <a:sp3d contourW="25400">
                <a:contourClr>
                  <a:schemeClr val="lt1"/>
                </a:contourClr>
              </a:sp3d>
            </c:spPr>
          </c:dPt>
          <c:dPt>
            <c:idx val="1"/>
            <c:bubble3D val="0"/>
            <c:spPr>
              <a:solidFill>
                <a:schemeClr val="accent2"/>
              </a:solidFill>
              <a:ln w="25400">
                <a:solidFill>
                  <a:schemeClr val="lt1"/>
                </a:solidFill>
              </a:ln>
              <a:effectLst/>
              <a:scene3d>
                <a:camera prst="orthographicFront"/>
                <a:lightRig rig="threePt" dir="t"/>
              </a:scene3d>
              <a:sp3d contourW="25400">
                <a:contourClr>
                  <a:schemeClr val="lt1"/>
                </a:contourClr>
              </a:sp3d>
            </c:spPr>
          </c:dPt>
          <c:dLbls>
            <c:delete val="1"/>
          </c:dLbls>
          <c:cat>
            <c:strRef>
              <c:f>Sheet1!$A$2:$A$3</c:f>
              <c:strCache>
                <c:ptCount val="2"/>
                <c:pt idx="0">
                  <c:v>male</c:v>
                </c:pt>
                <c:pt idx="1">
                  <c:v>female</c:v>
                </c:pt>
              </c:strCache>
            </c:strRef>
          </c:cat>
          <c:val>
            <c:numRef>
              <c:f>Sheet1!$B$2:$B$3</c:f>
              <c:numCache>
                <c:formatCode>General</c:formatCode>
                <c:ptCount val="2"/>
                <c:pt idx="0">
                  <c:v>8</c:v>
                </c:pt>
                <c:pt idx="1">
                  <c:v>4</c:v>
                </c:pt>
              </c:numCache>
            </c:numRef>
          </c:val>
        </c:ser>
        <c:dLbls>
          <c:showLegendKey val="0"/>
          <c:showVal val="0"/>
          <c:showCatName val="0"/>
          <c:showSerName val="0"/>
          <c:showPercent val="0"/>
          <c:showBubbleSize val="0"/>
        </c:dLbls>
      </c:pie3DChart>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en-US" sz="1195"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e3891deb-f319-4346-b665-a1cdaf11a504}"/>
      </c:ext>
    </c:extLst>
  </c:chart>
  <c:spPr>
    <a:noFill/>
    <a:ln>
      <a:noFill/>
    </a:ln>
    <a:effectLst/>
  </c:spPr>
  <c:txPr>
    <a:bodyPr/>
    <a:lstStyle/>
    <a:p>
      <a:pPr>
        <a:defRPr lang="en-US"/>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8B4E21A-8EF2-4726-B8AE-8BE687C4E771}" type="datetimeFigureOut">
              <a:rPr lang="en-IN" smtClean="0"/>
            </a:fld>
            <a:endParaRPr lang="en-IN" dirty="0"/>
          </a:p>
        </p:txBody>
      </p:sp>
      <p:sp>
        <p:nvSpPr>
          <p:cNvPr id="5" name="Footer Placeholder 4"/>
          <p:cNvSpPr>
            <a:spLocks noGrp="1"/>
          </p:cNvSpPr>
          <p:nvPr>
            <p:ph type="ftr" sz="quarter" idx="11"/>
          </p:nvPr>
        </p:nvSpPr>
        <p:spPr/>
        <p:txBody>
          <a:bodyPr/>
          <a:lstStyle/>
          <a:p>
            <a:endParaRPr lang="en-IN"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4E8E2204-1F69-4ECF-8C16-E680BF89B895}" type="slidenum">
              <a:rPr lang="en-IN" smtClean="0"/>
            </a:fld>
            <a:endParaRPr lang="en-I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F8B4E21A-8EF2-4726-B8AE-8BE687C4E771}" type="datetimeFigureOut">
              <a:rPr lang="en-IN" smtClean="0"/>
            </a:fld>
            <a:endParaRPr lang="en-IN" dirty="0"/>
          </a:p>
        </p:txBody>
      </p:sp>
      <p:sp>
        <p:nvSpPr>
          <p:cNvPr id="5" name="Footer Placeholder 4"/>
          <p:cNvSpPr>
            <a:spLocks noGrp="1"/>
          </p:cNvSpPr>
          <p:nvPr>
            <p:ph type="ftr" sz="quarter" idx="11"/>
          </p:nvPr>
        </p:nvSpPr>
        <p:spPr/>
        <p:txBody>
          <a:bodyPr/>
          <a:lstStyle/>
          <a:p>
            <a:endParaRPr lang="en-IN"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E8E2204-1F69-4ECF-8C16-E680BF89B895}" type="slidenum">
              <a:rPr lang="en-IN" smtClean="0"/>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F8B4E21A-8EF2-4726-B8AE-8BE687C4E771}" type="datetimeFigureOut">
              <a:rPr lang="en-IN" smtClean="0"/>
            </a:fld>
            <a:endParaRPr lang="en-IN" dirty="0"/>
          </a:p>
        </p:txBody>
      </p:sp>
      <p:sp>
        <p:nvSpPr>
          <p:cNvPr id="5" name="Footer Placeholder 4"/>
          <p:cNvSpPr>
            <a:spLocks noGrp="1"/>
          </p:cNvSpPr>
          <p:nvPr>
            <p:ph type="ftr" sz="quarter" idx="11"/>
          </p:nvPr>
        </p:nvSpPr>
        <p:spPr/>
        <p:txBody>
          <a:bodyPr/>
          <a:lstStyle/>
          <a:p>
            <a:endParaRPr lang="en-IN"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E8E2204-1F69-4ECF-8C16-E680BF89B895}" type="slidenum">
              <a:rPr lang="en-IN" smtClean="0"/>
            </a:fld>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F8B4E21A-8EF2-4726-B8AE-8BE687C4E771}" type="datetimeFigureOut">
              <a:rPr lang="en-IN" smtClean="0"/>
            </a:fld>
            <a:endParaRPr lang="en-IN" dirty="0"/>
          </a:p>
        </p:txBody>
      </p:sp>
      <p:sp>
        <p:nvSpPr>
          <p:cNvPr id="6" name="Footer Placeholder 5"/>
          <p:cNvSpPr>
            <a:spLocks noGrp="1"/>
          </p:cNvSpPr>
          <p:nvPr>
            <p:ph type="ftr" sz="quarter" idx="11"/>
          </p:nvPr>
        </p:nvSpPr>
        <p:spPr/>
        <p:txBody>
          <a:bodyPr/>
          <a:lstStyle/>
          <a:p>
            <a:endParaRPr lang="en-IN"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4E8E2204-1F69-4ECF-8C16-E680BF89B895}" type="slidenum">
              <a:rPr lang="en-IN" smtClean="0"/>
            </a:fld>
            <a:endParaRPr lang="en-I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F8B4E21A-8EF2-4726-B8AE-8BE687C4E771}" type="datetimeFigureOut">
              <a:rPr lang="en-IN" smtClean="0"/>
            </a:fld>
            <a:endParaRPr lang="en-IN" dirty="0"/>
          </a:p>
        </p:txBody>
      </p:sp>
      <p:sp>
        <p:nvSpPr>
          <p:cNvPr id="8" name="Footer Placeholder 7"/>
          <p:cNvSpPr>
            <a:spLocks noGrp="1"/>
          </p:cNvSpPr>
          <p:nvPr>
            <p:ph type="ftr" sz="quarter" idx="11"/>
          </p:nvPr>
        </p:nvSpPr>
        <p:spPr/>
        <p:txBody>
          <a:bodyPr/>
          <a:lstStyle/>
          <a:p>
            <a:endParaRPr lang="en-IN"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4E8E2204-1F69-4ECF-8C16-E680BF89B895}" type="slidenum">
              <a:rPr lang="en-IN" smtClean="0"/>
            </a:fld>
            <a:endParaRPr lang="en-I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8B4E21A-8EF2-4726-B8AE-8BE687C4E771}" type="datetimeFigureOut">
              <a:rPr lang="en-IN" smtClean="0"/>
            </a:fld>
            <a:endParaRPr lang="en-IN" dirty="0"/>
          </a:p>
        </p:txBody>
      </p:sp>
      <p:sp>
        <p:nvSpPr>
          <p:cNvPr id="4" name="Footer Placeholder 3"/>
          <p:cNvSpPr>
            <a:spLocks noGrp="1"/>
          </p:cNvSpPr>
          <p:nvPr>
            <p:ph type="ftr" sz="quarter" idx="11"/>
          </p:nvPr>
        </p:nvSpPr>
        <p:spPr/>
        <p:txBody>
          <a:bodyPr/>
          <a:lstStyle/>
          <a:p>
            <a:endParaRPr lang="en-IN"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4E8E2204-1F69-4ECF-8C16-E680BF89B895}" type="slidenum">
              <a:rPr lang="en-IN" smtClean="0"/>
            </a:fld>
            <a:endParaRPr lang="en-I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B4E21A-8EF2-4726-B8AE-8BE687C4E771}" type="datetimeFigureOut">
              <a:rPr lang="en-IN" smtClean="0"/>
            </a:fld>
            <a:endParaRPr lang="en-IN" dirty="0"/>
          </a:p>
        </p:txBody>
      </p:sp>
      <p:sp>
        <p:nvSpPr>
          <p:cNvPr id="3" name="Footer Placeholder 2"/>
          <p:cNvSpPr>
            <a:spLocks noGrp="1"/>
          </p:cNvSpPr>
          <p:nvPr>
            <p:ph type="ftr" sz="quarter" idx="11"/>
          </p:nvPr>
        </p:nvSpPr>
        <p:spPr/>
        <p:txBody>
          <a:bodyPr/>
          <a:lstStyle/>
          <a:p>
            <a:endParaRPr lang="en-IN"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4E8E2204-1F69-4ECF-8C16-E680BF89B895}" type="slidenum">
              <a:rPr lang="en-IN" smtClean="0"/>
            </a:fld>
            <a:endParaRPr lang="en-I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F8B4E21A-8EF2-4726-B8AE-8BE687C4E771}" type="datetimeFigureOut">
              <a:rPr lang="en-IN" smtClean="0"/>
            </a:fld>
            <a:endParaRPr lang="en-IN" dirty="0"/>
          </a:p>
        </p:txBody>
      </p:sp>
      <p:sp>
        <p:nvSpPr>
          <p:cNvPr id="6" name="Footer Placeholder 5"/>
          <p:cNvSpPr>
            <a:spLocks noGrp="1"/>
          </p:cNvSpPr>
          <p:nvPr>
            <p:ph type="ftr" sz="quarter" idx="11"/>
          </p:nvPr>
        </p:nvSpPr>
        <p:spPr/>
        <p:txBody>
          <a:bodyPr/>
          <a:lstStyle/>
          <a:p>
            <a:endParaRPr lang="en-IN"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4E8E2204-1F69-4ECF-8C16-E680BF89B895}" type="slidenum">
              <a:rPr lang="en-IN" smtClean="0"/>
            </a:fld>
            <a:endParaRPr lang="en-I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F8B4E21A-8EF2-4726-B8AE-8BE687C4E771}" type="datetimeFigureOut">
              <a:rPr lang="en-IN" smtClean="0"/>
            </a:fld>
            <a:endParaRPr lang="en-IN" dirty="0"/>
          </a:p>
        </p:txBody>
      </p:sp>
      <p:sp>
        <p:nvSpPr>
          <p:cNvPr id="6" name="Footer Placeholder 5"/>
          <p:cNvSpPr>
            <a:spLocks noGrp="1"/>
          </p:cNvSpPr>
          <p:nvPr>
            <p:ph type="ftr" sz="quarter" idx="11"/>
          </p:nvPr>
        </p:nvSpPr>
        <p:spPr/>
        <p:txBody>
          <a:bodyPr/>
          <a:lstStyle/>
          <a:p>
            <a:endParaRPr lang="en-IN"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E8E2204-1F69-4ECF-8C16-E680BF89B895}" type="slidenum">
              <a:rPr lang="en-IN" smtClean="0"/>
            </a:fld>
            <a:endParaRPr lang="en-IN"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F8B4E21A-8EF2-4726-B8AE-8BE687C4E771}" type="datetimeFigureOut">
              <a:rPr lang="en-IN" smtClean="0"/>
            </a:fld>
            <a:endParaRPr lang="en-IN" dirty="0"/>
          </a:p>
        </p:txBody>
      </p:sp>
      <p:sp>
        <p:nvSpPr>
          <p:cNvPr id="5" name="Footer Placeholder 4"/>
          <p:cNvSpPr>
            <a:spLocks noGrp="1"/>
          </p:cNvSpPr>
          <p:nvPr>
            <p:ph type="ftr" sz="quarter" idx="11"/>
          </p:nvPr>
        </p:nvSpPr>
        <p:spPr/>
        <p:txBody>
          <a:bodyPr/>
          <a:lstStyle/>
          <a:p>
            <a:endParaRPr lang="en-IN"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E8E2204-1F69-4ECF-8C16-E680BF89B895}" type="slidenum">
              <a:rPr lang="en-IN" smtClean="0"/>
            </a:fld>
            <a:endParaRPr lang="en-I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F8B4E21A-8EF2-4726-B8AE-8BE687C4E771}" type="datetimeFigureOut">
              <a:rPr lang="en-IN" smtClean="0"/>
            </a:fld>
            <a:endParaRPr lang="en-IN" dirty="0"/>
          </a:p>
        </p:txBody>
      </p:sp>
      <p:sp>
        <p:nvSpPr>
          <p:cNvPr id="5" name="Footer Placeholder 4"/>
          <p:cNvSpPr>
            <a:spLocks noGrp="1"/>
          </p:cNvSpPr>
          <p:nvPr>
            <p:ph type="ftr" sz="quarter" idx="11"/>
          </p:nvPr>
        </p:nvSpPr>
        <p:spPr/>
        <p:txBody>
          <a:bodyPr/>
          <a:lstStyle/>
          <a:p>
            <a:endParaRPr lang="en-IN"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E8E2204-1F69-4ECF-8C16-E680BF89B895}" type="slidenum">
              <a:rPr lang="en-IN" smtClean="0"/>
            </a:fld>
            <a:endParaRPr lang="en-IN"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endParaRPr lang="en-US"/>
          </a:p>
        </p:txBody>
      </p:sp>
      <p:sp>
        <p:nvSpPr>
          <p:cNvPr id="5" name="Date Placeholder 4"/>
          <p:cNvSpPr>
            <a:spLocks noGrp="1"/>
          </p:cNvSpPr>
          <p:nvPr>
            <p:ph type="dt" sz="half" idx="10"/>
          </p:nvPr>
        </p:nvSpPr>
        <p:spPr/>
        <p:txBody>
          <a:bodyPr/>
          <a:lstStyle/>
          <a:p>
            <a:fld id="{F8B4E21A-8EF2-4726-B8AE-8BE687C4E771}" type="datetimeFigureOut">
              <a:rPr lang="en-IN" smtClean="0"/>
            </a:fld>
            <a:endParaRPr lang="en-IN" dirty="0"/>
          </a:p>
        </p:txBody>
      </p:sp>
      <p:sp>
        <p:nvSpPr>
          <p:cNvPr id="6" name="Footer Placeholder 5"/>
          <p:cNvSpPr>
            <a:spLocks noGrp="1"/>
          </p:cNvSpPr>
          <p:nvPr>
            <p:ph type="ftr" sz="quarter" idx="11"/>
          </p:nvPr>
        </p:nvSpPr>
        <p:spPr/>
        <p:txBody>
          <a:bodyPr/>
          <a:lstStyle/>
          <a:p>
            <a:endParaRPr lang="en-IN"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E8E2204-1F69-4ECF-8C16-E680BF89B895}" type="slidenum">
              <a:rPr lang="en-IN" smtClean="0"/>
            </a:fld>
            <a:endParaRPr lang="en-IN"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endParaRPr lang="en-US"/>
          </a:p>
        </p:txBody>
      </p:sp>
      <p:sp>
        <p:nvSpPr>
          <p:cNvPr id="5" name="Date Placeholder 4"/>
          <p:cNvSpPr>
            <a:spLocks noGrp="1"/>
          </p:cNvSpPr>
          <p:nvPr>
            <p:ph type="dt" sz="half" idx="10"/>
          </p:nvPr>
        </p:nvSpPr>
        <p:spPr/>
        <p:txBody>
          <a:bodyPr/>
          <a:lstStyle/>
          <a:p>
            <a:fld id="{F8B4E21A-8EF2-4726-B8AE-8BE687C4E771}" type="datetimeFigureOut">
              <a:rPr lang="en-IN" smtClean="0"/>
            </a:fld>
            <a:endParaRPr lang="en-IN" dirty="0"/>
          </a:p>
        </p:txBody>
      </p:sp>
      <p:sp>
        <p:nvSpPr>
          <p:cNvPr id="6" name="Footer Placeholder 5"/>
          <p:cNvSpPr>
            <a:spLocks noGrp="1"/>
          </p:cNvSpPr>
          <p:nvPr>
            <p:ph type="ftr" sz="quarter" idx="11"/>
          </p:nvPr>
        </p:nvSpPr>
        <p:spPr/>
        <p:txBody>
          <a:bodyPr/>
          <a:lstStyle/>
          <a:p>
            <a:endParaRPr lang="en-IN"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E8E2204-1F69-4ECF-8C16-E680BF89B895}" type="slidenum">
              <a:rPr lang="en-IN" smtClean="0"/>
            </a:fld>
            <a:endParaRPr lang="en-IN"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endParaRPr lang="en-US"/>
          </a:p>
        </p:txBody>
      </p:sp>
      <p:sp>
        <p:nvSpPr>
          <p:cNvPr id="5" name="Date Placeholder 4"/>
          <p:cNvSpPr>
            <a:spLocks noGrp="1"/>
          </p:cNvSpPr>
          <p:nvPr>
            <p:ph type="dt" sz="half" idx="10"/>
          </p:nvPr>
        </p:nvSpPr>
        <p:spPr/>
        <p:txBody>
          <a:bodyPr/>
          <a:lstStyle/>
          <a:p>
            <a:fld id="{F8B4E21A-8EF2-4726-B8AE-8BE687C4E771}" type="datetimeFigureOut">
              <a:rPr lang="en-IN" smtClean="0"/>
            </a:fld>
            <a:endParaRPr lang="en-IN" dirty="0"/>
          </a:p>
        </p:txBody>
      </p:sp>
      <p:sp>
        <p:nvSpPr>
          <p:cNvPr id="6" name="Footer Placeholder 5"/>
          <p:cNvSpPr>
            <a:spLocks noGrp="1"/>
          </p:cNvSpPr>
          <p:nvPr>
            <p:ph type="ftr" sz="quarter" idx="11"/>
          </p:nvPr>
        </p:nvSpPr>
        <p:spPr/>
        <p:txBody>
          <a:bodyPr/>
          <a:lstStyle/>
          <a:p>
            <a:endParaRPr lang="en-IN"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E8E2204-1F69-4ECF-8C16-E680BF89B895}" type="slidenum">
              <a:rPr lang="en-IN" smtClean="0"/>
            </a:fld>
            <a:endParaRPr lang="en-IN"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F8B4E21A-8EF2-4726-B8AE-8BE687C4E771}" type="datetimeFigureOut">
              <a:rPr lang="en-IN" smtClean="0"/>
            </a:fld>
            <a:endParaRPr lang="en-IN" dirty="0"/>
          </a:p>
        </p:txBody>
      </p:sp>
      <p:sp>
        <p:nvSpPr>
          <p:cNvPr id="5" name="Footer Placeholder 4"/>
          <p:cNvSpPr>
            <a:spLocks noGrp="1"/>
          </p:cNvSpPr>
          <p:nvPr>
            <p:ph type="ftr" sz="quarter" idx="11"/>
          </p:nvPr>
        </p:nvSpPr>
        <p:spPr/>
        <p:txBody>
          <a:bodyPr/>
          <a:lstStyle/>
          <a:p>
            <a:endParaRPr lang="en-IN"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E8E2204-1F69-4ECF-8C16-E680BF89B895}" type="slidenum">
              <a:rPr lang="en-IN" smtClean="0"/>
            </a:fld>
            <a:endParaRPr lang="en-IN"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F8B4E21A-8EF2-4726-B8AE-8BE687C4E771}" type="datetimeFigureOut">
              <a:rPr lang="en-IN" smtClean="0"/>
            </a:fld>
            <a:endParaRPr lang="en-IN" dirty="0"/>
          </a:p>
        </p:txBody>
      </p:sp>
      <p:sp>
        <p:nvSpPr>
          <p:cNvPr id="5" name="Footer Placeholder 4"/>
          <p:cNvSpPr>
            <a:spLocks noGrp="1"/>
          </p:cNvSpPr>
          <p:nvPr>
            <p:ph type="ftr" sz="quarter" idx="11"/>
          </p:nvPr>
        </p:nvSpPr>
        <p:spPr/>
        <p:txBody>
          <a:bodyPr/>
          <a:lstStyle/>
          <a:p>
            <a:endParaRPr lang="en-IN"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E8E2204-1F69-4ECF-8C16-E680BF89B895}" type="slidenum">
              <a:rPr lang="en-IN" smtClean="0"/>
            </a:fld>
            <a:endParaRPr lang="en-IN"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F8B4E21A-8EF2-4726-B8AE-8BE687C4E771}" type="datetimeFigureOut">
              <a:rPr lang="en-IN" smtClean="0"/>
            </a:fld>
            <a:endParaRPr lang="en-IN"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4E8E2204-1F69-4ECF-8C16-E680BF89B895}" type="slidenum">
              <a:rPr lang="en-IN" smtClean="0"/>
            </a:fld>
            <a:endParaRPr lang="en-I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5.png"/><Relationship Id="rId1" Type="http://schemas.openxmlformats.org/officeDocument/2006/relationships/chart" Target="../charts/char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573162" y="193645"/>
            <a:ext cx="10618838" cy="3493451"/>
          </a:xfrm>
        </p:spPr>
        <p:txBody>
          <a:bodyPr>
            <a:noAutofit/>
          </a:bodyPr>
          <a:lstStyle/>
          <a:p>
            <a:r>
              <a:rPr lang="en-US" sz="3800" b="1" dirty="0"/>
              <a:t>FUNCTIONAL OUTCOME OF TALUS FRACTURES MANAGED BY OPEN REDUCTION AND INTERNAL FIXATION WITH CANNULATED CANCELLOUS SCREW</a:t>
            </a:r>
            <a:endParaRPr lang="en-IN" sz="3800" b="1" dirty="0"/>
          </a:p>
        </p:txBody>
      </p:sp>
      <p:sp>
        <p:nvSpPr>
          <p:cNvPr id="5" name="Content Placeholder 4"/>
          <p:cNvSpPr>
            <a:spLocks noGrp="1"/>
          </p:cNvSpPr>
          <p:nvPr>
            <p:ph type="body" idx="1"/>
          </p:nvPr>
        </p:nvSpPr>
        <p:spPr/>
        <p:txBody>
          <a:bodyPr/>
          <a:lstStyle/>
          <a:p>
            <a:pPr marL="0" indent="0">
              <a:buNone/>
            </a:pPr>
            <a:endParaRPr lang="en-US" dirty="0"/>
          </a:p>
          <a:p>
            <a:endParaRPr lang="en-IN" dirty="0"/>
          </a:p>
        </p:txBody>
      </p:sp>
      <p:sp>
        <p:nvSpPr>
          <p:cNvPr id="9" name="TextBox 8"/>
          <p:cNvSpPr txBox="1"/>
          <p:nvPr/>
        </p:nvSpPr>
        <p:spPr>
          <a:xfrm>
            <a:off x="5777345" y="4390529"/>
            <a:ext cx="6644653" cy="2091690"/>
          </a:xfrm>
          <a:prstGeom prst="rect">
            <a:avLst/>
          </a:prstGeom>
          <a:noFill/>
        </p:spPr>
        <p:txBody>
          <a:bodyPr wrap="square">
            <a:spAutoFit/>
          </a:bodyPr>
          <a:lstStyle/>
          <a:p>
            <a:r>
              <a:rPr lang="en-IN" sz="2600" dirty="0"/>
              <a:t>AUTHOR:  DR </a:t>
            </a:r>
            <a:r>
              <a:rPr lang="en-US" altLang="en-IN" sz="2600" dirty="0"/>
              <a:t>SHAIK SHAFI ILIYAS</a:t>
            </a:r>
            <a:endParaRPr lang="en-IN" sz="2600" dirty="0"/>
          </a:p>
          <a:p>
            <a:r>
              <a:rPr lang="en-IN" sz="2600" dirty="0"/>
              <a:t>              POST GRADUATE ,GSLMC</a:t>
            </a:r>
            <a:endParaRPr lang="en-IN" sz="2600" dirty="0"/>
          </a:p>
          <a:p>
            <a:r>
              <a:rPr lang="en-IN" sz="2600" dirty="0"/>
              <a:t>             RAJAMAHENDRAVARAM </a:t>
            </a:r>
            <a:endParaRPr lang="en-IN" sz="2600" dirty="0"/>
          </a:p>
          <a:p>
            <a:r>
              <a:rPr lang="en-IN" sz="2600" dirty="0"/>
              <a:t>CO AUTHORS: DR V.NAGESWARA RAO</a:t>
            </a:r>
            <a:endParaRPr lang="en-IN" sz="2600" dirty="0"/>
          </a:p>
          <a:p>
            <a:r>
              <a:rPr lang="en-IN" sz="2600" dirty="0"/>
              <a:t/>
            </a:r>
            <a:r>
              <a:rPr lang="en-US" altLang="en-IN" sz="2600" dirty="0"/>
              <a:t>HOD</a:t>
            </a:r>
            <a:endParaRPr lang="en-US" altLang="en-IN"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73492" y="666050"/>
            <a:ext cx="8911687" cy="1280890"/>
          </a:xfrm>
        </p:spPr>
        <p:txBody>
          <a:bodyPr/>
          <a:lstStyle/>
          <a:p>
            <a:r>
              <a:rPr lang="en-US" dirty="0"/>
              <a:t>INTRODUCTION</a:t>
            </a:r>
            <a:endParaRPr lang="en-IN" dirty="0"/>
          </a:p>
        </p:txBody>
      </p:sp>
      <p:sp>
        <p:nvSpPr>
          <p:cNvPr id="3" name="Content Placeholder 2"/>
          <p:cNvSpPr>
            <a:spLocks noGrp="1"/>
          </p:cNvSpPr>
          <p:nvPr>
            <p:ph idx="1"/>
          </p:nvPr>
        </p:nvSpPr>
        <p:spPr>
          <a:xfrm>
            <a:off x="1848465" y="1956772"/>
            <a:ext cx="9910915" cy="4473525"/>
          </a:xfrm>
        </p:spPr>
        <p:txBody>
          <a:bodyPr>
            <a:noAutofit/>
          </a:bodyPr>
          <a:lstStyle/>
          <a:p>
            <a:r>
              <a:rPr lang="en-US" sz="2600" dirty="0"/>
              <a:t>Fractures of the talus are known to be relatively uncommon. Between 0.1and 0.85 percent of all fractures are talus fractures. The majority are brought on by high-energy trauma, including motor vehicle accident. </a:t>
            </a:r>
            <a:endParaRPr lang="en-US" sz="2600" dirty="0"/>
          </a:p>
          <a:p>
            <a:r>
              <a:rPr lang="en-US" sz="2600" dirty="0"/>
              <a:t>Consequently, further injuries such as adjacent joint dislocation and adjoining bone fracture frequently accompany talus fractures. </a:t>
            </a:r>
            <a:endParaRPr lang="en-US" sz="2600" dirty="0"/>
          </a:p>
          <a:p>
            <a:endParaRPr lang="en-IN"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22322" y="1356852"/>
            <a:ext cx="9731477" cy="4820112"/>
          </a:xfrm>
        </p:spPr>
        <p:txBody>
          <a:bodyPr>
            <a:normAutofit/>
          </a:bodyPr>
          <a:lstStyle/>
          <a:p>
            <a:pPr marL="0" indent="0">
              <a:buNone/>
            </a:pPr>
            <a:r>
              <a:rPr lang="en-US" sz="2600" b="1" dirty="0"/>
              <a:t>Aim &amp; Objectives :</a:t>
            </a:r>
            <a:endParaRPr lang="en-US" sz="2600" b="1" dirty="0"/>
          </a:p>
          <a:p>
            <a:r>
              <a:rPr lang="en-US" sz="2600" dirty="0"/>
              <a:t>To assess the functional and radiological outcome of closed talus neck fractures managed by open reduction and internal fixation</a:t>
            </a:r>
            <a:endParaRPr lang="en-US" sz="2600" dirty="0"/>
          </a:p>
          <a:p>
            <a:pPr marL="0" indent="0">
              <a:buNone/>
            </a:pPr>
            <a:r>
              <a:rPr lang="en-US" sz="2600" b="1" dirty="0"/>
              <a:t>Material and methods: </a:t>
            </a:r>
            <a:endParaRPr lang="en-US" sz="2600" b="1" dirty="0"/>
          </a:p>
          <a:p>
            <a:r>
              <a:rPr lang="en-US" sz="2600" dirty="0"/>
              <a:t>Retrospective evaluation of 20 patients in the age group of 15 years to 75 years with good general condition underwent open reduction and internal fixation with cannulated cancellous screw fixation for displaced talus fracture during November 2023 to November 2021.</a:t>
            </a:r>
            <a:endParaRPr lang="en-US" sz="2600" dirty="0"/>
          </a:p>
          <a:p>
            <a:endParaRPr lang="en-IN"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14168" y="1435510"/>
            <a:ext cx="9839631" cy="4741454"/>
          </a:xfrm>
        </p:spPr>
        <p:txBody>
          <a:bodyPr>
            <a:normAutofit/>
          </a:bodyPr>
          <a:lstStyle/>
          <a:p>
            <a:pPr marL="0" indent="0">
              <a:buNone/>
            </a:pPr>
            <a:r>
              <a:rPr lang="en-US" sz="2600" b="1" dirty="0"/>
              <a:t>Inclusion criteria</a:t>
            </a:r>
            <a:endParaRPr lang="en-US" sz="2600" b="1" dirty="0"/>
          </a:p>
          <a:p>
            <a:r>
              <a:rPr lang="en-US" sz="2600" dirty="0"/>
              <a:t>- Closed fracture of the talus with or without dislocation </a:t>
            </a:r>
            <a:endParaRPr lang="en-US" sz="2600" dirty="0"/>
          </a:p>
          <a:p>
            <a:r>
              <a:rPr lang="en-US" sz="2600" dirty="0"/>
              <a:t>- Road traffic accidents and fall injury </a:t>
            </a:r>
            <a:endParaRPr lang="en-US" sz="2600" dirty="0"/>
          </a:p>
          <a:p>
            <a:r>
              <a:rPr lang="en-US" sz="2600" dirty="0"/>
              <a:t>- Age -15- 75 years</a:t>
            </a:r>
            <a:endParaRPr lang="en-US" sz="2600" dirty="0"/>
          </a:p>
          <a:p>
            <a:pPr marL="0" indent="0">
              <a:buNone/>
            </a:pPr>
            <a:r>
              <a:rPr lang="en-US" sz="2600" b="1" dirty="0"/>
              <a:t>Exclusion criteria</a:t>
            </a:r>
            <a:endParaRPr lang="en-US" sz="2600" b="1" dirty="0"/>
          </a:p>
          <a:p>
            <a:r>
              <a:rPr lang="en-US" sz="2600" dirty="0"/>
              <a:t>- Compound fractures with Talus bone exposed </a:t>
            </a:r>
            <a:endParaRPr lang="en-US" sz="2600" dirty="0"/>
          </a:p>
          <a:p>
            <a:r>
              <a:rPr lang="en-US" sz="2600" dirty="0"/>
              <a:t>- Neglected fractures with &gt; 3 months duration</a:t>
            </a:r>
            <a:endParaRPr lang="en-IN" sz="2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32156" y="914400"/>
            <a:ext cx="10382864" cy="5943600"/>
          </a:xfrm>
        </p:spPr>
        <p:txBody>
          <a:bodyPr>
            <a:noAutofit/>
          </a:bodyPr>
          <a:lstStyle/>
          <a:p>
            <a:pPr marL="0" indent="0">
              <a:buNone/>
            </a:pPr>
            <a:r>
              <a:rPr lang="en-US" sz="2600" dirty="0"/>
              <a:t>Technique of open reduction and fixation Surgical approaches</a:t>
            </a:r>
            <a:endParaRPr lang="en-US" sz="2600" dirty="0"/>
          </a:p>
          <a:p>
            <a:pPr marL="0" indent="0">
              <a:buNone/>
            </a:pPr>
            <a:r>
              <a:rPr lang="en-US" sz="2600" b="1" dirty="0"/>
              <a:t> Combined approach:</a:t>
            </a:r>
            <a:endParaRPr lang="en-US" sz="2600" b="1" dirty="0"/>
          </a:p>
          <a:p>
            <a:pPr marL="0" indent="0">
              <a:buNone/>
            </a:pPr>
            <a:r>
              <a:rPr lang="en-US" sz="2600" dirty="0"/>
              <a:t> 1. Anteromedial approach : Incision, 10 cm long, beginning at the lower third of the leg 1 cm lateral to the anterior crest of the tibia, running parallel to it and then curved medially to midway between the tip of the medial malleolus and the navicular tubercle. </a:t>
            </a:r>
            <a:endParaRPr lang="en-US" sz="2600" dirty="0"/>
          </a:p>
          <a:p>
            <a:pPr marL="0" indent="0">
              <a:buNone/>
            </a:pPr>
            <a:r>
              <a:rPr lang="en-US" sz="2600" dirty="0"/>
              <a:t>The long saphenous vein was ligated and divided and the saphenous nerve was identified and </a:t>
            </a:r>
            <a:r>
              <a:rPr lang="en-US" sz="2600" dirty="0" err="1"/>
              <a:t>preserved.The</a:t>
            </a:r>
            <a:r>
              <a:rPr lang="en-US" sz="2600" dirty="0"/>
              <a:t> fracture and the anteromedial aspect of the neck and body of the talus were exposed. </a:t>
            </a:r>
            <a:endParaRPr lang="en-US" sz="2600" dirty="0"/>
          </a:p>
          <a:p>
            <a:pPr marL="0" indent="0">
              <a:buNone/>
            </a:pPr>
            <a:endParaRPr lang="en-US" sz="2600" dirty="0"/>
          </a:p>
          <a:p>
            <a:pPr marL="0" indent="0">
              <a:buNone/>
            </a:pPr>
            <a:endParaRPr lang="en-IN"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51819" y="675940"/>
            <a:ext cx="9701981" cy="5501024"/>
          </a:xfrm>
        </p:spPr>
        <p:txBody>
          <a:bodyPr>
            <a:normAutofit/>
          </a:bodyPr>
          <a:lstStyle/>
          <a:p>
            <a:r>
              <a:rPr lang="en-US" sz="2600" dirty="0"/>
              <a:t> 2. Anterolateral approach This approach uses a curvilinear skin incision that begins 2cm anterior to tip of fibula and extends to base of 4th metatarsal. Deep dissection is carried out through extensor retinaculum and lateral to extensor tendons. This allows access to the sinus tarsi, lateral talar body and neck</a:t>
            </a:r>
            <a:endParaRPr lang="en-US" sz="2600" dirty="0"/>
          </a:p>
          <a:p>
            <a:endParaRPr lang="en-IN" sz="2600" dirty="0"/>
          </a:p>
        </p:txBody>
      </p:sp>
      <p:pic>
        <p:nvPicPr>
          <p:cNvPr id="5" name="Picture 4"/>
          <p:cNvPicPr>
            <a:picLocks noChangeAspect="1"/>
          </p:cNvPicPr>
          <p:nvPr/>
        </p:nvPicPr>
        <p:blipFill>
          <a:blip r:embed="rId1"/>
          <a:stretch>
            <a:fillRect/>
          </a:stretch>
        </p:blipFill>
        <p:spPr>
          <a:xfrm>
            <a:off x="7334864" y="3179925"/>
            <a:ext cx="3321113" cy="3002135"/>
          </a:xfrm>
          <a:prstGeom prst="rect">
            <a:avLst/>
          </a:prstGeom>
        </p:spPr>
      </p:pic>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03870" y="3227121"/>
            <a:ext cx="3392129" cy="2870730"/>
          </a:xfrm>
          <a:prstGeom prst="rect">
            <a:avLst/>
          </a:prstGeom>
        </p:spPr>
      </p:pic>
      <p:sp>
        <p:nvSpPr>
          <p:cNvPr id="9" name="Rectangle 8"/>
          <p:cNvSpPr/>
          <p:nvPr/>
        </p:nvSpPr>
        <p:spPr>
          <a:xfrm>
            <a:off x="2169698" y="6280001"/>
            <a:ext cx="3972232" cy="38345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Anteromedial approach</a:t>
            </a:r>
            <a:endParaRPr lang="en-IN" dirty="0">
              <a:solidFill>
                <a:schemeClr val="tx1"/>
              </a:solidFill>
            </a:endParaRPr>
          </a:p>
        </p:txBody>
      </p:sp>
      <p:sp>
        <p:nvSpPr>
          <p:cNvPr id="10" name="Rectangle 9"/>
          <p:cNvSpPr/>
          <p:nvPr/>
        </p:nvSpPr>
        <p:spPr>
          <a:xfrm>
            <a:off x="6971071" y="6280001"/>
            <a:ext cx="3667432" cy="4354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Anterolateral approach</a:t>
            </a:r>
            <a:endParaRPr lang="en-IN" dirty="0">
              <a:solidFill>
                <a:schemeClr val="tx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33832" y="688259"/>
            <a:ext cx="10559845" cy="6041922"/>
          </a:xfrm>
        </p:spPr>
        <p:txBody>
          <a:bodyPr>
            <a:noAutofit/>
          </a:bodyPr>
          <a:lstStyle/>
          <a:p>
            <a:pPr marL="0" indent="0">
              <a:buNone/>
            </a:pPr>
            <a:r>
              <a:rPr lang="en-US" sz="2600" b="1" dirty="0"/>
              <a:t>Post operative evaluation</a:t>
            </a:r>
            <a:endParaRPr lang="en-US" sz="2600" b="1" dirty="0"/>
          </a:p>
          <a:p>
            <a:r>
              <a:rPr lang="en-US" sz="2600" dirty="0">
                <a:sym typeface="+mn-ea"/>
              </a:rPr>
              <a:t>Below knee slab with elevation advised for 4-6 weeks. </a:t>
            </a:r>
            <a:endParaRPr lang="en-US" sz="2600" dirty="0">
              <a:sym typeface="+mn-ea"/>
            </a:endParaRPr>
          </a:p>
          <a:p>
            <a:r>
              <a:rPr lang="en-US" sz="2600" dirty="0">
                <a:sym typeface="+mn-ea"/>
              </a:rPr>
              <a:t>Early range of motion encouraged once the slab was removed.</a:t>
            </a:r>
            <a:endParaRPr lang="en-US" sz="2600" dirty="0"/>
          </a:p>
          <a:p>
            <a:r>
              <a:rPr lang="en-US" sz="2600" dirty="0">
                <a:sym typeface="+mn-ea"/>
              </a:rPr>
              <a:t/>
            </a:r>
            <a:r>
              <a:rPr lang="en-US" sz="2600" dirty="0"/>
              <a:t>After 3 month repeat x-ray was done in all patients then they were advised to start partial to full weight-bearing combined with physiotherapy.</a:t>
            </a:r>
            <a:endParaRPr lang="en-US" sz="2600" dirty="0"/>
          </a:p>
          <a:p>
            <a:r>
              <a:rPr lang="en-US" sz="2600" dirty="0"/>
              <a:t>At final follow-up after 1 year, range of motion (ROM) was assessed with the American orthopaedic foot and ankle society (AOFAS) ankle–hindfoot score. </a:t>
            </a:r>
            <a:endParaRPr lang="en-US" sz="2600" dirty="0"/>
          </a:p>
          <a:p>
            <a:endParaRPr lang="en-US" sz="2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82994" y="865239"/>
            <a:ext cx="10274708" cy="5879690"/>
          </a:xfrm>
        </p:spPr>
        <p:txBody>
          <a:bodyPr>
            <a:noAutofit/>
          </a:bodyPr>
          <a:lstStyle/>
          <a:p>
            <a:pPr marL="0" marR="0" lvl="0" indent="0" algn="l" defTabSz="457200" rtl="0" eaLnBrk="1" fontAlgn="auto" latinLnBrk="0" hangingPunct="1">
              <a:lnSpc>
                <a:spcPct val="100000"/>
              </a:lnSpc>
              <a:spcBef>
                <a:spcPts val="1000"/>
              </a:spcBef>
              <a:spcAft>
                <a:spcPts val="0"/>
              </a:spcAft>
              <a:buClr>
                <a:srgbClr val="A53010"/>
              </a:buClr>
              <a:buSzTx/>
              <a:buFont typeface="Wingdings 3" panose="05040102010807070707" charset="2"/>
              <a:buNone/>
              <a:defRPr/>
            </a:pPr>
            <a:r>
              <a:rPr lang="en-US" sz="2600" b="1" dirty="0"/>
              <a:t/>
            </a:r>
            <a:r>
              <a:rPr kumimoji="0" lang="en-US" sz="2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In this scale, 50 points were assigned to function, 40 points to pain, and 10 points to alignment. Usually, the scoring system is divided as following. Excellent: 90 and 100; </a:t>
            </a:r>
            <a:endParaRPr kumimoji="0" lang="en-US" sz="2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endParaRPr>
          </a:p>
          <a:p>
            <a:pPr marL="0" marR="0" lvl="0" indent="0" algn="l" defTabSz="457200" rtl="0" eaLnBrk="1" fontAlgn="auto" latinLnBrk="0" hangingPunct="1">
              <a:lnSpc>
                <a:spcPct val="100000"/>
              </a:lnSpc>
              <a:spcBef>
                <a:spcPts val="1000"/>
              </a:spcBef>
              <a:spcAft>
                <a:spcPts val="0"/>
              </a:spcAft>
              <a:buClr>
                <a:srgbClr val="A53010"/>
              </a:buClr>
              <a:buSzTx/>
              <a:buFont typeface="Wingdings 3" panose="05040102010807070707" charset="2"/>
              <a:buNone/>
              <a:defRPr/>
            </a:pPr>
            <a:r>
              <a:rPr kumimoji="0" lang="en-US" sz="2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Good: 75–89;</a:t>
            </a:r>
            <a:endParaRPr kumimoji="0" lang="en-US" sz="2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endParaRPr>
          </a:p>
          <a:p>
            <a:pPr marL="0" marR="0" lvl="0" indent="0" algn="l" defTabSz="457200" rtl="0" eaLnBrk="1" fontAlgn="auto" latinLnBrk="0" hangingPunct="1">
              <a:lnSpc>
                <a:spcPct val="100000"/>
              </a:lnSpc>
              <a:spcBef>
                <a:spcPts val="1000"/>
              </a:spcBef>
              <a:spcAft>
                <a:spcPts val="0"/>
              </a:spcAft>
              <a:buClr>
                <a:srgbClr val="A53010"/>
              </a:buClr>
              <a:buSzTx/>
              <a:buFont typeface="Wingdings 3" panose="05040102010807070707" charset="2"/>
              <a:buNone/>
              <a:defRPr/>
            </a:pPr>
            <a:r>
              <a:rPr kumimoji="0" lang="en-US" sz="2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Fair: 50–74;</a:t>
            </a:r>
            <a:endParaRPr kumimoji="0" lang="en-US" sz="2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endParaRPr>
          </a:p>
          <a:p>
            <a:pPr marL="0" marR="0" lvl="0" indent="0" algn="l" defTabSz="457200" rtl="0" eaLnBrk="1" fontAlgn="auto" latinLnBrk="0" hangingPunct="1">
              <a:lnSpc>
                <a:spcPct val="100000"/>
              </a:lnSpc>
              <a:spcBef>
                <a:spcPts val="1000"/>
              </a:spcBef>
              <a:spcAft>
                <a:spcPts val="0"/>
              </a:spcAft>
              <a:buClr>
                <a:srgbClr val="A53010"/>
              </a:buClr>
              <a:buSzTx/>
              <a:buFont typeface="Wingdings 3" panose="05040102010807070707" charset="2"/>
              <a:buNone/>
              <a:defRPr/>
            </a:pPr>
            <a:r>
              <a:rPr kumimoji="0" lang="en-US" sz="2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Poor: &lt;50</a:t>
            </a:r>
            <a:endParaRPr kumimoji="0" lang="en-US" sz="2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endParaRPr>
          </a:p>
          <a:p>
            <a:pPr marL="0" indent="0">
              <a:buNone/>
            </a:pPr>
            <a:r>
              <a:rPr lang="en-US" sz="2600" b="1" dirty="0"/>
              <a:t>Follow up</a:t>
            </a:r>
            <a:endParaRPr lang="en-US" sz="2600" b="1" dirty="0"/>
          </a:p>
          <a:p>
            <a:r>
              <a:rPr lang="en-US" sz="2600" dirty="0"/>
              <a:t>Follow up  Patients were followed up at first month (4weeks), third month (12 weeks), and 6 months. During follow-up, X ray radiograph of the ankle joint was taken in both anteroposterior view and lateral view and mortise view to assess the reduction as well as to analyze and check for any signs of avascular necrosis and also to see joint congruity.</a:t>
            </a:r>
            <a:endParaRPr lang="en-US" sz="2600" dirty="0"/>
          </a:p>
          <a:p>
            <a:pPr marL="0" marR="0" lvl="0" indent="0" algn="l" defTabSz="457200" rtl="0" eaLnBrk="1" fontAlgn="auto" latinLnBrk="0" hangingPunct="1">
              <a:lnSpc>
                <a:spcPct val="100000"/>
              </a:lnSpc>
              <a:spcBef>
                <a:spcPts val="1000"/>
              </a:spcBef>
              <a:spcAft>
                <a:spcPts val="0"/>
              </a:spcAft>
              <a:buClr>
                <a:srgbClr val="A53010"/>
              </a:buClr>
              <a:buSzTx/>
              <a:buFont typeface="Wingdings 3" panose="05040102010807070707" charset="2"/>
              <a:buNone/>
              <a:defRPr/>
            </a:pPr>
            <a:r>
              <a:rPr lang="en-US" sz="2600" dirty="0"/>
              <a:t/>
            </a:r>
            <a:endParaRPr lang="en-IN" sz="2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6452" y="614380"/>
            <a:ext cx="8040712" cy="717485"/>
          </a:xfrm>
        </p:spPr>
        <p:txBody>
          <a:bodyPr>
            <a:normAutofit/>
          </a:bodyPr>
          <a:lstStyle/>
          <a:p>
            <a:r>
              <a:rPr lang="en-IN" dirty="0"/>
              <a:t>Case </a:t>
            </a:r>
            <a:endParaRPr lang="en-IN" dirty="0"/>
          </a:p>
        </p:txBody>
      </p:sp>
      <p:pic>
        <p:nvPicPr>
          <p:cNvPr id="4" name="Content Placeholder 3"/>
          <p:cNvPicPr>
            <a:picLocks noGrp="1" noChangeAspect="1"/>
          </p:cNvPicPr>
          <p:nvPr>
            <p:ph idx="1"/>
          </p:nvPr>
        </p:nvPicPr>
        <p:blipFill rotWithShape="1">
          <a:blip r:embed="rId1"/>
          <a:srcRect l="26694" t="26293" r="8785" b="9894"/>
          <a:stretch>
            <a:fillRect/>
          </a:stretch>
        </p:blipFill>
        <p:spPr>
          <a:xfrm>
            <a:off x="2445095" y="2461694"/>
            <a:ext cx="3008295" cy="3967114"/>
          </a:xfrm>
          <a:prstGeom prst="rect">
            <a:avLst/>
          </a:prstGeom>
        </p:spPr>
      </p:pic>
      <p:pic>
        <p:nvPicPr>
          <p:cNvPr id="5" name="Picture 4"/>
          <p:cNvPicPr>
            <a:picLocks noChangeAspect="1"/>
          </p:cNvPicPr>
          <p:nvPr/>
        </p:nvPicPr>
        <p:blipFill rotWithShape="1">
          <a:blip r:embed="rId2"/>
          <a:srcRect l="23469" t="36945" r="28709" b="7978"/>
          <a:stretch>
            <a:fillRect/>
          </a:stretch>
        </p:blipFill>
        <p:spPr>
          <a:xfrm>
            <a:off x="6558998" y="2461694"/>
            <a:ext cx="2655831" cy="4078478"/>
          </a:xfrm>
          <a:prstGeom prst="rect">
            <a:avLst/>
          </a:prstGeom>
        </p:spPr>
      </p:pic>
      <p:sp>
        <p:nvSpPr>
          <p:cNvPr id="9" name="Rectangle 8"/>
          <p:cNvSpPr/>
          <p:nvPr/>
        </p:nvSpPr>
        <p:spPr>
          <a:xfrm>
            <a:off x="4086701" y="1570707"/>
            <a:ext cx="3800213" cy="52011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solidFill>
                  <a:schemeClr val="tx1"/>
                </a:solidFill>
              </a:rPr>
              <a:t>pre operative x rays </a:t>
            </a:r>
            <a:endParaRPr lang="en-IN" sz="2400" dirty="0">
              <a:solidFill>
                <a:schemeClr val="tx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1"/>
          <a:stretch>
            <a:fillRect/>
          </a:stretch>
        </p:blipFill>
        <p:spPr>
          <a:xfrm>
            <a:off x="1295400" y="1805940"/>
            <a:ext cx="4633595" cy="4311650"/>
          </a:xfrm>
          <a:prstGeom prst="rect">
            <a:avLst/>
          </a:prstGeom>
        </p:spPr>
      </p:pic>
      <p:pic>
        <p:nvPicPr>
          <p:cNvPr id="6" name="Picture 5"/>
          <p:cNvPicPr>
            <a:picLocks noChangeAspect="1"/>
          </p:cNvPicPr>
          <p:nvPr/>
        </p:nvPicPr>
        <p:blipFill rotWithShape="1">
          <a:blip r:embed="rId2"/>
          <a:srcRect t="11342" r="-2421"/>
          <a:stretch>
            <a:fillRect/>
          </a:stretch>
        </p:blipFill>
        <p:spPr>
          <a:xfrm>
            <a:off x="6792595" y="1805940"/>
            <a:ext cx="4086225" cy="4311650"/>
          </a:xfrm>
          <a:prstGeom prst="rect">
            <a:avLst/>
          </a:prstGeom>
        </p:spPr>
      </p:pic>
      <p:sp>
        <p:nvSpPr>
          <p:cNvPr id="7" name="Rectangle 6"/>
          <p:cNvSpPr/>
          <p:nvPr/>
        </p:nvSpPr>
        <p:spPr>
          <a:xfrm>
            <a:off x="3890025" y="911563"/>
            <a:ext cx="4278385" cy="659599"/>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solidFill>
                  <a:schemeClr val="tx1"/>
                </a:solidFill>
              </a:rPr>
              <a:t>Intra operative pics </a:t>
            </a:r>
            <a:endParaRPr lang="en-IN" sz="2400" dirty="0">
              <a:solidFill>
                <a:schemeClr val="tx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1"/>
          <a:srcRect l="16154" t="23355" r="13927" b="10132"/>
          <a:stretch>
            <a:fillRect/>
          </a:stretch>
        </p:blipFill>
        <p:spPr>
          <a:xfrm>
            <a:off x="272756" y="1904299"/>
            <a:ext cx="2771239" cy="3514989"/>
          </a:xfrm>
          <a:prstGeom prst="rect">
            <a:avLst/>
          </a:prstGeom>
        </p:spPr>
      </p:pic>
      <p:pic>
        <p:nvPicPr>
          <p:cNvPr id="5" name="Picture 4"/>
          <p:cNvPicPr>
            <a:picLocks noChangeAspect="1"/>
          </p:cNvPicPr>
          <p:nvPr/>
        </p:nvPicPr>
        <p:blipFill rotWithShape="1">
          <a:blip r:embed="rId2"/>
          <a:srcRect l="27093" t="24768" r="3535" b="23000"/>
          <a:stretch>
            <a:fillRect/>
          </a:stretch>
        </p:blipFill>
        <p:spPr>
          <a:xfrm>
            <a:off x="3171040" y="1904299"/>
            <a:ext cx="2625952" cy="3514989"/>
          </a:xfrm>
          <a:prstGeom prst="rect">
            <a:avLst/>
          </a:prstGeom>
        </p:spPr>
      </p:pic>
      <p:sp>
        <p:nvSpPr>
          <p:cNvPr id="6" name="Rectangle 5"/>
          <p:cNvSpPr/>
          <p:nvPr/>
        </p:nvSpPr>
        <p:spPr>
          <a:xfrm>
            <a:off x="929419" y="5583475"/>
            <a:ext cx="3703541" cy="6344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solidFill>
                  <a:schemeClr val="tx1"/>
                </a:solidFill>
              </a:rPr>
              <a:t>Post operative x rays </a:t>
            </a:r>
            <a:endParaRPr lang="en-IN" sz="2400" dirty="0">
              <a:solidFill>
                <a:schemeClr val="tx1"/>
              </a:solidFill>
            </a:endParaRPr>
          </a:p>
        </p:txBody>
      </p:sp>
      <p:pic>
        <p:nvPicPr>
          <p:cNvPr id="9" name="Picture 8"/>
          <p:cNvPicPr>
            <a:picLocks noChangeAspect="1"/>
          </p:cNvPicPr>
          <p:nvPr/>
        </p:nvPicPr>
        <p:blipFill>
          <a:blip r:embed="rId3"/>
          <a:stretch>
            <a:fillRect/>
          </a:stretch>
        </p:blipFill>
        <p:spPr>
          <a:xfrm>
            <a:off x="6096001" y="2015139"/>
            <a:ext cx="3282168" cy="2971510"/>
          </a:xfrm>
          <a:prstGeom prst="rect">
            <a:avLst/>
          </a:prstGeom>
        </p:spPr>
      </p:pic>
      <p:pic>
        <p:nvPicPr>
          <p:cNvPr id="10" name="Picture 9"/>
          <p:cNvPicPr>
            <a:picLocks noChangeAspect="1"/>
          </p:cNvPicPr>
          <p:nvPr/>
        </p:nvPicPr>
        <p:blipFill>
          <a:blip r:embed="rId4"/>
          <a:stretch>
            <a:fillRect/>
          </a:stretch>
        </p:blipFill>
        <p:spPr>
          <a:xfrm>
            <a:off x="9677178" y="1696091"/>
            <a:ext cx="2242066" cy="3887384"/>
          </a:xfrm>
          <a:prstGeom prst="rect">
            <a:avLst/>
          </a:prstGeom>
        </p:spPr>
      </p:pic>
      <p:sp>
        <p:nvSpPr>
          <p:cNvPr id="11" name="Rectangle 10"/>
          <p:cNvSpPr/>
          <p:nvPr/>
        </p:nvSpPr>
        <p:spPr>
          <a:xfrm>
            <a:off x="7109460" y="5583475"/>
            <a:ext cx="2453640" cy="634445"/>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3 month follow up x ray</a:t>
            </a:r>
            <a:endParaRPr lang="en-IN" dirty="0">
              <a:solidFill>
                <a:schemeClr val="tx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1"/>
          <a:srcRect l="29481" t="32750" r="18222" b="25462"/>
          <a:stretch>
            <a:fillRect/>
          </a:stretch>
        </p:blipFill>
        <p:spPr>
          <a:xfrm>
            <a:off x="6096000" y="2083755"/>
            <a:ext cx="2998620" cy="2878809"/>
          </a:xfrm>
          <a:prstGeom prst="rect">
            <a:avLst/>
          </a:prstGeom>
        </p:spPr>
      </p:pic>
      <p:pic>
        <p:nvPicPr>
          <p:cNvPr id="7" name="Picture 6"/>
          <p:cNvPicPr>
            <a:picLocks noChangeAspect="1"/>
          </p:cNvPicPr>
          <p:nvPr/>
        </p:nvPicPr>
        <p:blipFill rotWithShape="1">
          <a:blip r:embed="rId2"/>
          <a:srcRect l="31154" t="26011" r="26367" b="28077"/>
          <a:stretch>
            <a:fillRect/>
          </a:stretch>
        </p:blipFill>
        <p:spPr>
          <a:xfrm>
            <a:off x="9329420" y="2038746"/>
            <a:ext cx="2664460" cy="2923818"/>
          </a:xfrm>
          <a:prstGeom prst="rect">
            <a:avLst/>
          </a:prstGeom>
        </p:spPr>
      </p:pic>
      <p:pic>
        <p:nvPicPr>
          <p:cNvPr id="8" name="Picture 7"/>
          <p:cNvPicPr>
            <a:picLocks noChangeAspect="1"/>
          </p:cNvPicPr>
          <p:nvPr/>
        </p:nvPicPr>
        <p:blipFill>
          <a:blip r:embed="rId3"/>
          <a:stretch>
            <a:fillRect/>
          </a:stretch>
        </p:blipFill>
        <p:spPr>
          <a:xfrm>
            <a:off x="3081633" y="1694535"/>
            <a:ext cx="2969009" cy="3560373"/>
          </a:xfrm>
          <a:prstGeom prst="rect">
            <a:avLst/>
          </a:prstGeom>
        </p:spPr>
      </p:pic>
      <p:pic>
        <p:nvPicPr>
          <p:cNvPr id="9" name="Picture 8"/>
          <p:cNvPicPr>
            <a:picLocks noChangeAspect="1"/>
          </p:cNvPicPr>
          <p:nvPr/>
        </p:nvPicPr>
        <p:blipFill>
          <a:blip r:embed="rId4"/>
          <a:stretch>
            <a:fillRect/>
          </a:stretch>
        </p:blipFill>
        <p:spPr>
          <a:xfrm>
            <a:off x="292838" y="1694535"/>
            <a:ext cx="2743438" cy="3468925"/>
          </a:xfrm>
          <a:prstGeom prst="rect">
            <a:avLst/>
          </a:prstGeom>
        </p:spPr>
      </p:pic>
      <p:sp>
        <p:nvSpPr>
          <p:cNvPr id="12" name="Rectangle 11"/>
          <p:cNvSpPr/>
          <p:nvPr/>
        </p:nvSpPr>
        <p:spPr>
          <a:xfrm>
            <a:off x="1158240" y="5593080"/>
            <a:ext cx="3566160" cy="35814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6 month follow up x ray</a:t>
            </a:r>
            <a:endParaRPr lang="en-IN" dirty="0">
              <a:solidFill>
                <a:schemeClr val="tx1"/>
              </a:solidFill>
            </a:endParaRPr>
          </a:p>
        </p:txBody>
      </p:sp>
      <p:sp>
        <p:nvSpPr>
          <p:cNvPr id="13" name="Rectangle 12"/>
          <p:cNvSpPr/>
          <p:nvPr/>
        </p:nvSpPr>
        <p:spPr>
          <a:xfrm>
            <a:off x="6652262" y="5174890"/>
            <a:ext cx="2011678" cy="54773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plantarflexion</a:t>
            </a:r>
            <a:endParaRPr lang="en-IN" dirty="0">
              <a:solidFill>
                <a:schemeClr val="tx1"/>
              </a:solidFill>
            </a:endParaRPr>
          </a:p>
        </p:txBody>
      </p:sp>
      <p:sp>
        <p:nvSpPr>
          <p:cNvPr id="14" name="Rectangle 13"/>
          <p:cNvSpPr/>
          <p:nvPr/>
        </p:nvSpPr>
        <p:spPr>
          <a:xfrm>
            <a:off x="9517380" y="5220154"/>
            <a:ext cx="1912620" cy="4948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dorsiflexion</a:t>
            </a:r>
            <a:endParaRPr lang="en-IN" dirty="0">
              <a:solidFill>
                <a:schemeClr val="tx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89470" y="707923"/>
            <a:ext cx="5668291" cy="737418"/>
          </a:xfrm>
        </p:spPr>
        <p:txBody>
          <a:bodyPr>
            <a:normAutofit/>
          </a:bodyPr>
          <a:lstStyle/>
          <a:p>
            <a:pPr marL="0" indent="0">
              <a:buNone/>
            </a:pPr>
            <a:r>
              <a:rPr lang="en-IN" sz="4000" dirty="0"/>
              <a:t>RESULT:</a:t>
            </a:r>
            <a:endParaRPr lang="en-IN" sz="4000" dirty="0"/>
          </a:p>
          <a:p>
            <a:endParaRPr lang="en-IN" b="1" dirty="0"/>
          </a:p>
        </p:txBody>
      </p:sp>
      <p:sp>
        <p:nvSpPr>
          <p:cNvPr id="6" name="TextBox 5"/>
          <p:cNvSpPr txBox="1"/>
          <p:nvPr/>
        </p:nvSpPr>
        <p:spPr>
          <a:xfrm>
            <a:off x="1386348" y="1750142"/>
            <a:ext cx="10593448" cy="2399665"/>
          </a:xfrm>
          <a:prstGeom prst="rect">
            <a:avLst/>
          </a:prstGeom>
          <a:noFill/>
        </p:spPr>
        <p:txBody>
          <a:bodyPr wrap="square" rtlCol="0">
            <a:spAutoFit/>
          </a:bodyPr>
          <a:lstStyle/>
          <a:p>
            <a:pPr marL="457200" indent="-457200">
              <a:buFont typeface="Arial" panose="020B0604020202020204" pitchFamily="34" charset="0"/>
              <a:buChar char="•"/>
            </a:pPr>
            <a:r>
              <a:rPr lang="en-US" sz="2500" dirty="0"/>
              <a:t>A total of 20 patients are included in the study. The follow-up period for 6 months. Results are analyzed both clinically and radiologically. </a:t>
            </a:r>
            <a:endParaRPr lang="en-US" sz="2500" dirty="0"/>
          </a:p>
          <a:p>
            <a:pPr marL="457200" indent="-457200">
              <a:buFont typeface="Arial" panose="020B0604020202020204" pitchFamily="34" charset="0"/>
              <a:buChar char="•"/>
            </a:pPr>
            <a:r>
              <a:rPr lang="en-US" sz="2500" dirty="0"/>
              <a:t>Among these, 8 are Hawkins type II, 12 are Hawkins type III . </a:t>
            </a:r>
            <a:endParaRPr lang="en-US" sz="2500" dirty="0"/>
          </a:p>
          <a:p>
            <a:pPr marL="457200" indent="-457200">
              <a:buFont typeface="Arial" panose="020B0604020202020204" pitchFamily="34" charset="0"/>
              <a:buChar char="•"/>
            </a:pPr>
            <a:r>
              <a:rPr lang="en-US" sz="2500" dirty="0"/>
              <a:t>All talus fractures are managed using combined approach(anterolateral and anteromedial approach).</a:t>
            </a:r>
            <a:endParaRPr lang="en-IN" sz="2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Chart 13"/>
          <p:cNvGraphicFramePr/>
          <p:nvPr/>
        </p:nvGraphicFramePr>
        <p:xfrm>
          <a:off x="7342261" y="188902"/>
          <a:ext cx="5180729" cy="2705703"/>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21" name="Table 20"/>
          <p:cNvGraphicFramePr>
            <a:graphicFrameLocks noGrp="1"/>
          </p:cNvGraphicFramePr>
          <p:nvPr/>
        </p:nvGraphicFramePr>
        <p:xfrm>
          <a:off x="1687874" y="1939264"/>
          <a:ext cx="6472902" cy="1107440"/>
        </p:xfrm>
        <a:graphic>
          <a:graphicData uri="http://schemas.openxmlformats.org/drawingml/2006/table">
            <a:tbl>
              <a:tblPr firstRow="1" bandRow="1">
                <a:tableStyleId>{5940675A-B579-460E-94D1-54222C63F5DA}</a:tableStyleId>
              </a:tblPr>
              <a:tblGrid>
                <a:gridCol w="2646045"/>
                <a:gridCol w="3826857"/>
              </a:tblGrid>
              <a:tr h="320040">
                <a:tc>
                  <a:txBody>
                    <a:bodyPr/>
                    <a:lstStyle/>
                    <a:p>
                      <a:r>
                        <a:rPr lang="en-IN" dirty="0"/>
                        <a:t>Sex</a:t>
                      </a:r>
                      <a:endParaRPr lang="en-IN" dirty="0"/>
                    </a:p>
                  </a:txBody>
                  <a:tcPr/>
                </a:tc>
                <a:tc>
                  <a:txBody>
                    <a:bodyPr/>
                    <a:lstStyle/>
                    <a:p>
                      <a:r>
                        <a:rPr lang="en-IN" dirty="0"/>
                        <a:t>NUMBER OF PATIENTS</a:t>
                      </a:r>
                      <a:endParaRPr lang="en-IN" dirty="0"/>
                    </a:p>
                  </a:txBody>
                  <a:tcPr/>
                </a:tc>
              </a:tr>
              <a:tr h="370840">
                <a:tc>
                  <a:txBody>
                    <a:bodyPr/>
                    <a:lstStyle/>
                    <a:p>
                      <a:r>
                        <a:rPr lang="en-IN" dirty="0"/>
                        <a:t>Male </a:t>
                      </a:r>
                      <a:endParaRPr lang="en-IN" dirty="0"/>
                    </a:p>
                  </a:txBody>
                  <a:tcPr/>
                </a:tc>
                <a:tc>
                  <a:txBody>
                    <a:bodyPr/>
                    <a:lstStyle/>
                    <a:p>
                      <a:r>
                        <a:rPr lang="en-US" altLang="en-IN" dirty="0"/>
                        <a:t>12</a:t>
                      </a:r>
                      <a:endParaRPr lang="en-US" altLang="en-IN" dirty="0"/>
                    </a:p>
                  </a:txBody>
                  <a:tcPr/>
                </a:tc>
              </a:tr>
              <a:tr h="370840">
                <a:tc>
                  <a:txBody>
                    <a:bodyPr/>
                    <a:lstStyle/>
                    <a:p>
                      <a:r>
                        <a:rPr lang="en-IN" dirty="0"/>
                        <a:t>Female</a:t>
                      </a:r>
                      <a:endParaRPr lang="en-IN" dirty="0"/>
                    </a:p>
                  </a:txBody>
                  <a:tcPr/>
                </a:tc>
                <a:tc>
                  <a:txBody>
                    <a:bodyPr/>
                    <a:lstStyle/>
                    <a:p>
                      <a:r>
                        <a:rPr lang="en-US" altLang="en-IN" dirty="0"/>
                        <a:t>6</a:t>
                      </a:r>
                      <a:endParaRPr lang="en-US" altLang="en-IN" dirty="0"/>
                    </a:p>
                  </a:txBody>
                  <a:tcPr/>
                </a:tc>
              </a:tr>
            </a:tbl>
          </a:graphicData>
        </a:graphic>
      </p:graphicFrame>
      <p:graphicFrame>
        <p:nvGraphicFramePr>
          <p:cNvPr id="23" name="Table 22"/>
          <p:cNvGraphicFramePr>
            <a:graphicFrameLocks noGrp="1"/>
          </p:cNvGraphicFramePr>
          <p:nvPr/>
        </p:nvGraphicFramePr>
        <p:xfrm>
          <a:off x="1687874" y="188414"/>
          <a:ext cx="5561777" cy="1463040"/>
        </p:xfrm>
        <a:graphic>
          <a:graphicData uri="http://schemas.openxmlformats.org/drawingml/2006/table">
            <a:tbl>
              <a:tblPr firstRow="1" bandRow="1">
                <a:tableStyleId>{5940675A-B579-460E-94D1-54222C63F5DA}</a:tableStyleId>
              </a:tblPr>
              <a:tblGrid>
                <a:gridCol w="2347896"/>
                <a:gridCol w="3213881"/>
              </a:tblGrid>
              <a:tr h="309476">
                <a:tc>
                  <a:txBody>
                    <a:bodyPr/>
                    <a:lstStyle/>
                    <a:p>
                      <a:r>
                        <a:rPr lang="en-IN" dirty="0"/>
                        <a:t>Age</a:t>
                      </a:r>
                      <a:endParaRPr lang="en-IN" dirty="0"/>
                    </a:p>
                  </a:txBody>
                  <a:tcPr/>
                </a:tc>
                <a:tc>
                  <a:txBody>
                    <a:bodyPr/>
                    <a:lstStyle/>
                    <a:p>
                      <a:r>
                        <a:rPr lang="en-IN" dirty="0"/>
                        <a:t>Number of patients</a:t>
                      </a:r>
                      <a:endParaRPr lang="en-IN" dirty="0"/>
                    </a:p>
                  </a:txBody>
                  <a:tcPr/>
                </a:tc>
              </a:tr>
              <a:tr h="309476">
                <a:tc>
                  <a:txBody>
                    <a:bodyPr/>
                    <a:lstStyle/>
                    <a:p>
                      <a:r>
                        <a:rPr lang="en-IN" dirty="0"/>
                        <a:t>15-30</a:t>
                      </a:r>
                      <a:endParaRPr lang="en-IN" dirty="0"/>
                    </a:p>
                  </a:txBody>
                  <a:tcPr/>
                </a:tc>
                <a:tc>
                  <a:txBody>
                    <a:bodyPr/>
                    <a:lstStyle/>
                    <a:p>
                      <a:r>
                        <a:rPr lang="en-IN" dirty="0"/>
                        <a:t>5</a:t>
                      </a:r>
                      <a:endParaRPr lang="en-IN" dirty="0"/>
                    </a:p>
                  </a:txBody>
                  <a:tcPr/>
                </a:tc>
              </a:tr>
              <a:tr h="309476">
                <a:tc>
                  <a:txBody>
                    <a:bodyPr/>
                    <a:lstStyle/>
                    <a:p>
                      <a:r>
                        <a:rPr lang="en-IN" dirty="0"/>
                        <a:t>31-45</a:t>
                      </a:r>
                      <a:endParaRPr lang="en-IN" dirty="0"/>
                    </a:p>
                  </a:txBody>
                  <a:tcPr/>
                </a:tc>
                <a:tc>
                  <a:txBody>
                    <a:bodyPr/>
                    <a:lstStyle/>
                    <a:p>
                      <a:r>
                        <a:rPr lang="en-US" altLang="en-IN" dirty="0"/>
                        <a:t>9</a:t>
                      </a:r>
                      <a:endParaRPr lang="en-US" altLang="en-IN" dirty="0"/>
                    </a:p>
                  </a:txBody>
                  <a:tcPr/>
                </a:tc>
              </a:tr>
              <a:tr h="309476">
                <a:tc>
                  <a:txBody>
                    <a:bodyPr/>
                    <a:lstStyle/>
                    <a:p>
                      <a:r>
                        <a:rPr lang="en-IN" dirty="0"/>
                        <a:t>46-7</a:t>
                      </a:r>
                      <a:r>
                        <a:rPr lang="en-US" altLang="en-IN" dirty="0"/>
                        <a:t>5</a:t>
                      </a:r>
                      <a:endParaRPr lang="en-US" altLang="en-IN" dirty="0"/>
                    </a:p>
                  </a:txBody>
                  <a:tcPr/>
                </a:tc>
                <a:tc>
                  <a:txBody>
                    <a:bodyPr/>
                    <a:lstStyle/>
                    <a:p>
                      <a:r>
                        <a:rPr lang="en-US" altLang="en-IN" dirty="0"/>
                        <a:t>6</a:t>
                      </a:r>
                      <a:endParaRPr lang="en-US" altLang="en-IN" dirty="0"/>
                    </a:p>
                  </a:txBody>
                  <a:tcPr/>
                </a:tc>
              </a:tr>
            </a:tbl>
          </a:graphicData>
        </a:graphic>
      </p:graphicFrame>
      <p:pic>
        <p:nvPicPr>
          <p:cNvPr id="4" name="Picture 3"/>
          <p:cNvPicPr>
            <a:picLocks noChangeAspect="1"/>
          </p:cNvPicPr>
          <p:nvPr/>
        </p:nvPicPr>
        <p:blipFill>
          <a:blip r:embed="rId2"/>
          <a:stretch>
            <a:fillRect/>
          </a:stretch>
        </p:blipFill>
        <p:spPr>
          <a:xfrm>
            <a:off x="1697891" y="3428862"/>
            <a:ext cx="5807416" cy="1615827"/>
          </a:xfrm>
          <a:prstGeom prst="rect">
            <a:avLst/>
          </a:prstGeom>
        </p:spPr>
      </p:pic>
      <p:sp>
        <p:nvSpPr>
          <p:cNvPr id="6" name="Text Box 5"/>
          <p:cNvSpPr txBox="1"/>
          <p:nvPr/>
        </p:nvSpPr>
        <p:spPr>
          <a:xfrm>
            <a:off x="1697990" y="5197475"/>
            <a:ext cx="5673725" cy="1198880"/>
          </a:xfrm>
          <a:prstGeom prst="rect">
            <a:avLst/>
          </a:prstGeom>
          <a:noFill/>
        </p:spPr>
        <p:txBody>
          <a:bodyPr wrap="square" rtlCol="0">
            <a:spAutoFit/>
          </a:bodyPr>
          <a:p>
            <a:r>
              <a:rPr lang="en-US" noProof="0" dirty="0">
                <a:ln>
                  <a:noFill/>
                </a:ln>
                <a:solidFill>
                  <a:prstClr val="black"/>
                </a:solidFill>
                <a:effectLst/>
                <a:uLnTx/>
                <a:uFillTx/>
                <a:latin typeface="Calibri" panose="020F0502020204030204"/>
                <a:sym typeface="+mn-ea"/>
              </a:rPr>
              <a:t>Functional outcome is assessed using  AOFAS mean score of 64.75 ± 10.77, with the majority having good outcome </a:t>
            </a:r>
            <a:r>
              <a:rPr lang="en-US" noProof="0" dirty="0" err="1">
                <a:ln>
                  <a:noFill/>
                </a:ln>
                <a:solidFill>
                  <a:prstClr val="black"/>
                </a:solidFill>
                <a:effectLst/>
                <a:uLnTx/>
                <a:uFillTx/>
                <a:latin typeface="Calibri" panose="020F0502020204030204"/>
                <a:sym typeface="+mn-ea"/>
              </a:rPr>
              <a:t>i.e</a:t>
            </a:r>
            <a:r>
              <a:rPr lang="en-US" noProof="0" dirty="0">
                <a:ln>
                  <a:noFill/>
                </a:ln>
                <a:solidFill>
                  <a:prstClr val="black"/>
                </a:solidFill>
                <a:effectLst/>
                <a:uLnTx/>
                <a:uFillTx/>
                <a:latin typeface="Calibri" panose="020F0502020204030204"/>
                <a:sym typeface="+mn-ea"/>
              </a:rPr>
              <a:t> 7 patients, fair in 6 patients, and excellent in 7 patients.</a:t>
            </a:r>
            <a:endParaRPr kumimoji="0" lang="en-IN"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87795" y="681036"/>
            <a:ext cx="9616818" cy="1223963"/>
          </a:xfrm>
        </p:spPr>
        <p:txBody>
          <a:bodyPr>
            <a:normAutofit/>
          </a:bodyPr>
          <a:lstStyle/>
          <a:p>
            <a:r>
              <a:rPr lang="en-IN" sz="4000" b="1" dirty="0"/>
              <a:t>DISCUSSION</a:t>
            </a:r>
            <a:endParaRPr lang="en-IN" sz="4000" b="1" dirty="0"/>
          </a:p>
        </p:txBody>
      </p:sp>
      <p:sp>
        <p:nvSpPr>
          <p:cNvPr id="3" name="Content Placeholder 2"/>
          <p:cNvSpPr>
            <a:spLocks noGrp="1"/>
          </p:cNvSpPr>
          <p:nvPr>
            <p:ph idx="1"/>
          </p:nvPr>
        </p:nvSpPr>
        <p:spPr>
          <a:xfrm>
            <a:off x="1563328" y="1799303"/>
            <a:ext cx="9940413" cy="4377660"/>
          </a:xfrm>
        </p:spPr>
        <p:txBody>
          <a:bodyPr>
            <a:noAutofit/>
          </a:bodyPr>
          <a:lstStyle/>
          <a:p>
            <a:r>
              <a:rPr lang="en-US" sz="2600"/>
              <a:t> Now a days </a:t>
            </a:r>
            <a:r>
              <a:rPr lang="en-US" sz="2600" dirty="0"/>
              <a:t>accidents in motor vehicle and fall from height results serious talar fractures. Low energy injuries can also result in talus fractures.</a:t>
            </a:r>
            <a:endParaRPr lang="en-US" sz="2600" dirty="0"/>
          </a:p>
          <a:p>
            <a:r>
              <a:rPr lang="en-US" sz="2600" dirty="0">
                <a:sym typeface="+mn-ea"/>
              </a:rPr>
              <a:t>Computed tomography (CT) is useful to assess displacement, articular extension and fracture patterns.</a:t>
            </a:r>
            <a:endParaRPr lang="en-IN" sz="2600" dirty="0"/>
          </a:p>
          <a:p>
            <a:endParaRPr lang="en-IN" sz="2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86349" y="688258"/>
            <a:ext cx="9967452" cy="5488705"/>
          </a:xfrm>
        </p:spPr>
        <p:txBody>
          <a:bodyPr>
            <a:noAutofit/>
          </a:bodyPr>
          <a:lstStyle/>
          <a:p>
            <a:pPr marL="0" indent="0">
              <a:buNone/>
            </a:pPr>
            <a:r>
              <a:rPr lang="en-US" sz="2500" dirty="0"/>
              <a:t/>
            </a:r>
            <a:endParaRPr lang="en-US" sz="2500" dirty="0"/>
          </a:p>
          <a:p>
            <a:r>
              <a:rPr lang="en-US" sz="2500" dirty="0"/>
              <a:t>Fournier et al 4 reported dual approach exposed medial and lateral faces of talar neck and facilitate better reduction also minimal interferences in blood supply to talar fragments.</a:t>
            </a:r>
            <a:endParaRPr lang="en-US" sz="2500" dirty="0"/>
          </a:p>
          <a:p>
            <a:r>
              <a:rPr lang="en-US" sz="2500" dirty="0"/>
              <a:t> For a better initial reduction, some authors recommend a dual anteromedial and anterolateral approach. This technique permits good visualization of the talus but increases the risk of skin necrosis or infection and increases the duration of surgery.</a:t>
            </a:r>
            <a:endParaRPr lang="en-US" sz="2500" dirty="0"/>
          </a:p>
          <a:p>
            <a:endParaRPr lang="en-IN" sz="2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12491" y="1120877"/>
            <a:ext cx="10432584" cy="5164394"/>
          </a:xfrm>
        </p:spPr>
        <p:txBody>
          <a:bodyPr>
            <a:noAutofit/>
          </a:bodyPr>
          <a:lstStyle/>
          <a:p>
            <a:r>
              <a:rPr lang="en-US" sz="2600" dirty="0"/>
              <a:t>In this study of displaced talar fractures, we preferred a fast and slightly aggressive operative treatment to avoid wound complications and avascular necrosis.</a:t>
            </a:r>
            <a:endParaRPr lang="en-US" sz="2600" dirty="0"/>
          </a:p>
          <a:p>
            <a:r>
              <a:rPr lang="en-US" sz="2600" dirty="0"/>
              <a:t> Avascular necrosis is a common complication after talar fractures, the initial degree of fracture displacement is an important risk factor for osteonecrosis. The surgical delay also seems important and most authors recommend urgent reduction and stabilization of displaced talar fractures.</a:t>
            </a:r>
            <a:endParaRPr lang="en-US" sz="2600" dirty="0"/>
          </a:p>
          <a:p>
            <a:r>
              <a:rPr lang="en-US" sz="2600" dirty="0"/>
              <a:t>The majority of the talar surface is articular cartilage. This explains the high risk of osteoarthritis after a talar fracture. The risk factor associated with the dual approach is a skin infection and necrosis, however, in young active patients occurrence of infection carries a lesser probability</a:t>
            </a:r>
            <a:endParaRPr lang="en-US" sz="2600" dirty="0"/>
          </a:p>
          <a:p>
            <a:endParaRPr lang="en-IN" sz="2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0309" y="589935"/>
            <a:ext cx="9717663" cy="857685"/>
          </a:xfrm>
        </p:spPr>
        <p:txBody>
          <a:bodyPr>
            <a:normAutofit/>
          </a:bodyPr>
          <a:lstStyle/>
          <a:p>
            <a:r>
              <a:rPr lang="en-IN" sz="4000" b="1" dirty="0"/>
              <a:t>CONCLUSION</a:t>
            </a:r>
            <a:endParaRPr lang="en-IN" sz="4000" b="1" dirty="0"/>
          </a:p>
        </p:txBody>
      </p:sp>
      <p:sp>
        <p:nvSpPr>
          <p:cNvPr id="3" name="Content Placeholder 2"/>
          <p:cNvSpPr>
            <a:spLocks noGrp="1"/>
          </p:cNvSpPr>
          <p:nvPr>
            <p:ph idx="1"/>
          </p:nvPr>
        </p:nvSpPr>
        <p:spPr>
          <a:xfrm>
            <a:off x="1435510" y="1447620"/>
            <a:ext cx="10648460" cy="5288323"/>
          </a:xfrm>
        </p:spPr>
        <p:txBody>
          <a:bodyPr>
            <a:noAutofit/>
          </a:bodyPr>
          <a:lstStyle/>
          <a:p>
            <a:r>
              <a:rPr lang="en-US" sz="2600" dirty="0"/>
              <a:t>In this study treatment of fracture talus with open reduction and screw fixation facilitated early mobilisation of the patients and helped achieving stable, pain free subtalar and ankle joints and preventing avascular necrosis of talus, subtalar and ankle joint arthritis. AOFAS score has significant improvement during follow up. </a:t>
            </a:r>
            <a:endParaRPr lang="en-US" sz="2600" dirty="0"/>
          </a:p>
          <a:p>
            <a:r>
              <a:rPr lang="en-US" sz="2600" dirty="0"/>
              <a:t>The screw can be fixed either anterior to posterior direction or from posterior to anterior direction. But posterior to anterior directed screws are biomechanically stronger.Though age and sex of the patient, type of fracture, time of presentation, amount of blood loss, time of union influences the functional outcome, these parameters shows no gross variations in all patients regarding outcome and showed good results.</a:t>
            </a:r>
            <a:endParaRPr lang="en-IN" sz="2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1" y="678426"/>
            <a:ext cx="9675812" cy="1226574"/>
          </a:xfrm>
        </p:spPr>
        <p:txBody>
          <a:bodyPr/>
          <a:lstStyle/>
          <a:p>
            <a:r>
              <a:rPr lang="en-IN" b="1" dirty="0"/>
              <a:t>REFERENCE</a:t>
            </a:r>
            <a:endParaRPr lang="en-IN" b="1" dirty="0"/>
          </a:p>
        </p:txBody>
      </p:sp>
      <p:sp>
        <p:nvSpPr>
          <p:cNvPr id="3" name="Content Placeholder 2"/>
          <p:cNvSpPr>
            <a:spLocks noGrp="1"/>
          </p:cNvSpPr>
          <p:nvPr>
            <p:ph idx="1"/>
          </p:nvPr>
        </p:nvSpPr>
        <p:spPr>
          <a:xfrm>
            <a:off x="1710813" y="1691148"/>
            <a:ext cx="9793799" cy="4220074"/>
          </a:xfrm>
        </p:spPr>
        <p:txBody>
          <a:bodyPr>
            <a:noAutofit/>
          </a:bodyPr>
          <a:lstStyle/>
          <a:p>
            <a:pPr marL="0" indent="0">
              <a:buNone/>
            </a:pPr>
            <a:r>
              <a:rPr lang="en-US" sz="2000" dirty="0"/>
              <a:t>1.Sarrafian SK. Anatomy of the foot and ankle: descriptive, topographic, and functional. Philadelphia: Lippincott, 1983, 400-407. </a:t>
            </a:r>
            <a:endParaRPr lang="en-US" sz="2000" dirty="0"/>
          </a:p>
          <a:p>
            <a:pPr marL="0" indent="0">
              <a:buNone/>
            </a:pPr>
            <a:r>
              <a:rPr lang="en-US" sz="2000" dirty="0"/>
              <a:t>2.Blood supply of the talus comes from three arteries. These form extra osseous circulation as described by Wildenaur around the talar neck and sinus tarsi1. Elgafy H, Ebraheim NA, Tile M, Stephen D, Kase J. Fractures of the talus: experience of two level 1 trauma centers. Foot Ankle Int 2000;21:1023-1029</a:t>
            </a:r>
            <a:endParaRPr lang="en-US" sz="2000" dirty="0"/>
          </a:p>
          <a:p>
            <a:pPr marL="0" indent="0">
              <a:buNone/>
            </a:pPr>
            <a:r>
              <a:rPr lang="en-US" sz="2000" dirty="0"/>
              <a:t>3.Inokuchi S, Ogawa K, Usami N. Classification of ~ 577 ~ International Journal of Orthopaedics Sciences www.orthopaper.com fractures of the talus: clear differentiation between neck and body fractures. Foot Ankle Int 1996;17(12):748-750</a:t>
            </a:r>
            <a:endParaRPr lang="en-US" sz="2000" dirty="0"/>
          </a:p>
          <a:p>
            <a:pPr marL="0" indent="0">
              <a:buNone/>
            </a:pPr>
            <a:r>
              <a:rPr lang="en-US" sz="2000" dirty="0"/>
              <a:t>4.Abrahams TG, Gallup L, Avery FL. Nondisplaced shearing-type talar body fractures. Ann Emerg Med 1994;23(4):891-893. doi: 10.1016/S0196-0644(94)70331-0. </a:t>
            </a:r>
            <a:endParaRPr lang="en-US" sz="2000" dirty="0"/>
          </a:p>
          <a:p>
            <a:pPr marL="0" indent="0">
              <a:buNone/>
            </a:pPr>
            <a:endParaRPr lang="en-US" sz="2000" dirty="0"/>
          </a:p>
          <a:p>
            <a:pPr marL="0" indent="0">
              <a:buNone/>
            </a:pPr>
            <a:endParaRPr lang="en-IN"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43105" y="912277"/>
            <a:ext cx="9731476" cy="4859440"/>
          </a:xfrm>
        </p:spPr>
        <p:txBody>
          <a:bodyPr>
            <a:noAutofit/>
          </a:bodyPr>
          <a:lstStyle/>
          <a:p>
            <a:pPr marL="0" indent="0">
              <a:buNone/>
            </a:pPr>
            <a:r>
              <a:rPr lang="en-US" sz="2000" dirty="0"/>
              <a:t>5.Peterson and Goldie (Acta Orthop Scand 1974;45:260- 270,)] The cause of injury was most frequently motor vehicle accidents (26) and falls from heights (11) </a:t>
            </a:r>
            <a:endParaRPr lang="en-IN" sz="2000" dirty="0"/>
          </a:p>
          <a:p>
            <a:pPr marL="0" indent="0">
              <a:buNone/>
            </a:pPr>
            <a:r>
              <a:rPr lang="en-IN" sz="2000" dirty="0"/>
              <a:t>6.Lindvall E, Haidukewych G, DiPasquale T, Herscovici D, Jr, Sanders R. Open reduction and stable fixation of isolated, displaced talar neck and body fractures. </a:t>
            </a:r>
            <a:endParaRPr lang="en-IN" sz="2000" dirty="0"/>
          </a:p>
          <a:p>
            <a:pPr marL="0" indent="0">
              <a:buNone/>
            </a:pPr>
            <a:r>
              <a:rPr lang="en-US" sz="2000" dirty="0"/>
              <a:t>7.Hawkins LG. Fractures of the neck of the talus. J Bone Joint Surg (Am) 1970;52:991–1002.</a:t>
            </a:r>
            <a:endParaRPr lang="en-US" sz="2000" dirty="0"/>
          </a:p>
          <a:p>
            <a:pPr marL="0" indent="0">
              <a:buNone/>
            </a:pPr>
            <a:r>
              <a:rPr lang="en-US" sz="2000" dirty="0"/>
              <a:t>8.Grob D, Simpson LA, Weber BG, Bray T. Operative treatment of displaced talus fractures. ClinOrthop. 1985;199:88-96. </a:t>
            </a:r>
            <a:endParaRPr lang="en-US" sz="2000" dirty="0"/>
          </a:p>
          <a:p>
            <a:pPr marL="0" indent="0">
              <a:buNone/>
            </a:pPr>
            <a:endParaRPr lang="en-IN" sz="2000" dirty="0"/>
          </a:p>
        </p:txBody>
      </p:sp>
    </p:spTree>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TM02892315[[fn=Wisp]]</Template>
  <TotalTime>0</TotalTime>
  <Words>7470</Words>
  <Application>WPS Presentation</Application>
  <PresentationFormat>Widescreen</PresentationFormat>
  <Paragraphs>149</Paragraphs>
  <Slides>20</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20</vt:i4>
      </vt:variant>
    </vt:vector>
  </HeadingPairs>
  <TitlesOfParts>
    <vt:vector size="32" baseType="lpstr">
      <vt:lpstr>Arial</vt:lpstr>
      <vt:lpstr>SimSun</vt:lpstr>
      <vt:lpstr>Wingdings</vt:lpstr>
      <vt:lpstr>Wingdings 3</vt:lpstr>
      <vt:lpstr>Arial</vt:lpstr>
      <vt:lpstr>Century Gothic</vt:lpstr>
      <vt:lpstr>Microsoft YaHei</vt:lpstr>
      <vt:lpstr>Arial Unicode MS</vt:lpstr>
      <vt:lpstr>Calibri</vt:lpstr>
      <vt:lpstr>Calibri</vt:lpstr>
      <vt:lpstr>Century Gothic</vt:lpstr>
      <vt:lpstr>Wisp</vt:lpstr>
      <vt:lpstr>FUNCTIONAL OUTCOME OF TALUS FRACTURES MANAGED BY OPEN REDUCTION AND INTERNAL FIXATION WITH CANNULATED CANCELLOUS SCREW</vt:lpstr>
      <vt:lpstr>INTRODUCTION</vt:lpstr>
      <vt:lpstr>PowerPoint 演示文稿</vt:lpstr>
      <vt:lpstr>PowerPoint 演示文稿</vt:lpstr>
      <vt:lpstr>PowerPoint 演示文稿</vt:lpstr>
      <vt:lpstr>PowerPoint 演示文稿</vt:lpstr>
      <vt:lpstr>PowerPoint 演示文稿</vt:lpstr>
      <vt:lpstr>PowerPoint 演示文稿</vt:lpstr>
      <vt:lpstr>Case </vt:lpstr>
      <vt:lpstr>PowerPoint 演示文稿</vt:lpstr>
      <vt:lpstr>PowerPoint 演示文稿</vt:lpstr>
      <vt:lpstr>PowerPoint 演示文稿</vt:lpstr>
      <vt:lpstr>PowerPoint 演示文稿</vt:lpstr>
      <vt:lpstr>PowerPoint 演示文稿</vt:lpstr>
      <vt:lpstr>DISCUSSION</vt:lpstr>
      <vt:lpstr>PowerPoint 演示文稿</vt:lpstr>
      <vt:lpstr>PowerPoint 演示文稿</vt:lpstr>
      <vt:lpstr>CONCLUSION</vt:lpstr>
      <vt:lpstr>REFERENCE</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FUNCTIONAL OUTCOME OF TALUS FRACTURES MANAGED BY OPEN REDUCTION AND INTERNAL FIXATION WITH CANNULATED CANCELOUS SCREW</dc:title>
  <dc:creator>kaffil shariff</dc:creator>
  <cp:lastModifiedBy>ram koushik</cp:lastModifiedBy>
  <cp:revision>24</cp:revision>
  <dcterms:created xsi:type="dcterms:W3CDTF">2024-01-15T15:20:00Z</dcterms:created>
  <dcterms:modified xsi:type="dcterms:W3CDTF">2026-01-29T18:06:34Z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3FBDEE2225514377949668AB8369E61B_12</vt:lpwstr>
  </property>
  <property fmtid="{D5CDD505-2E9C-101B-9397-08002B2CF9AE}" pid="3" name="KSOProductBuildVer">
    <vt:lpwstr>1033-12.2.0.23196</vt:lpwstr>
  </property>
</Properties>
</file>