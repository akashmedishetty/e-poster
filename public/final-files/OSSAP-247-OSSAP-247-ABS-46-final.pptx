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6" r:id="rId2"/>
  </p:sldIdLst>
  <p:sldSz cx="32918400" cy="43891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28" autoAdjust="0"/>
    <p:restoredTop sz="94664"/>
  </p:normalViewPr>
  <p:slideViewPr>
    <p:cSldViewPr snapToGrid="0">
      <p:cViewPr>
        <p:scale>
          <a:sx n="37" d="100"/>
          <a:sy n="37" d="100"/>
        </p:scale>
        <p:origin x="-480" y="-49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0F5DA3-7DA1-8149-AFA1-F418C657354E}" type="datetimeFigureOut">
              <a:rPr lang="en-US" smtClean="0"/>
              <a:t>1/28/26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D8B84E-82A2-254C-995E-D2ACD08B5820}" type="slidenum">
              <a:rPr lang="en-US" smtClean="0"/>
              <a:t>‹#›</a:t>
            </a:fld>
            <a:endParaRPr lang="en-US"/>
          </a:p>
        </p:txBody>
      </p:sp>
    </p:spTree>
    <p:extLst>
      <p:ext uri="{BB962C8B-B14F-4D97-AF65-F5344CB8AC3E}">
        <p14:creationId xmlns:p14="http://schemas.microsoft.com/office/powerpoint/2010/main" val="1061523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D8B84E-82A2-254C-995E-D2ACD08B5820}" type="slidenum">
              <a:rPr lang="en-US" smtClean="0"/>
              <a:t>1</a:t>
            </a:fld>
            <a:endParaRPr lang="en-US"/>
          </a:p>
        </p:txBody>
      </p:sp>
    </p:spTree>
    <p:extLst>
      <p:ext uri="{BB962C8B-B14F-4D97-AF65-F5344CB8AC3E}">
        <p14:creationId xmlns:p14="http://schemas.microsoft.com/office/powerpoint/2010/main" val="1901641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7183123"/>
            <a:ext cx="27980640" cy="15280640"/>
          </a:xfrm>
        </p:spPr>
        <p:txBody>
          <a:bodyPr anchor="b"/>
          <a:lstStyle>
            <a:lvl1pPr algn="ctr">
              <a:defRPr sz="21600"/>
            </a:lvl1pPr>
          </a:lstStyle>
          <a:p>
            <a:r>
              <a:rPr lang="en-US"/>
              <a:t>Click to edit Master title style</a:t>
            </a:r>
            <a:endParaRPr lang="en-US" dirty="0"/>
          </a:p>
        </p:txBody>
      </p:sp>
      <p:sp>
        <p:nvSpPr>
          <p:cNvPr id="3" name="Subtitle 2"/>
          <p:cNvSpPr>
            <a:spLocks noGrp="1"/>
          </p:cNvSpPr>
          <p:nvPr>
            <p:ph type="subTitle" idx="1"/>
          </p:nvPr>
        </p:nvSpPr>
        <p:spPr>
          <a:xfrm>
            <a:off x="4114800" y="23053043"/>
            <a:ext cx="24688800" cy="10596877"/>
          </a:xfrm>
        </p:spPr>
        <p:txBody>
          <a:bodyPr/>
          <a:lstStyle>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EBB9BF-81C3-400E-9530-667D9EF39D8B}" type="datetimeFigureOut">
              <a:rPr lang="en-IN" smtClean="0"/>
              <a:t>28/01/26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2792342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EBB9BF-81C3-400E-9530-667D9EF39D8B}" type="datetimeFigureOut">
              <a:rPr lang="en-IN" smtClean="0"/>
              <a:t>28/01/26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316489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10942333"/>
            <a:ext cx="28392120" cy="18257517"/>
          </a:xfrm>
        </p:spPr>
        <p:txBody>
          <a:bodyPr anchor="b"/>
          <a:lstStyle>
            <a:lvl1pPr>
              <a:defRPr sz="21600"/>
            </a:lvl1pPr>
          </a:lstStyle>
          <a:p>
            <a:r>
              <a:rPr lang="en-US"/>
              <a:t>Click to edit Master title style</a:t>
            </a:r>
            <a:endParaRPr lang="en-US" dirty="0"/>
          </a:p>
        </p:txBody>
      </p:sp>
      <p:sp>
        <p:nvSpPr>
          <p:cNvPr id="3" name="Text Placeholder 2"/>
          <p:cNvSpPr>
            <a:spLocks noGrp="1"/>
          </p:cNvSpPr>
          <p:nvPr>
            <p:ph type="body" idx="1"/>
          </p:nvPr>
        </p:nvSpPr>
        <p:spPr>
          <a:xfrm>
            <a:off x="2245997" y="29372573"/>
            <a:ext cx="28392120" cy="9601197"/>
          </a:xfrm>
        </p:spPr>
        <p:txBody>
          <a:bodyPr/>
          <a:lstStyle>
            <a:lvl1pPr marL="0" indent="0">
              <a:buNone/>
              <a:defRPr sz="8640">
                <a:solidFill>
                  <a:schemeClr val="tx1"/>
                </a:solidFill>
              </a:defRPr>
            </a:lvl1pPr>
            <a:lvl2pPr marL="1645920" indent="0">
              <a:buNone/>
              <a:defRPr sz="7200">
                <a:solidFill>
                  <a:schemeClr val="tx1">
                    <a:tint val="75000"/>
                  </a:schemeClr>
                </a:solidFill>
              </a:defRPr>
            </a:lvl2pPr>
            <a:lvl3pPr marL="3291840" indent="0">
              <a:buNone/>
              <a:defRPr sz="6480">
                <a:solidFill>
                  <a:schemeClr val="tx1">
                    <a:tint val="75000"/>
                  </a:schemeClr>
                </a:solidFill>
              </a:defRPr>
            </a:lvl3pPr>
            <a:lvl4pPr marL="4937760" indent="0">
              <a:buNone/>
              <a:defRPr sz="5760">
                <a:solidFill>
                  <a:schemeClr val="tx1">
                    <a:tint val="75000"/>
                  </a:schemeClr>
                </a:solidFill>
              </a:defRPr>
            </a:lvl4pPr>
            <a:lvl5pPr marL="6583680" indent="0">
              <a:buNone/>
              <a:defRPr sz="5760">
                <a:solidFill>
                  <a:schemeClr val="tx1">
                    <a:tint val="75000"/>
                  </a:schemeClr>
                </a:solidFill>
              </a:defRPr>
            </a:lvl5pPr>
            <a:lvl6pPr marL="8229600" indent="0">
              <a:buNone/>
              <a:defRPr sz="5760">
                <a:solidFill>
                  <a:schemeClr val="tx1">
                    <a:tint val="75000"/>
                  </a:schemeClr>
                </a:solidFill>
              </a:defRPr>
            </a:lvl6pPr>
            <a:lvl7pPr marL="9875520" indent="0">
              <a:buNone/>
              <a:defRPr sz="5760">
                <a:solidFill>
                  <a:schemeClr val="tx1">
                    <a:tint val="75000"/>
                  </a:schemeClr>
                </a:solidFill>
              </a:defRPr>
            </a:lvl7pPr>
            <a:lvl8pPr marL="11521440" indent="0">
              <a:buNone/>
              <a:defRPr sz="5760">
                <a:solidFill>
                  <a:schemeClr val="tx1">
                    <a:tint val="75000"/>
                  </a:schemeClr>
                </a:solidFill>
              </a:defRPr>
            </a:lvl8pPr>
            <a:lvl9pPr marL="13167360" indent="0">
              <a:buNone/>
              <a:defRPr sz="5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EBB9BF-81C3-400E-9530-667D9EF39D8B}" type="datetimeFigureOut">
              <a:rPr lang="en-IN" smtClean="0"/>
              <a:t>28/01/26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2199502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11684000"/>
            <a:ext cx="1399032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664940" y="11684000"/>
            <a:ext cx="1399032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EBB9BF-81C3-400E-9530-667D9EF39D8B}" type="datetimeFigureOut">
              <a:rPr lang="en-IN" smtClean="0"/>
              <a:t>28/01/26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4114752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336810"/>
            <a:ext cx="28392120" cy="848360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10759443"/>
            <a:ext cx="13926024"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4" name="Content Placeholder 3"/>
          <p:cNvSpPr>
            <a:spLocks noGrp="1"/>
          </p:cNvSpPr>
          <p:nvPr>
            <p:ph sz="half" idx="2"/>
          </p:nvPr>
        </p:nvSpPr>
        <p:spPr>
          <a:xfrm>
            <a:off x="2267431" y="16032480"/>
            <a:ext cx="13926024"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664942" y="10759443"/>
            <a:ext cx="13994608"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6" name="Content Placeholder 5"/>
          <p:cNvSpPr>
            <a:spLocks noGrp="1"/>
          </p:cNvSpPr>
          <p:nvPr>
            <p:ph sz="quarter" idx="4"/>
          </p:nvPr>
        </p:nvSpPr>
        <p:spPr>
          <a:xfrm>
            <a:off x="16664942" y="16032480"/>
            <a:ext cx="13994608"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EBB9BF-81C3-400E-9530-667D9EF39D8B}" type="datetimeFigureOut">
              <a:rPr lang="en-IN" smtClean="0"/>
              <a:t>28/01/26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828818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EBB9BF-81C3-400E-9530-667D9EF39D8B}" type="datetimeFigureOut">
              <a:rPr lang="en-IN" smtClean="0"/>
              <a:t>28/01/26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400209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EBB9BF-81C3-400E-9530-667D9EF39D8B}" type="datetimeFigureOut">
              <a:rPr lang="en-IN" smtClean="0"/>
              <a:t>28/01/26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3508199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endParaRPr lang="en-US" dirty="0"/>
          </a:p>
        </p:txBody>
      </p:sp>
      <p:sp>
        <p:nvSpPr>
          <p:cNvPr id="3" name="Content Placeholder 2"/>
          <p:cNvSpPr>
            <a:spLocks noGrp="1"/>
          </p:cNvSpPr>
          <p:nvPr>
            <p:ph idx="1"/>
          </p:nvPr>
        </p:nvSpPr>
        <p:spPr>
          <a:xfrm>
            <a:off x="13994608" y="6319530"/>
            <a:ext cx="16664940" cy="31191200"/>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A0EBB9BF-81C3-400E-9530-667D9EF39D8B}" type="datetimeFigureOut">
              <a:rPr lang="en-IN" smtClean="0"/>
              <a:t>28/01/26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440359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6319530"/>
            <a:ext cx="16664940" cy="31191200"/>
          </a:xfrm>
        </p:spPr>
        <p:txBody>
          <a:bodyPr anchor="t"/>
          <a:lstStyle>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a:r>
              <a:rPr lang="en-US"/>
              <a:t>Click icon to add picture</a:t>
            </a:r>
            <a:endParaRPr lang="en-US" dirty="0"/>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A0EBB9BF-81C3-400E-9530-667D9EF39D8B}" type="datetimeFigureOut">
              <a:rPr lang="en-IN" smtClean="0"/>
              <a:t>28/01/26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3170475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EBB9BF-81C3-400E-9530-667D9EF39D8B}" type="datetimeFigureOut">
              <a:rPr lang="en-IN" smtClean="0"/>
              <a:t>28/01/26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1295532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2336800"/>
            <a:ext cx="7098030" cy="3719576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2336800"/>
            <a:ext cx="20882610" cy="37195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EBB9BF-81C3-400E-9530-667D9EF39D8B}" type="datetimeFigureOut">
              <a:rPr lang="en-IN" smtClean="0"/>
              <a:t>28/01/26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884481-57DA-4ECD-BB2B-B1F153A8CF8C}" type="slidenum">
              <a:rPr lang="en-IN" smtClean="0"/>
              <a:t>‹#›</a:t>
            </a:fld>
            <a:endParaRPr lang="en-IN"/>
          </a:p>
        </p:txBody>
      </p:sp>
    </p:spTree>
    <p:extLst>
      <p:ext uri="{BB962C8B-B14F-4D97-AF65-F5344CB8AC3E}">
        <p14:creationId xmlns:p14="http://schemas.microsoft.com/office/powerpoint/2010/main" val="3073748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2336810"/>
            <a:ext cx="28392120" cy="848360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11684000"/>
            <a:ext cx="28392120" cy="27848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63140" y="40680650"/>
            <a:ext cx="7406640" cy="2336800"/>
          </a:xfrm>
          <a:prstGeom prst="rect">
            <a:avLst/>
          </a:prstGeom>
        </p:spPr>
        <p:txBody>
          <a:bodyPr vert="horz" lIns="91440" tIns="45720" rIns="91440" bIns="45720" rtlCol="0" anchor="ctr"/>
          <a:lstStyle>
            <a:lvl1pPr algn="l">
              <a:defRPr sz="4320">
                <a:solidFill>
                  <a:schemeClr val="tx1">
                    <a:tint val="75000"/>
                  </a:schemeClr>
                </a:solidFill>
              </a:defRPr>
            </a:lvl1pPr>
          </a:lstStyle>
          <a:p>
            <a:fld id="{A0EBB9BF-81C3-400E-9530-667D9EF39D8B}" type="datetimeFigureOut">
              <a:rPr lang="en-IN" smtClean="0"/>
              <a:t>28/01/26</a:t>
            </a:fld>
            <a:endParaRPr lang="en-IN"/>
          </a:p>
        </p:txBody>
      </p:sp>
      <p:sp>
        <p:nvSpPr>
          <p:cNvPr id="5" name="Footer Placeholder 4"/>
          <p:cNvSpPr>
            <a:spLocks noGrp="1"/>
          </p:cNvSpPr>
          <p:nvPr>
            <p:ph type="ftr" sz="quarter" idx="3"/>
          </p:nvPr>
        </p:nvSpPr>
        <p:spPr>
          <a:xfrm>
            <a:off x="10904220" y="40680650"/>
            <a:ext cx="11109960" cy="2336800"/>
          </a:xfrm>
          <a:prstGeom prst="rect">
            <a:avLst/>
          </a:prstGeom>
        </p:spPr>
        <p:txBody>
          <a:bodyPr vert="horz" lIns="91440" tIns="45720" rIns="91440" bIns="45720" rtlCol="0" anchor="ctr"/>
          <a:lstStyle>
            <a:lvl1pPr algn="ctr">
              <a:defRPr sz="432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23248620" y="40680650"/>
            <a:ext cx="7406640" cy="2336800"/>
          </a:xfrm>
          <a:prstGeom prst="rect">
            <a:avLst/>
          </a:prstGeom>
        </p:spPr>
        <p:txBody>
          <a:bodyPr vert="horz" lIns="91440" tIns="45720" rIns="91440" bIns="45720" rtlCol="0" anchor="ctr"/>
          <a:lstStyle>
            <a:lvl1pPr algn="r">
              <a:defRPr sz="4320">
                <a:solidFill>
                  <a:schemeClr val="tx1">
                    <a:tint val="75000"/>
                  </a:schemeClr>
                </a:solidFill>
              </a:defRPr>
            </a:lvl1pPr>
          </a:lstStyle>
          <a:p>
            <a:fld id="{D0884481-57DA-4ECD-BB2B-B1F153A8CF8C}" type="slidenum">
              <a:rPr lang="en-IN" smtClean="0"/>
              <a:t>‹#›</a:t>
            </a:fld>
            <a:endParaRPr lang="en-IN"/>
          </a:p>
        </p:txBody>
      </p:sp>
    </p:spTree>
    <p:extLst>
      <p:ext uri="{BB962C8B-B14F-4D97-AF65-F5344CB8AC3E}">
        <p14:creationId xmlns:p14="http://schemas.microsoft.com/office/powerpoint/2010/main" val="21326879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jpeg"/><Relationship Id="rId13" Type="http://schemas.openxmlformats.org/officeDocument/2006/relationships/image" Target="../media/image10.jpeg"/><Relationship Id="rId3" Type="http://schemas.openxmlformats.org/officeDocument/2006/relationships/image" Target="../media/image1.png"/><Relationship Id="rId7" Type="http://schemas.openxmlformats.org/officeDocument/2006/relationships/image" Target="../media/image4.png"/><Relationship Id="rId12" Type="http://schemas.openxmlformats.org/officeDocument/2006/relationships/image" Target="../media/image9.jpeg"/><Relationship Id="rId2" Type="http://schemas.openxmlformats.org/officeDocument/2006/relationships/notesSlide" Target="../notesSlides/notesSlide1.xml"/><Relationship Id="rId16" Type="http://schemas.openxmlformats.org/officeDocument/2006/relationships/image" Target="../media/image13.jpeg"/><Relationship Id="rId1" Type="http://schemas.openxmlformats.org/officeDocument/2006/relationships/slideLayout" Target="../slideLayouts/slideLayout1.xml"/><Relationship Id="rId6" Type="http://schemas.microsoft.com/office/2007/relationships/hdphoto" Target="../media/hdphoto1.wdp"/><Relationship Id="rId11" Type="http://schemas.openxmlformats.org/officeDocument/2006/relationships/image" Target="../media/image8.jpeg"/><Relationship Id="rId5" Type="http://schemas.openxmlformats.org/officeDocument/2006/relationships/image" Target="../media/image3.png"/><Relationship Id="rId15" Type="http://schemas.openxmlformats.org/officeDocument/2006/relationships/image" Target="../media/image12.jpeg"/><Relationship Id="rId10" Type="http://schemas.openxmlformats.org/officeDocument/2006/relationships/image" Target="../media/image7.jpeg"/><Relationship Id="rId4" Type="http://schemas.openxmlformats.org/officeDocument/2006/relationships/image" Target="../media/image2.png"/><Relationship Id="rId9" Type="http://schemas.openxmlformats.org/officeDocument/2006/relationships/image" Target="../media/image6.jpeg"/><Relationship Id="rId14"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70;p1">
            <a:extLst>
              <a:ext uri="{FF2B5EF4-FFF2-40B4-BE49-F238E27FC236}">
                <a16:creationId xmlns:a16="http://schemas.microsoft.com/office/drawing/2014/main" id="{7F096925-8E14-2B28-C4B9-50762487E8E9}"/>
              </a:ext>
            </a:extLst>
          </p:cNvPr>
          <p:cNvSpPr/>
          <p:nvPr/>
        </p:nvSpPr>
        <p:spPr>
          <a:xfrm>
            <a:off x="-20654" y="-149990"/>
            <a:ext cx="32862652" cy="8114224"/>
          </a:xfrm>
          <a:prstGeom prst="rect">
            <a:avLst/>
          </a:prstGeom>
          <a:solidFill>
            <a:srgbClr val="01234D"/>
          </a:solidFill>
          <a:ln w="19050" cap="flat" cmpd="sng">
            <a:solidFill>
              <a:srgbClr val="525755"/>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endParaRPr sz="1800" dirty="0">
              <a:solidFill>
                <a:schemeClr val="lt1"/>
              </a:solidFill>
              <a:latin typeface="Times New Roman" panose="02020603050405020304" pitchFamily="18" charset="0"/>
              <a:ea typeface="Arial"/>
              <a:cs typeface="Times New Roman" panose="02020603050405020304" pitchFamily="18" charset="0"/>
              <a:sym typeface="Arial"/>
            </a:endParaRPr>
          </a:p>
        </p:txBody>
      </p:sp>
      <p:sp>
        <p:nvSpPr>
          <p:cNvPr id="5" name="Google Shape;174;p1">
            <a:extLst>
              <a:ext uri="{FF2B5EF4-FFF2-40B4-BE49-F238E27FC236}">
                <a16:creationId xmlns:a16="http://schemas.microsoft.com/office/drawing/2014/main" id="{1809CFC8-C9DD-7E63-AB9C-AABC41FA1757}"/>
              </a:ext>
            </a:extLst>
          </p:cNvPr>
          <p:cNvSpPr/>
          <p:nvPr/>
        </p:nvSpPr>
        <p:spPr>
          <a:xfrm>
            <a:off x="0" y="556590"/>
            <a:ext cx="5605671" cy="5406887"/>
          </a:xfrm>
          <a:custGeom>
            <a:avLst/>
            <a:gdLst/>
            <a:ahLst/>
            <a:cxnLst/>
            <a:rect l="l" t="t" r="r" b="b"/>
            <a:pathLst>
              <a:path w="2254612" h="1957865" extrusionOk="0">
                <a:moveTo>
                  <a:pt x="0" y="0"/>
                </a:moveTo>
                <a:lnTo>
                  <a:pt x="2254612" y="0"/>
                </a:lnTo>
                <a:lnTo>
                  <a:pt x="2254612" y="1957865"/>
                </a:lnTo>
                <a:lnTo>
                  <a:pt x="0" y="1957865"/>
                </a:lnTo>
                <a:lnTo>
                  <a:pt x="0" y="0"/>
                </a:lnTo>
                <a:close/>
              </a:path>
            </a:pathLst>
          </a:custGeom>
          <a:blipFill rotWithShape="1">
            <a:blip r:embed="rId3">
              <a:alphaModFix/>
            </a:blip>
            <a:stretch>
              <a:fillRect t="-9939" r="-4889" b="-10849"/>
            </a:stretch>
          </a:blipFill>
          <a:ln>
            <a:noFill/>
          </a:ln>
        </p:spPr>
        <p:txBody>
          <a:bodyPr spcFirstLastPara="1" wrap="square" lIns="91425" tIns="45700" rIns="91425" bIns="45700" anchor="t"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l" rtl="0">
              <a:spcBef>
                <a:spcPts val="0"/>
              </a:spcBef>
              <a:spcAft>
                <a:spcPts val="0"/>
              </a:spcAft>
              <a:buClr>
                <a:schemeClr val="dk1"/>
              </a:buClr>
              <a:buSzPts val="1800"/>
              <a:buFont typeface="Arial"/>
              <a:buNone/>
            </a:pPr>
            <a:endParaRPr sz="1800">
              <a:solidFill>
                <a:schemeClr val="dk1"/>
              </a:solidFill>
              <a:latin typeface="Times New Roman" panose="02020603050405020304" pitchFamily="18" charset="0"/>
              <a:ea typeface="Arial"/>
              <a:cs typeface="Times New Roman" panose="02020603050405020304" pitchFamily="18" charset="0"/>
              <a:sym typeface="Arial"/>
            </a:endParaRPr>
          </a:p>
        </p:txBody>
      </p:sp>
      <p:pic>
        <p:nvPicPr>
          <p:cNvPr id="6" name="Google Shape;171;p1">
            <a:extLst>
              <a:ext uri="{FF2B5EF4-FFF2-40B4-BE49-F238E27FC236}">
                <a16:creationId xmlns:a16="http://schemas.microsoft.com/office/drawing/2014/main" id="{C1BD0457-DFC6-BE13-FDC9-6C668C2F4F70}"/>
              </a:ext>
            </a:extLst>
          </p:cNvPr>
          <p:cNvPicPr preferRelativeResize="0"/>
          <p:nvPr/>
        </p:nvPicPr>
        <p:blipFill rotWithShape="1">
          <a:blip r:embed="rId4">
            <a:alphaModFix/>
          </a:blip>
          <a:srcRect/>
          <a:stretch/>
        </p:blipFill>
        <p:spPr>
          <a:xfrm>
            <a:off x="26459592" y="140630"/>
            <a:ext cx="4350206" cy="2025555"/>
          </a:xfrm>
          <a:prstGeom prst="rect">
            <a:avLst/>
          </a:prstGeom>
          <a:noFill/>
          <a:ln>
            <a:noFill/>
          </a:ln>
        </p:spPr>
      </p:pic>
      <p:pic>
        <p:nvPicPr>
          <p:cNvPr id="8" name="Picture 7">
            <a:extLst>
              <a:ext uri="{FF2B5EF4-FFF2-40B4-BE49-F238E27FC236}">
                <a16:creationId xmlns:a16="http://schemas.microsoft.com/office/drawing/2014/main" id="{EB066290-1C8E-15CB-51E2-07D1EE9CD2C7}"/>
              </a:ext>
            </a:extLst>
          </p:cNvPr>
          <p:cNvPicPr>
            <a:picLocks noChangeAspect="1"/>
          </p:cNvPicPr>
          <p:nvPr/>
        </p:nvPicPr>
        <p:blipFill>
          <a:blip r:embed="rId5">
            <a:extLst>
              <a:ext uri="{BEBA8EAE-BF5A-486C-A8C5-ECC9F3942E4B}">
                <a14:imgProps xmlns:a14="http://schemas.microsoft.com/office/drawing/2010/main">
                  <a14:imgLayer r:embed="rId6">
                    <a14:imgEffect>
                      <a14:saturation sat="101000"/>
                    </a14:imgEffect>
                  </a14:imgLayer>
                </a14:imgProps>
              </a:ext>
              <a:ext uri="{28A0092B-C50C-407E-A947-70E740481C1C}">
                <a14:useLocalDpi xmlns:a14="http://schemas.microsoft.com/office/drawing/2010/main" val="0"/>
              </a:ext>
            </a:extLst>
          </a:blip>
          <a:stretch>
            <a:fillRect/>
          </a:stretch>
        </p:blipFill>
        <p:spPr>
          <a:xfrm>
            <a:off x="26663943" y="3079932"/>
            <a:ext cx="2362530" cy="2867425"/>
          </a:xfrm>
          <a:prstGeom prst="rect">
            <a:avLst/>
          </a:prstGeom>
        </p:spPr>
      </p:pic>
      <p:pic>
        <p:nvPicPr>
          <p:cNvPr id="9" name="Google Shape;172;p1">
            <a:extLst>
              <a:ext uri="{FF2B5EF4-FFF2-40B4-BE49-F238E27FC236}">
                <a16:creationId xmlns:a16="http://schemas.microsoft.com/office/drawing/2014/main" id="{D477A907-CCDA-F301-1069-1406A2D4810E}"/>
              </a:ext>
            </a:extLst>
          </p:cNvPr>
          <p:cNvPicPr preferRelativeResize="0"/>
          <p:nvPr/>
        </p:nvPicPr>
        <p:blipFill rotWithShape="1">
          <a:blip r:embed="rId7">
            <a:alphaModFix/>
          </a:blip>
          <a:srcRect/>
          <a:stretch/>
        </p:blipFill>
        <p:spPr>
          <a:xfrm>
            <a:off x="29074906" y="2840311"/>
            <a:ext cx="3992097" cy="3552195"/>
          </a:xfrm>
          <a:prstGeom prst="rect">
            <a:avLst/>
          </a:prstGeom>
          <a:noFill/>
          <a:ln>
            <a:noFill/>
          </a:ln>
        </p:spPr>
      </p:pic>
      <p:sp>
        <p:nvSpPr>
          <p:cNvPr id="10" name="Google Shape;185;p1">
            <a:extLst>
              <a:ext uri="{FF2B5EF4-FFF2-40B4-BE49-F238E27FC236}">
                <a16:creationId xmlns:a16="http://schemas.microsoft.com/office/drawing/2014/main" id="{5389D1AE-3E63-EBCF-E9A3-77B4BCB6DA87}"/>
              </a:ext>
            </a:extLst>
          </p:cNvPr>
          <p:cNvSpPr txBox="1"/>
          <p:nvPr/>
        </p:nvSpPr>
        <p:spPr>
          <a:xfrm>
            <a:off x="5373703" y="505650"/>
            <a:ext cx="20381950" cy="3416279"/>
          </a:xfrm>
          <a:prstGeom prst="rect">
            <a:avLst/>
          </a:prstGeom>
          <a:noFill/>
          <a:ln>
            <a:noFill/>
          </a:ln>
        </p:spPr>
        <p:txBody>
          <a:bodyPr spcFirstLastPara="1" wrap="square" lIns="91425" tIns="45700" rIns="91425" bIns="45700" anchor="t" anchorCtr="0">
            <a:sp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lvl="0">
              <a:buClr>
                <a:schemeClr val="lt1"/>
              </a:buClr>
              <a:buSzPts val="1800"/>
            </a:pPr>
            <a:r>
              <a:rPr lang="en-US" sz="7200" b="1" dirty="0">
                <a:solidFill>
                  <a:schemeClr val="lt1"/>
                </a:solidFill>
                <a:latin typeface="Times New Roman" panose="02020603050405020304" pitchFamily="18" charset="0"/>
                <a:ea typeface="Arial"/>
                <a:cs typeface="Times New Roman" panose="02020603050405020304" pitchFamily="18" charset="0"/>
                <a:sym typeface="Arial"/>
              </a:rPr>
              <a:t>A Rare case of Functional Outcome of Scaphoid Avascular Necrosis Treated with Herbert Screw Fixation – A Clinical Study</a:t>
            </a:r>
            <a:endParaRPr sz="7200" b="1" dirty="0">
              <a:solidFill>
                <a:schemeClr val="lt1"/>
              </a:solidFill>
              <a:latin typeface="Times New Roman" panose="02020603050405020304" pitchFamily="18" charset="0"/>
              <a:ea typeface="Arial"/>
              <a:cs typeface="Times New Roman" panose="02020603050405020304" pitchFamily="18" charset="0"/>
              <a:sym typeface="Arial"/>
            </a:endParaRPr>
          </a:p>
        </p:txBody>
      </p:sp>
      <p:sp>
        <p:nvSpPr>
          <p:cNvPr id="11" name="Google Shape;186;p1">
            <a:extLst>
              <a:ext uri="{FF2B5EF4-FFF2-40B4-BE49-F238E27FC236}">
                <a16:creationId xmlns:a16="http://schemas.microsoft.com/office/drawing/2014/main" id="{384706A3-0554-C8B7-4134-98926425868B}"/>
              </a:ext>
            </a:extLst>
          </p:cNvPr>
          <p:cNvSpPr txBox="1"/>
          <p:nvPr/>
        </p:nvSpPr>
        <p:spPr>
          <a:xfrm>
            <a:off x="5333942" y="3721823"/>
            <a:ext cx="21951020" cy="1077178"/>
          </a:xfrm>
          <a:prstGeom prst="rect">
            <a:avLst/>
          </a:prstGeom>
          <a:noFill/>
          <a:ln>
            <a:noFill/>
          </a:ln>
        </p:spPr>
        <p:txBody>
          <a:bodyPr spcFirstLastPara="1" wrap="square" lIns="91425" tIns="45700" rIns="91425" bIns="45700" anchor="t" anchorCtr="0">
            <a:sp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l" rtl="0">
              <a:spcBef>
                <a:spcPts val="0"/>
              </a:spcBef>
              <a:spcAft>
                <a:spcPts val="0"/>
              </a:spcAft>
              <a:buClr>
                <a:schemeClr val="lt1"/>
              </a:buClr>
              <a:buSzPts val="1600"/>
              <a:buFont typeface="Arial"/>
              <a:buNone/>
            </a:pPr>
            <a:r>
              <a:rPr lang="en-US" sz="6400" b="1" dirty="0">
                <a:solidFill>
                  <a:schemeClr val="lt1"/>
                </a:solidFill>
                <a:latin typeface="Times New Roman" panose="02020603050405020304" pitchFamily="18" charset="0"/>
                <a:ea typeface="Arial"/>
                <a:cs typeface="Times New Roman" panose="02020603050405020304" pitchFamily="18" charset="0"/>
                <a:sym typeface="Arial"/>
              </a:rPr>
              <a:t>AUTHOR: Dr SOURAB SINGH THAKUR		</a:t>
            </a:r>
            <a:endParaRPr lang="en-IN" sz="6400" dirty="0">
              <a:solidFill>
                <a:schemeClr val="dk1"/>
              </a:solidFill>
              <a:latin typeface="Times New Roman" panose="02020603050405020304" pitchFamily="18" charset="0"/>
              <a:ea typeface="Arial"/>
              <a:cs typeface="Times New Roman" panose="02020603050405020304" pitchFamily="18" charset="0"/>
              <a:sym typeface="Arial"/>
            </a:endParaRPr>
          </a:p>
        </p:txBody>
      </p:sp>
      <p:sp>
        <p:nvSpPr>
          <p:cNvPr id="13" name="TextBox 12">
            <a:extLst>
              <a:ext uri="{FF2B5EF4-FFF2-40B4-BE49-F238E27FC236}">
                <a16:creationId xmlns:a16="http://schemas.microsoft.com/office/drawing/2014/main" id="{DE64B2F5-3B8C-3D5C-A435-07DC77E50EFA}"/>
              </a:ext>
            </a:extLst>
          </p:cNvPr>
          <p:cNvSpPr txBox="1"/>
          <p:nvPr/>
        </p:nvSpPr>
        <p:spPr>
          <a:xfrm>
            <a:off x="5338514" y="4799001"/>
            <a:ext cx="21095678" cy="1754326"/>
          </a:xfrm>
          <a:prstGeom prst="rect">
            <a:avLst/>
          </a:prstGeom>
          <a:noFill/>
        </p:spPr>
        <p:txBody>
          <a:bodyPr wrap="square" rtlCol="0">
            <a:spAutoFit/>
          </a:bodyPr>
          <a:lstStyle/>
          <a:p>
            <a:pPr lvl="0">
              <a:buClr>
                <a:schemeClr val="lt1"/>
              </a:buClr>
              <a:buSzPts val="1600"/>
            </a:pPr>
            <a:r>
              <a:rPr lang="en-US" sz="5400" b="1" dirty="0">
                <a:solidFill>
                  <a:schemeClr val="lt1"/>
                </a:solidFill>
                <a:latin typeface="Times New Roman" panose="02020603050405020304" pitchFamily="18" charset="0"/>
                <a:ea typeface="Arial"/>
                <a:cs typeface="Times New Roman" panose="02020603050405020304" pitchFamily="18" charset="0"/>
                <a:sym typeface="Arial"/>
              </a:rPr>
              <a:t>CO-AUTHORS: DR SHANHNAWAZ HUSSAIN, </a:t>
            </a:r>
          </a:p>
          <a:p>
            <a:pPr lvl="0">
              <a:buClr>
                <a:schemeClr val="lt1"/>
              </a:buClr>
              <a:buSzPts val="1600"/>
            </a:pPr>
            <a:r>
              <a:rPr lang="en-US" sz="5400" b="1" dirty="0">
                <a:solidFill>
                  <a:schemeClr val="lt1"/>
                </a:solidFill>
                <a:latin typeface="Times New Roman" panose="02020603050405020304" pitchFamily="18" charset="0"/>
                <a:ea typeface="Arial"/>
                <a:cs typeface="Times New Roman" panose="02020603050405020304" pitchFamily="18" charset="0"/>
                <a:sym typeface="Arial"/>
              </a:rPr>
              <a:t>                             DR V NAGESWARA RAO</a:t>
            </a:r>
          </a:p>
        </p:txBody>
      </p:sp>
      <p:sp>
        <p:nvSpPr>
          <p:cNvPr id="14" name="Google Shape;180;p1">
            <a:extLst>
              <a:ext uri="{FF2B5EF4-FFF2-40B4-BE49-F238E27FC236}">
                <a16:creationId xmlns:a16="http://schemas.microsoft.com/office/drawing/2014/main" id="{41643913-CD36-48D0-8DCF-31DB39C9A9E0}"/>
              </a:ext>
            </a:extLst>
          </p:cNvPr>
          <p:cNvSpPr/>
          <p:nvPr/>
        </p:nvSpPr>
        <p:spPr>
          <a:xfrm>
            <a:off x="-2" y="6912044"/>
            <a:ext cx="10706101" cy="110313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Times New Roman" panose="02020603050405020304" pitchFamily="18" charset="0"/>
                <a:ea typeface="Arial"/>
                <a:cs typeface="Times New Roman" panose="02020603050405020304" pitchFamily="18" charset="0"/>
                <a:sym typeface="Arial"/>
              </a:rPr>
              <a:t>INTRODUCTION</a:t>
            </a:r>
            <a:r>
              <a:rPr lang="en-US" sz="2800" b="1" dirty="0">
                <a:solidFill>
                  <a:schemeClr val="dk1"/>
                </a:solidFill>
                <a:latin typeface="Times New Roman" panose="02020603050405020304" pitchFamily="18" charset="0"/>
                <a:ea typeface="Arial"/>
                <a:cs typeface="Times New Roman" panose="02020603050405020304" pitchFamily="18" charset="0"/>
                <a:sym typeface="Arial"/>
              </a:rPr>
              <a:t> </a:t>
            </a:r>
            <a:endParaRPr sz="2800" dirty="0">
              <a:solidFill>
                <a:schemeClr val="dk1"/>
              </a:solidFill>
              <a:latin typeface="Times New Roman" panose="02020603050405020304" pitchFamily="18" charset="0"/>
              <a:ea typeface="Arial"/>
              <a:cs typeface="Times New Roman" panose="02020603050405020304" pitchFamily="18" charset="0"/>
              <a:sym typeface="Arial"/>
            </a:endParaRPr>
          </a:p>
        </p:txBody>
      </p:sp>
      <p:sp>
        <p:nvSpPr>
          <p:cNvPr id="15" name="TextBox 14">
            <a:extLst>
              <a:ext uri="{FF2B5EF4-FFF2-40B4-BE49-F238E27FC236}">
                <a16:creationId xmlns:a16="http://schemas.microsoft.com/office/drawing/2014/main" id="{A89DE6CB-F971-ACB8-2124-D1D2F1834505}"/>
              </a:ext>
            </a:extLst>
          </p:cNvPr>
          <p:cNvSpPr txBox="1"/>
          <p:nvPr/>
        </p:nvSpPr>
        <p:spPr>
          <a:xfrm>
            <a:off x="20652" y="8066114"/>
            <a:ext cx="10685447" cy="10295126"/>
          </a:xfrm>
          <a:prstGeom prst="rect">
            <a:avLst/>
          </a:prstGeom>
          <a:noFill/>
          <a:ln>
            <a:solidFill>
              <a:schemeClr val="tx1"/>
            </a:solidFill>
          </a:ln>
        </p:spPr>
        <p:txBody>
          <a:bodyPr wrap="square" rtlCol="0">
            <a:spAutoFit/>
          </a:bodyPr>
          <a:lstStyle/>
          <a:p>
            <a:pPr lvl="0" defTabSz="914400" eaLnBrk="0" fontAlgn="base" hangingPunct="0">
              <a:spcBef>
                <a:spcPct val="0"/>
              </a:spcBef>
              <a:spcAft>
                <a:spcPct val="0"/>
              </a:spcAft>
            </a:pPr>
            <a:r>
              <a:rPr lang="en-IN" sz="3900" dirty="0">
                <a:latin typeface="Times New Roman" panose="02020603050405020304" pitchFamily="18" charset="0"/>
                <a:cs typeface="Times New Roman" panose="02020603050405020304" pitchFamily="18" charset="0"/>
              </a:rPr>
              <a:t>Scaphoid fractures are common in young active individuals and its management is controversial in various occasions. The main treatment modalities includes scaphoid cast immobilization, percutaneous K-wire fixation, bone grafting techniques with immobilization and </a:t>
            </a:r>
            <a:r>
              <a:rPr lang="en-IN" sz="3900" dirty="0" err="1">
                <a:latin typeface="Times New Roman" panose="02020603050405020304" pitchFamily="18" charset="0"/>
                <a:cs typeface="Times New Roman" panose="02020603050405020304" pitchFamily="18" charset="0"/>
              </a:rPr>
              <a:t>herbert</a:t>
            </a:r>
            <a:r>
              <a:rPr lang="en-IN" sz="3900" dirty="0">
                <a:latin typeface="Times New Roman" panose="02020603050405020304" pitchFamily="18" charset="0"/>
                <a:cs typeface="Times New Roman" panose="02020603050405020304" pitchFamily="18" charset="0"/>
              </a:rPr>
              <a:t> screw fixation with or without bone </a:t>
            </a:r>
            <a:r>
              <a:rPr lang="en-IN" sz="3900" dirty="0" err="1">
                <a:latin typeface="Times New Roman" panose="02020603050405020304" pitchFamily="18" charset="0"/>
                <a:cs typeface="Times New Roman" panose="02020603050405020304" pitchFamily="18" charset="0"/>
              </a:rPr>
              <a:t>grafting.These</a:t>
            </a:r>
            <a:r>
              <a:rPr lang="en-IN" sz="3900" dirty="0">
                <a:latin typeface="Times New Roman" panose="02020603050405020304" pitchFamily="18" charset="0"/>
                <a:cs typeface="Times New Roman" panose="02020603050405020304" pitchFamily="18" charset="0"/>
              </a:rPr>
              <a:t> fractures frequently result in non-union, either due to treatment problems or due to failure in identifying the fracture in initial </a:t>
            </a:r>
            <a:r>
              <a:rPr lang="en-IN" sz="3900" dirty="0" err="1">
                <a:latin typeface="Times New Roman" panose="02020603050405020304" pitchFamily="18" charset="0"/>
                <a:cs typeface="Times New Roman" panose="02020603050405020304" pitchFamily="18" charset="0"/>
              </a:rPr>
              <a:t>radiographs.The</a:t>
            </a:r>
            <a:r>
              <a:rPr lang="en-IN" sz="3900" dirty="0">
                <a:latin typeface="Times New Roman" panose="02020603050405020304" pitchFamily="18" charset="0"/>
                <a:cs typeface="Times New Roman" panose="02020603050405020304" pitchFamily="18" charset="0"/>
              </a:rPr>
              <a:t> real incidents of non-union after conservative treatment of scaphoid is of 50%. The symptomatic non-union of scaphoid is really a disabling condition. Another important concern is that the majority of patients are young working class group and hence surgical intervention in this non-union case is very important especially for making them return to their jobs. </a:t>
            </a:r>
            <a:endParaRPr lang="en-US" altLang="en-US" sz="3900" dirty="0">
              <a:latin typeface="Times New Roman" panose="02020603050405020304" pitchFamily="18" charset="0"/>
              <a:cs typeface="Times New Roman" panose="02020603050405020304" pitchFamily="18" charset="0"/>
            </a:endParaRPr>
          </a:p>
        </p:txBody>
      </p:sp>
      <p:sp>
        <p:nvSpPr>
          <p:cNvPr id="16" name="Google Shape;180;p1">
            <a:extLst>
              <a:ext uri="{FF2B5EF4-FFF2-40B4-BE49-F238E27FC236}">
                <a16:creationId xmlns:a16="http://schemas.microsoft.com/office/drawing/2014/main" id="{220F6E65-60B9-DF6F-A646-D76A8B5C53CF}"/>
              </a:ext>
            </a:extLst>
          </p:cNvPr>
          <p:cNvSpPr/>
          <p:nvPr/>
        </p:nvSpPr>
        <p:spPr>
          <a:xfrm>
            <a:off x="10706099" y="6912044"/>
            <a:ext cx="12077700" cy="110313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Times New Roman" panose="02020603050405020304" pitchFamily="18" charset="0"/>
                <a:ea typeface="Arial"/>
                <a:cs typeface="Times New Roman" panose="02020603050405020304" pitchFamily="18" charset="0"/>
                <a:sym typeface="Arial"/>
              </a:rPr>
              <a:t>OPERATIVE FINDINGS</a:t>
            </a:r>
            <a:endParaRPr sz="2800" dirty="0">
              <a:solidFill>
                <a:schemeClr val="dk1"/>
              </a:solidFill>
              <a:latin typeface="Times New Roman" panose="02020603050405020304" pitchFamily="18" charset="0"/>
              <a:ea typeface="Arial"/>
              <a:cs typeface="Times New Roman" panose="02020603050405020304" pitchFamily="18" charset="0"/>
              <a:sym typeface="Arial"/>
            </a:endParaRPr>
          </a:p>
        </p:txBody>
      </p:sp>
      <p:sp>
        <p:nvSpPr>
          <p:cNvPr id="17" name="TextBox 16">
            <a:extLst>
              <a:ext uri="{FF2B5EF4-FFF2-40B4-BE49-F238E27FC236}">
                <a16:creationId xmlns:a16="http://schemas.microsoft.com/office/drawing/2014/main" id="{0DD3A80D-D47F-D6F8-995C-63F1044C564B}"/>
              </a:ext>
            </a:extLst>
          </p:cNvPr>
          <p:cNvSpPr txBox="1"/>
          <p:nvPr/>
        </p:nvSpPr>
        <p:spPr>
          <a:xfrm>
            <a:off x="10706100" y="8066114"/>
            <a:ext cx="12107827" cy="11203067"/>
          </a:xfrm>
          <a:prstGeom prst="rect">
            <a:avLst/>
          </a:prstGeom>
          <a:noFill/>
          <a:ln>
            <a:solidFill>
              <a:schemeClr val="tx1"/>
            </a:solidFill>
          </a:ln>
        </p:spPr>
        <p:txBody>
          <a:bodyPr wrap="square" rtlCol="0">
            <a:spAutoFit/>
          </a:bodyPr>
          <a:lstStyle/>
          <a:p>
            <a:pPr lvl="0" defTabSz="914400" eaLnBrk="0" fontAlgn="base" hangingPunct="0">
              <a:spcBef>
                <a:spcPct val="0"/>
              </a:spcBef>
              <a:spcAft>
                <a:spcPct val="0"/>
              </a:spcAft>
            </a:pPr>
            <a:r>
              <a:rPr lang="en-US" altLang="en-US" sz="3800" dirty="0">
                <a:latin typeface="Times New Roman" panose="02020603050405020304" pitchFamily="18" charset="0"/>
                <a:cs typeface="Times New Roman" panose="02020603050405020304" pitchFamily="18" charset="0"/>
              </a:rPr>
              <a:t>A 10 cm curved L-shaped incision was given over the volar aspect of the distal forearm extending up to the scaphoid tubercle. Skin and subcutaneous tissue were dissected and retracted. The flexor carpi radialis tendon was identified and retracted. Distally, the </a:t>
            </a:r>
            <a:r>
              <a:rPr lang="en-US" altLang="en-US" sz="3800" dirty="0" err="1">
                <a:latin typeface="Times New Roman" panose="02020603050405020304" pitchFamily="18" charset="0"/>
                <a:cs typeface="Times New Roman" panose="02020603050405020304" pitchFamily="18" charset="0"/>
              </a:rPr>
              <a:t>scaphoradial</a:t>
            </a:r>
            <a:r>
              <a:rPr lang="en-US" altLang="en-US" sz="3800" dirty="0">
                <a:latin typeface="Times New Roman" panose="02020603050405020304" pitchFamily="18" charset="0"/>
                <a:cs typeface="Times New Roman" panose="02020603050405020304" pitchFamily="18" charset="0"/>
              </a:rPr>
              <a:t> ligament was identified, incised, and reflected. Proximally, the radial artery was identified and protected. Pronator quadratus was identified and elevated to expose the distal radius. The radiocarpal joint was opened to expose the scaphoid. Intraoperatively, fibrous non-union with features suggestive of avascular necrosis was noted. The non-union site was curetted and freshened. Cancellous bone graft harvested from the distal radius was packed into the defect. A 1 mm guide K-wire was passed from distal to proximal pole under fluoroscopic guidance. The scaphoid was drilled using a 3.2 mm cannulated drill bit, and an 18 mm × 1 Herbert screw was inserted over the guidewire to achieve compression. Adequate fixation was confirmed under image intensifier. Wound was closed in layers and a thumb spica splint was applied.</a:t>
            </a:r>
          </a:p>
        </p:txBody>
      </p:sp>
      <p:sp>
        <p:nvSpPr>
          <p:cNvPr id="21" name="Google Shape;180;p1">
            <a:extLst>
              <a:ext uri="{FF2B5EF4-FFF2-40B4-BE49-F238E27FC236}">
                <a16:creationId xmlns:a16="http://schemas.microsoft.com/office/drawing/2014/main" id="{63515AA6-0C46-8EA1-62A3-03D86E5BA634}"/>
              </a:ext>
            </a:extLst>
          </p:cNvPr>
          <p:cNvSpPr/>
          <p:nvPr/>
        </p:nvSpPr>
        <p:spPr>
          <a:xfrm>
            <a:off x="20652" y="18366014"/>
            <a:ext cx="10703104" cy="110313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Times New Roman" panose="02020603050405020304" pitchFamily="18" charset="0"/>
                <a:ea typeface="Arial"/>
                <a:cs typeface="Times New Roman" panose="02020603050405020304" pitchFamily="18" charset="0"/>
                <a:sym typeface="Arial"/>
              </a:rPr>
              <a:t>CASE REPORT</a:t>
            </a:r>
            <a:endParaRPr sz="2800" dirty="0">
              <a:solidFill>
                <a:schemeClr val="dk1"/>
              </a:solidFill>
              <a:latin typeface="Times New Roman" panose="02020603050405020304" pitchFamily="18" charset="0"/>
              <a:ea typeface="Arial"/>
              <a:cs typeface="Times New Roman" panose="02020603050405020304" pitchFamily="18" charset="0"/>
              <a:sym typeface="Arial"/>
            </a:endParaRPr>
          </a:p>
        </p:txBody>
      </p:sp>
      <p:sp>
        <p:nvSpPr>
          <p:cNvPr id="30" name="Google Shape;180;p1">
            <a:extLst>
              <a:ext uri="{FF2B5EF4-FFF2-40B4-BE49-F238E27FC236}">
                <a16:creationId xmlns:a16="http://schemas.microsoft.com/office/drawing/2014/main" id="{FA064588-F9D0-A7CD-CB56-51D159F9D8C0}"/>
              </a:ext>
            </a:extLst>
          </p:cNvPr>
          <p:cNvSpPr/>
          <p:nvPr/>
        </p:nvSpPr>
        <p:spPr>
          <a:xfrm>
            <a:off x="10723756" y="30811995"/>
            <a:ext cx="11957735" cy="1268785"/>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4400" b="1" dirty="0">
                <a:solidFill>
                  <a:schemeClr val="dk1"/>
                </a:solidFill>
                <a:latin typeface="Times New Roman" panose="02020603050405020304" pitchFamily="18" charset="0"/>
                <a:ea typeface="Arial"/>
                <a:cs typeface="Times New Roman" panose="02020603050405020304" pitchFamily="18" charset="0"/>
                <a:sym typeface="Arial"/>
              </a:rPr>
              <a:t>POST-OP IMAGING</a:t>
            </a:r>
            <a:endParaRPr sz="4400" dirty="0">
              <a:solidFill>
                <a:schemeClr val="dk1"/>
              </a:solidFill>
              <a:latin typeface="Times New Roman" panose="02020603050405020304" pitchFamily="18" charset="0"/>
              <a:ea typeface="Arial"/>
              <a:cs typeface="Times New Roman" panose="02020603050405020304" pitchFamily="18" charset="0"/>
              <a:sym typeface="Arial"/>
            </a:endParaRPr>
          </a:p>
        </p:txBody>
      </p:sp>
      <p:sp>
        <p:nvSpPr>
          <p:cNvPr id="52" name="Google Shape;180;p1">
            <a:extLst>
              <a:ext uri="{FF2B5EF4-FFF2-40B4-BE49-F238E27FC236}">
                <a16:creationId xmlns:a16="http://schemas.microsoft.com/office/drawing/2014/main" id="{BB057721-8D09-D904-BCCD-1CBB785E2718}"/>
              </a:ext>
            </a:extLst>
          </p:cNvPr>
          <p:cNvSpPr/>
          <p:nvPr/>
        </p:nvSpPr>
        <p:spPr>
          <a:xfrm>
            <a:off x="22783799" y="6912044"/>
            <a:ext cx="10078853" cy="110313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Times New Roman" panose="02020603050405020304" pitchFamily="18" charset="0"/>
                <a:ea typeface="Arial"/>
                <a:cs typeface="Times New Roman" panose="02020603050405020304" pitchFamily="18" charset="0"/>
                <a:sym typeface="Arial"/>
              </a:rPr>
              <a:t>DISCUSSION</a:t>
            </a:r>
            <a:endParaRPr sz="2800" dirty="0">
              <a:solidFill>
                <a:schemeClr val="dk1"/>
              </a:solidFill>
              <a:latin typeface="Times New Roman" panose="02020603050405020304" pitchFamily="18" charset="0"/>
              <a:ea typeface="Arial"/>
              <a:cs typeface="Times New Roman" panose="02020603050405020304" pitchFamily="18" charset="0"/>
              <a:sym typeface="Arial"/>
            </a:endParaRPr>
          </a:p>
        </p:txBody>
      </p:sp>
      <p:sp>
        <p:nvSpPr>
          <p:cNvPr id="55" name="TextBox 54">
            <a:extLst>
              <a:ext uri="{FF2B5EF4-FFF2-40B4-BE49-F238E27FC236}">
                <a16:creationId xmlns:a16="http://schemas.microsoft.com/office/drawing/2014/main" id="{A84A370F-036E-1144-8504-0A42F9E68F2F}"/>
              </a:ext>
            </a:extLst>
          </p:cNvPr>
          <p:cNvSpPr txBox="1"/>
          <p:nvPr/>
        </p:nvSpPr>
        <p:spPr>
          <a:xfrm>
            <a:off x="22886952" y="8066113"/>
            <a:ext cx="9975701" cy="5632311"/>
          </a:xfrm>
          <a:prstGeom prst="rect">
            <a:avLst/>
          </a:prstGeom>
          <a:noFill/>
          <a:ln>
            <a:solidFill>
              <a:schemeClr val="tx1"/>
            </a:solidFill>
          </a:ln>
        </p:spPr>
        <p:txBody>
          <a:bodyPr wrap="square" rtlCol="0">
            <a:spAutoFit/>
          </a:bodyPr>
          <a:lstStyle/>
          <a:p>
            <a:pPr lvl="0" defTabSz="914400" eaLnBrk="0" fontAlgn="base" hangingPunct="0">
              <a:spcBef>
                <a:spcPct val="0"/>
              </a:spcBef>
              <a:spcAft>
                <a:spcPct val="0"/>
              </a:spcAft>
            </a:pPr>
            <a:r>
              <a:rPr lang="en-US" altLang="en-US" sz="4000" dirty="0">
                <a:latin typeface="Times New Roman" panose="02020603050405020304" pitchFamily="18" charset="0"/>
                <a:cs typeface="Times New Roman" panose="02020603050405020304" pitchFamily="18" charset="0"/>
              </a:rPr>
              <a:t>The scaphoid is prone to avascular necrosis due to its retrograde blood supply, particularly involving the proximal pole. Stable internal fixation with a Herbert screw provides compression at the fracture site, promotes union, and allows early rehabilitation. The outcomes observed in this study are comparable with those reported in standard literature and previous clinical studies.</a:t>
            </a:r>
          </a:p>
        </p:txBody>
      </p:sp>
      <p:sp>
        <p:nvSpPr>
          <p:cNvPr id="59" name="Google Shape;180;p1">
            <a:extLst>
              <a:ext uri="{FF2B5EF4-FFF2-40B4-BE49-F238E27FC236}">
                <a16:creationId xmlns:a16="http://schemas.microsoft.com/office/drawing/2014/main" id="{D9D7F7C4-9715-A5F2-D1B9-F09FCBF2F58E}"/>
              </a:ext>
            </a:extLst>
          </p:cNvPr>
          <p:cNvSpPr/>
          <p:nvPr/>
        </p:nvSpPr>
        <p:spPr>
          <a:xfrm>
            <a:off x="22831115" y="13829845"/>
            <a:ext cx="10096041" cy="110313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Times New Roman" panose="02020603050405020304" pitchFamily="18" charset="0"/>
                <a:ea typeface="Arial"/>
                <a:cs typeface="Times New Roman" panose="02020603050405020304" pitchFamily="18" charset="0"/>
                <a:sym typeface="Arial"/>
              </a:rPr>
              <a:t>RESULTS</a:t>
            </a:r>
            <a:endParaRPr lang="en-US" sz="2800" dirty="0">
              <a:solidFill>
                <a:schemeClr val="dk1"/>
              </a:solidFill>
              <a:latin typeface="Times New Roman" panose="02020603050405020304" pitchFamily="18" charset="0"/>
              <a:ea typeface="Arial"/>
              <a:cs typeface="Times New Roman" panose="02020603050405020304" pitchFamily="18" charset="0"/>
              <a:sym typeface="Arial"/>
            </a:endParaRPr>
          </a:p>
        </p:txBody>
      </p:sp>
      <p:sp>
        <p:nvSpPr>
          <p:cNvPr id="62" name="TextBox 61">
            <a:extLst>
              <a:ext uri="{FF2B5EF4-FFF2-40B4-BE49-F238E27FC236}">
                <a16:creationId xmlns:a16="http://schemas.microsoft.com/office/drawing/2014/main" id="{43D3C752-EB75-17D1-2E1E-1888ACD59125}"/>
              </a:ext>
            </a:extLst>
          </p:cNvPr>
          <p:cNvSpPr txBox="1"/>
          <p:nvPr/>
        </p:nvSpPr>
        <p:spPr>
          <a:xfrm>
            <a:off x="22886952" y="15046817"/>
            <a:ext cx="10048724" cy="5632311"/>
          </a:xfrm>
          <a:prstGeom prst="rect">
            <a:avLst/>
          </a:prstGeom>
          <a:noFill/>
          <a:ln>
            <a:solidFill>
              <a:schemeClr val="tx1"/>
            </a:solidFill>
          </a:ln>
        </p:spPr>
        <p:txBody>
          <a:bodyPr wrap="square" rtlCol="0">
            <a:spAutoFit/>
          </a:bodyPr>
          <a:lstStyle/>
          <a:p>
            <a:pPr defTabSz="914400" eaLnBrk="0" fontAlgn="base" hangingPunct="0">
              <a:spcBef>
                <a:spcPct val="0"/>
              </a:spcBef>
              <a:spcAft>
                <a:spcPct val="0"/>
              </a:spcAft>
            </a:pPr>
            <a:r>
              <a:rPr lang="en-US" sz="4000" dirty="0">
                <a:solidFill>
                  <a:schemeClr val="dk1"/>
                </a:solidFill>
                <a:latin typeface="Times New Roman" panose="02020603050405020304" pitchFamily="18" charset="0"/>
                <a:ea typeface="Arial"/>
                <a:cs typeface="Times New Roman" panose="02020603050405020304" pitchFamily="18" charset="0"/>
                <a:sym typeface="Arial"/>
              </a:rPr>
              <a:t>Radiological union was achieved within an average duration of 10–14 weeks. There was significant improvement in pain relief. </a:t>
            </a:r>
            <a:r>
              <a:rPr lang="en-IN" sz="4000" dirty="0">
                <a:latin typeface="Times New Roman" panose="02020603050405020304" pitchFamily="18" charset="0"/>
                <a:cs typeface="Times New Roman" panose="02020603050405020304" pitchFamily="18" charset="0"/>
              </a:rPr>
              <a:t>Wrist function was assessed by ROM and grip strength was greatly improved. </a:t>
            </a:r>
            <a:r>
              <a:rPr lang="en-US" sz="4000" dirty="0">
                <a:solidFill>
                  <a:schemeClr val="dk1"/>
                </a:solidFill>
                <a:latin typeface="Times New Roman" panose="02020603050405020304" pitchFamily="18" charset="0"/>
                <a:ea typeface="Arial"/>
                <a:cs typeface="Times New Roman" panose="02020603050405020304" pitchFamily="18" charset="0"/>
                <a:sym typeface="Arial"/>
              </a:rPr>
              <a:t>Functional assessment scores showed good to excellent outcome. Complications were minimal, with occasional cases of delayed union and no implant failure.</a:t>
            </a:r>
          </a:p>
        </p:txBody>
      </p:sp>
      <p:sp>
        <p:nvSpPr>
          <p:cNvPr id="64" name="Google Shape;180;p1">
            <a:extLst>
              <a:ext uri="{FF2B5EF4-FFF2-40B4-BE49-F238E27FC236}">
                <a16:creationId xmlns:a16="http://schemas.microsoft.com/office/drawing/2014/main" id="{3DF12F48-1FE4-CF6E-6D39-3F44088355F1}"/>
              </a:ext>
            </a:extLst>
          </p:cNvPr>
          <p:cNvSpPr/>
          <p:nvPr/>
        </p:nvSpPr>
        <p:spPr>
          <a:xfrm>
            <a:off x="22793276" y="20760458"/>
            <a:ext cx="10048723" cy="110313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Times New Roman" panose="02020603050405020304" pitchFamily="18" charset="0"/>
                <a:ea typeface="Arial"/>
                <a:cs typeface="Times New Roman" panose="02020603050405020304" pitchFamily="18" charset="0"/>
                <a:sym typeface="Arial"/>
              </a:rPr>
              <a:t>TAKE HOME MESSAGE</a:t>
            </a:r>
            <a:endParaRPr lang="en-US" sz="2800" dirty="0">
              <a:solidFill>
                <a:schemeClr val="dk1"/>
              </a:solidFill>
              <a:latin typeface="Times New Roman" panose="02020603050405020304" pitchFamily="18" charset="0"/>
              <a:ea typeface="Arial"/>
              <a:cs typeface="Times New Roman" panose="02020603050405020304" pitchFamily="18" charset="0"/>
              <a:sym typeface="Arial"/>
            </a:endParaRPr>
          </a:p>
        </p:txBody>
      </p:sp>
      <p:sp>
        <p:nvSpPr>
          <p:cNvPr id="65" name="TextBox 64">
            <a:extLst>
              <a:ext uri="{FF2B5EF4-FFF2-40B4-BE49-F238E27FC236}">
                <a16:creationId xmlns:a16="http://schemas.microsoft.com/office/drawing/2014/main" id="{452077E3-5657-1998-879E-2A1CE9C742DF}"/>
              </a:ext>
            </a:extLst>
          </p:cNvPr>
          <p:cNvSpPr txBox="1"/>
          <p:nvPr/>
        </p:nvSpPr>
        <p:spPr>
          <a:xfrm>
            <a:off x="22851767" y="21870788"/>
            <a:ext cx="10028072" cy="6247864"/>
          </a:xfrm>
          <a:prstGeom prst="rect">
            <a:avLst/>
          </a:prstGeom>
          <a:noFill/>
          <a:ln>
            <a:solidFill>
              <a:schemeClr val="tx1"/>
            </a:solidFill>
          </a:ln>
        </p:spPr>
        <p:txBody>
          <a:bodyPr wrap="square" rtlCol="0">
            <a:spAutoFit/>
          </a:bodyPr>
          <a:lstStyle/>
          <a:p>
            <a:pPr lvl="0" defTabSz="914400" eaLnBrk="0" fontAlgn="base" hangingPunct="0">
              <a:spcBef>
                <a:spcPct val="0"/>
              </a:spcBef>
              <a:spcAft>
                <a:spcPct val="0"/>
              </a:spcAft>
              <a:buFontTx/>
              <a:buChar char="•"/>
            </a:pPr>
            <a:r>
              <a:rPr lang="en-US" altLang="en-US" sz="4000" b="1" dirty="0">
                <a:solidFill>
                  <a:srgbClr val="000000"/>
                </a:solidFill>
                <a:latin typeface="Times New Roman" panose="02020603050405020304" pitchFamily="18" charset="0"/>
                <a:cs typeface="Times New Roman" panose="02020603050405020304" pitchFamily="18" charset="0"/>
              </a:rPr>
              <a:t>Early diagnosis is crucial</a:t>
            </a:r>
            <a:r>
              <a:rPr lang="en-US" altLang="en-US" sz="4000" dirty="0">
                <a:solidFill>
                  <a:srgbClr val="000000"/>
                </a:solidFill>
                <a:latin typeface="Times New Roman" panose="02020603050405020304" pitchFamily="18" charset="0"/>
                <a:cs typeface="Times New Roman" panose="02020603050405020304" pitchFamily="18" charset="0"/>
              </a:rPr>
              <a:t>—scaphoid fractures have a high risk of non‑union and avascular necrosis due to their retrograde blood supply.</a:t>
            </a:r>
          </a:p>
          <a:p>
            <a:pPr lvl="0" defTabSz="914400" eaLnBrk="0" fontAlgn="base" hangingPunct="0">
              <a:spcBef>
                <a:spcPct val="0"/>
              </a:spcBef>
              <a:spcAft>
                <a:spcPct val="0"/>
              </a:spcAft>
              <a:buFontTx/>
              <a:buChar char="•"/>
            </a:pPr>
            <a:r>
              <a:rPr lang="en-US" altLang="en-US" sz="4000" b="1" dirty="0">
                <a:solidFill>
                  <a:srgbClr val="000000"/>
                </a:solidFill>
                <a:latin typeface="Times New Roman" panose="02020603050405020304" pitchFamily="18" charset="0"/>
                <a:cs typeface="Times New Roman" panose="02020603050405020304" pitchFamily="18" charset="0"/>
              </a:rPr>
              <a:t>Herbert screw fixation with bone grafting</a:t>
            </a:r>
            <a:r>
              <a:rPr lang="en-US" altLang="en-US" sz="4000" dirty="0">
                <a:solidFill>
                  <a:srgbClr val="000000"/>
                </a:solidFill>
                <a:latin typeface="Times New Roman" panose="02020603050405020304" pitchFamily="18" charset="0"/>
                <a:cs typeface="Times New Roman" panose="02020603050405020304" pitchFamily="18" charset="0"/>
              </a:rPr>
              <a:t> provides stable compression, promotes vascular ingrowth, and supports reliable union.</a:t>
            </a:r>
          </a:p>
          <a:p>
            <a:pPr lvl="0" defTabSz="914400" eaLnBrk="0" fontAlgn="base" hangingPunct="0">
              <a:spcBef>
                <a:spcPct val="0"/>
              </a:spcBef>
              <a:spcAft>
                <a:spcPct val="0"/>
              </a:spcAft>
              <a:buFontTx/>
              <a:buChar char="•"/>
            </a:pPr>
            <a:r>
              <a:rPr lang="en-US" altLang="en-US" sz="4000" b="1" dirty="0">
                <a:solidFill>
                  <a:srgbClr val="000000"/>
                </a:solidFill>
                <a:latin typeface="Times New Roman" panose="02020603050405020304" pitchFamily="18" charset="0"/>
                <a:cs typeface="Times New Roman" panose="02020603050405020304" pitchFamily="18" charset="0"/>
              </a:rPr>
              <a:t>High union rates (10–14 weeks) and good functional outcomes</a:t>
            </a:r>
            <a:r>
              <a:rPr lang="en-US" altLang="en-US" sz="4000" dirty="0">
                <a:solidFill>
                  <a:srgbClr val="000000"/>
                </a:solidFill>
                <a:latin typeface="Times New Roman" panose="02020603050405020304" pitchFamily="18" charset="0"/>
                <a:cs typeface="Times New Roman" panose="02020603050405020304" pitchFamily="18" charset="0"/>
              </a:rPr>
              <a:t> can be achieved when surgery is performed in appropriately selected patients.</a:t>
            </a:r>
            <a:endParaRPr lang="en-US" altLang="en-US" sz="4000" dirty="0">
              <a:latin typeface="Times New Roman" panose="02020603050405020304" pitchFamily="18" charset="0"/>
              <a:cs typeface="Times New Roman" panose="02020603050405020304" pitchFamily="18" charset="0"/>
            </a:endParaRPr>
          </a:p>
        </p:txBody>
      </p:sp>
      <p:sp>
        <p:nvSpPr>
          <p:cNvPr id="67" name="Google Shape;180;p1">
            <a:extLst>
              <a:ext uri="{FF2B5EF4-FFF2-40B4-BE49-F238E27FC236}">
                <a16:creationId xmlns:a16="http://schemas.microsoft.com/office/drawing/2014/main" id="{01BD7522-5069-F2F5-1A22-7CEEA98BEE33}"/>
              </a:ext>
            </a:extLst>
          </p:cNvPr>
          <p:cNvSpPr/>
          <p:nvPr/>
        </p:nvSpPr>
        <p:spPr>
          <a:xfrm>
            <a:off x="58388" y="25257773"/>
            <a:ext cx="10647711" cy="110313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4400" b="1" dirty="0">
                <a:solidFill>
                  <a:schemeClr val="dk1"/>
                </a:solidFill>
                <a:latin typeface="Times New Roman" panose="02020603050405020304" pitchFamily="18" charset="0"/>
                <a:ea typeface="Arial"/>
                <a:cs typeface="Times New Roman" panose="02020603050405020304" pitchFamily="18" charset="0"/>
                <a:sym typeface="Arial"/>
              </a:rPr>
              <a:t>PRE-OP IMAGING</a:t>
            </a:r>
            <a:endParaRPr sz="4400" dirty="0">
              <a:solidFill>
                <a:schemeClr val="dk1"/>
              </a:solidFill>
              <a:latin typeface="Times New Roman" panose="02020603050405020304" pitchFamily="18" charset="0"/>
              <a:ea typeface="Arial"/>
              <a:cs typeface="Times New Roman" panose="02020603050405020304" pitchFamily="18" charset="0"/>
              <a:sym typeface="Arial"/>
            </a:endParaRPr>
          </a:p>
        </p:txBody>
      </p:sp>
      <p:sp>
        <p:nvSpPr>
          <p:cNvPr id="68" name="Google Shape;180;p1">
            <a:extLst>
              <a:ext uri="{FF2B5EF4-FFF2-40B4-BE49-F238E27FC236}">
                <a16:creationId xmlns:a16="http://schemas.microsoft.com/office/drawing/2014/main" id="{42C15216-5ACA-B582-4DF8-6AD9784355DF}"/>
              </a:ext>
            </a:extLst>
          </p:cNvPr>
          <p:cNvSpPr/>
          <p:nvPr/>
        </p:nvSpPr>
        <p:spPr>
          <a:xfrm>
            <a:off x="22851767" y="38226281"/>
            <a:ext cx="10075389" cy="1268785"/>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4400" b="1" dirty="0">
                <a:solidFill>
                  <a:schemeClr val="dk1"/>
                </a:solidFill>
                <a:latin typeface="Times New Roman" panose="02020603050405020304" pitchFamily="18" charset="0"/>
                <a:ea typeface="Arial"/>
                <a:cs typeface="Times New Roman" panose="02020603050405020304" pitchFamily="18" charset="0"/>
                <a:sym typeface="Arial"/>
              </a:rPr>
              <a:t>REFERENCES</a:t>
            </a:r>
            <a:endParaRPr sz="4400" dirty="0">
              <a:solidFill>
                <a:schemeClr val="dk1"/>
              </a:solidFill>
              <a:latin typeface="Times New Roman" panose="02020603050405020304" pitchFamily="18" charset="0"/>
              <a:ea typeface="Arial"/>
              <a:cs typeface="Times New Roman" panose="02020603050405020304" pitchFamily="18" charset="0"/>
              <a:sym typeface="Arial"/>
            </a:endParaRPr>
          </a:p>
        </p:txBody>
      </p:sp>
      <p:sp>
        <p:nvSpPr>
          <p:cNvPr id="69" name="TextBox 68">
            <a:extLst>
              <a:ext uri="{FF2B5EF4-FFF2-40B4-BE49-F238E27FC236}">
                <a16:creationId xmlns:a16="http://schemas.microsoft.com/office/drawing/2014/main" id="{55D6AA1B-528A-3564-77E7-7F60598B893F}"/>
              </a:ext>
            </a:extLst>
          </p:cNvPr>
          <p:cNvSpPr txBox="1"/>
          <p:nvPr/>
        </p:nvSpPr>
        <p:spPr>
          <a:xfrm>
            <a:off x="22728788" y="39499995"/>
            <a:ext cx="10206887" cy="4401205"/>
          </a:xfrm>
          <a:prstGeom prst="rect">
            <a:avLst/>
          </a:prstGeom>
          <a:noFill/>
          <a:ln>
            <a:solidFill>
              <a:schemeClr val="bg1"/>
            </a:solidFill>
          </a:ln>
        </p:spPr>
        <p:txBody>
          <a:bodyPr wrap="square" rtlCol="0">
            <a:spAutoFit/>
          </a:bodyPr>
          <a:lstStyle/>
          <a:p>
            <a:pPr lvl="0" defTabSz="914400" eaLnBrk="0" fontAlgn="base" hangingPunct="0">
              <a:spcBef>
                <a:spcPct val="0"/>
              </a:spcBef>
              <a:spcAft>
                <a:spcPct val="0"/>
              </a:spcAft>
              <a:buFontTx/>
              <a:buChar char="•"/>
            </a:pPr>
            <a:r>
              <a:rPr lang="en-US" altLang="en-US" sz="4000" dirty="0">
                <a:latin typeface="Times New Roman" panose="02020603050405020304" pitchFamily="18" charset="0"/>
                <a:cs typeface="Times New Roman" panose="02020603050405020304" pitchFamily="18" charset="0"/>
              </a:rPr>
              <a:t>Canale ST, Beaty JH. Campbell’s Operative </a:t>
            </a:r>
            <a:r>
              <a:rPr lang="en-US" altLang="en-US" sz="4000" dirty="0" err="1">
                <a:latin typeface="Times New Roman" panose="02020603050405020304" pitchFamily="18" charset="0"/>
                <a:cs typeface="Times New Roman" panose="02020603050405020304" pitchFamily="18" charset="0"/>
              </a:rPr>
              <a:t>Orthopaedics</a:t>
            </a:r>
            <a:r>
              <a:rPr lang="en-US" altLang="en-US" sz="4000" dirty="0">
                <a:latin typeface="Times New Roman" panose="02020603050405020304" pitchFamily="18" charset="0"/>
                <a:cs typeface="Times New Roman" panose="02020603050405020304" pitchFamily="18" charset="0"/>
              </a:rPr>
              <a:t>, 13th ed.</a:t>
            </a:r>
          </a:p>
          <a:p>
            <a:pPr lvl="0" defTabSz="914400" eaLnBrk="0" fontAlgn="base" hangingPunct="0">
              <a:spcBef>
                <a:spcPct val="0"/>
              </a:spcBef>
              <a:spcAft>
                <a:spcPct val="0"/>
              </a:spcAft>
              <a:buFontTx/>
              <a:buChar char="•"/>
            </a:pPr>
            <a:r>
              <a:rPr lang="en-US" altLang="en-US" sz="4000" dirty="0">
                <a:latin typeface="Times New Roman" panose="02020603050405020304" pitchFamily="18" charset="0"/>
                <a:cs typeface="Times New Roman" panose="02020603050405020304" pitchFamily="18" charset="0"/>
              </a:rPr>
              <a:t>Green DP, Hotchkiss RN, Pederson WC. Green’s Operative Hand Surgery.</a:t>
            </a:r>
          </a:p>
          <a:p>
            <a:pPr lvl="0" defTabSz="914400" eaLnBrk="0" fontAlgn="base" hangingPunct="0">
              <a:spcBef>
                <a:spcPct val="0"/>
              </a:spcBef>
              <a:spcAft>
                <a:spcPct val="0"/>
              </a:spcAft>
              <a:buFontTx/>
              <a:buChar char="•"/>
            </a:pPr>
            <a:r>
              <a:rPr lang="en-US" altLang="en-US" sz="4000" dirty="0">
                <a:latin typeface="Times New Roman" panose="02020603050405020304" pitchFamily="18" charset="0"/>
                <a:cs typeface="Times New Roman" panose="02020603050405020304" pitchFamily="18" charset="0"/>
              </a:rPr>
              <a:t>Herbert TJ, Fisher WE. Management of the fractured scaphoid using a new bone screw. J Bone Joint Surg Br.</a:t>
            </a:r>
          </a:p>
        </p:txBody>
      </p:sp>
      <p:sp>
        <p:nvSpPr>
          <p:cNvPr id="72" name="Google Shape;180;p1">
            <a:extLst>
              <a:ext uri="{FF2B5EF4-FFF2-40B4-BE49-F238E27FC236}">
                <a16:creationId xmlns:a16="http://schemas.microsoft.com/office/drawing/2014/main" id="{BC8D1AB3-3AE5-57AE-8A05-348A396A54C7}"/>
              </a:ext>
            </a:extLst>
          </p:cNvPr>
          <p:cNvSpPr/>
          <p:nvPr/>
        </p:nvSpPr>
        <p:spPr>
          <a:xfrm>
            <a:off x="22831115" y="28043394"/>
            <a:ext cx="10048723" cy="110313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5400" b="1" dirty="0">
                <a:solidFill>
                  <a:schemeClr val="dk1"/>
                </a:solidFill>
                <a:latin typeface="Times New Roman" panose="02020603050405020304" pitchFamily="18" charset="0"/>
                <a:ea typeface="Arial"/>
                <a:cs typeface="Times New Roman" panose="02020603050405020304" pitchFamily="18" charset="0"/>
                <a:sym typeface="Arial"/>
              </a:rPr>
              <a:t>CONCLUSION</a:t>
            </a:r>
            <a:endParaRPr lang="en-US" sz="2800" dirty="0">
              <a:solidFill>
                <a:schemeClr val="dk1"/>
              </a:solidFill>
              <a:latin typeface="Times New Roman" panose="02020603050405020304" pitchFamily="18" charset="0"/>
              <a:ea typeface="Arial"/>
              <a:cs typeface="Times New Roman" panose="02020603050405020304" pitchFamily="18" charset="0"/>
              <a:sym typeface="Arial"/>
            </a:endParaRPr>
          </a:p>
        </p:txBody>
      </p:sp>
      <p:sp>
        <p:nvSpPr>
          <p:cNvPr id="73" name="TextBox 72">
            <a:extLst>
              <a:ext uri="{FF2B5EF4-FFF2-40B4-BE49-F238E27FC236}">
                <a16:creationId xmlns:a16="http://schemas.microsoft.com/office/drawing/2014/main" id="{C80FA5E0-95EB-CC62-4CD4-2CDDAB0AB22E}"/>
              </a:ext>
            </a:extLst>
          </p:cNvPr>
          <p:cNvSpPr txBox="1"/>
          <p:nvPr/>
        </p:nvSpPr>
        <p:spPr>
          <a:xfrm>
            <a:off x="22813927" y="29186148"/>
            <a:ext cx="10028072" cy="4362733"/>
          </a:xfrm>
          <a:prstGeom prst="rect">
            <a:avLst/>
          </a:prstGeom>
          <a:noFill/>
          <a:ln>
            <a:solidFill>
              <a:schemeClr val="tx1"/>
            </a:solidFill>
          </a:ln>
        </p:spPr>
        <p:txBody>
          <a:bodyPr wrap="square" rtlCol="0">
            <a:spAutoFit/>
          </a:bodyPr>
          <a:lstStyle/>
          <a:p>
            <a:pPr lvl="0">
              <a:buClr>
                <a:schemeClr val="dk1"/>
              </a:buClr>
              <a:buSzPts val="1800"/>
            </a:pPr>
            <a:r>
              <a:rPr lang="en-US" sz="3950" dirty="0">
                <a:solidFill>
                  <a:schemeClr val="dk1"/>
                </a:solidFill>
                <a:latin typeface="Times New Roman" panose="02020603050405020304" pitchFamily="18" charset="0"/>
                <a:ea typeface="Arial"/>
                <a:cs typeface="Times New Roman" panose="02020603050405020304" pitchFamily="18" charset="0"/>
                <a:sym typeface="Arial"/>
              </a:rPr>
              <a:t>Herbert screw fixation and bone grafting is an effective and reliable method for treating scaphoid avascular necrosis, offering high union rates, satisfactory functional recovery, and low complication rates when performed in appropriately selected patients. </a:t>
            </a:r>
            <a:r>
              <a:rPr lang="en-IN" sz="4000" dirty="0">
                <a:latin typeface="Times New Roman" panose="02020603050405020304" pitchFamily="18" charset="0"/>
                <a:cs typeface="Times New Roman" panose="02020603050405020304" pitchFamily="18" charset="0"/>
              </a:rPr>
              <a:t>Patient will return to job with pain free joint. </a:t>
            </a:r>
            <a:endParaRPr lang="en-US" sz="4000" dirty="0">
              <a:solidFill>
                <a:schemeClr val="dk1"/>
              </a:solidFill>
              <a:latin typeface="Times New Roman" panose="02020603050405020304" pitchFamily="18" charset="0"/>
              <a:ea typeface="Arial"/>
              <a:cs typeface="Times New Roman" panose="02020603050405020304" pitchFamily="18" charset="0"/>
              <a:sym typeface="Arial"/>
            </a:endParaRPr>
          </a:p>
        </p:txBody>
      </p:sp>
      <p:sp>
        <p:nvSpPr>
          <p:cNvPr id="74" name="Google Shape;180;p1">
            <a:extLst>
              <a:ext uri="{FF2B5EF4-FFF2-40B4-BE49-F238E27FC236}">
                <a16:creationId xmlns:a16="http://schemas.microsoft.com/office/drawing/2014/main" id="{2CB630B8-0F84-4370-A147-A7FF077118AA}"/>
              </a:ext>
            </a:extLst>
          </p:cNvPr>
          <p:cNvSpPr/>
          <p:nvPr/>
        </p:nvSpPr>
        <p:spPr>
          <a:xfrm>
            <a:off x="22793275" y="33531507"/>
            <a:ext cx="10048723" cy="110313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0" marR="0" lvl="0" indent="0" algn="ctr" rtl="0">
              <a:spcBef>
                <a:spcPts val="0"/>
              </a:spcBef>
              <a:spcAft>
                <a:spcPts val="0"/>
              </a:spcAft>
              <a:buClr>
                <a:schemeClr val="dk1"/>
              </a:buClr>
              <a:buSzPts val="1800"/>
              <a:buFont typeface="Arial"/>
              <a:buNone/>
            </a:pPr>
            <a:r>
              <a:rPr lang="en-US" sz="4800" b="1" dirty="0">
                <a:solidFill>
                  <a:schemeClr val="dk1"/>
                </a:solidFill>
                <a:latin typeface="Times New Roman" panose="02020603050405020304" pitchFamily="18" charset="0"/>
                <a:ea typeface="Arial"/>
                <a:cs typeface="Times New Roman" panose="02020603050405020304" pitchFamily="18" charset="0"/>
                <a:sym typeface="Arial"/>
              </a:rPr>
              <a:t>ACKNOWLEDGEMENT</a:t>
            </a:r>
            <a:endParaRPr lang="en-US" sz="4800" dirty="0">
              <a:solidFill>
                <a:schemeClr val="dk1"/>
              </a:solidFill>
              <a:latin typeface="Times New Roman" panose="02020603050405020304" pitchFamily="18" charset="0"/>
              <a:ea typeface="Arial"/>
              <a:cs typeface="Times New Roman" panose="02020603050405020304" pitchFamily="18" charset="0"/>
              <a:sym typeface="Arial"/>
            </a:endParaRPr>
          </a:p>
        </p:txBody>
      </p:sp>
      <p:sp>
        <p:nvSpPr>
          <p:cNvPr id="76" name="TextBox 75">
            <a:extLst>
              <a:ext uri="{FF2B5EF4-FFF2-40B4-BE49-F238E27FC236}">
                <a16:creationId xmlns:a16="http://schemas.microsoft.com/office/drawing/2014/main" id="{0CBE702D-3146-651F-E7B3-FED3190404FE}"/>
              </a:ext>
            </a:extLst>
          </p:cNvPr>
          <p:cNvSpPr txBox="1"/>
          <p:nvPr/>
        </p:nvSpPr>
        <p:spPr>
          <a:xfrm>
            <a:off x="22869676" y="34673245"/>
            <a:ext cx="9972322" cy="3600986"/>
          </a:xfrm>
          <a:prstGeom prst="rect">
            <a:avLst/>
          </a:prstGeom>
          <a:noFill/>
          <a:ln>
            <a:solidFill>
              <a:schemeClr val="tx1"/>
            </a:solidFill>
          </a:ln>
        </p:spPr>
        <p:txBody>
          <a:bodyPr wrap="square" rtlCol="0">
            <a:spAutoFit/>
          </a:bodyPr>
          <a:lstStyle/>
          <a:p>
            <a:r>
              <a:rPr lang="en-GB" sz="3800" dirty="0">
                <a:latin typeface="Times New Roman" panose="02020603050405020304" pitchFamily="18" charset="0"/>
                <a:cs typeface="Times New Roman" panose="02020603050405020304" pitchFamily="18" charset="0"/>
              </a:rPr>
              <a:t>I sincerely thank </a:t>
            </a:r>
            <a:r>
              <a:rPr lang="en-GB" sz="3800" b="1" dirty="0" err="1">
                <a:latin typeface="Times New Roman" panose="02020603050405020304" pitchFamily="18" charset="0"/>
                <a:cs typeface="Times New Roman" panose="02020603050405020304" pitchFamily="18" charset="0"/>
              </a:rPr>
              <a:t>Dr.</a:t>
            </a:r>
            <a:r>
              <a:rPr lang="en-GB" sz="3800" b="1" dirty="0">
                <a:latin typeface="Times New Roman" panose="02020603050405020304" pitchFamily="18" charset="0"/>
                <a:cs typeface="Times New Roman" panose="02020603050405020304" pitchFamily="18" charset="0"/>
              </a:rPr>
              <a:t> V. Nageswara Rao</a:t>
            </a:r>
            <a:r>
              <a:rPr lang="en-GB" sz="3800" dirty="0">
                <a:latin typeface="Times New Roman" panose="02020603050405020304" pitchFamily="18" charset="0"/>
                <a:cs typeface="Times New Roman" panose="02020603050405020304" pitchFamily="18" charset="0"/>
              </a:rPr>
              <a:t>, Head of the Department of Orthopaedics and Dr. K. Ravikanth,  Professor along with the faculty of Orthopaedics and the Department of Radiology, GSL Medical College &amp; General Hospital, for their guidance and support.</a:t>
            </a:r>
            <a:endParaRPr lang="en-IN" sz="3800" dirty="0">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C2BAF6A3-7A68-87C6-64B1-32294FE07715}"/>
              </a:ext>
            </a:extLst>
          </p:cNvPr>
          <p:cNvSpPr>
            <a:spLocks noChangeArrowheads="1"/>
          </p:cNvSpPr>
          <p:nvPr/>
        </p:nvSpPr>
        <p:spPr bwMode="auto">
          <a:xfrm>
            <a:off x="36539" y="19524021"/>
            <a:ext cx="10654323" cy="5755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4400" b="1" dirty="0">
                <a:latin typeface="Times New Roman" panose="02020603050405020304" pitchFamily="18" charset="0"/>
                <a:cs typeface="Times New Roman" panose="02020603050405020304" pitchFamily="18" charset="0"/>
              </a:rPr>
              <a:t>Case Presentation</a:t>
            </a:r>
          </a:p>
          <a:p>
            <a:r>
              <a:rPr lang="en-US" sz="4000" dirty="0">
                <a:latin typeface="Times New Roman" panose="02020603050405020304" pitchFamily="18" charset="0"/>
                <a:cs typeface="Times New Roman" panose="02020603050405020304" pitchFamily="18" charset="0"/>
              </a:rPr>
              <a:t>A 23-year-old male presented with a chief complaint of pain in left wrist since 6 months and difficulty in gripping objects. Pain aggravated on daily activities and relieved on rest and medication.</a:t>
            </a:r>
          </a:p>
          <a:p>
            <a:r>
              <a:rPr lang="en-US" sz="4400" b="1" dirty="0">
                <a:latin typeface="Times New Roman" panose="02020603050405020304" pitchFamily="18" charset="0"/>
                <a:cs typeface="Times New Roman" panose="02020603050405020304" pitchFamily="18" charset="0"/>
              </a:rPr>
              <a:t>Clinical Examination</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4000" dirty="0">
                <a:solidFill>
                  <a:srgbClr val="000000"/>
                </a:solidFill>
                <a:latin typeface="Times New Roman" panose="02020603050405020304" pitchFamily="18" charset="0"/>
                <a:cs typeface="Times New Roman" panose="02020603050405020304" pitchFamily="18" charset="0"/>
              </a:rPr>
              <a:t>The patient had tenderness over anatomical snuff box with restricted range of motion and painful flexion and extension of left wrist.</a:t>
            </a:r>
            <a:endParaRPr kumimoji="0" lang="en-US" altLang="en-US" sz="4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8B970268-3798-A9B0-16BC-4C9EEEFFC202}"/>
              </a:ext>
            </a:extLst>
          </p:cNvPr>
          <p:cNvPicPr>
            <a:picLocks noChangeAspect="1"/>
          </p:cNvPicPr>
          <p:nvPr/>
        </p:nvPicPr>
        <p:blipFill>
          <a:blip r:embed="rId8" cstate="print">
            <a:extLst>
              <a:ext uri="{28A0092B-C50C-407E-A947-70E740481C1C}">
                <a14:useLocalDpi xmlns:a14="http://schemas.microsoft.com/office/drawing/2010/main" val="0"/>
              </a:ext>
            </a:extLst>
          </a:blip>
          <a:srcRect l="13652" t="21437"/>
          <a:stretch>
            <a:fillRect/>
          </a:stretch>
        </p:blipFill>
        <p:spPr>
          <a:xfrm>
            <a:off x="58388" y="26444689"/>
            <a:ext cx="4420362" cy="7688778"/>
          </a:xfrm>
          <a:prstGeom prst="rect">
            <a:avLst/>
          </a:prstGeom>
        </p:spPr>
      </p:pic>
      <p:pic>
        <p:nvPicPr>
          <p:cNvPr id="28" name="Picture 27">
            <a:extLst>
              <a:ext uri="{FF2B5EF4-FFF2-40B4-BE49-F238E27FC236}">
                <a16:creationId xmlns:a16="http://schemas.microsoft.com/office/drawing/2014/main" id="{9E051D29-35EA-8E96-5B71-F665E7361F93}"/>
              </a:ext>
            </a:extLst>
          </p:cNvPr>
          <p:cNvPicPr>
            <a:picLocks noChangeAspect="1"/>
          </p:cNvPicPr>
          <p:nvPr/>
        </p:nvPicPr>
        <p:blipFill>
          <a:blip r:embed="rId9" cstate="print">
            <a:extLst>
              <a:ext uri="{28A0092B-C50C-407E-A947-70E740481C1C}">
                <a14:useLocalDpi xmlns:a14="http://schemas.microsoft.com/office/drawing/2010/main" val="0"/>
              </a:ext>
            </a:extLst>
          </a:blip>
          <a:srcRect l="50423" b="48676"/>
          <a:stretch>
            <a:fillRect/>
          </a:stretch>
        </p:blipFill>
        <p:spPr>
          <a:xfrm>
            <a:off x="58388" y="34163000"/>
            <a:ext cx="10580210" cy="9667214"/>
          </a:xfrm>
          <a:prstGeom prst="rect">
            <a:avLst/>
          </a:prstGeom>
        </p:spPr>
      </p:pic>
      <p:pic>
        <p:nvPicPr>
          <p:cNvPr id="29" name="Picture 28">
            <a:extLst>
              <a:ext uri="{FF2B5EF4-FFF2-40B4-BE49-F238E27FC236}">
                <a16:creationId xmlns:a16="http://schemas.microsoft.com/office/drawing/2014/main" id="{2CE0B7CB-5B19-A4F2-4110-600F913A1CD9}"/>
              </a:ext>
            </a:extLst>
          </p:cNvPr>
          <p:cNvPicPr>
            <a:picLocks noChangeAspect="1"/>
          </p:cNvPicPr>
          <p:nvPr/>
        </p:nvPicPr>
        <p:blipFill>
          <a:blip r:embed="rId10" cstate="print">
            <a:extLst>
              <a:ext uri="{28A0092B-C50C-407E-A947-70E740481C1C}">
                <a14:useLocalDpi xmlns:a14="http://schemas.microsoft.com/office/drawing/2010/main" val="0"/>
              </a:ext>
            </a:extLst>
          </a:blip>
          <a:srcRect t="50946"/>
          <a:stretch>
            <a:fillRect/>
          </a:stretch>
        </p:blipFill>
        <p:spPr>
          <a:xfrm>
            <a:off x="4499403" y="26444689"/>
            <a:ext cx="6224354" cy="7663434"/>
          </a:xfrm>
          <a:prstGeom prst="rect">
            <a:avLst/>
          </a:prstGeom>
        </p:spPr>
      </p:pic>
      <p:pic>
        <p:nvPicPr>
          <p:cNvPr id="31" name="Picture 30">
            <a:extLst>
              <a:ext uri="{FF2B5EF4-FFF2-40B4-BE49-F238E27FC236}">
                <a16:creationId xmlns:a16="http://schemas.microsoft.com/office/drawing/2014/main" id="{29E78353-7B8A-CA53-82BD-8383643298BD}"/>
              </a:ext>
            </a:extLst>
          </p:cNvPr>
          <p:cNvPicPr>
            <a:picLocks noChangeAspect="1"/>
          </p:cNvPicPr>
          <p:nvPr/>
        </p:nvPicPr>
        <p:blipFill>
          <a:blip r:embed="rId11" cstate="print">
            <a:extLst>
              <a:ext uri="{28A0092B-C50C-407E-A947-70E740481C1C}">
                <a14:useLocalDpi xmlns:a14="http://schemas.microsoft.com/office/drawing/2010/main" val="0"/>
              </a:ext>
            </a:extLst>
          </a:blip>
          <a:srcRect t="18716"/>
          <a:stretch>
            <a:fillRect/>
          </a:stretch>
        </p:blipFill>
        <p:spPr>
          <a:xfrm>
            <a:off x="10688552" y="32182380"/>
            <a:ext cx="5904550" cy="6082624"/>
          </a:xfrm>
          <a:prstGeom prst="rect">
            <a:avLst/>
          </a:prstGeom>
        </p:spPr>
      </p:pic>
      <p:pic>
        <p:nvPicPr>
          <p:cNvPr id="32" name="Picture 31">
            <a:extLst>
              <a:ext uri="{FF2B5EF4-FFF2-40B4-BE49-F238E27FC236}">
                <a16:creationId xmlns:a16="http://schemas.microsoft.com/office/drawing/2014/main" id="{0F3B3F0C-08F6-0F49-658C-E93F7165C63D}"/>
              </a:ext>
            </a:extLst>
          </p:cNvPr>
          <p:cNvPicPr>
            <a:picLocks noChangeAspect="1"/>
          </p:cNvPicPr>
          <p:nvPr/>
        </p:nvPicPr>
        <p:blipFill>
          <a:blip r:embed="rId12" cstate="print">
            <a:extLst>
              <a:ext uri="{28A0092B-C50C-407E-A947-70E740481C1C}">
                <a14:useLocalDpi xmlns:a14="http://schemas.microsoft.com/office/drawing/2010/main" val="0"/>
              </a:ext>
            </a:extLst>
          </a:blip>
          <a:srcRect b="17055"/>
          <a:stretch>
            <a:fillRect/>
          </a:stretch>
        </p:blipFill>
        <p:spPr>
          <a:xfrm>
            <a:off x="10785396" y="24963292"/>
            <a:ext cx="11830925" cy="5645503"/>
          </a:xfrm>
          <a:prstGeom prst="rect">
            <a:avLst/>
          </a:prstGeom>
        </p:spPr>
      </p:pic>
      <p:pic>
        <p:nvPicPr>
          <p:cNvPr id="34" name="Picture 33">
            <a:extLst>
              <a:ext uri="{FF2B5EF4-FFF2-40B4-BE49-F238E27FC236}">
                <a16:creationId xmlns:a16="http://schemas.microsoft.com/office/drawing/2014/main" id="{529AE652-9671-AE23-302D-D774EFB93F89}"/>
              </a:ext>
            </a:extLst>
          </p:cNvPr>
          <p:cNvPicPr>
            <a:picLocks noChangeAspect="1"/>
          </p:cNvPicPr>
          <p:nvPr/>
        </p:nvPicPr>
        <p:blipFill>
          <a:blip r:embed="rId13" cstate="print">
            <a:extLst>
              <a:ext uri="{28A0092B-C50C-407E-A947-70E740481C1C}">
                <a14:useLocalDpi xmlns:a14="http://schemas.microsoft.com/office/drawing/2010/main" val="0"/>
              </a:ext>
            </a:extLst>
          </a:blip>
          <a:srcRect b="18554"/>
          <a:stretch>
            <a:fillRect/>
          </a:stretch>
        </p:blipFill>
        <p:spPr>
          <a:xfrm>
            <a:off x="10798645" y="19370780"/>
            <a:ext cx="11792580" cy="5490913"/>
          </a:xfrm>
          <a:prstGeom prst="rect">
            <a:avLst/>
          </a:prstGeom>
        </p:spPr>
      </p:pic>
      <p:pic>
        <p:nvPicPr>
          <p:cNvPr id="36" name="Picture 35" descr="X-ray of a foot&#10;&#10;AI-generated content may be incorrect.">
            <a:extLst>
              <a:ext uri="{FF2B5EF4-FFF2-40B4-BE49-F238E27FC236}">
                <a16:creationId xmlns:a16="http://schemas.microsoft.com/office/drawing/2014/main" id="{0590F663-C5DF-4473-331D-B42373A4F581}"/>
              </a:ext>
            </a:extLst>
          </p:cNvPr>
          <p:cNvPicPr>
            <a:picLocks noChangeAspect="1"/>
          </p:cNvPicPr>
          <p:nvPr/>
        </p:nvPicPr>
        <p:blipFill>
          <a:blip r:embed="rId14">
            <a:extLst>
              <a:ext uri="{28A0092B-C50C-407E-A947-70E740481C1C}">
                <a14:useLocalDpi xmlns:a14="http://schemas.microsoft.com/office/drawing/2010/main" val="0"/>
              </a:ext>
            </a:extLst>
          </a:blip>
          <a:srcRect t="9015" b="22949"/>
          <a:stretch>
            <a:fillRect/>
          </a:stretch>
        </p:blipFill>
        <p:spPr>
          <a:xfrm>
            <a:off x="16593102" y="32123714"/>
            <a:ext cx="6135687" cy="6141290"/>
          </a:xfrm>
          <a:prstGeom prst="rect">
            <a:avLst/>
          </a:prstGeom>
        </p:spPr>
      </p:pic>
      <p:pic>
        <p:nvPicPr>
          <p:cNvPr id="38" name="Picture 37" descr="A close-up of hands folded together&#10;&#10;AI-generated content may be incorrect.">
            <a:extLst>
              <a:ext uri="{FF2B5EF4-FFF2-40B4-BE49-F238E27FC236}">
                <a16:creationId xmlns:a16="http://schemas.microsoft.com/office/drawing/2014/main" id="{F03CF659-9C39-738A-B7AF-2958F8AC7915}"/>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0723756" y="38307938"/>
            <a:ext cx="5869346" cy="5522276"/>
          </a:xfrm>
          <a:prstGeom prst="rect">
            <a:avLst/>
          </a:prstGeom>
        </p:spPr>
      </p:pic>
      <p:pic>
        <p:nvPicPr>
          <p:cNvPr id="40" name="Picture 39" descr="A person with his hands crossed over his chest&#10;&#10;AI-generated content may be incorrect.">
            <a:extLst>
              <a:ext uri="{FF2B5EF4-FFF2-40B4-BE49-F238E27FC236}">
                <a16:creationId xmlns:a16="http://schemas.microsoft.com/office/drawing/2014/main" id="{50E07571-8AAD-EAF2-1034-D86603890721}"/>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6593102" y="38430360"/>
            <a:ext cx="6023219" cy="5399854"/>
          </a:xfrm>
          <a:prstGeom prst="rect">
            <a:avLst/>
          </a:prstGeom>
        </p:spPr>
      </p:pic>
    </p:spTree>
    <p:extLst>
      <p:ext uri="{BB962C8B-B14F-4D97-AF65-F5344CB8AC3E}">
        <p14:creationId xmlns:p14="http://schemas.microsoft.com/office/powerpoint/2010/main" val="116169069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679</TotalTime>
  <Words>764</Words>
  <Application>Microsoft Macintosh PowerPoint</Application>
  <PresentationFormat>Custom</PresentationFormat>
  <Paragraphs>32</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Calibri</vt:lpstr>
      <vt:lpstr>Calibri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venkata ramana</dc:creator>
  <cp:lastModifiedBy>k35725</cp:lastModifiedBy>
  <cp:revision>12</cp:revision>
  <dcterms:created xsi:type="dcterms:W3CDTF">2026-01-22T16:12:08Z</dcterms:created>
  <dcterms:modified xsi:type="dcterms:W3CDTF">2026-01-28T16:53:45Z</dcterms:modified>
</cp:coreProperties>
</file>