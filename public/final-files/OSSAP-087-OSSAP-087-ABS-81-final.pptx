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7" name="Shape 107"/>
          <p:cNvSpPr/>
          <p:nvPr>
            <p:ph type="sldImg"/>
          </p:nvPr>
        </p:nvSpPr>
        <p:spPr>
          <a:xfrm>
            <a:off x="1143000" y="685800"/>
            <a:ext cx="4572000" cy="3429000"/>
          </a:xfrm>
          <a:prstGeom prst="rect">
            <a:avLst/>
          </a:prstGeom>
        </p:spPr>
        <p:txBody>
          <a:bodyPr/>
          <a:lstStyle/>
          <a:p>
            <a:pPr/>
          </a:p>
        </p:txBody>
      </p:sp>
      <p:sp>
        <p:nvSpPr>
          <p:cNvPr id="108" name="Shape 10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sp>
        <p:nvSpPr>
          <p:cNvPr id="19" name="Rectangle 1"/>
          <p:cNvSpPr/>
          <p:nvPr/>
        </p:nvSpPr>
        <p:spPr>
          <a:xfrm>
            <a:off x="-3" y="-3"/>
            <a:ext cx="12192003" cy="1280162"/>
          </a:xfrm>
          <a:prstGeom prst="rect">
            <a:avLst/>
          </a:prstGeom>
          <a:solidFill>
            <a:srgbClr val="01234D"/>
          </a:solidFill>
          <a:ln w="19050">
            <a:solidFill>
              <a:srgbClr val="525755"/>
            </a:solidFill>
            <a:miter/>
          </a:ln>
        </p:spPr>
        <p:txBody>
          <a:bodyPr lIns="45718" tIns="45718" rIns="45718" bIns="45718" anchor="ctr"/>
          <a:lstStyle/>
          <a:p>
            <a:pPr algn="ctr">
              <a:defRPr>
                <a:solidFill>
                  <a:srgbClr val="FFFFFF"/>
                </a:solidFill>
                <a:latin typeface="+mj-lt"/>
                <a:ea typeface="+mj-ea"/>
                <a:cs typeface="+mj-cs"/>
                <a:sym typeface="Aptos"/>
              </a:defRPr>
            </a:pPr>
          </a:p>
        </p:txBody>
      </p:sp>
      <p:pic>
        <p:nvPicPr>
          <p:cNvPr id="20" name="Picture 14" descr="Picture 14"/>
          <p:cNvPicPr>
            <a:picLocks noChangeAspect="1"/>
          </p:cNvPicPr>
          <p:nvPr/>
        </p:nvPicPr>
        <p:blipFill>
          <a:blip r:embed="rId2">
            <a:extLst/>
          </a:blip>
          <a:stretch>
            <a:fillRect/>
          </a:stretch>
        </p:blipFill>
        <p:spPr>
          <a:xfrm>
            <a:off x="9006884" y="74822"/>
            <a:ext cx="1043157" cy="1043154"/>
          </a:xfrm>
          <a:prstGeom prst="rect">
            <a:avLst/>
          </a:prstGeom>
          <a:ln w="12700">
            <a:miter lim="400000"/>
          </a:ln>
        </p:spPr>
      </p:pic>
      <p:pic>
        <p:nvPicPr>
          <p:cNvPr id="21" name="Picture 15" descr="Picture 15"/>
          <p:cNvPicPr>
            <a:picLocks noChangeAspect="1"/>
          </p:cNvPicPr>
          <p:nvPr/>
        </p:nvPicPr>
        <p:blipFill>
          <a:blip r:embed="rId3">
            <a:extLst/>
          </a:blip>
          <a:stretch>
            <a:fillRect/>
          </a:stretch>
        </p:blipFill>
        <p:spPr>
          <a:xfrm>
            <a:off x="10947316" y="123389"/>
            <a:ext cx="884050" cy="884051"/>
          </a:xfrm>
          <a:prstGeom prst="rect">
            <a:avLst/>
          </a:prstGeom>
          <a:ln w="12700">
            <a:miter lim="400000"/>
          </a:ln>
        </p:spPr>
      </p:pic>
      <p:pic>
        <p:nvPicPr>
          <p:cNvPr id="22" name="Picture 16" descr="Picture 16"/>
          <p:cNvPicPr>
            <a:picLocks noChangeAspect="1"/>
          </p:cNvPicPr>
          <p:nvPr/>
        </p:nvPicPr>
        <p:blipFill>
          <a:blip r:embed="rId4">
            <a:extLst/>
          </a:blip>
          <a:stretch>
            <a:fillRect/>
          </a:stretch>
        </p:blipFill>
        <p:spPr>
          <a:xfrm>
            <a:off x="10127891" y="192303"/>
            <a:ext cx="785943" cy="785941"/>
          </a:xfrm>
          <a:prstGeom prst="rect">
            <a:avLst/>
          </a:prstGeom>
          <a:ln w="12700">
            <a:miter lim="400000"/>
          </a:ln>
        </p:spPr>
      </p:pic>
      <p:sp>
        <p:nvSpPr>
          <p:cNvPr id="23" name="TextBox 17"/>
          <p:cNvSpPr txBox="1"/>
          <p:nvPr/>
        </p:nvSpPr>
        <p:spPr>
          <a:xfrm>
            <a:off x="2620966" y="27424"/>
            <a:ext cx="5906911" cy="650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solidFill>
                  <a:srgbClr val="FFFFFF"/>
                </a:solidFill>
                <a:latin typeface="Gordita "/>
                <a:ea typeface="Gordita "/>
                <a:cs typeface="Gordita "/>
                <a:sym typeface="Gordita "/>
              </a:defRPr>
            </a:pPr>
            <a:r>
              <a:t>55</a:t>
            </a:r>
            <a:r>
              <a:rPr baseline="30000"/>
              <a:t>th</a:t>
            </a:r>
            <a:r>
              <a:t>   Annual Conference of </a:t>
            </a:r>
          </a:p>
          <a:p>
            <a:pPr>
              <a:defRPr b="1">
                <a:solidFill>
                  <a:srgbClr val="FFFFFF"/>
                </a:solidFill>
                <a:latin typeface="Gordita "/>
                <a:ea typeface="Gordita "/>
                <a:cs typeface="Gordita "/>
                <a:sym typeface="Gordita "/>
              </a:defRPr>
            </a:pPr>
            <a:r>
              <a:t>Orthopedic Surgeon Society of Andhra Pradesh</a:t>
            </a:r>
          </a:p>
        </p:txBody>
      </p:sp>
      <p:sp>
        <p:nvSpPr>
          <p:cNvPr id="24" name="TextBox 18"/>
          <p:cNvSpPr txBox="1"/>
          <p:nvPr/>
        </p:nvSpPr>
        <p:spPr>
          <a:xfrm>
            <a:off x="2646936" y="653898"/>
            <a:ext cx="6216058"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FFFFFF"/>
                </a:solidFill>
                <a:latin typeface="Gordita "/>
                <a:ea typeface="Gordita "/>
                <a:cs typeface="Gordita "/>
                <a:sym typeface="Gordita "/>
              </a:defRPr>
            </a:lvl1pPr>
          </a:lstStyle>
          <a:p>
            <a:pPr/>
            <a:r>
              <a:t>Date 6 – 8 February,2026, Venue : Kurnool Medical College</a:t>
            </a:r>
          </a:p>
        </p:txBody>
      </p:sp>
      <p:sp>
        <p:nvSpPr>
          <p:cNvPr id="25" name="TextBox 19"/>
          <p:cNvSpPr txBox="1"/>
          <p:nvPr/>
        </p:nvSpPr>
        <p:spPr>
          <a:xfrm>
            <a:off x="2620969" y="913339"/>
            <a:ext cx="7022591"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FFFFFF"/>
                </a:solidFill>
                <a:latin typeface="Gordita "/>
                <a:ea typeface="Gordita "/>
                <a:cs typeface="Gordita "/>
                <a:sym typeface="Gordita "/>
              </a:defRPr>
            </a:lvl1pPr>
          </a:lstStyle>
          <a:p>
            <a:pPr/>
            <a:r>
              <a:t>Organized by : Department of Orthopaedics, Kurnool Medical College Kurnool</a:t>
            </a:r>
          </a:p>
        </p:txBody>
      </p:sp>
      <p:sp>
        <p:nvSpPr>
          <p:cNvPr id="26" name="Freeform 13"/>
          <p:cNvSpPr/>
          <p:nvPr/>
        </p:nvSpPr>
        <p:spPr>
          <a:xfrm>
            <a:off x="560813" y="14254"/>
            <a:ext cx="1505562" cy="1280159"/>
          </a:xfrm>
          <a:prstGeom prst="rect">
            <a:avLst/>
          </a:prstGeom>
          <a:blipFill>
            <a:blip r:embed="rId5"/>
            <a:stretch>
              <a:fillRect/>
            </a:stretch>
          </a:blipFill>
          <a:ln w="12700">
            <a:miter lim="400000"/>
          </a:ln>
        </p:spPr>
        <p:txBody>
          <a:bodyPr lIns="45718" tIns="45718" rIns="45718" bIns="45718"/>
          <a:lstStyle/>
          <a:p>
            <a:pPr>
              <a:defRPr>
                <a:latin typeface="+mj-lt"/>
                <a:ea typeface="+mj-ea"/>
                <a:cs typeface="+mj-cs"/>
                <a:sym typeface="Aptos"/>
              </a:defRPr>
            </a:pPr>
          </a:p>
        </p:txBody>
      </p:sp>
      <p:sp>
        <p:nvSpPr>
          <p:cNvPr id="27"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28" name="Body Level One…"/>
          <p:cNvSpPr txBox="1"/>
          <p:nvPr>
            <p:ph type="body" sz="quarter" idx="1"/>
          </p:nvPr>
        </p:nvSpPr>
        <p:spPr>
          <a:xfrm>
            <a:off x="1524000" y="3602037"/>
            <a:ext cx="9144000" cy="1655765"/>
          </a:xfrm>
          <a:prstGeom prst="rect">
            <a:avLst/>
          </a:prstGeom>
        </p:spPr>
        <p:txBody>
          <a:bodyPr/>
          <a:lstStyle>
            <a:lvl1pPr marL="0" indent="0" algn="ctr">
              <a:lnSpc>
                <a:spcPct val="72000"/>
              </a:lnSpc>
              <a:buSzTx/>
              <a:buFontTx/>
              <a:buNone/>
              <a:defRPr sz="2400"/>
            </a:lvl1pPr>
            <a:lvl2pPr marL="0" indent="0" algn="ctr">
              <a:lnSpc>
                <a:spcPct val="72000"/>
              </a:lnSpc>
              <a:buSzTx/>
              <a:buFontTx/>
              <a:buNone/>
              <a:defRPr sz="2400"/>
            </a:lvl2pPr>
            <a:lvl3pPr marL="0" indent="0" algn="ctr">
              <a:lnSpc>
                <a:spcPct val="72000"/>
              </a:lnSpc>
              <a:buSzTx/>
              <a:buFontTx/>
              <a:buNone/>
              <a:defRPr sz="2400"/>
            </a:lvl3pPr>
            <a:lvl4pPr marL="0" indent="0" algn="ctr">
              <a:lnSpc>
                <a:spcPct val="72000"/>
              </a:lnSpc>
              <a:buSzTx/>
              <a:buFontTx/>
              <a:buNone/>
              <a:defRPr sz="2400"/>
            </a:lvl4pPr>
            <a:lvl5pPr marL="0" indent="0" algn="ctr">
              <a:lnSpc>
                <a:spcPct val="72000"/>
              </a:lnSpc>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36" name="Title Text"/>
          <p:cNvSpPr txBox="1"/>
          <p:nvPr>
            <p:ph type="title"/>
          </p:nvPr>
        </p:nvSpPr>
        <p:spPr>
          <a:prstGeom prst="rect">
            <a:avLst/>
          </a:prstGeom>
        </p:spPr>
        <p:txBody>
          <a:bodyPr/>
          <a:lstStyle/>
          <a:p>
            <a:pPr/>
            <a:r>
              <a:t>Title Text</a:t>
            </a:r>
          </a:p>
        </p:txBody>
      </p:sp>
      <p:sp>
        <p:nvSpPr>
          <p:cNvPr id="3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45"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46" name="Body Level One…"/>
          <p:cNvSpPr txBox="1"/>
          <p:nvPr>
            <p:ph type="body" sz="quarter" idx="1"/>
          </p:nvPr>
        </p:nvSpPr>
        <p:spPr>
          <a:xfrm>
            <a:off x="831850" y="4589462"/>
            <a:ext cx="10515600" cy="1500190"/>
          </a:xfrm>
          <a:prstGeom prst="rect">
            <a:avLst/>
          </a:prstGeom>
        </p:spPr>
        <p:txBody>
          <a:bodyPr/>
          <a:lstStyle>
            <a:lvl1pPr marL="0" indent="0">
              <a:lnSpc>
                <a:spcPct val="72000"/>
              </a:lnSpc>
              <a:buSzTx/>
              <a:buFontTx/>
              <a:buNone/>
              <a:defRPr sz="2400">
                <a:solidFill>
                  <a:srgbClr val="757575"/>
                </a:solidFill>
              </a:defRPr>
            </a:lvl1pPr>
            <a:lvl2pPr marL="0" indent="0">
              <a:lnSpc>
                <a:spcPct val="72000"/>
              </a:lnSpc>
              <a:buSzTx/>
              <a:buFontTx/>
              <a:buNone/>
              <a:defRPr sz="2400">
                <a:solidFill>
                  <a:srgbClr val="757575"/>
                </a:solidFill>
              </a:defRPr>
            </a:lvl2pPr>
            <a:lvl3pPr marL="0" indent="0">
              <a:lnSpc>
                <a:spcPct val="72000"/>
              </a:lnSpc>
              <a:buSzTx/>
              <a:buFontTx/>
              <a:buNone/>
              <a:defRPr sz="2400">
                <a:solidFill>
                  <a:srgbClr val="757575"/>
                </a:solidFill>
              </a:defRPr>
            </a:lvl3pPr>
            <a:lvl4pPr marL="0" indent="0">
              <a:lnSpc>
                <a:spcPct val="72000"/>
              </a:lnSpc>
              <a:buSzTx/>
              <a:buFontTx/>
              <a:buNone/>
              <a:defRPr sz="2400">
                <a:solidFill>
                  <a:srgbClr val="757575"/>
                </a:solidFill>
              </a:defRPr>
            </a:lvl4pPr>
            <a:lvl5pPr marL="0" indent="0">
              <a:lnSpc>
                <a:spcPct val="72000"/>
              </a:lnSpc>
              <a:buSzTx/>
              <a:buFontTx/>
              <a:buNone/>
              <a:defRPr sz="2400">
                <a:solidFill>
                  <a:srgbClr val="757575"/>
                </a:solidFill>
              </a:defRPr>
            </a:lvl5pPr>
          </a:lstStyle>
          <a:p>
            <a:pPr/>
            <a:r>
              <a:t>Body Level One</a:t>
            </a:r>
          </a:p>
          <a:p>
            <a:pPr lvl="1"/>
            <a:r>
              <a:t>Body Level Two</a:t>
            </a:r>
          </a:p>
          <a:p>
            <a:pPr lvl="2"/>
            <a:r>
              <a:t>Body Level Three</a:t>
            </a:r>
          </a:p>
          <a:p>
            <a:pPr lvl="3"/>
            <a:r>
              <a:t>Body Level Four</a:t>
            </a:r>
          </a:p>
          <a:p>
            <a:pPr lvl="4"/>
            <a:r>
              <a:t>Body Level Five</a:t>
            </a: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54" name="Title Text"/>
          <p:cNvSpPr txBox="1"/>
          <p:nvPr>
            <p:ph type="title"/>
          </p:nvPr>
        </p:nvSpPr>
        <p:spPr>
          <a:prstGeom prst="rect">
            <a:avLst/>
          </a:prstGeom>
        </p:spPr>
        <p:txBody>
          <a:bodyPr/>
          <a:lstStyle/>
          <a:p>
            <a:pPr/>
            <a:r>
              <a:t>Title Text</a:t>
            </a:r>
          </a:p>
        </p:txBody>
      </p:sp>
      <p:sp>
        <p:nvSpPr>
          <p:cNvPr id="55"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63" name="Title Text"/>
          <p:cNvSpPr txBox="1"/>
          <p:nvPr>
            <p:ph type="title"/>
          </p:nvPr>
        </p:nvSpPr>
        <p:spPr>
          <a:xfrm>
            <a:off x="839787" y="365125"/>
            <a:ext cx="10515601" cy="1325563"/>
          </a:xfrm>
          <a:prstGeom prst="rect">
            <a:avLst/>
          </a:prstGeom>
        </p:spPr>
        <p:txBody>
          <a:bodyPr/>
          <a:lstStyle/>
          <a:p>
            <a:pPr/>
            <a:r>
              <a:t>Title Text</a:t>
            </a:r>
          </a:p>
        </p:txBody>
      </p:sp>
      <p:sp>
        <p:nvSpPr>
          <p:cNvPr id="64" name="Body Level One…"/>
          <p:cNvSpPr txBox="1"/>
          <p:nvPr>
            <p:ph type="body" sz="quarter" idx="1"/>
          </p:nvPr>
        </p:nvSpPr>
        <p:spPr>
          <a:xfrm>
            <a:off x="839787" y="1681163"/>
            <a:ext cx="5157790" cy="823915"/>
          </a:xfrm>
          <a:prstGeom prst="rect">
            <a:avLst/>
          </a:prstGeom>
        </p:spPr>
        <p:txBody>
          <a:bodyPr anchor="b"/>
          <a:lstStyle>
            <a:lvl1pPr marL="0" indent="0">
              <a:lnSpc>
                <a:spcPct val="72000"/>
              </a:lnSpc>
              <a:buSzTx/>
              <a:buFontTx/>
              <a:buNone/>
              <a:defRPr b="1" sz="2400"/>
            </a:lvl1pPr>
            <a:lvl2pPr marL="0" indent="0">
              <a:lnSpc>
                <a:spcPct val="72000"/>
              </a:lnSpc>
              <a:buSzTx/>
              <a:buFontTx/>
              <a:buNone/>
              <a:defRPr b="1" sz="2400"/>
            </a:lvl2pPr>
            <a:lvl3pPr marL="0" indent="0">
              <a:lnSpc>
                <a:spcPct val="72000"/>
              </a:lnSpc>
              <a:buSzTx/>
              <a:buFontTx/>
              <a:buNone/>
              <a:defRPr b="1" sz="2400"/>
            </a:lvl3pPr>
            <a:lvl4pPr marL="0" indent="0">
              <a:lnSpc>
                <a:spcPct val="72000"/>
              </a:lnSpc>
              <a:buSzTx/>
              <a:buFontTx/>
              <a:buNone/>
              <a:defRPr b="1" sz="2400"/>
            </a:lvl4pPr>
            <a:lvl5pPr marL="0" indent="0">
              <a:lnSpc>
                <a:spcPct val="72000"/>
              </a:lnSpc>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65" name="Text Placeholder 4"/>
          <p:cNvSpPr/>
          <p:nvPr>
            <p:ph type="body" sz="quarter" idx="21"/>
          </p:nvPr>
        </p:nvSpPr>
        <p:spPr>
          <a:xfrm>
            <a:off x="6172200" y="1681163"/>
            <a:ext cx="5183188" cy="823914"/>
          </a:xfrm>
          <a:prstGeom prst="rect">
            <a:avLst/>
          </a:prstGeom>
        </p:spPr>
        <p:txBody>
          <a:bodyPr anchor="b"/>
          <a:lstStyle/>
          <a:p>
            <a:pPr/>
          </a:p>
        </p:txBody>
      </p:sp>
      <p:sp>
        <p:nvSpPr>
          <p:cNvPr id="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3" name="Title Text"/>
          <p:cNvSpPr txBox="1"/>
          <p:nvPr>
            <p:ph type="title"/>
          </p:nvPr>
        </p:nvSpPr>
        <p:spPr>
          <a:prstGeom prst="rect">
            <a:avLst/>
          </a:prstGeom>
        </p:spPr>
        <p:txBody>
          <a:bodyPr/>
          <a:lstStyle/>
          <a:p>
            <a:pPr/>
            <a:r>
              <a:t>Title Text</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88" name="Title Text"/>
          <p:cNvSpPr txBox="1"/>
          <p:nvPr>
            <p:ph type="title"/>
          </p:nvPr>
        </p:nvSpPr>
        <p:spPr>
          <a:xfrm>
            <a:off x="839787" y="457200"/>
            <a:ext cx="3932240" cy="1600200"/>
          </a:xfrm>
          <a:prstGeom prst="rect">
            <a:avLst/>
          </a:prstGeom>
        </p:spPr>
        <p:txBody>
          <a:bodyPr anchor="b"/>
          <a:lstStyle>
            <a:lvl1pPr>
              <a:defRPr sz="3200"/>
            </a:lvl1pPr>
          </a:lstStyle>
          <a:p>
            <a:pPr/>
            <a:r>
              <a:t>Title Text</a:t>
            </a:r>
          </a:p>
        </p:txBody>
      </p:sp>
      <p:sp>
        <p:nvSpPr>
          <p:cNvPr id="89" name="Body Level One…"/>
          <p:cNvSpPr txBox="1"/>
          <p:nvPr>
            <p:ph type="body" sz="half" idx="1"/>
          </p:nvPr>
        </p:nvSpPr>
        <p:spPr>
          <a:xfrm>
            <a:off x="5183187" y="987425"/>
            <a:ext cx="6172203"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90" name="Text Placeholder 3"/>
          <p:cNvSpPr/>
          <p:nvPr>
            <p:ph type="body" sz="quarter" idx="21"/>
          </p:nvPr>
        </p:nvSpPr>
        <p:spPr>
          <a:xfrm>
            <a:off x="839787" y="2057400"/>
            <a:ext cx="3932238" cy="3811588"/>
          </a:xfrm>
          <a:prstGeom prst="rect">
            <a:avLst/>
          </a:prstGeom>
        </p:spPr>
        <p:txBody>
          <a:bodyPr/>
          <a:lstStyle/>
          <a:p>
            <a:pP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98" name="Title Text"/>
          <p:cNvSpPr txBox="1"/>
          <p:nvPr>
            <p:ph type="title"/>
          </p:nvPr>
        </p:nvSpPr>
        <p:spPr>
          <a:xfrm>
            <a:off x="839787" y="457200"/>
            <a:ext cx="3932240" cy="1600200"/>
          </a:xfrm>
          <a:prstGeom prst="rect">
            <a:avLst/>
          </a:prstGeom>
        </p:spPr>
        <p:txBody>
          <a:bodyPr anchor="b"/>
          <a:lstStyle>
            <a:lvl1pPr>
              <a:defRPr sz="3200"/>
            </a:lvl1pPr>
          </a:lstStyle>
          <a:p>
            <a:pPr/>
            <a:r>
              <a:t>Title Text</a:t>
            </a:r>
          </a:p>
        </p:txBody>
      </p:sp>
      <p:sp>
        <p:nvSpPr>
          <p:cNvPr id="99" name="Picture Placeholder 2"/>
          <p:cNvSpPr/>
          <p:nvPr>
            <p:ph type="pic" sz="half" idx="21"/>
          </p:nvPr>
        </p:nvSpPr>
        <p:spPr>
          <a:xfrm>
            <a:off x="5183187" y="987425"/>
            <a:ext cx="6172203" cy="4873625"/>
          </a:xfrm>
          <a:prstGeom prst="rect">
            <a:avLst/>
          </a:prstGeom>
        </p:spPr>
        <p:txBody>
          <a:bodyPr lIns="91439" tIns="45719" rIns="91439" bIns="45719">
            <a:noAutofit/>
          </a:bodyPr>
          <a:lstStyle/>
          <a:p>
            <a:pPr/>
          </a:p>
        </p:txBody>
      </p:sp>
      <p:sp>
        <p:nvSpPr>
          <p:cNvPr id="100" name="Body Level One…"/>
          <p:cNvSpPr txBox="1"/>
          <p:nvPr>
            <p:ph type="body" sz="quarter" idx="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 Id="rId9" Type="http://schemas.openxmlformats.org/officeDocument/2006/relationships/slideLayout" Target="../slideLayouts/slideLayout4.xml"/><Relationship Id="rId10" Type="http://schemas.openxmlformats.org/officeDocument/2006/relationships/slideLayout" Target="../slideLayouts/slideLayout5.xml"/><Relationship Id="rId11" Type="http://schemas.openxmlformats.org/officeDocument/2006/relationships/slideLayout" Target="../slideLayouts/slideLayout6.xml"/><Relationship Id="rId12" Type="http://schemas.openxmlformats.org/officeDocument/2006/relationships/slideLayout" Target="../slideLayouts/slideLayout7.xml"/><Relationship Id="rId13" Type="http://schemas.openxmlformats.org/officeDocument/2006/relationships/slideLayout" Target="../slideLayouts/slideLayout8.xml"/><Relationship Id="rId1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3" y="-3"/>
            <a:ext cx="12192003" cy="1280162"/>
          </a:xfrm>
          <a:prstGeom prst="rect">
            <a:avLst/>
          </a:prstGeom>
          <a:solidFill>
            <a:srgbClr val="01234D"/>
          </a:solidFill>
          <a:ln w="19050">
            <a:solidFill>
              <a:srgbClr val="525755"/>
            </a:solidFill>
            <a:miter/>
          </a:ln>
        </p:spPr>
        <p:txBody>
          <a:bodyPr lIns="45718" tIns="45718" rIns="45718" bIns="45718" anchor="ctr"/>
          <a:lstStyle/>
          <a:p>
            <a:pPr algn="ctr">
              <a:defRPr>
                <a:solidFill>
                  <a:srgbClr val="FFFFFF"/>
                </a:solidFill>
                <a:latin typeface="+mj-lt"/>
                <a:ea typeface="+mj-ea"/>
                <a:cs typeface="+mj-cs"/>
                <a:sym typeface="Aptos"/>
              </a:defRPr>
            </a:pPr>
          </a:p>
        </p:txBody>
      </p:sp>
      <p:pic>
        <p:nvPicPr>
          <p:cNvPr id="3" name="Picture 14" descr="Picture 14"/>
          <p:cNvPicPr>
            <a:picLocks noChangeAspect="1"/>
          </p:cNvPicPr>
          <p:nvPr/>
        </p:nvPicPr>
        <p:blipFill>
          <a:blip r:embed="rId2">
            <a:extLst/>
          </a:blip>
          <a:stretch>
            <a:fillRect/>
          </a:stretch>
        </p:blipFill>
        <p:spPr>
          <a:xfrm>
            <a:off x="9006884" y="74822"/>
            <a:ext cx="1043157" cy="1043154"/>
          </a:xfrm>
          <a:prstGeom prst="rect">
            <a:avLst/>
          </a:prstGeom>
          <a:ln w="12700">
            <a:miter lim="400000"/>
          </a:ln>
        </p:spPr>
      </p:pic>
      <p:pic>
        <p:nvPicPr>
          <p:cNvPr id="4" name="Picture 15" descr="Picture 15"/>
          <p:cNvPicPr>
            <a:picLocks noChangeAspect="1"/>
          </p:cNvPicPr>
          <p:nvPr/>
        </p:nvPicPr>
        <p:blipFill>
          <a:blip r:embed="rId3">
            <a:extLst/>
          </a:blip>
          <a:stretch>
            <a:fillRect/>
          </a:stretch>
        </p:blipFill>
        <p:spPr>
          <a:xfrm>
            <a:off x="10947316" y="123389"/>
            <a:ext cx="884050" cy="884051"/>
          </a:xfrm>
          <a:prstGeom prst="rect">
            <a:avLst/>
          </a:prstGeom>
          <a:ln w="12700">
            <a:miter lim="400000"/>
          </a:ln>
        </p:spPr>
      </p:pic>
      <p:pic>
        <p:nvPicPr>
          <p:cNvPr id="5" name="Picture 16" descr="Picture 16"/>
          <p:cNvPicPr>
            <a:picLocks noChangeAspect="1"/>
          </p:cNvPicPr>
          <p:nvPr/>
        </p:nvPicPr>
        <p:blipFill>
          <a:blip r:embed="rId4">
            <a:extLst/>
          </a:blip>
          <a:stretch>
            <a:fillRect/>
          </a:stretch>
        </p:blipFill>
        <p:spPr>
          <a:xfrm>
            <a:off x="10127891" y="192303"/>
            <a:ext cx="785943" cy="785941"/>
          </a:xfrm>
          <a:prstGeom prst="rect">
            <a:avLst/>
          </a:prstGeom>
          <a:ln w="12700">
            <a:miter lim="400000"/>
          </a:ln>
        </p:spPr>
      </p:pic>
      <p:sp>
        <p:nvSpPr>
          <p:cNvPr id="6" name="TextBox 17"/>
          <p:cNvSpPr txBox="1"/>
          <p:nvPr/>
        </p:nvSpPr>
        <p:spPr>
          <a:xfrm>
            <a:off x="2620966" y="27424"/>
            <a:ext cx="5906911" cy="650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a:solidFill>
                  <a:srgbClr val="FFFFFF"/>
                </a:solidFill>
                <a:latin typeface="Gordita "/>
                <a:ea typeface="Gordita "/>
                <a:cs typeface="Gordita "/>
                <a:sym typeface="Gordita "/>
              </a:defRPr>
            </a:pPr>
            <a:r>
              <a:t>55</a:t>
            </a:r>
            <a:r>
              <a:rPr baseline="30000"/>
              <a:t>th</a:t>
            </a:r>
            <a:r>
              <a:t>   Annual Conference of </a:t>
            </a:r>
          </a:p>
          <a:p>
            <a:pPr>
              <a:defRPr b="1">
                <a:solidFill>
                  <a:srgbClr val="FFFFFF"/>
                </a:solidFill>
                <a:latin typeface="Gordita "/>
                <a:ea typeface="Gordita "/>
                <a:cs typeface="Gordita "/>
                <a:sym typeface="Gordita "/>
              </a:defRPr>
            </a:pPr>
            <a:r>
              <a:t>Orthopedic Surgeon Society of Andhra Pradesh</a:t>
            </a:r>
          </a:p>
        </p:txBody>
      </p:sp>
      <p:sp>
        <p:nvSpPr>
          <p:cNvPr id="7" name="TextBox 18"/>
          <p:cNvSpPr txBox="1"/>
          <p:nvPr/>
        </p:nvSpPr>
        <p:spPr>
          <a:xfrm>
            <a:off x="2646936" y="653898"/>
            <a:ext cx="6216058"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FFFFFF"/>
                </a:solidFill>
                <a:latin typeface="Gordita "/>
                <a:ea typeface="Gordita "/>
                <a:cs typeface="Gordita "/>
                <a:sym typeface="Gordita "/>
              </a:defRPr>
            </a:lvl1pPr>
          </a:lstStyle>
          <a:p>
            <a:pPr/>
            <a:r>
              <a:t>Date 6 – 8 February,2026, Venue : Kurnool Medical College</a:t>
            </a:r>
          </a:p>
        </p:txBody>
      </p:sp>
      <p:sp>
        <p:nvSpPr>
          <p:cNvPr id="8" name="TextBox 19"/>
          <p:cNvSpPr txBox="1"/>
          <p:nvPr/>
        </p:nvSpPr>
        <p:spPr>
          <a:xfrm>
            <a:off x="2620969" y="913339"/>
            <a:ext cx="7022591"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FFFFFF"/>
                </a:solidFill>
                <a:latin typeface="Gordita "/>
                <a:ea typeface="Gordita "/>
                <a:cs typeface="Gordita "/>
                <a:sym typeface="Gordita "/>
              </a:defRPr>
            </a:lvl1pPr>
          </a:lstStyle>
          <a:p>
            <a:pPr/>
            <a:r>
              <a:t>Organized by : Department of Orthopaedics, Kurnool Medical College Kurnool</a:t>
            </a:r>
          </a:p>
        </p:txBody>
      </p:sp>
      <p:sp>
        <p:nvSpPr>
          <p:cNvPr id="9" name="Freeform 13"/>
          <p:cNvSpPr/>
          <p:nvPr/>
        </p:nvSpPr>
        <p:spPr>
          <a:xfrm>
            <a:off x="560813" y="14254"/>
            <a:ext cx="1505562" cy="1280159"/>
          </a:xfrm>
          <a:prstGeom prst="rect">
            <a:avLst/>
          </a:prstGeom>
          <a:blipFill>
            <a:blip r:embed="rId5"/>
            <a:stretch>
              <a:fillRect/>
            </a:stretch>
          </a:blipFill>
          <a:ln w="12700">
            <a:miter lim="400000"/>
          </a:ln>
        </p:spPr>
        <p:txBody>
          <a:bodyPr lIns="45718" tIns="45718" rIns="45718" bIns="45718"/>
          <a:lstStyle/>
          <a:p>
            <a:pPr>
              <a:defRPr>
                <a:latin typeface="+mj-lt"/>
                <a:ea typeface="+mj-ea"/>
                <a:cs typeface="+mj-cs"/>
                <a:sym typeface="Aptos"/>
              </a:defRPr>
            </a:pPr>
          </a:p>
        </p:txBody>
      </p:sp>
      <p:sp>
        <p:nvSpPr>
          <p:cNvPr id="10"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Title Text</a:t>
            </a:r>
          </a:p>
        </p:txBody>
      </p:sp>
      <p:sp>
        <p:nvSpPr>
          <p:cNvPr id="11"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2" name="Slide Number"/>
          <p:cNvSpPr txBox="1"/>
          <p:nvPr>
            <p:ph type="sldNum" sz="quarter" idx="2"/>
          </p:nvPr>
        </p:nvSpPr>
        <p:spPr>
          <a:xfrm>
            <a:off x="8610600" y="6356350"/>
            <a:ext cx="358409" cy="370837"/>
          </a:xfrm>
          <a:prstGeom prst="rect">
            <a:avLst/>
          </a:prstGeom>
          <a:ln w="12700">
            <a:miter lim="400000"/>
          </a:ln>
        </p:spPr>
        <p:txBody>
          <a:bodyPr wrap="none" lIns="45718" tIns="45718" rIns="45718" bIns="45718">
            <a:spAutoFit/>
          </a:bodyPr>
          <a:lstStyle>
            <a:lvl1pPr>
              <a:defRPr>
                <a:latin typeface="+mj-lt"/>
                <a:ea typeface="+mj-ea"/>
                <a:cs typeface="+mj-cs"/>
                <a:sym typeface="Aptos"/>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2pPr>
      <a:lvl3pPr marL="1234438" marR="0" indent="-320038"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Aptos"/>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1pPr>
      <a:lvl2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2pPr>
      <a:lvl3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3pPr>
      <a:lvl4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4pPr>
      <a:lvl5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5pPr>
      <a:lvl6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6pPr>
      <a:lvl7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7pPr>
      <a:lvl8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8pPr>
      <a:lvl9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jpeg"/><Relationship Id="rId9" Type="http://schemas.openxmlformats.org/officeDocument/2006/relationships/image" Target="../media/image2.jpeg"/><Relationship Id="rId10" Type="http://schemas.openxmlformats.org/officeDocument/2006/relationships/image" Target="../media/image3.jpeg"/><Relationship Id="rId11" Type="http://schemas.openxmlformats.org/officeDocument/2006/relationships/image" Target="../media/image4.jpeg"/><Relationship Id="rId12" Type="http://schemas.openxmlformats.org/officeDocument/2006/relationships/image" Target="../media/image5.jpeg"/><Relationship Id="rId13" Type="http://schemas.openxmlformats.org/officeDocument/2006/relationships/image" Target="../media/image6.jpeg"/><Relationship Id="rId1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Rectangle 13"/>
          <p:cNvSpPr/>
          <p:nvPr/>
        </p:nvSpPr>
        <p:spPr>
          <a:xfrm>
            <a:off x="-3" y="-3"/>
            <a:ext cx="12192003" cy="1280162"/>
          </a:xfrm>
          <a:prstGeom prst="rect">
            <a:avLst/>
          </a:prstGeom>
          <a:solidFill>
            <a:srgbClr val="01234D"/>
          </a:solidFill>
          <a:ln w="19050">
            <a:solidFill>
              <a:srgbClr val="525755"/>
            </a:solidFill>
            <a:miter/>
          </a:ln>
        </p:spPr>
        <p:txBody>
          <a:bodyPr lIns="45718" tIns="45718" rIns="45718" bIns="45718" anchor="ctr"/>
          <a:lstStyle/>
          <a:p>
            <a:pPr algn="ctr">
              <a:defRPr>
                <a:solidFill>
                  <a:srgbClr val="FFFFFF"/>
                </a:solidFill>
                <a:latin typeface="+mj-lt"/>
                <a:ea typeface="+mj-ea"/>
                <a:cs typeface="+mj-cs"/>
                <a:sym typeface="Aptos"/>
              </a:defRPr>
            </a:pPr>
          </a:p>
        </p:txBody>
      </p:sp>
      <p:pic>
        <p:nvPicPr>
          <p:cNvPr id="111" name="Picture 15" descr="Picture 15"/>
          <p:cNvPicPr>
            <a:picLocks noChangeAspect="1"/>
          </p:cNvPicPr>
          <p:nvPr/>
        </p:nvPicPr>
        <p:blipFill>
          <a:blip r:embed="rId2">
            <a:extLst/>
          </a:blip>
          <a:stretch>
            <a:fillRect/>
          </a:stretch>
        </p:blipFill>
        <p:spPr>
          <a:xfrm>
            <a:off x="11307143" y="297875"/>
            <a:ext cx="884050" cy="884048"/>
          </a:xfrm>
          <a:prstGeom prst="rect">
            <a:avLst/>
          </a:prstGeom>
          <a:ln w="12700">
            <a:miter lim="400000"/>
          </a:ln>
        </p:spPr>
      </p:pic>
      <p:pic>
        <p:nvPicPr>
          <p:cNvPr id="112" name="Picture 16" descr="Picture 16"/>
          <p:cNvPicPr>
            <a:picLocks noChangeAspect="1"/>
          </p:cNvPicPr>
          <p:nvPr/>
        </p:nvPicPr>
        <p:blipFill>
          <a:blip r:embed="rId3">
            <a:extLst/>
          </a:blip>
          <a:stretch>
            <a:fillRect/>
          </a:stretch>
        </p:blipFill>
        <p:spPr>
          <a:xfrm>
            <a:off x="10531729" y="388380"/>
            <a:ext cx="785943" cy="785941"/>
          </a:xfrm>
          <a:prstGeom prst="rect">
            <a:avLst/>
          </a:prstGeom>
          <a:ln w="12700">
            <a:miter lim="400000"/>
          </a:ln>
        </p:spPr>
      </p:pic>
      <p:sp>
        <p:nvSpPr>
          <p:cNvPr id="113" name="TextBox 17"/>
          <p:cNvSpPr txBox="1"/>
          <p:nvPr/>
        </p:nvSpPr>
        <p:spPr>
          <a:xfrm>
            <a:off x="2675492" y="772737"/>
            <a:ext cx="8849957" cy="307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defRPr b="1" sz="1400">
                <a:solidFill>
                  <a:srgbClr val="FFFFFF"/>
                </a:solidFill>
                <a:latin typeface="Gordita "/>
                <a:ea typeface="Gordita "/>
                <a:cs typeface="Gordita "/>
                <a:sym typeface="Gordita "/>
              </a:defRPr>
            </a:pPr>
            <a:r>
              <a:t>55</a:t>
            </a:r>
            <a:r>
              <a:rPr baseline="28999"/>
              <a:t>th</a:t>
            </a:r>
            <a:r>
              <a:t>   Annual Conference of Orthopedic Surgeon Society of  AndhraPradesh</a:t>
            </a:r>
          </a:p>
        </p:txBody>
      </p:sp>
      <p:sp>
        <p:nvSpPr>
          <p:cNvPr id="114" name="TextBox 19"/>
          <p:cNvSpPr txBox="1"/>
          <p:nvPr/>
        </p:nvSpPr>
        <p:spPr>
          <a:xfrm>
            <a:off x="2894391" y="1047304"/>
            <a:ext cx="7022591" cy="2692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200">
                <a:solidFill>
                  <a:srgbClr val="FFFFFF"/>
                </a:solidFill>
                <a:latin typeface="Gordita "/>
                <a:ea typeface="Gordita "/>
                <a:cs typeface="Gordita "/>
                <a:sym typeface="Gordita "/>
              </a:defRPr>
            </a:lvl1pPr>
          </a:lstStyle>
          <a:p>
            <a:pPr/>
            <a:r>
              <a:t>Organized by : Department of Orthopaedics, Kurnool Medical College Kurnool</a:t>
            </a:r>
          </a:p>
        </p:txBody>
      </p:sp>
      <p:sp>
        <p:nvSpPr>
          <p:cNvPr id="115" name="Freeform 13"/>
          <p:cNvSpPr/>
          <p:nvPr/>
        </p:nvSpPr>
        <p:spPr>
          <a:xfrm>
            <a:off x="-146093" y="120486"/>
            <a:ext cx="1505562" cy="1280159"/>
          </a:xfrm>
          <a:prstGeom prst="rect">
            <a:avLst/>
          </a:prstGeom>
          <a:blipFill>
            <a:blip r:embed="rId4"/>
            <a:stretch>
              <a:fillRect/>
            </a:stretch>
          </a:blipFill>
          <a:ln w="12700">
            <a:miter lim="400000"/>
          </a:ln>
        </p:spPr>
        <p:txBody>
          <a:bodyPr lIns="45718" tIns="45718" rIns="45718" bIns="45718"/>
          <a:lstStyle/>
          <a:p>
            <a:pPr>
              <a:defRPr>
                <a:latin typeface="+mj-lt"/>
                <a:ea typeface="+mj-ea"/>
                <a:cs typeface="+mj-cs"/>
                <a:sym typeface="Aptos"/>
              </a:defRPr>
            </a:pPr>
          </a:p>
        </p:txBody>
      </p:sp>
      <p:grpSp>
        <p:nvGrpSpPr>
          <p:cNvPr id="118" name="Rectangle 4"/>
          <p:cNvGrpSpPr/>
          <p:nvPr/>
        </p:nvGrpSpPr>
        <p:grpSpPr>
          <a:xfrm>
            <a:off x="-4" y="1674795"/>
            <a:ext cx="2987128" cy="2383367"/>
            <a:chOff x="0" y="0"/>
            <a:chExt cx="2987126" cy="2383365"/>
          </a:xfrm>
        </p:grpSpPr>
        <p:sp>
          <p:nvSpPr>
            <p:cNvPr id="116" name="Rectangle"/>
            <p:cNvSpPr/>
            <p:nvPr/>
          </p:nvSpPr>
          <p:spPr>
            <a:xfrm>
              <a:off x="-1" y="0"/>
              <a:ext cx="2987128" cy="2383366"/>
            </a:xfrm>
            <a:prstGeom prst="rect">
              <a:avLst/>
            </a:prstGeom>
            <a:noFill/>
            <a:ln w="19050" cap="flat">
              <a:solidFill>
                <a:srgbClr val="0F465F"/>
              </a:solidFill>
              <a:prstDash val="solid"/>
              <a:miter lim="800000"/>
            </a:ln>
            <a:effectLst/>
          </p:spPr>
          <p:txBody>
            <a:bodyPr wrap="square" lIns="45718" tIns="45718" rIns="45718" bIns="45718" numCol="1" anchor="ctr">
              <a:noAutofit/>
            </a:bodyPr>
            <a:lstStyle/>
            <a:p>
              <a:pPr defTabSz="457200">
                <a:spcBef>
                  <a:spcPts val="1200"/>
                </a:spcBef>
                <a:defRPr sz="1200">
                  <a:latin typeface="Times New Roman"/>
                  <a:ea typeface="Times New Roman"/>
                  <a:cs typeface="Times New Roman"/>
                  <a:sym typeface="Times New Roman"/>
                </a:defRPr>
              </a:pPr>
            </a:p>
          </p:txBody>
        </p:sp>
        <p:sp>
          <p:nvSpPr>
            <p:cNvPr id="117" name="In recent years, the three-column fixation technique for complex tibial plateau fractures has evolved, emphasizing a three-dimensional understanding of fracture patterns. Traditional classification systems rely on two-dimensional imaging, often focusing "/>
            <p:cNvSpPr txBox="1"/>
            <p:nvPr/>
          </p:nvSpPr>
          <p:spPr>
            <a:xfrm>
              <a:off x="9524" y="234532"/>
              <a:ext cx="2968078" cy="1914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defTabSz="457200">
                <a:spcBef>
                  <a:spcPts val="1200"/>
                </a:spcBef>
                <a:defRPr sz="1100">
                  <a:latin typeface="Times New Roman"/>
                  <a:ea typeface="Times New Roman"/>
                  <a:cs typeface="Times New Roman"/>
                  <a:sym typeface="Times New Roman"/>
                </a:defRPr>
              </a:lvl1pPr>
            </a:lstStyle>
            <a:p>
              <a:pPr/>
              <a:r>
                <a:t>In recent years, the three-column fixation technique for complex tibial plateau fractures has evolved, emphasizing a three-dimensional understanding of fracture patterns. Traditional classification systems rely on two-dimensional imaging, often focusing only on medial and lateral fixation while neglecting posterior stabilization. With increased use of CT scan evaluation, the importance of posterior fixation, particularly for the posteromedial fragment, is now being recognized as essential for optimal fracture management.</a:t>
              </a:r>
            </a:p>
          </p:txBody>
        </p:sp>
      </p:grpSp>
      <p:grpSp>
        <p:nvGrpSpPr>
          <p:cNvPr id="121" name="Rectangle 5"/>
          <p:cNvGrpSpPr/>
          <p:nvPr/>
        </p:nvGrpSpPr>
        <p:grpSpPr>
          <a:xfrm>
            <a:off x="21799" y="4438540"/>
            <a:ext cx="2973307" cy="2421846"/>
            <a:chOff x="0" y="-1"/>
            <a:chExt cx="2973306" cy="2421845"/>
          </a:xfrm>
        </p:grpSpPr>
        <p:sp>
          <p:nvSpPr>
            <p:cNvPr id="119" name="Rectangle"/>
            <p:cNvSpPr/>
            <p:nvPr/>
          </p:nvSpPr>
          <p:spPr>
            <a:xfrm>
              <a:off x="-1" y="-2"/>
              <a:ext cx="2973307" cy="2421846"/>
            </a:xfrm>
            <a:prstGeom prst="rect">
              <a:avLst/>
            </a:prstGeom>
            <a:noFill/>
            <a:ln w="19050" cap="flat">
              <a:solidFill>
                <a:srgbClr val="0F465F"/>
              </a:solidFill>
              <a:prstDash val="solid"/>
              <a:miter lim="800000"/>
            </a:ln>
            <a:effectLst/>
          </p:spPr>
          <p:txBody>
            <a:bodyPr wrap="square" lIns="45718" tIns="45718" rIns="45718" bIns="45718" numCol="1" anchor="ctr">
              <a:noAutofit/>
            </a:bodyPr>
            <a:lstStyle/>
            <a:p>
              <a:pPr defTabSz="457200">
                <a:spcBef>
                  <a:spcPts val="1600"/>
                </a:spcBef>
                <a:defRPr sz="1200">
                  <a:latin typeface="Times New Roman"/>
                  <a:ea typeface="Times New Roman"/>
                  <a:cs typeface="Times New Roman"/>
                  <a:sym typeface="Times New Roman"/>
                </a:defRPr>
              </a:pPr>
            </a:p>
          </p:txBody>
        </p:sp>
        <p:sp>
          <p:nvSpPr>
            <p:cNvPr id="120" name="Type of study: Prospective. Place of study: Dr.Pinnamaneni SIMS&amp;RF  Sample size and inclusion criteria: 20 patients with displaced tibial plateau fractures with posterior column involvement. Duration of study: 1 ½ years (December 2023 to May 2025). Mater"/>
            <p:cNvSpPr txBox="1"/>
            <p:nvPr/>
          </p:nvSpPr>
          <p:spPr>
            <a:xfrm>
              <a:off x="9524" y="49679"/>
              <a:ext cx="2954257" cy="23224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defTabSz="457200">
                <a:spcBef>
                  <a:spcPts val="1600"/>
                </a:spcBef>
                <a:defRPr sz="1000">
                  <a:latin typeface="Arial"/>
                  <a:ea typeface="Arial"/>
                  <a:cs typeface="Arial"/>
                  <a:sym typeface="Arial"/>
                </a:defRPr>
              </a:pPr>
              <a:r>
                <a:t>Type of study: Prospective.</a:t>
              </a:r>
              <a:br/>
              <a:r>
                <a:t>Place of study: Dr.Pinnamaneni SIMS&amp;RF </a:t>
              </a:r>
              <a:br/>
              <a:r>
                <a:t>Sample size and inclusion criteria: 20 patients with displaced tibial plateau fractures with posterior column involvement.</a:t>
              </a:r>
              <a:br/>
              <a:r>
                <a:t>Duration of study: 1 ½ years (December 2023 to May 2025).</a:t>
              </a:r>
              <a:br/>
              <a:r>
                <a:t>Material: Proximal tibial locking plates, T/L buttress plates, posteromedial and posterior tibial locking plate,6.5 and 4mm cancellous screws (locking, non-locking), 4.5, 4.9 mm cortical screws (locking, non-locking).</a:t>
              </a:r>
              <a:br/>
              <a:r>
                <a:t>Position of patient during surgery: Both supine and prone </a:t>
              </a:r>
              <a:br/>
              <a:r>
                <a:t>Approach: Posteromedial (Loben Hoffer), posterolateral (mod.Frosch),Antero lateral.</a:t>
              </a:r>
            </a:p>
          </p:txBody>
        </p:sp>
      </p:grpSp>
      <p:grpSp>
        <p:nvGrpSpPr>
          <p:cNvPr id="124" name="Rectangle 8"/>
          <p:cNvGrpSpPr/>
          <p:nvPr/>
        </p:nvGrpSpPr>
        <p:grpSpPr>
          <a:xfrm>
            <a:off x="7489398" y="1711857"/>
            <a:ext cx="4701794" cy="1925231"/>
            <a:chOff x="0" y="0"/>
            <a:chExt cx="4701793" cy="1925229"/>
          </a:xfrm>
        </p:grpSpPr>
        <p:sp>
          <p:nvSpPr>
            <p:cNvPr id="122" name="Rectangle"/>
            <p:cNvSpPr/>
            <p:nvPr/>
          </p:nvSpPr>
          <p:spPr>
            <a:xfrm>
              <a:off x="0" y="0"/>
              <a:ext cx="4701794" cy="1925230"/>
            </a:xfrm>
            <a:prstGeom prst="rect">
              <a:avLst/>
            </a:prstGeom>
            <a:noFill/>
            <a:ln w="19050" cap="flat">
              <a:solidFill>
                <a:srgbClr val="0F465F"/>
              </a:solidFill>
              <a:prstDash val="solid"/>
              <a:miter lim="800000"/>
            </a:ln>
            <a:effectLst/>
          </p:spPr>
          <p:txBody>
            <a:bodyPr wrap="square" lIns="45718" tIns="45718" rIns="45718" bIns="45718" numCol="1" anchor="ctr">
              <a:noAutofit/>
            </a:bodyPr>
            <a:lstStyle/>
            <a:p>
              <a:pPr defTabSz="457200">
                <a:defRPr sz="1200">
                  <a:latin typeface="Times New Roman"/>
                  <a:ea typeface="Times New Roman"/>
                  <a:cs typeface="Times New Roman"/>
                  <a:sym typeface="Times New Roman"/>
                </a:defRPr>
              </a:pPr>
            </a:p>
          </p:txBody>
        </p:sp>
        <p:sp>
          <p:nvSpPr>
            <p:cNvPr id="123" name="Tibial plateau fractures were more commonly seen in the active productive age group (25- 50 years) due to high-energy trauma.…"/>
            <p:cNvSpPr txBox="1"/>
            <p:nvPr/>
          </p:nvSpPr>
          <p:spPr>
            <a:xfrm>
              <a:off x="9525" y="119289"/>
              <a:ext cx="4682744" cy="16866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defTabSz="457200">
                <a:defRPr sz="1200">
                  <a:latin typeface="Arial"/>
                  <a:ea typeface="Arial"/>
                  <a:cs typeface="Arial"/>
                  <a:sym typeface="Arial"/>
                </a:defRPr>
              </a:pPr>
              <a:r>
                <a:t>Tibial plateau fractures were more commonly seen in the active productive age group (25- 50 years) due to high-energy trauma.</a:t>
              </a:r>
              <a:endParaRPr>
                <a:latin typeface="Times New Roman"/>
                <a:ea typeface="Times New Roman"/>
                <a:cs typeface="Times New Roman"/>
                <a:sym typeface="Times New Roman"/>
              </a:endParaRPr>
            </a:p>
            <a:p>
              <a:pPr defTabSz="457200">
                <a:defRPr sz="1200">
                  <a:latin typeface="Arial"/>
                  <a:ea typeface="Arial"/>
                  <a:cs typeface="Arial"/>
                  <a:sym typeface="Arial"/>
                </a:defRPr>
              </a:pPr>
              <a:r>
                <a:t>• posteromedial and posterior fractures are often not able to fix with anterolateral plate alone. Fixation of posteromedial and posterolateral fractures is essential in obtaining an excellent clinical and radiological outcome in the high energy tibial plateau fractures.</a:t>
              </a:r>
              <a:endParaRPr>
                <a:latin typeface="Times New Roman"/>
                <a:ea typeface="Times New Roman"/>
                <a:cs typeface="Times New Roman"/>
                <a:sym typeface="Times New Roman"/>
              </a:endParaRPr>
            </a:p>
            <a:p>
              <a:pPr defTabSz="457200">
                <a:defRPr sz="1200">
                  <a:latin typeface="Arial"/>
                  <a:ea typeface="Arial"/>
                  <a:cs typeface="Arial"/>
                  <a:sym typeface="Arial"/>
                </a:defRPr>
              </a:pPr>
              <a:r>
                <a:t>• Failure to fix the posteromedial fragment results in varus collapse, decreased range of motion and poor clinical outcome in displaced tibial plateau fractures.</a:t>
              </a:r>
            </a:p>
          </p:txBody>
        </p:sp>
      </p:grpSp>
      <p:grpSp>
        <p:nvGrpSpPr>
          <p:cNvPr id="127" name="Rectangle 9"/>
          <p:cNvGrpSpPr/>
          <p:nvPr/>
        </p:nvGrpSpPr>
        <p:grpSpPr>
          <a:xfrm>
            <a:off x="-3" y="1290020"/>
            <a:ext cx="2946760" cy="370837"/>
            <a:chOff x="0" y="0"/>
            <a:chExt cx="2946759" cy="370835"/>
          </a:xfrm>
        </p:grpSpPr>
        <p:sp>
          <p:nvSpPr>
            <p:cNvPr id="125" name="Rectangle"/>
            <p:cNvSpPr/>
            <p:nvPr/>
          </p:nvSpPr>
          <p:spPr>
            <a:xfrm>
              <a:off x="0" y="17802"/>
              <a:ext cx="2946760" cy="335229"/>
            </a:xfrm>
            <a:prstGeom prst="rect">
              <a:avLst/>
            </a:prstGeom>
            <a:solidFill>
              <a:srgbClr val="A6CAEC"/>
            </a:solidFill>
            <a:ln w="19050" cap="flat">
              <a:solidFill>
                <a:srgbClr val="0F465F"/>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Aptos"/>
                </a:defRPr>
              </a:pPr>
            </a:p>
          </p:txBody>
        </p:sp>
        <p:sp>
          <p:nvSpPr>
            <p:cNvPr id="126" name="INTRODUCTION"/>
            <p:cNvSpPr txBox="1"/>
            <p:nvPr/>
          </p:nvSpPr>
          <p:spPr>
            <a:xfrm>
              <a:off x="52363" y="-1"/>
              <a:ext cx="2842035"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latin typeface="+mj-lt"/>
                  <a:ea typeface="+mj-ea"/>
                  <a:cs typeface="+mj-cs"/>
                  <a:sym typeface="Aptos"/>
                </a:defRPr>
              </a:lvl1pPr>
            </a:lstStyle>
            <a:p>
              <a:pPr/>
              <a:r>
                <a:t>INTRODUCTION </a:t>
              </a:r>
            </a:p>
          </p:txBody>
        </p:sp>
      </p:grpSp>
      <p:grpSp>
        <p:nvGrpSpPr>
          <p:cNvPr id="130" name="Rectangle 21"/>
          <p:cNvGrpSpPr/>
          <p:nvPr/>
        </p:nvGrpSpPr>
        <p:grpSpPr>
          <a:xfrm>
            <a:off x="7467389" y="5694907"/>
            <a:ext cx="4895998" cy="370837"/>
            <a:chOff x="0" y="0"/>
            <a:chExt cx="4895997" cy="370835"/>
          </a:xfrm>
        </p:grpSpPr>
        <p:sp>
          <p:nvSpPr>
            <p:cNvPr id="128" name="Rectangle"/>
            <p:cNvSpPr/>
            <p:nvPr/>
          </p:nvSpPr>
          <p:spPr>
            <a:xfrm>
              <a:off x="-1" y="26318"/>
              <a:ext cx="4850112" cy="327787"/>
            </a:xfrm>
            <a:prstGeom prst="rect">
              <a:avLst/>
            </a:prstGeom>
            <a:solidFill>
              <a:srgbClr val="A6CAEC"/>
            </a:solidFill>
            <a:ln w="19050" cap="flat">
              <a:solidFill>
                <a:srgbClr val="0F465F"/>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Aptos"/>
                </a:defRPr>
              </a:pPr>
            </a:p>
          </p:txBody>
        </p:sp>
        <p:sp>
          <p:nvSpPr>
            <p:cNvPr id="129" name="CONCLUSION"/>
            <p:cNvSpPr txBox="1"/>
            <p:nvPr/>
          </p:nvSpPr>
          <p:spPr>
            <a:xfrm>
              <a:off x="137658" y="-1"/>
              <a:ext cx="4758340"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solidFill>
                    <a:srgbClr val="0D0D0D"/>
                  </a:solidFill>
                  <a:latin typeface="+mj-lt"/>
                  <a:ea typeface="+mj-ea"/>
                  <a:cs typeface="+mj-cs"/>
                  <a:sym typeface="Aptos"/>
                </a:defRPr>
              </a:lvl1pPr>
            </a:lstStyle>
            <a:p>
              <a:pPr/>
              <a:r>
                <a:t>CONCLUSION</a:t>
              </a:r>
            </a:p>
          </p:txBody>
        </p:sp>
      </p:grpSp>
      <p:sp>
        <p:nvSpPr>
          <p:cNvPr id="131" name="FUNCTIONAL OUTCOME OF COMPLEX TIBIAL PLATEAU FRACTURES SURGICALLY MANAGED BY OPEN REDUCTION AND INTERNAL FIXATION WITH COLUMN SPECIFIC PLATING"/>
          <p:cNvSpPr txBox="1"/>
          <p:nvPr/>
        </p:nvSpPr>
        <p:spPr>
          <a:xfrm>
            <a:off x="1111579" y="77949"/>
            <a:ext cx="10195566" cy="54198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defTabSz="457200">
              <a:defRPr sz="1600">
                <a:solidFill>
                  <a:srgbClr val="FEFB41"/>
                </a:solidFill>
                <a:latin typeface="Arial"/>
                <a:ea typeface="Arial"/>
                <a:cs typeface="Arial"/>
                <a:sym typeface="Arial"/>
              </a:defRPr>
            </a:lvl1pPr>
          </a:lstStyle>
          <a:p>
            <a:pPr/>
            <a:r>
              <a:t>FUNCTIONAL OUTCOME OF COMPLEX TIBIAL PLATEAU FRACTURES SURGICALLY MANAGED BY OPEN REDUCTION AND INTERNAL FIXATION WITH COLUMN SPECIFIC PLATING</a:t>
            </a:r>
          </a:p>
        </p:txBody>
      </p:sp>
      <p:grpSp>
        <p:nvGrpSpPr>
          <p:cNvPr id="134" name="Rectangle 8"/>
          <p:cNvGrpSpPr/>
          <p:nvPr/>
        </p:nvGrpSpPr>
        <p:grpSpPr>
          <a:xfrm>
            <a:off x="7486167" y="6049009"/>
            <a:ext cx="4665333" cy="832958"/>
            <a:chOff x="0" y="0"/>
            <a:chExt cx="4665331" cy="832957"/>
          </a:xfrm>
        </p:grpSpPr>
        <p:sp>
          <p:nvSpPr>
            <p:cNvPr id="132" name="Rectangle"/>
            <p:cNvSpPr/>
            <p:nvPr/>
          </p:nvSpPr>
          <p:spPr>
            <a:xfrm>
              <a:off x="0" y="-1"/>
              <a:ext cx="4665332" cy="832959"/>
            </a:xfrm>
            <a:prstGeom prst="rect">
              <a:avLst/>
            </a:prstGeom>
            <a:noFill/>
            <a:ln w="19050" cap="flat">
              <a:solidFill>
                <a:srgbClr val="0F465F"/>
              </a:solidFill>
              <a:prstDash val="solid"/>
              <a:miter lim="800000"/>
            </a:ln>
            <a:effectLst/>
          </p:spPr>
          <p:txBody>
            <a:bodyPr wrap="square" lIns="45718" tIns="45718" rIns="45718" bIns="45718" numCol="1" anchor="ctr">
              <a:noAutofit/>
            </a:bodyPr>
            <a:lstStyle/>
            <a:p>
              <a:pPr defTabSz="457200">
                <a:defRPr sz="1200">
                  <a:latin typeface="Times New Roman"/>
                  <a:ea typeface="Times New Roman"/>
                  <a:cs typeface="Times New Roman"/>
                  <a:sym typeface="Times New Roman"/>
                </a:defRPr>
              </a:pPr>
            </a:p>
          </p:txBody>
        </p:sp>
        <p:sp>
          <p:nvSpPr>
            <p:cNvPr id="133" name="Three-column fixation is a new fixation concept in treating complex tibial plateau fractures, especially useful for multiplanar fractures involving posterior column with excellent functional outcome."/>
            <p:cNvSpPr txBox="1"/>
            <p:nvPr/>
          </p:nvSpPr>
          <p:spPr>
            <a:xfrm>
              <a:off x="9525" y="17653"/>
              <a:ext cx="4646282" cy="7976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defTabSz="457200">
                <a:defRPr sz="1200">
                  <a:latin typeface="Arial"/>
                  <a:ea typeface="Arial"/>
                  <a:cs typeface="Arial"/>
                  <a:sym typeface="Arial"/>
                </a:defRPr>
              </a:lvl1pPr>
            </a:lstStyle>
            <a:p>
              <a:pPr/>
              <a:r>
                <a:t>Three-column fixation is an advanced fixation concept in treating complex tibial plateau fractures, especially useful for multiplanar fractures involving posterior column with excellent functional outcome.</a:t>
              </a:r>
            </a:p>
          </p:txBody>
        </p:sp>
      </p:grpSp>
      <p:grpSp>
        <p:nvGrpSpPr>
          <p:cNvPr id="137" name="Rectangle 12"/>
          <p:cNvGrpSpPr/>
          <p:nvPr/>
        </p:nvGrpSpPr>
        <p:grpSpPr>
          <a:xfrm>
            <a:off x="-3" y="4058155"/>
            <a:ext cx="2955633" cy="375178"/>
            <a:chOff x="0" y="0"/>
            <a:chExt cx="2955631" cy="375177"/>
          </a:xfrm>
        </p:grpSpPr>
        <p:sp>
          <p:nvSpPr>
            <p:cNvPr id="135" name="Rectangle"/>
            <p:cNvSpPr/>
            <p:nvPr/>
          </p:nvSpPr>
          <p:spPr>
            <a:xfrm>
              <a:off x="-1" y="-1"/>
              <a:ext cx="2955633" cy="375178"/>
            </a:xfrm>
            <a:prstGeom prst="rect">
              <a:avLst/>
            </a:prstGeom>
            <a:solidFill>
              <a:srgbClr val="A6CAEC"/>
            </a:solidFill>
            <a:ln w="19050" cap="flat">
              <a:solidFill>
                <a:srgbClr val="0F465F"/>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Aptos"/>
                </a:defRPr>
              </a:pPr>
            </a:p>
          </p:txBody>
        </p:sp>
        <p:sp>
          <p:nvSpPr>
            <p:cNvPr id="136" name="MATERIALS &amp; METHODS"/>
            <p:cNvSpPr txBox="1"/>
            <p:nvPr/>
          </p:nvSpPr>
          <p:spPr>
            <a:xfrm>
              <a:off x="52520" y="2167"/>
              <a:ext cx="2850591" cy="3708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solidFill>
                    <a:srgbClr val="0D0D0D"/>
                  </a:solidFill>
                  <a:latin typeface="+mj-lt"/>
                  <a:ea typeface="+mj-ea"/>
                  <a:cs typeface="+mj-cs"/>
                  <a:sym typeface="Aptos"/>
                </a:defRPr>
              </a:lvl1pPr>
            </a:lstStyle>
            <a:p>
              <a:pPr/>
              <a:r>
                <a:t>MATERIALS &amp; METHODS</a:t>
              </a:r>
            </a:p>
          </p:txBody>
        </p:sp>
      </p:grpSp>
      <p:grpSp>
        <p:nvGrpSpPr>
          <p:cNvPr id="140" name="Rectangle 8"/>
          <p:cNvGrpSpPr/>
          <p:nvPr/>
        </p:nvGrpSpPr>
        <p:grpSpPr>
          <a:xfrm>
            <a:off x="7525860" y="3840344"/>
            <a:ext cx="4665332" cy="1854428"/>
            <a:chOff x="0" y="0"/>
            <a:chExt cx="4665331" cy="1854427"/>
          </a:xfrm>
        </p:grpSpPr>
        <p:sp>
          <p:nvSpPr>
            <p:cNvPr id="138" name="Rectangle"/>
            <p:cNvSpPr/>
            <p:nvPr/>
          </p:nvSpPr>
          <p:spPr>
            <a:xfrm>
              <a:off x="0" y="0"/>
              <a:ext cx="4665332" cy="1854428"/>
            </a:xfrm>
            <a:prstGeom prst="rect">
              <a:avLst/>
            </a:prstGeom>
            <a:noFill/>
            <a:ln w="19050" cap="flat">
              <a:solidFill>
                <a:srgbClr val="0F465F"/>
              </a:solidFill>
              <a:prstDash val="solid"/>
              <a:miter lim="800000"/>
            </a:ln>
            <a:effectLst/>
          </p:spPr>
          <p:txBody>
            <a:bodyPr wrap="square" lIns="45718" tIns="45718" rIns="45718" bIns="45718" numCol="1" anchor="ctr">
              <a:noAutofit/>
            </a:bodyPr>
            <a:lstStyle/>
            <a:p>
              <a:pPr defTabSz="457200">
                <a:defRPr sz="1100">
                  <a:latin typeface="Times New Roman"/>
                  <a:ea typeface="Times New Roman"/>
                  <a:cs typeface="Times New Roman"/>
                  <a:sym typeface="Times New Roman"/>
                </a:defRPr>
              </a:pPr>
            </a:p>
          </p:txBody>
        </p:sp>
        <p:sp>
          <p:nvSpPr>
            <p:cNvPr id="139" name="• Majority - male (90%) - RTA, no significant diff. on the side affected.…"/>
            <p:cNvSpPr txBox="1"/>
            <p:nvPr/>
          </p:nvSpPr>
          <p:spPr>
            <a:xfrm>
              <a:off x="9525" y="45993"/>
              <a:ext cx="4646282" cy="17624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defTabSz="457200">
                <a:defRPr sz="1000">
                  <a:latin typeface="Times New Roman"/>
                  <a:ea typeface="Times New Roman"/>
                  <a:cs typeface="Times New Roman"/>
                  <a:sym typeface="Times New Roman"/>
                </a:defRPr>
              </a:pPr>
            </a:p>
            <a:p>
              <a:pPr defTabSz="457200">
                <a:defRPr sz="1000">
                  <a:latin typeface="Times New Roman"/>
                  <a:ea typeface="Times New Roman"/>
                  <a:cs typeface="Times New Roman"/>
                  <a:sym typeface="Times New Roman"/>
                </a:defRPr>
              </a:pPr>
              <a:r>
                <a:t>• Majority - male (90%) - RTA, no significant diff. on the side affected.</a:t>
              </a:r>
              <a:endParaRPr sz="900"/>
            </a:p>
            <a:p>
              <a:pPr defTabSz="457200">
                <a:defRPr sz="1000">
                  <a:latin typeface="Times New Roman"/>
                  <a:ea typeface="Times New Roman"/>
                  <a:cs typeface="Times New Roman"/>
                  <a:sym typeface="Times New Roman"/>
                </a:defRPr>
              </a:pPr>
              <a:r>
                <a:t>• Fracture distribution- 80% of two- column fracture 50% (Schatzker type V 60% and type VI 40%), and 20% of three-column fractures (Schatzker Type V 70% and Schatzker VI 30%) included</a:t>
              </a:r>
              <a:endParaRPr sz="900"/>
            </a:p>
            <a:p>
              <a:pPr defTabSz="457200">
                <a:defRPr sz="1000">
                  <a:latin typeface="Times New Roman"/>
                  <a:ea typeface="Times New Roman"/>
                  <a:cs typeface="Times New Roman"/>
                  <a:sym typeface="Times New Roman"/>
                </a:defRPr>
              </a:pPr>
              <a:r>
                <a:t>• 40% of patients had an excellent outcome, 50% of patients had a good outcome, 10% of patients had poor clinical, and 10% had fair radiological outcome.</a:t>
              </a:r>
              <a:endParaRPr sz="900"/>
            </a:p>
            <a:p>
              <a:pPr defTabSz="457200">
                <a:defRPr sz="1000">
                  <a:latin typeface="Times New Roman"/>
                  <a:ea typeface="Times New Roman"/>
                  <a:cs typeface="Times New Roman"/>
                  <a:sym typeface="Times New Roman"/>
                </a:defRPr>
              </a:pPr>
              <a:r>
                <a:t>• No patient developed neurovascular injury, no implant breakage, no varus valus deformity, no delayed union, or non- union in our study.</a:t>
              </a:r>
              <a:endParaRPr sz="900"/>
            </a:p>
            <a:p>
              <a:pPr defTabSz="457200">
                <a:defRPr sz="1000">
                  <a:latin typeface="Times New Roman"/>
                  <a:ea typeface="Times New Roman"/>
                  <a:cs typeface="Times New Roman"/>
                  <a:sym typeface="Times New Roman"/>
                </a:defRPr>
              </a:pPr>
              <a:r>
                <a:t>• Infection- Two cases of bicolumnar tibial plateau fracture, treated with appropriate antibiotics</a:t>
              </a:r>
              <a:endParaRPr sz="900"/>
            </a:p>
            <a:p>
              <a:pPr defTabSz="457200">
                <a:defRPr sz="1000">
                  <a:latin typeface="Times New Roman"/>
                  <a:ea typeface="Times New Roman"/>
                  <a:cs typeface="Times New Roman"/>
                  <a:sym typeface="Times New Roman"/>
                </a:defRPr>
              </a:pPr>
              <a:r>
                <a:t>• F/u period- longest was 12 months, shortest was 4 months, mean was 10 months.</a:t>
              </a:r>
            </a:p>
          </p:txBody>
        </p:sp>
      </p:grpSp>
      <p:grpSp>
        <p:nvGrpSpPr>
          <p:cNvPr id="143" name="Rectangle 21"/>
          <p:cNvGrpSpPr/>
          <p:nvPr/>
        </p:nvGrpSpPr>
        <p:grpSpPr>
          <a:xfrm>
            <a:off x="7513273" y="3621239"/>
            <a:ext cx="4850111" cy="370837"/>
            <a:chOff x="0" y="0"/>
            <a:chExt cx="4850110" cy="370835"/>
          </a:xfrm>
        </p:grpSpPr>
        <p:sp>
          <p:nvSpPr>
            <p:cNvPr id="141" name="Rectangle"/>
            <p:cNvSpPr/>
            <p:nvPr/>
          </p:nvSpPr>
          <p:spPr>
            <a:xfrm>
              <a:off x="-1" y="21526"/>
              <a:ext cx="4850111" cy="327787"/>
            </a:xfrm>
            <a:prstGeom prst="rect">
              <a:avLst/>
            </a:prstGeom>
            <a:solidFill>
              <a:srgbClr val="A6CAEC"/>
            </a:solidFill>
            <a:ln w="19050" cap="flat">
              <a:solidFill>
                <a:srgbClr val="0F465F"/>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Aptos"/>
                </a:defRPr>
              </a:pPr>
            </a:p>
          </p:txBody>
        </p:sp>
        <p:sp>
          <p:nvSpPr>
            <p:cNvPr id="142" name="CONCLUSION"/>
            <p:cNvSpPr txBox="1"/>
            <p:nvPr/>
          </p:nvSpPr>
          <p:spPr>
            <a:xfrm>
              <a:off x="45884" y="-1"/>
              <a:ext cx="4758340"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solidFill>
                    <a:srgbClr val="0D0D0D"/>
                  </a:solidFill>
                  <a:latin typeface="+mj-lt"/>
                  <a:ea typeface="+mj-ea"/>
                  <a:cs typeface="+mj-cs"/>
                  <a:sym typeface="Aptos"/>
                </a:defRPr>
              </a:lvl1pPr>
            </a:lstStyle>
            <a:p>
              <a:pPr/>
              <a:r>
                <a:t>RESULTS</a:t>
              </a:r>
            </a:p>
          </p:txBody>
        </p:sp>
      </p:grpSp>
      <p:grpSp>
        <p:nvGrpSpPr>
          <p:cNvPr id="146" name="Rectangle 21"/>
          <p:cNvGrpSpPr/>
          <p:nvPr/>
        </p:nvGrpSpPr>
        <p:grpSpPr>
          <a:xfrm>
            <a:off x="7513273" y="1312021"/>
            <a:ext cx="4850111" cy="398433"/>
            <a:chOff x="0" y="0"/>
            <a:chExt cx="4850110" cy="398432"/>
          </a:xfrm>
        </p:grpSpPr>
        <p:sp>
          <p:nvSpPr>
            <p:cNvPr id="144" name="Rectangle"/>
            <p:cNvSpPr/>
            <p:nvPr/>
          </p:nvSpPr>
          <p:spPr>
            <a:xfrm>
              <a:off x="-1" y="-1"/>
              <a:ext cx="4850111" cy="398433"/>
            </a:xfrm>
            <a:prstGeom prst="rect">
              <a:avLst/>
            </a:prstGeom>
            <a:solidFill>
              <a:srgbClr val="A6CAEC"/>
            </a:solidFill>
            <a:ln w="19050" cap="flat">
              <a:solidFill>
                <a:srgbClr val="0F465F"/>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Aptos"/>
                </a:defRPr>
              </a:pPr>
            </a:p>
          </p:txBody>
        </p:sp>
        <p:sp>
          <p:nvSpPr>
            <p:cNvPr id="145" name="CONCLUSION"/>
            <p:cNvSpPr txBox="1"/>
            <p:nvPr/>
          </p:nvSpPr>
          <p:spPr>
            <a:xfrm>
              <a:off x="45884" y="13795"/>
              <a:ext cx="4758340"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solidFill>
                    <a:srgbClr val="0D0D0D"/>
                  </a:solidFill>
                  <a:latin typeface="+mj-lt"/>
                  <a:ea typeface="+mj-ea"/>
                  <a:cs typeface="+mj-cs"/>
                  <a:sym typeface="Aptos"/>
                </a:defRPr>
              </a:lvl1pPr>
            </a:lstStyle>
            <a:p>
              <a:pPr/>
              <a:r>
                <a:t>DISCUSSION</a:t>
              </a:r>
            </a:p>
          </p:txBody>
        </p:sp>
      </p:grpSp>
      <p:pic>
        <p:nvPicPr>
          <p:cNvPr id="147" name="image5.png" descr="image5.png"/>
          <p:cNvPicPr>
            <a:picLocks noChangeAspect="1"/>
          </p:cNvPicPr>
          <p:nvPr/>
        </p:nvPicPr>
        <p:blipFill>
          <a:blip r:embed="rId5">
            <a:extLst/>
          </a:blip>
          <a:stretch>
            <a:fillRect/>
          </a:stretch>
        </p:blipFill>
        <p:spPr>
          <a:xfrm>
            <a:off x="3047518" y="5174972"/>
            <a:ext cx="2810189" cy="1570309"/>
          </a:xfrm>
          <a:prstGeom prst="rect">
            <a:avLst/>
          </a:prstGeom>
          <a:ln w="12700">
            <a:miter lim="400000"/>
          </a:ln>
        </p:spPr>
      </p:pic>
      <p:pic>
        <p:nvPicPr>
          <p:cNvPr id="148" name="image6.png" descr="image6.png"/>
          <p:cNvPicPr>
            <a:picLocks noChangeAspect="1"/>
          </p:cNvPicPr>
          <p:nvPr/>
        </p:nvPicPr>
        <p:blipFill>
          <a:blip r:embed="rId6">
            <a:extLst/>
          </a:blip>
          <a:srcRect l="0" t="21457" r="0" b="20609"/>
          <a:stretch>
            <a:fillRect/>
          </a:stretch>
        </p:blipFill>
        <p:spPr>
          <a:xfrm>
            <a:off x="3004629" y="3180597"/>
            <a:ext cx="1925049" cy="935196"/>
          </a:xfrm>
          <a:prstGeom prst="rect">
            <a:avLst/>
          </a:prstGeom>
          <a:ln w="12700">
            <a:miter lim="400000"/>
          </a:ln>
        </p:spPr>
      </p:pic>
      <p:pic>
        <p:nvPicPr>
          <p:cNvPr id="149" name="image8.png" descr="image8.png"/>
          <p:cNvPicPr>
            <a:picLocks noChangeAspect="1"/>
          </p:cNvPicPr>
          <p:nvPr/>
        </p:nvPicPr>
        <p:blipFill>
          <a:blip r:embed="rId7">
            <a:extLst/>
          </a:blip>
          <a:stretch>
            <a:fillRect/>
          </a:stretch>
        </p:blipFill>
        <p:spPr>
          <a:xfrm>
            <a:off x="6108284" y="5794011"/>
            <a:ext cx="1250643" cy="967614"/>
          </a:xfrm>
          <a:prstGeom prst="rect">
            <a:avLst/>
          </a:prstGeom>
          <a:ln w="12700">
            <a:miter lim="400000"/>
          </a:ln>
        </p:spPr>
      </p:pic>
      <p:sp>
        <p:nvSpPr>
          <p:cNvPr id="150" name="Presenter - Dr V ANJANEYA RAMESH REDDY, Post graduate, Guide - Dr V NANDAGOPAL,Associate Prof. Dr PSIMS &amp;RF"/>
          <p:cNvSpPr txBox="1"/>
          <p:nvPr/>
        </p:nvSpPr>
        <p:spPr>
          <a:xfrm>
            <a:off x="1270352" y="540797"/>
            <a:ext cx="9421209" cy="523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solidFill>
                  <a:srgbClr val="FFFFFF"/>
                </a:solidFill>
                <a:latin typeface="+mj-lt"/>
                <a:ea typeface="+mj-ea"/>
                <a:cs typeface="+mj-cs"/>
                <a:sym typeface="Aptos"/>
              </a:defRPr>
            </a:lvl1pPr>
          </a:lstStyle>
          <a:p>
            <a:pPr/>
            <a:r>
              <a:t>Presenter - Dr V ANJANEYA RAMESH REDDY, Post graduate, Guide - Dr V NANDAGOPAL,Associate Prof. Dr PSIMS &amp;RF</a:t>
            </a:r>
          </a:p>
        </p:txBody>
      </p:sp>
      <p:pic>
        <p:nvPicPr>
          <p:cNvPr id="151" name="IMG_0105.jpeg" descr="IMG_0105.jpeg"/>
          <p:cNvPicPr>
            <a:picLocks noChangeAspect="1"/>
          </p:cNvPicPr>
          <p:nvPr/>
        </p:nvPicPr>
        <p:blipFill>
          <a:blip r:embed="rId8">
            <a:extLst/>
          </a:blip>
          <a:stretch>
            <a:fillRect/>
          </a:stretch>
        </p:blipFill>
        <p:spPr>
          <a:xfrm>
            <a:off x="4523625" y="4185358"/>
            <a:ext cx="1334082" cy="787684"/>
          </a:xfrm>
          <a:prstGeom prst="rect">
            <a:avLst/>
          </a:prstGeom>
          <a:ln w="12700">
            <a:miter lim="400000"/>
          </a:ln>
        </p:spPr>
      </p:pic>
      <p:pic>
        <p:nvPicPr>
          <p:cNvPr id="152" name="IMG_0104.jpeg" descr="IMG_0104.jpeg"/>
          <p:cNvPicPr>
            <a:picLocks noChangeAspect="1"/>
          </p:cNvPicPr>
          <p:nvPr/>
        </p:nvPicPr>
        <p:blipFill>
          <a:blip r:embed="rId9">
            <a:extLst/>
          </a:blip>
          <a:stretch>
            <a:fillRect/>
          </a:stretch>
        </p:blipFill>
        <p:spPr>
          <a:xfrm>
            <a:off x="3190520" y="4184138"/>
            <a:ext cx="1353108" cy="788380"/>
          </a:xfrm>
          <a:prstGeom prst="rect">
            <a:avLst/>
          </a:prstGeom>
          <a:ln w="12700">
            <a:miter lim="400000"/>
          </a:ln>
        </p:spPr>
      </p:pic>
      <p:pic>
        <p:nvPicPr>
          <p:cNvPr id="153" name="IMG_0103.jpeg" descr="IMG_0103.jpeg"/>
          <p:cNvPicPr>
            <a:picLocks noChangeAspect="1"/>
          </p:cNvPicPr>
          <p:nvPr/>
        </p:nvPicPr>
        <p:blipFill>
          <a:blip r:embed="rId10">
            <a:extLst/>
          </a:blip>
          <a:stretch>
            <a:fillRect/>
          </a:stretch>
        </p:blipFill>
        <p:spPr>
          <a:xfrm>
            <a:off x="6015801" y="4060325"/>
            <a:ext cx="1453892" cy="1540078"/>
          </a:xfrm>
          <a:prstGeom prst="rect">
            <a:avLst/>
          </a:prstGeom>
          <a:ln w="12700">
            <a:miter lim="400000"/>
          </a:ln>
        </p:spPr>
      </p:pic>
      <p:pic>
        <p:nvPicPr>
          <p:cNvPr id="154" name="IMG_0096.jpeg" descr="IMG_0096.jpeg"/>
          <p:cNvPicPr>
            <a:picLocks noChangeAspect="1"/>
          </p:cNvPicPr>
          <p:nvPr/>
        </p:nvPicPr>
        <p:blipFill>
          <a:blip r:embed="rId11">
            <a:extLst/>
          </a:blip>
          <a:stretch>
            <a:fillRect/>
          </a:stretch>
        </p:blipFill>
        <p:spPr>
          <a:xfrm>
            <a:off x="3004629" y="1655745"/>
            <a:ext cx="1315391" cy="1319841"/>
          </a:xfrm>
          <a:prstGeom prst="rect">
            <a:avLst/>
          </a:prstGeom>
          <a:ln w="12700">
            <a:miter lim="400000"/>
          </a:ln>
        </p:spPr>
      </p:pic>
      <p:pic>
        <p:nvPicPr>
          <p:cNvPr id="155" name="IMG_0097.jpeg" descr="IMG_0097.jpeg"/>
          <p:cNvPicPr>
            <a:picLocks noChangeAspect="1"/>
          </p:cNvPicPr>
          <p:nvPr/>
        </p:nvPicPr>
        <p:blipFill>
          <a:blip r:embed="rId12">
            <a:extLst/>
          </a:blip>
          <a:stretch>
            <a:fillRect/>
          </a:stretch>
        </p:blipFill>
        <p:spPr>
          <a:xfrm>
            <a:off x="6502638" y="1657784"/>
            <a:ext cx="971825" cy="1010564"/>
          </a:xfrm>
          <a:prstGeom prst="rect">
            <a:avLst/>
          </a:prstGeom>
          <a:ln w="12700">
            <a:miter lim="400000"/>
          </a:ln>
        </p:spPr>
      </p:pic>
      <p:pic>
        <p:nvPicPr>
          <p:cNvPr id="156" name="IMG_0099.jpeg" descr="IMG_0099.jpeg"/>
          <p:cNvPicPr>
            <a:picLocks noChangeAspect="1"/>
          </p:cNvPicPr>
          <p:nvPr/>
        </p:nvPicPr>
        <p:blipFill>
          <a:blip r:embed="rId13">
            <a:extLst/>
          </a:blip>
          <a:stretch>
            <a:fillRect/>
          </a:stretch>
        </p:blipFill>
        <p:spPr>
          <a:xfrm>
            <a:off x="5251539" y="1654506"/>
            <a:ext cx="1256027" cy="1013546"/>
          </a:xfrm>
          <a:prstGeom prst="rect">
            <a:avLst/>
          </a:prstGeom>
          <a:ln w="12700">
            <a:miter lim="400000"/>
          </a:ln>
        </p:spPr>
      </p:pic>
      <p:pic>
        <p:nvPicPr>
          <p:cNvPr id="157" name="IMG_0101.jpeg" descr="IMG_0101.jpeg"/>
          <p:cNvPicPr>
            <a:picLocks noChangeAspect="1"/>
          </p:cNvPicPr>
          <p:nvPr/>
        </p:nvPicPr>
        <p:blipFill>
          <a:blip r:embed="rId14">
            <a:extLst/>
          </a:blip>
          <a:stretch>
            <a:fillRect/>
          </a:stretch>
        </p:blipFill>
        <p:spPr>
          <a:xfrm>
            <a:off x="4918571" y="3104964"/>
            <a:ext cx="1445712" cy="952514"/>
          </a:xfrm>
          <a:prstGeom prst="rect">
            <a:avLst/>
          </a:prstGeom>
          <a:ln w="12700">
            <a:miter lim="400000"/>
          </a:ln>
        </p:spPr>
      </p:pic>
      <p:grpSp>
        <p:nvGrpSpPr>
          <p:cNvPr id="160" name="Rectangle 21"/>
          <p:cNvGrpSpPr/>
          <p:nvPr/>
        </p:nvGrpSpPr>
        <p:grpSpPr>
          <a:xfrm>
            <a:off x="2950731" y="1307108"/>
            <a:ext cx="4870893" cy="377883"/>
            <a:chOff x="0" y="0"/>
            <a:chExt cx="4870892" cy="377882"/>
          </a:xfrm>
        </p:grpSpPr>
        <p:sp>
          <p:nvSpPr>
            <p:cNvPr id="158" name="Rectangle"/>
            <p:cNvSpPr/>
            <p:nvPr/>
          </p:nvSpPr>
          <p:spPr>
            <a:xfrm>
              <a:off x="-1" y="0"/>
              <a:ext cx="4850111" cy="327786"/>
            </a:xfrm>
            <a:prstGeom prst="rect">
              <a:avLst/>
            </a:prstGeom>
            <a:solidFill>
              <a:srgbClr val="A6CAEC"/>
            </a:solidFill>
            <a:ln w="19050" cap="flat">
              <a:solidFill>
                <a:srgbClr val="0F465F"/>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Aptos"/>
                </a:defRPr>
              </a:pPr>
            </a:p>
          </p:txBody>
        </p:sp>
        <p:sp>
          <p:nvSpPr>
            <p:cNvPr id="159" name="CONCLUSION"/>
            <p:cNvSpPr txBox="1"/>
            <p:nvPr/>
          </p:nvSpPr>
          <p:spPr>
            <a:xfrm>
              <a:off x="112552" y="7046"/>
              <a:ext cx="4758340"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solidFill>
                    <a:srgbClr val="0D0D0D"/>
                  </a:solidFill>
                  <a:latin typeface="+mj-lt"/>
                  <a:ea typeface="+mj-ea"/>
                  <a:cs typeface="+mj-cs"/>
                  <a:sym typeface="Aptos"/>
                </a:defRPr>
              </a:lvl1pPr>
            </a:lstStyle>
            <a:p>
              <a:pPr/>
              <a:r>
                <a:t>Pre OPERATIVE  FINDINGS</a:t>
              </a:r>
            </a:p>
          </p:txBody>
        </p:sp>
      </p:grpSp>
      <p:grpSp>
        <p:nvGrpSpPr>
          <p:cNvPr id="163" name="Rectangle 21"/>
          <p:cNvGrpSpPr/>
          <p:nvPr/>
        </p:nvGrpSpPr>
        <p:grpSpPr>
          <a:xfrm>
            <a:off x="7522798" y="1292971"/>
            <a:ext cx="4850111" cy="398433"/>
            <a:chOff x="0" y="0"/>
            <a:chExt cx="4850110" cy="398432"/>
          </a:xfrm>
        </p:grpSpPr>
        <p:sp>
          <p:nvSpPr>
            <p:cNvPr id="161" name="Rectangle"/>
            <p:cNvSpPr/>
            <p:nvPr/>
          </p:nvSpPr>
          <p:spPr>
            <a:xfrm>
              <a:off x="-1" y="-1"/>
              <a:ext cx="4850111" cy="398433"/>
            </a:xfrm>
            <a:prstGeom prst="rect">
              <a:avLst/>
            </a:prstGeom>
            <a:solidFill>
              <a:srgbClr val="A6CAEC"/>
            </a:solidFill>
            <a:ln w="19050" cap="flat">
              <a:solidFill>
                <a:srgbClr val="0F465F"/>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Aptos"/>
                </a:defRPr>
              </a:pPr>
            </a:p>
          </p:txBody>
        </p:sp>
        <p:sp>
          <p:nvSpPr>
            <p:cNvPr id="162" name="CONCLUSION"/>
            <p:cNvSpPr txBox="1"/>
            <p:nvPr/>
          </p:nvSpPr>
          <p:spPr>
            <a:xfrm>
              <a:off x="45884" y="13795"/>
              <a:ext cx="4758340"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solidFill>
                    <a:srgbClr val="0D0D0D"/>
                  </a:solidFill>
                  <a:latin typeface="+mj-lt"/>
                  <a:ea typeface="+mj-ea"/>
                  <a:cs typeface="+mj-cs"/>
                  <a:sym typeface="Aptos"/>
                </a:defRPr>
              </a:lvl1pPr>
            </a:lstStyle>
            <a:p>
              <a:pPr/>
              <a:r>
                <a:t>DISCUSSION</a:t>
              </a:r>
            </a:p>
          </p:txBody>
        </p:sp>
      </p:grpSp>
      <p:sp>
        <p:nvSpPr>
          <p:cNvPr id="164" name="Pre operative…"/>
          <p:cNvSpPr txBox="1"/>
          <p:nvPr/>
        </p:nvSpPr>
        <p:spPr>
          <a:xfrm>
            <a:off x="4346690" y="1722446"/>
            <a:ext cx="1072131" cy="421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100" u="sng">
                <a:latin typeface="+mj-lt"/>
                <a:ea typeface="+mj-ea"/>
                <a:cs typeface="+mj-cs"/>
                <a:sym typeface="Aptos"/>
              </a:defRPr>
            </a:pPr>
            <a:r>
              <a:t>Pre operative</a:t>
            </a:r>
            <a:endParaRPr sz="1000"/>
          </a:p>
          <a:p>
            <a:pPr>
              <a:defRPr b="1" sz="1100" u="sng">
                <a:latin typeface="+mj-lt"/>
                <a:ea typeface="+mj-ea"/>
                <a:cs typeface="+mj-cs"/>
                <a:sym typeface="Aptos"/>
              </a:defRPr>
            </a:pPr>
            <a:r>
              <a:t> x ray</a:t>
            </a:r>
          </a:p>
        </p:txBody>
      </p:sp>
      <p:sp>
        <p:nvSpPr>
          <p:cNvPr id="165" name="Pre operative ct scan"/>
          <p:cNvSpPr txBox="1"/>
          <p:nvPr/>
        </p:nvSpPr>
        <p:spPr>
          <a:xfrm>
            <a:off x="5548359" y="2608969"/>
            <a:ext cx="1500145"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100" u="sng"/>
            </a:lvl1pPr>
          </a:lstStyle>
          <a:p>
            <a:pPr/>
            <a:r>
              <a:t>Pre operative ct scan</a:t>
            </a:r>
          </a:p>
        </p:txBody>
      </p:sp>
      <p:grpSp>
        <p:nvGrpSpPr>
          <p:cNvPr id="168" name="Rectangle 21"/>
          <p:cNvGrpSpPr/>
          <p:nvPr/>
        </p:nvGrpSpPr>
        <p:grpSpPr>
          <a:xfrm>
            <a:off x="3007881" y="2832638"/>
            <a:ext cx="4490235" cy="370837"/>
            <a:chOff x="0" y="0"/>
            <a:chExt cx="4490233" cy="370835"/>
          </a:xfrm>
        </p:grpSpPr>
        <p:sp>
          <p:nvSpPr>
            <p:cNvPr id="166" name="Rectangle"/>
            <p:cNvSpPr/>
            <p:nvPr/>
          </p:nvSpPr>
          <p:spPr>
            <a:xfrm>
              <a:off x="0" y="7994"/>
              <a:ext cx="4471076" cy="302169"/>
            </a:xfrm>
            <a:prstGeom prst="rect">
              <a:avLst/>
            </a:prstGeom>
            <a:solidFill>
              <a:srgbClr val="A6CAEC"/>
            </a:solidFill>
            <a:ln w="19050" cap="flat">
              <a:solidFill>
                <a:srgbClr val="0F465F"/>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Aptos"/>
                </a:defRPr>
              </a:pPr>
            </a:p>
          </p:txBody>
        </p:sp>
        <p:sp>
          <p:nvSpPr>
            <p:cNvPr id="167" name="CONCLUSION"/>
            <p:cNvSpPr txBox="1"/>
            <p:nvPr/>
          </p:nvSpPr>
          <p:spPr>
            <a:xfrm>
              <a:off x="103757" y="-1"/>
              <a:ext cx="4386477" cy="3708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b="1">
                  <a:solidFill>
                    <a:srgbClr val="0D0D0D"/>
                  </a:solidFill>
                </a:defRPr>
              </a:lvl1pPr>
            </a:lstStyle>
            <a:p>
              <a:pPr/>
              <a:r>
                <a:t> OPERATIVE  FINDINGS</a:t>
              </a:r>
            </a:p>
          </p:txBody>
        </p:sp>
      </p:grpSp>
      <p:sp>
        <p:nvSpPr>
          <p:cNvPr id="169" name="IMMEDIATE POSTOPERATIVE  XRAY"/>
          <p:cNvSpPr txBox="1"/>
          <p:nvPr/>
        </p:nvSpPr>
        <p:spPr>
          <a:xfrm>
            <a:off x="6333802" y="3360004"/>
            <a:ext cx="1387218"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 u="sng"/>
            </a:lvl1pPr>
          </a:lstStyle>
          <a:p>
            <a:pPr/>
            <a:r>
              <a:t>IMMEDIATE POSTOPERATIVE  XRAY</a:t>
            </a:r>
          </a:p>
        </p:txBody>
      </p:sp>
      <p:sp>
        <p:nvSpPr>
          <p:cNvPr id="170" name="1 YEAR FOLLOW-UP"/>
          <p:cNvSpPr txBox="1"/>
          <p:nvPr/>
        </p:nvSpPr>
        <p:spPr>
          <a:xfrm>
            <a:off x="3142504" y="4956036"/>
            <a:ext cx="2719772"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800" u="sng">
                <a:latin typeface="Noto Sans Cuneiform"/>
                <a:ea typeface="Noto Sans Cuneiform"/>
                <a:cs typeface="Noto Sans Cuneiform"/>
                <a:sym typeface="Noto Sans Cuneiform"/>
              </a:defRPr>
            </a:lvl1pPr>
          </a:lstStyle>
          <a:p>
            <a:pPr/>
            <a:r>
              <a:t>1 YEAR FOLLOW-UP</a:t>
            </a:r>
          </a:p>
        </p:txBody>
      </p:sp>
      <p:sp>
        <p:nvSpPr>
          <p:cNvPr id="171" name="1 YEAR FOLLOW-UP XRAY"/>
          <p:cNvSpPr txBox="1"/>
          <p:nvPr/>
        </p:nvSpPr>
        <p:spPr>
          <a:xfrm>
            <a:off x="6082946" y="5558706"/>
            <a:ext cx="1319601" cy="19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700" u="sng">
                <a:latin typeface="Noto Sans Cuneiform"/>
                <a:ea typeface="Noto Sans Cuneiform"/>
                <a:cs typeface="Noto Sans Cuneiform"/>
                <a:sym typeface="Noto Sans Cuneiform"/>
              </a:defRPr>
            </a:lvl1pPr>
          </a:lstStyle>
          <a:p>
            <a:pPr/>
            <a:r>
              <a:t>1 YEAR FOLLOW-UP XRAY</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