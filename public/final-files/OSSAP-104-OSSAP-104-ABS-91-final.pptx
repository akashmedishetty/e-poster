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755"/>
    <a:srgbClr val="01234D"/>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7" d="100"/>
          <a:sy n="87" d="100"/>
        </p:scale>
        <p:origin x="333"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E82E09-9CEE-8584-D464-24E0EC391B80}"/>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F2BE4274-EF19-EE7E-5761-D489EED61B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A91A2BA2-F38B-80BA-A985-5949FC76FEA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04524FB-BCF4-1B74-A89E-4EDE8596787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F2F88F76-11B2-42F9-7CED-3DAC2835AF8A}"/>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65ADD6F6-E35D-B7F8-9AC5-43234D897C09}"/>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146DFFE-ACF0-208A-4880-3B35F597866F}"/>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FD934B23-4A0F-DA26-1C91-6993B84BADB9}"/>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872BCCA-09F4-9D91-AE26-B5E437D7714E}"/>
              </a:ext>
            </a:extLst>
          </p:cNvPr>
          <p:cNvSpPr/>
          <p:nvPr/>
        </p:nvSpPr>
        <p:spPr>
          <a:xfrm>
            <a:off x="0" y="-7757"/>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4D4B9414-324A-B4ED-525E-CF04D2394B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6B23EAFB-E583-3DAF-08B5-661672CE88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3C21D24D-75B4-7ADE-170F-FE845B818D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EA6BB7B0-D981-FEB6-4479-7A49704B2B87}"/>
              </a:ext>
            </a:extLst>
          </p:cNvPr>
          <p:cNvSpPr txBox="1"/>
          <p:nvPr/>
        </p:nvSpPr>
        <p:spPr>
          <a:xfrm>
            <a:off x="2254685" y="27424"/>
            <a:ext cx="6718716" cy="830997"/>
          </a:xfrm>
          <a:prstGeom prst="rect">
            <a:avLst/>
          </a:prstGeom>
          <a:noFill/>
        </p:spPr>
        <p:txBody>
          <a:bodyPr wrap="square" rtlCol="0">
            <a:spAutoFit/>
          </a:bodyPr>
          <a:lstStyle/>
          <a:p>
            <a:r>
              <a:rPr lang="en-US" sz="16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mn-ea"/>
              </a:rPr>
              <a:t>COMPARATIVE STUDY ON THE EFFECTIVENESS OF PLATELET RICH PLASMA INJECTION VS STEROID INJECTION IN TREATMENT OF LATERAL EPICONDYLITIS</a:t>
            </a:r>
            <a:endParaRPr lang="en-US" sz="16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C0616687-624D-607B-6F85-335EE46873F1}"/>
              </a:ext>
            </a:extLst>
          </p:cNvPr>
          <p:cNvSpPr txBox="1"/>
          <p:nvPr/>
        </p:nvSpPr>
        <p:spPr>
          <a:xfrm>
            <a:off x="2221202" y="831143"/>
            <a:ext cx="6677239" cy="646331"/>
          </a:xfrm>
          <a:prstGeom prst="rect">
            <a:avLst/>
          </a:prstGeom>
          <a:noFill/>
        </p:spPr>
        <p:txBody>
          <a:bodyPr wrap="square" rtlCol="0">
            <a:spAutoFit/>
          </a:bodyPr>
          <a:lstStyle/>
          <a:p>
            <a:r>
              <a:rPr lang="en-US" sz="1200" dirty="0">
                <a:solidFill>
                  <a:schemeClr val="bg1"/>
                </a:solidFill>
                <a:latin typeface="Arial Black" panose="020B0A04020102020204" pitchFamily="34" charset="0"/>
              </a:rPr>
              <a:t>AUTHORS : DR MITHUN PRAKSH A V ,CO AUTHORS : DR ATHMARAM , </a:t>
            </a:r>
          </a:p>
          <a:p>
            <a:r>
              <a:rPr lang="en-US" sz="1200" dirty="0">
                <a:solidFill>
                  <a:schemeClr val="bg1"/>
                </a:solidFill>
                <a:latin typeface="Arial Black" panose="020B0A04020102020204" pitchFamily="34" charset="0"/>
              </a:rPr>
              <a:t>DR SATISH, DR RAGHAVENDRA RAJU</a:t>
            </a:r>
          </a:p>
          <a:p>
            <a:endParaRPr lang="en-US" sz="1200" b="1" dirty="0">
              <a:solidFill>
                <a:schemeClr val="bg1"/>
              </a:solidFill>
              <a:latin typeface="Gordita "/>
            </a:endParaRPr>
          </a:p>
        </p:txBody>
      </p:sp>
      <p:sp>
        <p:nvSpPr>
          <p:cNvPr id="4" name="Freeform 13">
            <a:extLst>
              <a:ext uri="{FF2B5EF4-FFF2-40B4-BE49-F238E27FC236}">
                <a16:creationId xmlns:a16="http://schemas.microsoft.com/office/drawing/2014/main" id="{0F401C6F-33A3-A415-AD1A-709059E901BF}"/>
              </a:ext>
            </a:extLst>
          </p:cNvPr>
          <p:cNvSpPr/>
          <p:nvPr/>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5"/>
            <a:stretch>
              <a:fillRect t="-9937" r="-4895" b="-10857"/>
            </a:stretch>
          </a:blipFill>
        </p:spPr>
        <p:txBody>
          <a:bodyPr/>
          <a:lstStyle/>
          <a:p>
            <a:endParaRPr lang="en-US"/>
          </a:p>
        </p:txBody>
      </p:sp>
      <p:sp>
        <p:nvSpPr>
          <p:cNvPr id="5" name="Rectangle 4">
            <a:extLst>
              <a:ext uri="{FF2B5EF4-FFF2-40B4-BE49-F238E27FC236}">
                <a16:creationId xmlns:a16="http://schemas.microsoft.com/office/drawing/2014/main" id="{1D4F9D5A-1DDA-4BC3-63F3-F36226B86C87}"/>
              </a:ext>
            </a:extLst>
          </p:cNvPr>
          <p:cNvSpPr/>
          <p:nvPr/>
        </p:nvSpPr>
        <p:spPr>
          <a:xfrm>
            <a:off x="-76" y="1683412"/>
            <a:ext cx="3108960" cy="35190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50" dirty="0">
                <a:solidFill>
                  <a:schemeClr val="tx1"/>
                </a:solidFill>
              </a:rPr>
              <a:t>Lateral </a:t>
            </a:r>
            <a:r>
              <a:rPr lang="en-GB" sz="1050" dirty="0" err="1">
                <a:solidFill>
                  <a:schemeClr val="tx1"/>
                </a:solidFill>
              </a:rPr>
              <a:t>epicondylosis</a:t>
            </a:r>
            <a:r>
              <a:rPr lang="en-GB" sz="1050" dirty="0">
                <a:solidFill>
                  <a:schemeClr val="tx1"/>
                </a:solidFill>
              </a:rPr>
              <a:t> (tennis elbow) is one of the most frequently diagnosed musculoskeletal disorders in the upper extremity in a primary care setting. There are various treatment methods for lateral </a:t>
            </a:r>
            <a:r>
              <a:rPr lang="en-GB" sz="1050" dirty="0" err="1">
                <a:solidFill>
                  <a:schemeClr val="tx1"/>
                </a:solidFill>
              </a:rPr>
              <a:t>epicondylosis</a:t>
            </a:r>
            <a:r>
              <a:rPr lang="en-GB" sz="1050" dirty="0">
                <a:solidFill>
                  <a:schemeClr val="tx1"/>
                </a:solidFill>
              </a:rPr>
              <a:t> both conservative as well as operative. Conservative management which includes activity modification, RICE and NSAIDS is usually the first line of </a:t>
            </a:r>
            <a:r>
              <a:rPr lang="en-GB" sz="1050" dirty="0" err="1">
                <a:solidFill>
                  <a:schemeClr val="tx1"/>
                </a:solidFill>
              </a:rPr>
              <a:t>treatment.Most</a:t>
            </a:r>
            <a:r>
              <a:rPr lang="en-GB" sz="1050" dirty="0">
                <a:solidFill>
                  <a:schemeClr val="tx1"/>
                </a:solidFill>
              </a:rPr>
              <a:t> conservative methods such as local corticosteroid injection have focused on suppressing inflammatory process. Relapse and recurrence is high after treatment with corticosteroids.</a:t>
            </a:r>
          </a:p>
          <a:p>
            <a:r>
              <a:rPr lang="en-GB" sz="1050" dirty="0">
                <a:solidFill>
                  <a:schemeClr val="tx1"/>
                </a:solidFill>
              </a:rPr>
              <a:t>Corticosteroid injection was considered the gold standard, nowadays is seen as controversial in the treatment of lateral </a:t>
            </a:r>
            <a:r>
              <a:rPr lang="en-GB" sz="1050" dirty="0" err="1">
                <a:solidFill>
                  <a:schemeClr val="tx1"/>
                </a:solidFill>
              </a:rPr>
              <a:t>epicondylitis.Studies</a:t>
            </a:r>
            <a:r>
              <a:rPr lang="en-GB" sz="1050" dirty="0">
                <a:solidFill>
                  <a:schemeClr val="tx1"/>
                </a:solidFill>
              </a:rPr>
              <a:t> have shown that- it is the best treatment option in short term, when compared with physiotherapy and a wait and- see </a:t>
            </a:r>
            <a:r>
              <a:rPr lang="en-GB" sz="1050" dirty="0" err="1">
                <a:solidFill>
                  <a:schemeClr val="tx1"/>
                </a:solidFill>
              </a:rPr>
              <a:t>policy.Autologous</a:t>
            </a:r>
            <a:r>
              <a:rPr lang="en-GB" sz="1050" dirty="0">
                <a:solidFill>
                  <a:schemeClr val="tx1"/>
                </a:solidFill>
              </a:rPr>
              <a:t> injection of PRP stimulates healing process in degenerated tendons.</a:t>
            </a:r>
            <a:endParaRPr lang="en-IN" sz="1050" dirty="0">
              <a:solidFill>
                <a:schemeClr val="tx1"/>
              </a:solidFill>
            </a:endParaRPr>
          </a:p>
          <a:p>
            <a:r>
              <a:rPr lang="en-IN" sz="1050" dirty="0">
                <a:solidFill>
                  <a:schemeClr val="tx1"/>
                </a:solidFill>
              </a:rPr>
              <a:t> </a:t>
            </a:r>
          </a:p>
        </p:txBody>
      </p:sp>
      <p:sp>
        <p:nvSpPr>
          <p:cNvPr id="6" name="Rectangle 5">
            <a:extLst>
              <a:ext uri="{FF2B5EF4-FFF2-40B4-BE49-F238E27FC236}">
                <a16:creationId xmlns:a16="http://schemas.microsoft.com/office/drawing/2014/main" id="{EC094F03-F93B-9B6D-7C11-87F9C75E6ABB}"/>
              </a:ext>
            </a:extLst>
          </p:cNvPr>
          <p:cNvSpPr/>
          <p:nvPr/>
        </p:nvSpPr>
        <p:spPr>
          <a:xfrm>
            <a:off x="13774" y="5394138"/>
            <a:ext cx="3108960" cy="14496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sym typeface="+mn-ea"/>
              </a:rPr>
              <a:t>Allocated randomly - steroid group (n=</a:t>
            </a:r>
            <a:r>
              <a:rPr lang="en-IN" altLang="en-GB" dirty="0">
                <a:solidFill>
                  <a:schemeClr val="tx1"/>
                </a:solidFill>
                <a:sym typeface="+mn-ea"/>
              </a:rPr>
              <a:t>30</a:t>
            </a:r>
            <a:r>
              <a:rPr lang="en-GB" dirty="0">
                <a:solidFill>
                  <a:schemeClr val="tx1"/>
                </a:solidFill>
                <a:sym typeface="+mn-ea"/>
              </a:rPr>
              <a:t>, received steroid injection) and PRP group (n=3</a:t>
            </a:r>
            <a:r>
              <a:rPr lang="en-IN" altLang="en-GB" dirty="0">
                <a:solidFill>
                  <a:schemeClr val="tx1"/>
                </a:solidFill>
                <a:sym typeface="+mn-ea"/>
              </a:rPr>
              <a:t>0</a:t>
            </a:r>
            <a:r>
              <a:rPr lang="en-GB" dirty="0">
                <a:solidFill>
                  <a:schemeClr val="tx1"/>
                </a:solidFill>
                <a:sym typeface="+mn-ea"/>
              </a:rPr>
              <a:t>, received PRP injection). </a:t>
            </a:r>
            <a:endParaRPr lang="en-GB" dirty="0">
              <a:solidFill>
                <a:schemeClr val="tx1"/>
              </a:solidFill>
            </a:endParaRPr>
          </a:p>
        </p:txBody>
      </p:sp>
      <p:sp>
        <p:nvSpPr>
          <p:cNvPr id="7" name="Rectangle 6">
            <a:extLst>
              <a:ext uri="{FF2B5EF4-FFF2-40B4-BE49-F238E27FC236}">
                <a16:creationId xmlns:a16="http://schemas.microsoft.com/office/drawing/2014/main" id="{6D1A47E9-312C-D04A-D368-EE96CE32C982}"/>
              </a:ext>
            </a:extLst>
          </p:cNvPr>
          <p:cNvSpPr/>
          <p:nvPr/>
        </p:nvSpPr>
        <p:spPr>
          <a:xfrm>
            <a:off x="3137835" y="1709976"/>
            <a:ext cx="3185962" cy="33303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These growth factors trigger stem cell recruitment, increase local vascularity and directly stimulate the production of collagen by tendon sheath fibroblasts. Platelet rich plasma applications enhance wound healing, bone healing and also tendon healing.</a:t>
            </a:r>
          </a:p>
          <a:p>
            <a:r>
              <a:rPr lang="en-US" sz="1400" dirty="0">
                <a:solidFill>
                  <a:schemeClr val="tx1"/>
                </a:solidFill>
              </a:rPr>
              <a:t>growth factors trigger stem cell recruitment, increase local vascularity and directly stimulate the production of collagen by tendon sheath fibroblasts. Platelet rich plasma applications enhance wound healing, bone healing and also tendon healing</a:t>
            </a:r>
            <a:r>
              <a:rPr lang="en-US" sz="1600" dirty="0">
                <a:solidFill>
                  <a:schemeClr val="tx1"/>
                </a:solidFill>
              </a:rPr>
              <a:t>.</a:t>
            </a:r>
          </a:p>
        </p:txBody>
      </p:sp>
      <p:sp>
        <p:nvSpPr>
          <p:cNvPr id="8" name="Rectangle 7">
            <a:extLst>
              <a:ext uri="{FF2B5EF4-FFF2-40B4-BE49-F238E27FC236}">
                <a16:creationId xmlns:a16="http://schemas.microsoft.com/office/drawing/2014/main" id="{63A874B9-B8E1-A36B-AA38-6FCC7D5D8F32}"/>
              </a:ext>
            </a:extLst>
          </p:cNvPr>
          <p:cNvSpPr/>
          <p:nvPr/>
        </p:nvSpPr>
        <p:spPr>
          <a:xfrm>
            <a:off x="6352674" y="1477475"/>
            <a:ext cx="5839326"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tangle 8">
            <a:extLst>
              <a:ext uri="{FF2B5EF4-FFF2-40B4-BE49-F238E27FC236}">
                <a16:creationId xmlns:a16="http://schemas.microsoft.com/office/drawing/2014/main" id="{0EFC2BB9-1938-0DF3-F424-CAC28C6D9880}"/>
              </a:ext>
            </a:extLst>
          </p:cNvPr>
          <p:cNvSpPr/>
          <p:nvPr/>
        </p:nvSpPr>
        <p:spPr>
          <a:xfrm>
            <a:off x="6352674" y="5080536"/>
            <a:ext cx="5839326" cy="17774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ectangle 9">
            <a:extLst>
              <a:ext uri="{FF2B5EF4-FFF2-40B4-BE49-F238E27FC236}">
                <a16:creationId xmlns:a16="http://schemas.microsoft.com/office/drawing/2014/main" id="{6B0C050E-DD7C-3885-8EBF-D74C223C0531}"/>
              </a:ext>
            </a:extLst>
          </p:cNvPr>
          <p:cNvSpPr/>
          <p:nvPr/>
        </p:nvSpPr>
        <p:spPr>
          <a:xfrm>
            <a:off x="19671" y="1289109"/>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p>
        </p:txBody>
      </p:sp>
      <p:sp>
        <p:nvSpPr>
          <p:cNvPr id="11" name="Rectangle 10">
            <a:extLst>
              <a:ext uri="{FF2B5EF4-FFF2-40B4-BE49-F238E27FC236}">
                <a16:creationId xmlns:a16="http://schemas.microsoft.com/office/drawing/2014/main" id="{493EBCB5-BB50-7945-E88B-86122853702B}"/>
              </a:ext>
            </a:extLst>
          </p:cNvPr>
          <p:cNvSpPr/>
          <p:nvPr/>
        </p:nvSpPr>
        <p:spPr>
          <a:xfrm>
            <a:off x="3137836" y="1280157"/>
            <a:ext cx="3185962"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p>
        </p:txBody>
      </p:sp>
      <p:sp>
        <p:nvSpPr>
          <p:cNvPr id="12" name="Rectangle 11">
            <a:extLst>
              <a:ext uri="{FF2B5EF4-FFF2-40B4-BE49-F238E27FC236}">
                <a16:creationId xmlns:a16="http://schemas.microsoft.com/office/drawing/2014/main" id="{779DCDE1-7E85-0646-3543-9C1638CEB9CA}"/>
              </a:ext>
            </a:extLst>
          </p:cNvPr>
          <p:cNvSpPr/>
          <p:nvPr/>
        </p:nvSpPr>
        <p:spPr>
          <a:xfrm>
            <a:off x="6352673" y="1280157"/>
            <a:ext cx="5839325"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p>
        </p:txBody>
      </p:sp>
      <p:sp>
        <p:nvSpPr>
          <p:cNvPr id="13" name="Rectangle 12">
            <a:extLst>
              <a:ext uri="{FF2B5EF4-FFF2-40B4-BE49-F238E27FC236}">
                <a16:creationId xmlns:a16="http://schemas.microsoft.com/office/drawing/2014/main" id="{9A130820-FF42-EA8A-339B-145E1FC668F5}"/>
              </a:ext>
            </a:extLst>
          </p:cNvPr>
          <p:cNvSpPr/>
          <p:nvPr/>
        </p:nvSpPr>
        <p:spPr>
          <a:xfrm>
            <a:off x="0" y="5005136"/>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p>
        </p:txBody>
      </p:sp>
      <p:sp>
        <p:nvSpPr>
          <p:cNvPr id="22" name="Rectangle 21">
            <a:extLst>
              <a:ext uri="{FF2B5EF4-FFF2-40B4-BE49-F238E27FC236}">
                <a16:creationId xmlns:a16="http://schemas.microsoft.com/office/drawing/2014/main" id="{99633B59-00B8-9FD5-0D31-D1688B16556B}"/>
              </a:ext>
            </a:extLst>
          </p:cNvPr>
          <p:cNvSpPr/>
          <p:nvPr/>
        </p:nvSpPr>
        <p:spPr>
          <a:xfrm>
            <a:off x="6352674" y="4807817"/>
            <a:ext cx="5839324"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p>
        </p:txBody>
      </p:sp>
      <p:sp>
        <p:nvSpPr>
          <p:cNvPr id="2" name="TextBox 1">
            <a:extLst>
              <a:ext uri="{FF2B5EF4-FFF2-40B4-BE49-F238E27FC236}">
                <a16:creationId xmlns:a16="http://schemas.microsoft.com/office/drawing/2014/main" id="{A0F91D11-68F8-D4D1-1916-BE195E89028C}"/>
              </a:ext>
            </a:extLst>
          </p:cNvPr>
          <p:cNvSpPr txBox="1"/>
          <p:nvPr/>
        </p:nvSpPr>
        <p:spPr>
          <a:xfrm>
            <a:off x="3883069" y="4665946"/>
            <a:ext cx="2649254" cy="2869205"/>
          </a:xfrm>
          <a:prstGeom prst="rect">
            <a:avLst/>
          </a:prstGeom>
          <a:noFill/>
        </p:spPr>
        <p:txBody>
          <a:bodyPr wrap="square" rtlCol="0">
            <a:spAutoFit/>
          </a:bodyPr>
          <a:lstStyle/>
          <a:p>
            <a:endParaRPr lang="en-IN" dirty="0"/>
          </a:p>
        </p:txBody>
      </p:sp>
      <p:sp>
        <p:nvSpPr>
          <p:cNvPr id="25" name="TextBox 24">
            <a:extLst>
              <a:ext uri="{FF2B5EF4-FFF2-40B4-BE49-F238E27FC236}">
                <a16:creationId xmlns:a16="http://schemas.microsoft.com/office/drawing/2014/main" id="{4EDC1086-53F3-4013-4AD7-C073DEF988F0}"/>
              </a:ext>
            </a:extLst>
          </p:cNvPr>
          <p:cNvSpPr txBox="1"/>
          <p:nvPr/>
        </p:nvSpPr>
        <p:spPr>
          <a:xfrm>
            <a:off x="6795048" y="1721534"/>
            <a:ext cx="4954574" cy="2092881"/>
          </a:xfrm>
          <a:prstGeom prst="rect">
            <a:avLst/>
          </a:prstGeom>
          <a:noFill/>
        </p:spPr>
        <p:txBody>
          <a:bodyPr wrap="square" rtlCol="0">
            <a:spAutoFit/>
          </a:bodyPr>
          <a:lstStyle/>
          <a:p>
            <a:pPr>
              <a:buNone/>
            </a:pPr>
            <a:endParaRPr lang="en-US" sz="1600" dirty="0"/>
          </a:p>
          <a:p>
            <a:r>
              <a:rPr lang="en-IN" sz="1600" dirty="0"/>
              <a:t>The corticosteroid group was actually better initially and then declined when compared to PRP group.</a:t>
            </a:r>
          </a:p>
          <a:p>
            <a:r>
              <a:rPr lang="en-IN" sz="1600" dirty="0"/>
              <a:t>There was a significant difference in decrease of pain and disability of function after the platelet application</a:t>
            </a:r>
            <a:endParaRPr lang="en-IN" sz="1600" b="1" u="sng" dirty="0">
              <a:solidFill>
                <a:srgbClr val="C00000"/>
              </a:solidFill>
              <a:effectLst>
                <a:outerShdw blurRad="38100" dist="38100" dir="2700000" algn="tl">
                  <a:srgbClr val="000000">
                    <a:alpha val="43137"/>
                  </a:srgbClr>
                </a:outerShdw>
              </a:effectLst>
            </a:endParaRPr>
          </a:p>
          <a:p>
            <a:r>
              <a:rPr lang="en-IN" sz="1600" dirty="0"/>
              <a:t>long-lasting effect of platelets could be that platelets improve the very early </a:t>
            </a:r>
            <a:r>
              <a:rPr lang="en-IN" sz="1600" dirty="0" err="1"/>
              <a:t>neotendon</a:t>
            </a:r>
            <a:r>
              <a:rPr lang="en-IN" sz="1600" dirty="0">
                <a:solidFill>
                  <a:srgbClr val="00B050"/>
                </a:solidFill>
              </a:rPr>
              <a:t> </a:t>
            </a:r>
            <a:r>
              <a:rPr lang="en-IN" sz="1600" dirty="0"/>
              <a:t>properties.</a:t>
            </a:r>
          </a:p>
          <a:p>
            <a:endParaRPr lang="en-IN" dirty="0"/>
          </a:p>
        </p:txBody>
      </p:sp>
      <p:sp>
        <p:nvSpPr>
          <p:cNvPr id="26" name="TextBox 25">
            <a:extLst>
              <a:ext uri="{FF2B5EF4-FFF2-40B4-BE49-F238E27FC236}">
                <a16:creationId xmlns:a16="http://schemas.microsoft.com/office/drawing/2014/main" id="{8D97ED46-036E-66B2-BCEF-03C5D7B5DD38}"/>
              </a:ext>
            </a:extLst>
          </p:cNvPr>
          <p:cNvSpPr txBox="1"/>
          <p:nvPr/>
        </p:nvSpPr>
        <p:spPr>
          <a:xfrm>
            <a:off x="6532323" y="5498926"/>
            <a:ext cx="5461348" cy="923330"/>
          </a:xfrm>
          <a:prstGeom prst="rect">
            <a:avLst/>
          </a:prstGeom>
          <a:noFill/>
        </p:spPr>
        <p:txBody>
          <a:bodyPr wrap="square" rtlCol="0">
            <a:spAutoFit/>
          </a:bodyPr>
          <a:lstStyle/>
          <a:p>
            <a:r>
              <a:rPr lang="en-GB" dirty="0"/>
              <a:t>PRP injection for chronic lateral epicondylitis reduces pain, improves functionality and hand grip strength when compared to steroid injection.</a:t>
            </a:r>
            <a:endParaRPr lang="en-IN" dirty="0"/>
          </a:p>
        </p:txBody>
      </p:sp>
      <p:pic>
        <p:nvPicPr>
          <p:cNvPr id="3" name="table">
            <a:extLst>
              <a:ext uri="{FF2B5EF4-FFF2-40B4-BE49-F238E27FC236}">
                <a16:creationId xmlns:a16="http://schemas.microsoft.com/office/drawing/2014/main" id="{0F224881-1E2C-5050-1BC9-59BEAF3FC7F8}"/>
              </a:ext>
            </a:extLst>
          </p:cNvPr>
          <p:cNvPicPr>
            <a:picLocks noChangeAspect="1"/>
          </p:cNvPicPr>
          <p:nvPr/>
        </p:nvPicPr>
        <p:blipFill>
          <a:blip r:embed="rId6"/>
          <a:stretch>
            <a:fillRect/>
          </a:stretch>
        </p:blipFill>
        <p:spPr>
          <a:xfrm>
            <a:off x="3128631" y="5074611"/>
            <a:ext cx="3205363" cy="920662"/>
          </a:xfrm>
          <a:prstGeom prst="rect">
            <a:avLst/>
          </a:prstGeom>
        </p:spPr>
      </p:pic>
      <p:pic>
        <p:nvPicPr>
          <p:cNvPr id="19" name="table">
            <a:extLst>
              <a:ext uri="{FF2B5EF4-FFF2-40B4-BE49-F238E27FC236}">
                <a16:creationId xmlns:a16="http://schemas.microsoft.com/office/drawing/2014/main" id="{643FD8A5-3816-5ED5-0522-7F8D39718BBF}"/>
              </a:ext>
            </a:extLst>
          </p:cNvPr>
          <p:cNvPicPr>
            <a:picLocks noChangeAspect="1"/>
          </p:cNvPicPr>
          <p:nvPr/>
        </p:nvPicPr>
        <p:blipFill>
          <a:blip r:embed="rId7"/>
          <a:stretch>
            <a:fillRect/>
          </a:stretch>
        </p:blipFill>
        <p:spPr>
          <a:xfrm>
            <a:off x="3137832" y="5937337"/>
            <a:ext cx="3185965" cy="920662"/>
          </a:xfrm>
          <a:prstGeom prst="rect">
            <a:avLst/>
          </a:prstGeom>
        </p:spPr>
      </p:pic>
    </p:spTree>
    <p:extLst>
      <p:ext uri="{BB962C8B-B14F-4D97-AF65-F5344CB8AC3E}">
        <p14:creationId xmlns:p14="http://schemas.microsoft.com/office/powerpoint/2010/main" val="3607354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231</TotalTime>
  <Words>356</Words>
  <Application>Microsoft Office PowerPoint</Application>
  <PresentationFormat>Widescreen</PresentationFormat>
  <Paragraphs>19</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Arial Black</vt:lpstr>
      <vt:lpstr>Gordita </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Mithun Prakash</cp:lastModifiedBy>
  <cp:revision>10</cp:revision>
  <dcterms:created xsi:type="dcterms:W3CDTF">2026-01-11T06:24:43Z</dcterms:created>
  <dcterms:modified xsi:type="dcterms:W3CDTF">2026-01-26T16:14:41Z</dcterms:modified>
</cp:coreProperties>
</file>