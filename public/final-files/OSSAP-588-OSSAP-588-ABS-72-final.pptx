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4"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22EEB-C18E-401D-4D14-F61D82881EC6}"/>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A44D43F-1B53-AAA9-B551-4D46D6B629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9F3FAB85-38C0-CBC3-894D-F14B0983660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AAAF0D4-F34A-1980-C65B-0B020591390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94EFB44A-ED67-5BFE-548D-FCB7384C661F}"/>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BA2ED9E8-378E-74DB-69F2-37A19A83672D}"/>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E2363BD-0C06-5137-F50F-3CB1079D47C5}"/>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A034863C-B4F3-2506-7721-DA2D88319DB1}"/>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103E05-CC2B-93A9-4902-4F5931A0A3D6}"/>
              </a:ext>
            </a:extLst>
          </p:cNvPr>
          <p:cNvSpPr txBox="1"/>
          <p:nvPr/>
        </p:nvSpPr>
        <p:spPr>
          <a:xfrm>
            <a:off x="334297" y="2133600"/>
            <a:ext cx="11336593" cy="2554545"/>
          </a:xfrm>
          <a:prstGeom prst="rect">
            <a:avLst/>
          </a:prstGeom>
          <a:noFill/>
        </p:spPr>
        <p:txBody>
          <a:bodyPr wrap="square">
            <a:spAutoFit/>
          </a:bodyPr>
          <a:lstStyle/>
          <a:p>
            <a:r>
              <a:rPr lang="en-IN" sz="3200" b="1" dirty="0"/>
              <a:t> </a:t>
            </a:r>
            <a:r>
              <a:rPr lang="en-IN" sz="4000" b="1" dirty="0"/>
              <a:t>OUTCOME OF TIGHT ROPE FIXATION IN DISTAL TIBIO- FIBULAR  SYNDESMOSIS DISRUPTION IN COMPARISON WITH CONVENTIONAL SYNDESMOTIC SCREW FIXATION</a:t>
            </a:r>
            <a:endParaRPr lang="en-US" sz="4000" b="1" dirty="0"/>
          </a:p>
        </p:txBody>
      </p:sp>
      <p:sp>
        <p:nvSpPr>
          <p:cNvPr id="4" name="TextBox 3">
            <a:extLst>
              <a:ext uri="{FF2B5EF4-FFF2-40B4-BE49-F238E27FC236}">
                <a16:creationId xmlns:a16="http://schemas.microsoft.com/office/drawing/2014/main" id="{0A6874A8-D5BE-A5AD-5FFB-7133D9680DD2}"/>
              </a:ext>
            </a:extLst>
          </p:cNvPr>
          <p:cNvSpPr txBox="1"/>
          <p:nvPr/>
        </p:nvSpPr>
        <p:spPr>
          <a:xfrm>
            <a:off x="7551194" y="5761693"/>
            <a:ext cx="4517390" cy="923330"/>
          </a:xfrm>
          <a:prstGeom prst="rect">
            <a:avLst/>
          </a:prstGeom>
          <a:noFill/>
        </p:spPr>
        <p:txBody>
          <a:bodyPr wrap="none" rtlCol="0">
            <a:spAutoFit/>
          </a:bodyPr>
          <a:lstStyle/>
          <a:p>
            <a:r>
              <a:rPr lang="en-US" dirty="0"/>
              <a:t>                              DR ATHUL K</a:t>
            </a:r>
          </a:p>
          <a:p>
            <a:r>
              <a:rPr lang="en-US" dirty="0"/>
              <a:t>                           POST GRADUATE</a:t>
            </a:r>
          </a:p>
          <a:p>
            <a:r>
              <a:rPr lang="en-US" dirty="0"/>
              <a:t>OSMANIA MEDICAL COLLEGE,HYDERABAD</a:t>
            </a:r>
          </a:p>
        </p:txBody>
      </p:sp>
    </p:spTree>
    <p:extLst>
      <p:ext uri="{BB962C8B-B14F-4D97-AF65-F5344CB8AC3E}">
        <p14:creationId xmlns:p14="http://schemas.microsoft.com/office/powerpoint/2010/main" val="3607354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9AAD95-F60E-DBF2-4852-E575E9B0ACC4}"/>
              </a:ext>
            </a:extLst>
          </p:cNvPr>
          <p:cNvSpPr>
            <a:spLocks noGrp="1"/>
          </p:cNvSpPr>
          <p:nvPr/>
        </p:nvSpPr>
        <p:spPr>
          <a:xfrm>
            <a:off x="1287433" y="1249560"/>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IN" dirty="0"/>
              <a:t> </a:t>
            </a:r>
          </a:p>
        </p:txBody>
      </p:sp>
      <p:sp>
        <p:nvSpPr>
          <p:cNvPr id="5" name="Content Placeholder 2">
            <a:extLst>
              <a:ext uri="{FF2B5EF4-FFF2-40B4-BE49-F238E27FC236}">
                <a16:creationId xmlns:a16="http://schemas.microsoft.com/office/drawing/2014/main" id="{DF91B87D-4AB5-2E77-783C-0A6476FF838D}"/>
              </a:ext>
            </a:extLst>
          </p:cNvPr>
          <p:cNvSpPr>
            <a:spLocks noGrp="1"/>
          </p:cNvSpPr>
          <p:nvPr/>
        </p:nvSpPr>
        <p:spPr>
          <a:xfrm>
            <a:off x="924232" y="2507225"/>
            <a:ext cx="9753600" cy="408038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IN" dirty="0"/>
              <a:t>Ankle fractures are frequently associated with disruption of distal </a:t>
            </a:r>
            <a:r>
              <a:rPr lang="en-IN" dirty="0" err="1"/>
              <a:t>tibio</a:t>
            </a:r>
            <a:r>
              <a:rPr lang="en-IN" dirty="0"/>
              <a:t> fibular syndesmosis. </a:t>
            </a:r>
          </a:p>
          <a:p>
            <a:r>
              <a:rPr lang="en-IN" dirty="0"/>
              <a:t>Restoration of anatomical syndesmosis holds great importance in clinical outcomes post operatively in ankle fractures. </a:t>
            </a:r>
          </a:p>
          <a:p>
            <a:r>
              <a:rPr lang="en-IN" dirty="0"/>
              <a:t>Until now syndesmotic screws were being used for syndesmosis reduction and fixation in ankle fractures. </a:t>
            </a:r>
          </a:p>
          <a:p>
            <a:r>
              <a:rPr lang="en-IN" dirty="0"/>
              <a:t>But it has its own drawbacks like need for screw removal subsequently and too rigid fixation of syndesmosis allowing no micro movements which are normally present at the distal tibiofibular syndesmosis</a:t>
            </a:r>
          </a:p>
        </p:txBody>
      </p:sp>
      <p:sp>
        <p:nvSpPr>
          <p:cNvPr id="6" name="TextBox 5">
            <a:extLst>
              <a:ext uri="{FF2B5EF4-FFF2-40B4-BE49-F238E27FC236}">
                <a16:creationId xmlns:a16="http://schemas.microsoft.com/office/drawing/2014/main" id="{E51FA815-D16A-879E-5056-2114F121AA7C}"/>
              </a:ext>
            </a:extLst>
          </p:cNvPr>
          <p:cNvSpPr txBox="1"/>
          <p:nvPr/>
        </p:nvSpPr>
        <p:spPr>
          <a:xfrm>
            <a:off x="1287433" y="1651819"/>
            <a:ext cx="5477161" cy="584775"/>
          </a:xfrm>
          <a:prstGeom prst="rect">
            <a:avLst/>
          </a:prstGeom>
          <a:noFill/>
        </p:spPr>
        <p:txBody>
          <a:bodyPr wrap="square" rtlCol="0">
            <a:spAutoFit/>
          </a:bodyPr>
          <a:lstStyle/>
          <a:p>
            <a:r>
              <a:rPr lang="en-US" sz="3200" b="1" dirty="0">
                <a:latin typeface="Arial Narrow" panose="020B0606020202030204" pitchFamily="34" charset="0"/>
              </a:rPr>
              <a:t>INTRODUCTION</a:t>
            </a:r>
          </a:p>
        </p:txBody>
      </p:sp>
    </p:spTree>
    <p:extLst>
      <p:ext uri="{BB962C8B-B14F-4D97-AF65-F5344CB8AC3E}">
        <p14:creationId xmlns:p14="http://schemas.microsoft.com/office/powerpoint/2010/main" val="3910247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E13284-C917-E9ED-8A2D-0E8CE0ADA178}"/>
              </a:ext>
            </a:extLst>
          </p:cNvPr>
          <p:cNvSpPr txBox="1"/>
          <p:nvPr/>
        </p:nvSpPr>
        <p:spPr>
          <a:xfrm>
            <a:off x="1012723" y="1828800"/>
            <a:ext cx="8136193" cy="1200329"/>
          </a:xfrm>
          <a:prstGeom prst="rect">
            <a:avLst/>
          </a:prstGeom>
          <a:noFill/>
        </p:spPr>
        <p:txBody>
          <a:bodyPr wrap="square">
            <a:spAutoFit/>
          </a:bodyPr>
          <a:lstStyle/>
          <a:p>
            <a:pPr marL="285750" indent="-285750">
              <a:buFont typeface="Arial" panose="020B0604020202020204" pitchFamily="34" charset="0"/>
              <a:buChar char="•"/>
            </a:pPr>
            <a:r>
              <a:rPr lang="en-IN" dirty="0"/>
              <a:t>a recent technique of using tight rope to fix ankle syndesmosis has been reported to have shown good clinical outcomes.</a:t>
            </a:r>
          </a:p>
          <a:p>
            <a:r>
              <a:rPr lang="en-IN" dirty="0"/>
              <a:t> </a:t>
            </a:r>
          </a:p>
          <a:p>
            <a:pPr marL="285750" indent="-285750">
              <a:buFont typeface="Arial" panose="020B0604020202020204" pitchFamily="34" charset="0"/>
              <a:buChar char="•"/>
            </a:pPr>
            <a:r>
              <a:rPr lang="en-IN" dirty="0"/>
              <a:t>Tight rope is a strong thin fibre wire inter connected with 2 metallic buttons.</a:t>
            </a:r>
          </a:p>
        </p:txBody>
      </p:sp>
      <p:pic>
        <p:nvPicPr>
          <p:cNvPr id="4" name="Picture 3">
            <a:extLst>
              <a:ext uri="{FF2B5EF4-FFF2-40B4-BE49-F238E27FC236}">
                <a16:creationId xmlns:a16="http://schemas.microsoft.com/office/drawing/2014/main" id="{8B11E60B-2D19-5ED2-9432-C80B42168328}"/>
              </a:ext>
            </a:extLst>
          </p:cNvPr>
          <p:cNvPicPr>
            <a:picLocks noChangeAspect="1"/>
          </p:cNvPicPr>
          <p:nvPr/>
        </p:nvPicPr>
        <p:blipFill>
          <a:blip r:embed="rId2"/>
          <a:stretch>
            <a:fillRect/>
          </a:stretch>
        </p:blipFill>
        <p:spPr>
          <a:xfrm>
            <a:off x="3234821" y="3106994"/>
            <a:ext cx="4237703" cy="3510116"/>
          </a:xfrm>
          <a:prstGeom prst="rect">
            <a:avLst/>
          </a:prstGeom>
        </p:spPr>
      </p:pic>
    </p:spTree>
    <p:extLst>
      <p:ext uri="{BB962C8B-B14F-4D97-AF65-F5344CB8AC3E}">
        <p14:creationId xmlns:p14="http://schemas.microsoft.com/office/powerpoint/2010/main" val="1809752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490B43-2410-2040-D0AE-D79F9915EEF1}"/>
              </a:ext>
            </a:extLst>
          </p:cNvPr>
          <p:cNvPicPr>
            <a:picLocks noChangeAspect="1"/>
          </p:cNvPicPr>
          <p:nvPr/>
        </p:nvPicPr>
        <p:blipFill>
          <a:blip r:embed="rId2"/>
          <a:stretch>
            <a:fillRect/>
          </a:stretch>
        </p:blipFill>
        <p:spPr>
          <a:xfrm>
            <a:off x="1631355" y="1719523"/>
            <a:ext cx="3137289" cy="4466941"/>
          </a:xfrm>
          <a:prstGeom prst="rect">
            <a:avLst/>
          </a:prstGeom>
        </p:spPr>
      </p:pic>
      <p:pic>
        <p:nvPicPr>
          <p:cNvPr id="3" name="Picture 2">
            <a:extLst>
              <a:ext uri="{FF2B5EF4-FFF2-40B4-BE49-F238E27FC236}">
                <a16:creationId xmlns:a16="http://schemas.microsoft.com/office/drawing/2014/main" id="{8CE64428-8D65-1848-1D73-D48D00F13FC9}"/>
              </a:ext>
            </a:extLst>
          </p:cNvPr>
          <p:cNvPicPr>
            <a:picLocks noChangeAspect="1"/>
          </p:cNvPicPr>
          <p:nvPr/>
        </p:nvPicPr>
        <p:blipFill>
          <a:blip r:embed="rId3"/>
          <a:stretch>
            <a:fillRect/>
          </a:stretch>
        </p:blipFill>
        <p:spPr>
          <a:xfrm>
            <a:off x="6760579" y="1704112"/>
            <a:ext cx="2943860" cy="4307241"/>
          </a:xfrm>
          <a:prstGeom prst="rect">
            <a:avLst/>
          </a:prstGeom>
        </p:spPr>
      </p:pic>
    </p:spTree>
    <p:extLst>
      <p:ext uri="{BB962C8B-B14F-4D97-AF65-F5344CB8AC3E}">
        <p14:creationId xmlns:p14="http://schemas.microsoft.com/office/powerpoint/2010/main" val="991011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5E152C-FF61-AD8B-A284-A0339EFA0B50}"/>
              </a:ext>
            </a:extLst>
          </p:cNvPr>
          <p:cNvSpPr txBox="1"/>
          <p:nvPr/>
        </p:nvSpPr>
        <p:spPr>
          <a:xfrm>
            <a:off x="511278" y="1327355"/>
            <a:ext cx="6066504" cy="461665"/>
          </a:xfrm>
          <a:prstGeom prst="rect">
            <a:avLst/>
          </a:prstGeom>
          <a:noFill/>
        </p:spPr>
        <p:txBody>
          <a:bodyPr wrap="square" rtlCol="0">
            <a:spAutoFit/>
          </a:bodyPr>
          <a:lstStyle/>
          <a:p>
            <a:r>
              <a:rPr lang="en-US" sz="2400" b="1" dirty="0"/>
              <a:t>MATERIALS AND METHODS</a:t>
            </a:r>
          </a:p>
        </p:txBody>
      </p:sp>
      <p:sp>
        <p:nvSpPr>
          <p:cNvPr id="7" name="TextBox 6">
            <a:extLst>
              <a:ext uri="{FF2B5EF4-FFF2-40B4-BE49-F238E27FC236}">
                <a16:creationId xmlns:a16="http://schemas.microsoft.com/office/drawing/2014/main" id="{89E6A624-7FB2-0DEC-313F-A9CA1D1B8F74}"/>
              </a:ext>
            </a:extLst>
          </p:cNvPr>
          <p:cNvSpPr txBox="1"/>
          <p:nvPr/>
        </p:nvSpPr>
        <p:spPr>
          <a:xfrm>
            <a:off x="167148" y="1936955"/>
            <a:ext cx="11651226" cy="5109091"/>
          </a:xfrm>
          <a:prstGeom prst="rect">
            <a:avLst/>
          </a:prstGeom>
          <a:noFill/>
        </p:spPr>
        <p:txBody>
          <a:bodyPr wrap="square">
            <a:spAutoFit/>
          </a:bodyPr>
          <a:lstStyle/>
          <a:p>
            <a:pPr marL="285750" indent="-285750">
              <a:buFont typeface="Arial" panose="020B0604020202020204" pitchFamily="34" charset="0"/>
              <a:buChar char="•"/>
            </a:pPr>
            <a:r>
              <a:rPr lang="en-IN" sz="1400" dirty="0"/>
              <a:t>Here we compare the clinical outcomes of patients operated with a tight rope and patients operated with syndesmotic screw to fix the ankle syndesmosis by a retrospective study</a:t>
            </a:r>
            <a:r>
              <a:rPr lang="en-IN"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sz="1400" dirty="0"/>
              <a:t> 20 post operative patients operated at OSMANIA General Hospital, Hyderabad between 2023 to 2025 were selected in this study with 10 belonging to the syndesmotic screw group and 10 to the tight rope group.</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Patients were selected based on inclusion and exclusion criteria.</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US" sz="1400" dirty="0"/>
              <a:t>This cohort study included all consecutive adult patients treated for acute ankle syndesmotic diastases with either the </a:t>
            </a:r>
            <a:r>
              <a:rPr lang="en-US" sz="1400" dirty="0" err="1"/>
              <a:t>TightRope</a:t>
            </a:r>
            <a:r>
              <a:rPr lang="en-US" sz="1400" dirty="0"/>
              <a:t> or the syndesmotic screw fixation method in our Hospital over a period of 2 years, between  2023 and 2025.</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dirty="0"/>
              <a:t> </a:t>
            </a:r>
            <a:r>
              <a:rPr lang="en-US" sz="1400" dirty="0"/>
              <a:t>Patients with compound fractures, multiple injuries, neuropathic arthropathy, bilateral injuries, and chronic or missed syndesmotic injuries were excluded.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IN" sz="1400" dirty="0"/>
              <a:t>Average duration of follow up was 22-24 weeks</a:t>
            </a:r>
            <a:r>
              <a:rPr lang="en-IN"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sz="1400" dirty="0"/>
              <a:t>The outcome was assessed using American Orthopaedic Foot and Ankle Society (AOFAS) and Foot and Ankle Disability Index (FADI) scores and radiographic parameters for syndesmosis integrity</a:t>
            </a:r>
            <a:r>
              <a:rPr lang="en-US" sz="1400" dirty="0"/>
              <a:t>.</a:t>
            </a:r>
            <a:endParaRPr lang="en-IN" sz="1400"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42005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EBE29-71A0-129F-39FD-93FF8317F369}"/>
              </a:ext>
            </a:extLst>
          </p:cNvPr>
          <p:cNvSpPr txBox="1"/>
          <p:nvPr/>
        </p:nvSpPr>
        <p:spPr>
          <a:xfrm>
            <a:off x="825910" y="1474838"/>
            <a:ext cx="5093293" cy="523220"/>
          </a:xfrm>
          <a:prstGeom prst="rect">
            <a:avLst/>
          </a:prstGeom>
          <a:noFill/>
        </p:spPr>
        <p:txBody>
          <a:bodyPr wrap="square" rtlCol="0">
            <a:spAutoFit/>
          </a:bodyPr>
          <a:lstStyle/>
          <a:p>
            <a:r>
              <a:rPr lang="en-US" sz="2800" b="1" dirty="0"/>
              <a:t>SURGICAL TECHNIQUES</a:t>
            </a:r>
          </a:p>
        </p:txBody>
      </p:sp>
      <p:sp>
        <p:nvSpPr>
          <p:cNvPr id="4" name="TextBox 3">
            <a:extLst>
              <a:ext uri="{FF2B5EF4-FFF2-40B4-BE49-F238E27FC236}">
                <a16:creationId xmlns:a16="http://schemas.microsoft.com/office/drawing/2014/main" id="{DFE3A324-B281-E6C3-5C31-5FE6907AE0B6}"/>
              </a:ext>
            </a:extLst>
          </p:cNvPr>
          <p:cNvSpPr txBox="1"/>
          <p:nvPr/>
        </p:nvSpPr>
        <p:spPr>
          <a:xfrm>
            <a:off x="147484" y="2123768"/>
            <a:ext cx="11621729" cy="5262979"/>
          </a:xfrm>
          <a:prstGeom prst="rect">
            <a:avLst/>
          </a:prstGeom>
          <a:noFill/>
        </p:spPr>
        <p:txBody>
          <a:bodyPr wrap="square">
            <a:spAutoFit/>
          </a:bodyPr>
          <a:lstStyle/>
          <a:p>
            <a:pPr marL="285750" indent="-285750">
              <a:buFont typeface="Arial" panose="020B0604020202020204" pitchFamily="34" charset="0"/>
              <a:buChar char="•"/>
            </a:pPr>
            <a:r>
              <a:rPr lang="en-US" sz="1600" dirty="0"/>
              <a:t>All procedures were performed with patients in the supine position under general or spinal anesthesia with antibiotic prophylaxis and tourniquet control.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Standard techniques were used to internally fix fractures of the fibula or tibia requiring fixation, and a large clamp with the ankle in neutral position was used to reduce and maintain syndesmosis.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If a plate was used for fibular stabilization, the drill hole was made through one of the empty plate holes, depending on the location of the plate.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patients treated with a syndesmotic screw, either a 3.5-mm or a 4.5-mm cortical screw was inserted through the drill hole, engaging all 4 cortices.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the </a:t>
            </a:r>
            <a:r>
              <a:rPr lang="en-US" sz="1600" dirty="0" err="1"/>
              <a:t>TightRope</a:t>
            </a:r>
            <a:r>
              <a:rPr lang="en-US" sz="1600" dirty="0"/>
              <a:t> group, the needle attached to the leading oblong Button was passed through the holes and out from the intact medial skin along with the pull-through sutures. Once the medial button was passed through the medial tibial cortex (confirmed by imaging), the assembly was tensioned by pulling the free ends of the </a:t>
            </a:r>
            <a:r>
              <a:rPr lang="en-US" sz="1600" dirty="0" err="1"/>
              <a:t>FiberWire</a:t>
            </a:r>
            <a:r>
              <a:rPr lang="en-US" sz="1600" dirty="0"/>
              <a:t> on the lateral side.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Once both the buttons were seated flush with the bone, the free ends of the </a:t>
            </a:r>
            <a:r>
              <a:rPr lang="en-US" sz="1600" dirty="0" err="1"/>
              <a:t>FiberWire</a:t>
            </a:r>
            <a:r>
              <a:rPr lang="en-US" sz="1600" dirty="0"/>
              <a:t> were hand tied on the lateral side and cut 1 cm long and buried.</a:t>
            </a:r>
            <a:endParaRPr lang="en-IN"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0" indent="0">
              <a:buNone/>
            </a:pPr>
            <a:r>
              <a:rPr lang="en-US" sz="1600" dirty="0"/>
              <a:t> </a:t>
            </a:r>
          </a:p>
        </p:txBody>
      </p:sp>
    </p:spTree>
    <p:extLst>
      <p:ext uri="{BB962C8B-B14F-4D97-AF65-F5344CB8AC3E}">
        <p14:creationId xmlns:p14="http://schemas.microsoft.com/office/powerpoint/2010/main" val="1173797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5F969E-5C5E-2411-B3D3-9011DF069CB0}"/>
              </a:ext>
            </a:extLst>
          </p:cNvPr>
          <p:cNvSpPr txBox="1"/>
          <p:nvPr/>
        </p:nvSpPr>
        <p:spPr>
          <a:xfrm>
            <a:off x="580105" y="1288026"/>
            <a:ext cx="7782250" cy="400110"/>
          </a:xfrm>
          <a:prstGeom prst="rect">
            <a:avLst/>
          </a:prstGeom>
          <a:noFill/>
        </p:spPr>
        <p:txBody>
          <a:bodyPr wrap="square">
            <a:spAutoFit/>
          </a:bodyPr>
          <a:lstStyle/>
          <a:p>
            <a:r>
              <a:rPr lang="en-IN" sz="2000" b="1" dirty="0"/>
              <a:t>RESULTS</a:t>
            </a:r>
            <a:r>
              <a:rPr lang="en-IN" sz="2000" dirty="0"/>
              <a:t> </a:t>
            </a:r>
            <a:endParaRPr lang="en-US" sz="2000" dirty="0"/>
          </a:p>
        </p:txBody>
      </p:sp>
      <p:sp>
        <p:nvSpPr>
          <p:cNvPr id="5" name="TextBox 4">
            <a:extLst>
              <a:ext uri="{FF2B5EF4-FFF2-40B4-BE49-F238E27FC236}">
                <a16:creationId xmlns:a16="http://schemas.microsoft.com/office/drawing/2014/main" id="{CA6C217F-0A39-A56C-0C3C-62C1FAE0B00F}"/>
              </a:ext>
            </a:extLst>
          </p:cNvPr>
          <p:cNvSpPr txBox="1"/>
          <p:nvPr/>
        </p:nvSpPr>
        <p:spPr>
          <a:xfrm>
            <a:off x="127819" y="1796291"/>
            <a:ext cx="11867536" cy="5847755"/>
          </a:xfrm>
          <a:prstGeom prst="rect">
            <a:avLst/>
          </a:prstGeom>
          <a:noFill/>
        </p:spPr>
        <p:txBody>
          <a:bodyPr wrap="square">
            <a:spAutoFit/>
          </a:bodyPr>
          <a:lstStyle/>
          <a:p>
            <a:pPr marL="285750" indent="-285750">
              <a:buFont typeface="Arial" panose="020B0604020202020204" pitchFamily="34" charset="0"/>
              <a:buChar char="•"/>
            </a:pPr>
            <a:r>
              <a:rPr lang="en-US" b="1" dirty="0"/>
              <a:t> </a:t>
            </a:r>
            <a:r>
              <a:rPr lang="en-US" sz="1600" dirty="0"/>
              <a:t>20 eligible patients were included in the study; 10 patients were in the </a:t>
            </a:r>
            <a:r>
              <a:rPr lang="en-US" sz="1600" dirty="0" err="1"/>
              <a:t>TightRope</a:t>
            </a:r>
            <a:r>
              <a:rPr lang="en-US" sz="1600" dirty="0"/>
              <a:t> group and 10 in the syndesmotic screw group.</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average age was 42 years in the </a:t>
            </a:r>
            <a:r>
              <a:rPr lang="en-US" sz="1600" dirty="0" err="1"/>
              <a:t>TightRope</a:t>
            </a:r>
            <a:r>
              <a:rPr lang="en-US" sz="1600" dirty="0"/>
              <a:t> and 40 years in the syndesmotic screw group, and the mean follow-up time was 24 weeks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 The average width of normal syndesmosis was 4.03 ± 0.89 mm.</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the </a:t>
            </a:r>
            <a:r>
              <a:rPr lang="en-US" sz="1600" dirty="0" err="1"/>
              <a:t>TightRope</a:t>
            </a:r>
            <a:r>
              <a:rPr lang="en-US" sz="1600" dirty="0"/>
              <a:t> group, the mean width of syndesmosis was 4.37 mm (SD, ±1.12 mm) (P = .30, t test) compared with 5.16 mm (SD, ±1.92 mm) in the syndesmotic screw group (P = .01, t test).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600" dirty="0"/>
              <a:t>Four  of 10 ankles (40%) in the syndesmotic screw group had syndesmotic </a:t>
            </a:r>
            <a:r>
              <a:rPr lang="en-US" sz="1600" dirty="0" err="1"/>
              <a:t>malreduction</a:t>
            </a:r>
            <a:r>
              <a:rPr lang="en-US" sz="1600" dirty="0"/>
              <a:t>, whereas none of the </a:t>
            </a:r>
            <a:r>
              <a:rPr lang="en-US" sz="1600" dirty="0" err="1"/>
              <a:t>TightRope</a:t>
            </a:r>
            <a:r>
              <a:rPr lang="en-US" sz="1600" dirty="0"/>
              <a:t> group showed </a:t>
            </a:r>
            <a:r>
              <a:rPr lang="en-US" sz="1600" dirty="0" err="1"/>
              <a:t>malreduction</a:t>
            </a:r>
            <a:r>
              <a:rPr lang="en-US" sz="1600" dirty="0"/>
              <a:t> on CT scans (P = .04, Fisher exact test).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Average time to full weightbearing was 8 weeks in the </a:t>
            </a:r>
            <a:r>
              <a:rPr lang="en-US" sz="1600" dirty="0" err="1"/>
              <a:t>TightRope</a:t>
            </a:r>
            <a:r>
              <a:rPr lang="en-US" sz="1600" dirty="0"/>
              <a:t> group and 9.1 weeks in the syndesmotic screw group.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There was no significant difference between the </a:t>
            </a:r>
            <a:r>
              <a:rPr lang="en-US" sz="1600" dirty="0" err="1"/>
              <a:t>TightRope</a:t>
            </a:r>
            <a:r>
              <a:rPr lang="en-US" sz="1600" dirty="0"/>
              <a:t> and syndesmotic screw groups in mean postoperative AOFAS score (89.56 and 86.52, respectively) or FADI score (82.42 and 81.22, respectively). </a:t>
            </a:r>
          </a:p>
          <a:p>
            <a:endParaRPr lang="en-US" sz="1600" dirty="0"/>
          </a:p>
          <a:p>
            <a:pPr marL="285750" indent="-285750">
              <a:buFont typeface="Arial" panose="020B0604020202020204" pitchFamily="34" charset="0"/>
              <a:buChar char="•"/>
            </a:pPr>
            <a:r>
              <a:rPr lang="en-US" sz="1600" dirty="0"/>
              <a:t>    Regression analysis confirmed </a:t>
            </a:r>
            <a:r>
              <a:rPr lang="en-US" sz="1600" dirty="0" err="1"/>
              <a:t>malreduction</a:t>
            </a:r>
            <a:r>
              <a:rPr lang="en-US" sz="1600" dirty="0"/>
              <a:t> of syndesmosis as the only independent variable that affected the clinical outcome (regression coefficient, -12.39; t = -2.43; P = .02).</a:t>
            </a:r>
            <a:endParaRPr lang="en-IN" sz="16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03393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58EDE8-DB98-25A2-06C3-22F793935E7D}"/>
              </a:ext>
            </a:extLst>
          </p:cNvPr>
          <p:cNvSpPr txBox="1"/>
          <p:nvPr/>
        </p:nvSpPr>
        <p:spPr>
          <a:xfrm>
            <a:off x="1494503" y="1524000"/>
            <a:ext cx="7654414" cy="461665"/>
          </a:xfrm>
          <a:prstGeom prst="rect">
            <a:avLst/>
          </a:prstGeom>
          <a:noFill/>
        </p:spPr>
        <p:txBody>
          <a:bodyPr wrap="square">
            <a:spAutoFit/>
          </a:bodyPr>
          <a:lstStyle/>
          <a:p>
            <a:r>
              <a:rPr lang="en-IN" sz="2400" b="1" dirty="0"/>
              <a:t>CONCLUSION</a:t>
            </a:r>
            <a:endParaRPr lang="en-US" sz="2400" b="1" dirty="0"/>
          </a:p>
        </p:txBody>
      </p:sp>
      <p:sp>
        <p:nvSpPr>
          <p:cNvPr id="5" name="TextBox 4">
            <a:extLst>
              <a:ext uri="{FF2B5EF4-FFF2-40B4-BE49-F238E27FC236}">
                <a16:creationId xmlns:a16="http://schemas.microsoft.com/office/drawing/2014/main" id="{1F5EA5B8-C482-5F66-3C2C-7F5A659184CB}"/>
              </a:ext>
            </a:extLst>
          </p:cNvPr>
          <p:cNvSpPr txBox="1"/>
          <p:nvPr/>
        </p:nvSpPr>
        <p:spPr>
          <a:xfrm>
            <a:off x="1278194" y="2418735"/>
            <a:ext cx="7870722" cy="3139321"/>
          </a:xfrm>
          <a:prstGeom prst="rect">
            <a:avLst/>
          </a:prstGeom>
          <a:noFill/>
        </p:spPr>
        <p:txBody>
          <a:bodyPr wrap="square">
            <a:spAutoFit/>
          </a:bodyPr>
          <a:lstStyle/>
          <a:p>
            <a:pPr marL="285750" indent="-285750">
              <a:buFont typeface="Arial" panose="020B0604020202020204" pitchFamily="34" charset="0"/>
              <a:buChar char="•"/>
            </a:pPr>
            <a:r>
              <a:rPr lang="en-US" dirty="0"/>
              <a:t>The results of this study indicate that fixation with </a:t>
            </a:r>
            <a:r>
              <a:rPr lang="en-US" dirty="0" err="1"/>
              <a:t>TightRope</a:t>
            </a:r>
            <a:r>
              <a:rPr lang="en-US" dirty="0"/>
              <a:t> provides a more accurate method of syndesmotic stabilization compared with screw fixation.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Syndesmotic </a:t>
            </a:r>
            <a:r>
              <a:rPr lang="en-US" dirty="0" err="1"/>
              <a:t>malreduction</a:t>
            </a:r>
            <a:r>
              <a:rPr lang="en-US" dirty="0"/>
              <a:t> is the most important independent predictor of clinical outcomes; therefore, care should be taken to reduce the syndesmosis accurately.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 Hence we conclude that tight rope is superior in providing ankle syndesmosis stability along with micro movements at the syndesmosis than compared to the syndesmotic screw.</a:t>
            </a:r>
          </a:p>
        </p:txBody>
      </p:sp>
    </p:spTree>
    <p:extLst>
      <p:ext uri="{BB962C8B-B14F-4D97-AF65-F5344CB8AC3E}">
        <p14:creationId xmlns:p14="http://schemas.microsoft.com/office/powerpoint/2010/main" val="1294248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29EB1-227B-C488-9186-3A0466D668D6}"/>
              </a:ext>
            </a:extLst>
          </p:cNvPr>
          <p:cNvSpPr>
            <a:spLocks noGrp="1"/>
          </p:cNvSpPr>
          <p:nvPr/>
        </p:nvSpPr>
        <p:spPr>
          <a:xfrm>
            <a:off x="609600" y="2153265"/>
            <a:ext cx="10027328" cy="3550301"/>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IN" sz="1400" dirty="0"/>
              <a:t>1. </a:t>
            </a:r>
            <a:r>
              <a:rPr lang="en-IN" sz="1400" dirty="0" err="1"/>
              <a:t>Arthrex</a:t>
            </a:r>
            <a:r>
              <a:rPr lang="en-IN" sz="1400" dirty="0"/>
              <a:t> Inc. Surgical technique. www.ankletightrope.com. Accessed March 26, 2011</a:t>
            </a:r>
          </a:p>
          <a:p>
            <a:pPr marL="0" indent="0">
              <a:buNone/>
            </a:pPr>
            <a:r>
              <a:rPr lang="en-IN" sz="1400" dirty="0"/>
              <a:t>2. </a:t>
            </a:r>
            <a:r>
              <a:rPr lang="en-IN" sz="1400" dirty="0" err="1"/>
              <a:t>Beumer</a:t>
            </a:r>
            <a:r>
              <a:rPr lang="en-IN" sz="1400" dirty="0"/>
              <a:t> A, van </a:t>
            </a:r>
            <a:r>
              <a:rPr lang="en-IN" sz="1400" dirty="0" err="1"/>
              <a:t>Hemert</a:t>
            </a:r>
            <a:r>
              <a:rPr lang="en-IN" sz="1400" dirty="0"/>
              <a:t> WL, </a:t>
            </a:r>
            <a:r>
              <a:rPr lang="en-IN" sz="1400" dirty="0" err="1"/>
              <a:t>Niesing</a:t>
            </a:r>
            <a:r>
              <a:rPr lang="en-IN" sz="1400" dirty="0"/>
              <a:t> R, et al. Radiographic measurement </a:t>
            </a:r>
            <a:r>
              <a:rPr lang="en-US" sz="1400" dirty="0"/>
              <a:t>of the distal tibiofibular syndesmosis has limited use. </a:t>
            </a:r>
            <a:r>
              <a:rPr lang="en-US" sz="1400" dirty="0" err="1"/>
              <a:t>Clin</a:t>
            </a:r>
            <a:r>
              <a:rPr lang="en-US" sz="1400" dirty="0"/>
              <a:t> </a:t>
            </a:r>
            <a:r>
              <a:rPr lang="en-IN" sz="1400" dirty="0" err="1"/>
              <a:t>Orthop</a:t>
            </a:r>
            <a:r>
              <a:rPr lang="en-IN" sz="1400" dirty="0"/>
              <a:t> </a:t>
            </a:r>
            <a:r>
              <a:rPr lang="en-IN" sz="1400" dirty="0" err="1"/>
              <a:t>Relat</a:t>
            </a:r>
            <a:r>
              <a:rPr lang="en-IN" sz="1400" dirty="0"/>
              <a:t> Res. 2004;423:227-234.</a:t>
            </a:r>
          </a:p>
          <a:p>
            <a:pPr marL="0" indent="0">
              <a:buNone/>
            </a:pPr>
            <a:r>
              <a:rPr lang="en-US" sz="1400" dirty="0"/>
              <a:t>3. Coetzee JC, </a:t>
            </a:r>
            <a:r>
              <a:rPr lang="en-US" sz="1400" dirty="0" err="1"/>
              <a:t>Ebeling</a:t>
            </a:r>
            <a:r>
              <a:rPr lang="en-US" sz="1400" dirty="0"/>
              <a:t> P. Treatment of syndesmoses disruptions: a prospective, randomized study comparing conventional screw fixation vs </a:t>
            </a:r>
            <a:r>
              <a:rPr lang="en-US" sz="1400" dirty="0" err="1"/>
              <a:t>TightRope</a:t>
            </a:r>
            <a:r>
              <a:rPr lang="en-US" sz="1400" dirty="0"/>
              <a:t> fiber wire fixation–medium term results. South </a:t>
            </a:r>
            <a:r>
              <a:rPr lang="en-US" sz="1400" dirty="0" err="1"/>
              <a:t>Afr</a:t>
            </a:r>
            <a:r>
              <a:rPr lang="en-US" sz="1400" dirty="0"/>
              <a:t> </a:t>
            </a:r>
            <a:r>
              <a:rPr lang="en-IN" sz="1400" dirty="0" err="1"/>
              <a:t>Orthop</a:t>
            </a:r>
            <a:r>
              <a:rPr lang="en-IN" sz="1400" dirty="0"/>
              <a:t> J. 2009;8(1):32-37.</a:t>
            </a:r>
          </a:p>
          <a:p>
            <a:pPr marL="0" indent="0">
              <a:buNone/>
            </a:pPr>
            <a:r>
              <a:rPr lang="en-IN" sz="1400" dirty="0"/>
              <a:t>4. </a:t>
            </a:r>
            <a:r>
              <a:rPr lang="en-IN" sz="1400" dirty="0" err="1"/>
              <a:t>Cottom</a:t>
            </a:r>
            <a:r>
              <a:rPr lang="en-IN" sz="1400" dirty="0"/>
              <a:t> JM, </a:t>
            </a:r>
            <a:r>
              <a:rPr lang="en-IN" sz="1400" dirty="0" err="1"/>
              <a:t>Hyer</a:t>
            </a:r>
            <a:r>
              <a:rPr lang="en-IN" sz="1400" dirty="0"/>
              <a:t> CF, </a:t>
            </a:r>
            <a:r>
              <a:rPr lang="en-IN" sz="1400" dirty="0" err="1"/>
              <a:t>Philbin</a:t>
            </a:r>
            <a:r>
              <a:rPr lang="en-IN" sz="1400" dirty="0"/>
              <a:t> TM, Berlet GC. </a:t>
            </a:r>
            <a:r>
              <a:rPr lang="en-IN" sz="1400" dirty="0" err="1"/>
              <a:t>Transosseous</a:t>
            </a:r>
            <a:r>
              <a:rPr lang="en-IN" sz="1400" dirty="0"/>
              <a:t> fixation of </a:t>
            </a:r>
            <a:r>
              <a:rPr lang="en-US" sz="1400" dirty="0"/>
              <a:t>the distal tibiofibular syndesmosis: comparison of an interosseous suture and </a:t>
            </a:r>
            <a:r>
              <a:rPr lang="en-US" sz="1400" dirty="0" err="1"/>
              <a:t>Endobutton</a:t>
            </a:r>
            <a:r>
              <a:rPr lang="en-US" sz="1400" dirty="0"/>
              <a:t> to traditional screw fixation in 50 cases. J Foot Ankle Surg. 2009;48(6):620-630.</a:t>
            </a:r>
          </a:p>
          <a:p>
            <a:pPr marL="0" indent="0">
              <a:buNone/>
            </a:pPr>
            <a:r>
              <a:rPr lang="en-IN" sz="1400" dirty="0"/>
              <a:t>5. </a:t>
            </a:r>
            <a:r>
              <a:rPr lang="en-IN" sz="1400" dirty="0" err="1"/>
              <a:t>Cottom</a:t>
            </a:r>
            <a:r>
              <a:rPr lang="en-IN" sz="1400" dirty="0"/>
              <a:t> JM, </a:t>
            </a:r>
            <a:r>
              <a:rPr lang="en-IN" sz="1400" dirty="0" err="1"/>
              <a:t>Hyer</a:t>
            </a:r>
            <a:r>
              <a:rPr lang="en-IN" sz="1400" dirty="0"/>
              <a:t> CF, </a:t>
            </a:r>
            <a:r>
              <a:rPr lang="en-IN" sz="1400" dirty="0" err="1"/>
              <a:t>Philbin</a:t>
            </a:r>
            <a:r>
              <a:rPr lang="en-IN" sz="1400" dirty="0"/>
              <a:t> TM, Berlet GC. Treatment of syndesmotic </a:t>
            </a:r>
            <a:r>
              <a:rPr lang="en-US" sz="1400" dirty="0"/>
              <a:t>disruptions with the </a:t>
            </a:r>
            <a:r>
              <a:rPr lang="en-US" sz="1400" dirty="0" err="1"/>
              <a:t>Arthrex</a:t>
            </a:r>
            <a:r>
              <a:rPr lang="en-US" sz="1400" dirty="0"/>
              <a:t> Tightrope: a report of 25 cases. Foot Ankle Int. 2008;29(8):773-780.</a:t>
            </a:r>
          </a:p>
          <a:p>
            <a:pPr marL="0" indent="0">
              <a:buNone/>
            </a:pPr>
            <a:r>
              <a:rPr lang="en-US" sz="1400" dirty="0"/>
              <a:t>6. Court-Brown CM, </a:t>
            </a:r>
            <a:r>
              <a:rPr lang="en-US" sz="1400" dirty="0" err="1"/>
              <a:t>McBirnie</a:t>
            </a:r>
            <a:r>
              <a:rPr lang="en-US" sz="1400" dirty="0"/>
              <a:t> J, Wilson G. Adult ankle fractures—an increasing problem? </a:t>
            </a:r>
            <a:r>
              <a:rPr lang="en-US" sz="1400" dirty="0" err="1"/>
              <a:t>Acta</a:t>
            </a:r>
            <a:r>
              <a:rPr lang="en-US" sz="1400" dirty="0"/>
              <a:t> </a:t>
            </a:r>
            <a:r>
              <a:rPr lang="en-US" sz="1400" dirty="0" err="1"/>
              <a:t>Orthop</a:t>
            </a:r>
            <a:r>
              <a:rPr lang="en-US" sz="1400" dirty="0"/>
              <a:t> Scand. 1998;69(1):43-47.</a:t>
            </a:r>
          </a:p>
          <a:p>
            <a:pPr marL="0" indent="0">
              <a:buNone/>
            </a:pPr>
            <a:r>
              <a:rPr lang="en-IN" sz="1400" dirty="0"/>
              <a:t>7. </a:t>
            </a:r>
            <a:r>
              <a:rPr lang="en-IN" sz="1400" dirty="0" err="1"/>
              <a:t>Dattani</a:t>
            </a:r>
            <a:r>
              <a:rPr lang="en-IN" sz="1400" dirty="0"/>
              <a:t> R, Patnaik S, </a:t>
            </a:r>
            <a:r>
              <a:rPr lang="en-IN" sz="1400" dirty="0" err="1"/>
              <a:t>Kantak</a:t>
            </a:r>
            <a:r>
              <a:rPr lang="en-IN" sz="1400" dirty="0"/>
              <a:t> A, </a:t>
            </a:r>
            <a:r>
              <a:rPr lang="en-IN" sz="1400" dirty="0" err="1"/>
              <a:t>Srikanth</a:t>
            </a:r>
            <a:r>
              <a:rPr lang="en-IN" sz="1400" dirty="0"/>
              <a:t> B, </a:t>
            </a:r>
            <a:r>
              <a:rPr lang="en-IN" sz="1400" dirty="0" err="1"/>
              <a:t>Selvan</a:t>
            </a:r>
            <a:r>
              <a:rPr lang="en-IN" sz="1400" dirty="0"/>
              <a:t> TP. Injuries to the tibiofibular syndesmosis. J Bone Joint </a:t>
            </a:r>
            <a:r>
              <a:rPr lang="en-IN" sz="1400" dirty="0" err="1"/>
              <a:t>Surg</a:t>
            </a:r>
            <a:r>
              <a:rPr lang="en-IN" sz="1400" dirty="0"/>
              <a:t> Br. 2008;90(4):405-410.</a:t>
            </a:r>
          </a:p>
          <a:p>
            <a:pPr marL="0" indent="0">
              <a:buNone/>
            </a:pPr>
            <a:r>
              <a:rPr lang="en-US" sz="1400" dirty="0"/>
              <a:t>8. </a:t>
            </a:r>
            <a:r>
              <a:rPr lang="en-US" sz="1400" dirty="0" err="1"/>
              <a:t>DeGroot</a:t>
            </a:r>
            <a:r>
              <a:rPr lang="en-US" sz="1400" dirty="0"/>
              <a:t> H, Al-</a:t>
            </a:r>
            <a:r>
              <a:rPr lang="en-US" sz="1400" dirty="0" err="1"/>
              <a:t>Qmari</a:t>
            </a:r>
            <a:r>
              <a:rPr lang="en-US" sz="1400" dirty="0"/>
              <a:t> A, El </a:t>
            </a:r>
            <a:r>
              <a:rPr lang="en-US" sz="1400" dirty="0" err="1"/>
              <a:t>Ghazaly</a:t>
            </a:r>
            <a:r>
              <a:rPr lang="en-US" sz="1400" dirty="0"/>
              <a:t> SA. Outcomes of suture button repair of the distal tibiofibular syndesmosis. Foot Ankle Int. </a:t>
            </a:r>
            <a:r>
              <a:rPr lang="en-IN" sz="1400" dirty="0"/>
              <a:t>2011;32:250-256.</a:t>
            </a:r>
          </a:p>
          <a:p>
            <a:pPr marL="0" indent="0">
              <a:buNone/>
            </a:pPr>
            <a:r>
              <a:rPr lang="en-IN" sz="1400" dirty="0"/>
              <a:t>9. </a:t>
            </a:r>
            <a:r>
              <a:rPr lang="en-IN" sz="1400" dirty="0" err="1"/>
              <a:t>Ebraheim</a:t>
            </a:r>
            <a:r>
              <a:rPr lang="en-IN" sz="1400" dirty="0"/>
              <a:t> NA, Lu J, Yang H, </a:t>
            </a:r>
            <a:r>
              <a:rPr lang="en-IN" sz="1400" dirty="0" err="1"/>
              <a:t>Mekhail</a:t>
            </a:r>
            <a:r>
              <a:rPr lang="en-IN" sz="1400" dirty="0"/>
              <a:t> AO, Yeasting RA. Radiographic </a:t>
            </a:r>
            <a:r>
              <a:rPr lang="en-US" sz="1400" dirty="0"/>
              <a:t>and CT evaluation of tibiofibular syndesmotic diastasis: a cadaver study. Foot Ankle Int. 1997;18(11):693-698.</a:t>
            </a:r>
          </a:p>
          <a:p>
            <a:pPr marL="0" indent="0">
              <a:buNone/>
            </a:pPr>
            <a:r>
              <a:rPr lang="en-IN" sz="1400" dirty="0"/>
              <a:t>10. </a:t>
            </a:r>
            <a:r>
              <a:rPr lang="en-IN" sz="1400" dirty="0" err="1"/>
              <a:t>Elgafy</a:t>
            </a:r>
            <a:r>
              <a:rPr lang="en-IN" sz="1400" dirty="0"/>
              <a:t> H, </a:t>
            </a:r>
            <a:r>
              <a:rPr lang="en-IN" sz="1400" dirty="0" err="1"/>
              <a:t>Semaan</a:t>
            </a:r>
            <a:r>
              <a:rPr lang="en-IN" sz="1400" dirty="0"/>
              <a:t> HB, </a:t>
            </a:r>
            <a:r>
              <a:rPr lang="en-IN" sz="1400" dirty="0" err="1"/>
              <a:t>Blessinger</a:t>
            </a:r>
            <a:r>
              <a:rPr lang="en-IN" sz="1400" dirty="0"/>
              <a:t> B, Wassef A, </a:t>
            </a:r>
            <a:r>
              <a:rPr lang="en-IN" sz="1400" dirty="0" err="1"/>
              <a:t>Ebraheim</a:t>
            </a:r>
            <a:r>
              <a:rPr lang="en-IN" sz="1400" dirty="0"/>
              <a:t> NA. Computed tomography of normal distal tibiofibular syndesmosis. Skeletal </a:t>
            </a:r>
            <a:r>
              <a:rPr lang="en-IN" sz="1400" dirty="0" err="1"/>
              <a:t>Radiol</a:t>
            </a:r>
            <a:r>
              <a:rPr lang="en-IN" sz="1400" dirty="0"/>
              <a:t>. 2010;39(6):559-564.</a:t>
            </a:r>
          </a:p>
        </p:txBody>
      </p:sp>
      <p:sp>
        <p:nvSpPr>
          <p:cNvPr id="5" name="TextBox 4">
            <a:extLst>
              <a:ext uri="{FF2B5EF4-FFF2-40B4-BE49-F238E27FC236}">
                <a16:creationId xmlns:a16="http://schemas.microsoft.com/office/drawing/2014/main" id="{84E12743-8858-2747-9D76-83C4FE637424}"/>
              </a:ext>
            </a:extLst>
          </p:cNvPr>
          <p:cNvSpPr txBox="1"/>
          <p:nvPr/>
        </p:nvSpPr>
        <p:spPr>
          <a:xfrm>
            <a:off x="855406" y="1431005"/>
            <a:ext cx="8293511" cy="369332"/>
          </a:xfrm>
          <a:prstGeom prst="rect">
            <a:avLst/>
          </a:prstGeom>
          <a:noFill/>
        </p:spPr>
        <p:txBody>
          <a:bodyPr wrap="square">
            <a:spAutoFit/>
          </a:bodyPr>
          <a:lstStyle/>
          <a:p>
            <a:r>
              <a:rPr lang="en-IN" b="1" dirty="0"/>
              <a:t>REFERENCES</a:t>
            </a:r>
            <a:endParaRPr lang="en-US" b="1" dirty="0"/>
          </a:p>
        </p:txBody>
      </p:sp>
    </p:spTree>
    <p:extLst>
      <p:ext uri="{BB962C8B-B14F-4D97-AF65-F5344CB8AC3E}">
        <p14:creationId xmlns:p14="http://schemas.microsoft.com/office/powerpoint/2010/main" val="1619069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1199</Words>
  <Application>Microsoft Office PowerPoint</Application>
  <PresentationFormat>Widescreen</PresentationFormat>
  <Paragraphs>77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Arial Narrow</vt:lpstr>
      <vt:lpstr>Gordita </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Athul Rajagopal</cp:lastModifiedBy>
  <cp:revision>6</cp:revision>
  <dcterms:created xsi:type="dcterms:W3CDTF">2026-01-11T06:24:43Z</dcterms:created>
  <dcterms:modified xsi:type="dcterms:W3CDTF">2026-02-10T18:47:51Z</dcterms:modified>
</cp:coreProperties>
</file>