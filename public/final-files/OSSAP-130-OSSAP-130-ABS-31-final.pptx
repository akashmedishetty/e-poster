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32918400" cy="438912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8" d="100"/>
          <a:sy n="28" d="100"/>
        </p:scale>
        <p:origin x="378" y="-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4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5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75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81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19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35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47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53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74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BB9BF-81C3-400E-9530-667D9EF39D8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4481-57DA-4ECD-BB2B-B1F153A8C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68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 /><Relationship Id="rId13" Type="http://schemas.openxmlformats.org/officeDocument/2006/relationships/image" Target="../media/image12.png" /><Relationship Id="rId18" Type="http://schemas.openxmlformats.org/officeDocument/2006/relationships/image" Target="../media/image15.png" /><Relationship Id="rId3" Type="http://schemas.openxmlformats.org/officeDocument/2006/relationships/image" Target="../media/image2.png" /><Relationship Id="rId7" Type="http://schemas.openxmlformats.org/officeDocument/2006/relationships/image" Target="../media/image6.jpeg" /><Relationship Id="rId12" Type="http://schemas.openxmlformats.org/officeDocument/2006/relationships/image" Target="../media/image11.jpeg" /><Relationship Id="rId17" Type="http://schemas.microsoft.com/office/2007/relationships/hdphoto" Target="../media/hdphoto2.wdp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11" Type="http://schemas.openxmlformats.org/officeDocument/2006/relationships/image" Target="../media/image10.jpeg" /><Relationship Id="rId5" Type="http://schemas.openxmlformats.org/officeDocument/2006/relationships/image" Target="../media/image4.png" /><Relationship Id="rId15" Type="http://schemas.openxmlformats.org/officeDocument/2006/relationships/image" Target="../media/image13.jpeg" /><Relationship Id="rId10" Type="http://schemas.openxmlformats.org/officeDocument/2006/relationships/image" Target="../media/image9.jpeg" /><Relationship Id="rId19" Type="http://schemas.microsoft.com/office/2007/relationships/hdphoto" Target="../media/hdphoto3.wdp" /><Relationship Id="rId4" Type="http://schemas.openxmlformats.org/officeDocument/2006/relationships/image" Target="../media/image3.png" /><Relationship Id="rId9" Type="http://schemas.openxmlformats.org/officeDocument/2006/relationships/image" Target="../media/image8.jpeg" /><Relationship Id="rId14" Type="http://schemas.microsoft.com/office/2007/relationships/hdphoto" Target="../media/hdphoto1.wdp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/>
          <p:nvPr/>
        </p:nvSpPr>
        <p:spPr>
          <a:xfrm>
            <a:off x="14870512" y="30073516"/>
            <a:ext cx="4375800" cy="1568100"/>
          </a:xfrm>
          <a:prstGeom prst="rect">
            <a:avLst/>
          </a:prstGeom>
          <a:solidFill>
            <a:srgbClr val="A8D08C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Femoral </a:t>
            </a:r>
            <a:r>
              <a:rPr lang="en-US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ead implant</a:t>
            </a:r>
            <a:endParaRPr dirty="0"/>
          </a:p>
        </p:txBody>
      </p:sp>
      <p:sp>
        <p:nvSpPr>
          <p:cNvPr id="125" name="Google Shape;125;p1"/>
          <p:cNvSpPr/>
          <p:nvPr/>
        </p:nvSpPr>
        <p:spPr>
          <a:xfrm>
            <a:off x="0" y="0"/>
            <a:ext cx="32862600" cy="6861000"/>
          </a:xfrm>
          <a:prstGeom prst="rect">
            <a:avLst/>
          </a:prstGeom>
          <a:solidFill>
            <a:srgbClr val="01234D"/>
          </a:solidFill>
          <a:ln w="19050" cap="flat" cmpd="sng">
            <a:solidFill>
              <a:srgbClr val="52575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0" y="556590"/>
            <a:ext cx="5608347" cy="5408602"/>
          </a:xfrm>
          <a:custGeom>
            <a:avLst/>
            <a:gdLst/>
            <a:ahLst/>
            <a:cxnLst/>
            <a:rect l="l" t="t" r="r" b="b"/>
            <a:pathLst>
              <a:path w="2254612" h="1957865" extrusionOk="0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9939" r="-4889" b="-10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40458" y="561105"/>
            <a:ext cx="3578087" cy="2025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18930" y="2213789"/>
            <a:ext cx="2362530" cy="28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90931" y="505651"/>
            <a:ext cx="3992097" cy="481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5353047" y="750813"/>
            <a:ext cx="20382000" cy="45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7200" b="1" dirty="0">
                <a:solidFill>
                  <a:srgbClr val="FFFFFF"/>
                </a:solidFill>
              </a:rPr>
              <a:t>A rare case of Non-Hodgkin’s Lymphoma of pelvis and hip treated with Reverse Hybrid Total Hip Arthroplasty</a:t>
            </a:r>
            <a:endParaRPr sz="7200" b="1" dirty="0">
              <a:solidFill>
                <a:srgbClr val="FFFFFF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7200" b="1" dirty="0">
              <a:solidFill>
                <a:schemeClr val="lt1"/>
              </a:solidFill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5478482" y="4135318"/>
            <a:ext cx="21951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6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AUTHOR : Dr. M S S V KRISHNA SAI</a:t>
            </a:r>
            <a:endParaRPr sz="6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5363914" y="5333050"/>
            <a:ext cx="2109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CO-AUTHORS: Dr. R SATYA SRI TEJA, Dr. V NAGESWARA RAO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-2" y="6912044"/>
            <a:ext cx="107061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-2" y="8066114"/>
            <a:ext cx="10706100" cy="10310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635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</a:pPr>
            <a:r>
              <a:rPr lang="en-US" sz="4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Osteoarthritis of the hip may be primary (idiopathic) or secondary to identifiable causes such as avascular necrosis, hematological disorders, or malignancy, where bony infarcts compromise subchondral bone and accelerate degeneration.</a:t>
            </a:r>
            <a:endParaRPr/>
          </a:p>
          <a:p>
            <a:pPr marL="0" marR="0" lvl="0" indent="-2635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</a:pPr>
            <a:r>
              <a:rPr lang="en-US" sz="4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Non-Hodgkin’s lymphoma can predispose to bony infarction through marrow infiltration, vascular compromise, or treatment-related ischemia, making secondary hip osteoarthritis exceedingly rare.</a:t>
            </a:r>
            <a:endParaRPr/>
          </a:p>
          <a:p>
            <a:pPr marL="0" marR="0" lvl="0" indent="-2635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</a:pPr>
            <a:r>
              <a:rPr lang="en-US" sz="41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hip arthroplasty, particularly reverse hybrid fixation, is an effective treatment for end-stage disease in the setting of compromised bone quality.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10706099" y="6912044"/>
            <a:ext cx="120777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OPERATIVE FINDINGS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0706100" y="8066114"/>
            <a:ext cx="12077700" cy="12341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METHOD: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Reverse hybrid total hip arthroplasty performed under regional anesthesia (combined spinal–epidural) using a posterior (Southern Moore) approach.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10–12 cm curvilinear posterior skin incision made, centered over the greater trochanter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Hip joint exposed;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capsular adhesions 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identified and released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Intra-articular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loose bodies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removed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Femoral head noted to have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osteophytes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addressed during preparation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Resected femoral head measuring 47 mm in diameter sent for histopathological examination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Acetabulum reconstructed with a cemented 50 mm acetabular cup using 40 g full-dose antibiotic-loaded (gentamicin) bone cement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32 mm (+1) femoral head and an uncemented 11 mm femoral stem implanted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Adequate stability and restoration of limb length achieved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Wound closed in layers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postoperative period uneventful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postoperative rehabilitation protocol initiated</a:t>
            </a:r>
            <a:endParaRPr dirty="0"/>
          </a:p>
        </p:txBody>
      </p:sp>
      <p:pic>
        <p:nvPicPr>
          <p:cNvPr id="137" name="Google Shape;13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30276" y="31668422"/>
            <a:ext cx="4493539" cy="503693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/>
          <p:nvPr/>
        </p:nvSpPr>
        <p:spPr>
          <a:xfrm>
            <a:off x="0" y="18366014"/>
            <a:ext cx="106527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REPORT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0" y="19469144"/>
            <a:ext cx="10634700" cy="871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Presentation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64-year-old man with diffuse large B-cell lymphoma, previously treated with six cycles of R-CHOP chemotherapy and palliative radiotherapy to the left hip 6 months ago, and currently on maintenance lenalidomide (12</a:t>
            </a:r>
            <a:r>
              <a:rPr lang="en-US" sz="4000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cycle), presented with a three-month history of progressive left hip pain and limp. There is no history of trauma.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Clinical Examination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patient had an antalgic gait with fixed flexion deformity(20°), true limb shortening (1cm), and painful global restriction of left hip range of motion.</a:t>
            </a:r>
            <a:endParaRPr/>
          </a:p>
        </p:txBody>
      </p:sp>
      <p:pic>
        <p:nvPicPr>
          <p:cNvPr id="140" name="Google Shape;140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29240526"/>
            <a:ext cx="5414926" cy="502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3" y="34239179"/>
            <a:ext cx="5433918" cy="4853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39092194"/>
            <a:ext cx="5395161" cy="47990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/>
          <p:nvPr/>
        </p:nvSpPr>
        <p:spPr>
          <a:xfrm>
            <a:off x="10652211" y="36735397"/>
            <a:ext cx="12161400" cy="8130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4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POST-OP IMAGING</a:t>
            </a:r>
            <a:endParaRPr sz="44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90559" y="31598032"/>
            <a:ext cx="4160913" cy="51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"/>
          <p:cNvSpPr/>
          <p:nvPr/>
        </p:nvSpPr>
        <p:spPr>
          <a:xfrm>
            <a:off x="22783799" y="6912044"/>
            <a:ext cx="100788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sz="28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22766612" y="8066113"/>
            <a:ext cx="10095900" cy="8279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Secondary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osteoarthritis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hip due to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NHL-related bony infarcts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uncommon.</a:t>
            </a:r>
            <a:endParaRPr/>
          </a:p>
          <a:p>
            <a:pPr marL="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Lymphomatous marrow infiltration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treatment-related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vascular compromise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post-radiotherapy ischemic injury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lead to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bony infarction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causing subchondral collapse and rapid degeneration.</a:t>
            </a:r>
            <a:endParaRPr/>
          </a:p>
          <a:p>
            <a:pPr marL="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MRI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crucial for detecting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lymphomatous deposits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infarct patterns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particularly when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HPE confirms osteonecrosis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hip arthroplasty (THA)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standard treatment for end-stage disease.</a:t>
            </a:r>
            <a:endParaRPr/>
          </a:p>
          <a:p>
            <a:pPr marL="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Reverse hybrid THA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offers stable fixation in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compromised bone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22783799" y="16372109"/>
            <a:ext cx="100734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28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22763962" y="17485936"/>
            <a:ext cx="10093200" cy="932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Clinical Course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Uneventful postoperative recovery with primary wound healing.</a:t>
            </a:r>
            <a:endParaRPr dirty="0"/>
          </a:p>
          <a:p>
            <a:pPr marL="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Intravenous 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zoledronic acid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 administered to reduce bone resorption and provide pain relief.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Follow-Up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Assessed at 1 week, 1, 3, and 6 months; patient achieved 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 ambulation 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able to do his daily activities starting from 3</a:t>
            </a:r>
            <a:r>
              <a:rPr lang="en-US" sz="4000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month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Harris Hip Score improved from 45 preoperatively to 82 at 6 months.</a:t>
            </a: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Histopathology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Microscopic examination of the resected head confirmed </a:t>
            </a:r>
            <a:r>
              <a:rPr lang="en-US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necrotic, non-viable lytic bone</a:t>
            </a:r>
            <a:r>
              <a:rPr lang="en-US" sz="4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(Osteonecrosis).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endParaRPr sz="4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22771476" y="26618627"/>
            <a:ext cx="10073512" cy="8538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HOME MESSAGE</a:t>
            </a:r>
            <a:endParaRPr sz="28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22735066" y="27472427"/>
            <a:ext cx="10121990" cy="341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Suspect: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Bony infarction in lymphoma patients with persistent hip pain.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Detect: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MRI to identify early infarcts missed by plain radiographs.</a:t>
            </a:r>
            <a:endParaRPr dirty="0"/>
          </a:p>
          <a:p>
            <a:pPr marL="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Treat:</a:t>
            </a:r>
            <a:r>
              <a:rPr lang="en-US" sz="3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Reverse Hybrid THA effectively manages end-stage disease in compromised bone.</a:t>
            </a:r>
            <a:endParaRPr dirty="0"/>
          </a:p>
        </p:txBody>
      </p:sp>
      <p:sp>
        <p:nvSpPr>
          <p:cNvPr id="152" name="Google Shape;152;p1"/>
          <p:cNvSpPr/>
          <p:nvPr/>
        </p:nvSpPr>
        <p:spPr>
          <a:xfrm>
            <a:off x="-3" y="28106493"/>
            <a:ext cx="107061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PRE-OP IMAGING</a:t>
            </a:r>
            <a:endParaRPr sz="54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22828236" y="36735398"/>
            <a:ext cx="10029000" cy="8268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54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22813534" y="37562348"/>
            <a:ext cx="10043700" cy="301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Vadivelu R, Kar N, Margetts MJ, Abdul-Cader AH. Non-Hodgkin’s lymphoma as an unexpected diagnosis in hip arthroplasty. </a:t>
            </a:r>
            <a:r>
              <a:rPr lang="en-US" sz="30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 Orthop Trauma Surg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2002;122:532-4.</a:t>
            </a:r>
            <a:endParaRPr/>
          </a:p>
          <a:p>
            <a:pPr marL="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Jain S, Magra M, Dube B, et al. Reverse hybrid total hip arthroplasty. </a:t>
            </a:r>
            <a:r>
              <a:rPr lang="en-US" sz="30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Bone Joint J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2018;100-B:1010-7.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22756846" y="30881583"/>
            <a:ext cx="10100400" cy="11031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8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2771548" y="31964861"/>
            <a:ext cx="10085700" cy="4770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2"/>
              <a:buFont typeface="Noto Sans Symbols"/>
              <a:buChar char="⮚"/>
            </a:pP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Secondary OA from NHL-related infarcts is a challenge involving compromised bone stock and clinically very rare entity.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Noto Sans Symbols"/>
              <a:buChar char="⮚"/>
            </a:pP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Reverse Hybrid THA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effective salvage strategy, offering optimal balance of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cemented acetabular stability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femoral fixation</a:t>
            </a:r>
            <a:r>
              <a:rPr lang="en-US"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ensuring excellent functional recovery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22810288" y="40024440"/>
            <a:ext cx="10034700" cy="723000"/>
          </a:xfrm>
          <a:prstGeom prst="rect">
            <a:avLst/>
          </a:prstGeom>
          <a:solidFill>
            <a:srgbClr val="A3C5ED"/>
          </a:soli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5400" b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ACKNOWLEDGEMENT</a:t>
            </a:r>
            <a:endParaRPr sz="5400" b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2806456" y="40747419"/>
            <a:ext cx="10050600" cy="3231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sincerely thank </a:t>
            </a:r>
            <a:r>
              <a:rPr lang="en-US" sz="3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R. Satya Sri Teja</a:t>
            </a:r>
            <a:r>
              <a:rPr lang="en-US" sz="3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Associate Professor and </a:t>
            </a:r>
            <a:r>
              <a:rPr lang="en-US" sz="33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V. Nageswara Rao</a:t>
            </a:r>
            <a:r>
              <a:rPr lang="en-US" sz="3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Head of the Department of Orthopaedics, along with the faculty of Orthopaedics and the Department of Radiology, GSL Medical College &amp; General Hospital, for their guidance and support.</a:t>
            </a:r>
            <a:endParaRPr sz="3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5414925" y="29209623"/>
            <a:ext cx="5268600" cy="5078400"/>
          </a:xfrm>
          <a:prstGeom prst="rect">
            <a:avLst/>
          </a:prstGeom>
          <a:solidFill>
            <a:srgbClr val="FEE599"/>
          </a:solidFill>
          <a:ln w="9525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Plain radiograph of pelvis with both hips(AP VIEW):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Tönnis Grade 3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end-stage Osteoarthritis of Left hip with </a:t>
            </a: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severe narrowing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joint space and </a:t>
            </a: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subchondral sclerosis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5407409" y="34295858"/>
            <a:ext cx="5244900" cy="9628800"/>
          </a:xfrm>
          <a:prstGeom prst="rect">
            <a:avLst/>
          </a:prstGeom>
          <a:solidFill>
            <a:srgbClr val="C4E0B2"/>
          </a:solidFill>
          <a:ln w="952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MRI PELVIS WITH BOTH HIPS:</a:t>
            </a:r>
            <a:endParaRPr sz="36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23304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70"/>
              <a:buFont typeface="Arial"/>
              <a:buChar char="•"/>
            </a:pPr>
            <a:r>
              <a:rPr lang="en-US" sz="36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degenerative changes of the left hip.</a:t>
            </a:r>
            <a:endParaRPr/>
          </a:p>
          <a:p>
            <a:pPr marL="0" marR="0" lvl="0" indent="-23304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70"/>
              <a:buFont typeface="Arial"/>
              <a:buChar char="•"/>
            </a:pPr>
            <a:r>
              <a:rPr lang="en-US" sz="36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Extensive </a:t>
            </a:r>
            <a:r>
              <a:rPr lang="en-US" sz="367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bony infarcts</a:t>
            </a:r>
            <a:r>
              <a:rPr lang="en-US" sz="36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367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serpiginous medullary signal abnormalities </a:t>
            </a:r>
            <a:r>
              <a:rPr lang="en-US" sz="36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involving the left femoral head and neck, proximal femur, iliac blades, and acetabulum.</a:t>
            </a:r>
            <a:endParaRPr/>
          </a:p>
          <a:p>
            <a:pPr marL="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lang="en-US" sz="3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Deposits likely Lymphomatous </a:t>
            </a:r>
            <a:r>
              <a:rPr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noted</a:t>
            </a:r>
            <a:r>
              <a:rPr lang="en-US" sz="3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left iliac blade, left femoral head and neck.</a:t>
            </a:r>
            <a:endParaRPr/>
          </a:p>
        </p:txBody>
      </p:sp>
      <p:pic>
        <p:nvPicPr>
          <p:cNvPr id="161" name="Google Shape;16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266807" y="31628060"/>
            <a:ext cx="3539649" cy="51073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17362081" y="37589154"/>
            <a:ext cx="5481300" cy="64941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Postoperative plain radiograph of the pelvis with both hips (AP view)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shows </a:t>
            </a: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reverse hybrid total hip arthroplasty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a </a:t>
            </a: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cemented acetabular component and uncemented femoral stem</a:t>
            </a:r>
            <a:r>
              <a:rPr lang="en-US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 satisfactory alignment, with no evidence of periprosthetic fracture, dislocation, or loosening.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19198701" y="29986106"/>
            <a:ext cx="3536400" cy="1754400"/>
          </a:xfrm>
          <a:prstGeom prst="rect">
            <a:avLst/>
          </a:prstGeom>
          <a:solidFill>
            <a:srgbClr val="A8D08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Intra-op tissue sample sent for biopsy</a:t>
            </a:r>
            <a:endParaRPr sz="3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10672647" y="30071956"/>
            <a:ext cx="4157700" cy="1569600"/>
          </a:xfrm>
          <a:prstGeom prst="rect">
            <a:avLst/>
          </a:prstGeom>
          <a:solidFill>
            <a:srgbClr val="A8D08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Uncemented femoral stem implant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10800000" flipH="1">
            <a:off x="16516065" y="25453547"/>
            <a:ext cx="6219002" cy="4586511"/>
          </a:xfrm>
          <a:prstGeom prst="rect">
            <a:avLst/>
          </a:prstGeom>
          <a:solidFill>
            <a:srgbClr val="FFD966"/>
          </a:solidFill>
          <a:ln>
            <a:noFill/>
          </a:ln>
        </p:spPr>
      </p:pic>
      <p:sp>
        <p:nvSpPr>
          <p:cNvPr id="168" name="Google Shape;168;p1"/>
          <p:cNvSpPr txBox="1"/>
          <p:nvPr/>
        </p:nvSpPr>
        <p:spPr>
          <a:xfrm>
            <a:off x="10709866" y="24780542"/>
            <a:ext cx="12025200" cy="6462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Implanting Cemented Acetabular Cup 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"/>
          <p:cNvPicPr preferRelativeResize="0"/>
          <p:nvPr/>
        </p:nvPicPr>
        <p:blipFill rotWithShape="1">
          <a:blip r:embed="rId13"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502858" y="20478204"/>
            <a:ext cx="3493861" cy="4206460"/>
          </a:xfrm>
          <a:prstGeom prst="rect">
            <a:avLst/>
          </a:prstGeom>
          <a:solidFill>
            <a:srgbClr val="F4B081"/>
          </a:solidFill>
          <a:ln>
            <a:noFill/>
          </a:ln>
        </p:spPr>
      </p:pic>
      <p:sp>
        <p:nvSpPr>
          <p:cNvPr id="171" name="Google Shape;171;p1"/>
          <p:cNvSpPr txBox="1"/>
          <p:nvPr/>
        </p:nvSpPr>
        <p:spPr>
          <a:xfrm>
            <a:off x="10706097" y="20406610"/>
            <a:ext cx="4621583" cy="4278054"/>
          </a:xfrm>
          <a:prstGeom prst="rect">
            <a:avLst/>
          </a:prstGeom>
          <a:solidFill>
            <a:srgbClr val="F4B08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 of femur (resected) osteophytes were noted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"/>
          <p:cNvPicPr preferRelativeResize="0"/>
          <p:nvPr/>
        </p:nvPicPr>
        <p:blipFill rotWithShape="1">
          <a:blip r:embed="rId15">
            <a:alphaModFix/>
          </a:blip>
          <a:srcRect t="9325" r="2714" b="12439"/>
          <a:stretch/>
        </p:blipFill>
        <p:spPr>
          <a:xfrm>
            <a:off x="10652211" y="37589153"/>
            <a:ext cx="6709869" cy="6302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CD3064-1019-D87A-B8DE-29CBF609970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06098" y="25426741"/>
            <a:ext cx="5809965" cy="4604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035F72-0E6A-6C32-B927-565F2B39D5D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58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98700" y="20458661"/>
            <a:ext cx="3493861" cy="4281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9487C5-4011-A164-0DA2-7C09322D60E9}"/>
              </a:ext>
            </a:extLst>
          </p:cNvPr>
          <p:cNvSpPr txBox="1"/>
          <p:nvPr/>
        </p:nvSpPr>
        <p:spPr>
          <a:xfrm>
            <a:off x="2162026" y="138510"/>
            <a:ext cx="248635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baseline="30000" dirty="0">
                <a:solidFill>
                  <a:schemeClr val="bg1"/>
                </a:solidFill>
              </a:rPr>
              <a:t>                                      55th Annual Conference Of Orthopedic Surgeon Society Of Andhra Pradesh</a:t>
            </a:r>
            <a:endParaRPr lang="en-IN" sz="6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Richard Morris</cp:lastModifiedBy>
  <cp:revision>2</cp:revision>
  <dcterms:modified xsi:type="dcterms:W3CDTF">2026-01-29T18:06:21Z</dcterms:modified>
</cp:coreProperties>
</file>